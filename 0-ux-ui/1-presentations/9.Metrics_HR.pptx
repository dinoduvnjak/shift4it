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73_1CE65C23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sldIdLst>
    <p:sldId id="745" r:id="rId5"/>
    <p:sldId id="256" r:id="rId6"/>
    <p:sldId id="742" r:id="rId7"/>
    <p:sldId id="366" r:id="rId8"/>
    <p:sldId id="367" r:id="rId9"/>
    <p:sldId id="368" r:id="rId10"/>
    <p:sldId id="422" r:id="rId11"/>
    <p:sldId id="423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378" r:id="rId22"/>
    <p:sldId id="402" r:id="rId23"/>
    <p:sldId id="424" r:id="rId24"/>
    <p:sldId id="404" r:id="rId25"/>
    <p:sldId id="405" r:id="rId26"/>
    <p:sldId id="406" r:id="rId27"/>
    <p:sldId id="379" r:id="rId28"/>
    <p:sldId id="407" r:id="rId29"/>
    <p:sldId id="408" r:id="rId30"/>
    <p:sldId id="409" r:id="rId31"/>
    <p:sldId id="410" r:id="rId32"/>
    <p:sldId id="411" r:id="rId33"/>
    <p:sldId id="412" r:id="rId34"/>
    <p:sldId id="413" r:id="rId35"/>
    <p:sldId id="414" r:id="rId36"/>
    <p:sldId id="415" r:id="rId37"/>
    <p:sldId id="419" r:id="rId38"/>
    <p:sldId id="418" r:id="rId39"/>
    <p:sldId id="417" r:id="rId40"/>
    <p:sldId id="420" r:id="rId41"/>
    <p:sldId id="421" r:id="rId42"/>
    <p:sldId id="416" r:id="rId43"/>
    <p:sldId id="383" r:id="rId44"/>
    <p:sldId id="389" r:id="rId45"/>
    <p:sldId id="390" r:id="rId46"/>
    <p:sldId id="391" r:id="rId47"/>
    <p:sldId id="392" r:id="rId48"/>
    <p:sldId id="393" r:id="rId49"/>
    <p:sldId id="394" r:id="rId50"/>
    <p:sldId id="395" r:id="rId51"/>
    <p:sldId id="396" r:id="rId52"/>
    <p:sldId id="397" r:id="rId53"/>
    <p:sldId id="398" r:id="rId54"/>
    <p:sldId id="399" r:id="rId55"/>
    <p:sldId id="400" r:id="rId56"/>
    <p:sldId id="401" r:id="rId57"/>
    <p:sldId id="739" r:id="rId58"/>
    <p:sldId id="264" r:id="rId59"/>
    <p:sldId id="297" r:id="rId60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5CEB83-0BFC-24F6-9264-EDDA323D88F1}" name="DEHON Alexandre" initials="DA" userId="S::adehon@jems-group.com::01d18461-f400-478f-902a-b52ec1ca53b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CCB96D-23C9-4406-83E8-FE09808C793D}" v="48" dt="2026-01-28T13:44:31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2" autoAdjust="0"/>
    <p:restoredTop sz="75476" autoAdjust="0"/>
  </p:normalViewPr>
  <p:slideViewPr>
    <p:cSldViewPr snapToGrid="0">
      <p:cViewPr varScale="1">
        <p:scale>
          <a:sx n="100" d="100"/>
          <a:sy n="100" d="100"/>
        </p:scale>
        <p:origin x="184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68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en De Ruyter" userId="5ea340e3-eb8f-48cc-9db2-b85bc44eed87" providerId="ADAL" clId="{10C45024-79AD-46BD-BFD5-A28A2F51EA8E}"/>
    <pc:docChg chg="undo custSel addSld modSld">
      <pc:chgData name="Sven De Ruyter" userId="5ea340e3-eb8f-48cc-9db2-b85bc44eed87" providerId="ADAL" clId="{10C45024-79AD-46BD-BFD5-A28A2F51EA8E}" dt="2026-01-28T13:47:54.580" v="536" actId="5793"/>
      <pc:docMkLst>
        <pc:docMk/>
      </pc:docMkLst>
      <pc:sldChg chg="modSp add mod">
        <pc:chgData name="Sven De Ruyter" userId="5ea340e3-eb8f-48cc-9db2-b85bc44eed87" providerId="ADAL" clId="{10C45024-79AD-46BD-BFD5-A28A2F51EA8E}" dt="2026-01-28T11:25:25.018" v="412" actId="1076"/>
        <pc:sldMkLst>
          <pc:docMk/>
          <pc:sldMk cId="3168611797" sldId="297"/>
        </pc:sldMkLst>
        <pc:graphicFrameChg chg="mod modGraphic">
          <ac:chgData name="Sven De Ruyter" userId="5ea340e3-eb8f-48cc-9db2-b85bc44eed87" providerId="ADAL" clId="{10C45024-79AD-46BD-BFD5-A28A2F51EA8E}" dt="2026-01-28T11:25:25.018" v="412" actId="1076"/>
          <ac:graphicFrameMkLst>
            <pc:docMk/>
            <pc:sldMk cId="3168611797" sldId="297"/>
            <ac:graphicFrameMk id="6" creationId="{95720546-333F-4757-FD72-B9A88D4A5920}"/>
          </ac:graphicFrameMkLst>
        </pc:graphicFrameChg>
      </pc:sldChg>
      <pc:sldChg chg="modSp mod modNotesTx">
        <pc:chgData name="Sven De Ruyter" userId="5ea340e3-eb8f-48cc-9db2-b85bc44eed87" providerId="ADAL" clId="{10C45024-79AD-46BD-BFD5-A28A2F51EA8E}" dt="2026-01-28T08:44:14.707" v="47" actId="20577"/>
        <pc:sldMkLst>
          <pc:docMk/>
          <pc:sldMk cId="1075740827" sldId="366"/>
        </pc:sldMkLst>
        <pc:spChg chg="mod">
          <ac:chgData name="Sven De Ruyter" userId="5ea340e3-eb8f-48cc-9db2-b85bc44eed87" providerId="ADAL" clId="{10C45024-79AD-46BD-BFD5-A28A2F51EA8E}" dt="2026-01-28T08:44:14.707" v="47" actId="20577"/>
          <ac:spMkLst>
            <pc:docMk/>
            <pc:sldMk cId="1075740827" sldId="366"/>
            <ac:spMk id="4" creationId="{B73A29ED-109E-B653-385B-4C1BDA40B9C5}"/>
          </ac:spMkLst>
        </pc:spChg>
      </pc:sldChg>
      <pc:sldChg chg="modSp mod">
        <pc:chgData name="Sven De Ruyter" userId="5ea340e3-eb8f-48cc-9db2-b85bc44eed87" providerId="ADAL" clId="{10C45024-79AD-46BD-BFD5-A28A2F51EA8E}" dt="2026-01-28T08:44:47.991" v="56" actId="20577"/>
        <pc:sldMkLst>
          <pc:docMk/>
          <pc:sldMk cId="338592276" sldId="367"/>
        </pc:sldMkLst>
        <pc:spChg chg="mod">
          <ac:chgData name="Sven De Ruyter" userId="5ea340e3-eb8f-48cc-9db2-b85bc44eed87" providerId="ADAL" clId="{10C45024-79AD-46BD-BFD5-A28A2F51EA8E}" dt="2026-01-28T08:44:47.991" v="56" actId="20577"/>
          <ac:spMkLst>
            <pc:docMk/>
            <pc:sldMk cId="338592276" sldId="367"/>
            <ac:spMk id="6" creationId="{2E639352-D226-C535-B72A-4838ECD3C9BD}"/>
          </ac:spMkLst>
        </pc:spChg>
      </pc:sldChg>
      <pc:sldChg chg="modSp mod">
        <pc:chgData name="Sven De Ruyter" userId="5ea340e3-eb8f-48cc-9db2-b85bc44eed87" providerId="ADAL" clId="{10C45024-79AD-46BD-BFD5-A28A2F51EA8E}" dt="2026-01-28T08:45:38.711" v="59" actId="1076"/>
        <pc:sldMkLst>
          <pc:docMk/>
          <pc:sldMk cId="2565179869" sldId="368"/>
        </pc:sldMkLst>
        <pc:spChg chg="mod">
          <ac:chgData name="Sven De Ruyter" userId="5ea340e3-eb8f-48cc-9db2-b85bc44eed87" providerId="ADAL" clId="{10C45024-79AD-46BD-BFD5-A28A2F51EA8E}" dt="2026-01-28T08:45:38.711" v="59" actId="1076"/>
          <ac:spMkLst>
            <pc:docMk/>
            <pc:sldMk cId="2565179869" sldId="368"/>
            <ac:spMk id="5" creationId="{4BCB3E10-8C13-9F72-9F0F-83B1F0D58382}"/>
          </ac:spMkLst>
        </pc:spChg>
      </pc:sldChg>
      <pc:sldChg chg="modSp mod">
        <pc:chgData name="Sven De Ruyter" userId="5ea340e3-eb8f-48cc-9db2-b85bc44eed87" providerId="ADAL" clId="{10C45024-79AD-46BD-BFD5-A28A2F51EA8E}" dt="2026-01-28T08:47:09.814" v="66" actId="1076"/>
        <pc:sldMkLst>
          <pc:docMk/>
          <pc:sldMk cId="484858915" sldId="371"/>
        </pc:sldMkLst>
        <pc:spChg chg="mod">
          <ac:chgData name="Sven De Ruyter" userId="5ea340e3-eb8f-48cc-9db2-b85bc44eed87" providerId="ADAL" clId="{10C45024-79AD-46BD-BFD5-A28A2F51EA8E}" dt="2026-01-28T08:47:09.814" v="66" actId="1076"/>
          <ac:spMkLst>
            <pc:docMk/>
            <pc:sldMk cId="484858915" sldId="371"/>
            <ac:spMk id="4" creationId="{EEC3A1F5-3A4F-E275-DBF4-A1A775767043}"/>
          </ac:spMkLst>
        </pc:spChg>
      </pc:sldChg>
      <pc:sldChg chg="modSp mod">
        <pc:chgData name="Sven De Ruyter" userId="5ea340e3-eb8f-48cc-9db2-b85bc44eed87" providerId="ADAL" clId="{10C45024-79AD-46BD-BFD5-A28A2F51EA8E}" dt="2026-01-28T08:48:19.318" v="73" actId="1076"/>
        <pc:sldMkLst>
          <pc:docMk/>
          <pc:sldMk cId="2423558377" sldId="373"/>
        </pc:sldMkLst>
        <pc:spChg chg="mod">
          <ac:chgData name="Sven De Ruyter" userId="5ea340e3-eb8f-48cc-9db2-b85bc44eed87" providerId="ADAL" clId="{10C45024-79AD-46BD-BFD5-A28A2F51EA8E}" dt="2026-01-28T08:48:19.318" v="73" actId="1076"/>
          <ac:spMkLst>
            <pc:docMk/>
            <pc:sldMk cId="2423558377" sldId="373"/>
            <ac:spMk id="4" creationId="{E0ACF43C-F16D-B996-26A9-257E55E76683}"/>
          </ac:spMkLst>
        </pc:spChg>
      </pc:sldChg>
      <pc:sldChg chg="addSp delSp modSp mod">
        <pc:chgData name="Sven De Ruyter" userId="5ea340e3-eb8f-48cc-9db2-b85bc44eed87" providerId="ADAL" clId="{10C45024-79AD-46BD-BFD5-A28A2F51EA8E}" dt="2026-01-28T08:52:59.678" v="95" actId="14100"/>
        <pc:sldMkLst>
          <pc:docMk/>
          <pc:sldMk cId="599124345" sldId="374"/>
        </pc:sldMkLst>
        <pc:spChg chg="mod">
          <ac:chgData name="Sven De Ruyter" userId="5ea340e3-eb8f-48cc-9db2-b85bc44eed87" providerId="ADAL" clId="{10C45024-79AD-46BD-BFD5-A28A2F51EA8E}" dt="2026-01-28T08:52:20.446" v="85" actId="1076"/>
          <ac:spMkLst>
            <pc:docMk/>
            <pc:sldMk cId="599124345" sldId="374"/>
            <ac:spMk id="5" creationId="{9E6F8CD5-E7B2-2B94-D838-2CE0E6EEC204}"/>
          </ac:spMkLst>
        </pc:spChg>
        <pc:spChg chg="add del">
          <ac:chgData name="Sven De Ruyter" userId="5ea340e3-eb8f-48cc-9db2-b85bc44eed87" providerId="ADAL" clId="{10C45024-79AD-46BD-BFD5-A28A2F51EA8E}" dt="2026-01-28T08:52:32.911" v="88" actId="478"/>
          <ac:spMkLst>
            <pc:docMk/>
            <pc:sldMk cId="599124345" sldId="374"/>
            <ac:spMk id="6" creationId="{CF4B6FAB-2B4F-DD05-9F28-5332765725DC}"/>
          </ac:spMkLst>
        </pc:spChg>
        <pc:picChg chg="del">
          <ac:chgData name="Sven De Ruyter" userId="5ea340e3-eb8f-48cc-9db2-b85bc44eed87" providerId="ADAL" clId="{10C45024-79AD-46BD-BFD5-A28A2F51EA8E}" dt="2026-01-28T08:52:29.545" v="86" actId="478"/>
          <ac:picMkLst>
            <pc:docMk/>
            <pc:sldMk cId="599124345" sldId="374"/>
            <ac:picMk id="4" creationId="{752D0F73-5366-43C5-D512-577716A829C3}"/>
          </ac:picMkLst>
        </pc:picChg>
        <pc:picChg chg="add mod">
          <ac:chgData name="Sven De Ruyter" userId="5ea340e3-eb8f-48cc-9db2-b85bc44eed87" providerId="ADAL" clId="{10C45024-79AD-46BD-BFD5-A28A2F51EA8E}" dt="2026-01-28T08:52:59.678" v="95" actId="14100"/>
          <ac:picMkLst>
            <pc:docMk/>
            <pc:sldMk cId="599124345" sldId="374"/>
            <ac:picMk id="1026" creationId="{B5AA51DB-06EE-75F1-050D-CE0D321408A4}"/>
          </ac:picMkLst>
        </pc:picChg>
      </pc:sldChg>
      <pc:sldChg chg="modSp mod">
        <pc:chgData name="Sven De Ruyter" userId="5ea340e3-eb8f-48cc-9db2-b85bc44eed87" providerId="ADAL" clId="{10C45024-79AD-46BD-BFD5-A28A2F51EA8E}" dt="2026-01-28T08:54:58.195" v="109" actId="20577"/>
        <pc:sldMkLst>
          <pc:docMk/>
          <pc:sldMk cId="1287433620" sldId="376"/>
        </pc:sldMkLst>
        <pc:spChg chg="mod">
          <ac:chgData name="Sven De Ruyter" userId="5ea340e3-eb8f-48cc-9db2-b85bc44eed87" providerId="ADAL" clId="{10C45024-79AD-46BD-BFD5-A28A2F51EA8E}" dt="2026-01-28T08:54:58.195" v="109" actId="20577"/>
          <ac:spMkLst>
            <pc:docMk/>
            <pc:sldMk cId="1287433620" sldId="376"/>
            <ac:spMk id="4" creationId="{A560A970-AE4D-76A7-275E-640AE8B8D15E}"/>
          </ac:spMkLst>
        </pc:spChg>
      </pc:sldChg>
      <pc:sldChg chg="modNotesTx">
        <pc:chgData name="Sven De Ruyter" userId="5ea340e3-eb8f-48cc-9db2-b85bc44eed87" providerId="ADAL" clId="{10C45024-79AD-46BD-BFD5-A28A2F51EA8E}" dt="2026-01-28T09:05:34.562" v="226" actId="20577"/>
        <pc:sldMkLst>
          <pc:docMk/>
          <pc:sldMk cId="381333141" sldId="383"/>
        </pc:sldMkLst>
      </pc:sldChg>
      <pc:sldChg chg="modNotesTx">
        <pc:chgData name="Sven De Ruyter" userId="5ea340e3-eb8f-48cc-9db2-b85bc44eed87" providerId="ADAL" clId="{10C45024-79AD-46BD-BFD5-A28A2F51EA8E}" dt="2026-01-28T09:06:44.052" v="275" actId="108"/>
        <pc:sldMkLst>
          <pc:docMk/>
          <pc:sldMk cId="1047801492" sldId="389"/>
        </pc:sldMkLst>
      </pc:sldChg>
      <pc:sldChg chg="modNotesTx">
        <pc:chgData name="Sven De Ruyter" userId="5ea340e3-eb8f-48cc-9db2-b85bc44eed87" providerId="ADAL" clId="{10C45024-79AD-46BD-BFD5-A28A2F51EA8E}" dt="2026-01-28T09:06:52.213" v="277" actId="20577"/>
        <pc:sldMkLst>
          <pc:docMk/>
          <pc:sldMk cId="1823397677" sldId="390"/>
        </pc:sldMkLst>
      </pc:sldChg>
      <pc:sldChg chg="modNotesTx">
        <pc:chgData name="Sven De Ruyter" userId="5ea340e3-eb8f-48cc-9db2-b85bc44eed87" providerId="ADAL" clId="{10C45024-79AD-46BD-BFD5-A28A2F51EA8E}" dt="2026-01-28T09:09:16.031" v="373" actId="20577"/>
        <pc:sldMkLst>
          <pc:docMk/>
          <pc:sldMk cId="3644873032" sldId="392"/>
        </pc:sldMkLst>
      </pc:sldChg>
      <pc:sldChg chg="modNotesTx">
        <pc:chgData name="Sven De Ruyter" userId="5ea340e3-eb8f-48cc-9db2-b85bc44eed87" providerId="ADAL" clId="{10C45024-79AD-46BD-BFD5-A28A2F51EA8E}" dt="2026-01-28T09:10:54.663" v="385" actId="20577"/>
        <pc:sldMkLst>
          <pc:docMk/>
          <pc:sldMk cId="3574179064" sldId="393"/>
        </pc:sldMkLst>
      </pc:sldChg>
      <pc:sldChg chg="modNotesTx">
        <pc:chgData name="Sven De Ruyter" userId="5ea340e3-eb8f-48cc-9db2-b85bc44eed87" providerId="ADAL" clId="{10C45024-79AD-46BD-BFD5-A28A2F51EA8E}" dt="2026-01-28T09:11:04.046" v="389" actId="20577"/>
        <pc:sldMkLst>
          <pc:docMk/>
          <pc:sldMk cId="3101568735" sldId="394"/>
        </pc:sldMkLst>
      </pc:sldChg>
      <pc:sldChg chg="modNotesTx">
        <pc:chgData name="Sven De Ruyter" userId="5ea340e3-eb8f-48cc-9db2-b85bc44eed87" providerId="ADAL" clId="{10C45024-79AD-46BD-BFD5-A28A2F51EA8E}" dt="2026-01-28T09:11:14.705" v="390" actId="20577"/>
        <pc:sldMkLst>
          <pc:docMk/>
          <pc:sldMk cId="1040266393" sldId="395"/>
        </pc:sldMkLst>
      </pc:sldChg>
      <pc:sldChg chg="modNotesTx">
        <pc:chgData name="Sven De Ruyter" userId="5ea340e3-eb8f-48cc-9db2-b85bc44eed87" providerId="ADAL" clId="{10C45024-79AD-46BD-BFD5-A28A2F51EA8E}" dt="2026-01-28T09:11:19.149" v="391" actId="20577"/>
        <pc:sldMkLst>
          <pc:docMk/>
          <pc:sldMk cId="1193545550" sldId="396"/>
        </pc:sldMkLst>
      </pc:sldChg>
      <pc:sldChg chg="modNotesTx">
        <pc:chgData name="Sven De Ruyter" userId="5ea340e3-eb8f-48cc-9db2-b85bc44eed87" providerId="ADAL" clId="{10C45024-79AD-46BD-BFD5-A28A2F51EA8E}" dt="2026-01-28T09:11:23.262" v="392" actId="20577"/>
        <pc:sldMkLst>
          <pc:docMk/>
          <pc:sldMk cId="3877055734" sldId="398"/>
        </pc:sldMkLst>
      </pc:sldChg>
      <pc:sldChg chg="modNotesTx">
        <pc:chgData name="Sven De Ruyter" userId="5ea340e3-eb8f-48cc-9db2-b85bc44eed87" providerId="ADAL" clId="{10C45024-79AD-46BD-BFD5-A28A2F51EA8E}" dt="2026-01-28T09:11:27.694" v="393" actId="20577"/>
        <pc:sldMkLst>
          <pc:docMk/>
          <pc:sldMk cId="4288975152" sldId="399"/>
        </pc:sldMkLst>
      </pc:sldChg>
      <pc:sldChg chg="modNotesTx">
        <pc:chgData name="Sven De Ruyter" userId="5ea340e3-eb8f-48cc-9db2-b85bc44eed87" providerId="ADAL" clId="{10C45024-79AD-46BD-BFD5-A28A2F51EA8E}" dt="2026-01-28T09:11:31.294" v="394" actId="20577"/>
        <pc:sldMkLst>
          <pc:docMk/>
          <pc:sldMk cId="3519045171" sldId="400"/>
        </pc:sldMkLst>
      </pc:sldChg>
      <pc:sldChg chg="modNotesTx">
        <pc:chgData name="Sven De Ruyter" userId="5ea340e3-eb8f-48cc-9db2-b85bc44eed87" providerId="ADAL" clId="{10C45024-79AD-46BD-BFD5-A28A2F51EA8E}" dt="2026-01-28T09:11:36.015" v="395" actId="20577"/>
        <pc:sldMkLst>
          <pc:docMk/>
          <pc:sldMk cId="1493350808" sldId="401"/>
        </pc:sldMkLst>
      </pc:sldChg>
      <pc:sldChg chg="modSp mod">
        <pc:chgData name="Sven De Ruyter" userId="5ea340e3-eb8f-48cc-9db2-b85bc44eed87" providerId="ADAL" clId="{10C45024-79AD-46BD-BFD5-A28A2F51EA8E}" dt="2026-01-28T08:57:18.053" v="115" actId="1076"/>
        <pc:sldMkLst>
          <pc:docMk/>
          <pc:sldMk cId="3394037861" sldId="402"/>
        </pc:sldMkLst>
        <pc:spChg chg="mod">
          <ac:chgData name="Sven De Ruyter" userId="5ea340e3-eb8f-48cc-9db2-b85bc44eed87" providerId="ADAL" clId="{10C45024-79AD-46BD-BFD5-A28A2F51EA8E}" dt="2026-01-28T08:57:18.053" v="115" actId="1076"/>
          <ac:spMkLst>
            <pc:docMk/>
            <pc:sldMk cId="3394037861" sldId="402"/>
            <ac:spMk id="5" creationId="{78581125-D36E-B686-9A36-A0A7B8593D63}"/>
          </ac:spMkLst>
        </pc:spChg>
      </pc:sldChg>
      <pc:sldChg chg="modNotesTx">
        <pc:chgData name="Sven De Ruyter" userId="5ea340e3-eb8f-48cc-9db2-b85bc44eed87" providerId="ADAL" clId="{10C45024-79AD-46BD-BFD5-A28A2F51EA8E}" dt="2026-01-28T08:58:09.343" v="138" actId="20577"/>
        <pc:sldMkLst>
          <pc:docMk/>
          <pc:sldMk cId="2453433745" sldId="409"/>
        </pc:sldMkLst>
      </pc:sldChg>
      <pc:sldChg chg="modNotesTx">
        <pc:chgData name="Sven De Ruyter" userId="5ea340e3-eb8f-48cc-9db2-b85bc44eed87" providerId="ADAL" clId="{10C45024-79AD-46BD-BFD5-A28A2F51EA8E}" dt="2026-01-28T09:08:42.173" v="352" actId="20577"/>
        <pc:sldMkLst>
          <pc:docMk/>
          <pc:sldMk cId="1784553087" sldId="416"/>
        </pc:sldMkLst>
      </pc:sldChg>
      <pc:sldChg chg="addSp modSp mod">
        <pc:chgData name="Sven De Ruyter" userId="5ea340e3-eb8f-48cc-9db2-b85bc44eed87" providerId="ADAL" clId="{10C45024-79AD-46BD-BFD5-A28A2F51EA8E}" dt="2026-01-28T09:01:38.429" v="159" actId="1076"/>
        <pc:sldMkLst>
          <pc:docMk/>
          <pc:sldMk cId="189195422" sldId="418"/>
        </pc:sldMkLst>
        <pc:spChg chg="add mod">
          <ac:chgData name="Sven De Ruyter" userId="5ea340e3-eb8f-48cc-9db2-b85bc44eed87" providerId="ADAL" clId="{10C45024-79AD-46BD-BFD5-A28A2F51EA8E}" dt="2026-01-28T09:01:38.429" v="159" actId="1076"/>
          <ac:spMkLst>
            <pc:docMk/>
            <pc:sldMk cId="189195422" sldId="418"/>
            <ac:spMk id="5" creationId="{49DFF466-1896-DE9B-E7BC-E16CD1E5ABBE}"/>
          </ac:spMkLst>
        </pc:spChg>
      </pc:sldChg>
      <pc:sldChg chg="modSp mod">
        <pc:chgData name="Sven De Ruyter" userId="5ea340e3-eb8f-48cc-9db2-b85bc44eed87" providerId="ADAL" clId="{10C45024-79AD-46BD-BFD5-A28A2F51EA8E}" dt="2026-01-28T09:00:06.281" v="144" actId="20577"/>
        <pc:sldMkLst>
          <pc:docMk/>
          <pc:sldMk cId="2703267863" sldId="419"/>
        </pc:sldMkLst>
        <pc:spChg chg="mod">
          <ac:chgData name="Sven De Ruyter" userId="5ea340e3-eb8f-48cc-9db2-b85bc44eed87" providerId="ADAL" clId="{10C45024-79AD-46BD-BFD5-A28A2F51EA8E}" dt="2026-01-28T09:00:06.281" v="144" actId="20577"/>
          <ac:spMkLst>
            <pc:docMk/>
            <pc:sldMk cId="2703267863" sldId="419"/>
            <ac:spMk id="5" creationId="{80E0382D-10DD-CFC3-8218-6B4FA3AD1B05}"/>
          </ac:spMkLst>
        </pc:spChg>
      </pc:sldChg>
      <pc:sldChg chg="modSp mod">
        <pc:chgData name="Sven De Ruyter" userId="5ea340e3-eb8f-48cc-9db2-b85bc44eed87" providerId="ADAL" clId="{10C45024-79AD-46BD-BFD5-A28A2F51EA8E}" dt="2026-01-28T09:02:32.763" v="170" actId="1076"/>
        <pc:sldMkLst>
          <pc:docMk/>
          <pc:sldMk cId="2980208985" sldId="420"/>
        </pc:sldMkLst>
        <pc:spChg chg="mod">
          <ac:chgData name="Sven De Ruyter" userId="5ea340e3-eb8f-48cc-9db2-b85bc44eed87" providerId="ADAL" clId="{10C45024-79AD-46BD-BFD5-A28A2F51EA8E}" dt="2026-01-28T09:02:32.763" v="170" actId="1076"/>
          <ac:spMkLst>
            <pc:docMk/>
            <pc:sldMk cId="2980208985" sldId="420"/>
            <ac:spMk id="3" creationId="{4792B93D-CD3C-F6D2-5AB9-8676BAA27A0E}"/>
          </ac:spMkLst>
        </pc:spChg>
      </pc:sldChg>
      <pc:sldChg chg="modSp add mod">
        <pc:chgData name="Sven De Ruyter" userId="5ea340e3-eb8f-48cc-9db2-b85bc44eed87" providerId="ADAL" clId="{10C45024-79AD-46BD-BFD5-A28A2F51EA8E}" dt="2026-01-28T13:47:54.580" v="536" actId="5793"/>
        <pc:sldMkLst>
          <pc:docMk/>
          <pc:sldMk cId="2169575043" sldId="742"/>
        </pc:sldMkLst>
        <pc:spChg chg="mod">
          <ac:chgData name="Sven De Ruyter" userId="5ea340e3-eb8f-48cc-9db2-b85bc44eed87" providerId="ADAL" clId="{10C45024-79AD-46BD-BFD5-A28A2F51EA8E}" dt="2026-01-28T13:47:54.580" v="536" actId="5793"/>
          <ac:spMkLst>
            <pc:docMk/>
            <pc:sldMk cId="2169575043" sldId="742"/>
            <ac:spMk id="4" creationId="{2557A76F-4129-23B1-B4AB-CC0DA7CC060A}"/>
          </ac:spMkLst>
        </pc:spChg>
      </pc:sldChg>
    </pc:docChg>
  </pc:docChgLst>
</pc:chgInfo>
</file>

<file path=ppt/comments/modernComment_173_1CE65C2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3617084-0A89-4757-87EB-E11B1359846C}" authorId="{DF5CEB83-0BFC-24F6-9264-EDDA323D88F1}" status="resolved" created="2025-04-02T12:53:37.551" complete="100000">
    <pc:sldMkLst xmlns:pc="http://schemas.microsoft.com/office/powerpoint/2013/main/command">
      <pc:docMk/>
      <pc:sldMk cId="484858915" sldId="371"/>
    </pc:sldMkLst>
    <p188:txBody>
      <a:bodyPr/>
      <a:lstStyle/>
      <a:p>
        <a:r>
          <a:rPr lang="fr-FR"/>
          <a:t>[@DEHON Alexandre] explication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E1AAB-ABE9-4797-BA29-224EAA3BDCB0}" type="datetimeFigureOut">
              <a:t>5/4/26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2528A-504D-42C8-8112-D4335BF0C069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10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table/13948007?visit_id=638753942898755878-2040512900&amp;rd=2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artframework.com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6367342?sjid=16769843298055703284-EU#access&amp;zippy=%2Cin-this-article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📌 </a:t>
            </a:r>
            <a:r>
              <a:rPr lang="hr-HR" b="1" dirty="0"/>
              <a:t>Cilj:</a:t>
            </a:r>
            <a:r>
              <a:rPr lang="hr-HR" dirty="0"/>
              <a:t> Uvod u ključne metrike i njihovu ulogu u analizi digitalnog marketinga.</a:t>
            </a:r>
          </a:p>
          <a:p>
            <a:r>
              <a:rPr lang="hr-HR" dirty="0"/>
              <a:t>🔹 </a:t>
            </a:r>
            <a:r>
              <a:rPr lang="hr-HR" b="1" dirty="0"/>
              <a:t>Zašto je ovo važno?</a:t>
            </a:r>
            <a:br>
              <a:rPr lang="hr-HR" dirty="0"/>
            </a:br>
            <a:r>
              <a:rPr lang="hr-HR" dirty="0"/>
              <a:t>Razumijevanje prometa na web-stranici i ponašanja korisnika ključno je za optimizaciju digitalnih rezultata.</a:t>
            </a:r>
            <a:br>
              <a:rPr lang="hr-HR" dirty="0"/>
            </a:br>
            <a:r>
              <a:rPr lang="hr-HR" dirty="0"/>
              <a:t>„Ne možete unaprijediti ono što ne mjerite” – odluke temeljene na podacima pomažu poslovanju da raste.</a:t>
            </a:r>
            <a:br>
              <a:rPr lang="hr-HR" dirty="0"/>
            </a:br>
            <a:r>
              <a:rPr lang="hr-HR" dirty="0"/>
              <a:t>Alati za analitiku nisu samo brojači; oni pružaju dublji uvid u ponašanje posjetitelja.</a:t>
            </a:r>
          </a:p>
          <a:p>
            <a:r>
              <a:rPr lang="hr-HR" dirty="0"/>
              <a:t>🔗 </a:t>
            </a:r>
            <a:r>
              <a:rPr lang="hr-HR" b="1" dirty="0"/>
              <a:t>Dodatni resursi:</a:t>
            </a:r>
            <a:br>
              <a:rPr lang="hr-HR" dirty="0"/>
            </a:br>
            <a:r>
              <a:rPr lang="hr-HR" dirty="0"/>
              <a:t>Službeni vodič za Google Analytics: Google Analytics podrška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14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1587D-347B-6384-247D-1AE339EB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213F9-355D-C0BB-1271-A66B47358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43993-9B10-B53B-5FFD-913C9631C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98CB4-9317-6107-562C-F6E3435FD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40321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Slajdovi 2–4: Oznake za praćenje na web-stranicama – Trajanje: 15 minuta</a:t>
            </a:r>
            <a:endParaRPr lang="hr-HR" dirty="0"/>
          </a:p>
          <a:p>
            <a:r>
              <a:rPr lang="hr-HR" dirty="0"/>
              <a:t>📌 </a:t>
            </a:r>
            <a:r>
              <a:rPr lang="hr-HR" b="1" dirty="0"/>
              <a:t>Cilj:</a:t>
            </a:r>
            <a:r>
              <a:rPr lang="hr-HR" dirty="0"/>
              <a:t> Prepoznavanje marketinških oznaka za praćenje na različitim web-stranicama.</a:t>
            </a:r>
          </a:p>
          <a:p>
            <a:r>
              <a:rPr lang="hr-HR" dirty="0"/>
              <a:t>🔹 </a:t>
            </a:r>
            <a:r>
              <a:rPr lang="hr-HR" b="1" dirty="0"/>
              <a:t>Zašto je ovo važno?</a:t>
            </a:r>
            <a:br>
              <a:rPr lang="hr-HR" dirty="0"/>
            </a:br>
            <a:r>
              <a:rPr lang="hr-HR" dirty="0"/>
              <a:t>Web-stranice koriste više oznaka za praćenje kako bi prikupljale podatke o korisnicima za potrebe marketinga i analitike.</a:t>
            </a:r>
            <a:br>
              <a:rPr lang="hr-HR" dirty="0"/>
            </a:br>
            <a:r>
              <a:rPr lang="hr-HR" dirty="0"/>
              <a:t>Razumijevanje koliko i koje su oznake prisutne pomaže u procjeni intenziteta praćenja.</a:t>
            </a:r>
            <a:br>
              <a:rPr lang="hr-HR" dirty="0"/>
            </a:br>
            <a:r>
              <a:rPr lang="hr-HR" dirty="0"/>
              <a:t>Neke tvrtke koriste minimalno praćenje, dok druge imaju opsežne strategije prikupljanja podataka.</a:t>
            </a:r>
          </a:p>
          <a:p>
            <a:r>
              <a:rPr lang="hr-HR" dirty="0"/>
              <a:t>🔗 </a:t>
            </a:r>
            <a:r>
              <a:rPr lang="hr-HR" b="1" dirty="0"/>
              <a:t>Dodatni resursi:</a:t>
            </a:r>
            <a:br>
              <a:rPr lang="hr-HR" dirty="0"/>
            </a:br>
            <a:r>
              <a:rPr lang="hr-HR" dirty="0"/>
              <a:t>Chrome proširenje za provjeru praćenja: </a:t>
            </a:r>
            <a:r>
              <a:rPr lang="hr-HR" dirty="0" err="1"/>
              <a:t>Ghostery</a:t>
            </a:r>
            <a:br>
              <a:rPr lang="hr-HR" dirty="0"/>
            </a:br>
            <a:r>
              <a:rPr lang="hr-HR" dirty="0"/>
              <a:t>Online alati za skeniranje oznaka: Tag </a:t>
            </a:r>
            <a:r>
              <a:rPr lang="hr-HR" dirty="0" err="1"/>
              <a:t>Inspector</a:t>
            </a:r>
            <a:endParaRPr lang="hr-HR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08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any website after first verifying that there are numerous trackers installed.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0392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Odaberite bilo koju web-stranicu, ali prvo provjerite da ima instaliran velik broj alata za praćenje.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049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Postoji mnogo dostupnih rješenja za praćenje.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28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2024, there were more than 200 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174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Alati za praćenje strateška su poluga u marketingu i korisničkom iskustvu.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5494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📌 </a:t>
            </a:r>
            <a:r>
              <a:rPr lang="hr-HR" b="1" dirty="0"/>
              <a:t>Cilj:</a:t>
            </a:r>
            <a:r>
              <a:rPr lang="hr-HR" dirty="0"/>
              <a:t> Razumjeti zašto podaci iz analitike možda nisu 100 % točni.</a:t>
            </a:r>
          </a:p>
          <a:p>
            <a:r>
              <a:rPr lang="hr-HR" dirty="0"/>
              <a:t>🔹 </a:t>
            </a:r>
            <a:r>
              <a:rPr lang="hr-HR" b="1" dirty="0"/>
              <a:t>Uobičajeni nedostaci u podacima:</a:t>
            </a:r>
            <a:br>
              <a:rPr lang="hr-HR" dirty="0"/>
            </a:br>
            <a:r>
              <a:rPr lang="hr-HR" dirty="0"/>
              <a:t>Korisnici napuste stranicu prije nego što se aktivira praćenje.</a:t>
            </a:r>
            <a:br>
              <a:rPr lang="hr-HR" dirty="0"/>
            </a:br>
            <a:r>
              <a:rPr lang="hr-HR" dirty="0" err="1"/>
              <a:t>AdBlockeri</a:t>
            </a:r>
            <a:r>
              <a:rPr lang="hr-HR" dirty="0"/>
              <a:t> sprječavaju učitavanje analitičkih skripti.</a:t>
            </a:r>
            <a:br>
              <a:rPr lang="hr-HR" dirty="0"/>
            </a:br>
            <a:r>
              <a:rPr lang="hr-HR" dirty="0"/>
              <a:t>Korisnici onemogućuju JavaScript ili odbijaju privolu za kolačiće.</a:t>
            </a:r>
            <a:br>
              <a:rPr lang="hr-HR" dirty="0"/>
            </a:br>
            <a:r>
              <a:rPr lang="hr-HR" dirty="0"/>
              <a:t>Uzorkovanje (</a:t>
            </a:r>
            <a:r>
              <a:rPr lang="hr-HR" dirty="0" err="1"/>
              <a:t>sampling</a:t>
            </a:r>
            <a:r>
              <a:rPr lang="hr-HR" dirty="0"/>
              <a:t>) i pragovi (</a:t>
            </a:r>
            <a:r>
              <a:rPr lang="hr-HR" dirty="0" err="1"/>
              <a:t>thresholding</a:t>
            </a:r>
            <a:r>
              <a:rPr lang="hr-HR" dirty="0"/>
              <a:t>) ograničavaju prikupljanje podataka u velikim skupovima podataka.</a:t>
            </a:r>
          </a:p>
          <a:p>
            <a:r>
              <a:rPr lang="hr-HR" dirty="0"/>
              <a:t>🔹 </a:t>
            </a:r>
            <a:r>
              <a:rPr lang="hr-HR" b="1" dirty="0"/>
              <a:t>Zašto je ovo važno?</a:t>
            </a:r>
            <a:br>
              <a:rPr lang="hr-HR" dirty="0"/>
            </a:br>
            <a:r>
              <a:rPr lang="hr-HR" dirty="0"/>
              <a:t>Pomaže analitičarima prepoznati odstupanja i prilagoditi strategije u skladu s tim.</a:t>
            </a:r>
            <a:br>
              <a:rPr lang="hr-HR" dirty="0"/>
            </a:br>
            <a:r>
              <a:rPr lang="hr-HR" dirty="0"/>
              <a:t>Naglašava potrebu za validacijom podataka iz više izvora.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78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Uzorkovanje (</a:t>
            </a:r>
            <a:r>
              <a:rPr lang="hr-HR" b="1" dirty="0" err="1"/>
              <a:t>Sampling</a:t>
            </a:r>
            <a:r>
              <a:rPr lang="hr-HR" b="1" dirty="0"/>
              <a:t>)</a:t>
            </a:r>
            <a:r>
              <a:rPr lang="hr-HR" dirty="0"/>
              <a:t> je metoda koja omogućuje Google Analytics-u da generira izvještaje analizirajući samo reprezentativni dio podataka, umjesto cijelog skupa podataka. Ovakav pristup omogućuje veću učinkovitost u računalnim troškovima, ali može dovesti do situacija u kojima se dobivaju približne, a ne točne vrijednosti.</a:t>
            </a:r>
          </a:p>
          <a:p>
            <a:r>
              <a:rPr lang="hr-HR" b="1" dirty="0"/>
              <a:t>Pragovi podataka (Data </a:t>
            </a:r>
            <a:r>
              <a:rPr lang="hr-HR" b="1" dirty="0" err="1"/>
              <a:t>Thresholding</a:t>
            </a:r>
            <a:r>
              <a:rPr lang="hr-HR" b="1" dirty="0"/>
              <a:t>)</a:t>
            </a:r>
            <a:r>
              <a:rPr lang="hr-HR" dirty="0"/>
              <a:t> omogućuju Google Analytics 4-u da zadrži (ne prikaže) podatke u situacijama kada algoritam prepozna potencijalni rizik identifikacije stvarne osobe na temelju demografskih podataka ili interesa, poput dobi, spola, lokacije i slično. Ova metoda služi zaštiti privatnosti korisnika.</a:t>
            </a:r>
          </a:p>
          <a:p>
            <a:r>
              <a:rPr lang="hr-HR" dirty="0"/>
              <a:t>U Google </a:t>
            </a:r>
            <a:r>
              <a:rPr lang="hr-HR" dirty="0" err="1"/>
              <a:t>Analyticsu</a:t>
            </a:r>
            <a:r>
              <a:rPr lang="hr-HR" dirty="0"/>
              <a:t> 4 (GA4), standardni izvještaji se općenito ne susreću s primjenom pragova podataka. Međutim, kod određenih izvještaja, posebno onih koji uključuju osjetljive demografske podatke poput dobi i spola, GA4 primjenjuje pragove podataka.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2677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i="1" dirty="0"/>
              <a:t>Kada su stvari besplatne i predobre da bi bile istinite, obično je to zato što ste na kraju vi proizvod... Ponekad je bolje informirati se o različitim uvjetima korištenja besplatnih rješenja, a posebno o dijeljenju podataka. U svom Analytics računu pronaći ćete potvrdni okvir (često označen bez čitanja) koji navodi sljedeće:</a:t>
            </a:r>
            <a:endParaRPr lang="hr-HR" dirty="0"/>
          </a:p>
          <a:p>
            <a:r>
              <a:rPr lang="hr-HR" dirty="0"/>
              <a:t>Dijelite svoje podatke iz Google Analytics-a s nama kako bismo poboljšali naše proizvode i usluge. Ako omogućite ovu postavku, Google Analytics moći će pružiti što kvalitetnije uvide i analitičke usluge, poboljšati sustave za otkrivanje neželjene pošte koji koriste svim proizvodima i korisnicima te ponuditi naprednije izvještavanje o demografskim podacima i interesima (ako su omogućeni Google </a:t>
            </a:r>
            <a:r>
              <a:rPr lang="hr-HR" dirty="0" err="1"/>
              <a:t>Signals</a:t>
            </a:r>
            <a:r>
              <a:rPr lang="hr-HR" dirty="0"/>
              <a:t>). Ako onemogućite ovu opciju, podaci se i dalje mogu prenositi drugim Google proizvodima povezanim s vašim vlasništvom. Za pregled ili izmjenu postavki idite u odjeljak povezivanja proizvoda za svako vlasništvo.</a:t>
            </a:r>
          </a:p>
          <a:p>
            <a:r>
              <a:rPr lang="hr-HR" dirty="0"/>
              <a:t>🔹 </a:t>
            </a:r>
            <a:r>
              <a:rPr lang="hr-HR" b="1" dirty="0"/>
              <a:t>Ključni uvidi:</a:t>
            </a:r>
            <a:br>
              <a:rPr lang="hr-HR" dirty="0"/>
            </a:br>
            <a:r>
              <a:rPr lang="hr-HR" dirty="0"/>
              <a:t>Google Analytics dominira s 52 % tržišnog udjela.</a:t>
            </a:r>
            <a:br>
              <a:rPr lang="hr-HR" dirty="0"/>
            </a:br>
            <a:r>
              <a:rPr lang="hr-HR" dirty="0"/>
              <a:t>Facebook, </a:t>
            </a:r>
            <a:r>
              <a:rPr lang="hr-HR" dirty="0" err="1"/>
              <a:t>Hotjar</a:t>
            </a:r>
            <a:r>
              <a:rPr lang="hr-HR" dirty="0"/>
              <a:t> i </a:t>
            </a:r>
            <a:r>
              <a:rPr lang="hr-HR" dirty="0" err="1"/>
              <a:t>Yandex</a:t>
            </a:r>
            <a:r>
              <a:rPr lang="hr-HR" dirty="0"/>
              <a:t> imaju specifičnu, </a:t>
            </a:r>
            <a:r>
              <a:rPr lang="hr-HR" dirty="0" err="1"/>
              <a:t>nišnu</a:t>
            </a:r>
            <a:r>
              <a:rPr lang="hr-HR" dirty="0"/>
              <a:t> primjenu.</a:t>
            </a:r>
            <a:br>
              <a:rPr lang="hr-HR" dirty="0"/>
            </a:br>
            <a:r>
              <a:rPr lang="hr-HR" dirty="0"/>
              <a:t>Neki napredni analitički alati zahtijevaju plaćene pretplate i podršku agencija.</a:t>
            </a:r>
          </a:p>
          <a:p>
            <a:r>
              <a:rPr lang="hr-HR" dirty="0"/>
              <a:t>🔹 </a:t>
            </a:r>
            <a:r>
              <a:rPr lang="hr-HR" b="1" dirty="0"/>
              <a:t>Zašto je ovo važno?</a:t>
            </a:r>
            <a:br>
              <a:rPr lang="hr-HR" dirty="0"/>
            </a:br>
            <a:r>
              <a:rPr lang="hr-HR" dirty="0"/>
              <a:t>Tvrtke moraju birati analitičke alate prema svojim potrebama i budžetu.</a:t>
            </a:r>
            <a:br>
              <a:rPr lang="hr-HR" dirty="0"/>
            </a:br>
            <a:r>
              <a:rPr lang="hr-HR" dirty="0"/>
              <a:t>Plaćeni alati nude veću razinu prilagodbe, ali zahtijevaju ulaganje.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59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Danas govorimo o Google Analytics 4. To je najnovija verzija analitike koju nudi Google. Predstavlja kombinaciju klasičnog </a:t>
            </a:r>
            <a:r>
              <a:rPr lang="hr-HR" dirty="0" err="1"/>
              <a:t>Universal</a:t>
            </a:r>
            <a:r>
              <a:rPr lang="hr-HR" dirty="0"/>
              <a:t> </a:t>
            </a:r>
            <a:r>
              <a:rPr lang="hr-HR" dirty="0" err="1"/>
              <a:t>Analyticsa</a:t>
            </a:r>
            <a:r>
              <a:rPr lang="hr-HR" dirty="0"/>
              <a:t> i </a:t>
            </a:r>
            <a:r>
              <a:rPr lang="hr-HR" dirty="0" err="1"/>
              <a:t>Firebase</a:t>
            </a:r>
            <a:r>
              <a:rPr lang="hr-HR" dirty="0"/>
              <a:t> analitike. Sada je sve međusobno povezano unutar jednog alata. Ovaj alat također zamjenjuje Googleov Data Manager.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355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Ključni zaključci:</a:t>
            </a:r>
            <a:br>
              <a:rPr lang="hr-HR" dirty="0"/>
            </a:br>
            <a:r>
              <a:rPr lang="hr-HR" dirty="0"/>
              <a:t>UTM (</a:t>
            </a:r>
            <a:r>
              <a:rPr lang="hr-HR" dirty="0" err="1"/>
              <a:t>Urchin</a:t>
            </a:r>
            <a:r>
              <a:rPr lang="hr-HR" dirty="0"/>
              <a:t> </a:t>
            </a:r>
            <a:r>
              <a:rPr lang="hr-HR" dirty="0" err="1"/>
              <a:t>Tracking</a:t>
            </a:r>
            <a:r>
              <a:rPr lang="hr-HR" dirty="0"/>
              <a:t> Module) omogućuje tvrtkama praćenje uspješnosti marketinških kampanja.</a:t>
            </a:r>
            <a:br>
              <a:rPr lang="hr-HR" dirty="0"/>
            </a:br>
            <a:r>
              <a:rPr lang="hr-HR" dirty="0"/>
              <a:t>Različiti UTM parametri uključuju:</a:t>
            </a:r>
          </a:p>
          <a:p>
            <a:r>
              <a:rPr lang="hr-HR" b="1" dirty="0" err="1"/>
              <a:t>utm_source</a:t>
            </a:r>
            <a:r>
              <a:rPr lang="hr-HR" dirty="0"/>
              <a:t>: identificira izvor prometa (npr. Google, Facebook) </a:t>
            </a:r>
          </a:p>
          <a:p>
            <a:r>
              <a:rPr lang="hr-HR" b="1" dirty="0" err="1"/>
              <a:t>utm_medium</a:t>
            </a:r>
            <a:r>
              <a:rPr lang="hr-HR" dirty="0"/>
              <a:t>: definira vrstu prometa (npr. e-mail, društvene mreže, CPC) </a:t>
            </a:r>
          </a:p>
          <a:p>
            <a:r>
              <a:rPr lang="hr-HR" b="1" dirty="0" err="1"/>
              <a:t>utm_campaign</a:t>
            </a:r>
            <a:r>
              <a:rPr lang="hr-HR" dirty="0"/>
              <a:t>: prati određene marketinške kampanje </a:t>
            </a:r>
          </a:p>
          <a:p>
            <a:r>
              <a:rPr lang="hr-HR" dirty="0"/>
              <a:t>GA se značajno razvio, prelazeći prema Google Analytics 4 (GA4).</a:t>
            </a:r>
          </a:p>
          <a:p>
            <a:r>
              <a:rPr lang="hr-HR" dirty="0"/>
              <a:t>🔹 </a:t>
            </a:r>
            <a:r>
              <a:rPr lang="hr-HR" b="1" dirty="0"/>
              <a:t>Zašto je ovo važno?</a:t>
            </a:r>
            <a:br>
              <a:rPr lang="hr-HR" dirty="0"/>
            </a:br>
            <a:r>
              <a:rPr lang="hr-HR" dirty="0"/>
              <a:t>Pomaže marketinškim stručnjacima analizirati povrat ulaganja (ROI) iz različitih izvora prometa.</a:t>
            </a:r>
            <a:br>
              <a:rPr lang="hr-HR" dirty="0"/>
            </a:br>
            <a:r>
              <a:rPr lang="hr-HR" dirty="0"/>
              <a:t>Omogućuje dublji uvid u učinkovitost kampanja.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33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Ključni zaključci:</a:t>
            </a:r>
            <a:br>
              <a:rPr lang="hr-HR" dirty="0"/>
            </a:br>
            <a:r>
              <a:rPr lang="hr-HR" dirty="0"/>
              <a:t>Skriptu za GA4 (gtag.js) potrebno je dodati na web-stranice.</a:t>
            </a:r>
            <a:br>
              <a:rPr lang="hr-HR" dirty="0"/>
            </a:br>
            <a:r>
              <a:rPr lang="hr-HR" dirty="0"/>
              <a:t>Podaci se obrađuju s odgodom do 72 sata za složenije uvide.</a:t>
            </a:r>
            <a:br>
              <a:rPr lang="hr-HR" dirty="0"/>
            </a:br>
            <a:r>
              <a:rPr lang="hr-HR" dirty="0"/>
              <a:t>Google Analytics 4 fokusira se na praćenje temeljeno na događajima, a ne na sesijama.</a:t>
            </a:r>
          </a:p>
          <a:p>
            <a:r>
              <a:rPr lang="hr-HR" dirty="0"/>
              <a:t>🔹 </a:t>
            </a:r>
            <a:r>
              <a:rPr lang="hr-HR" b="1" dirty="0"/>
              <a:t>Zašto je ovo važno?</a:t>
            </a:r>
            <a:br>
              <a:rPr lang="hr-HR" dirty="0"/>
            </a:br>
            <a:r>
              <a:rPr lang="hr-HR" dirty="0"/>
              <a:t>Razumijevanje implementacije pomaže osigurati točno prikupljanje podataka.</a:t>
            </a:r>
            <a:br>
              <a:rPr lang="hr-HR" dirty="0"/>
            </a:br>
            <a:r>
              <a:rPr lang="hr-HR" dirty="0"/>
              <a:t>Analitika temeljena na događajima omogućuje detaljniji uvid u ponašanje korisnika.</a:t>
            </a:r>
          </a:p>
          <a:p>
            <a:r>
              <a:rPr lang="hr-HR" dirty="0"/>
              <a:t>🔗 </a:t>
            </a:r>
            <a:r>
              <a:rPr lang="hr-HR" b="1" dirty="0"/>
              <a:t>Dodatni resursi:</a:t>
            </a:r>
            <a:br>
              <a:rPr lang="hr-HR" dirty="0"/>
            </a:br>
            <a:r>
              <a:rPr lang="hr-HR" dirty="0"/>
              <a:t>GA4 </a:t>
            </a:r>
            <a:r>
              <a:rPr lang="hr-HR" dirty="0" err="1"/>
              <a:t>Measurement</a:t>
            </a:r>
            <a:r>
              <a:rPr lang="hr-HR" dirty="0"/>
              <a:t> </a:t>
            </a:r>
            <a:r>
              <a:rPr lang="hr-HR" dirty="0" err="1"/>
              <a:t>Protocol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80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Instalacija Google Analytics-a provodi se putem skripte koja se dodaje na vaše web-stranice, a zatim se obrađuje na Googleovim poslužiteljima. Nakon toga se podaci analiziraju i postaju dostupni na nadzornoj ploči.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1305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Evo primjera protokola za Google Analytics. Zanimljiv dio nije sam link, već ono što ga čini — različiti elementi o kojima ćemo kasnije govoriti.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27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Evo raščlambe elemenata protokola. U lijevom stupcu nalaze se elementi, a u desnom stupcu objašnjenje svakog elementa.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89537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Ovi elementi ili parametri omogućuju stotinu ili više kombinacija.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7792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„GDPR je uredba Europske unije koja štiti osobne podatke i zahtijeva izričitu privolu korisnika prije njihovog prikupljanja ili obrade.</a:t>
            </a:r>
            <a:br>
              <a:rPr lang="hr-HR" dirty="0"/>
            </a:br>
            <a:r>
              <a:rPr lang="hr-HR" dirty="0"/>
              <a:t>Problem s Google Analytics-om prvenstveno se odnosi na slanje podataka u SAD i korištenje identifikatora koji se mogu smatrati osobnima.</a:t>
            </a:r>
            <a:br>
              <a:rPr lang="hr-HR" dirty="0"/>
            </a:br>
            <a:r>
              <a:rPr lang="hr-HR" dirty="0"/>
              <a:t>Bez odgovarajućih zaštitnih mjera i jasne privole, korištenje GA-a može se smatrati neusklađenim od strane europskih regulatora poput CNIL.”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6565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Ovo objašnjava što su osobni podaci, poput IP adrese, te što obuhvaća GDPR regulativa.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2175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Ovdje objašnjavam što privola znači u kontekstu GDPR zakonodavstva.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6896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Ovdje objašnjavamo utjecaj izričite privole na kvalitetu prikupljenih podataka.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9779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Cilj vježbe je provesti 15 minuta koristeći dva Chrome dodatka kako biste provjerili je li web-stranica usklađena s europskim zakonodavstvom.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3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U okviru protokola Google Analytics ovo objašnjava tehničke aspekte privole i njezin utjecaj na praćenje.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81482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Evo uvoda u Googleov demo primjer, koji je dostupan svima i uključuje analitiku Googleove internetske trgovine.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04405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Od polaznika se traži da pronađu različite metrike navedene na slajdu u demo Google računu – trajanje: 15 minuta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85748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Ovdje uvodimo koncept ciljeva u Google Analytics.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96396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Ključni zaključci:</a:t>
            </a:r>
            <a:br>
              <a:rPr lang="hr-HR" dirty="0"/>
            </a:br>
            <a:r>
              <a:rPr lang="hr-HR" dirty="0"/>
              <a:t>Događaji poput </a:t>
            </a:r>
            <a:r>
              <a:rPr lang="hr-HR" i="1" dirty="0" err="1"/>
              <a:t>add_to_cart</a:t>
            </a:r>
            <a:r>
              <a:rPr lang="hr-HR" dirty="0"/>
              <a:t>, </a:t>
            </a:r>
            <a:r>
              <a:rPr lang="hr-HR" i="1" dirty="0" err="1"/>
              <a:t>purchase</a:t>
            </a:r>
            <a:r>
              <a:rPr lang="hr-HR" dirty="0"/>
              <a:t> i </a:t>
            </a:r>
            <a:r>
              <a:rPr lang="hr-HR" i="1" dirty="0" err="1"/>
              <a:t>refund</a:t>
            </a:r>
            <a:r>
              <a:rPr lang="hr-HR" dirty="0"/>
              <a:t> pružaju duboke uvide.</a:t>
            </a:r>
            <a:br>
              <a:rPr lang="hr-HR" dirty="0"/>
            </a:br>
            <a:r>
              <a:rPr lang="hr-HR" dirty="0"/>
              <a:t>Google Analytics 4 omogućuje do 500 prilagođenih događaja i 50 dimenzija događaja.</a:t>
            </a:r>
          </a:p>
          <a:p>
            <a:r>
              <a:rPr lang="hr-HR" dirty="0"/>
              <a:t>🔹 </a:t>
            </a:r>
            <a:r>
              <a:rPr lang="hr-HR" b="1" dirty="0"/>
              <a:t>Zašto je ovo važno?</a:t>
            </a:r>
            <a:br>
              <a:rPr lang="hr-HR" dirty="0"/>
            </a:br>
            <a:r>
              <a:rPr lang="hr-HR" dirty="0"/>
              <a:t>Pomaže u praćenju ponašanja korisnika izvan jednostavnih pregleda stranica.</a:t>
            </a:r>
            <a:br>
              <a:rPr lang="hr-HR" dirty="0"/>
            </a:br>
            <a:r>
              <a:rPr lang="hr-HR" dirty="0"/>
              <a:t>Tvrtke mogu učinkovito mjeriti i optimizirati stope konverzije.</a:t>
            </a:r>
          </a:p>
          <a:p>
            <a:r>
              <a:rPr lang="hr-HR" dirty="0"/>
              <a:t>🔗 </a:t>
            </a:r>
            <a:r>
              <a:rPr lang="hr-HR" b="1" dirty="0"/>
              <a:t>Dodatni resursi:</a:t>
            </a:r>
            <a:br>
              <a:rPr lang="hr-HR" dirty="0"/>
            </a:br>
            <a:r>
              <a:rPr lang="hr-HR" dirty="0"/>
              <a:t>GA4 Event 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26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Popis događaja specifičnih za e-trgovinu u Google Analytics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2239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Nastavak popisa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21453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Popis događaja specifičnih za igre u Google Analytics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00161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>
                <a:hlinkClick r:id="rId3"/>
              </a:rPr>
              <a:t>https://support.google.com/analytics/table/13948007?visit_id=638753942898755878-2040512900&amp;rd=2</a:t>
            </a:r>
            <a:r>
              <a:rPr lang="en-US" dirty="0"/>
              <a:t> 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hr-HR" dirty="0"/>
              <a:t>Objašnjenja za izradu prilagođenih događaja korištenjem različitih parametara i svojstava. Ako postoji interes, polaznicima možete prikazati poveznicu u nastavku.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440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🔹 </a:t>
            </a:r>
            <a:r>
              <a:rPr lang="hr-HR" b="1" dirty="0"/>
              <a:t>Ključni zaključci:</a:t>
            </a:r>
            <a:br>
              <a:rPr lang="hr-HR" dirty="0"/>
            </a:br>
            <a:r>
              <a:rPr lang="hr-HR" dirty="0"/>
              <a:t>Izravni promet nije moguće pratiti prema zadanim postavkama.</a:t>
            </a:r>
            <a:br>
              <a:rPr lang="hr-HR" dirty="0"/>
            </a:br>
            <a:r>
              <a:rPr lang="hr-HR" dirty="0"/>
              <a:t>UTM parametri mogu nadjačati izvor prometa za praćenje kampanja.</a:t>
            </a:r>
            <a:br>
              <a:rPr lang="hr-HR" dirty="0"/>
            </a:br>
            <a:r>
              <a:rPr lang="hr-HR" dirty="0"/>
              <a:t>Atribucijski modeli (</a:t>
            </a:r>
            <a:r>
              <a:rPr lang="hr-HR" dirty="0" err="1"/>
              <a:t>last-click</a:t>
            </a:r>
            <a:r>
              <a:rPr lang="hr-HR" dirty="0"/>
              <a:t>, </a:t>
            </a:r>
            <a:r>
              <a:rPr lang="hr-HR" dirty="0" err="1"/>
              <a:t>first-click</a:t>
            </a:r>
            <a:r>
              <a:rPr lang="hr-HR" dirty="0"/>
              <a:t>, data-</a:t>
            </a:r>
            <a:r>
              <a:rPr lang="hr-HR" dirty="0" err="1"/>
              <a:t>driven</a:t>
            </a:r>
            <a:r>
              <a:rPr lang="hr-HR" dirty="0"/>
              <a:t>) utječu na izvještavanje.</a:t>
            </a:r>
          </a:p>
          <a:p>
            <a:r>
              <a:rPr lang="hr-HR" dirty="0"/>
              <a:t>🔹 </a:t>
            </a:r>
            <a:r>
              <a:rPr lang="hr-HR" b="1" dirty="0"/>
              <a:t>Zašto je ovo važno?</a:t>
            </a:r>
            <a:br>
              <a:rPr lang="hr-HR" dirty="0"/>
            </a:br>
            <a:r>
              <a:rPr lang="hr-HR" dirty="0"/>
              <a:t>Tvrtke moraju koristiti odgovarajući atribucijski model za točnu analizu povrata ulaganja (ROI).</a:t>
            </a:r>
          </a:p>
          <a:p>
            <a:r>
              <a:rPr lang="hr-HR" dirty="0"/>
              <a:t>🔗 </a:t>
            </a:r>
            <a:r>
              <a:rPr lang="hr-HR" b="1" dirty="0"/>
              <a:t>Dodatni resursi:</a:t>
            </a:r>
            <a:br>
              <a:rPr lang="hr-HR" dirty="0"/>
            </a:br>
            <a:r>
              <a:rPr lang="hr-HR" dirty="0"/>
              <a:t>Google </a:t>
            </a:r>
            <a:r>
              <a:rPr lang="hr-HR" dirty="0" err="1"/>
              <a:t>Attribution</a:t>
            </a:r>
            <a:r>
              <a:rPr lang="hr-HR" dirty="0"/>
              <a:t> </a:t>
            </a:r>
            <a:r>
              <a:rPr lang="hr-HR" dirty="0" err="1"/>
              <a:t>Models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601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Možete kreirati prilagođeno praćenje prilikom provođenja marketinških kampanja. Ovdje objašnjavamo kako ispravno pratiti klik na kampanju, primjerice korištenjem alata </a:t>
            </a:r>
            <a:r>
              <a:rPr lang="hr-HR" dirty="0" err="1"/>
              <a:t>Campaign</a:t>
            </a:r>
            <a:r>
              <a:rPr lang="hr-HR" dirty="0"/>
              <a:t> URL </a:t>
            </a:r>
            <a:r>
              <a:rPr lang="hr-HR" dirty="0" err="1"/>
              <a:t>Builder</a:t>
            </a:r>
            <a:r>
              <a:rPr lang="hr-HR" dirty="0"/>
              <a:t>.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cs typeface="+mn-lt"/>
              </a:rPr>
            </a:br>
            <a:r>
              <a:rPr lang="en-US" dirty="0"/>
              <a:t>https://ga-dev-tools.google/campaign-url-builder/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837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Uvod u koncept vremena u Google Analytics.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68016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https://www.heartframework.com/</a:t>
            </a:r>
          </a:p>
          <a:p>
            <a:r>
              <a:rPr lang="hr-HR" dirty="0"/>
              <a:t>📌 </a:t>
            </a:r>
            <a:r>
              <a:rPr lang="hr-HR" b="1" dirty="0"/>
              <a:t>Cilj:</a:t>
            </a:r>
            <a:br>
              <a:rPr lang="hr-HR" dirty="0"/>
            </a:br>
            <a:r>
              <a:rPr lang="hr-HR" dirty="0"/>
              <a:t>HEART Framework je metodologija za mjerenje korisničkog iskustva (UX) koju je razvijao Googleov UX istraživački tim. Pomaže organizacijama procijeniti i unaprijediti digitalne proizvode na temelju ključnih metrika korisničkog iskustva.</a:t>
            </a:r>
          </a:p>
          <a:p>
            <a:r>
              <a:rPr lang="hr-HR" b="1" dirty="0"/>
              <a:t>Što znači HEART?</a:t>
            </a:r>
            <a:br>
              <a:rPr lang="hr-HR" dirty="0"/>
            </a:br>
            <a:r>
              <a:rPr lang="hr-HR" dirty="0"/>
              <a:t>Okvir se sastoji od pet ključnih dimenzija korisničkog iskustva:</a:t>
            </a:r>
          </a:p>
          <a:p>
            <a:r>
              <a:rPr lang="hr-HR" b="1" dirty="0" err="1"/>
              <a:t>Happiness</a:t>
            </a:r>
            <a:r>
              <a:rPr lang="hr-HR" b="1" dirty="0"/>
              <a:t> (zadovoljstvo)</a:t>
            </a:r>
            <a:r>
              <a:rPr lang="hr-HR" dirty="0"/>
              <a:t> – mjeri zadovoljstvo i percepciju korisnika.</a:t>
            </a:r>
            <a:br>
              <a:rPr lang="hr-HR" dirty="0"/>
            </a:br>
            <a:r>
              <a:rPr lang="hr-HR" dirty="0"/>
              <a:t>📊 Primjeri: Net </a:t>
            </a:r>
            <a:r>
              <a:rPr lang="hr-HR" dirty="0" err="1"/>
              <a:t>Promoter</a:t>
            </a:r>
            <a:r>
              <a:rPr lang="hr-HR" dirty="0"/>
              <a:t> </a:t>
            </a:r>
            <a:r>
              <a:rPr lang="hr-HR" dirty="0" err="1"/>
              <a:t>Score</a:t>
            </a:r>
            <a:r>
              <a:rPr lang="hr-HR" dirty="0"/>
              <a:t> (NPS), ankete zadovoljstva korisnika, ocjene u trgovinama aplikacija.</a:t>
            </a:r>
            <a:br>
              <a:rPr lang="hr-HR" dirty="0"/>
            </a:br>
            <a:r>
              <a:rPr lang="hr-HR" dirty="0"/>
              <a:t>❓ Zašto je važno? Zadovoljni korisnici češće se vraćaju i preporučuju proizvod.</a:t>
            </a:r>
          </a:p>
          <a:p>
            <a:r>
              <a:rPr lang="hr-HR" b="1" dirty="0" err="1"/>
              <a:t>Engagement</a:t>
            </a:r>
            <a:r>
              <a:rPr lang="hr-HR" b="1" dirty="0"/>
              <a:t> (angažman)</a:t>
            </a:r>
            <a:r>
              <a:rPr lang="hr-HR" dirty="0"/>
              <a:t> – mjeri koliko aktivno korisnici koriste proizvod.</a:t>
            </a:r>
            <a:br>
              <a:rPr lang="hr-HR" dirty="0"/>
            </a:br>
            <a:r>
              <a:rPr lang="hr-HR" dirty="0"/>
              <a:t>📊 Primjeri: trajanje sesije, broj stranica po posjetu, učestalost interakcija.</a:t>
            </a:r>
            <a:br>
              <a:rPr lang="hr-HR" dirty="0"/>
            </a:br>
            <a:r>
              <a:rPr lang="hr-HR" dirty="0"/>
              <a:t>❓ Zašto je važno? Veći angažman često znači bolje korisničko iskustvo.</a:t>
            </a:r>
          </a:p>
          <a:p>
            <a:r>
              <a:rPr lang="hr-HR" b="1" dirty="0" err="1"/>
              <a:t>Adoption</a:t>
            </a:r>
            <a:r>
              <a:rPr lang="hr-HR" b="1" dirty="0"/>
              <a:t> (usvajanje)</a:t>
            </a:r>
            <a:r>
              <a:rPr lang="hr-HR" dirty="0"/>
              <a:t> – prati koliko korisnika počinje koristiti proizvod.</a:t>
            </a:r>
            <a:br>
              <a:rPr lang="hr-HR" dirty="0"/>
            </a:br>
            <a:r>
              <a:rPr lang="hr-HR" dirty="0"/>
              <a:t>📊 Primjeri: nove registracije, prve prijave, preuzimanja.</a:t>
            </a:r>
            <a:br>
              <a:rPr lang="hr-HR" dirty="0"/>
            </a:br>
            <a:r>
              <a:rPr lang="hr-HR" dirty="0"/>
              <a:t>❓ Zašto je važno? Stopa usvajanja pokazuje privlačnost proizvoda i učinkovitost uvođenja korisnika.</a:t>
            </a:r>
          </a:p>
          <a:p>
            <a:r>
              <a:rPr lang="hr-HR" b="1" dirty="0" err="1"/>
              <a:t>Retention</a:t>
            </a:r>
            <a:r>
              <a:rPr lang="hr-HR" b="1" dirty="0"/>
              <a:t> (zadržavanje)</a:t>
            </a:r>
            <a:r>
              <a:rPr lang="hr-HR" dirty="0"/>
              <a:t> – mjeri koliko se korisnika vraća tijekom vremena.</a:t>
            </a:r>
            <a:br>
              <a:rPr lang="hr-HR" dirty="0"/>
            </a:br>
            <a:r>
              <a:rPr lang="hr-HR" dirty="0"/>
              <a:t>📊 Primjeri: stopa odljeva korisnika (</a:t>
            </a:r>
            <a:r>
              <a:rPr lang="hr-HR" dirty="0" err="1"/>
              <a:t>churn</a:t>
            </a:r>
            <a:r>
              <a:rPr lang="hr-HR" dirty="0"/>
              <a:t>), ponovni posjeti, obnova pretplata.</a:t>
            </a:r>
            <a:br>
              <a:rPr lang="hr-HR" dirty="0"/>
            </a:br>
            <a:r>
              <a:rPr lang="hr-HR" dirty="0"/>
              <a:t>❓ Zašto je važno? Visoka stopa zadržavanja ukazuje na vrijednost proizvoda i lojalnost korisnika.</a:t>
            </a:r>
          </a:p>
          <a:p>
            <a:r>
              <a:rPr lang="hr-HR" b="1" dirty="0" err="1"/>
              <a:t>Task</a:t>
            </a:r>
            <a:r>
              <a:rPr lang="hr-HR" b="1" dirty="0"/>
              <a:t> </a:t>
            </a:r>
            <a:r>
              <a:rPr lang="hr-HR" b="1" dirty="0" err="1"/>
              <a:t>Success</a:t>
            </a:r>
            <a:r>
              <a:rPr lang="hr-HR" b="1" dirty="0"/>
              <a:t> (uspješnost zadatka)</a:t>
            </a:r>
            <a:r>
              <a:rPr lang="hr-HR" dirty="0"/>
              <a:t> – procjenjuje koliko učinkovito korisnici izvršavaju ključne zadatke.</a:t>
            </a:r>
            <a:br>
              <a:rPr lang="hr-HR" dirty="0"/>
            </a:br>
            <a:r>
              <a:rPr lang="hr-HR" dirty="0"/>
              <a:t>📊 Primjeri: stope konverzije, stopa ispunjavanja obrazaca, stopa pogrešaka.</a:t>
            </a:r>
            <a:br>
              <a:rPr lang="hr-HR" dirty="0"/>
            </a:br>
            <a:r>
              <a:rPr lang="hr-HR" dirty="0"/>
              <a:t>❓ Zašto je važno? Jednostavno izvršavanje zadataka vodi većem zadovoljstvu i višim konverzijama.</a:t>
            </a:r>
          </a:p>
          <a:p>
            <a:br>
              <a:rPr lang="hr-HR" dirty="0"/>
            </a:br>
            <a:endParaRPr lang="hr-HR" dirty="0"/>
          </a:p>
          <a:p>
            <a:r>
              <a:rPr lang="hr-HR" b="1" dirty="0"/>
              <a:t>Zašto koristiti HEART Framework?</a:t>
            </a:r>
            <a:br>
              <a:rPr lang="hr-HR" dirty="0"/>
            </a:br>
            <a:r>
              <a:rPr lang="hr-HR" dirty="0"/>
              <a:t>✅ Pruža strukturiran način mjerenja UX-a</a:t>
            </a:r>
            <a:br>
              <a:rPr lang="hr-HR" dirty="0"/>
            </a:br>
            <a:r>
              <a:rPr lang="hr-HR" dirty="0"/>
              <a:t>✅ Pomaže uskladiti UX ciljeve s poslovnim ciljevima</a:t>
            </a:r>
            <a:br>
              <a:rPr lang="hr-HR" dirty="0"/>
            </a:br>
            <a:r>
              <a:rPr lang="hr-HR" dirty="0"/>
              <a:t>✅ Potiče donošenje odluka temeljenih na podacima</a:t>
            </a:r>
            <a:br>
              <a:rPr lang="hr-HR" dirty="0"/>
            </a:br>
            <a:r>
              <a:rPr lang="hr-HR" dirty="0"/>
              <a:t>✅ Primjenjiv je na web-stranice, aplikacije i digitalne proizvode</a:t>
            </a:r>
          </a:p>
          <a:p>
            <a:br>
              <a:rPr lang="hr-HR" dirty="0"/>
            </a:br>
            <a:endParaRPr lang="hr-HR" dirty="0"/>
          </a:p>
          <a:p>
            <a:r>
              <a:rPr lang="hr-HR" b="1" dirty="0"/>
              <a:t>Kako primijeniti HEART u Google Analytics 4?</a:t>
            </a:r>
            <a:endParaRPr lang="hr-HR" dirty="0"/>
          </a:p>
          <a:p>
            <a:r>
              <a:rPr lang="hr-HR" dirty="0"/>
              <a:t>💡 </a:t>
            </a:r>
            <a:r>
              <a:rPr lang="hr-HR" b="1" dirty="0" err="1"/>
              <a:t>Happiness</a:t>
            </a:r>
            <a:r>
              <a:rPr lang="hr-HR" b="1" dirty="0"/>
              <a:t> → Ankete i NPS</a:t>
            </a:r>
            <a:br>
              <a:rPr lang="hr-HR" dirty="0"/>
            </a:br>
            <a:r>
              <a:rPr lang="hr-HR" dirty="0"/>
              <a:t>Koristite Google </a:t>
            </a:r>
            <a:r>
              <a:rPr lang="hr-HR" dirty="0" err="1"/>
              <a:t>Forms</a:t>
            </a:r>
            <a:r>
              <a:rPr lang="hr-HR" dirty="0"/>
              <a:t> ili </a:t>
            </a:r>
            <a:r>
              <a:rPr lang="hr-HR" dirty="0" err="1"/>
              <a:t>Hotjar</a:t>
            </a:r>
            <a:r>
              <a:rPr lang="hr-HR" dirty="0"/>
              <a:t> za prikupljanje povratnih informacija korisnika.</a:t>
            </a:r>
          </a:p>
          <a:p>
            <a:r>
              <a:rPr lang="hr-HR" dirty="0"/>
              <a:t>💡 </a:t>
            </a:r>
            <a:r>
              <a:rPr lang="hr-HR" b="1" dirty="0" err="1"/>
              <a:t>Engagement</a:t>
            </a:r>
            <a:r>
              <a:rPr lang="hr-HR" b="1" dirty="0"/>
              <a:t> → Metrike sesije</a:t>
            </a:r>
            <a:br>
              <a:rPr lang="hr-HR" dirty="0"/>
            </a:br>
            <a:r>
              <a:rPr lang="hr-HR" dirty="0"/>
              <a:t>Pratite vrijeme na stranici, </a:t>
            </a:r>
            <a:r>
              <a:rPr lang="hr-HR" dirty="0" err="1"/>
              <a:t>bounce</a:t>
            </a:r>
            <a:r>
              <a:rPr lang="hr-HR" dirty="0"/>
              <a:t> rate i događaje u GA4.</a:t>
            </a:r>
          </a:p>
          <a:p>
            <a:r>
              <a:rPr lang="hr-HR" dirty="0"/>
              <a:t>💡 </a:t>
            </a:r>
            <a:r>
              <a:rPr lang="hr-HR" b="1" dirty="0" err="1"/>
              <a:t>Adoption</a:t>
            </a:r>
            <a:r>
              <a:rPr lang="hr-HR" b="1" dirty="0"/>
              <a:t> → Analiza </a:t>
            </a:r>
            <a:r>
              <a:rPr lang="hr-HR" b="1" dirty="0" err="1"/>
              <a:t>funnel</a:t>
            </a:r>
            <a:r>
              <a:rPr lang="hr-HR" b="1" dirty="0"/>
              <a:t>-a</a:t>
            </a:r>
            <a:br>
              <a:rPr lang="hr-HR" dirty="0"/>
            </a:br>
            <a:r>
              <a:rPr lang="hr-HR" dirty="0"/>
              <a:t>Koristite GA4 događaje za praćenje registracija i završetka </a:t>
            </a:r>
            <a:r>
              <a:rPr lang="hr-HR" dirty="0" err="1"/>
              <a:t>onboarding</a:t>
            </a:r>
            <a:r>
              <a:rPr lang="hr-HR" dirty="0"/>
              <a:t> procesa.</a:t>
            </a:r>
          </a:p>
          <a:p>
            <a:r>
              <a:rPr lang="hr-HR" dirty="0"/>
              <a:t>💡 </a:t>
            </a:r>
            <a:r>
              <a:rPr lang="hr-HR" b="1" dirty="0" err="1"/>
              <a:t>Retention</a:t>
            </a:r>
            <a:r>
              <a:rPr lang="hr-HR" b="1" dirty="0"/>
              <a:t> → Kohorte korisnika</a:t>
            </a:r>
            <a:br>
              <a:rPr lang="hr-HR" dirty="0"/>
            </a:br>
            <a:r>
              <a:rPr lang="hr-HR" dirty="0"/>
              <a:t>Koristite GA4 </a:t>
            </a:r>
            <a:r>
              <a:rPr lang="hr-HR" dirty="0" err="1"/>
              <a:t>cohort</a:t>
            </a:r>
            <a:r>
              <a:rPr lang="hr-HR" dirty="0"/>
              <a:t> izvještaje za praćenje povratnih korisnika kroz vrijeme.</a:t>
            </a:r>
          </a:p>
          <a:p>
            <a:r>
              <a:rPr lang="hr-HR" dirty="0"/>
              <a:t>💡 </a:t>
            </a:r>
            <a:r>
              <a:rPr lang="hr-HR" b="1" dirty="0" err="1"/>
              <a:t>Task</a:t>
            </a:r>
            <a:r>
              <a:rPr lang="hr-HR" b="1" dirty="0"/>
              <a:t> </a:t>
            </a:r>
            <a:r>
              <a:rPr lang="hr-HR" b="1" dirty="0" err="1"/>
              <a:t>Success</a:t>
            </a:r>
            <a:r>
              <a:rPr lang="hr-HR" b="1" dirty="0"/>
              <a:t> → Praćenje konverzija</a:t>
            </a:r>
            <a:br>
              <a:rPr lang="hr-HR" dirty="0"/>
            </a:br>
            <a:r>
              <a:rPr lang="hr-HR" dirty="0"/>
              <a:t>Postavite praćenje ciljeva za ključne radnje (npr. kupnje, registracije).</a:t>
            </a:r>
          </a:p>
          <a:p>
            <a:br>
              <a:rPr lang="hr-HR" dirty="0"/>
            </a:br>
            <a:endParaRPr lang="hr-HR" dirty="0"/>
          </a:p>
          <a:p>
            <a:r>
              <a:rPr lang="hr-HR" b="1" dirty="0"/>
              <a:t>Dodatni resursi</a:t>
            </a:r>
            <a:br>
              <a:rPr lang="hr-HR" dirty="0"/>
            </a:br>
            <a:r>
              <a:rPr lang="hr-HR" dirty="0"/>
              <a:t>🔗 Google HEART Framework pregled</a:t>
            </a:r>
            <a:br>
              <a:rPr lang="hr-HR" dirty="0"/>
            </a:br>
            <a:r>
              <a:rPr lang="hr-HR" dirty="0"/>
              <a:t>🔗 </a:t>
            </a:r>
            <a:r>
              <a:rPr lang="hr-HR" dirty="0" err="1"/>
              <a:t>User-Centered</a:t>
            </a:r>
            <a:r>
              <a:rPr lang="hr-HR" dirty="0"/>
              <a:t> </a:t>
            </a:r>
            <a:r>
              <a:rPr lang="hr-HR" dirty="0" err="1"/>
              <a:t>Metrics</a:t>
            </a:r>
            <a:r>
              <a:rPr lang="hr-HR" dirty="0"/>
              <a:t>: Google UX Research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64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A9FED-27BE-A59A-70E8-6BF93B094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4B3EA-7C1A-E8A4-F355-96BFCC737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AE5BC-915A-952C-F190-7D46B8357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https://www.heartframework.com/</a:t>
            </a:r>
            <a:r>
              <a:rPr lang="en-US" dirty="0"/>
              <a:t> 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pl-PL" dirty="0"/>
              <a:t>ispunjena kartica okvira za klijenta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94057-FA96-EDFC-BDDC-58EF79A00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335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Slijedi niz vježbi — odaberite ih ovisno o preostalom vremenu ili ih po potrebi zadajte kao domaću zadaću.</a:t>
            </a:r>
          </a:p>
          <a:p>
            <a:r>
              <a:rPr lang="hr-HR" dirty="0"/>
              <a:t>Vraćamo se na vježbu u Googleovom demo računu na Googleovoj online trgovini – trajanje: 15 do 30 minuta</a:t>
            </a:r>
          </a:p>
          <a:p>
            <a:endParaRPr lang="en-US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60172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r>
              <a:rPr lang="hr-HR" dirty="0"/>
              <a:t>Vježba se sada radi samostalno ili u parovima, a potrebno je pronaći nešto složenije metrike.</a:t>
            </a:r>
          </a:p>
          <a:p>
            <a:r>
              <a:rPr lang="hr-HR" dirty="0"/>
              <a:t>Trajanje – 20 minuta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856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9FE27-C43D-A14B-FDAB-C36A4AFFC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0ABE43-E3E1-D791-0F98-538375580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9AA2D-85F6-4553-19DF-ECAA51D7D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Trajanje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15 </a:t>
            </a:r>
            <a:r>
              <a:rPr lang="hr-H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30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minut</a:t>
            </a:r>
            <a:r>
              <a:rPr lang="hr-H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hr-HR" dirty="0"/>
              <a:t>Ovdje se od polaznika traži da kreiraju prilagođenu publiku u Google Analytics koristeći demo račun.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FE87F-BDC4-E6C5-5222-1ED47CD5A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705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B093-CB27-CD8A-21D2-90AFEA76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2A982-0EC8-B846-AEB6-011ACAE7A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3C37E-39B1-4CEE-2472-CA33EDDDB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hr-HR" dirty="0"/>
              <a:t>Ovdje se od polaznika traži da izrade prilagođeni akvizicijski </a:t>
            </a:r>
            <a:r>
              <a:rPr lang="hr-HR" dirty="0" err="1"/>
              <a:t>funnel</a:t>
            </a:r>
            <a:r>
              <a:rPr lang="hr-HR" dirty="0"/>
              <a:t> u demo računu Google Analytics.</a:t>
            </a:r>
          </a:p>
          <a:p>
            <a:r>
              <a:rPr lang="hr-HR" dirty="0"/>
              <a:t>Trajanje: 15 do 30 minuta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B6735-406B-56C1-E6C3-A7F6C36DD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7887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Cilj je ovdje odvojiti nekoliko minuta za raspravu o poslovnim izazovima i kako ih pretvoriti u metrike u analitici. To je ključna uloga digitalnog </a:t>
            </a:r>
            <a:r>
              <a:rPr lang="hr-HR" dirty="0" err="1"/>
              <a:t>product</a:t>
            </a:r>
            <a:r>
              <a:rPr lang="hr-HR" dirty="0"/>
              <a:t> managera.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FR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7999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A89EF-FCB9-BFC0-3C51-4AC117AE3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A83F8-6D4A-DA22-6467-F7FF81C36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51CDB-1752-2C43-498F-779B543B6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hr-HR" dirty="0"/>
              <a:t>Nastavljamo vježbu samostalno ili u parovima kako bismo mogli izračunati stopu akvizicije.</a:t>
            </a:r>
          </a:p>
          <a:p>
            <a:r>
              <a:rPr lang="hr-HR" dirty="0"/>
              <a:t>Trajanje: 5 minuta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C9F4C-70FD-5766-805E-9099DD8DB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381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0020-B30F-16F7-E80D-DBCA6691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93C44-3383-3C59-24FF-F6BA840AF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2BE0E-1D7F-205D-8A64-E786F3CF4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hr-HR" dirty="0"/>
              <a:t>Cilj ove vježbe je identificirati glavne izvore prometa iz marketinške perspektive.</a:t>
            </a:r>
          </a:p>
          <a:p>
            <a:r>
              <a:rPr lang="hr-HR" dirty="0"/>
              <a:t>Trajanje: 5 do 10 minuta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680FC-5B22-F524-6EF4-281913051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017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4368B-5605-82D3-05A3-3E5C99BCC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0BFD3-C065-8468-AEEE-CDAA7F3BA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F1612-86F8-6E98-F7EA-C4C3714B5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r>
              <a:rPr lang="hr-HR" dirty="0"/>
              <a:t>Cilj ove vježbe je uvesti koncept dodavanja u košaricu i njegove implikacije na konverzije.</a:t>
            </a:r>
          </a:p>
          <a:p>
            <a:r>
              <a:rPr lang="hr-HR" dirty="0"/>
              <a:t>Trajanje: 5 do 10 minuta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F6C88-C0E0-0A28-486A-0AF13EFB0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192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AFDC-CCBC-263F-C1F8-F80A62B0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FAD23-70F4-0AC4-CD36-8E8E2299C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0DB1A-25B7-4695-578D-48EE2BAAA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hr-HR" dirty="0"/>
              <a:t>Ovdje podižemo svijest o geografskoj analizi podataka, uz određena upozorenja vezana uz kvalitetu podataka povezanih s IP adresama.</a:t>
            </a:r>
          </a:p>
          <a:p>
            <a:r>
              <a:rPr lang="hr-HR" dirty="0"/>
              <a:t>Trajanje: 5 do 10 minuta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B8308-3922-91C8-1413-46A74C71A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580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260FE-1463-FD35-4D00-AEB4DA27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D5E30-0A2C-992D-9B82-7694522DF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326E1-BF95-1D84-284B-BD9B7C6D8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hr-HR" dirty="0"/>
              <a:t>Opcionalna vježba u kojoj koristimo drugu dimenziju kako bismo dobili preciznije podatke o prometu i analitici.</a:t>
            </a:r>
          </a:p>
          <a:p>
            <a:r>
              <a:rPr lang="hr-HR" dirty="0"/>
              <a:t>Trajanje: 5 do 10 minuta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7CE80-6D78-4303-BE4B-DCCC4EF35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174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9E572-4AC6-8D4D-97FD-DB8095D26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793A2-80FF-A46F-A6B0-F41531EDF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FC281-0134-ACBC-0B0B-EE61AE941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it-IT" dirty="0" err="1"/>
              <a:t>Cilj</a:t>
            </a:r>
            <a:r>
              <a:rPr lang="it-IT" dirty="0"/>
              <a:t> ove </a:t>
            </a:r>
            <a:r>
              <a:rPr lang="it-IT" dirty="0" err="1"/>
              <a:t>vježbe</a:t>
            </a:r>
            <a:r>
              <a:rPr lang="it-IT" dirty="0"/>
              <a:t> je </a:t>
            </a:r>
            <a:r>
              <a:rPr lang="it-IT" dirty="0" err="1"/>
              <a:t>posebno</a:t>
            </a:r>
            <a:r>
              <a:rPr lang="it-IT" dirty="0"/>
              <a:t> </a:t>
            </a:r>
            <a:r>
              <a:rPr lang="it-IT" dirty="0" err="1"/>
              <a:t>identificirati</a:t>
            </a:r>
            <a:r>
              <a:rPr lang="it-IT" dirty="0"/>
              <a:t> </a:t>
            </a:r>
            <a:r>
              <a:rPr lang="it-IT" dirty="0" err="1"/>
              <a:t>mobilni</a:t>
            </a:r>
            <a:r>
              <a:rPr lang="it-IT" dirty="0"/>
              <a:t> </a:t>
            </a:r>
            <a:r>
              <a:rPr lang="it-IT" dirty="0" err="1"/>
              <a:t>promet</a:t>
            </a:r>
            <a:r>
              <a:rPr lang="it-IT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DAFF9-34EB-42BE-CDFE-E2637B1FD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66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4D9DB-05D3-99AB-828B-8C16608ED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3FD02-E575-5E15-BD46-DA2FACE5C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22462-9D90-53F9-4B1C-CF60833C7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hr-HR" dirty="0"/>
              <a:t>Ovdje se koncept plaćenog prometa uvodi kroz specifične filtre.</a:t>
            </a:r>
          </a:p>
          <a:p>
            <a:r>
              <a:rPr lang="hr-HR" dirty="0"/>
              <a:t>Trajanje: 5 do 10 minuta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650ED-DA5C-D318-C9E0-BF3C75203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05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340D-5A36-1B81-7007-10A997BFC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C30BD-3F1C-2A01-1C69-A7368DDFA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10C61-6C79-88BF-EC1A-B8889BC0D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hr-HR" dirty="0"/>
              <a:t>Zadatak je ovdje identificirati trajanje sesija prema geografskom području.</a:t>
            </a:r>
          </a:p>
          <a:p>
            <a:r>
              <a:rPr lang="hr-HR" dirty="0"/>
              <a:t>Trajanje: 5 do 10 minuta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E10EC-F43E-9383-1355-50BE15E58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983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3EE86-F4D8-DB17-FB72-6B36D733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E288C-AD6A-6EA4-5F85-551E5F971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3CD0C6-B947-F8C4-72CB-ED22290F2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hr-HR" dirty="0"/>
              <a:t>Cilj ove vježbe je podići svijest ne samo o geografskoj dimenziji, već i o uređaju koji korisnik koristi za pregledavanje web-stranice.</a:t>
            </a:r>
          </a:p>
          <a:p>
            <a:r>
              <a:rPr lang="hr-HR" dirty="0"/>
              <a:t>Trajanje: 5 do 10 minuta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E42A1-749D-0D62-15DF-4BF98A02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1899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B7E48-B969-3B98-5ADE-266C19BEA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FF595-744C-82B1-7944-1AD2FC488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2BA91-3456-A182-5B9C-7F059B1B3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https://support.google.com/analytics/answer/6367342?sjid=16769843298055703284-EU#access&amp;zippy=%2Cin-this-article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pl-PL" dirty="0"/>
              <a:t>U ovoj vježbi fokus je na povratnom prometu.</a:t>
            </a:r>
          </a:p>
          <a:p>
            <a:r>
              <a:rPr lang="pl-PL" dirty="0"/>
              <a:t>Trajanje: 5 do 10 minuta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60DCC-80D8-3F67-6245-1BCFF9265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4524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54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2228115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528A-504D-42C8-8112-D4335BF0C069}" type="slidenum">
              <a:rPr lang="fr-BE" smtClean="0"/>
              <a:t>55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631658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09458-76B0-492C-AE3B-5216EDE26413}" type="slidenum">
              <a:rPr lang="fr-BE" smtClean="0"/>
              <a:t>56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7749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ka 13">
            <a:extLst>
              <a:ext uri="{FF2B5EF4-FFF2-40B4-BE49-F238E27FC236}">
                <a16:creationId xmlns:a16="http://schemas.microsoft.com/office/drawing/2014/main" id="{8FBD081C-E6C2-807B-F622-45A52F57D6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2468084"/>
            <a:ext cx="9144000" cy="2387600"/>
          </a:xfrm>
        </p:spPr>
        <p:txBody>
          <a:bodyPr anchor="b"/>
          <a:lstStyle>
            <a:lvl1pPr algn="r">
              <a:defRPr sz="6000">
                <a:latin typeface="Montserrat" panose="00000500000000000000" pitchFamily="2" charset="-18"/>
              </a:defRPr>
            </a:lvl1pPr>
          </a:lstStyle>
          <a:p>
            <a:r>
              <a:rPr lang="hr-HR" dirty="0"/>
              <a:t>DOCUMENT TITLE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61E420-EBAD-A9E6-F448-076E17D0F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5653" y="4947759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latin typeface="Montserrat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16379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62662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ka 9" descr="Slika na kojoj se prikazuje crta, snimka zaslona, šarenilo, dizajn&#10;&#10;Opis je automatski generiran">
            <a:extLst>
              <a:ext uri="{FF2B5EF4-FFF2-40B4-BE49-F238E27FC236}">
                <a16:creationId xmlns:a16="http://schemas.microsoft.com/office/drawing/2014/main" id="{7D3E6235-77BD-81C2-1C4B-460BFF2AC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60127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Slika na kojoj se prikazuje crta, snimka zaslona, šarenilo, dizajn">
            <a:extLst>
              <a:ext uri="{FF2B5EF4-FFF2-40B4-BE49-F238E27FC236}">
                <a16:creationId xmlns:a16="http://schemas.microsoft.com/office/drawing/2014/main" id="{813DD7BB-6C45-D079-40C8-D9AAFA335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3084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8A7D5785-C017-9CDE-887E-053A663A78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81160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alat, dizajn&#10;&#10;Opis je automatski generiran">
            <a:extLst>
              <a:ext uri="{FF2B5EF4-FFF2-40B4-BE49-F238E27FC236}">
                <a16:creationId xmlns:a16="http://schemas.microsoft.com/office/drawing/2014/main" id="{7174B7B0-D794-7A54-5CF6-E0A21E0E58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49893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78154B72-B9D9-7CC8-2522-C7E3F4476C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38972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DISCUSSION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46221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1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EXERCISE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54530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3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1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HOMEWORK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52130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ASSESSMENTS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513623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5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ADDITIONAL READING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721596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6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RESOURCES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758510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27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2356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75" cy="68579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57285" y="1873315"/>
            <a:ext cx="4110567" cy="20658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67" b="0" i="0">
                <a:solidFill>
                  <a:srgbClr val="FFAA3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09887" y="4008111"/>
            <a:ext cx="10360660" cy="12530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URW Gothic"/>
                <a:cs typeface="URW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607581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67" b="0" i="0">
                <a:solidFill>
                  <a:srgbClr val="FFAA3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702013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6342278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0960"/>
          </a:xfrm>
          <a:custGeom>
            <a:avLst/>
            <a:gdLst/>
            <a:ahLst/>
            <a:cxnLst/>
            <a:rect l="l" t="t" r="r" b="b"/>
            <a:pathLst>
              <a:path w="9144000" h="45720">
                <a:moveTo>
                  <a:pt x="9143981" y="45299"/>
                </a:moveTo>
                <a:lnTo>
                  <a:pt x="0" y="45299"/>
                </a:lnTo>
                <a:lnTo>
                  <a:pt x="0" y="0"/>
                </a:lnTo>
                <a:lnTo>
                  <a:pt x="9143981" y="0"/>
                </a:lnTo>
                <a:lnTo>
                  <a:pt x="9143981" y="45299"/>
                </a:lnTo>
                <a:close/>
              </a:path>
            </a:pathLst>
          </a:custGeom>
          <a:solidFill>
            <a:srgbClr val="FFAA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99227" y="793564"/>
            <a:ext cx="6338147" cy="0"/>
          </a:xfrm>
          <a:custGeom>
            <a:avLst/>
            <a:gdLst/>
            <a:ahLst/>
            <a:cxnLst/>
            <a:rect l="l" t="t" r="r" b="b"/>
            <a:pathLst>
              <a:path w="4753609">
                <a:moveTo>
                  <a:pt x="0" y="0"/>
                </a:moveTo>
                <a:lnTo>
                  <a:pt x="4753490" y="0"/>
                </a:lnTo>
              </a:path>
            </a:pathLst>
          </a:custGeom>
          <a:ln w="9524">
            <a:solidFill>
              <a:srgbClr val="FFAA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/>
          <a:stretch>
            <a:fillRect/>
          </a:stretch>
        </p:blipFill>
        <p:spPr>
          <a:xfrm>
            <a:off x="215252" y="290544"/>
            <a:ext cx="1080160" cy="2797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67" b="0" i="0">
                <a:solidFill>
                  <a:srgbClr val="FFAA3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225392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lagođeni izg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snimka zaslona, crta, dizajn&#10;&#10;Sadržaj generiran umjetnom inteligencijom može biti netočan.">
            <a:extLst>
              <a:ext uri="{FF2B5EF4-FFF2-40B4-BE49-F238E27FC236}">
                <a16:creationId xmlns:a16="http://schemas.microsoft.com/office/drawing/2014/main" id="{06B022C9-54E7-BB73-8A26-59E11FA9C3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BF2A96D7-17D5-D8FA-1A2A-53ABEC2070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r-HR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374998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B650DF9-2458-1434-6EFF-3D965EDC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C6E5EE-2B8F-9019-690C-3AF0A69B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70CF1CA-F427-A5AF-96AA-671002CD7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B997-549E-41F4-A1E4-B0CF42B49EF1}" type="datetimeFigureOut">
              <a:rPr lang="hr-HR" smtClean="0"/>
              <a:t>04.05.2026.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829544-1FE5-4ED0-6A51-373B2456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3A67201-5F88-A086-59F5-4A06FA6B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D723-16A0-42C8-A963-6C8D73A0AD4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9751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9" r:id="rId4"/>
    <p:sldLayoutId id="2147483666" r:id="rId5"/>
    <p:sldLayoutId id="2147483652" r:id="rId6"/>
    <p:sldLayoutId id="2147483661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69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lolaliza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uters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zalando.be/?_rfl=nl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jpeg"/><Relationship Id="rId3" Type="http://schemas.openxmlformats.org/officeDocument/2006/relationships/image" Target="../media/image20.png"/><Relationship Id="rId7" Type="http://schemas.openxmlformats.org/officeDocument/2006/relationships/image" Target="../media/image24.jpeg"/><Relationship Id="rId12" Type="http://schemas.openxmlformats.org/officeDocument/2006/relationships/image" Target="../media/image29.jpeg"/><Relationship Id="rId17" Type="http://schemas.openxmlformats.org/officeDocument/2006/relationships/image" Target="../media/image34.jpe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11" Type="http://schemas.openxmlformats.org/officeDocument/2006/relationships/image" Target="../media/image28.jpeg"/><Relationship Id="rId5" Type="http://schemas.openxmlformats.org/officeDocument/2006/relationships/image" Target="../media/image22.png"/><Relationship Id="rId15" Type="http://schemas.openxmlformats.org/officeDocument/2006/relationships/image" Target="../media/image32.jpeg"/><Relationship Id="rId10" Type="http://schemas.openxmlformats.org/officeDocument/2006/relationships/image" Target="../media/image27.jpeg"/><Relationship Id="rId4" Type="http://schemas.openxmlformats.org/officeDocument/2006/relationships/image" Target="../media/image21.jpeg"/><Relationship Id="rId9" Type="http://schemas.openxmlformats.org/officeDocument/2006/relationships/image" Target="../media/image26.png"/><Relationship Id="rId14" Type="http://schemas.openxmlformats.org/officeDocument/2006/relationships/image" Target="../media/image3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jpeg"/><Relationship Id="rId18" Type="http://schemas.openxmlformats.org/officeDocument/2006/relationships/image" Target="../media/image35.jpeg"/><Relationship Id="rId3" Type="http://schemas.openxmlformats.org/officeDocument/2006/relationships/image" Target="../media/image20.png"/><Relationship Id="rId7" Type="http://schemas.openxmlformats.org/officeDocument/2006/relationships/image" Target="../media/image24.jpeg"/><Relationship Id="rId12" Type="http://schemas.openxmlformats.org/officeDocument/2006/relationships/image" Target="../media/image29.jpeg"/><Relationship Id="rId17" Type="http://schemas.openxmlformats.org/officeDocument/2006/relationships/image" Target="../media/image34.jpe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11" Type="http://schemas.openxmlformats.org/officeDocument/2006/relationships/image" Target="../media/image28.jpeg"/><Relationship Id="rId5" Type="http://schemas.openxmlformats.org/officeDocument/2006/relationships/image" Target="../media/image22.png"/><Relationship Id="rId15" Type="http://schemas.openxmlformats.org/officeDocument/2006/relationships/image" Target="../media/image32.jpeg"/><Relationship Id="rId10" Type="http://schemas.openxmlformats.org/officeDocument/2006/relationships/image" Target="../media/image27.jpeg"/><Relationship Id="rId19" Type="http://schemas.openxmlformats.org/officeDocument/2006/relationships/image" Target="../media/image36.png"/><Relationship Id="rId4" Type="http://schemas.openxmlformats.org/officeDocument/2006/relationships/image" Target="../media/image21.jpeg"/><Relationship Id="rId9" Type="http://schemas.openxmlformats.org/officeDocument/2006/relationships/image" Target="../media/image26.png"/><Relationship Id="rId14" Type="http://schemas.openxmlformats.org/officeDocument/2006/relationships/image" Target="../media/image3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3_1CE65C2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om.ncl.ac.uk/can-innovative-statistical-analysis-support-rare-disease-clinical-trials" TargetMode="Externa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culturehive.co.uk/digital-heritage-hub/resource/engagement/getting-started-with-google-analytics-4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jpe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nalytics.google.com/g/collect?v=2&amp;tid=G-ABC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acebook.com/photo.php?fbid=536161219876672&amp;set=a.357162984443164&amp;id=100064069172152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hromewebstore.google.com/detail/analytics-debugger/ilnpmccnfdjdjjikgkefkcegefikecdc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hromewebstore.google.com/detail/editthiscookie-v3/ojfebgpkimhlhcblbalbfjblapadhbol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10993011?hl=en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shop.merch.google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s.google.com/analytics/devguides/collection/ga4/ecommerce#select_promotion" TargetMode="External"/><Relationship Id="rId13" Type="http://schemas.openxmlformats.org/officeDocument/2006/relationships/hyperlink" Target="https://developers.google.com/analytics/devguides/collection/ga4/ecommerce#begin_checkout" TargetMode="External"/><Relationship Id="rId3" Type="http://schemas.openxmlformats.org/officeDocument/2006/relationships/hyperlink" Target="https://developers.google.com/analytics/devguides/collection/ga4/reference/events#generate_lead" TargetMode="External"/><Relationship Id="rId7" Type="http://schemas.openxmlformats.org/officeDocument/2006/relationships/hyperlink" Target="https://developers.google.com/analytics/devguides/collection/ga4/ecommerce#select_item" TargetMode="External"/><Relationship Id="rId12" Type="http://schemas.openxmlformats.org/officeDocument/2006/relationships/hyperlink" Target="https://developers.google.com/analytics/devguides/collection/ga4/ecommerce#remove_from_cart" TargetMode="External"/><Relationship Id="rId17" Type="http://schemas.openxmlformats.org/officeDocument/2006/relationships/hyperlink" Target="https://developers.google.com/analytics/devguides/collection/ga4/ecommerce#refund" TargetMode="External"/><Relationship Id="rId2" Type="http://schemas.openxmlformats.org/officeDocument/2006/relationships/notesSlide" Target="../notesSlides/notesSlide29.xml"/><Relationship Id="rId16" Type="http://schemas.openxmlformats.org/officeDocument/2006/relationships/hyperlink" Target="https://developers.google.com/analytics/devguides/collection/ga4/ecommerce#purchase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evelopers.google.com/analytics/devguides/collection/ga4/ecommerce#view_promotion" TargetMode="External"/><Relationship Id="rId11" Type="http://schemas.openxmlformats.org/officeDocument/2006/relationships/hyperlink" Target="https://developers.google.com/analytics/devguides/collection/ga4/ecommerce#view_cart" TargetMode="External"/><Relationship Id="rId5" Type="http://schemas.openxmlformats.org/officeDocument/2006/relationships/hyperlink" Target="https://developers.google.com/analytics/devguides/collection/ga4/ecommerce#view_item" TargetMode="External"/><Relationship Id="rId15" Type="http://schemas.openxmlformats.org/officeDocument/2006/relationships/hyperlink" Target="https://developers.google.com/analytics/devguides/collection/ga4/ecommerce#add_shipping_info" TargetMode="External"/><Relationship Id="rId10" Type="http://schemas.openxmlformats.org/officeDocument/2006/relationships/hyperlink" Target="https://developers.google.com/analytics/devguides/collection/ga4/ecommerce#add_to_cart" TargetMode="External"/><Relationship Id="rId4" Type="http://schemas.openxmlformats.org/officeDocument/2006/relationships/hyperlink" Target="https://developers.google.com/analytics/devguides/collection/ga4/ecommerce#view_item_list" TargetMode="External"/><Relationship Id="rId9" Type="http://schemas.openxmlformats.org/officeDocument/2006/relationships/hyperlink" Target="https://developers.google.com/analytics/devguides/collection/ga4/ecommerce#add_to_wishlist" TargetMode="External"/><Relationship Id="rId14" Type="http://schemas.openxmlformats.org/officeDocument/2006/relationships/hyperlink" Target="https://developers.google.com/analytics/devguides/collection/ga4/ecommerce#add_payment_info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s.google.com/gtagjs/reference/ga4-events#refund" TargetMode="External"/><Relationship Id="rId13" Type="http://schemas.openxmlformats.org/officeDocument/2006/relationships/hyperlink" Target="https://developers.google.com/gtagjs/reference/ga4-events#spend_virtual_currency" TargetMode="External"/><Relationship Id="rId3" Type="http://schemas.openxmlformats.org/officeDocument/2006/relationships/hyperlink" Target="https://firebase.google.com/docs/analytics/measure-ad-revenue" TargetMode="External"/><Relationship Id="rId7" Type="http://schemas.openxmlformats.org/officeDocument/2006/relationships/hyperlink" Target="https://developers.google.com/gtagjs/reference/ga4-events#purchase" TargetMode="External"/><Relationship Id="rId12" Type="http://schemas.openxmlformats.org/officeDocument/2006/relationships/hyperlink" Target="https://developers.google.com/gtagjs/reference/ga4-events#sign_up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evelopers.google.com/gtagjs/reference/ga4-events#login" TargetMode="External"/><Relationship Id="rId11" Type="http://schemas.openxmlformats.org/officeDocument/2006/relationships/hyperlink" Target="https://developers.google.com/gtagjs/reference/ga4-events#share" TargetMode="External"/><Relationship Id="rId5" Type="http://schemas.openxmlformats.org/officeDocument/2006/relationships/hyperlink" Target="https://developers.google.com/gtagjs/reference/ga4-events#join_group" TargetMode="External"/><Relationship Id="rId15" Type="http://schemas.openxmlformats.org/officeDocument/2006/relationships/hyperlink" Target="https://developers.google.com/gtagjs/reference/ga4-events#tutorial_complete" TargetMode="External"/><Relationship Id="rId10" Type="http://schemas.openxmlformats.org/officeDocument/2006/relationships/hyperlink" Target="https://developers.google.com/gtagjs/reference/ga4-events#select_content" TargetMode="External"/><Relationship Id="rId4" Type="http://schemas.openxmlformats.org/officeDocument/2006/relationships/hyperlink" Target="https://developers.google.com/gtagjs/reference/ga4-events#earn_virtual_currency" TargetMode="External"/><Relationship Id="rId9" Type="http://schemas.openxmlformats.org/officeDocument/2006/relationships/hyperlink" Target="https://developers.google.com/gtagjs/reference/ga4-events#search" TargetMode="External"/><Relationship Id="rId14" Type="http://schemas.openxmlformats.org/officeDocument/2006/relationships/hyperlink" Target="https://developers.google.com/gtagjs/reference/ga4-events#tutorial_begin" TargetMode="Externa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s.google.com/gtagjs/reference/ga4-events#post_score" TargetMode="External"/><Relationship Id="rId13" Type="http://schemas.openxmlformats.org/officeDocument/2006/relationships/hyperlink" Target="https://developers.google.com/gtagjs/reference/ga4-events#unlock_achievement" TargetMode="External"/><Relationship Id="rId3" Type="http://schemas.openxmlformats.org/officeDocument/2006/relationships/hyperlink" Target="https://developers.google.com/gtagjs/reference/ga4-events#earn_virtual_currency" TargetMode="External"/><Relationship Id="rId7" Type="http://schemas.openxmlformats.org/officeDocument/2006/relationships/hyperlink" Target="https://developers.google.com/gtagjs/reference/ga4-events#level_up" TargetMode="External"/><Relationship Id="rId12" Type="http://schemas.openxmlformats.org/officeDocument/2006/relationships/hyperlink" Target="https://developers.google.com/gtagjs/reference/ga4-events#tutorial_complete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evelopers.google.com/gtagjs/reference/ga4-events#level_start" TargetMode="External"/><Relationship Id="rId11" Type="http://schemas.openxmlformats.org/officeDocument/2006/relationships/hyperlink" Target="https://developers.google.com/gtagjs/reference/ga4-events#tutorial_begin" TargetMode="External"/><Relationship Id="rId5" Type="http://schemas.openxmlformats.org/officeDocument/2006/relationships/hyperlink" Target="https://developers.google.com/gtagjs/reference/ga4-events#level_end" TargetMode="External"/><Relationship Id="rId10" Type="http://schemas.openxmlformats.org/officeDocument/2006/relationships/hyperlink" Target="https://developers.google.com/gtagjs/reference/ga4-events#spend_virtual_currency" TargetMode="External"/><Relationship Id="rId4" Type="http://schemas.openxmlformats.org/officeDocument/2006/relationships/hyperlink" Target="https://developers.google.com/gtagjs/reference/ga4-events#join_group" TargetMode="External"/><Relationship Id="rId9" Type="http://schemas.openxmlformats.org/officeDocument/2006/relationships/hyperlink" Target="https://developers.google.com/gtagjs/reference/ga4-events#select_content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asoffer.com/xu-huong-affiliate-marketing-2016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ingerspitz.nl/blog/google-analytics-acquisitie-rapporten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artframework.com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answer/10993011?hl=en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shop.merch.google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yngster.com/ga4-measurement-protocol-cheatsheet/" TargetMode="External"/><Relationship Id="rId7" Type="http://schemas.openxmlformats.org/officeDocument/2006/relationships/hyperlink" Target="https://www.heartframework.com/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ga-dev-tools.google/campaign-url-builder/" TargetMode="External"/><Relationship Id="rId5" Type="http://schemas.openxmlformats.org/officeDocument/2006/relationships/hyperlink" Target="https://support.google.com/analytics/table/13948007?visit_id=638753942898755878-2040512900&amp;rd=2" TargetMode="External"/><Relationship Id="rId4" Type="http://schemas.openxmlformats.org/officeDocument/2006/relationships/hyperlink" Target="https://www.autoriteprotectiondonnees.be/citoyen/themes/internet/cookies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oxfordcollegeofmarketing.com/2026/01/28/google-analytics-4-ga4-guide/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medium.com/kubo/10-crucial-ui-ux-metrics-every-start-up-should-be-tracking-ee6f87af693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4022C4E9-1E70-8866-3479-A24FD93D0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/>
              <a:t>SHIFT4IT</a:t>
            </a:r>
            <a:endParaRPr lang="hr-HR" dirty="0"/>
          </a:p>
        </p:txBody>
      </p:sp>
      <p:sp>
        <p:nvSpPr>
          <p:cNvPr id="5" name="Podnaslov 4">
            <a:extLst>
              <a:ext uri="{FF2B5EF4-FFF2-40B4-BE49-F238E27FC236}">
                <a16:creationId xmlns:a16="http://schemas.microsoft.com/office/drawing/2014/main" id="{2D59F4E1-B531-21D4-1874-34304F7DA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Shifting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paradygm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 for women in IT sector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24626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BA6161-1608-0121-4879-BF8160F257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latin typeface="Bahnschrift"/>
              </a:rPr>
              <a:t>M</a:t>
            </a:r>
            <a:r>
              <a:rPr lang="hr-HR" dirty="0" err="1">
                <a:latin typeface="Bahnschrift"/>
              </a:rPr>
              <a:t>jerni</a:t>
            </a:r>
            <a:r>
              <a:rPr lang="hr-HR" dirty="0">
                <a:latin typeface="Bahnschrift"/>
              </a:rPr>
              <a:t> pokazatelji (metrike)</a:t>
            </a:r>
            <a:endParaRPr lang="fr-FR" dirty="0" err="1"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495518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B748C-B108-A18C-42C6-75AA280E8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0E997-0413-0A74-F2DC-8C64DF07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latin typeface="Bahnschrift SemiBold"/>
              </a:rPr>
              <a:t>S</a:t>
            </a:r>
            <a:r>
              <a:rPr lang="hr-HR" sz="3600" dirty="0" err="1">
                <a:latin typeface="Bahnschrift SemiBold"/>
              </a:rPr>
              <a:t>ažetak</a:t>
            </a:r>
            <a:endParaRPr lang="fr-BE" sz="3600" dirty="0">
              <a:latin typeface="Bahnschrift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57A76F-4129-23B1-B4AB-CC0DA7CC060A}"/>
              </a:ext>
            </a:extLst>
          </p:cNvPr>
          <p:cNvSpPr txBox="1"/>
          <p:nvPr/>
        </p:nvSpPr>
        <p:spPr>
          <a:xfrm>
            <a:off x="504713" y="1894520"/>
            <a:ext cx="9651274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r-HR" sz="3200" b="1" dirty="0">
                <a:solidFill>
                  <a:srgbClr val="000000"/>
                </a:solidFill>
                <a:latin typeface="Bahnschrift SemiLight"/>
                <a:ea typeface="Satoshi Regular"/>
              </a:rPr>
              <a:t>Oznake za praćenje</a:t>
            </a:r>
            <a:endParaRPr lang="en-US" sz="3200" b="1" dirty="0">
              <a:solidFill>
                <a:srgbClr val="000000"/>
              </a:solidFill>
              <a:latin typeface="Bahnschrift SemiLight"/>
              <a:ea typeface="Satoshi Regular"/>
            </a:endParaRPr>
          </a:p>
          <a:p>
            <a:pPr marL="342900" indent="-342900">
              <a:buFont typeface="+mj-lt"/>
              <a:buAutoNum type="arabicPeriod"/>
            </a:pPr>
            <a:r>
              <a:rPr lang="hr-HR" sz="3200" b="1" dirty="0">
                <a:solidFill>
                  <a:srgbClr val="000000"/>
                </a:solidFill>
                <a:latin typeface="Bahnschrift SemiLight"/>
                <a:ea typeface="Satoshi Regular"/>
              </a:rPr>
              <a:t>Rješenja za praćenje</a:t>
            </a:r>
            <a:endParaRPr lang="en-US" sz="3200" b="1" dirty="0">
              <a:solidFill>
                <a:srgbClr val="000000"/>
              </a:solidFill>
              <a:latin typeface="Bahnschrift SemiLight"/>
              <a:ea typeface="Satoshi Regular"/>
            </a:endParaRPr>
          </a:p>
          <a:p>
            <a:pPr marL="342900" indent="-342900">
              <a:buFont typeface="+mj-lt"/>
              <a:buAutoNum type="arabicPeriod"/>
            </a:pPr>
            <a:r>
              <a:rPr lang="hr-HR" sz="3200" b="1" dirty="0">
                <a:solidFill>
                  <a:srgbClr val="000000"/>
                </a:solidFill>
                <a:latin typeface="Bahnschrift SemiLight"/>
                <a:ea typeface="Satoshi Regular"/>
              </a:rPr>
              <a:t>Alati analitike</a:t>
            </a:r>
            <a:endParaRPr lang="en-US" sz="3200" b="1" dirty="0">
              <a:solidFill>
                <a:srgbClr val="000000"/>
              </a:solidFill>
              <a:latin typeface="Bahnschrift SemiLight"/>
              <a:ea typeface="Satoshi Regular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rgbClr val="000000"/>
                </a:solidFill>
                <a:latin typeface="Bahnschrift SemiLight"/>
                <a:ea typeface="Satoshi Regular"/>
              </a:rPr>
              <a:t>GA4 </a:t>
            </a:r>
            <a:r>
              <a:rPr lang="hr-HR" sz="3200" b="1" dirty="0">
                <a:solidFill>
                  <a:srgbClr val="000000"/>
                </a:solidFill>
                <a:latin typeface="Bahnschrift SemiLight"/>
                <a:ea typeface="Satoshi Regular"/>
              </a:rPr>
              <a:t>demo računi</a:t>
            </a:r>
            <a:endParaRPr lang="en-US" sz="3200" b="1" dirty="0">
              <a:solidFill>
                <a:srgbClr val="000000"/>
              </a:solidFill>
              <a:latin typeface="Bahnschrift SemiLight"/>
              <a:ea typeface="Satoshi Regular"/>
            </a:endParaRPr>
          </a:p>
          <a:p>
            <a:pPr marL="342900" indent="-342900">
              <a:buFont typeface="+mj-lt"/>
              <a:buAutoNum type="arabicPeriod"/>
            </a:pPr>
            <a:r>
              <a:rPr lang="hr-HR" sz="3200" b="1" dirty="0">
                <a:solidFill>
                  <a:srgbClr val="000000"/>
                </a:solidFill>
                <a:latin typeface="Bahnschrift SemiLight"/>
                <a:ea typeface="Satoshi Regular"/>
              </a:rPr>
              <a:t>Vježbe</a:t>
            </a:r>
            <a:endParaRPr lang="en-US" sz="3200" b="1" dirty="0">
              <a:solidFill>
                <a:srgbClr val="000000"/>
              </a:solidFill>
              <a:latin typeface="Bahnschrift SemiLight"/>
              <a:ea typeface="Satoshi Regular"/>
            </a:endParaRPr>
          </a:p>
          <a:p>
            <a:endParaRPr lang="en-US" sz="3200" b="1" dirty="0">
              <a:solidFill>
                <a:srgbClr val="000000"/>
              </a:solidFill>
              <a:latin typeface="Bahnschrift SemiLight"/>
              <a:ea typeface="Satoshi Regular"/>
            </a:endParaRPr>
          </a:p>
          <a:p>
            <a:pPr marL="342900" indent="-342900">
              <a:buFont typeface="+mj-lt"/>
              <a:buAutoNum type="arabicPeriod"/>
            </a:pPr>
            <a:endParaRPr lang="en-US" b="1" dirty="0">
              <a:solidFill>
                <a:srgbClr val="000000"/>
              </a:solidFill>
              <a:latin typeface="Bahnschrift SemiLight"/>
              <a:ea typeface="Satoshi Regular"/>
            </a:endParaRPr>
          </a:p>
          <a:p>
            <a:pPr marL="342900" indent="-342900">
              <a:buAutoNum type="arabicPeriod"/>
            </a:pPr>
            <a:endParaRPr lang="en-US" b="1" dirty="0">
              <a:solidFill>
                <a:srgbClr val="000000"/>
              </a:solidFill>
              <a:latin typeface="Bahnschrift SemiLight"/>
              <a:ea typeface="Satoshi Regular"/>
            </a:endParaRPr>
          </a:p>
          <a:p>
            <a:pPr>
              <a:buNone/>
            </a:pPr>
            <a:endParaRPr lang="en-US" b="1" dirty="0">
              <a:solidFill>
                <a:srgbClr val="000000"/>
              </a:solidFill>
              <a:latin typeface="Bahnschrift SemiLight"/>
              <a:ea typeface="Satoshi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16957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93BE6-7F2A-DDDC-811E-A47233F9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746"/>
            <a:ext cx="10515600" cy="1325563"/>
          </a:xfrm>
        </p:spPr>
        <p:txBody>
          <a:bodyPr/>
          <a:lstStyle/>
          <a:p>
            <a:r>
              <a:rPr lang="hr-HR" dirty="0"/>
              <a:t>Koliko marketinških oznaka za praćenje možete pronaći na početnoj stranici lolaliza.com?</a:t>
            </a:r>
            <a:endParaRPr lang="en-US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6B0E412D-E772-E6D3-A243-91FA4E3CAC4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09157" y="1716689"/>
            <a:ext cx="5776646" cy="460617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73A29ED-109E-B653-385B-4C1BDA40B9C5}"/>
              </a:ext>
            </a:extLst>
          </p:cNvPr>
          <p:cNvSpPr txBox="1"/>
          <p:nvPr/>
        </p:nvSpPr>
        <p:spPr>
          <a:xfrm>
            <a:off x="6688227" y="6348865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r-HR" sz="1200" dirty="0">
                <a:latin typeface="Bahnschrift" panose="020B0502040204020203" pitchFamily="34" charset="0"/>
                <a:ea typeface="+mn-lt"/>
                <a:cs typeface="+mn-lt"/>
              </a:rPr>
              <a:t>Izvor</a:t>
            </a:r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</a:rPr>
              <a:t> : </a:t>
            </a:r>
            <a:r>
              <a:rPr lang="en-US" sz="1200" dirty="0">
                <a:hlinkClick r:id="rId4"/>
              </a:rPr>
              <a:t>https://www.lolaliza.com/</a:t>
            </a:r>
            <a:endParaRPr lang="fr-FR" sz="1200" dirty="0">
              <a:latin typeface="Bahnschrift" panose="020B0502040204020203" pitchFamily="34" charset="0"/>
              <a:ea typeface="+mn-lt"/>
              <a:cs typeface="+mn-lt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75740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E0C4A-FB7D-30B7-4DCE-9A8D11AB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62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l-PL" dirty="0"/>
              <a:t>Koliko marketinških oznaka za praćenje možete pronaći na početnoj stranici </a:t>
            </a:r>
            <a:r>
              <a:rPr lang="pl-PL" dirty="0">
                <a:hlinkClick r:id="rId3"/>
              </a:rPr>
              <a:t>https://www.reuters.com/</a:t>
            </a:r>
            <a:r>
              <a:rPr lang="pl-PL" dirty="0"/>
              <a:t>?</a:t>
            </a:r>
            <a:endParaRPr lang="en-US" dirty="0">
              <a:latin typeface="Bahnschrift SemiBold"/>
            </a:endParaRPr>
          </a:p>
        </p:txBody>
      </p:sp>
      <p:pic>
        <p:nvPicPr>
          <p:cNvPr id="3" name="Image 2" descr="Une image contenant texte, capture d’écran, habits&#10;&#10;Le contenu généré par l’IA peut être incorrect.">
            <a:extLst>
              <a:ext uri="{FF2B5EF4-FFF2-40B4-BE49-F238E27FC236}">
                <a16:creationId xmlns:a16="http://schemas.microsoft.com/office/drawing/2014/main" id="{1E1059EC-A601-FFC1-56C7-DA7D5152C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40114"/>
            <a:ext cx="12192000" cy="343749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E639352-D226-C535-B72A-4838ECD3C9BD}"/>
              </a:ext>
            </a:extLst>
          </p:cNvPr>
          <p:cNvSpPr txBox="1"/>
          <p:nvPr/>
        </p:nvSpPr>
        <p:spPr>
          <a:xfrm>
            <a:off x="8911124" y="6262042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</a:rPr>
              <a:t>Source: </a:t>
            </a:r>
            <a:r>
              <a:rPr lang="en-US" sz="1200" dirty="0">
                <a:latin typeface="Bahnschrift SemiBold"/>
              </a:rPr>
              <a:t>https://www.reuters.com/ homepage </a:t>
            </a:r>
          </a:p>
          <a:p>
            <a:endParaRPr lang="fr-FR" sz="1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2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7D9C-01D4-3260-3B48-15D709335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31B08-9AC3-9003-0CA5-C6A5EF45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589"/>
            <a:ext cx="10515600" cy="1325563"/>
          </a:xfrm>
        </p:spPr>
        <p:txBody>
          <a:bodyPr/>
          <a:lstStyle/>
          <a:p>
            <a:r>
              <a:rPr lang="pl-PL" dirty="0"/>
              <a:t>Koliko oznaka za praćenje možete pronaći na početnoj stranici Zalandа?</a:t>
            </a:r>
            <a:endParaRPr lang="en-US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A5F31A8-8613-572D-4D33-5F50436507C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718920" y="1715994"/>
            <a:ext cx="6003832" cy="464695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BCB3E10-8C13-9F72-9F0F-83B1F0D58382}"/>
              </a:ext>
            </a:extLst>
          </p:cNvPr>
          <p:cNvSpPr txBox="1"/>
          <p:nvPr/>
        </p:nvSpPr>
        <p:spPr>
          <a:xfrm>
            <a:off x="6376268" y="6362945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</a:rPr>
              <a:t>Source : </a:t>
            </a:r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  <a:hlinkClick r:id="rId4"/>
              </a:rPr>
              <a:t>https://www.zalando.be/?_rfl=nl</a:t>
            </a:r>
            <a:endParaRPr lang="fr-FR" sz="1200" dirty="0">
              <a:latin typeface="Bahnschrift" panose="020B0502040204020203" pitchFamily="34" charset="0"/>
              <a:ea typeface="+mn-lt"/>
              <a:cs typeface="+mn-lt"/>
            </a:endParaRPr>
          </a:p>
          <a:p>
            <a:endParaRPr lang="fr-FR" sz="1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17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720396-B2A5-18BE-2C87-77E95AB3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Bahnschrift SemiBold"/>
              </a:rPr>
              <a:t>Rješenja za praćenje</a:t>
            </a:r>
            <a:endParaRPr lang="fr-FR" dirty="0">
              <a:latin typeface="Bahnschrift SemiBold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87F0EC-38F2-511D-B76A-78527CC869C3}"/>
              </a:ext>
            </a:extLst>
          </p:cNvPr>
          <p:cNvSpPr txBox="1"/>
          <p:nvPr/>
        </p:nvSpPr>
        <p:spPr>
          <a:xfrm>
            <a:off x="8523603" y="636582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ea typeface="+mn-lt"/>
                <a:cs typeface="+mn-lt"/>
              </a:rPr>
              <a:t>Source : Google images</a:t>
            </a:r>
            <a:endParaRPr lang="fr-FR" dirty="0"/>
          </a:p>
        </p:txBody>
      </p:sp>
      <p:pic>
        <p:nvPicPr>
          <p:cNvPr id="7" name="object 3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F13917A5-18D0-EB64-8164-5CF762E43B1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757873" y="1862746"/>
            <a:ext cx="2364029" cy="828199"/>
          </a:xfrm>
          <a:prstGeom prst="rect">
            <a:avLst/>
          </a:prstGeom>
        </p:spPr>
      </p:pic>
      <p:pic>
        <p:nvPicPr>
          <p:cNvPr id="9" name="object 4" descr="Une image contenant Police, texte, Graphique, logo&#10;&#10;Le contenu généré par l’IA peut être incorrect.">
            <a:extLst>
              <a:ext uri="{FF2B5EF4-FFF2-40B4-BE49-F238E27FC236}">
                <a16:creationId xmlns:a16="http://schemas.microsoft.com/office/drawing/2014/main" id="{D91D96B7-D9BB-CC03-4294-41ACFD94EB6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673611" y="3910377"/>
            <a:ext cx="2324359" cy="739237"/>
          </a:xfrm>
          <a:prstGeom prst="rect">
            <a:avLst/>
          </a:prstGeom>
        </p:spPr>
      </p:pic>
      <p:pic>
        <p:nvPicPr>
          <p:cNvPr id="11" name="object 5" descr="Une image contenant capture d’écran, Graphique, graphisme, Police&#10;&#10;Le contenu généré par l’IA peut être incorrect.">
            <a:extLst>
              <a:ext uri="{FF2B5EF4-FFF2-40B4-BE49-F238E27FC236}">
                <a16:creationId xmlns:a16="http://schemas.microsoft.com/office/drawing/2014/main" id="{CD00B211-02A0-C63E-8A21-8EC47411C21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23764" y="4556857"/>
            <a:ext cx="2475328" cy="881131"/>
          </a:xfrm>
          <a:prstGeom prst="rect">
            <a:avLst/>
          </a:prstGeom>
        </p:spPr>
      </p:pic>
      <p:pic>
        <p:nvPicPr>
          <p:cNvPr id="13" name="object 6" descr="Une image contenant texte, capture d’écran, Graphique, Police&#10;&#10;Le contenu généré par l’IA peut être incorrect.">
            <a:extLst>
              <a:ext uri="{FF2B5EF4-FFF2-40B4-BE49-F238E27FC236}">
                <a16:creationId xmlns:a16="http://schemas.microsoft.com/office/drawing/2014/main" id="{BD3B6563-B07B-58A9-4D33-B201BF279EA3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4212824" y="4478158"/>
            <a:ext cx="1606696" cy="2003028"/>
          </a:xfrm>
          <a:prstGeom prst="rect">
            <a:avLst/>
          </a:prstGeom>
        </p:spPr>
      </p:pic>
      <p:pic>
        <p:nvPicPr>
          <p:cNvPr id="15" name="object 7" descr="Une image contenant texte, Police, Graphique, symbole&#10;&#10;Le contenu généré par l’IA peut être incorrect.">
            <a:extLst>
              <a:ext uri="{FF2B5EF4-FFF2-40B4-BE49-F238E27FC236}">
                <a16:creationId xmlns:a16="http://schemas.microsoft.com/office/drawing/2014/main" id="{7C3CA1FE-170D-47E1-D960-38FC04201313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413081" y="2299997"/>
            <a:ext cx="2041612" cy="1266266"/>
          </a:xfrm>
          <a:prstGeom prst="rect">
            <a:avLst/>
          </a:prstGeom>
        </p:spPr>
      </p:pic>
      <p:pic>
        <p:nvPicPr>
          <p:cNvPr id="17" name="object 8" descr="Une image contenant Police, Graphique,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2544CA8-D79D-8E9F-540A-8307FFE13B18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8669708" y="1599196"/>
            <a:ext cx="3353192" cy="1087631"/>
          </a:xfrm>
          <a:prstGeom prst="rect">
            <a:avLst/>
          </a:prstGeom>
        </p:spPr>
      </p:pic>
      <p:pic>
        <p:nvPicPr>
          <p:cNvPr id="19" name="object 9" descr="Une image contenant symbole, logo&#10;&#10;Le contenu généré par l’IA peut être incorrect.">
            <a:extLst>
              <a:ext uri="{FF2B5EF4-FFF2-40B4-BE49-F238E27FC236}">
                <a16:creationId xmlns:a16="http://schemas.microsoft.com/office/drawing/2014/main" id="{414F32AC-90E1-2511-7F24-0A97BA3B0601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10266079" y="4897723"/>
            <a:ext cx="1419629" cy="1419629"/>
          </a:xfrm>
          <a:prstGeom prst="rect">
            <a:avLst/>
          </a:prstGeom>
        </p:spPr>
      </p:pic>
      <p:pic>
        <p:nvPicPr>
          <p:cNvPr id="21" name="object 10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15217D42-478F-1334-0E55-8B2C41455EE3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8057757" y="4767495"/>
            <a:ext cx="1827232" cy="713485"/>
          </a:xfrm>
          <a:prstGeom prst="rect">
            <a:avLst/>
          </a:prstGeom>
        </p:spPr>
      </p:pic>
      <p:pic>
        <p:nvPicPr>
          <p:cNvPr id="23" name="object 11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1B5D2D21-4014-72CF-DDE0-89D549AC1497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5593392" y="1688486"/>
            <a:ext cx="2003028" cy="2003028"/>
          </a:xfrm>
          <a:prstGeom prst="rect">
            <a:avLst/>
          </a:prstGeom>
        </p:spPr>
      </p:pic>
      <p:pic>
        <p:nvPicPr>
          <p:cNvPr id="25" name="object 12" descr="Une image contenant symbole, Graphique, logo, clipart&#10;&#10;Le contenu généré par l’IA peut être incorrect.">
            <a:extLst>
              <a:ext uri="{FF2B5EF4-FFF2-40B4-BE49-F238E27FC236}">
                <a16:creationId xmlns:a16="http://schemas.microsoft.com/office/drawing/2014/main" id="{F195C471-DBA4-0902-79F5-249B0C83BB1B}"/>
              </a:ext>
            </a:extLst>
          </p:cNvPr>
          <p:cNvPicPr/>
          <p:nvPr/>
        </p:nvPicPr>
        <p:blipFill>
          <a:blip r:embed="rId12"/>
          <a:stretch>
            <a:fillRect/>
          </a:stretch>
        </p:blipFill>
        <p:spPr>
          <a:xfrm>
            <a:off x="6703330" y="5317508"/>
            <a:ext cx="1419629" cy="1419629"/>
          </a:xfrm>
          <a:prstGeom prst="rect">
            <a:avLst/>
          </a:prstGeom>
        </p:spPr>
      </p:pic>
      <p:pic>
        <p:nvPicPr>
          <p:cNvPr id="27" name="object 13" descr="Une image contenant Police, Graphique, logo, conception&#10;&#10;Le contenu généré par l’IA peut être incorrect.">
            <a:extLst>
              <a:ext uri="{FF2B5EF4-FFF2-40B4-BE49-F238E27FC236}">
                <a16:creationId xmlns:a16="http://schemas.microsoft.com/office/drawing/2014/main" id="{96FF6420-1EB0-E66D-2197-1B52F98D6171}"/>
              </a:ext>
            </a:extLst>
          </p:cNvPr>
          <p:cNvPicPr/>
          <p:nvPr/>
        </p:nvPicPr>
        <p:blipFill>
          <a:blip r:embed="rId13"/>
          <a:stretch>
            <a:fillRect/>
          </a:stretch>
        </p:blipFill>
        <p:spPr>
          <a:xfrm>
            <a:off x="9007740" y="3798349"/>
            <a:ext cx="2266720" cy="476996"/>
          </a:xfrm>
          <a:prstGeom prst="rect">
            <a:avLst/>
          </a:prstGeom>
        </p:spPr>
      </p:pic>
      <p:pic>
        <p:nvPicPr>
          <p:cNvPr id="29" name="object 14" descr="Une image contenant logo, Police, Graphique, symbole&#10;&#10;Le contenu généré par l’IA peut être incorrect.">
            <a:extLst>
              <a:ext uri="{FF2B5EF4-FFF2-40B4-BE49-F238E27FC236}">
                <a16:creationId xmlns:a16="http://schemas.microsoft.com/office/drawing/2014/main" id="{BB1A5710-8C8A-2F3F-02A2-714193FA9482}"/>
              </a:ext>
            </a:extLst>
          </p:cNvPr>
          <p:cNvPicPr/>
          <p:nvPr/>
        </p:nvPicPr>
        <p:blipFill>
          <a:blip r:embed="rId14"/>
          <a:stretch>
            <a:fillRect/>
          </a:stretch>
        </p:blipFill>
        <p:spPr>
          <a:xfrm>
            <a:off x="604233" y="5707089"/>
            <a:ext cx="2137695" cy="1026097"/>
          </a:xfrm>
          <a:prstGeom prst="rect">
            <a:avLst/>
          </a:prstGeom>
        </p:spPr>
      </p:pic>
      <p:pic>
        <p:nvPicPr>
          <p:cNvPr id="31" name="object 1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9C6DBF97-5806-C284-B17B-731EC875BA21}"/>
              </a:ext>
            </a:extLst>
          </p:cNvPr>
          <p:cNvPicPr/>
          <p:nvPr/>
        </p:nvPicPr>
        <p:blipFill>
          <a:blip r:embed="rId15"/>
          <a:stretch>
            <a:fillRect/>
          </a:stretch>
        </p:blipFill>
        <p:spPr>
          <a:xfrm>
            <a:off x="7931600" y="2822364"/>
            <a:ext cx="1352683" cy="940889"/>
          </a:xfrm>
          <a:prstGeom prst="rect">
            <a:avLst/>
          </a:prstGeom>
        </p:spPr>
      </p:pic>
      <p:pic>
        <p:nvPicPr>
          <p:cNvPr id="33" name="object 16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48D5E26A-1C62-47CB-FD90-7235924C8C2D}"/>
              </a:ext>
            </a:extLst>
          </p:cNvPr>
          <p:cNvPicPr/>
          <p:nvPr/>
        </p:nvPicPr>
        <p:blipFill>
          <a:blip r:embed="rId16"/>
          <a:stretch>
            <a:fillRect/>
          </a:stretch>
        </p:blipFill>
        <p:spPr>
          <a:xfrm>
            <a:off x="3840760" y="2988924"/>
            <a:ext cx="1277497" cy="517501"/>
          </a:xfrm>
          <a:prstGeom prst="rect">
            <a:avLst/>
          </a:prstGeom>
        </p:spPr>
      </p:pic>
      <p:pic>
        <p:nvPicPr>
          <p:cNvPr id="35" name="object 17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4E8FD68E-8C3F-13C5-AC64-370B8107E850}"/>
              </a:ext>
            </a:extLst>
          </p:cNvPr>
          <p:cNvPicPr/>
          <p:nvPr/>
        </p:nvPicPr>
        <p:blipFill>
          <a:blip r:embed="rId17"/>
          <a:stretch>
            <a:fillRect/>
          </a:stretch>
        </p:blipFill>
        <p:spPr>
          <a:xfrm>
            <a:off x="6031920" y="4380224"/>
            <a:ext cx="1897496" cy="51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44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29558-3A9B-35BA-5DE7-1E947D6F2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9F395E-5A0F-4A3B-0EF5-9FC799F2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Bahnschrift SemiBold"/>
              </a:rPr>
              <a:t>Rješenja za praćenje</a:t>
            </a:r>
            <a:endParaRPr lang="fr-FR" dirty="0">
              <a:latin typeface="Bahnschrift SemiBold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0AE42BC-EB8B-B439-214B-2B8C775EC7D5}"/>
              </a:ext>
            </a:extLst>
          </p:cNvPr>
          <p:cNvSpPr txBox="1"/>
          <p:nvPr/>
        </p:nvSpPr>
        <p:spPr>
          <a:xfrm>
            <a:off x="8523603" y="636582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ea typeface="+mn-lt"/>
                <a:cs typeface="+mn-lt"/>
              </a:rPr>
              <a:t>Source : Google images</a:t>
            </a:r>
            <a:endParaRPr lang="fr-FR" dirty="0"/>
          </a:p>
        </p:txBody>
      </p:sp>
      <p:pic>
        <p:nvPicPr>
          <p:cNvPr id="7" name="object 3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197602B6-ED13-C95E-356C-B55AB34EAF0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757873" y="1862746"/>
            <a:ext cx="2364029" cy="828199"/>
          </a:xfrm>
          <a:prstGeom prst="rect">
            <a:avLst/>
          </a:prstGeom>
        </p:spPr>
      </p:pic>
      <p:pic>
        <p:nvPicPr>
          <p:cNvPr id="9" name="object 4" descr="Une image contenant Police, texte, Graphique, logo&#10;&#10;Le contenu généré par l’IA peut être incorrect.">
            <a:extLst>
              <a:ext uri="{FF2B5EF4-FFF2-40B4-BE49-F238E27FC236}">
                <a16:creationId xmlns:a16="http://schemas.microsoft.com/office/drawing/2014/main" id="{94BF5583-1DFA-70DC-300B-6C1340C6AC2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673611" y="3910377"/>
            <a:ext cx="2324359" cy="739237"/>
          </a:xfrm>
          <a:prstGeom prst="rect">
            <a:avLst/>
          </a:prstGeom>
        </p:spPr>
      </p:pic>
      <p:pic>
        <p:nvPicPr>
          <p:cNvPr id="11" name="object 5" descr="Une image contenant capture d’écran, Graphique, graphisme, Police&#10;&#10;Le contenu généré par l’IA peut être incorrect.">
            <a:extLst>
              <a:ext uri="{FF2B5EF4-FFF2-40B4-BE49-F238E27FC236}">
                <a16:creationId xmlns:a16="http://schemas.microsoft.com/office/drawing/2014/main" id="{1AB444D8-C2BF-E4BC-FA0C-882AE372CBD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23764" y="4556857"/>
            <a:ext cx="2475328" cy="881131"/>
          </a:xfrm>
          <a:prstGeom prst="rect">
            <a:avLst/>
          </a:prstGeom>
        </p:spPr>
      </p:pic>
      <p:pic>
        <p:nvPicPr>
          <p:cNvPr id="13" name="object 6" descr="Une image contenant texte, capture d’écran, Graphique, Police&#10;&#10;Le contenu généré par l’IA peut être incorrect.">
            <a:extLst>
              <a:ext uri="{FF2B5EF4-FFF2-40B4-BE49-F238E27FC236}">
                <a16:creationId xmlns:a16="http://schemas.microsoft.com/office/drawing/2014/main" id="{F301EBF2-5733-1737-7E81-03D9AA747AFA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4212824" y="4478158"/>
            <a:ext cx="1606696" cy="2003028"/>
          </a:xfrm>
          <a:prstGeom prst="rect">
            <a:avLst/>
          </a:prstGeom>
        </p:spPr>
      </p:pic>
      <p:pic>
        <p:nvPicPr>
          <p:cNvPr id="15" name="object 7" descr="Une image contenant texte, Police, Graphique, symbole&#10;&#10;Le contenu généré par l’IA peut être incorrect.">
            <a:extLst>
              <a:ext uri="{FF2B5EF4-FFF2-40B4-BE49-F238E27FC236}">
                <a16:creationId xmlns:a16="http://schemas.microsoft.com/office/drawing/2014/main" id="{D6F2B778-D070-4E0E-0F47-E9B41CA199A4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413081" y="2299997"/>
            <a:ext cx="2041612" cy="1266266"/>
          </a:xfrm>
          <a:prstGeom prst="rect">
            <a:avLst/>
          </a:prstGeom>
        </p:spPr>
      </p:pic>
      <p:pic>
        <p:nvPicPr>
          <p:cNvPr id="17" name="object 8" descr="Une image contenant Police, Graphique,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591E006-5DA4-A30D-8F1B-B388A9E90FE9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8669708" y="1599196"/>
            <a:ext cx="3353192" cy="1087631"/>
          </a:xfrm>
          <a:prstGeom prst="rect">
            <a:avLst/>
          </a:prstGeom>
        </p:spPr>
      </p:pic>
      <p:pic>
        <p:nvPicPr>
          <p:cNvPr id="19" name="object 9" descr="Une image contenant symbole, logo&#10;&#10;Le contenu généré par l’IA peut être incorrect.">
            <a:extLst>
              <a:ext uri="{FF2B5EF4-FFF2-40B4-BE49-F238E27FC236}">
                <a16:creationId xmlns:a16="http://schemas.microsoft.com/office/drawing/2014/main" id="{270CCD5B-7E0A-DC35-066C-4996BD8346EF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10266079" y="4897723"/>
            <a:ext cx="1419629" cy="1419629"/>
          </a:xfrm>
          <a:prstGeom prst="rect">
            <a:avLst/>
          </a:prstGeom>
        </p:spPr>
      </p:pic>
      <p:pic>
        <p:nvPicPr>
          <p:cNvPr id="21" name="object 10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6471DF73-5B44-42B6-1D4E-C0054F0D5114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8057757" y="4767495"/>
            <a:ext cx="1827232" cy="713485"/>
          </a:xfrm>
          <a:prstGeom prst="rect">
            <a:avLst/>
          </a:prstGeom>
        </p:spPr>
      </p:pic>
      <p:pic>
        <p:nvPicPr>
          <p:cNvPr id="23" name="object 11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76B859BD-91A7-FE17-31C9-2DCBF3493384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5593392" y="1688486"/>
            <a:ext cx="2003028" cy="2003028"/>
          </a:xfrm>
          <a:prstGeom prst="rect">
            <a:avLst/>
          </a:prstGeom>
        </p:spPr>
      </p:pic>
      <p:pic>
        <p:nvPicPr>
          <p:cNvPr id="25" name="object 12" descr="Une image contenant symbole, Graphique, logo, clipart&#10;&#10;Le contenu généré par l’IA peut être incorrect.">
            <a:extLst>
              <a:ext uri="{FF2B5EF4-FFF2-40B4-BE49-F238E27FC236}">
                <a16:creationId xmlns:a16="http://schemas.microsoft.com/office/drawing/2014/main" id="{D5B43B92-141F-2C74-9B8B-ABD4CF9BB2AF}"/>
              </a:ext>
            </a:extLst>
          </p:cNvPr>
          <p:cNvPicPr/>
          <p:nvPr/>
        </p:nvPicPr>
        <p:blipFill>
          <a:blip r:embed="rId12"/>
          <a:stretch>
            <a:fillRect/>
          </a:stretch>
        </p:blipFill>
        <p:spPr>
          <a:xfrm>
            <a:off x="6703330" y="5317508"/>
            <a:ext cx="1419629" cy="1419629"/>
          </a:xfrm>
          <a:prstGeom prst="rect">
            <a:avLst/>
          </a:prstGeom>
        </p:spPr>
      </p:pic>
      <p:pic>
        <p:nvPicPr>
          <p:cNvPr id="27" name="object 13" descr="Une image contenant Police, Graphique, logo, conception&#10;&#10;Le contenu généré par l’IA peut être incorrect.">
            <a:extLst>
              <a:ext uri="{FF2B5EF4-FFF2-40B4-BE49-F238E27FC236}">
                <a16:creationId xmlns:a16="http://schemas.microsoft.com/office/drawing/2014/main" id="{C7DB8180-6E60-5794-B7BC-15C417611B76}"/>
              </a:ext>
            </a:extLst>
          </p:cNvPr>
          <p:cNvPicPr/>
          <p:nvPr/>
        </p:nvPicPr>
        <p:blipFill>
          <a:blip r:embed="rId13"/>
          <a:stretch>
            <a:fillRect/>
          </a:stretch>
        </p:blipFill>
        <p:spPr>
          <a:xfrm>
            <a:off x="9007740" y="3798349"/>
            <a:ext cx="2266720" cy="476996"/>
          </a:xfrm>
          <a:prstGeom prst="rect">
            <a:avLst/>
          </a:prstGeom>
        </p:spPr>
      </p:pic>
      <p:pic>
        <p:nvPicPr>
          <p:cNvPr id="29" name="object 14" descr="Une image contenant logo, Police, Graphique, symbole&#10;&#10;Le contenu généré par l’IA peut être incorrect.">
            <a:extLst>
              <a:ext uri="{FF2B5EF4-FFF2-40B4-BE49-F238E27FC236}">
                <a16:creationId xmlns:a16="http://schemas.microsoft.com/office/drawing/2014/main" id="{D5328BFA-EB1F-DB44-5E05-917FBCA8418B}"/>
              </a:ext>
            </a:extLst>
          </p:cNvPr>
          <p:cNvPicPr/>
          <p:nvPr/>
        </p:nvPicPr>
        <p:blipFill>
          <a:blip r:embed="rId14"/>
          <a:stretch>
            <a:fillRect/>
          </a:stretch>
        </p:blipFill>
        <p:spPr>
          <a:xfrm>
            <a:off x="604233" y="5707089"/>
            <a:ext cx="2137695" cy="1026097"/>
          </a:xfrm>
          <a:prstGeom prst="rect">
            <a:avLst/>
          </a:prstGeom>
        </p:spPr>
      </p:pic>
      <p:pic>
        <p:nvPicPr>
          <p:cNvPr id="31" name="object 1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832E0EE8-81A4-BB6E-7B45-139AE5F2CDC2}"/>
              </a:ext>
            </a:extLst>
          </p:cNvPr>
          <p:cNvPicPr/>
          <p:nvPr/>
        </p:nvPicPr>
        <p:blipFill>
          <a:blip r:embed="rId15"/>
          <a:stretch>
            <a:fillRect/>
          </a:stretch>
        </p:blipFill>
        <p:spPr>
          <a:xfrm>
            <a:off x="7931600" y="2822364"/>
            <a:ext cx="1352683" cy="940889"/>
          </a:xfrm>
          <a:prstGeom prst="rect">
            <a:avLst/>
          </a:prstGeom>
        </p:spPr>
      </p:pic>
      <p:pic>
        <p:nvPicPr>
          <p:cNvPr id="33" name="object 16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EE706F2B-C741-17DF-D0B6-CBB8E87773C9}"/>
              </a:ext>
            </a:extLst>
          </p:cNvPr>
          <p:cNvPicPr/>
          <p:nvPr/>
        </p:nvPicPr>
        <p:blipFill>
          <a:blip r:embed="rId16"/>
          <a:stretch>
            <a:fillRect/>
          </a:stretch>
        </p:blipFill>
        <p:spPr>
          <a:xfrm>
            <a:off x="3840760" y="2988924"/>
            <a:ext cx="1277497" cy="517501"/>
          </a:xfrm>
          <a:prstGeom prst="rect">
            <a:avLst/>
          </a:prstGeom>
        </p:spPr>
      </p:pic>
      <p:pic>
        <p:nvPicPr>
          <p:cNvPr id="35" name="object 17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66D9533A-E1A0-E768-7B00-9AACDA48DBDF}"/>
              </a:ext>
            </a:extLst>
          </p:cNvPr>
          <p:cNvPicPr/>
          <p:nvPr/>
        </p:nvPicPr>
        <p:blipFill>
          <a:blip r:embed="rId17"/>
          <a:stretch>
            <a:fillRect/>
          </a:stretch>
        </p:blipFill>
        <p:spPr>
          <a:xfrm>
            <a:off x="6031920" y="4380224"/>
            <a:ext cx="1897496" cy="517499"/>
          </a:xfrm>
          <a:prstGeom prst="rect">
            <a:avLst/>
          </a:prstGeom>
        </p:spPr>
      </p:pic>
      <p:grpSp>
        <p:nvGrpSpPr>
          <p:cNvPr id="3" name="object 17">
            <a:extLst>
              <a:ext uri="{FF2B5EF4-FFF2-40B4-BE49-F238E27FC236}">
                <a16:creationId xmlns:a16="http://schemas.microsoft.com/office/drawing/2014/main" id="{61724759-66D3-F562-41AC-A41FDA07A47E}"/>
              </a:ext>
            </a:extLst>
          </p:cNvPr>
          <p:cNvGrpSpPr/>
          <p:nvPr/>
        </p:nvGrpSpPr>
        <p:grpSpPr>
          <a:xfrm>
            <a:off x="1673080" y="1453495"/>
            <a:ext cx="9286381" cy="5077593"/>
            <a:chOff x="1792257" y="1068365"/>
            <a:chExt cx="6964786" cy="3808192"/>
          </a:xfrm>
        </p:grpSpPr>
        <p:pic>
          <p:nvPicPr>
            <p:cNvPr id="6" name="object 18">
              <a:extLst>
                <a:ext uri="{FF2B5EF4-FFF2-40B4-BE49-F238E27FC236}">
                  <a16:creationId xmlns:a16="http://schemas.microsoft.com/office/drawing/2014/main" id="{A524BECB-29ED-91DA-FE7B-879A695BC15C}"/>
                </a:ext>
              </a:extLst>
            </p:cNvPr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4972005" y="3552260"/>
              <a:ext cx="1423122" cy="388124"/>
            </a:xfrm>
            <a:prstGeom prst="rect">
              <a:avLst/>
            </a:prstGeom>
          </p:spPr>
        </p:pic>
        <p:pic>
          <p:nvPicPr>
            <p:cNvPr id="8" name="object 19">
              <a:extLst>
                <a:ext uri="{FF2B5EF4-FFF2-40B4-BE49-F238E27FC236}">
                  <a16:creationId xmlns:a16="http://schemas.microsoft.com/office/drawing/2014/main" id="{5A5CCE14-330C-4A89-5BC1-F76EBDD87B4D}"/>
                </a:ext>
              </a:extLst>
            </p:cNvPr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1792257" y="1068365"/>
              <a:ext cx="6964786" cy="3808192"/>
            </a:xfrm>
            <a:prstGeom prst="rect">
              <a:avLst/>
            </a:prstGeom>
          </p:spPr>
        </p:pic>
        <p:sp>
          <p:nvSpPr>
            <p:cNvPr id="10" name="object 20">
              <a:extLst>
                <a:ext uri="{FF2B5EF4-FFF2-40B4-BE49-F238E27FC236}">
                  <a16:creationId xmlns:a16="http://schemas.microsoft.com/office/drawing/2014/main" id="{DE462DDC-A5B9-89BC-0E52-194C2631DB06}"/>
                </a:ext>
              </a:extLst>
            </p:cNvPr>
            <p:cNvSpPr/>
            <p:nvPr/>
          </p:nvSpPr>
          <p:spPr>
            <a:xfrm>
              <a:off x="1849407" y="1106457"/>
              <a:ext cx="6851015" cy="3694429"/>
            </a:xfrm>
            <a:custGeom>
              <a:avLst/>
              <a:gdLst/>
              <a:ahLst/>
              <a:cxnLst/>
              <a:rect l="l" t="t" r="r" b="b"/>
              <a:pathLst>
                <a:path w="6851015" h="3694429">
                  <a:moveTo>
                    <a:pt x="214799" y="3693900"/>
                  </a:moveTo>
                  <a:lnTo>
                    <a:pt x="0" y="437999"/>
                  </a:lnTo>
                  <a:lnTo>
                    <a:pt x="6635691" y="0"/>
                  </a:lnTo>
                  <a:lnTo>
                    <a:pt x="6850491" y="3255900"/>
                  </a:lnTo>
                  <a:lnTo>
                    <a:pt x="214799" y="3693900"/>
                  </a:lnTo>
                  <a:close/>
                </a:path>
              </a:pathLst>
            </a:custGeom>
            <a:solidFill>
              <a:srgbClr val="FFB13D"/>
            </a:solidFill>
          </p:spPr>
          <p:txBody>
            <a:bodyPr wrap="square" lIns="0" tIns="0" rIns="0" bIns="0" rtlCol="0">
              <a:noAutofit/>
            </a:bodyPr>
            <a:lstStyle>
              <a:defPPr>
                <a:defRPr lang="sr-Latn-R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" name="object 22">
            <a:extLst>
              <a:ext uri="{FF2B5EF4-FFF2-40B4-BE49-F238E27FC236}">
                <a16:creationId xmlns:a16="http://schemas.microsoft.com/office/drawing/2014/main" id="{1B077B34-7B2B-9661-33E3-DB30CD66FAED}"/>
              </a:ext>
            </a:extLst>
          </p:cNvPr>
          <p:cNvSpPr txBox="1"/>
          <p:nvPr/>
        </p:nvSpPr>
        <p:spPr>
          <a:xfrm rot="21420000">
            <a:off x="2227225" y="1708529"/>
            <a:ext cx="8753330" cy="3386667"/>
          </a:xfrm>
          <a:prstGeom prst="rect">
            <a:avLst/>
          </a:prstGeom>
        </p:spPr>
        <p:txBody>
          <a:bodyPr vert="horz" wrap="square" lIns="0" tIns="488527" rIns="0" bIns="0" rtlCol="0" anchor="t">
            <a:noAutofit/>
          </a:bodyPr>
          <a:lstStyle>
            <a:defPPr>
              <a:defRPr lang="sr-Latn-R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00000"/>
              </a:lnSpc>
              <a:spcBef>
                <a:spcPts val="3847"/>
              </a:spcBef>
            </a:pPr>
            <a:r>
              <a:rPr lang="en" sz="26650" spc="-3067" dirty="0">
                <a:solidFill>
                  <a:srgbClr val="FFFFFF"/>
                </a:solidFill>
                <a:latin typeface="Arial Black"/>
                <a:cs typeface="Arial Black"/>
              </a:rPr>
              <a:t>+</a:t>
            </a:r>
            <a:r>
              <a:rPr lang="en" sz="26650" b="0" i="0" u="none" strike="noStrike" spc="-3067" dirty="0">
                <a:solidFill>
                  <a:srgbClr val="FFFFFF"/>
                </a:solidFill>
                <a:latin typeface="Arial Black"/>
                <a:cs typeface="Arial Black"/>
              </a:rPr>
              <a:t>200</a:t>
            </a:r>
            <a:endParaRPr sz="26650" dirty="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0913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F575-C445-8A85-A101-512E95F1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872"/>
            <a:ext cx="10515600" cy="1325563"/>
          </a:xfrm>
        </p:spPr>
        <p:txBody>
          <a:bodyPr/>
          <a:lstStyle/>
          <a:p>
            <a:r>
              <a:rPr lang="pl-PL" dirty="0"/>
              <a:t>Analitika su alati za mjerenje i analizu prometa na web-stranici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EC2DF-145E-E696-A6F5-31BD54414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/>
              <a:t>Nisu samo brojač posjetitelja, već uistinu moćni marketinški alati za analizu i razumijevanje onoga što posjetitelji rade na web-stranici.</a:t>
            </a:r>
          </a:p>
          <a:p>
            <a:pPr marL="514350" indent="-514350">
              <a:buFont typeface="+mj-lt"/>
              <a:buAutoNum type="arabicPeriod"/>
            </a:pPr>
            <a:r>
              <a:rPr lang="hr-HR" b="1" dirty="0"/>
              <a:t>NE MOŽETE UNAPRIJEDITI ONO ŠTO NE MJERITE</a:t>
            </a:r>
          </a:p>
          <a:p>
            <a:pPr marL="514350" indent="-514350">
              <a:buFont typeface="+mj-lt"/>
              <a:buAutoNum type="arabicPeriod"/>
            </a:pPr>
            <a:r>
              <a:rPr lang="hr-HR" b="1" dirty="0"/>
              <a:t>DOBRI PODACI SU TEMELJ ZA DONOŠENJE PAMETNIH ODLUKA</a:t>
            </a:r>
          </a:p>
          <a:p>
            <a:pPr marL="514350" indent="-514350">
              <a:buFont typeface="+mj-lt"/>
              <a:buAutoNum type="arabicPeriod"/>
            </a:pPr>
            <a:r>
              <a:rPr lang="hr-HR" b="1" dirty="0"/>
              <a:t>PODACI BEZ KONTEKSTA NEMAJU ZNAČENJE…</a:t>
            </a:r>
            <a:endParaRPr lang="en-US" dirty="0">
              <a:latin typeface="Bahnschrift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28498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BEB5-895F-7223-187F-672C5878D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Analitički alati prikazuju trendove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849A0-33B5-1E22-D4DE-9CF75BDAB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Ovo nisu 100 % precizni alati!</a:t>
            </a:r>
          </a:p>
          <a:p>
            <a:r>
              <a:rPr lang="hr-HR" dirty="0"/>
              <a:t>Praćenje 100 % podataka je nemoguće (problem integriteta podataka).</a:t>
            </a:r>
          </a:p>
          <a:p>
            <a:pPr lvl="1"/>
            <a:r>
              <a:rPr lang="hr-HR" dirty="0"/>
              <a:t>Korisnik prerano napusti stranicu.</a:t>
            </a:r>
          </a:p>
          <a:p>
            <a:pPr lvl="1"/>
            <a:r>
              <a:rPr lang="hr-HR" dirty="0"/>
              <a:t>Korisnik koristi </a:t>
            </a:r>
            <a:r>
              <a:rPr lang="hr-HR" dirty="0" err="1"/>
              <a:t>AdBlocker</a:t>
            </a:r>
            <a:r>
              <a:rPr lang="hr-HR" dirty="0"/>
              <a:t>.</a:t>
            </a:r>
          </a:p>
          <a:p>
            <a:pPr lvl="1"/>
            <a:r>
              <a:rPr lang="hr-HR" dirty="0"/>
              <a:t>Korisnik blokira JavaScript i kod nije integriran bez skripti.</a:t>
            </a:r>
          </a:p>
          <a:p>
            <a:pPr lvl="1"/>
            <a:r>
              <a:rPr lang="hr-HR" dirty="0"/>
              <a:t>Postoji JavaScript pogreška na stranici.</a:t>
            </a:r>
          </a:p>
          <a:p>
            <a:pPr lvl="1"/>
            <a:r>
              <a:rPr lang="hr-HR" dirty="0"/>
              <a:t>Google </a:t>
            </a:r>
            <a:r>
              <a:rPr lang="hr-HR" dirty="0" err="1"/>
              <a:t>Consent</a:t>
            </a:r>
            <a:r>
              <a:rPr lang="hr-HR" dirty="0"/>
              <a:t> je uključen, a korisnik nije prihvatio niti odbio kolačiće (pohrana za analitiku ili oglase).</a:t>
            </a:r>
          </a:p>
          <a:p>
            <a:pPr lvl="1"/>
            <a:r>
              <a:rPr lang="hr-HR" dirty="0"/>
              <a:t>Uzorkovanje (</a:t>
            </a:r>
            <a:r>
              <a:rPr lang="hr-HR" dirty="0" err="1"/>
              <a:t>sampling</a:t>
            </a:r>
            <a:r>
              <a:rPr lang="hr-HR" dirty="0"/>
              <a:t>) ili pragovi (</a:t>
            </a:r>
            <a:r>
              <a:rPr lang="hr-HR" dirty="0" err="1"/>
              <a:t>thresholding</a:t>
            </a:r>
            <a:r>
              <a:rPr lang="hr-HR" dirty="0"/>
              <a:t>).</a:t>
            </a:r>
            <a:endParaRPr lang="en-US" dirty="0">
              <a:latin typeface="Bahnschrift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3733467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6563-536F-11A4-7377-4855D89F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hr-HR" dirty="0"/>
              <a:t>Uzorkovanje</a:t>
            </a:r>
            <a:r>
              <a:rPr lang="en-US" dirty="0"/>
              <a:t> vs </a:t>
            </a:r>
            <a:r>
              <a:rPr lang="hr-HR" dirty="0"/>
              <a:t>pragovi</a:t>
            </a:r>
            <a:endParaRPr lang="en-US" dirty="0"/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6D9A2B32-0D90-45BD-4B63-FD30E1BF0DA8}"/>
              </a:ext>
            </a:extLst>
          </p:cNvPr>
          <p:cNvPicPr/>
          <p:nvPr/>
        </p:nvPicPr>
        <p:blipFill>
          <a:blip r:embed="rId4"/>
          <a:srcRect l="15714" r="17602" b="2"/>
          <a:stretch/>
        </p:blipFill>
        <p:spPr>
          <a:xfrm>
            <a:off x="6093759" y="1825625"/>
            <a:ext cx="5181600" cy="4351338"/>
          </a:xfrm>
          <a:prstGeom prst="rect">
            <a:avLst/>
          </a:prstGeom>
          <a:noFill/>
        </p:spPr>
      </p:pic>
      <p:pic>
        <p:nvPicPr>
          <p:cNvPr id="10" name="object 2">
            <a:extLst>
              <a:ext uri="{FF2B5EF4-FFF2-40B4-BE49-F238E27FC236}">
                <a16:creationId xmlns:a16="http://schemas.microsoft.com/office/drawing/2014/main" id="{56BBBF53-F47B-76BE-E05A-9B4C6D8867CE}"/>
              </a:ext>
            </a:extLst>
          </p:cNvPr>
          <p:cNvPicPr/>
          <p:nvPr/>
        </p:nvPicPr>
        <p:blipFill>
          <a:blip r:embed="rId5"/>
          <a:srcRect l="19278" r="18503" b="1"/>
          <a:stretch/>
        </p:blipFill>
        <p:spPr>
          <a:xfrm>
            <a:off x="457200" y="1825625"/>
            <a:ext cx="5181600" cy="4351338"/>
          </a:xfrm>
          <a:prstGeom prst="rect">
            <a:avLst/>
          </a:prstGeom>
          <a:noFill/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EC3A1F5-3A4F-E275-DBF4-A1A775767043}"/>
              </a:ext>
            </a:extLst>
          </p:cNvPr>
          <p:cNvSpPr txBox="1"/>
          <p:nvPr/>
        </p:nvSpPr>
        <p:spPr>
          <a:xfrm>
            <a:off x="7425346" y="6077376"/>
            <a:ext cx="392845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</a:rPr>
              <a:t>Source : </a:t>
            </a:r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  <a:hlinkClick r:id="rId6"/>
              </a:rPr>
              <a:t>https://from.ncl.ac.uk/can-innovative-statistical-analysis-support-rare-disease-clinical-trials</a:t>
            </a:r>
            <a:endParaRPr lang="fr-FR" sz="1200" dirty="0">
              <a:latin typeface="Bahnschrift" panose="020B0502040204020203" pitchFamily="34" charset="0"/>
              <a:ea typeface="+mn-lt"/>
              <a:cs typeface="+mn-lt"/>
            </a:endParaRPr>
          </a:p>
          <a:p>
            <a:endParaRPr lang="fr-FR" sz="1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8589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8726-9E32-5C64-DBBC-A2F433A9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Google Analytics je vodeći alat za analitiku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0AB1-7DF5-EB01-98F6-B425A06D5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r-HR" dirty="0"/>
              <a:t>52 % web-stranica u svijetu prati se pomoću Google Analytics</a:t>
            </a:r>
          </a:p>
          <a:p>
            <a:pPr lvl="1"/>
            <a:r>
              <a:rPr lang="hr-HR" dirty="0"/>
              <a:t>Facebook &gt; 18 %</a:t>
            </a:r>
          </a:p>
          <a:p>
            <a:pPr lvl="1"/>
            <a:r>
              <a:rPr lang="hr-HR" dirty="0" err="1"/>
              <a:t>Hotjar</a:t>
            </a:r>
            <a:r>
              <a:rPr lang="hr-HR" dirty="0"/>
              <a:t> &gt; 3 % prodaje</a:t>
            </a:r>
          </a:p>
          <a:p>
            <a:pPr lvl="1"/>
            <a:r>
              <a:rPr lang="hr-HR" dirty="0" err="1"/>
              <a:t>Yandex</a:t>
            </a:r>
            <a:r>
              <a:rPr lang="hr-HR" dirty="0"/>
              <a:t> &gt; 3 % prodaje</a:t>
            </a:r>
          </a:p>
          <a:p>
            <a:pPr lvl="1"/>
            <a:r>
              <a:rPr lang="hr-HR" dirty="0" err="1"/>
              <a:t>Matomo</a:t>
            </a:r>
            <a:r>
              <a:rPr lang="hr-HR" dirty="0"/>
              <a:t> &gt; 3 % prodaje</a:t>
            </a:r>
          </a:p>
          <a:p>
            <a:r>
              <a:rPr lang="hr-HR" dirty="0"/>
              <a:t>Je li zaista besplatno?</a:t>
            </a:r>
            <a:br>
              <a:rPr lang="hr-HR" dirty="0"/>
            </a:br>
            <a:r>
              <a:rPr lang="hr-HR" dirty="0"/>
              <a:t>Primjer: od (za 25 milijuna događaja mjesečno) 50.000 € GODIŠNJE!... i morate ići preko agencije, koja će također naplatiti naknadu</a:t>
            </a:r>
          </a:p>
          <a:p>
            <a:r>
              <a:rPr lang="hr-HR" dirty="0"/>
              <a:t>Procjenjuje se da bi se 10 % budžeta trebalo izdvojiti za praćenje provedenih aktivnosti i učenje iz njih.</a:t>
            </a:r>
          </a:p>
          <a:p>
            <a:r>
              <a:rPr lang="hr-HR" dirty="0"/>
              <a:t>TO VIŠE NIJE HOBI, VEĆ POSAO</a:t>
            </a:r>
          </a:p>
        </p:txBody>
      </p:sp>
    </p:spTree>
    <p:extLst>
      <p:ext uri="{BB962C8B-B14F-4D97-AF65-F5344CB8AC3E}">
        <p14:creationId xmlns:p14="http://schemas.microsoft.com/office/powerpoint/2010/main" val="996540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16C1-9569-B3CE-B511-9933F512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SemiBold"/>
              </a:rPr>
              <a:t>Google Analytics</a:t>
            </a:r>
            <a:r>
              <a:rPr lang="hr-HR" dirty="0">
                <a:latin typeface="Bahnschrift SemiBold"/>
              </a:rPr>
              <a:t> - povijest</a:t>
            </a:r>
            <a:endParaRPr lang="en-US" dirty="0">
              <a:latin typeface="Bahnschrift SemiBold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227B3AA9-C1CE-2323-0B3D-40F19DAAB69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90278" y="2262742"/>
            <a:ext cx="8412047" cy="349346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0ACF43C-F16D-B996-26A9-257E55E76683}"/>
              </a:ext>
            </a:extLst>
          </p:cNvPr>
          <p:cNvSpPr txBox="1"/>
          <p:nvPr/>
        </p:nvSpPr>
        <p:spPr>
          <a:xfrm>
            <a:off x="6632294" y="5756207"/>
            <a:ext cx="410207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r-HR" sz="1200" dirty="0">
                <a:latin typeface="Bahnschrift" panose="020B0502040204020203" pitchFamily="34" charset="0"/>
                <a:ea typeface="+mn-lt"/>
                <a:cs typeface="+mn-lt"/>
              </a:rPr>
              <a:t>Izvor</a:t>
            </a:r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</a:rPr>
              <a:t> : </a:t>
            </a:r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  <a:hlinkClick r:id="rId4"/>
              </a:rPr>
              <a:t>https://www.culturehive.co.uk/digital-heritage-hub/resource/engagement/getting-started-with-google-analytics-4/</a:t>
            </a:r>
            <a:endParaRPr lang="fr-FR" sz="1200" dirty="0">
              <a:latin typeface="Bahnschrift" panose="020B0502040204020203" pitchFamily="34" charset="0"/>
              <a:ea typeface="+mn-lt"/>
              <a:cs typeface="+mn-lt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3558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22B25-7102-D4B6-86E8-7B48B4ADB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C78B-8C22-CFAD-4BA8-8F1F6641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SemiBold"/>
              </a:rPr>
              <a:t>Google Analytics</a:t>
            </a:r>
            <a:r>
              <a:rPr lang="hr-HR" dirty="0">
                <a:latin typeface="Bahnschrift SemiBold"/>
              </a:rPr>
              <a:t> - povijest</a:t>
            </a:r>
            <a:r>
              <a:rPr lang="en-US" dirty="0">
                <a:latin typeface="Bahnschrift SemiBold"/>
              </a:rPr>
              <a:t>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4DF86C9-140E-6576-495D-CF25046186A5}"/>
              </a:ext>
            </a:extLst>
          </p:cNvPr>
          <p:cNvSpPr txBox="1"/>
          <p:nvPr/>
        </p:nvSpPr>
        <p:spPr>
          <a:xfrm>
            <a:off x="2728618" y="2669313"/>
            <a:ext cx="2820097" cy="1833158"/>
          </a:xfrm>
          <a:prstGeom prst="rect">
            <a:avLst/>
          </a:prstGeom>
        </p:spPr>
        <p:txBody>
          <a:bodyPr vert="horz" wrap="square" lIns="0" tIns="16933" rIns="0" bIns="0" rtlCol="0" anchor="t">
            <a:noAutofit/>
          </a:bodyPr>
          <a:lstStyle/>
          <a:p>
            <a:pPr marL="16510" rtl="0">
              <a:lnSpc>
                <a:spcPct val="100000"/>
              </a:lnSpc>
              <a:spcBef>
                <a:spcPts val="133"/>
              </a:spcBef>
            </a:pPr>
            <a:r>
              <a:rPr lang="en" sz="8000" b="0" i="0" u="none" strike="noStrike" spc="-2007" dirty="0">
                <a:solidFill>
                  <a:srgbClr val="FFAA3F"/>
                </a:solidFill>
                <a:latin typeface="Arial Black"/>
                <a:cs typeface="Arial Black"/>
              </a:rPr>
              <a:t>UTM</a:t>
            </a:r>
            <a:endParaRPr lang="en-US" sz="8000" dirty="0">
              <a:latin typeface="Arial Black"/>
              <a:cs typeface="Arial Black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4CE63EC3-A9E1-1E34-12EE-45EC2D4D6859}"/>
              </a:ext>
            </a:extLst>
          </p:cNvPr>
          <p:cNvSpPr txBox="1"/>
          <p:nvPr/>
        </p:nvSpPr>
        <p:spPr>
          <a:xfrm>
            <a:off x="4814794" y="2832515"/>
            <a:ext cx="2994088" cy="2742329"/>
          </a:xfrm>
          <a:prstGeom prst="rect">
            <a:avLst/>
          </a:prstGeom>
        </p:spPr>
        <p:txBody>
          <a:bodyPr vert="horz" wrap="square" lIns="0" tIns="16933" rIns="0" bIns="0" rtlCol="0" anchor="t">
            <a:noAutofit/>
          </a:bodyPr>
          <a:lstStyle/>
          <a:p>
            <a:pPr marL="16510" marR="6350">
              <a:spcBef>
                <a:spcPts val="133"/>
              </a:spcBef>
            </a:pPr>
            <a:r>
              <a:rPr lang="en" sz="4000" b="0" i="0" u="none" strike="noStrike" spc="-380" dirty="0">
                <a:solidFill>
                  <a:srgbClr val="FFAA3F"/>
                </a:solidFill>
                <a:latin typeface="URW Gothic"/>
                <a:cs typeface="URW Gothic"/>
              </a:rPr>
              <a:t>Urchin </a:t>
            </a:r>
            <a:endParaRPr lang="en-US" sz="4000" dirty="0">
              <a:solidFill>
                <a:srgbClr val="000000"/>
              </a:solidFill>
              <a:latin typeface="URW Gothic"/>
              <a:cs typeface="URW Gothic"/>
            </a:endParaRPr>
          </a:p>
          <a:p>
            <a:pPr marL="16510" marR="6350">
              <a:lnSpc>
                <a:spcPct val="100000"/>
              </a:lnSpc>
              <a:spcBef>
                <a:spcPts val="133"/>
              </a:spcBef>
            </a:pPr>
            <a:r>
              <a:rPr lang="en" sz="4000" b="0" i="0" u="none" strike="noStrike" spc="-380" dirty="0">
                <a:solidFill>
                  <a:srgbClr val="FFAA3F"/>
                </a:solidFill>
                <a:latin typeface="URW Gothic"/>
                <a:cs typeface="URW Gothic"/>
              </a:rPr>
              <a:t>Tracking Module</a:t>
            </a:r>
            <a:endParaRPr lang="en-US" sz="4000" dirty="0">
              <a:latin typeface="URW Gothic"/>
              <a:cs typeface="URW Gothic"/>
            </a:endParaRPr>
          </a:p>
        </p:txBody>
      </p:sp>
      <p:grpSp>
        <p:nvGrpSpPr>
          <p:cNvPr id="13" name="object 8">
            <a:extLst>
              <a:ext uri="{FF2B5EF4-FFF2-40B4-BE49-F238E27FC236}">
                <a16:creationId xmlns:a16="http://schemas.microsoft.com/office/drawing/2014/main" id="{18E20DDD-13EF-5620-11FC-57A1BEC1D5A1}"/>
              </a:ext>
            </a:extLst>
          </p:cNvPr>
          <p:cNvGrpSpPr/>
          <p:nvPr/>
        </p:nvGrpSpPr>
        <p:grpSpPr>
          <a:xfrm>
            <a:off x="7331451" y="1044598"/>
            <a:ext cx="4860711" cy="4989989"/>
            <a:chOff x="5498589" y="783448"/>
            <a:chExt cx="3645534" cy="3742492"/>
          </a:xfrm>
        </p:grpSpPr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5351BC57-185D-FD8C-43D2-C188F3FCC2EF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498589" y="783448"/>
              <a:ext cx="3645392" cy="3742492"/>
            </a:xfrm>
            <a:prstGeom prst="rect">
              <a:avLst/>
            </a:prstGeom>
          </p:spPr>
        </p:pic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3F17DA63-1083-A2BA-A6C6-AC4525FE589D}"/>
                </a:ext>
              </a:extLst>
            </p:cNvPr>
            <p:cNvSpPr/>
            <p:nvPr/>
          </p:nvSpPr>
          <p:spPr>
            <a:xfrm>
              <a:off x="5784338" y="1102035"/>
              <a:ext cx="3359785" cy="3138170"/>
            </a:xfrm>
            <a:custGeom>
              <a:avLst/>
              <a:gdLst/>
              <a:ahLst/>
              <a:cxnLst/>
              <a:rect l="l" t="t" r="r" b="b"/>
              <a:pathLst>
                <a:path w="3359784" h="3138170">
                  <a:moveTo>
                    <a:pt x="468299" y="3138155"/>
                  </a:moveTo>
                  <a:lnTo>
                    <a:pt x="0" y="626263"/>
                  </a:lnTo>
                  <a:lnTo>
                    <a:pt x="3359643" y="0"/>
                  </a:lnTo>
                  <a:lnTo>
                    <a:pt x="3359643" y="2599186"/>
                  </a:lnTo>
                  <a:lnTo>
                    <a:pt x="468299" y="3138155"/>
                  </a:lnTo>
                  <a:close/>
                </a:path>
              </a:pathLst>
            </a:custGeom>
            <a:solidFill>
              <a:srgbClr val="FFAA3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</p:grpSp>
      <p:sp>
        <p:nvSpPr>
          <p:cNvPr id="15" name="object 11">
            <a:extLst>
              <a:ext uri="{FF2B5EF4-FFF2-40B4-BE49-F238E27FC236}">
                <a16:creationId xmlns:a16="http://schemas.microsoft.com/office/drawing/2014/main" id="{0192037E-4003-26B4-5E9E-937D5BC05694}"/>
              </a:ext>
            </a:extLst>
          </p:cNvPr>
          <p:cNvSpPr txBox="1"/>
          <p:nvPr/>
        </p:nvSpPr>
        <p:spPr>
          <a:xfrm rot="21000000">
            <a:off x="7992931" y="2224965"/>
            <a:ext cx="3267227" cy="508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rtl="0">
              <a:lnSpc>
                <a:spcPts val="4000"/>
              </a:lnSpc>
            </a:pPr>
            <a:r>
              <a:rPr lang="en" sz="4000" b="0" i="0" u="none" strike="noStrike" spc="-573">
                <a:solidFill>
                  <a:srgbClr val="FFFFFF"/>
                </a:solidFill>
                <a:latin typeface="Arial Black"/>
                <a:cs typeface="Arial Black"/>
              </a:rPr>
              <a:t>UTM_SOURCE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E637C2B7-C07B-4758-8D6B-355789BCE0DD}"/>
              </a:ext>
            </a:extLst>
          </p:cNvPr>
          <p:cNvSpPr txBox="1"/>
          <p:nvPr/>
        </p:nvSpPr>
        <p:spPr>
          <a:xfrm rot="21000000">
            <a:off x="8104604" y="2821915"/>
            <a:ext cx="3293157" cy="508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rtl="0">
              <a:lnSpc>
                <a:spcPts val="4000"/>
              </a:lnSpc>
            </a:pPr>
            <a:r>
              <a:rPr lang="en" sz="4000" b="0" i="0" u="none" strike="noStrike" spc="-513">
                <a:solidFill>
                  <a:srgbClr val="FFFFFF"/>
                </a:solidFill>
                <a:latin typeface="Arial Black"/>
                <a:cs typeface="Arial Black"/>
              </a:rPr>
              <a:t>UTM_MEDIUM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7996DE87-B417-00F3-3AF4-75C3CE482704}"/>
              </a:ext>
            </a:extLst>
          </p:cNvPr>
          <p:cNvSpPr txBox="1"/>
          <p:nvPr/>
        </p:nvSpPr>
        <p:spPr>
          <a:xfrm rot="21000000">
            <a:off x="8213634" y="3346912"/>
            <a:ext cx="4117471" cy="508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rtl="0">
              <a:lnSpc>
                <a:spcPts val="4000"/>
              </a:lnSpc>
            </a:pPr>
            <a:r>
              <a:rPr lang="en" sz="4000" b="0" i="0" u="none" strike="noStrike" spc="-387" dirty="0">
                <a:solidFill>
                  <a:srgbClr val="FFFFFF"/>
                </a:solidFill>
                <a:latin typeface="Arial Black"/>
                <a:cs typeface="Arial Black"/>
              </a:rPr>
              <a:t>UTM_CAMPAIGN</a:t>
            </a:r>
            <a:endParaRPr sz="4000" dirty="0">
              <a:latin typeface="Arial Black"/>
              <a:cs typeface="Arial Black"/>
            </a:endParaRPr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5EC64885-9B1F-96A4-CFDC-7FC288A4D7A3}"/>
              </a:ext>
            </a:extLst>
          </p:cNvPr>
          <p:cNvSpPr txBox="1"/>
          <p:nvPr/>
        </p:nvSpPr>
        <p:spPr>
          <a:xfrm rot="21000000">
            <a:off x="8328225" y="4089275"/>
            <a:ext cx="2533871" cy="508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rtl="0">
              <a:lnSpc>
                <a:spcPts val="4000"/>
              </a:lnSpc>
            </a:pPr>
            <a:r>
              <a:rPr lang="en" sz="4000" b="0" i="0" u="none" strike="noStrike" spc="-673">
                <a:solidFill>
                  <a:srgbClr val="FFFFFF"/>
                </a:solidFill>
                <a:latin typeface="Arial Black"/>
                <a:cs typeface="Arial Black"/>
              </a:rPr>
              <a:t>UTM_TERM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23" name="object 15">
            <a:extLst>
              <a:ext uri="{FF2B5EF4-FFF2-40B4-BE49-F238E27FC236}">
                <a16:creationId xmlns:a16="http://schemas.microsoft.com/office/drawing/2014/main" id="{D5E129B0-7AA3-2D1F-B8B2-4CE12898002C}"/>
              </a:ext>
            </a:extLst>
          </p:cNvPr>
          <p:cNvSpPr txBox="1"/>
          <p:nvPr/>
        </p:nvSpPr>
        <p:spPr>
          <a:xfrm rot="21000000">
            <a:off x="8439127" y="4596260"/>
            <a:ext cx="3553551" cy="508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rtl="0">
              <a:lnSpc>
                <a:spcPts val="4000"/>
              </a:lnSpc>
            </a:pPr>
            <a:r>
              <a:rPr lang="en" sz="4000" b="0" i="0" u="none" strike="noStrike" spc="-607" dirty="0">
                <a:solidFill>
                  <a:srgbClr val="FFFFFF"/>
                </a:solidFill>
                <a:latin typeface="Arial Black"/>
                <a:cs typeface="Arial Black"/>
              </a:rPr>
              <a:t>UTM_CONTENT</a:t>
            </a:r>
            <a:endParaRPr sz="4000" dirty="0">
              <a:latin typeface="Arial Black"/>
              <a:cs typeface="Arial Black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E6F8CD5-E7B2-2B94-D838-2CE0E6EEC204}"/>
              </a:ext>
            </a:extLst>
          </p:cNvPr>
          <p:cNvSpPr txBox="1"/>
          <p:nvPr/>
        </p:nvSpPr>
        <p:spPr>
          <a:xfrm>
            <a:off x="8422013" y="5908068"/>
            <a:ext cx="321604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r-HR" sz="1200" dirty="0">
                <a:latin typeface="Bahnschrift" panose="020B0502040204020203" pitchFamily="34" charset="0"/>
                <a:ea typeface="+mn-lt"/>
                <a:cs typeface="+mn-lt"/>
              </a:rPr>
              <a:t>Izvor</a:t>
            </a:r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</a:rPr>
              <a:t> : https://avanza.justia.com/historia-de-google-analytics/ images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AA51DB-06EE-75F1-050D-CE0D32140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65" y="1627314"/>
            <a:ext cx="2510664" cy="114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124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10E64-A515-878C-607E-B730451C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SemiBold"/>
              </a:rPr>
              <a:t>GA </a:t>
            </a:r>
            <a:r>
              <a:rPr lang="en-US" dirty="0" err="1">
                <a:latin typeface="Bahnschrift SemiBold"/>
              </a:rPr>
              <a:t>i</a:t>
            </a:r>
            <a:r>
              <a:rPr lang="hr-HR" dirty="0" err="1">
                <a:latin typeface="Bahnschrift SemiBold"/>
              </a:rPr>
              <a:t>nstalacija</a:t>
            </a:r>
            <a:r>
              <a:rPr lang="en-US" dirty="0">
                <a:latin typeface="Bahnschrift SemiBold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EA7CCB-C24C-D2DF-B812-671E371EB6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&lt;!-- Google tag (gtag.js) --&gt; </a:t>
            </a:r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&lt;script async </a:t>
            </a:r>
            <a:r>
              <a:rPr lang="en-US" dirty="0" err="1">
                <a:ea typeface="+mn-lt"/>
                <a:cs typeface="+mn-lt"/>
              </a:rPr>
              <a:t>src</a:t>
            </a:r>
            <a:r>
              <a:rPr lang="en-US" dirty="0">
                <a:ea typeface="+mn-lt"/>
                <a:cs typeface="+mn-lt"/>
              </a:rPr>
              <a:t>="https://www.googletagmanager.com/gtag/js?id=G-ABC123XY Z"&gt;&lt;/script&gt; </a:t>
            </a:r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&lt;script&gt; </a:t>
            </a:r>
            <a:endParaRPr lang="en-US" dirty="0"/>
          </a:p>
          <a:p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window.dataLayer</a:t>
            </a:r>
            <a:r>
              <a:rPr lang="en-US" dirty="0">
                <a:ea typeface="+mn-lt"/>
                <a:cs typeface="+mn-lt"/>
              </a:rPr>
              <a:t> = </a:t>
            </a:r>
            <a:r>
              <a:rPr lang="en-US" dirty="0" err="1">
                <a:ea typeface="+mn-lt"/>
                <a:cs typeface="+mn-lt"/>
              </a:rPr>
              <a:t>window.dataLayer</a:t>
            </a:r>
            <a:r>
              <a:rPr lang="en-US" dirty="0">
                <a:ea typeface="+mn-lt"/>
                <a:cs typeface="+mn-lt"/>
              </a:rPr>
              <a:t> || []; function </a:t>
            </a:r>
            <a:r>
              <a:rPr lang="en-US" dirty="0" err="1">
                <a:ea typeface="+mn-lt"/>
                <a:cs typeface="+mn-lt"/>
              </a:rPr>
              <a:t>gtag</a:t>
            </a:r>
            <a:r>
              <a:rPr lang="en-US" dirty="0">
                <a:ea typeface="+mn-lt"/>
                <a:cs typeface="+mn-lt"/>
              </a:rPr>
              <a:t>(){</a:t>
            </a:r>
            <a:r>
              <a:rPr lang="en-US" dirty="0" err="1">
                <a:ea typeface="+mn-lt"/>
                <a:cs typeface="+mn-lt"/>
              </a:rPr>
              <a:t>dataLayer.push</a:t>
            </a:r>
            <a:r>
              <a:rPr lang="en-US" dirty="0">
                <a:ea typeface="+mn-lt"/>
                <a:cs typeface="+mn-lt"/>
              </a:rPr>
              <a:t>(arguments);} </a:t>
            </a:r>
            <a:r>
              <a:rPr lang="en-US" dirty="0" err="1">
                <a:ea typeface="+mn-lt"/>
                <a:cs typeface="+mn-lt"/>
              </a:rPr>
              <a:t>gtag</a:t>
            </a:r>
            <a:r>
              <a:rPr lang="en-US" dirty="0">
                <a:ea typeface="+mn-lt"/>
                <a:cs typeface="+mn-lt"/>
              </a:rPr>
              <a:t>('</a:t>
            </a:r>
            <a:r>
              <a:rPr lang="en-US" dirty="0" err="1">
                <a:ea typeface="+mn-lt"/>
                <a:cs typeface="+mn-lt"/>
              </a:rPr>
              <a:t>js</a:t>
            </a:r>
            <a:r>
              <a:rPr lang="en-US" dirty="0">
                <a:ea typeface="+mn-lt"/>
                <a:cs typeface="+mn-lt"/>
              </a:rPr>
              <a:t>', new Date()); </a:t>
            </a:r>
            <a:endParaRPr lang="en-US" dirty="0"/>
          </a:p>
        </p:txBody>
      </p:sp>
      <p:grpSp>
        <p:nvGrpSpPr>
          <p:cNvPr id="11" name="object 2">
            <a:extLst>
              <a:ext uri="{FF2B5EF4-FFF2-40B4-BE49-F238E27FC236}">
                <a16:creationId xmlns:a16="http://schemas.microsoft.com/office/drawing/2014/main" id="{C71DA08A-7065-D71C-5EEB-8F7009D4C0B7}"/>
              </a:ext>
            </a:extLst>
          </p:cNvPr>
          <p:cNvGrpSpPr/>
          <p:nvPr/>
        </p:nvGrpSpPr>
        <p:grpSpPr>
          <a:xfrm>
            <a:off x="1879358" y="2358158"/>
            <a:ext cx="2478293" cy="2266527"/>
            <a:chOff x="111036" y="1428239"/>
            <a:chExt cx="1858720" cy="1699895"/>
          </a:xfrm>
        </p:grpSpPr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80360F6A-E64B-0796-E152-1A969C820CDE}"/>
                </a:ext>
              </a:extLst>
            </p:cNvPr>
            <p:cNvSpPr/>
            <p:nvPr/>
          </p:nvSpPr>
          <p:spPr>
            <a:xfrm>
              <a:off x="111036" y="1677187"/>
              <a:ext cx="1138555" cy="1202690"/>
            </a:xfrm>
            <a:custGeom>
              <a:avLst/>
              <a:gdLst/>
              <a:ahLst/>
              <a:cxnLst/>
              <a:rect l="l" t="t" r="r" b="b"/>
              <a:pathLst>
                <a:path w="1138555" h="1202689">
                  <a:moveTo>
                    <a:pt x="1137996" y="162801"/>
                  </a:moveTo>
                  <a:lnTo>
                    <a:pt x="975194" y="0"/>
                  </a:lnTo>
                  <a:lnTo>
                    <a:pt x="161201" y="0"/>
                  </a:lnTo>
                  <a:lnTo>
                    <a:pt x="161201" y="211416"/>
                  </a:lnTo>
                  <a:lnTo>
                    <a:pt x="0" y="211416"/>
                  </a:lnTo>
                  <a:lnTo>
                    <a:pt x="0" y="990511"/>
                  </a:lnTo>
                  <a:lnTo>
                    <a:pt x="161201" y="990511"/>
                  </a:lnTo>
                  <a:lnTo>
                    <a:pt x="161201" y="1202118"/>
                  </a:lnTo>
                  <a:lnTo>
                    <a:pt x="1137996" y="1202118"/>
                  </a:lnTo>
                  <a:lnTo>
                    <a:pt x="1137996" y="162801"/>
                  </a:lnTo>
                  <a:close/>
                </a:path>
              </a:pathLst>
            </a:custGeom>
            <a:solidFill>
              <a:srgbClr val="F2BA4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D5DA976C-4167-3552-F0BB-DD941EAF1B4F}"/>
                </a:ext>
              </a:extLst>
            </p:cNvPr>
            <p:cNvSpPr/>
            <p:nvPr/>
          </p:nvSpPr>
          <p:spPr>
            <a:xfrm>
              <a:off x="272244" y="1677184"/>
              <a:ext cx="977265" cy="1202690"/>
            </a:xfrm>
            <a:custGeom>
              <a:avLst/>
              <a:gdLst/>
              <a:ahLst/>
              <a:cxnLst/>
              <a:rect l="l" t="t" r="r" b="b"/>
              <a:pathLst>
                <a:path w="977265" h="1202689">
                  <a:moveTo>
                    <a:pt x="0" y="0"/>
                  </a:moveTo>
                  <a:lnTo>
                    <a:pt x="813995" y="0"/>
                  </a:lnTo>
                  <a:lnTo>
                    <a:pt x="976798" y="162802"/>
                  </a:lnTo>
                  <a:lnTo>
                    <a:pt x="976798" y="1202110"/>
                  </a:lnTo>
                  <a:lnTo>
                    <a:pt x="0" y="120211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EB16DCBC-FB72-D0F8-6060-5CC0428948B1}"/>
                </a:ext>
              </a:extLst>
            </p:cNvPr>
            <p:cNvSpPr/>
            <p:nvPr/>
          </p:nvSpPr>
          <p:spPr>
            <a:xfrm>
              <a:off x="587996" y="1428239"/>
              <a:ext cx="1381760" cy="1699895"/>
            </a:xfrm>
            <a:custGeom>
              <a:avLst/>
              <a:gdLst/>
              <a:ahLst/>
              <a:cxnLst/>
              <a:rect l="l" t="t" r="r" b="b"/>
              <a:pathLst>
                <a:path w="1381760" h="1699895">
                  <a:moveTo>
                    <a:pt x="1381497" y="1699804"/>
                  </a:moveTo>
                  <a:lnTo>
                    <a:pt x="0" y="1699804"/>
                  </a:lnTo>
                  <a:lnTo>
                    <a:pt x="0" y="0"/>
                  </a:lnTo>
                  <a:lnTo>
                    <a:pt x="1151242" y="0"/>
                  </a:lnTo>
                  <a:lnTo>
                    <a:pt x="1381497" y="230254"/>
                  </a:lnTo>
                  <a:lnTo>
                    <a:pt x="1381497" y="1699804"/>
                  </a:lnTo>
                  <a:close/>
                </a:path>
              </a:pathLst>
            </a:custGeom>
            <a:solidFill>
              <a:srgbClr val="F2BA4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22A10AD2-E66C-6FF2-E7C4-8A4F9B0DAAC4}"/>
                </a:ext>
              </a:extLst>
            </p:cNvPr>
            <p:cNvSpPr/>
            <p:nvPr/>
          </p:nvSpPr>
          <p:spPr>
            <a:xfrm>
              <a:off x="587996" y="1428239"/>
              <a:ext cx="1381760" cy="1699895"/>
            </a:xfrm>
            <a:custGeom>
              <a:avLst/>
              <a:gdLst/>
              <a:ahLst/>
              <a:cxnLst/>
              <a:rect l="l" t="t" r="r" b="b"/>
              <a:pathLst>
                <a:path w="1381760" h="1699895">
                  <a:moveTo>
                    <a:pt x="0" y="0"/>
                  </a:moveTo>
                  <a:lnTo>
                    <a:pt x="1151242" y="0"/>
                  </a:lnTo>
                  <a:lnTo>
                    <a:pt x="1381497" y="230254"/>
                  </a:lnTo>
                  <a:lnTo>
                    <a:pt x="1381497" y="1699804"/>
                  </a:lnTo>
                  <a:lnTo>
                    <a:pt x="0" y="169980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</p:grpSp>
      <p:sp>
        <p:nvSpPr>
          <p:cNvPr id="13" name="object 8">
            <a:extLst>
              <a:ext uri="{FF2B5EF4-FFF2-40B4-BE49-F238E27FC236}">
                <a16:creationId xmlns:a16="http://schemas.microsoft.com/office/drawing/2014/main" id="{BC5EF94E-DB5A-1BD1-D461-6B16735137C2}"/>
              </a:ext>
            </a:extLst>
          </p:cNvPr>
          <p:cNvSpPr txBox="1"/>
          <p:nvPr/>
        </p:nvSpPr>
        <p:spPr>
          <a:xfrm>
            <a:off x="2794893" y="2986792"/>
            <a:ext cx="1129453" cy="1128607"/>
          </a:xfrm>
          <a:prstGeom prst="rect">
            <a:avLst/>
          </a:prstGeom>
        </p:spPr>
        <p:txBody>
          <a:bodyPr vert="horz" wrap="square" lIns="0" tIns="34712" rIns="0" bIns="0" rtlCol="0">
            <a:noAutofit/>
          </a:bodyPr>
          <a:lstStyle/>
          <a:p>
            <a:pPr marL="16933" marR="6773" indent="208275" rtl="0">
              <a:lnSpc>
                <a:spcPts val="4305"/>
              </a:lnSpc>
              <a:spcBef>
                <a:spcPts val="272"/>
              </a:spcBef>
            </a:pPr>
            <a:r>
              <a:rPr lang="en" sz="3600" b="1" i="0" u="none" strike="noStrike" spc="-33">
                <a:solidFill>
                  <a:srgbClr val="FFFFFF"/>
                </a:solidFill>
                <a:latin typeface="Carlito"/>
                <a:cs typeface="Carlito"/>
              </a:rPr>
              <a:t>Your pages</a:t>
            </a:r>
            <a:endParaRPr sz="3600">
              <a:latin typeface="Carlito"/>
              <a:cs typeface="Carlito"/>
            </a:endParaRPr>
          </a:p>
        </p:txBody>
      </p:sp>
      <p:grpSp>
        <p:nvGrpSpPr>
          <p:cNvPr id="18" name="object 9">
            <a:extLst>
              <a:ext uri="{FF2B5EF4-FFF2-40B4-BE49-F238E27FC236}">
                <a16:creationId xmlns:a16="http://schemas.microsoft.com/office/drawing/2014/main" id="{589321ED-A695-2C53-4CB5-C3AB0D8159FD}"/>
              </a:ext>
            </a:extLst>
          </p:cNvPr>
          <p:cNvGrpSpPr/>
          <p:nvPr/>
        </p:nvGrpSpPr>
        <p:grpSpPr>
          <a:xfrm>
            <a:off x="2289975" y="4435032"/>
            <a:ext cx="569807" cy="569807"/>
            <a:chOff x="418999" y="2985893"/>
            <a:chExt cx="427355" cy="427355"/>
          </a:xfrm>
        </p:grpSpPr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56DC9661-9097-C601-F58C-DD0C9631C0F9}"/>
                </a:ext>
              </a:extLst>
            </p:cNvPr>
            <p:cNvSpPr/>
            <p:nvPr/>
          </p:nvSpPr>
          <p:spPr>
            <a:xfrm>
              <a:off x="418999" y="2985893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5" h="427354">
                  <a:moveTo>
                    <a:pt x="213599" y="427199"/>
                  </a:moveTo>
                  <a:lnTo>
                    <a:pt x="164623" y="421556"/>
                  </a:lnTo>
                  <a:lnTo>
                    <a:pt x="119664" y="405485"/>
                  </a:lnTo>
                  <a:lnTo>
                    <a:pt x="80004" y="380268"/>
                  </a:lnTo>
                  <a:lnTo>
                    <a:pt x="46925" y="347187"/>
                  </a:lnTo>
                  <a:lnTo>
                    <a:pt x="21710" y="307527"/>
                  </a:lnTo>
                  <a:lnTo>
                    <a:pt x="5641" y="262570"/>
                  </a:lnTo>
                  <a:lnTo>
                    <a:pt x="0" y="213599"/>
                  </a:lnTo>
                  <a:lnTo>
                    <a:pt x="5641" y="164620"/>
                  </a:lnTo>
                  <a:lnTo>
                    <a:pt x="21710" y="119660"/>
                  </a:lnTo>
                  <a:lnTo>
                    <a:pt x="46925" y="80001"/>
                  </a:lnTo>
                  <a:lnTo>
                    <a:pt x="80004" y="46923"/>
                  </a:lnTo>
                  <a:lnTo>
                    <a:pt x="119664" y="21709"/>
                  </a:lnTo>
                  <a:lnTo>
                    <a:pt x="164623" y="5640"/>
                  </a:lnTo>
                  <a:lnTo>
                    <a:pt x="213599" y="0"/>
                  </a:lnTo>
                  <a:lnTo>
                    <a:pt x="427199" y="0"/>
                  </a:lnTo>
                  <a:lnTo>
                    <a:pt x="427199" y="213599"/>
                  </a:lnTo>
                  <a:lnTo>
                    <a:pt x="421557" y="262570"/>
                  </a:lnTo>
                  <a:lnTo>
                    <a:pt x="405488" y="307527"/>
                  </a:lnTo>
                  <a:lnTo>
                    <a:pt x="380273" y="347187"/>
                  </a:lnTo>
                  <a:lnTo>
                    <a:pt x="347194" y="380268"/>
                  </a:lnTo>
                  <a:lnTo>
                    <a:pt x="307535" y="405485"/>
                  </a:lnTo>
                  <a:lnTo>
                    <a:pt x="262575" y="421556"/>
                  </a:lnTo>
                  <a:lnTo>
                    <a:pt x="213599" y="42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DE822042-776E-D1C2-E86C-53748E2F6AE5}"/>
                </a:ext>
              </a:extLst>
            </p:cNvPr>
            <p:cNvSpPr/>
            <p:nvPr/>
          </p:nvSpPr>
          <p:spPr>
            <a:xfrm>
              <a:off x="418999" y="2985893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5" h="427354">
                  <a:moveTo>
                    <a:pt x="0" y="213599"/>
                  </a:moveTo>
                  <a:lnTo>
                    <a:pt x="5641" y="164620"/>
                  </a:lnTo>
                  <a:lnTo>
                    <a:pt x="21710" y="119660"/>
                  </a:lnTo>
                  <a:lnTo>
                    <a:pt x="46925" y="80001"/>
                  </a:lnTo>
                  <a:lnTo>
                    <a:pt x="80004" y="46923"/>
                  </a:lnTo>
                  <a:lnTo>
                    <a:pt x="119664" y="21709"/>
                  </a:lnTo>
                  <a:lnTo>
                    <a:pt x="164623" y="5640"/>
                  </a:lnTo>
                  <a:lnTo>
                    <a:pt x="213599" y="0"/>
                  </a:lnTo>
                  <a:lnTo>
                    <a:pt x="266999" y="0"/>
                  </a:lnTo>
                  <a:lnTo>
                    <a:pt x="320399" y="0"/>
                  </a:lnTo>
                  <a:lnTo>
                    <a:pt x="373799" y="0"/>
                  </a:lnTo>
                  <a:lnTo>
                    <a:pt x="427199" y="0"/>
                  </a:lnTo>
                  <a:lnTo>
                    <a:pt x="427199" y="53399"/>
                  </a:lnTo>
                  <a:lnTo>
                    <a:pt x="427199" y="106799"/>
                  </a:lnTo>
                  <a:lnTo>
                    <a:pt x="427199" y="160199"/>
                  </a:lnTo>
                  <a:lnTo>
                    <a:pt x="427199" y="213599"/>
                  </a:lnTo>
                  <a:lnTo>
                    <a:pt x="421557" y="262570"/>
                  </a:lnTo>
                  <a:lnTo>
                    <a:pt x="405488" y="307527"/>
                  </a:lnTo>
                  <a:lnTo>
                    <a:pt x="380273" y="347187"/>
                  </a:lnTo>
                  <a:lnTo>
                    <a:pt x="347194" y="380268"/>
                  </a:lnTo>
                  <a:lnTo>
                    <a:pt x="307535" y="405485"/>
                  </a:lnTo>
                  <a:lnTo>
                    <a:pt x="262575" y="421556"/>
                  </a:lnTo>
                  <a:lnTo>
                    <a:pt x="213599" y="427199"/>
                  </a:lnTo>
                  <a:lnTo>
                    <a:pt x="164623" y="421556"/>
                  </a:lnTo>
                  <a:lnTo>
                    <a:pt x="119664" y="405485"/>
                  </a:lnTo>
                  <a:lnTo>
                    <a:pt x="80004" y="380268"/>
                  </a:lnTo>
                  <a:lnTo>
                    <a:pt x="46925" y="347187"/>
                  </a:lnTo>
                  <a:lnTo>
                    <a:pt x="21710" y="307527"/>
                  </a:lnTo>
                  <a:lnTo>
                    <a:pt x="5641" y="262570"/>
                  </a:lnTo>
                  <a:lnTo>
                    <a:pt x="0" y="213599"/>
                  </a:lnTo>
                  <a:close/>
                </a:path>
              </a:pathLst>
            </a:custGeom>
            <a:ln w="12699">
              <a:solidFill>
                <a:srgbClr val="F2BA42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pic>
          <p:nvPicPr>
            <p:cNvPr id="17" name="object 12">
              <a:extLst>
                <a:ext uri="{FF2B5EF4-FFF2-40B4-BE49-F238E27FC236}">
                  <a16:creationId xmlns:a16="http://schemas.microsoft.com/office/drawing/2014/main" id="{42E8A31A-E90A-6ADF-5ED3-EADC763AA9FA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67304" y="3034193"/>
              <a:ext cx="330299" cy="330299"/>
            </a:xfrm>
            <a:prstGeom prst="rect">
              <a:avLst/>
            </a:prstGeom>
          </p:spPr>
        </p:pic>
      </p:grpSp>
      <p:sp>
        <p:nvSpPr>
          <p:cNvPr id="20" name="object 13">
            <a:extLst>
              <a:ext uri="{FF2B5EF4-FFF2-40B4-BE49-F238E27FC236}">
                <a16:creationId xmlns:a16="http://schemas.microsoft.com/office/drawing/2014/main" id="{6211D8F4-AEAE-612E-14D2-EDB121997B13}"/>
              </a:ext>
            </a:extLst>
          </p:cNvPr>
          <p:cNvSpPr txBox="1"/>
          <p:nvPr/>
        </p:nvSpPr>
        <p:spPr>
          <a:xfrm>
            <a:off x="2928240" y="4669290"/>
            <a:ext cx="1303020" cy="597745"/>
          </a:xfrm>
          <a:prstGeom prst="rect">
            <a:avLst/>
          </a:prstGeom>
        </p:spPr>
        <p:txBody>
          <a:bodyPr vert="horz" wrap="square" lIns="0" tIns="30480" rIns="0" bIns="0" rtlCol="0">
            <a:noAutofit/>
          </a:bodyPr>
          <a:lstStyle/>
          <a:p>
            <a:pPr marL="16933" marR="6773" rtl="0">
              <a:lnSpc>
                <a:spcPts val="2200"/>
              </a:lnSpc>
              <a:spcBef>
                <a:spcPts val="240"/>
              </a:spcBef>
            </a:pPr>
            <a:r>
              <a:rPr lang="en" sz="1867" b="0" i="0" u="none" strike="noStrike">
                <a:solidFill>
                  <a:srgbClr val="999999"/>
                </a:solidFill>
                <a:latin typeface="Carlito"/>
                <a:cs typeface="Carlito"/>
              </a:rPr>
              <a:t>Google script gtag.js</a:t>
            </a:r>
            <a:endParaRPr sz="1867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46843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656F-7BA6-CDA0-EFD8-219E04EC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SemiBold"/>
              </a:rPr>
              <a:t>GA </a:t>
            </a:r>
            <a:r>
              <a:rPr lang="en-US" dirty="0" err="1">
                <a:latin typeface="Bahnschrift SemiBold"/>
              </a:rPr>
              <a:t>instal</a:t>
            </a:r>
            <a:r>
              <a:rPr lang="hr-HR" dirty="0" err="1">
                <a:latin typeface="Bahnschrift SemiBold"/>
              </a:rPr>
              <a:t>acija</a:t>
            </a:r>
            <a:r>
              <a:rPr lang="en-US" dirty="0">
                <a:latin typeface="Bahnschrift SemiBold"/>
              </a:rPr>
              <a:t> </a:t>
            </a:r>
          </a:p>
        </p:txBody>
      </p:sp>
      <p:grpSp>
        <p:nvGrpSpPr>
          <p:cNvPr id="9" name="object 2">
            <a:extLst>
              <a:ext uri="{FF2B5EF4-FFF2-40B4-BE49-F238E27FC236}">
                <a16:creationId xmlns:a16="http://schemas.microsoft.com/office/drawing/2014/main" id="{8CDEA921-9ABE-89C3-215D-DBED2A23E892}"/>
              </a:ext>
            </a:extLst>
          </p:cNvPr>
          <p:cNvGrpSpPr/>
          <p:nvPr/>
        </p:nvGrpSpPr>
        <p:grpSpPr>
          <a:xfrm>
            <a:off x="776783" y="2386173"/>
            <a:ext cx="2478290" cy="2266527"/>
            <a:chOff x="582587" y="1428239"/>
            <a:chExt cx="1858718" cy="1699895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0569E116-8F67-A443-8804-52725D918389}"/>
                </a:ext>
              </a:extLst>
            </p:cNvPr>
            <p:cNvSpPr/>
            <p:nvPr/>
          </p:nvSpPr>
          <p:spPr>
            <a:xfrm>
              <a:off x="582587" y="1677187"/>
              <a:ext cx="1138555" cy="1202690"/>
            </a:xfrm>
            <a:custGeom>
              <a:avLst/>
              <a:gdLst/>
              <a:ahLst/>
              <a:cxnLst/>
              <a:rect l="l" t="t" r="r" b="b"/>
              <a:pathLst>
                <a:path w="1138555" h="1202689">
                  <a:moveTo>
                    <a:pt x="1137996" y="162801"/>
                  </a:moveTo>
                  <a:lnTo>
                    <a:pt x="975194" y="0"/>
                  </a:lnTo>
                  <a:lnTo>
                    <a:pt x="161201" y="0"/>
                  </a:lnTo>
                  <a:lnTo>
                    <a:pt x="161201" y="211416"/>
                  </a:lnTo>
                  <a:lnTo>
                    <a:pt x="0" y="211416"/>
                  </a:lnTo>
                  <a:lnTo>
                    <a:pt x="0" y="990511"/>
                  </a:lnTo>
                  <a:lnTo>
                    <a:pt x="161201" y="990511"/>
                  </a:lnTo>
                  <a:lnTo>
                    <a:pt x="161201" y="1202118"/>
                  </a:lnTo>
                  <a:lnTo>
                    <a:pt x="1137996" y="1202118"/>
                  </a:lnTo>
                  <a:lnTo>
                    <a:pt x="1137996" y="162801"/>
                  </a:lnTo>
                  <a:close/>
                </a:path>
              </a:pathLst>
            </a:custGeom>
            <a:solidFill>
              <a:srgbClr val="F2BA4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F01D69A1-3231-4200-4D0C-C31AEF79F3B0}"/>
                </a:ext>
              </a:extLst>
            </p:cNvPr>
            <p:cNvSpPr/>
            <p:nvPr/>
          </p:nvSpPr>
          <p:spPr>
            <a:xfrm>
              <a:off x="743793" y="1677184"/>
              <a:ext cx="977265" cy="1202690"/>
            </a:xfrm>
            <a:custGeom>
              <a:avLst/>
              <a:gdLst/>
              <a:ahLst/>
              <a:cxnLst/>
              <a:rect l="l" t="t" r="r" b="b"/>
              <a:pathLst>
                <a:path w="977264" h="1202689">
                  <a:moveTo>
                    <a:pt x="0" y="0"/>
                  </a:moveTo>
                  <a:lnTo>
                    <a:pt x="813995" y="0"/>
                  </a:lnTo>
                  <a:lnTo>
                    <a:pt x="976798" y="162802"/>
                  </a:lnTo>
                  <a:lnTo>
                    <a:pt x="976798" y="1202110"/>
                  </a:lnTo>
                  <a:lnTo>
                    <a:pt x="0" y="120211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50D7E399-036E-A43A-39F0-D5165F9FC4E2}"/>
                </a:ext>
              </a:extLst>
            </p:cNvPr>
            <p:cNvSpPr/>
            <p:nvPr/>
          </p:nvSpPr>
          <p:spPr>
            <a:xfrm>
              <a:off x="1059545" y="1428239"/>
              <a:ext cx="1381760" cy="1699895"/>
            </a:xfrm>
            <a:custGeom>
              <a:avLst/>
              <a:gdLst/>
              <a:ahLst/>
              <a:cxnLst/>
              <a:rect l="l" t="t" r="r" b="b"/>
              <a:pathLst>
                <a:path w="1381760" h="1699895">
                  <a:moveTo>
                    <a:pt x="1381497" y="1699804"/>
                  </a:moveTo>
                  <a:lnTo>
                    <a:pt x="0" y="1699804"/>
                  </a:lnTo>
                  <a:lnTo>
                    <a:pt x="0" y="0"/>
                  </a:lnTo>
                  <a:lnTo>
                    <a:pt x="1151242" y="0"/>
                  </a:lnTo>
                  <a:lnTo>
                    <a:pt x="1381497" y="230254"/>
                  </a:lnTo>
                  <a:lnTo>
                    <a:pt x="1381497" y="1699804"/>
                  </a:lnTo>
                  <a:close/>
                </a:path>
              </a:pathLst>
            </a:custGeom>
            <a:solidFill>
              <a:srgbClr val="F2BA4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9D57B8F5-4568-8AEB-95FF-AD9939C30A01}"/>
                </a:ext>
              </a:extLst>
            </p:cNvPr>
            <p:cNvSpPr/>
            <p:nvPr/>
          </p:nvSpPr>
          <p:spPr>
            <a:xfrm>
              <a:off x="1059545" y="1428239"/>
              <a:ext cx="1381760" cy="1699895"/>
            </a:xfrm>
            <a:custGeom>
              <a:avLst/>
              <a:gdLst/>
              <a:ahLst/>
              <a:cxnLst/>
              <a:rect l="l" t="t" r="r" b="b"/>
              <a:pathLst>
                <a:path w="1381760" h="1699895">
                  <a:moveTo>
                    <a:pt x="0" y="0"/>
                  </a:moveTo>
                  <a:lnTo>
                    <a:pt x="1151242" y="0"/>
                  </a:lnTo>
                  <a:lnTo>
                    <a:pt x="1381497" y="230254"/>
                  </a:lnTo>
                  <a:lnTo>
                    <a:pt x="1381497" y="1699804"/>
                  </a:lnTo>
                  <a:lnTo>
                    <a:pt x="0" y="169980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92D673A0-2A39-2533-95F4-764AF733D448}"/>
              </a:ext>
            </a:extLst>
          </p:cNvPr>
          <p:cNvSpPr txBox="1"/>
          <p:nvPr/>
        </p:nvSpPr>
        <p:spPr>
          <a:xfrm>
            <a:off x="1692322" y="3014807"/>
            <a:ext cx="1129453" cy="1128607"/>
          </a:xfrm>
          <a:prstGeom prst="rect">
            <a:avLst/>
          </a:prstGeom>
        </p:spPr>
        <p:txBody>
          <a:bodyPr vert="horz" wrap="square" lIns="0" tIns="34712" rIns="0" bIns="0" rtlCol="0">
            <a:noAutofit/>
          </a:bodyPr>
          <a:lstStyle/>
          <a:p>
            <a:pPr marL="16933" marR="6773" indent="208275" rtl="0">
              <a:lnSpc>
                <a:spcPts val="4305"/>
              </a:lnSpc>
              <a:spcBef>
                <a:spcPts val="272"/>
              </a:spcBef>
            </a:pPr>
            <a:r>
              <a:rPr lang="en" sz="3600" b="1" i="0" u="none" strike="noStrike" spc="-33" dirty="0">
                <a:solidFill>
                  <a:srgbClr val="FFFFFF"/>
                </a:solidFill>
                <a:latin typeface="Carlito"/>
                <a:cs typeface="Carlito"/>
              </a:rPr>
              <a:t>Your pages</a:t>
            </a:r>
            <a:endParaRPr sz="3600" dirty="0">
              <a:latin typeface="Carlito"/>
              <a:cs typeface="Carlito"/>
            </a:endParaRPr>
          </a:p>
        </p:txBody>
      </p:sp>
      <p:grpSp>
        <p:nvGrpSpPr>
          <p:cNvPr id="16" name="object 9">
            <a:extLst>
              <a:ext uri="{FF2B5EF4-FFF2-40B4-BE49-F238E27FC236}">
                <a16:creationId xmlns:a16="http://schemas.microsoft.com/office/drawing/2014/main" id="{6FAB7CE6-845B-3263-A18F-AFB213117937}"/>
              </a:ext>
            </a:extLst>
          </p:cNvPr>
          <p:cNvGrpSpPr/>
          <p:nvPr/>
        </p:nvGrpSpPr>
        <p:grpSpPr>
          <a:xfrm>
            <a:off x="1187398" y="4463047"/>
            <a:ext cx="569807" cy="569807"/>
            <a:chOff x="890548" y="2985893"/>
            <a:chExt cx="427355" cy="427355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4B48750E-DE1D-3E57-EE6B-8DDC5535C066}"/>
                </a:ext>
              </a:extLst>
            </p:cNvPr>
            <p:cNvSpPr/>
            <p:nvPr/>
          </p:nvSpPr>
          <p:spPr>
            <a:xfrm>
              <a:off x="890548" y="2985893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5" h="427354">
                  <a:moveTo>
                    <a:pt x="213599" y="427199"/>
                  </a:moveTo>
                  <a:lnTo>
                    <a:pt x="164623" y="421556"/>
                  </a:lnTo>
                  <a:lnTo>
                    <a:pt x="119664" y="405485"/>
                  </a:lnTo>
                  <a:lnTo>
                    <a:pt x="80004" y="380268"/>
                  </a:lnTo>
                  <a:lnTo>
                    <a:pt x="46925" y="347187"/>
                  </a:lnTo>
                  <a:lnTo>
                    <a:pt x="21710" y="307527"/>
                  </a:lnTo>
                  <a:lnTo>
                    <a:pt x="5641" y="262570"/>
                  </a:lnTo>
                  <a:lnTo>
                    <a:pt x="0" y="213599"/>
                  </a:lnTo>
                  <a:lnTo>
                    <a:pt x="5641" y="164620"/>
                  </a:lnTo>
                  <a:lnTo>
                    <a:pt x="21710" y="119660"/>
                  </a:lnTo>
                  <a:lnTo>
                    <a:pt x="46925" y="80001"/>
                  </a:lnTo>
                  <a:lnTo>
                    <a:pt x="80004" y="46923"/>
                  </a:lnTo>
                  <a:lnTo>
                    <a:pt x="119664" y="21709"/>
                  </a:lnTo>
                  <a:lnTo>
                    <a:pt x="164623" y="5640"/>
                  </a:lnTo>
                  <a:lnTo>
                    <a:pt x="213599" y="0"/>
                  </a:lnTo>
                  <a:lnTo>
                    <a:pt x="427199" y="0"/>
                  </a:lnTo>
                  <a:lnTo>
                    <a:pt x="427199" y="213599"/>
                  </a:lnTo>
                  <a:lnTo>
                    <a:pt x="421557" y="262570"/>
                  </a:lnTo>
                  <a:lnTo>
                    <a:pt x="405488" y="307527"/>
                  </a:lnTo>
                  <a:lnTo>
                    <a:pt x="380273" y="347187"/>
                  </a:lnTo>
                  <a:lnTo>
                    <a:pt x="347194" y="380268"/>
                  </a:lnTo>
                  <a:lnTo>
                    <a:pt x="307535" y="405485"/>
                  </a:lnTo>
                  <a:lnTo>
                    <a:pt x="262575" y="421556"/>
                  </a:lnTo>
                  <a:lnTo>
                    <a:pt x="213599" y="42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725C8DAC-8186-01B2-DB0E-49D76E37068E}"/>
                </a:ext>
              </a:extLst>
            </p:cNvPr>
            <p:cNvSpPr/>
            <p:nvPr/>
          </p:nvSpPr>
          <p:spPr>
            <a:xfrm>
              <a:off x="890548" y="2985893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5" h="427354">
                  <a:moveTo>
                    <a:pt x="0" y="213599"/>
                  </a:moveTo>
                  <a:lnTo>
                    <a:pt x="5641" y="164620"/>
                  </a:lnTo>
                  <a:lnTo>
                    <a:pt x="21710" y="119660"/>
                  </a:lnTo>
                  <a:lnTo>
                    <a:pt x="46925" y="80001"/>
                  </a:lnTo>
                  <a:lnTo>
                    <a:pt x="80004" y="46923"/>
                  </a:lnTo>
                  <a:lnTo>
                    <a:pt x="119664" y="21709"/>
                  </a:lnTo>
                  <a:lnTo>
                    <a:pt x="164623" y="5640"/>
                  </a:lnTo>
                  <a:lnTo>
                    <a:pt x="213599" y="0"/>
                  </a:lnTo>
                  <a:lnTo>
                    <a:pt x="266999" y="0"/>
                  </a:lnTo>
                  <a:lnTo>
                    <a:pt x="320399" y="0"/>
                  </a:lnTo>
                  <a:lnTo>
                    <a:pt x="373799" y="0"/>
                  </a:lnTo>
                  <a:lnTo>
                    <a:pt x="427199" y="0"/>
                  </a:lnTo>
                  <a:lnTo>
                    <a:pt x="427199" y="53399"/>
                  </a:lnTo>
                  <a:lnTo>
                    <a:pt x="427199" y="106799"/>
                  </a:lnTo>
                  <a:lnTo>
                    <a:pt x="427199" y="160199"/>
                  </a:lnTo>
                  <a:lnTo>
                    <a:pt x="427199" y="213599"/>
                  </a:lnTo>
                  <a:lnTo>
                    <a:pt x="421557" y="262570"/>
                  </a:lnTo>
                  <a:lnTo>
                    <a:pt x="405488" y="307527"/>
                  </a:lnTo>
                  <a:lnTo>
                    <a:pt x="380273" y="347187"/>
                  </a:lnTo>
                  <a:lnTo>
                    <a:pt x="347194" y="380268"/>
                  </a:lnTo>
                  <a:lnTo>
                    <a:pt x="307535" y="405485"/>
                  </a:lnTo>
                  <a:lnTo>
                    <a:pt x="262575" y="421556"/>
                  </a:lnTo>
                  <a:lnTo>
                    <a:pt x="213599" y="427199"/>
                  </a:lnTo>
                  <a:lnTo>
                    <a:pt x="164623" y="421556"/>
                  </a:lnTo>
                  <a:lnTo>
                    <a:pt x="119664" y="405485"/>
                  </a:lnTo>
                  <a:lnTo>
                    <a:pt x="80004" y="380268"/>
                  </a:lnTo>
                  <a:lnTo>
                    <a:pt x="46925" y="347187"/>
                  </a:lnTo>
                  <a:lnTo>
                    <a:pt x="21710" y="307527"/>
                  </a:lnTo>
                  <a:lnTo>
                    <a:pt x="5641" y="262570"/>
                  </a:lnTo>
                  <a:lnTo>
                    <a:pt x="0" y="213599"/>
                  </a:lnTo>
                  <a:close/>
                </a:path>
              </a:pathLst>
            </a:custGeom>
            <a:ln w="12699">
              <a:solidFill>
                <a:srgbClr val="F2BA42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pic>
          <p:nvPicPr>
            <p:cNvPr id="15" name="object 12">
              <a:extLst>
                <a:ext uri="{FF2B5EF4-FFF2-40B4-BE49-F238E27FC236}">
                  <a16:creationId xmlns:a16="http://schemas.microsoft.com/office/drawing/2014/main" id="{926BF41F-B830-7DCC-53BA-04EEB00085B2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938853" y="3034193"/>
              <a:ext cx="330299" cy="330299"/>
            </a:xfrm>
            <a:prstGeom prst="rect">
              <a:avLst/>
            </a:prstGeom>
          </p:spPr>
        </p:pic>
      </p:grpSp>
      <p:sp>
        <p:nvSpPr>
          <p:cNvPr id="18" name="object 13">
            <a:extLst>
              <a:ext uri="{FF2B5EF4-FFF2-40B4-BE49-F238E27FC236}">
                <a16:creationId xmlns:a16="http://schemas.microsoft.com/office/drawing/2014/main" id="{FBEFFAD7-0E50-D951-B08F-1ECD468AF8F4}"/>
              </a:ext>
            </a:extLst>
          </p:cNvPr>
          <p:cNvSpPr txBox="1"/>
          <p:nvPr/>
        </p:nvSpPr>
        <p:spPr>
          <a:xfrm>
            <a:off x="1825667" y="4697305"/>
            <a:ext cx="1303020" cy="597745"/>
          </a:xfrm>
          <a:prstGeom prst="rect">
            <a:avLst/>
          </a:prstGeom>
        </p:spPr>
        <p:txBody>
          <a:bodyPr vert="horz" wrap="square" lIns="0" tIns="30480" rIns="0" bIns="0" rtlCol="0">
            <a:noAutofit/>
          </a:bodyPr>
          <a:lstStyle/>
          <a:p>
            <a:pPr marL="16933" marR="6773" rtl="0">
              <a:lnSpc>
                <a:spcPts val="2200"/>
              </a:lnSpc>
              <a:spcBef>
                <a:spcPts val="240"/>
              </a:spcBef>
            </a:pPr>
            <a:r>
              <a:rPr lang="en" sz="1867" b="0" i="0" u="none" strike="noStrike">
                <a:solidFill>
                  <a:srgbClr val="999999"/>
                </a:solidFill>
                <a:latin typeface="Carlito"/>
                <a:cs typeface="Carlito"/>
              </a:rPr>
              <a:t>Google script gtag.js</a:t>
            </a:r>
            <a:endParaRPr sz="1867">
              <a:latin typeface="Carlito"/>
              <a:cs typeface="Carlito"/>
            </a:endParaRPr>
          </a:p>
        </p:txBody>
      </p:sp>
      <p:grpSp>
        <p:nvGrpSpPr>
          <p:cNvPr id="22" name="object 14">
            <a:extLst>
              <a:ext uri="{FF2B5EF4-FFF2-40B4-BE49-F238E27FC236}">
                <a16:creationId xmlns:a16="http://schemas.microsoft.com/office/drawing/2014/main" id="{324921F3-CA0A-5801-F4E2-CF49AD2A1DC6}"/>
              </a:ext>
            </a:extLst>
          </p:cNvPr>
          <p:cNvGrpSpPr/>
          <p:nvPr/>
        </p:nvGrpSpPr>
        <p:grpSpPr>
          <a:xfrm>
            <a:off x="5187790" y="2926493"/>
            <a:ext cx="1142153" cy="1518533"/>
            <a:chOff x="3890842" y="1833481"/>
            <a:chExt cx="856615" cy="1138900"/>
          </a:xfrm>
        </p:grpSpPr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7EEFADC9-1838-9013-8AF4-2CB265DC6235}"/>
                </a:ext>
              </a:extLst>
            </p:cNvPr>
            <p:cNvSpPr/>
            <p:nvPr/>
          </p:nvSpPr>
          <p:spPr>
            <a:xfrm>
              <a:off x="3890842" y="1940506"/>
              <a:ext cx="856615" cy="1031875"/>
            </a:xfrm>
            <a:custGeom>
              <a:avLst/>
              <a:gdLst/>
              <a:ahLst/>
              <a:cxnLst/>
              <a:rect l="l" t="t" r="r" b="b"/>
              <a:pathLst>
                <a:path w="856614" h="1031875">
                  <a:moveTo>
                    <a:pt x="428099" y="1031762"/>
                  </a:moveTo>
                  <a:lnTo>
                    <a:pt x="358661" y="1030362"/>
                  </a:lnTo>
                  <a:lnTo>
                    <a:pt x="292789" y="1026308"/>
                  </a:lnTo>
                  <a:lnTo>
                    <a:pt x="231366" y="1019820"/>
                  </a:lnTo>
                  <a:lnTo>
                    <a:pt x="175272" y="1011118"/>
                  </a:lnTo>
                  <a:lnTo>
                    <a:pt x="125390" y="1000422"/>
                  </a:lnTo>
                  <a:lnTo>
                    <a:pt x="82600" y="987952"/>
                  </a:lnTo>
                  <a:lnTo>
                    <a:pt x="21825" y="958572"/>
                  </a:lnTo>
                  <a:lnTo>
                    <a:pt x="0" y="924738"/>
                  </a:lnTo>
                  <a:lnTo>
                    <a:pt x="0" y="0"/>
                  </a:lnTo>
                  <a:lnTo>
                    <a:pt x="5603" y="17360"/>
                  </a:lnTo>
                  <a:lnTo>
                    <a:pt x="21825" y="33828"/>
                  </a:lnTo>
                  <a:lnTo>
                    <a:pt x="82600" y="63208"/>
                  </a:lnTo>
                  <a:lnTo>
                    <a:pt x="125390" y="75678"/>
                  </a:lnTo>
                  <a:lnTo>
                    <a:pt x="175272" y="86375"/>
                  </a:lnTo>
                  <a:lnTo>
                    <a:pt x="231366" y="95079"/>
                  </a:lnTo>
                  <a:lnTo>
                    <a:pt x="292789" y="101568"/>
                  </a:lnTo>
                  <a:lnTo>
                    <a:pt x="358661" y="105624"/>
                  </a:lnTo>
                  <a:lnTo>
                    <a:pt x="428099" y="107024"/>
                  </a:lnTo>
                  <a:lnTo>
                    <a:pt x="497537" y="105624"/>
                  </a:lnTo>
                  <a:lnTo>
                    <a:pt x="563408" y="101568"/>
                  </a:lnTo>
                  <a:lnTo>
                    <a:pt x="624831" y="95079"/>
                  </a:lnTo>
                  <a:lnTo>
                    <a:pt x="680925" y="86375"/>
                  </a:lnTo>
                  <a:lnTo>
                    <a:pt x="730807" y="75678"/>
                  </a:lnTo>
                  <a:lnTo>
                    <a:pt x="773597" y="63208"/>
                  </a:lnTo>
                  <a:lnTo>
                    <a:pt x="834372" y="33828"/>
                  </a:lnTo>
                  <a:lnTo>
                    <a:pt x="856198" y="0"/>
                  </a:lnTo>
                  <a:lnTo>
                    <a:pt x="856198" y="924738"/>
                  </a:lnTo>
                  <a:lnTo>
                    <a:pt x="834372" y="958572"/>
                  </a:lnTo>
                  <a:lnTo>
                    <a:pt x="773597" y="987952"/>
                  </a:lnTo>
                  <a:lnTo>
                    <a:pt x="730807" y="1000422"/>
                  </a:lnTo>
                  <a:lnTo>
                    <a:pt x="680925" y="1011118"/>
                  </a:lnTo>
                  <a:lnTo>
                    <a:pt x="624831" y="1019820"/>
                  </a:lnTo>
                  <a:lnTo>
                    <a:pt x="563408" y="1026308"/>
                  </a:lnTo>
                  <a:lnTo>
                    <a:pt x="497537" y="1030362"/>
                  </a:lnTo>
                  <a:lnTo>
                    <a:pt x="428099" y="1031762"/>
                  </a:lnTo>
                  <a:close/>
                </a:path>
              </a:pathLst>
            </a:custGeom>
            <a:solidFill>
              <a:srgbClr val="F2BA42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7BDCA67B-194B-EBA6-1BB1-9E642178598C}"/>
                </a:ext>
              </a:extLst>
            </p:cNvPr>
            <p:cNvSpPr/>
            <p:nvPr/>
          </p:nvSpPr>
          <p:spPr>
            <a:xfrm>
              <a:off x="3890842" y="1833481"/>
              <a:ext cx="856615" cy="214629"/>
            </a:xfrm>
            <a:custGeom>
              <a:avLst/>
              <a:gdLst/>
              <a:ahLst/>
              <a:cxnLst/>
              <a:rect l="l" t="t" r="r" b="b"/>
              <a:pathLst>
                <a:path w="856614" h="214629">
                  <a:moveTo>
                    <a:pt x="428099" y="214049"/>
                  </a:moveTo>
                  <a:lnTo>
                    <a:pt x="358661" y="212648"/>
                  </a:lnTo>
                  <a:lnTo>
                    <a:pt x="292789" y="208593"/>
                  </a:lnTo>
                  <a:lnTo>
                    <a:pt x="231366" y="202103"/>
                  </a:lnTo>
                  <a:lnTo>
                    <a:pt x="175272" y="193400"/>
                  </a:lnTo>
                  <a:lnTo>
                    <a:pt x="125390" y="182703"/>
                  </a:lnTo>
                  <a:lnTo>
                    <a:pt x="82600" y="170232"/>
                  </a:lnTo>
                  <a:lnTo>
                    <a:pt x="21825" y="140853"/>
                  </a:lnTo>
                  <a:lnTo>
                    <a:pt x="0" y="107024"/>
                  </a:lnTo>
                  <a:lnTo>
                    <a:pt x="5603" y="89664"/>
                  </a:lnTo>
                  <a:lnTo>
                    <a:pt x="47785" y="57841"/>
                  </a:lnTo>
                  <a:lnTo>
                    <a:pt x="125390" y="31347"/>
                  </a:lnTo>
                  <a:lnTo>
                    <a:pt x="175272" y="20649"/>
                  </a:lnTo>
                  <a:lnTo>
                    <a:pt x="231366" y="11946"/>
                  </a:lnTo>
                  <a:lnTo>
                    <a:pt x="292789" y="5456"/>
                  </a:lnTo>
                  <a:lnTo>
                    <a:pt x="358661" y="1400"/>
                  </a:lnTo>
                  <a:lnTo>
                    <a:pt x="428099" y="0"/>
                  </a:lnTo>
                  <a:lnTo>
                    <a:pt x="497537" y="1400"/>
                  </a:lnTo>
                  <a:lnTo>
                    <a:pt x="563408" y="5456"/>
                  </a:lnTo>
                  <a:lnTo>
                    <a:pt x="624831" y="11946"/>
                  </a:lnTo>
                  <a:lnTo>
                    <a:pt x="680925" y="20649"/>
                  </a:lnTo>
                  <a:lnTo>
                    <a:pt x="730807" y="31347"/>
                  </a:lnTo>
                  <a:lnTo>
                    <a:pt x="773597" y="43817"/>
                  </a:lnTo>
                  <a:lnTo>
                    <a:pt x="834372" y="73196"/>
                  </a:lnTo>
                  <a:lnTo>
                    <a:pt x="856198" y="107024"/>
                  </a:lnTo>
                  <a:lnTo>
                    <a:pt x="850594" y="124385"/>
                  </a:lnTo>
                  <a:lnTo>
                    <a:pt x="808413" y="156209"/>
                  </a:lnTo>
                  <a:lnTo>
                    <a:pt x="730807" y="182703"/>
                  </a:lnTo>
                  <a:lnTo>
                    <a:pt x="680925" y="193400"/>
                  </a:lnTo>
                  <a:lnTo>
                    <a:pt x="624831" y="202103"/>
                  </a:lnTo>
                  <a:lnTo>
                    <a:pt x="563408" y="208593"/>
                  </a:lnTo>
                  <a:lnTo>
                    <a:pt x="497537" y="212648"/>
                  </a:lnTo>
                  <a:lnTo>
                    <a:pt x="428099" y="214049"/>
                  </a:lnTo>
                  <a:close/>
                </a:path>
              </a:pathLst>
            </a:custGeom>
            <a:solidFill>
              <a:srgbClr val="F6D48C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</p:grpSp>
      <p:sp>
        <p:nvSpPr>
          <p:cNvPr id="24" name="object 17">
            <a:extLst>
              <a:ext uri="{FF2B5EF4-FFF2-40B4-BE49-F238E27FC236}">
                <a16:creationId xmlns:a16="http://schemas.microsoft.com/office/drawing/2014/main" id="{2DCD8B5B-9186-7F83-076D-4F9937A53EA2}"/>
              </a:ext>
            </a:extLst>
          </p:cNvPr>
          <p:cNvSpPr txBox="1"/>
          <p:nvPr/>
        </p:nvSpPr>
        <p:spPr>
          <a:xfrm>
            <a:off x="5362593" y="3451223"/>
            <a:ext cx="791633" cy="597745"/>
          </a:xfrm>
          <a:prstGeom prst="rect">
            <a:avLst/>
          </a:prstGeom>
        </p:spPr>
        <p:txBody>
          <a:bodyPr vert="horz" wrap="square" lIns="0" tIns="30480" rIns="0" bIns="0" rtlCol="0">
            <a:noAutofit/>
          </a:bodyPr>
          <a:lstStyle/>
          <a:p>
            <a:pPr marL="47412" marR="6773" indent="-31326" rtl="0">
              <a:lnSpc>
                <a:spcPts val="2200"/>
              </a:lnSpc>
              <a:spcBef>
                <a:spcPts val="240"/>
              </a:spcBef>
            </a:pPr>
            <a:r>
              <a:rPr lang="en" sz="1867" b="1" i="0" u="none" strike="noStrike" spc="-13" dirty="0">
                <a:solidFill>
                  <a:srgbClr val="FFFFFF"/>
                </a:solidFill>
                <a:latin typeface="Carlito"/>
                <a:cs typeface="Carlito"/>
              </a:rPr>
              <a:t>Google server</a:t>
            </a:r>
            <a:endParaRPr sz="1867" dirty="0">
              <a:latin typeface="Carlito"/>
              <a:cs typeface="Carlito"/>
            </a:endParaRPr>
          </a:p>
        </p:txBody>
      </p:sp>
      <p:grpSp>
        <p:nvGrpSpPr>
          <p:cNvPr id="30" name="object 18">
            <a:extLst>
              <a:ext uri="{FF2B5EF4-FFF2-40B4-BE49-F238E27FC236}">
                <a16:creationId xmlns:a16="http://schemas.microsoft.com/office/drawing/2014/main" id="{72B39EDB-B197-7C02-BAC9-F427D0CBE1BA}"/>
              </a:ext>
            </a:extLst>
          </p:cNvPr>
          <p:cNvGrpSpPr/>
          <p:nvPr/>
        </p:nvGrpSpPr>
        <p:grpSpPr>
          <a:xfrm>
            <a:off x="6516487" y="2567750"/>
            <a:ext cx="2044228" cy="633273"/>
            <a:chOff x="4887365" y="2085895"/>
            <a:chExt cx="1533171" cy="633273"/>
          </a:xfrm>
        </p:grpSpPr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BBB096F6-469F-6ED7-DF6C-E571A46F1110}"/>
                </a:ext>
              </a:extLst>
            </p:cNvPr>
            <p:cNvSpPr/>
            <p:nvPr/>
          </p:nvSpPr>
          <p:spPr>
            <a:xfrm>
              <a:off x="4968915" y="2402930"/>
              <a:ext cx="1259840" cy="0"/>
            </a:xfrm>
            <a:custGeom>
              <a:avLst/>
              <a:gdLst/>
              <a:ahLst/>
              <a:cxnLst/>
              <a:rect l="l" t="t" r="r" b="b"/>
              <a:pathLst>
                <a:path w="1259839">
                  <a:moveTo>
                    <a:pt x="0" y="0"/>
                  </a:moveTo>
                  <a:lnTo>
                    <a:pt x="1259672" y="0"/>
                  </a:lnTo>
                </a:path>
              </a:pathLst>
            </a:custGeom>
            <a:ln w="38099">
              <a:solidFill>
                <a:srgbClr val="E81C62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pic>
          <p:nvPicPr>
            <p:cNvPr id="27" name="object 20">
              <a:extLst>
                <a:ext uri="{FF2B5EF4-FFF2-40B4-BE49-F238E27FC236}">
                  <a16:creationId xmlns:a16="http://schemas.microsoft.com/office/drawing/2014/main" id="{A91FA994-847F-7195-6515-8D99C844D7D5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4887365" y="2352637"/>
              <a:ext cx="100599" cy="100584"/>
            </a:xfrm>
            <a:prstGeom prst="rect">
              <a:avLst/>
            </a:prstGeom>
          </p:spPr>
        </p:pic>
        <p:pic>
          <p:nvPicPr>
            <p:cNvPr id="28" name="object 21">
              <a:extLst>
                <a:ext uri="{FF2B5EF4-FFF2-40B4-BE49-F238E27FC236}">
                  <a16:creationId xmlns:a16="http://schemas.microsoft.com/office/drawing/2014/main" id="{297369DF-8BAE-6DB8-92B3-4A08A0F9AA89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6209537" y="2320950"/>
              <a:ext cx="210999" cy="163962"/>
            </a:xfrm>
            <a:prstGeom prst="rect">
              <a:avLst/>
            </a:prstGeom>
          </p:spPr>
        </p:pic>
        <p:pic>
          <p:nvPicPr>
            <p:cNvPr id="29" name="object 22">
              <a:extLst>
                <a:ext uri="{FF2B5EF4-FFF2-40B4-BE49-F238E27FC236}">
                  <a16:creationId xmlns:a16="http://schemas.microsoft.com/office/drawing/2014/main" id="{3B61D3AC-9977-A4B8-F5FC-E83355663CFA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139039" y="2085895"/>
              <a:ext cx="633273" cy="633273"/>
            </a:xfrm>
            <a:prstGeom prst="rect">
              <a:avLst/>
            </a:prstGeom>
          </p:spPr>
        </p:pic>
      </p:grpSp>
      <p:sp>
        <p:nvSpPr>
          <p:cNvPr id="32" name="object 23">
            <a:extLst>
              <a:ext uri="{FF2B5EF4-FFF2-40B4-BE49-F238E27FC236}">
                <a16:creationId xmlns:a16="http://schemas.microsoft.com/office/drawing/2014/main" id="{EB2ACFCC-998D-165D-83C7-C26ACA9B9C94}"/>
              </a:ext>
            </a:extLst>
          </p:cNvPr>
          <p:cNvSpPr txBox="1"/>
          <p:nvPr/>
        </p:nvSpPr>
        <p:spPr>
          <a:xfrm>
            <a:off x="6955318" y="3399406"/>
            <a:ext cx="834813" cy="485987"/>
          </a:xfrm>
          <a:prstGeom prst="rect">
            <a:avLst/>
          </a:prstGeom>
        </p:spPr>
        <p:txBody>
          <a:bodyPr vert="horz" wrap="square" lIns="0" tIns="11853" rIns="0" bIns="0" rtlCol="0">
            <a:noAutofit/>
          </a:bodyPr>
          <a:lstStyle/>
          <a:p>
            <a:pPr marL="16933" marR="6773" rtl="0">
              <a:lnSpc>
                <a:spcPct val="102299"/>
              </a:lnSpc>
              <a:spcBef>
                <a:spcPts val="93"/>
              </a:spcBef>
            </a:pPr>
            <a:r>
              <a:rPr lang="en" sz="1467" b="0" i="0" u="none" strike="noStrike" spc="-13">
                <a:solidFill>
                  <a:srgbClr val="999999"/>
                </a:solidFill>
                <a:latin typeface="Carlito"/>
                <a:cs typeface="Carlito"/>
              </a:rPr>
              <a:t>*Data Processing</a:t>
            </a:r>
            <a:endParaRPr sz="1467">
              <a:latin typeface="Carlito"/>
              <a:cs typeface="Carlito"/>
            </a:endParaRPr>
          </a:p>
        </p:txBody>
      </p:sp>
      <p:grpSp>
        <p:nvGrpSpPr>
          <p:cNvPr id="37" name="object 24">
            <a:extLst>
              <a:ext uri="{FF2B5EF4-FFF2-40B4-BE49-F238E27FC236}">
                <a16:creationId xmlns:a16="http://schemas.microsoft.com/office/drawing/2014/main" id="{49B01EC6-C089-5283-37F3-EAC3893EA1F0}"/>
              </a:ext>
            </a:extLst>
          </p:cNvPr>
          <p:cNvGrpSpPr/>
          <p:nvPr/>
        </p:nvGrpSpPr>
        <p:grpSpPr>
          <a:xfrm>
            <a:off x="3349458" y="2787219"/>
            <a:ext cx="1520430" cy="163962"/>
            <a:chOff x="2512094" y="2305370"/>
            <a:chExt cx="1140323" cy="163962"/>
          </a:xfrm>
        </p:grpSpPr>
        <p:sp>
          <p:nvSpPr>
            <p:cNvPr id="34" name="object 25">
              <a:extLst>
                <a:ext uri="{FF2B5EF4-FFF2-40B4-BE49-F238E27FC236}">
                  <a16:creationId xmlns:a16="http://schemas.microsoft.com/office/drawing/2014/main" id="{D3684012-1DA0-6AF8-CE4D-CB6F9EC2E9B9}"/>
                </a:ext>
              </a:extLst>
            </p:cNvPr>
            <p:cNvSpPr/>
            <p:nvPr/>
          </p:nvSpPr>
          <p:spPr>
            <a:xfrm>
              <a:off x="2593619" y="2387350"/>
              <a:ext cx="867410" cy="0"/>
            </a:xfrm>
            <a:custGeom>
              <a:avLst/>
              <a:gdLst/>
              <a:ahLst/>
              <a:cxnLst/>
              <a:rect l="l" t="t" r="r" b="b"/>
              <a:pathLst>
                <a:path w="867410">
                  <a:moveTo>
                    <a:pt x="0" y="0"/>
                  </a:moveTo>
                  <a:lnTo>
                    <a:pt x="866848" y="0"/>
                  </a:lnTo>
                </a:path>
              </a:pathLst>
            </a:custGeom>
            <a:ln w="38099">
              <a:solidFill>
                <a:srgbClr val="E81C62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pic>
          <p:nvPicPr>
            <p:cNvPr id="35" name="object 26">
              <a:extLst>
                <a:ext uri="{FF2B5EF4-FFF2-40B4-BE49-F238E27FC236}">
                  <a16:creationId xmlns:a16="http://schemas.microsoft.com/office/drawing/2014/main" id="{D4F1531A-06EF-D769-0CA9-1810479AD735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2512094" y="2337060"/>
              <a:ext cx="100574" cy="100582"/>
            </a:xfrm>
            <a:prstGeom prst="rect">
              <a:avLst/>
            </a:prstGeom>
          </p:spPr>
        </p:pic>
        <p:pic>
          <p:nvPicPr>
            <p:cNvPr id="36" name="object 27">
              <a:extLst>
                <a:ext uri="{FF2B5EF4-FFF2-40B4-BE49-F238E27FC236}">
                  <a16:creationId xmlns:a16="http://schemas.microsoft.com/office/drawing/2014/main" id="{6A1C68B6-ED56-BF71-9465-D0EDFB724F73}"/>
                </a:ext>
              </a:extLst>
            </p:cNvPr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3441418" y="2305370"/>
              <a:ext cx="210999" cy="163962"/>
            </a:xfrm>
            <a:prstGeom prst="rect">
              <a:avLst/>
            </a:prstGeom>
          </p:spPr>
        </p:pic>
      </p:grpSp>
      <p:sp>
        <p:nvSpPr>
          <p:cNvPr id="39" name="object 28">
            <a:extLst>
              <a:ext uri="{FF2B5EF4-FFF2-40B4-BE49-F238E27FC236}">
                <a16:creationId xmlns:a16="http://schemas.microsoft.com/office/drawing/2014/main" id="{701BFBEF-C74A-B0D7-6A93-D2430244DC3D}"/>
              </a:ext>
            </a:extLst>
          </p:cNvPr>
          <p:cNvSpPr txBox="1"/>
          <p:nvPr/>
        </p:nvSpPr>
        <p:spPr>
          <a:xfrm>
            <a:off x="3516327" y="3751130"/>
            <a:ext cx="889000" cy="257387"/>
          </a:xfrm>
          <a:prstGeom prst="rect">
            <a:avLst/>
          </a:prstGeom>
        </p:spPr>
        <p:txBody>
          <a:bodyPr vert="horz" wrap="square" lIns="0" tIns="16933" rIns="0" bIns="0" rtlCol="0">
            <a:noAutofit/>
          </a:bodyPr>
          <a:lstStyle/>
          <a:p>
            <a:pPr marL="16933" rtl="0">
              <a:lnSpc>
                <a:spcPct val="100000"/>
              </a:lnSpc>
              <a:spcBef>
                <a:spcPts val="133"/>
              </a:spcBef>
            </a:pPr>
            <a:r>
              <a:rPr lang="en" sz="1467" b="0" i="0" u="none" strike="noStrike" spc="-13">
                <a:solidFill>
                  <a:srgbClr val="999999"/>
                </a:solidFill>
                <a:latin typeface="Carlito"/>
                <a:cs typeface="Carlito"/>
              </a:rPr>
              <a:t>Framework</a:t>
            </a:r>
            <a:endParaRPr sz="1467">
              <a:latin typeface="Carlito"/>
              <a:cs typeface="Carlito"/>
            </a:endParaRPr>
          </a:p>
        </p:txBody>
      </p:sp>
      <p:grpSp>
        <p:nvGrpSpPr>
          <p:cNvPr id="43" name="object 29">
            <a:extLst>
              <a:ext uri="{FF2B5EF4-FFF2-40B4-BE49-F238E27FC236}">
                <a16:creationId xmlns:a16="http://schemas.microsoft.com/office/drawing/2014/main" id="{17DC5E22-CC0E-E591-C8AF-65B18CEE9BD8}"/>
              </a:ext>
            </a:extLst>
          </p:cNvPr>
          <p:cNvGrpSpPr/>
          <p:nvPr/>
        </p:nvGrpSpPr>
        <p:grpSpPr>
          <a:xfrm>
            <a:off x="9274980" y="1707224"/>
            <a:ext cx="2916993" cy="5163916"/>
            <a:chOff x="6956235" y="919028"/>
            <a:chExt cx="2187745" cy="3872937"/>
          </a:xfrm>
        </p:grpSpPr>
        <p:pic>
          <p:nvPicPr>
            <p:cNvPr id="41" name="object 30">
              <a:extLst>
                <a:ext uri="{FF2B5EF4-FFF2-40B4-BE49-F238E27FC236}">
                  <a16:creationId xmlns:a16="http://schemas.microsoft.com/office/drawing/2014/main" id="{7BEBD957-DC33-E1D6-0A78-EA3807BC078D}"/>
                </a:ext>
              </a:extLst>
            </p:cNvPr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6956235" y="919028"/>
              <a:ext cx="2187745" cy="3872937"/>
            </a:xfrm>
            <a:prstGeom prst="rect">
              <a:avLst/>
            </a:prstGeom>
          </p:spPr>
        </p:pic>
        <p:pic>
          <p:nvPicPr>
            <p:cNvPr id="42" name="object 31">
              <a:extLst>
                <a:ext uri="{FF2B5EF4-FFF2-40B4-BE49-F238E27FC236}">
                  <a16:creationId xmlns:a16="http://schemas.microsoft.com/office/drawing/2014/main" id="{E843B6E4-64FE-9B26-6005-265F1BEEA8C1}"/>
                </a:ext>
              </a:extLst>
            </p:cNvPr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7167485" y="1179710"/>
              <a:ext cx="1976495" cy="2559832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087FC711-CE0E-F84C-935C-7709119AC24A}"/>
              </a:ext>
            </a:extLst>
          </p:cNvPr>
          <p:cNvSpPr txBox="1"/>
          <p:nvPr/>
        </p:nvSpPr>
        <p:spPr>
          <a:xfrm>
            <a:off x="1468412" y="5888505"/>
            <a:ext cx="54942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dirty="0"/>
              <a:t>Googleu je potrebno do 72 sata za obradu složenih podataka.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560A970-AE4D-76A7-275E-640AE8B8D15E}"/>
              </a:ext>
            </a:extLst>
          </p:cNvPr>
          <p:cNvSpPr txBox="1"/>
          <p:nvPr/>
        </p:nvSpPr>
        <p:spPr>
          <a:xfrm>
            <a:off x="8523603" y="6365822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r-HR" sz="1200" dirty="0">
                <a:latin typeface="Bahnschrift" panose="020B0502040204020203" pitchFamily="34" charset="0"/>
                <a:ea typeface="+mn-lt"/>
                <a:cs typeface="+mn-lt"/>
              </a:rPr>
              <a:t>Izvor</a:t>
            </a:r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</a:rPr>
              <a:t> : Google images en JEMS</a:t>
            </a:r>
            <a:endParaRPr lang="fr-FR" sz="1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433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BAEA-470E-C9A1-3985-51821AA9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Protokol za </a:t>
            </a:r>
            <a:r>
              <a:rPr lang="en-US" dirty="0"/>
              <a:t>Google Analytics 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7A9CF-1CFE-B75B-A065-039247177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Bahnschrift SemiLight"/>
                <a:hlinkClick r:id="rId3"/>
              </a:rPr>
              <a:t>https://analytics.google.com/g/collect?v=2&amp;tid=G-ABC1</a:t>
            </a:r>
            <a:r>
              <a:rPr lang="en-US" dirty="0">
                <a:latin typeface="Bahnschrift SemiLight"/>
              </a:rPr>
              <a:t> 23XYZ&amp;gtm=2oe540&amp;_p=870956342&amp;_z=</a:t>
            </a:r>
            <a:r>
              <a:rPr lang="en-US" dirty="0" err="1">
                <a:latin typeface="Bahnschrift SemiLight"/>
              </a:rPr>
              <a:t>ccd.tbB&amp;gcs</a:t>
            </a:r>
            <a:r>
              <a:rPr lang="en-US" dirty="0">
                <a:latin typeface="Bahnschrift SemiLight"/>
              </a:rPr>
              <a:t>=G1 11&amp;cid=1495324351.1650350633&amp;ul=</a:t>
            </a:r>
            <a:r>
              <a:rPr lang="en-US" dirty="0" err="1">
                <a:latin typeface="Bahnschrift SemiLight"/>
              </a:rPr>
              <a:t>en&amp;sr</a:t>
            </a:r>
            <a:r>
              <a:rPr lang="en-US" dirty="0">
                <a:latin typeface="Bahnschrift SemiLight"/>
              </a:rPr>
              <a:t>=1728x1117&amp;_s= 3&amp;uid=70&amp;sid=1652021896&amp;sct=23&amp;seg=1&amp;dr=https%3a%2 f%2fgoogle.com&amp;dl=https%3A%2F%2Fdomaine.com%2Ffr %2F&amp;dt=titre%20de%20la%20page&amp;en=page_view&amp;up.cr </a:t>
            </a:r>
            <a:r>
              <a:rPr lang="en-US" dirty="0" err="1">
                <a:latin typeface="Bahnschrift SemiLight"/>
              </a:rPr>
              <a:t>m_id</a:t>
            </a:r>
            <a:r>
              <a:rPr lang="en-US" dirty="0">
                <a:latin typeface="Bahnschrift SemiLight"/>
              </a:rPr>
              <a:t>=70&amp;up.user_id=70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98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B93E6-B167-9711-AFB0-66775E600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Protokol za </a:t>
            </a:r>
            <a:r>
              <a:rPr lang="en-US" dirty="0"/>
              <a:t>Google Analytics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A81D1-AD7D-B813-465B-29EFD92A7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0023"/>
            <a:ext cx="5198408" cy="455304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 err="1">
                <a:latin typeface="Bahnschrift SemiLight"/>
              </a:rPr>
              <a:t>sid</a:t>
            </a:r>
            <a:r>
              <a:rPr lang="en-US" dirty="0">
                <a:latin typeface="Bahnschrift SemiLight"/>
              </a:rPr>
              <a:t>=1652077808 </a:t>
            </a:r>
            <a:endParaRPr lang="en-US"/>
          </a:p>
          <a:p>
            <a:r>
              <a:rPr lang="en-US" dirty="0" err="1">
                <a:latin typeface="Bahnschrift SemiLight"/>
              </a:rPr>
              <a:t>sct</a:t>
            </a:r>
            <a:r>
              <a:rPr lang="en-US" dirty="0">
                <a:latin typeface="Bahnschrift SemiLight"/>
              </a:rPr>
              <a:t>=25 </a:t>
            </a:r>
            <a:endParaRPr lang="en-US" dirty="0"/>
          </a:p>
          <a:p>
            <a:r>
              <a:rPr lang="en-US" dirty="0">
                <a:latin typeface="Bahnschrift SemiLight"/>
              </a:rPr>
              <a:t>seg=1 </a:t>
            </a:r>
            <a:endParaRPr lang="en-US"/>
          </a:p>
          <a:p>
            <a:r>
              <a:rPr lang="en-US" dirty="0">
                <a:latin typeface="Bahnschrift SemiLight"/>
              </a:rPr>
              <a:t>dl=https://domaine.com/fr </a:t>
            </a:r>
            <a:endParaRPr lang="en-US"/>
          </a:p>
          <a:p>
            <a:r>
              <a:rPr lang="en-US" dirty="0">
                <a:latin typeface="Bahnschrift SemiLight"/>
              </a:rPr>
              <a:t>dr=https://www.google.com </a:t>
            </a:r>
            <a:endParaRPr lang="en-US"/>
          </a:p>
          <a:p>
            <a:r>
              <a:rPr lang="en-US" dirty="0">
                <a:latin typeface="Bahnschrift SemiLight"/>
              </a:rPr>
              <a:t>dt=Page title </a:t>
            </a:r>
            <a:endParaRPr lang="en-US"/>
          </a:p>
          <a:p>
            <a:r>
              <a:rPr lang="en-US" dirty="0" err="1">
                <a:latin typeface="Bahnschrift SemiLight"/>
              </a:rPr>
              <a:t>en</a:t>
            </a:r>
            <a:r>
              <a:rPr lang="en-US" dirty="0">
                <a:latin typeface="Bahnschrift SemiLight"/>
              </a:rPr>
              <a:t>=</a:t>
            </a:r>
            <a:r>
              <a:rPr lang="en-US" dirty="0" err="1">
                <a:latin typeface="Bahnschrift SemiLight"/>
              </a:rPr>
              <a:t>page_view</a:t>
            </a:r>
            <a:r>
              <a:rPr lang="en-US" dirty="0">
                <a:latin typeface="Bahnschrift SemiLight"/>
              </a:rPr>
              <a:t> </a:t>
            </a:r>
            <a:endParaRPr lang="en-US" dirty="0"/>
          </a:p>
          <a:p>
            <a:r>
              <a:rPr lang="en-US" dirty="0">
                <a:latin typeface="Bahnschrift SemiLight"/>
              </a:rPr>
              <a:t>_ss=1 </a:t>
            </a:r>
            <a:endParaRPr lang="en-US"/>
          </a:p>
          <a:p>
            <a:r>
              <a:rPr lang="en-US" dirty="0" err="1">
                <a:latin typeface="Bahnschrift SemiLight"/>
              </a:rPr>
              <a:t>up.crm_id</a:t>
            </a:r>
            <a:r>
              <a:rPr lang="en-US" dirty="0">
                <a:latin typeface="Bahnschrift SemiLight"/>
              </a:rPr>
              <a:t>=70 </a:t>
            </a:r>
            <a:endParaRPr lang="en-US" dirty="0"/>
          </a:p>
          <a:p>
            <a:r>
              <a:rPr lang="en-US" dirty="0" err="1">
                <a:latin typeface="Bahnschrift SemiLight"/>
              </a:rPr>
              <a:t>up.user_id</a:t>
            </a:r>
            <a:r>
              <a:rPr lang="en-US" dirty="0">
                <a:latin typeface="Bahnschrift SemiLight"/>
              </a:rPr>
              <a:t>=70 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9F2EB3-C800-3D66-56F1-98CA2258FE6A}"/>
              </a:ext>
            </a:extLst>
          </p:cNvPr>
          <p:cNvSpPr txBox="1">
            <a:spLocks/>
          </p:cNvSpPr>
          <p:nvPr/>
        </p:nvSpPr>
        <p:spPr>
          <a:xfrm>
            <a:off x="6078072" y="1815540"/>
            <a:ext cx="4957481" cy="442977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hnschrift SemiLight"/>
              </a:rPr>
              <a:t>Session Id </a:t>
            </a:r>
          </a:p>
          <a:p>
            <a:r>
              <a:rPr lang="en-US" dirty="0">
                <a:latin typeface="Bahnschrift SemiLight"/>
              </a:rPr>
              <a:t>Session Count </a:t>
            </a:r>
            <a:endParaRPr lang="en-US" dirty="0"/>
          </a:p>
          <a:p>
            <a:r>
              <a:rPr lang="en-US" dirty="0">
                <a:latin typeface="Bahnschrift SemiLight"/>
              </a:rPr>
              <a:t>Session Engagement (1=true) </a:t>
            </a:r>
            <a:endParaRPr lang="en-US" dirty="0"/>
          </a:p>
          <a:p>
            <a:r>
              <a:rPr lang="en-US" dirty="0">
                <a:latin typeface="Bahnschrift SemiLight"/>
              </a:rPr>
              <a:t>Document Location </a:t>
            </a:r>
            <a:endParaRPr lang="en-US" dirty="0"/>
          </a:p>
          <a:p>
            <a:r>
              <a:rPr lang="en-US" dirty="0">
                <a:latin typeface="Bahnschrift SemiLight"/>
              </a:rPr>
              <a:t>Document Referrer </a:t>
            </a:r>
            <a:endParaRPr lang="en-US" dirty="0"/>
          </a:p>
          <a:p>
            <a:r>
              <a:rPr lang="en-US" dirty="0">
                <a:latin typeface="Bahnschrift SemiLight"/>
              </a:rPr>
              <a:t>Document Title </a:t>
            </a:r>
            <a:endParaRPr lang="en-US" dirty="0"/>
          </a:p>
          <a:p>
            <a:r>
              <a:rPr lang="en-US" dirty="0">
                <a:latin typeface="Bahnschrift SemiLight"/>
              </a:rPr>
              <a:t>Event Name </a:t>
            </a:r>
            <a:endParaRPr lang="en-US" dirty="0"/>
          </a:p>
          <a:p>
            <a:r>
              <a:rPr lang="en-US" dirty="0">
                <a:latin typeface="Bahnschrift SemiLight"/>
              </a:rPr>
              <a:t>Session Start </a:t>
            </a:r>
            <a:endParaRPr lang="en-US" dirty="0"/>
          </a:p>
          <a:p>
            <a:r>
              <a:rPr lang="en-US" dirty="0">
                <a:latin typeface="Bahnschrift SemiLight"/>
              </a:rPr>
              <a:t>User Property </a:t>
            </a:r>
            <a:endParaRPr lang="en-US" dirty="0"/>
          </a:p>
          <a:p>
            <a:r>
              <a:rPr lang="en-US" dirty="0">
                <a:latin typeface="Bahnschrift SemiLight"/>
              </a:rPr>
              <a:t>User Property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71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A220-2934-E0D0-530F-7940FB1A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Više od</a:t>
            </a:r>
            <a:r>
              <a:rPr lang="en-US" dirty="0"/>
              <a:t> 120 </a:t>
            </a:r>
            <a:r>
              <a:rPr lang="hr-HR" dirty="0"/>
              <a:t>mogućih parametara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C045E-AEBF-BCDE-81D9-A819F3DB5B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Sve informacije iz Google Analytics-a pohranjuju se u kolačić na vašem računalu (pregledniku).</a:t>
            </a:r>
          </a:p>
          <a:p>
            <a:r>
              <a:rPr lang="hr-HR" dirty="0"/>
              <a:t>Na VAŠOJ domeni…</a:t>
            </a:r>
          </a:p>
          <a:p>
            <a:r>
              <a:rPr lang="hr-HR" strike="sngStrike" dirty="0"/>
              <a:t>ili na domeni </a:t>
            </a:r>
            <a:r>
              <a:rPr lang="hr-HR" strike="sngStrike" dirty="0" err="1"/>
              <a:t>doubleclick</a:t>
            </a:r>
            <a:r>
              <a:rPr lang="hr-HR" strike="sngStrike" dirty="0"/>
              <a:t> </a:t>
            </a:r>
            <a:r>
              <a:rPr lang="en-US" dirty="0">
                <a:latin typeface="Bahnschrift SemiLight"/>
              </a:rPr>
              <a:t>(</a:t>
            </a:r>
            <a:r>
              <a:rPr lang="hr-HR" dirty="0">
                <a:latin typeface="Bahnschrift SemiLight"/>
              </a:rPr>
              <a:t>npr. za</a:t>
            </a:r>
            <a:r>
              <a:rPr lang="en-US" dirty="0">
                <a:latin typeface="Bahnschrift SemiLight"/>
              </a:rPr>
              <a:t> remarketing) </a:t>
            </a:r>
          </a:p>
        </p:txBody>
      </p:sp>
      <p:pic>
        <p:nvPicPr>
          <p:cNvPr id="6" name="object 8">
            <a:extLst>
              <a:ext uri="{FF2B5EF4-FFF2-40B4-BE49-F238E27FC236}">
                <a16:creationId xmlns:a16="http://schemas.microsoft.com/office/drawing/2014/main" id="{4B0E9631-EA35-43A4-D0D8-584252071D3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07353" y="1615830"/>
            <a:ext cx="4984623" cy="524215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8581125-D36E-B686-9A36-A0A7B8593D63}"/>
              </a:ext>
            </a:extLst>
          </p:cNvPr>
          <p:cNvSpPr txBox="1"/>
          <p:nvPr/>
        </p:nvSpPr>
        <p:spPr>
          <a:xfrm>
            <a:off x="4800602" y="5842323"/>
            <a:ext cx="27432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r-HR" sz="1200" dirty="0">
                <a:latin typeface="Bahnschrift" panose="020B0502040204020203" pitchFamily="34" charset="0"/>
                <a:ea typeface="+mn-lt"/>
                <a:cs typeface="+mn-lt"/>
              </a:rPr>
              <a:t>Izvor</a:t>
            </a:r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</a:rPr>
              <a:t> </a:t>
            </a:r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  <a:hlinkClick r:id="rId4"/>
              </a:rPr>
              <a:t>https://www.facebook.com/photo.php?fbid=536161219876672&amp;set=a.357162984443164&amp;id=100064069172152</a:t>
            </a:r>
            <a:endParaRPr lang="fr-FR" sz="1200" dirty="0">
              <a:latin typeface="Bahnschrift" panose="020B0502040204020203" pitchFamily="34" charset="0"/>
              <a:ea typeface="+mn-lt"/>
              <a:cs typeface="+mn-lt"/>
            </a:endParaRPr>
          </a:p>
          <a:p>
            <a:endParaRPr lang="fr-FR" sz="1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037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674BA7-9CA6-98BC-AD33-2D257989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Usklađenost s GDPR-om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2D3EBA-73C8-E211-42C9-2B7942E15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2229"/>
          </a:xfrm>
        </p:spPr>
        <p:txBody>
          <a:bodyPr vert="horz" lIns="91440" tIns="45720" rIns="91440" bIns="45720" rtlCol="0" anchor="t">
            <a:normAutofit fontScale="40000" lnSpcReduction="20000"/>
          </a:bodyPr>
          <a:lstStyle/>
          <a:p>
            <a:pPr marL="0" indent="0">
              <a:buNone/>
            </a:pPr>
            <a:r>
              <a:rPr lang="hr-HR" sz="4000" b="1" dirty="0"/>
              <a:t>Što je GDPR?</a:t>
            </a:r>
          </a:p>
          <a:p>
            <a:r>
              <a:rPr lang="hr-HR" sz="4000" dirty="0"/>
              <a:t>Opća uredba o zaštiti podataka (GDPR) zakon je Europske unije koji je na snazi od svibnja 2018.</a:t>
            </a:r>
          </a:p>
          <a:p>
            <a:r>
              <a:rPr lang="hr-HR" sz="4000" dirty="0"/>
              <a:t>Cilj joj je zaštititi osobne podatke i privatnost građana EU-a.</a:t>
            </a:r>
          </a:p>
          <a:p>
            <a:r>
              <a:rPr lang="hr-HR" sz="4000" dirty="0"/>
              <a:t>Ključna načela uključuju: </a:t>
            </a:r>
            <a:r>
              <a:rPr lang="hr-HR" sz="4000" dirty="0" err="1"/>
              <a:t>minimizaciju</a:t>
            </a:r>
            <a:r>
              <a:rPr lang="hr-HR" sz="4000" dirty="0"/>
              <a:t> podataka, izričitu privolu korisnika, transparentnost i pravo na zaborav.</a:t>
            </a:r>
          </a:p>
          <a:p>
            <a:r>
              <a:rPr lang="hr-HR" sz="4000" dirty="0"/>
              <a:t>Primjenjuje se na svaku organizaciju koja obrađuje podatke korisnika iz EU-a, bez obzira na lokaciju.</a:t>
            </a:r>
          </a:p>
          <a:p>
            <a:endParaRPr lang="hr-HR" sz="4000" dirty="0"/>
          </a:p>
          <a:p>
            <a:pPr marL="0" indent="0">
              <a:buNone/>
            </a:pPr>
            <a:r>
              <a:rPr lang="hr-HR" sz="4000" b="1" dirty="0"/>
              <a:t>Google Analytics i izazovi usklađenosti s GDPR-om</a:t>
            </a:r>
          </a:p>
          <a:p>
            <a:r>
              <a:rPr lang="hr-HR" sz="4000" dirty="0"/>
              <a:t>Prijenos podataka u SAD: GA može slati korisničke podatke na poslužitelje u SAD-u, gdje ne vrijedi ista razina zaštite kao u EU-u.</a:t>
            </a:r>
          </a:p>
          <a:p>
            <a:r>
              <a:rPr lang="hr-HR" sz="4000" dirty="0"/>
              <a:t>Korištenje jedinstvenih identifikatora i praćenje IP adresa i dalje se može smatrati osobnim podacima prema GDPR-u.</a:t>
            </a:r>
          </a:p>
          <a:p>
            <a:r>
              <a:rPr lang="hr-HR" sz="4000" dirty="0"/>
              <a:t>Zahtjevi za privolu: za zakonitu upotrebu GA-a potrebna je prethodna, izričita privola korisnika.</a:t>
            </a:r>
          </a:p>
          <a:p>
            <a:r>
              <a:rPr lang="hr-HR" sz="4000" dirty="0"/>
              <a:t>Europski regulatori (npr. CNIL) presudili su da korištenje GA-a nije usklađeno bez snažnih zaštitnih mjera.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08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9EC4-A4E3-50C1-363F-73CF74BD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Osobno identifikacijski podaci</a:t>
            </a:r>
            <a:endParaRPr lang="en-US" dirty="0">
              <a:latin typeface="Bahnschrift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DA81-58D0-4548-DEFA-0D67585622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Bilo koja informacija koja može identificirati pojedinu osobu, čak i ako je šifrirana, ne smije se unositi u Google Analytics.</a:t>
            </a:r>
          </a:p>
          <a:p>
            <a:r>
              <a:rPr lang="hr-HR" dirty="0"/>
              <a:t>GDPR zahtijeva prethodnu privolu korisnika.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75DEC-DF54-3DD3-1826-5B19555408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ea typeface="Calibri"/>
                <a:cs typeface="Calibri"/>
              </a:rPr>
              <a:t>Na primjer</a:t>
            </a:r>
            <a:r>
              <a:rPr lang="en-US" dirty="0">
                <a:ea typeface="Calibri"/>
                <a:cs typeface="Calibri"/>
              </a:rPr>
              <a:t>: </a:t>
            </a:r>
            <a:r>
              <a:rPr lang="en-US" dirty="0">
                <a:ea typeface="+mn-lt"/>
                <a:cs typeface="+mn-lt"/>
              </a:rPr>
              <a:t>122.195.25.144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351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B3534-A926-5263-AC0A-5525F804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Bahnschrift SemiBold"/>
              </a:rPr>
              <a:t>Što je privola</a:t>
            </a:r>
            <a:r>
              <a:rPr lang="en-US" dirty="0">
                <a:latin typeface="Bahnschrift SemiBold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F5B54-E5E1-D6DB-E1DF-549EEC3D5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hr-HR" dirty="0"/>
              <a:t>Privola koju ste dužni dati za postavljanje ili čitanje „nefunkcionalnih” kolačića i drugih sličnih tehnologija mora, kako bi bila valjana, ispunjavati opće uvjete zakonitosti privole propisane GDPR-om.</a:t>
            </a:r>
          </a:p>
          <a:p>
            <a:r>
              <a:rPr lang="hr-HR" dirty="0"/>
              <a:t>Vaša privola mora biti dobivena prije postavljanja ili čitanja kolačića.</a:t>
            </a:r>
          </a:p>
          <a:p>
            <a:r>
              <a:rPr lang="hr-HR" dirty="0"/>
              <a:t>Vaša privola mora biti informirana.</a:t>
            </a:r>
          </a:p>
          <a:p>
            <a:r>
              <a:rPr lang="hr-HR" dirty="0"/>
              <a:t>Vaša privola je valjana samo ako imate stvaran izbor.</a:t>
            </a:r>
          </a:p>
          <a:p>
            <a:r>
              <a:rPr lang="hr-HR" dirty="0"/>
              <a:t>Vaša privola mora biti specifična.</a:t>
            </a:r>
          </a:p>
          <a:p>
            <a:r>
              <a:rPr lang="hr-HR" dirty="0"/>
              <a:t>Morate imati mogućnost povući svoju privolu.</a:t>
            </a:r>
          </a:p>
        </p:txBody>
      </p:sp>
    </p:spTree>
    <p:extLst>
      <p:ext uri="{BB962C8B-B14F-4D97-AF65-F5344CB8AC3E}">
        <p14:creationId xmlns:p14="http://schemas.microsoft.com/office/powerpoint/2010/main" val="2389831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8DA6-8243-8F07-1D2A-349E155C2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Bahnschrift SemiBold"/>
              </a:rPr>
              <a:t>Prednosti i mane</a:t>
            </a:r>
            <a:endParaRPr lang="en-US" dirty="0">
              <a:latin typeface="Bahnschrift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77F50-9478-6059-87D2-67C258A5B0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Bahnschrift SemiLight"/>
              </a:rPr>
              <a:t>Pr</a:t>
            </a:r>
            <a:r>
              <a:rPr lang="hr-HR" dirty="0" err="1">
                <a:latin typeface="Bahnschrift SemiLight"/>
              </a:rPr>
              <a:t>ednosti</a:t>
            </a:r>
            <a:endParaRPr lang="en-US" dirty="0">
              <a:latin typeface="Bahnschrift SemiLigh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hr-HR" dirty="0"/>
              <a:t>Usklađeni ste s GDPR zakonima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hr-HR" dirty="0"/>
              <a:t>Korisnici su zaštićeni</a:t>
            </a:r>
            <a:endParaRPr lang="en-US" dirty="0">
              <a:latin typeface="Bahnschrift SemiLight"/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EE15D-2E48-EE5C-7400-94FDEBD465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70000"/>
              </a:lnSpc>
              <a:buChar char="•"/>
            </a:pPr>
            <a:r>
              <a:rPr lang="hr-HR" dirty="0">
                <a:latin typeface="Bahnschrift SemiLight"/>
                <a:ea typeface="+mn-lt"/>
                <a:cs typeface="+mn-lt"/>
              </a:rPr>
              <a:t>Mane</a:t>
            </a:r>
            <a:r>
              <a:rPr lang="en-US" dirty="0">
                <a:latin typeface="Bahnschrift SemiLight"/>
                <a:ea typeface="+mn-lt"/>
                <a:cs typeface="+mn-lt"/>
              </a:rPr>
              <a:t>: </a:t>
            </a:r>
            <a:r>
              <a:rPr lang="hr-HR" dirty="0">
                <a:latin typeface="Bahnschrift SemiLight"/>
                <a:ea typeface="+mn-lt"/>
                <a:cs typeface="+mn-lt"/>
              </a:rPr>
              <a:t>Ako korisnici odbiju</a:t>
            </a:r>
            <a:r>
              <a:rPr lang="en-US" dirty="0">
                <a:latin typeface="Bahnschrift SemiLight"/>
                <a:ea typeface="+mn-lt"/>
                <a:cs typeface="+mn-lt"/>
              </a:rPr>
              <a:t>, </a:t>
            </a:r>
          </a:p>
          <a:p>
            <a:pPr marL="1143000" lvl="1">
              <a:lnSpc>
                <a:spcPct val="70000"/>
              </a:lnSpc>
              <a:buFont typeface="Courier New" panose="020B0604020202020204" pitchFamily="34" charset="0"/>
              <a:buChar char="o"/>
            </a:pPr>
            <a:r>
              <a:rPr lang="hr-HR" dirty="0"/>
              <a:t>Nemate podatke o praćenju</a:t>
            </a:r>
          </a:p>
          <a:p>
            <a:pPr marL="1143000" lvl="1">
              <a:lnSpc>
                <a:spcPct val="70000"/>
              </a:lnSpc>
              <a:buFont typeface="Courier New" panose="020B0604020202020204" pitchFamily="34" charset="0"/>
              <a:buChar char="o"/>
            </a:pPr>
            <a:r>
              <a:rPr lang="hr-HR" dirty="0"/>
              <a:t>Nema izvora prometa</a:t>
            </a:r>
          </a:p>
          <a:p>
            <a:pPr marL="1143000" lvl="1">
              <a:lnSpc>
                <a:spcPct val="70000"/>
              </a:lnSpc>
              <a:buFont typeface="Courier New" panose="020B0604020202020204" pitchFamily="34" charset="0"/>
              <a:buChar char="o"/>
            </a:pPr>
            <a:r>
              <a:rPr lang="hr-HR" dirty="0"/>
              <a:t>Nema poveznica s plaćenim oglasima</a:t>
            </a:r>
          </a:p>
          <a:p>
            <a:pPr marL="1143000" lvl="1">
              <a:lnSpc>
                <a:spcPct val="70000"/>
              </a:lnSpc>
              <a:buFont typeface="Courier New" panose="020B0604020202020204" pitchFamily="34" charset="0"/>
              <a:buChar char="o"/>
            </a:pPr>
            <a:r>
              <a:rPr lang="hr-HR" dirty="0"/>
              <a:t>Nema praćenja konverzija</a:t>
            </a:r>
          </a:p>
          <a:p>
            <a:pPr marL="1143000" lvl="1">
              <a:lnSpc>
                <a:spcPct val="70000"/>
              </a:lnSpc>
              <a:buFont typeface="Courier New" panose="020B0604020202020204" pitchFamily="34" charset="0"/>
              <a:buChar char="o"/>
            </a:pPr>
            <a:r>
              <a:rPr lang="hr-HR" dirty="0"/>
              <a:t>Ne možete lako uspoređivati razdoblja</a:t>
            </a:r>
            <a:endParaRPr lang="en-US" dirty="0">
              <a:latin typeface="Bahnschrift Semi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287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8717-1A77-4B22-BD34-1CF4A6E8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Odaberite nasumičnu web-stranicu i provjerite je li usklađena s GDPR-om za vašu EU državu</a:t>
            </a:r>
            <a:endParaRPr lang="en-US" dirty="0">
              <a:latin typeface="Bahnschrift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24AEB-D3BD-147D-E0FC-B8DDB354F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Bahnschrift SemiLight"/>
              </a:rPr>
              <a:t>15’ + </a:t>
            </a:r>
            <a:r>
              <a:rPr lang="hr-HR" dirty="0">
                <a:latin typeface="Bahnschrift SemiLight"/>
              </a:rPr>
              <a:t>rasprava</a:t>
            </a:r>
            <a:endParaRPr lang="en-US" dirty="0"/>
          </a:p>
          <a:p>
            <a:r>
              <a:rPr lang="hr-HR" dirty="0">
                <a:latin typeface="Bahnschrift SemiLight"/>
              </a:rPr>
              <a:t>Koristite</a:t>
            </a:r>
            <a:r>
              <a:rPr lang="en-US" dirty="0">
                <a:latin typeface="Bahnschrift SemiLight"/>
              </a:rPr>
              <a:t> Chrome</a:t>
            </a:r>
          </a:p>
          <a:p>
            <a:r>
              <a:rPr lang="en-US" dirty="0">
                <a:latin typeface="Bahnschrift SemiLight"/>
              </a:rPr>
              <a:t>Addon : </a:t>
            </a:r>
            <a:r>
              <a:rPr lang="en-US" dirty="0">
                <a:latin typeface="Bahnschrift SemiLight"/>
                <a:hlinkClick r:id="rId3"/>
              </a:rPr>
              <a:t>https://chromewebstore.google.com/detail/analytics-debugger/ilnpmccnfdjdjjikgkefkcegefikecdc</a:t>
            </a:r>
            <a:r>
              <a:rPr lang="en-US" dirty="0">
                <a:latin typeface="Bahnschrift SemiLight"/>
              </a:rPr>
              <a:t> </a:t>
            </a:r>
            <a:endParaRPr lang="en-US" dirty="0"/>
          </a:p>
          <a:p>
            <a:r>
              <a:rPr lang="en-US" dirty="0">
                <a:latin typeface="Bahnschrift SemiLight"/>
              </a:rPr>
              <a:t>Addon : </a:t>
            </a:r>
            <a:r>
              <a:rPr lang="en-US" dirty="0">
                <a:latin typeface="Bahnschrift SemiLight"/>
                <a:hlinkClick r:id="rId4"/>
              </a:rPr>
              <a:t>https://chromewebstore.google.com/detail/editthiscookie-v3/ojfebgpkimhlhcblbalbfjblapadhbol</a:t>
            </a:r>
            <a:r>
              <a:rPr lang="en-US" dirty="0">
                <a:latin typeface="Bahnschrift SemiLight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91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5DB7-4A10-830C-C6C3-B5FD1DB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Privola: tehnička razmatranja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9089C-20E5-B85E-FC94-FDF2761B7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>
                <a:latin typeface="Bahnschrift SemiLight"/>
              </a:rPr>
              <a:t>Status Google privole </a:t>
            </a:r>
            <a:r>
              <a:rPr lang="en-US" dirty="0">
                <a:latin typeface="Bahnschrift SemiLight"/>
              </a:rPr>
              <a:t>(G1xx)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A8AA0A-AB30-2ABD-31EB-986F0BC36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180687"/>
              </p:ext>
            </p:extLst>
          </p:nvPr>
        </p:nvGraphicFramePr>
        <p:xfrm>
          <a:off x="1289578" y="2400300"/>
          <a:ext cx="7138155" cy="348682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83011">
                  <a:extLst>
                    <a:ext uri="{9D8B030D-6E8A-4147-A177-3AD203B41FA5}">
                      <a16:colId xmlns:a16="http://schemas.microsoft.com/office/drawing/2014/main" val="2575216028"/>
                    </a:ext>
                  </a:extLst>
                </a:gridCol>
                <a:gridCol w="6355144">
                  <a:extLst>
                    <a:ext uri="{9D8B030D-6E8A-4147-A177-3AD203B41FA5}">
                      <a16:colId xmlns:a16="http://schemas.microsoft.com/office/drawing/2014/main" val="3033639088"/>
                    </a:ext>
                  </a:extLst>
                </a:gridCol>
              </a:tblGrid>
              <a:tr h="580292"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125"/>
                        </a:lnSpc>
                      </a:pPr>
                      <a:r>
                        <a:rPr lang="en-US" sz="1500" b="1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Value</a:t>
                      </a:r>
                      <a:endParaRPr lang="en-US" dirty="0">
                        <a:effectLst/>
                        <a:latin typeface="Bahnschrift SemiLight"/>
                      </a:endParaRPr>
                    </a:p>
                  </a:txBody>
                  <a:tcPr marT="535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</a:pPr>
                      <a:r>
                        <a:rPr lang="en-US" sz="1500" b="1" dirty="0">
                          <a:solidFill>
                            <a:srgbClr val="178038"/>
                          </a:solidFill>
                          <a:effectLst/>
                          <a:latin typeface="Bahnschrift SemiLight"/>
                        </a:rPr>
                        <a:t>Meaning</a:t>
                      </a:r>
                      <a:endParaRPr lang="en-US" dirty="0">
                        <a:effectLst/>
                        <a:latin typeface="Bahnschrift SemiLight"/>
                      </a:endParaRPr>
                    </a:p>
                  </a:txBody>
                  <a:tcPr marT="535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906353"/>
                  </a:ext>
                </a:extLst>
              </a:tr>
              <a:tr h="620290"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125"/>
                        </a:lnSpc>
                      </a:pPr>
                      <a:r>
                        <a:rPr lang="en-US" sz="1500" b="1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G100</a:t>
                      </a:r>
                      <a:endParaRPr lang="en-US" dirty="0">
                        <a:effectLst/>
                        <a:latin typeface="Bahnschrift SemiLight"/>
                      </a:endParaRPr>
                    </a:p>
                  </a:txBody>
                  <a:tcPr marT="958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</a:pP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Consent for both </a:t>
                      </a:r>
                      <a:r>
                        <a:rPr lang="en-US" sz="1500" dirty="0" err="1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ad_storage</a:t>
                      </a: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 and </a:t>
                      </a:r>
                      <a:r>
                        <a:rPr lang="en-US" sz="1500" dirty="0" err="1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analytics_storage</a:t>
                      </a: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 is denied.</a:t>
                      </a:r>
                      <a:endParaRPr lang="en-US" dirty="0">
                        <a:effectLst/>
                        <a:latin typeface="Bahnschrift SemiLight"/>
                      </a:endParaRPr>
                    </a:p>
                  </a:txBody>
                  <a:tcPr marT="958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78681"/>
                  </a:ext>
                </a:extLst>
              </a:tr>
              <a:tr h="584853"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125"/>
                        </a:lnSpc>
                      </a:pPr>
                      <a:r>
                        <a:rPr lang="en-US" sz="1500" b="1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G110</a:t>
                      </a:r>
                      <a:endParaRPr lang="en-US" dirty="0">
                        <a:effectLst/>
                        <a:latin typeface="Bahnschrift SemiLight"/>
                      </a:endParaRPr>
                    </a:p>
                  </a:txBody>
                  <a:tcPr marT="79791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</a:pP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Consent is granted for </a:t>
                      </a:r>
                      <a:r>
                        <a:rPr lang="en-US" sz="1500" dirty="0" err="1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ad_storage</a:t>
                      </a: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 and denied for </a:t>
                      </a:r>
                      <a:r>
                        <a:rPr lang="en-US" sz="1500" dirty="0" err="1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analytics_storage</a:t>
                      </a: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.</a:t>
                      </a:r>
                      <a:endParaRPr lang="en-US" dirty="0">
                        <a:effectLst/>
                        <a:latin typeface="Bahnschrift SemiLight"/>
                      </a:endParaRPr>
                    </a:p>
                  </a:txBody>
                  <a:tcPr marT="79791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850995"/>
                  </a:ext>
                </a:extLst>
              </a:tr>
              <a:tr h="584853"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125"/>
                        </a:lnSpc>
                      </a:pPr>
                      <a:r>
                        <a:rPr lang="en-US" sz="1500" b="1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G101</a:t>
                      </a:r>
                      <a:endParaRPr lang="en-US" dirty="0">
                        <a:effectLst/>
                        <a:latin typeface="Bahnschrift SemiLight"/>
                      </a:endParaRPr>
                    </a:p>
                  </a:txBody>
                  <a:tcPr marT="79791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</a:pP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Consent is denied for </a:t>
                      </a:r>
                      <a:r>
                        <a:rPr lang="en-US" sz="1500" dirty="0" err="1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ad_storage</a:t>
                      </a: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 and granted for </a:t>
                      </a:r>
                      <a:r>
                        <a:rPr lang="en-US" sz="1500" dirty="0" err="1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analytics_storage</a:t>
                      </a: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.</a:t>
                      </a:r>
                      <a:endParaRPr lang="en-US" dirty="0">
                        <a:effectLst/>
                        <a:latin typeface="Bahnschrift SemiLight"/>
                      </a:endParaRPr>
                    </a:p>
                  </a:txBody>
                  <a:tcPr marT="79791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399829"/>
                  </a:ext>
                </a:extLst>
              </a:tr>
              <a:tr h="584853"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125"/>
                        </a:lnSpc>
                      </a:pPr>
                      <a:r>
                        <a:rPr lang="en-US" sz="1500" b="1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G111</a:t>
                      </a:r>
                      <a:endParaRPr lang="en-US" dirty="0">
                        <a:effectLst/>
                        <a:latin typeface="Bahnschrift SemiLight"/>
                      </a:endParaRPr>
                    </a:p>
                  </a:txBody>
                  <a:tcPr marT="79791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</a:pP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Consent for both </a:t>
                      </a:r>
                      <a:r>
                        <a:rPr lang="en-US" sz="1500" dirty="0" err="1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ad_storage</a:t>
                      </a: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 and </a:t>
                      </a:r>
                      <a:r>
                        <a:rPr lang="en-US" sz="1500" dirty="0" err="1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analytics_storage</a:t>
                      </a: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 is granted.</a:t>
                      </a:r>
                      <a:endParaRPr lang="en-US" dirty="0">
                        <a:effectLst/>
                        <a:latin typeface="Bahnschrift SemiLight"/>
                      </a:endParaRPr>
                    </a:p>
                  </a:txBody>
                  <a:tcPr marT="79791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981167"/>
                  </a:ext>
                </a:extLst>
              </a:tr>
              <a:tr h="531680"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803"/>
                        </a:lnSpc>
                      </a:pPr>
                      <a:r>
                        <a:rPr lang="en-US" sz="1500" b="1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G1--</a:t>
                      </a:r>
                      <a:endParaRPr lang="en-US" dirty="0">
                        <a:effectLst/>
                        <a:latin typeface="Bahnschrift SemiLight"/>
                      </a:endParaRPr>
                    </a:p>
                  </a:txBody>
                  <a:tcPr marT="79791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803"/>
                        </a:lnSpc>
                      </a:pP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The site did not require consent for </a:t>
                      </a:r>
                      <a:r>
                        <a:rPr lang="en-US" sz="1500" dirty="0" err="1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ad_storage</a:t>
                      </a: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 or </a:t>
                      </a:r>
                      <a:r>
                        <a:rPr lang="en-US" sz="1500" dirty="0" err="1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analytics_storage</a:t>
                      </a:r>
                      <a:r>
                        <a:rPr lang="en-US" sz="1500" dirty="0">
                          <a:solidFill>
                            <a:srgbClr val="1F2123"/>
                          </a:solidFill>
                          <a:effectLst/>
                          <a:latin typeface="Bahnschrift SemiLight"/>
                        </a:rPr>
                        <a:t>.</a:t>
                      </a:r>
                      <a:endParaRPr lang="en-US" dirty="0">
                        <a:effectLst/>
                        <a:latin typeface="Bahnschrift SemiLight"/>
                      </a:endParaRPr>
                    </a:p>
                  </a:txBody>
                  <a:tcPr marT="79791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37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960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2EA-3BED-FA40-43DA-0675DCA91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Vježbajmo u demo računima Google Analytics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B9DF9-E5CC-98E6-BBD0-FC9104C4E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>
                <a:latin typeface="Bahnschrift SemiLight"/>
              </a:rPr>
              <a:t>Pristup demo računu </a:t>
            </a:r>
            <a:r>
              <a:rPr lang="en-US" dirty="0">
                <a:latin typeface="Bahnschrift SemiLight"/>
              </a:rPr>
              <a:t>Google GA4</a:t>
            </a:r>
          </a:p>
          <a:p>
            <a:pPr marL="0" indent="0">
              <a:buNone/>
            </a:pPr>
            <a:r>
              <a:rPr lang="en-US" dirty="0">
                <a:latin typeface="Bahnschrift SemiLight"/>
                <a:hlinkClick r:id="rId3"/>
              </a:rPr>
              <a:t>https://support.google.com/analytics/answer/10993011?hl=en</a:t>
            </a:r>
            <a:r>
              <a:rPr lang="en-US" dirty="0">
                <a:latin typeface="Bahnschrift SemiLight"/>
              </a:rPr>
              <a:t> 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hr-HR" dirty="0">
                <a:latin typeface="Bahnschrift SemiLight"/>
              </a:rPr>
              <a:t>Za</a:t>
            </a:r>
            <a:r>
              <a:rPr lang="en-US" dirty="0">
                <a:latin typeface="Bahnschrift SemiLight"/>
              </a:rPr>
              <a:t> </a:t>
            </a:r>
          </a:p>
          <a:p>
            <a:pPr marL="0" indent="0">
              <a:buNone/>
            </a:pPr>
            <a:endParaRPr lang="en-US" dirty="0">
              <a:latin typeface="Bahnschrift SemiLight"/>
            </a:endParaRPr>
          </a:p>
          <a:p>
            <a:pPr marL="0" indent="0">
              <a:buNone/>
            </a:pPr>
            <a:r>
              <a:rPr lang="en-US" dirty="0">
                <a:latin typeface="Bahnschrift SemiLight"/>
              </a:rPr>
              <a:t>Google Merch Shop </a:t>
            </a:r>
            <a:r>
              <a:rPr lang="en-US" dirty="0">
                <a:latin typeface="Bahnschrift SemiLight"/>
                <a:hlinkClick r:id="rId4"/>
              </a:rPr>
              <a:t>https://shop.merch.google/</a:t>
            </a:r>
            <a:r>
              <a:rPr lang="en-US" dirty="0">
                <a:latin typeface="Bahnschrift SemiLigh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09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41C67-6B2D-2014-DF36-A7A195AA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SemiBold"/>
              </a:rPr>
              <a:t>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14639-F609-CFDC-E947-2A6CE4B8C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hr-HR" dirty="0"/>
              <a:t>U Google DEMO računu (Google Analytics 4) pronađite sljedeće informacije (za rujan 2024.):</a:t>
            </a:r>
          </a:p>
          <a:p>
            <a:r>
              <a:rPr lang="hr-HR" dirty="0"/>
              <a:t>Koliko ima novih korisnika ovaj mjesec?</a:t>
            </a:r>
          </a:p>
          <a:p>
            <a:r>
              <a:rPr lang="hr-HR" dirty="0"/>
              <a:t>Koliki je broj kupnji putem tableta?</a:t>
            </a:r>
          </a:p>
          <a:p>
            <a:r>
              <a:rPr lang="hr-HR" dirty="0"/>
              <a:t>Koliko je sesija generirano putem organskog pretraživanja?</a:t>
            </a:r>
          </a:p>
          <a:p>
            <a:r>
              <a:rPr lang="hr-HR" dirty="0"/>
              <a:t>Koji je proizvod bio najpopularniji?</a:t>
            </a:r>
          </a:p>
          <a:p>
            <a:r>
              <a:rPr lang="hr-HR" dirty="0"/>
              <a:t>Koji je URL prve stranice u sesiji?</a:t>
            </a:r>
          </a:p>
          <a:p>
            <a:r>
              <a:rPr lang="hr-HR" dirty="0"/>
              <a:t>Koja je najpopularnija stranica (nakon početne)?</a:t>
            </a:r>
          </a:p>
          <a:p>
            <a:r>
              <a:rPr lang="hr-HR" dirty="0"/>
              <a:t>Gledajući promet, koji je najpopularniji izvor prometa?</a:t>
            </a:r>
          </a:p>
          <a:p>
            <a:r>
              <a:rPr lang="hr-HR" dirty="0"/>
              <a:t>Koliki je prihod proizvoda s najboljom stopom dodavanja u košaricu po pregledu?</a:t>
            </a:r>
          </a:p>
          <a:p>
            <a:r>
              <a:rPr lang="hr-HR" dirty="0"/>
              <a:t>Koji preglednik (i verzija) ima problematičnu stopu angažmana?</a:t>
            </a:r>
          </a:p>
        </p:txBody>
      </p:sp>
    </p:spTree>
    <p:extLst>
      <p:ext uri="{BB962C8B-B14F-4D97-AF65-F5344CB8AC3E}">
        <p14:creationId xmlns:p14="http://schemas.microsoft.com/office/powerpoint/2010/main" val="24534337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7226-E3A7-34C3-D521-1F0CF8127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Postavljanje ciljeva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537DA-BED8-E963-4A49-EBED58C62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100 % događaja može postati konverzija.</a:t>
            </a:r>
          </a:p>
          <a:p>
            <a:r>
              <a:rPr lang="hr-HR" b="1" dirty="0"/>
              <a:t>MIC =</a:t>
            </a:r>
            <a:r>
              <a:rPr lang="hr-HR" dirty="0"/>
              <a:t> Mikro-konverzije su sve radnje korisnika koje vode prema makro-konverziji.</a:t>
            </a:r>
          </a:p>
          <a:p>
            <a:r>
              <a:rPr lang="hr-HR" b="1" dirty="0"/>
              <a:t>MAC =</a:t>
            </a:r>
            <a:r>
              <a:rPr lang="hr-HR" dirty="0"/>
              <a:t> Makro-konverzije su sve radnje korisnika koje vam donose prihod.</a:t>
            </a:r>
          </a:p>
        </p:txBody>
      </p:sp>
    </p:spTree>
    <p:extLst>
      <p:ext uri="{BB962C8B-B14F-4D97-AF65-F5344CB8AC3E}">
        <p14:creationId xmlns:p14="http://schemas.microsoft.com/office/powerpoint/2010/main" val="2100040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E0A4-9D6B-6F19-7D4A-AD981D97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Događaji u Google Analytics 4 specifični za e-trgovinu</a:t>
            </a:r>
            <a:endParaRPr lang="en-US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95ECEFC7-162D-7642-1F04-E733BAA48BA8}"/>
              </a:ext>
            </a:extLst>
          </p:cNvPr>
          <p:cNvSpPr txBox="1"/>
          <p:nvPr/>
        </p:nvSpPr>
        <p:spPr>
          <a:xfrm>
            <a:off x="2014138" y="1535250"/>
            <a:ext cx="1047327" cy="694267"/>
          </a:xfrm>
          <a:prstGeom prst="rect">
            <a:avLst/>
          </a:prstGeom>
        </p:spPr>
        <p:txBody>
          <a:bodyPr vert="horz" wrap="square" lIns="0" tIns="123613" rIns="0" bIns="0" rtlCol="0">
            <a:noAutofit/>
          </a:bodyPr>
          <a:lstStyle/>
          <a:p>
            <a:pPr marR="7620" algn="r" rtl="0">
              <a:lnSpc>
                <a:spcPct val="100000"/>
              </a:lnSpc>
              <a:spcBef>
                <a:spcPts val="973"/>
              </a:spcBef>
            </a:pPr>
            <a:r>
              <a:rPr lang="hr-HR" sz="1467" spc="-113" dirty="0">
                <a:latin typeface="Arial Black"/>
                <a:cs typeface="Arial Black"/>
              </a:rPr>
              <a:t>Događaj</a:t>
            </a:r>
            <a:endParaRPr sz="1467" dirty="0">
              <a:latin typeface="Arial Black"/>
              <a:cs typeface="Arial Black"/>
            </a:endParaRPr>
          </a:p>
          <a:p>
            <a:pPr marR="6773" algn="r" rtl="0">
              <a:lnSpc>
                <a:spcPct val="100000"/>
              </a:lnSpc>
              <a:spcBef>
                <a:spcPts val="840"/>
              </a:spcBef>
            </a:pP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click</a:t>
            </a:r>
            <a:endParaRPr sz="1467" dirty="0">
              <a:latin typeface="Arial Black"/>
              <a:cs typeface="Arial Black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C186063-0607-5D29-372C-81F0B268F10C}"/>
              </a:ext>
            </a:extLst>
          </p:cNvPr>
          <p:cNvSpPr txBox="1"/>
          <p:nvPr/>
        </p:nvSpPr>
        <p:spPr>
          <a:xfrm>
            <a:off x="3483993" y="1535250"/>
            <a:ext cx="7789333" cy="5118947"/>
          </a:xfrm>
          <a:prstGeom prst="rect">
            <a:avLst/>
          </a:prstGeom>
        </p:spPr>
        <p:txBody>
          <a:bodyPr vert="horz" wrap="square" lIns="0" tIns="123613" rIns="0" bIns="0" rtlCol="0" anchor="t">
            <a:noAutofit/>
          </a:bodyPr>
          <a:lstStyle/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450" b="0" i="0" u="none" strike="noStrike" spc="-107" dirty="0">
                <a:latin typeface="Arial Black"/>
                <a:cs typeface="Arial Black"/>
              </a:rPr>
              <a:t>Uvjet okidanja</a:t>
            </a:r>
            <a:endParaRPr lang="en-US" sz="1450" dirty="0">
              <a:latin typeface="Arial Black"/>
              <a:cs typeface="Arial Black"/>
            </a:endParaRPr>
          </a:p>
          <a:p>
            <a:pPr marL="16510" marR="102235">
              <a:lnSpc>
                <a:spcPct val="113599"/>
              </a:lnSpc>
              <a:spcBef>
                <a:spcPts val="600"/>
              </a:spcBef>
            </a:pPr>
            <a:r>
              <a:rPr lang="hr-HR" sz="1600" dirty="0"/>
              <a:t>Svaki put kada korisnik klikne na poveznicu prema domeni koja nije trenutna.</a:t>
            </a:r>
          </a:p>
          <a:p>
            <a:pPr marL="16510" marR="102235">
              <a:lnSpc>
                <a:spcPct val="113599"/>
              </a:lnSpc>
              <a:spcBef>
                <a:spcPts val="600"/>
              </a:spcBef>
            </a:pPr>
            <a:r>
              <a:rPr lang="hr-HR" sz="1600" dirty="0"/>
              <a:t>Kada korisnik klikne na poveznicu prema datoteci.</a:t>
            </a:r>
          </a:p>
          <a:p>
            <a:pPr marL="16510" marR="102235">
              <a:lnSpc>
                <a:spcPct val="113599"/>
              </a:lnSpc>
              <a:spcBef>
                <a:spcPts val="600"/>
              </a:spcBef>
            </a:pPr>
            <a:r>
              <a:rPr lang="hr-HR" sz="1600" dirty="0"/>
              <a:t>Svaki put kada se stranica učita ili aktivna stranica promijeni stanje povijesti pregledavanja.</a:t>
            </a:r>
          </a:p>
          <a:p>
            <a:pPr marL="16510" marR="102235">
              <a:lnSpc>
                <a:spcPct val="113599"/>
              </a:lnSpc>
              <a:spcBef>
                <a:spcPts val="600"/>
              </a:spcBef>
            </a:pPr>
            <a:r>
              <a:rPr lang="hr-HR" sz="1600" dirty="0"/>
              <a:t>Prvi put kada korisnik dođe do dna svake stranice, odnosno kada postane vidljiva vertikalna dubina od 90 %.</a:t>
            </a:r>
          </a:p>
          <a:p>
            <a:pPr marL="16510" marR="102235">
              <a:lnSpc>
                <a:spcPct val="113599"/>
              </a:lnSpc>
              <a:spcBef>
                <a:spcPts val="600"/>
              </a:spcBef>
            </a:pPr>
            <a:r>
              <a:rPr lang="hr-HR" sz="1600" dirty="0"/>
              <a:t>Kada korisnik komunicira s aplikacijom ili web-stranicom.</a:t>
            </a:r>
          </a:p>
          <a:p>
            <a:pPr marL="16510" marR="102235">
              <a:lnSpc>
                <a:spcPct val="113599"/>
              </a:lnSpc>
              <a:spcBef>
                <a:spcPts val="600"/>
              </a:spcBef>
            </a:pPr>
            <a:r>
              <a:rPr lang="hr-HR" sz="1600" dirty="0"/>
              <a:t>Kada je aplikacija u prvom planu ili je web-stranica aktivna najmanje jednu sekundu.</a:t>
            </a:r>
          </a:p>
          <a:p>
            <a:pPr marL="16510" marR="102235">
              <a:lnSpc>
                <a:spcPct val="113599"/>
              </a:lnSpc>
              <a:spcBef>
                <a:spcPts val="600"/>
              </a:spcBef>
            </a:pPr>
            <a:r>
              <a:rPr lang="hr-HR" sz="1600" dirty="0"/>
              <a:t>Kada video završi.</a:t>
            </a:r>
          </a:p>
          <a:p>
            <a:pPr marL="16510" marR="102235">
              <a:lnSpc>
                <a:spcPct val="113599"/>
              </a:lnSpc>
              <a:spcBef>
                <a:spcPts val="600"/>
              </a:spcBef>
            </a:pPr>
            <a:r>
              <a:rPr lang="hr-HR" sz="1600" dirty="0"/>
              <a:t>Kada vrijeme reprodukcije videa premaši 10 %, 25 %, 50 % i 75 %.</a:t>
            </a:r>
          </a:p>
          <a:p>
            <a:pPr marL="16510" marR="102235">
              <a:lnSpc>
                <a:spcPct val="113599"/>
              </a:lnSpc>
              <a:spcBef>
                <a:spcPts val="600"/>
              </a:spcBef>
            </a:pPr>
            <a:r>
              <a:rPr lang="hr-HR" sz="1600" dirty="0"/>
              <a:t>Kada započne reprodukcija videa.</a:t>
            </a:r>
          </a:p>
          <a:p>
            <a:pPr marL="16510" marR="102235">
              <a:lnSpc>
                <a:spcPct val="113599"/>
              </a:lnSpc>
              <a:spcBef>
                <a:spcPts val="600"/>
              </a:spcBef>
            </a:pPr>
            <a:r>
              <a:rPr lang="hr-HR" sz="1600" dirty="0"/>
              <a:t>Svaki put kada korisnik izvrši pretragu na stranici (što je naznačeno prisutnošću parametra upita u URL-u).</a:t>
            </a:r>
            <a:endParaRPr sz="1450" dirty="0">
              <a:latin typeface="URW Gothic"/>
              <a:cs typeface="URW Gothic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9BD53500-4B4E-0A65-38C9-7523B29C8905}"/>
              </a:ext>
            </a:extLst>
          </p:cNvPr>
          <p:cNvSpPr txBox="1"/>
          <p:nvPr/>
        </p:nvSpPr>
        <p:spPr>
          <a:xfrm>
            <a:off x="1853078" y="2250612"/>
            <a:ext cx="1300480" cy="735753"/>
          </a:xfrm>
          <a:prstGeom prst="rect">
            <a:avLst/>
          </a:prstGeom>
        </p:spPr>
        <p:txBody>
          <a:bodyPr vert="horz" wrap="square" lIns="0" tIns="16933" rIns="0" bIns="0" rtlCol="0">
            <a:noAutofit/>
          </a:bodyPr>
          <a:lstStyle/>
          <a:p>
            <a:pPr marL="284473" marR="6773" indent="-268387" rtl="0">
              <a:lnSpc>
                <a:spcPct val="156900"/>
              </a:lnSpc>
              <a:spcBef>
                <a:spcPts val="133"/>
              </a:spcBef>
            </a:pPr>
            <a:r>
              <a:rPr lang="en" sz="1467" b="0" i="0" u="none" strike="noStrike" spc="-93" dirty="0">
                <a:solidFill>
                  <a:srgbClr val="0097A7"/>
                </a:solidFill>
                <a:latin typeface="Arial Black"/>
                <a:cs typeface="Arial Black"/>
              </a:rPr>
              <a:t>file_download page_view</a:t>
            </a:r>
            <a:endParaRPr sz="1467" dirty="0">
              <a:latin typeface="Arial Black"/>
              <a:cs typeface="Arial Black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D94E57C2-F978-2C8C-EF78-3F5118CDFDA9}"/>
              </a:ext>
            </a:extLst>
          </p:cNvPr>
          <p:cNvSpPr txBox="1"/>
          <p:nvPr/>
        </p:nvSpPr>
        <p:spPr>
          <a:xfrm>
            <a:off x="2503318" y="3046725"/>
            <a:ext cx="502920" cy="257387"/>
          </a:xfrm>
          <a:prstGeom prst="rect">
            <a:avLst/>
          </a:prstGeom>
        </p:spPr>
        <p:txBody>
          <a:bodyPr vert="horz" wrap="square" lIns="0" tIns="16933" rIns="0" bIns="0" rtlCol="0">
            <a:noAutofit/>
          </a:bodyPr>
          <a:lstStyle/>
          <a:p>
            <a:pPr marL="16933" rtl="0">
              <a:lnSpc>
                <a:spcPct val="100000"/>
              </a:lnSpc>
              <a:spcBef>
                <a:spcPts val="133"/>
              </a:spcBef>
            </a:pPr>
            <a:r>
              <a:rPr lang="en" sz="1467" b="0" i="0" u="none" strike="noStrike" spc="-133" dirty="0">
                <a:solidFill>
                  <a:srgbClr val="0097A7"/>
                </a:solidFill>
                <a:latin typeface="Arial Black"/>
                <a:cs typeface="Arial Black"/>
              </a:rPr>
              <a:t>scroll</a:t>
            </a:r>
            <a:endParaRPr sz="1467" dirty="0">
              <a:latin typeface="Arial Black"/>
              <a:cs typeface="Arial Black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C005CD4B-A83D-BEB5-10DC-D60338872B34}"/>
              </a:ext>
            </a:extLst>
          </p:cNvPr>
          <p:cNvSpPr txBox="1"/>
          <p:nvPr/>
        </p:nvSpPr>
        <p:spPr>
          <a:xfrm>
            <a:off x="1474618" y="3585555"/>
            <a:ext cx="1678940" cy="735753"/>
          </a:xfrm>
          <a:prstGeom prst="rect">
            <a:avLst/>
          </a:prstGeom>
        </p:spPr>
        <p:txBody>
          <a:bodyPr vert="horz" wrap="square" lIns="0" tIns="16933" rIns="0" bIns="0" rtlCol="0">
            <a:noAutofit/>
          </a:bodyPr>
          <a:lstStyle/>
          <a:p>
            <a:pPr marL="16933" marR="6773" indent="535927" rtl="0">
              <a:lnSpc>
                <a:spcPct val="156900"/>
              </a:lnSpc>
              <a:spcBef>
                <a:spcPts val="133"/>
              </a:spcBef>
            </a:pPr>
            <a:r>
              <a:rPr lang="en" sz="1467" b="0" i="0" u="none" strike="noStrike" spc="-167" dirty="0">
                <a:solidFill>
                  <a:srgbClr val="0097A7"/>
                </a:solidFill>
                <a:latin typeface="Arial Black"/>
                <a:cs typeface="Arial Black"/>
              </a:rPr>
              <a:t>session_start user_engagement</a:t>
            </a:r>
            <a:endParaRPr sz="1467" dirty="0">
              <a:latin typeface="Arial Black"/>
              <a:cs typeface="Arial Black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44B51592-1216-E6E5-16B7-F7B5C66E997E}"/>
              </a:ext>
            </a:extLst>
          </p:cNvPr>
          <p:cNvSpPr txBox="1"/>
          <p:nvPr/>
        </p:nvSpPr>
        <p:spPr>
          <a:xfrm>
            <a:off x="1026206" y="4321308"/>
            <a:ext cx="2127352" cy="1437640"/>
          </a:xfrm>
          <a:prstGeom prst="rect">
            <a:avLst/>
          </a:prstGeom>
        </p:spPr>
        <p:txBody>
          <a:bodyPr vert="horz" wrap="square" lIns="0" tIns="16933" rIns="0" bIns="0" rtlCol="0">
            <a:noAutofit/>
          </a:bodyPr>
          <a:lstStyle/>
          <a:p>
            <a:pPr marL="16933" marR="6773" indent="293786" algn="r" rtl="0">
              <a:lnSpc>
                <a:spcPct val="156900"/>
              </a:lnSpc>
              <a:spcBef>
                <a:spcPts val="133"/>
              </a:spcBef>
            </a:pPr>
            <a:r>
              <a:rPr lang="en" sz="1467" b="0" i="0" u="none" strike="noStrike" spc="-80" dirty="0">
                <a:solidFill>
                  <a:srgbClr val="0097A7"/>
                </a:solidFill>
                <a:latin typeface="Arial Black"/>
                <a:cs typeface="Arial Black"/>
              </a:rPr>
              <a:t>video_complete video_progress video_start view_search_results</a:t>
            </a:r>
            <a:endParaRPr sz="1467" dirty="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981409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779FD-DBEB-291D-2625-7C84F6AE7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55AB-8164-1159-B10F-A1E17AF5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Događaji u Google Analytics 4 specifični za e-trgovinu</a:t>
            </a:r>
            <a:endParaRPr lang="en-US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9D6BDFE9-43C0-178A-375B-83552D5C8DD9}"/>
              </a:ext>
            </a:extLst>
          </p:cNvPr>
          <p:cNvSpPr txBox="1"/>
          <p:nvPr/>
        </p:nvSpPr>
        <p:spPr>
          <a:xfrm>
            <a:off x="1300892" y="1574969"/>
            <a:ext cx="2349450" cy="6153469"/>
          </a:xfrm>
          <a:prstGeom prst="rect">
            <a:avLst/>
          </a:prstGeom>
        </p:spPr>
        <p:txBody>
          <a:bodyPr vert="horz" wrap="square" lIns="0" tIns="16933" rIns="0" bIns="0" rtlCol="0">
            <a:noAutofit/>
          </a:bodyPr>
          <a:lstStyle/>
          <a:p>
            <a:pPr marL="16933" marR="6773" indent="684936" algn="r" rtl="0">
              <a:lnSpc>
                <a:spcPct val="156900"/>
              </a:lnSpc>
              <a:spcBef>
                <a:spcPts val="133"/>
              </a:spcBef>
            </a:pPr>
            <a:r>
              <a:rPr lang="hr-HR" sz="1467" spc="-127" dirty="0">
                <a:latin typeface="Arial Black"/>
                <a:cs typeface="Arial Black"/>
              </a:rPr>
              <a:t>Događaj</a:t>
            </a:r>
            <a:r>
              <a:rPr lang="en" sz="1467" b="0" i="0" u="none" strike="noStrike" spc="-127" dirty="0"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3"/>
              </a:rPr>
              <a:t>generate_lead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47" dirty="0">
                <a:solidFill>
                  <a:srgbClr val="0097A7"/>
                </a:solidFill>
                <a:latin typeface="Arial Black"/>
                <a:cs typeface="Arial Black"/>
                <a:hlinkClick r:id="rId4"/>
              </a:rPr>
              <a:t>view_item_list</a:t>
            </a:r>
            <a:r>
              <a:rPr lang="en" sz="1467" b="0" i="0" u="none" strike="noStrike" spc="-47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5"/>
              </a:rPr>
              <a:t>view_item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6"/>
              </a:rPr>
              <a:t>view_promotion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7"/>
              </a:rPr>
              <a:t>select_item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47" dirty="0">
                <a:solidFill>
                  <a:srgbClr val="0097A7"/>
                </a:solidFill>
                <a:latin typeface="Arial Black"/>
                <a:cs typeface="Arial Black"/>
                <a:hlinkClick r:id="rId8"/>
              </a:rPr>
              <a:t>select_promotion</a:t>
            </a:r>
            <a:r>
              <a:rPr lang="en" sz="1467" b="0" i="0" u="none" strike="noStrike" spc="-47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47" dirty="0">
                <a:solidFill>
                  <a:srgbClr val="0097A7"/>
                </a:solidFill>
                <a:latin typeface="Arial Black"/>
                <a:cs typeface="Arial Black"/>
                <a:hlinkClick r:id="rId9"/>
              </a:rPr>
              <a:t>add_to_wishlist</a:t>
            </a:r>
            <a:r>
              <a:rPr lang="en" sz="1467" b="0" i="0" u="none" strike="noStrike" spc="-47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10"/>
              </a:rPr>
              <a:t>add_to_cart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11"/>
              </a:rPr>
              <a:t>view_cart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73" dirty="0">
                <a:solidFill>
                  <a:srgbClr val="0097A7"/>
                </a:solidFill>
                <a:latin typeface="Arial Black"/>
                <a:cs typeface="Arial Black"/>
                <a:hlinkClick r:id="rId12"/>
              </a:rPr>
              <a:t>remove_from_cart</a:t>
            </a:r>
            <a:r>
              <a:rPr lang="en" sz="1467" b="0" i="0" u="none" strike="noStrike" spc="-7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13"/>
              </a:rPr>
              <a:t>begin_checkout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73" dirty="0">
                <a:solidFill>
                  <a:srgbClr val="0097A7"/>
                </a:solidFill>
                <a:latin typeface="Arial Black"/>
                <a:cs typeface="Arial Black"/>
                <a:hlinkClick r:id="rId14"/>
              </a:rPr>
              <a:t>add_payment_info</a:t>
            </a:r>
            <a:r>
              <a:rPr lang="en" sz="1467" b="0" i="0" u="none" strike="noStrike" spc="-7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60" dirty="0">
                <a:solidFill>
                  <a:srgbClr val="0097A7"/>
                </a:solidFill>
                <a:latin typeface="Arial Black"/>
                <a:cs typeface="Arial Black"/>
                <a:hlinkClick r:id="rId15"/>
              </a:rPr>
              <a:t>add_shipping_info</a:t>
            </a:r>
            <a:endParaRPr sz="1467" dirty="0">
              <a:latin typeface="Arial Black"/>
              <a:cs typeface="Arial Black"/>
            </a:endParaRPr>
          </a:p>
          <a:p>
            <a:pPr marR="6773" algn="r" rtl="0">
              <a:lnSpc>
                <a:spcPct val="100000"/>
              </a:lnSpc>
              <a:spcBef>
                <a:spcPts val="1000"/>
              </a:spcBef>
            </a:pP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16"/>
              </a:rPr>
              <a:t>purchase</a:t>
            </a:r>
            <a:endParaRPr sz="1467" dirty="0">
              <a:latin typeface="Arial Black"/>
              <a:cs typeface="Arial Black"/>
            </a:endParaRPr>
          </a:p>
          <a:p>
            <a:pPr marR="6773" algn="r" rtl="0">
              <a:lnSpc>
                <a:spcPct val="100000"/>
              </a:lnSpc>
              <a:spcBef>
                <a:spcPts val="1000"/>
              </a:spcBef>
            </a:pP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17"/>
              </a:rPr>
              <a:t>refund</a:t>
            </a:r>
            <a:endParaRPr sz="1467" dirty="0">
              <a:latin typeface="Arial Black"/>
              <a:cs typeface="Arial Black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8B1BA46-0B5C-6F4A-BEB4-9D4CF60B3837}"/>
              </a:ext>
            </a:extLst>
          </p:cNvPr>
          <p:cNvSpPr txBox="1"/>
          <p:nvPr/>
        </p:nvSpPr>
        <p:spPr>
          <a:xfrm>
            <a:off x="4178525" y="1546954"/>
            <a:ext cx="8227732" cy="5647267"/>
          </a:xfrm>
          <a:prstGeom prst="rect">
            <a:avLst/>
          </a:prstGeom>
        </p:spPr>
        <p:txBody>
          <a:bodyPr vert="horz" wrap="square" lIns="0" tIns="143933" rIns="0" bIns="0" rtlCol="0" anchor="t">
            <a:noAutofit/>
          </a:bodyPr>
          <a:lstStyle/>
          <a:p>
            <a:pPr marL="16510" rtl="0">
              <a:lnSpc>
                <a:spcPct val="100000"/>
              </a:lnSpc>
              <a:spcBef>
                <a:spcPts val="1133"/>
              </a:spcBef>
            </a:pPr>
            <a:r>
              <a:rPr lang="hr-HR" sz="1450" b="0" i="0" u="none" strike="noStrike" spc="-107" dirty="0">
                <a:latin typeface="Arial Black"/>
                <a:cs typeface="Arial Black"/>
              </a:rPr>
              <a:t>Uvjet okidanja</a:t>
            </a:r>
            <a:endParaRPr lang="en-US" sz="1450" dirty="0">
              <a:latin typeface="Arial Black"/>
              <a:cs typeface="Arial Black"/>
            </a:endParaRPr>
          </a:p>
          <a:p>
            <a:pPr marL="16510" marR="6350">
              <a:lnSpc>
                <a:spcPct val="156900"/>
              </a:lnSpc>
            </a:pPr>
            <a:r>
              <a:rPr lang="hr-HR" sz="1400" dirty="0"/>
              <a:t>Korisnik šalje obrazac ili zahtjev za informacijama.</a:t>
            </a:r>
            <a:br>
              <a:rPr lang="hr-HR" sz="1400" dirty="0"/>
            </a:br>
            <a:r>
              <a:rPr lang="hr-HR" sz="1400" dirty="0"/>
              <a:t>Korisnik pregledava popis proizvoda/ponuda.</a:t>
            </a:r>
            <a:br>
              <a:rPr lang="hr-HR" sz="1400" dirty="0"/>
            </a:br>
            <a:r>
              <a:rPr lang="hr-HR" sz="1400" dirty="0"/>
              <a:t>Korisnik pregledava pojedini element.</a:t>
            </a:r>
            <a:br>
              <a:rPr lang="hr-HR" sz="1400" dirty="0"/>
            </a:br>
            <a:r>
              <a:rPr lang="hr-HR" sz="1400" dirty="0"/>
              <a:t>Promocija se prikazuje korisniku.</a:t>
            </a:r>
            <a:br>
              <a:rPr lang="hr-HR" sz="1400" dirty="0"/>
            </a:br>
            <a:r>
              <a:rPr lang="hr-HR" sz="1400" dirty="0"/>
              <a:t>Korisnik odabire stavku s popisa.</a:t>
            </a:r>
            <a:br>
              <a:rPr lang="hr-HR" sz="1400" dirty="0"/>
            </a:br>
            <a:r>
              <a:rPr lang="hr-HR" sz="1400" dirty="0"/>
              <a:t>Korisnik odabire promociju.</a:t>
            </a:r>
            <a:br>
              <a:rPr lang="hr-HR" sz="1400" dirty="0"/>
            </a:br>
            <a:r>
              <a:rPr lang="hr-HR" sz="1400" dirty="0"/>
              <a:t>Korisnik dodaje proizvode na listu želja.</a:t>
            </a:r>
            <a:br>
              <a:rPr lang="hr-HR" sz="1400" dirty="0"/>
            </a:br>
            <a:r>
              <a:rPr lang="hr-HR" sz="1400" dirty="0"/>
              <a:t>Korisnik dodaje proizvode u košaricu.</a:t>
            </a:r>
            <a:br>
              <a:rPr lang="hr-HR" sz="1400" dirty="0"/>
            </a:br>
            <a:r>
              <a:rPr lang="hr-HR" sz="1400" dirty="0"/>
              <a:t>Korisnik pregledava svoju košaricu.</a:t>
            </a:r>
            <a:br>
              <a:rPr lang="hr-HR" sz="1400" dirty="0"/>
            </a:br>
            <a:r>
              <a:rPr lang="hr-HR" sz="1400" dirty="0"/>
              <a:t>Korisnik uklanja proizvode iz košarice.</a:t>
            </a:r>
            <a:br>
              <a:rPr lang="hr-HR" sz="1400" dirty="0"/>
            </a:br>
            <a:r>
              <a:rPr lang="hr-HR" sz="1400" dirty="0"/>
              <a:t>Korisnik započinje proces naplate.</a:t>
            </a:r>
            <a:br>
              <a:rPr lang="hr-HR" sz="1400" dirty="0"/>
            </a:br>
            <a:r>
              <a:rPr lang="hr-HR" sz="1400" dirty="0"/>
              <a:t>Korisnik šalje svoje podatke za plaćanje.</a:t>
            </a:r>
            <a:br>
              <a:rPr lang="hr-HR" sz="1400" dirty="0"/>
            </a:br>
            <a:r>
              <a:rPr lang="hr-HR" sz="1400" dirty="0"/>
              <a:t>Korisnik šalje svoje podatke za dostavu.</a:t>
            </a:r>
            <a:br>
              <a:rPr lang="hr-HR" sz="1400" dirty="0"/>
            </a:br>
            <a:r>
              <a:rPr lang="hr-HR" sz="1400" dirty="0"/>
              <a:t>Korisnik obavlja kupnju.</a:t>
            </a:r>
            <a:br>
              <a:rPr lang="hr-HR" sz="1400" dirty="0"/>
            </a:br>
            <a:r>
              <a:rPr lang="hr-HR" sz="1400" dirty="0"/>
              <a:t>Izvršava se povrat novca.</a:t>
            </a:r>
            <a:endParaRPr lang="en-US" sz="1400" dirty="0">
              <a:latin typeface="URW Gothic"/>
              <a:cs typeface="URW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44411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66162-F581-D5DC-9D50-66C0C7F2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E54A-557C-0107-A12F-AC300453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Događaji u Google Analytics 4 specifični za e-trgovinu</a:t>
            </a:r>
            <a:endParaRPr lang="en-US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428F2888-CF8B-7BE2-ABEE-BBF429E9B780}"/>
              </a:ext>
            </a:extLst>
          </p:cNvPr>
          <p:cNvSpPr txBox="1"/>
          <p:nvPr/>
        </p:nvSpPr>
        <p:spPr>
          <a:xfrm>
            <a:off x="1216392" y="1668407"/>
            <a:ext cx="2131060" cy="4903893"/>
          </a:xfrm>
          <a:prstGeom prst="rect">
            <a:avLst/>
          </a:prstGeom>
        </p:spPr>
        <p:txBody>
          <a:bodyPr vert="horz" wrap="square" lIns="0" tIns="6773" rIns="0" bIns="0" rtlCol="0">
            <a:noAutofit/>
          </a:bodyPr>
          <a:lstStyle/>
          <a:p>
            <a:pPr marL="161709" marR="6773" indent="937237" algn="r" rtl="0">
              <a:lnSpc>
                <a:spcPct val="152300"/>
              </a:lnSpc>
              <a:spcBef>
                <a:spcPts val="53"/>
              </a:spcBef>
            </a:pPr>
            <a:r>
              <a:rPr lang="hr-HR" sz="1467" b="0" i="0" u="none" strike="noStrike" spc="-127" dirty="0">
                <a:latin typeface="Arial Black"/>
                <a:cs typeface="Arial Black"/>
              </a:rPr>
              <a:t>Događaj</a:t>
            </a:r>
            <a:r>
              <a:rPr lang="en" sz="1467" b="0" i="0" u="none" strike="noStrike" spc="-127" dirty="0"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3"/>
              </a:rPr>
              <a:t>ad_impression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07" dirty="0">
                <a:solidFill>
                  <a:srgbClr val="0097A7"/>
                </a:solidFill>
                <a:latin typeface="Arial Black"/>
                <a:cs typeface="Arial Black"/>
                <a:hlinkClick r:id="rId4"/>
              </a:rPr>
              <a:t>earn_virtual_currency</a:t>
            </a:r>
            <a:endParaRPr sz="1467" dirty="0">
              <a:latin typeface="Arial Black"/>
              <a:cs typeface="Arial Black"/>
            </a:endParaRPr>
          </a:p>
          <a:p>
            <a:pPr marR="6773" algn="r" rtl="0">
              <a:lnSpc>
                <a:spcPct val="100000"/>
              </a:lnSpc>
              <a:spcBef>
                <a:spcPts val="1000"/>
              </a:spcBef>
            </a:pP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5"/>
              </a:rPr>
              <a:t>join_group</a:t>
            </a:r>
            <a:endParaRPr sz="1467" dirty="0">
              <a:latin typeface="Arial Black"/>
              <a:cs typeface="Arial Black"/>
            </a:endParaRPr>
          </a:p>
          <a:p>
            <a:pPr marL="1263194" marR="6773" indent="405543" algn="r" rtl="0">
              <a:lnSpc>
                <a:spcPct val="156900"/>
              </a:lnSpc>
            </a:pPr>
            <a:r>
              <a:rPr lang="en" sz="1467" b="0" i="0" u="none" strike="noStrike" spc="-100" dirty="0">
                <a:solidFill>
                  <a:srgbClr val="0097A7"/>
                </a:solidFill>
                <a:latin typeface="Arial Black"/>
                <a:cs typeface="Arial Black"/>
                <a:hlinkClick r:id="rId6"/>
              </a:rPr>
              <a:t>login</a:t>
            </a:r>
            <a:r>
              <a:rPr lang="en" sz="1467" b="0" i="0" u="none" strike="noStrike" spc="-100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13" dirty="0">
                <a:solidFill>
                  <a:srgbClr val="0097A7"/>
                </a:solidFill>
                <a:latin typeface="Arial Black"/>
                <a:cs typeface="Arial Black"/>
                <a:hlinkClick r:id="rId7"/>
              </a:rPr>
              <a:t>purchase</a:t>
            </a:r>
            <a:endParaRPr sz="1467" dirty="0">
              <a:latin typeface="Arial Black"/>
              <a:cs typeface="Arial Black"/>
            </a:endParaRPr>
          </a:p>
          <a:p>
            <a:pPr marL="787380" marR="8466" indent="747588" algn="r" rtl="0">
              <a:lnSpc>
                <a:spcPct val="156900"/>
              </a:lnSpc>
            </a:pPr>
            <a:r>
              <a:rPr lang="en" sz="1467" b="0" i="0" u="none" strike="noStrike" spc="-120" dirty="0">
                <a:solidFill>
                  <a:srgbClr val="0097A7"/>
                </a:solidFill>
                <a:latin typeface="Arial Black"/>
                <a:cs typeface="Arial Black"/>
                <a:hlinkClick r:id="rId8"/>
              </a:rPr>
              <a:t>refund</a:t>
            </a:r>
            <a:r>
              <a:rPr lang="en" sz="1467" b="0" i="0" u="none" strike="noStrike" spc="-120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9"/>
              </a:rPr>
              <a:t>search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20" dirty="0">
                <a:solidFill>
                  <a:srgbClr val="0097A7"/>
                </a:solidFill>
                <a:latin typeface="Arial Black"/>
                <a:cs typeface="Arial Black"/>
                <a:hlinkClick r:id="rId10"/>
              </a:rPr>
              <a:t>select_content</a:t>
            </a:r>
            <a:endParaRPr sz="1467" dirty="0">
              <a:latin typeface="Arial Black"/>
              <a:cs typeface="Arial Black"/>
            </a:endParaRPr>
          </a:p>
          <a:p>
            <a:pPr marL="16933" marR="6773" indent="1600160" algn="r" rtl="0">
              <a:lnSpc>
                <a:spcPct val="156900"/>
              </a:lnSpc>
            </a:pPr>
            <a:r>
              <a:rPr lang="en" sz="1467" b="0" i="0" u="none" strike="noStrike" spc="-140" dirty="0">
                <a:solidFill>
                  <a:srgbClr val="0097A7"/>
                </a:solidFill>
                <a:latin typeface="Arial Black"/>
                <a:cs typeface="Arial Black"/>
                <a:hlinkClick r:id="rId11"/>
              </a:rPr>
              <a:t>share</a:t>
            </a:r>
            <a:r>
              <a:rPr lang="en" sz="1467" b="0" i="0" u="none" strike="noStrike" spc="-140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12"/>
              </a:rPr>
              <a:t>sign_up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07" dirty="0">
                <a:solidFill>
                  <a:srgbClr val="0097A7"/>
                </a:solidFill>
                <a:latin typeface="Arial Black"/>
                <a:cs typeface="Arial Black"/>
                <a:hlinkClick r:id="rId13"/>
              </a:rPr>
              <a:t>spend_virtual_currency</a:t>
            </a:r>
            <a:endParaRPr sz="1467" dirty="0">
              <a:latin typeface="Arial Black"/>
              <a:cs typeface="Arial Black"/>
            </a:endParaRPr>
          </a:p>
          <a:p>
            <a:pPr marL="530000" marR="6773" indent="353051" algn="r" rtl="0">
              <a:lnSpc>
                <a:spcPct val="156900"/>
              </a:lnSpc>
            </a:pPr>
            <a:r>
              <a:rPr lang="en" sz="1467" b="0" i="0" u="none" strike="noStrike" spc="-107" dirty="0">
                <a:solidFill>
                  <a:srgbClr val="0097A7"/>
                </a:solidFill>
                <a:latin typeface="Arial Black"/>
                <a:cs typeface="Arial Black"/>
                <a:hlinkClick r:id="rId14"/>
              </a:rPr>
              <a:t>tutorial_begin</a:t>
            </a:r>
            <a:r>
              <a:rPr lang="en" sz="1467" b="0" i="0" u="none" strike="noStrike" spc="-107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07" dirty="0">
                <a:solidFill>
                  <a:srgbClr val="0097A7"/>
                </a:solidFill>
                <a:latin typeface="Arial Black"/>
                <a:cs typeface="Arial Black"/>
                <a:hlinkClick r:id="rId15"/>
              </a:rPr>
              <a:t>tutorial_complete</a:t>
            </a:r>
            <a:endParaRPr sz="1467" dirty="0">
              <a:latin typeface="Arial Black"/>
              <a:cs typeface="Arial Black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5E39A85-F55E-254E-FAD5-EB7C83F8B4AC}"/>
              </a:ext>
            </a:extLst>
          </p:cNvPr>
          <p:cNvSpPr txBox="1"/>
          <p:nvPr/>
        </p:nvSpPr>
        <p:spPr>
          <a:xfrm>
            <a:off x="3679865" y="1668407"/>
            <a:ext cx="7483687" cy="4903893"/>
          </a:xfrm>
          <a:prstGeom prst="rect">
            <a:avLst/>
          </a:prstGeom>
        </p:spPr>
        <p:txBody>
          <a:bodyPr vert="horz" wrap="square" lIns="0" tIns="123613" rIns="0" bIns="0" rtlCol="0" anchor="t">
            <a:noAutofit/>
          </a:bodyPr>
          <a:lstStyle/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450" b="0" i="0" u="none" strike="noStrike" spc="-107" dirty="0">
                <a:latin typeface="Arial Black"/>
                <a:cs typeface="Arial Black"/>
              </a:rPr>
              <a:t>Uvjet okidanja</a:t>
            </a:r>
            <a:endParaRPr lang="en-US" sz="1450" dirty="0">
              <a:latin typeface="Arial Black"/>
              <a:cs typeface="Arial Black"/>
            </a:endParaRPr>
          </a:p>
          <a:p>
            <a:pPr marL="16510" marR="923290">
              <a:lnSpc>
                <a:spcPts val="2760"/>
              </a:lnSpc>
              <a:spcBef>
                <a:spcPts val="93"/>
              </a:spcBef>
            </a:pPr>
            <a:r>
              <a:rPr lang="hr-HR" sz="1600" dirty="0"/>
              <a:t>Korisnik vidi tiskani oglas (samo u aplikaciji).</a:t>
            </a:r>
            <a:br>
              <a:rPr lang="hr-HR" sz="1600" dirty="0"/>
            </a:br>
            <a:r>
              <a:rPr lang="hr-HR" sz="1600" dirty="0"/>
              <a:t>Korisnik zarađuje virtualnu valutu (kovanice, kredite, tokene itd.).</a:t>
            </a:r>
            <a:br>
              <a:rPr lang="hr-HR" sz="1600" dirty="0"/>
            </a:br>
            <a:r>
              <a:rPr lang="hr-HR" sz="1600" dirty="0"/>
              <a:t>Korisnik se pridružuje grupi (radi procjene njezine popularnosti).</a:t>
            </a:r>
            <a:br>
              <a:rPr lang="hr-HR" sz="1600" dirty="0"/>
            </a:br>
            <a:r>
              <a:rPr lang="hr-HR" sz="1600" dirty="0"/>
              <a:t>Korisnik se prijavljuje.</a:t>
            </a:r>
            <a:br>
              <a:rPr lang="hr-HR" sz="1600" dirty="0"/>
            </a:br>
            <a:r>
              <a:rPr lang="hr-HR" sz="1600" dirty="0"/>
              <a:t>Korisnik obavlja kupnju.</a:t>
            </a:r>
            <a:br>
              <a:rPr lang="hr-HR" sz="1600" dirty="0"/>
            </a:br>
            <a:r>
              <a:rPr lang="hr-HR" sz="1600" dirty="0"/>
              <a:t>Korisnik dobiva povrat novca.</a:t>
            </a:r>
            <a:br>
              <a:rPr lang="hr-HR" sz="1600" dirty="0"/>
            </a:br>
            <a:r>
              <a:rPr lang="hr-HR" sz="1600" dirty="0"/>
              <a:t>Korisnik pretražuje vaš sadržaj.</a:t>
            </a:r>
            <a:br>
              <a:rPr lang="hr-HR" sz="1600" dirty="0"/>
            </a:br>
            <a:r>
              <a:rPr lang="hr-HR" sz="1600" dirty="0"/>
              <a:t>Korisnik odabire sadržaj.</a:t>
            </a:r>
            <a:br>
              <a:rPr lang="hr-HR" sz="1600" dirty="0"/>
            </a:br>
            <a:r>
              <a:rPr lang="hr-HR" sz="1600" dirty="0"/>
              <a:t>Korisnik dijeli sadržaj.</a:t>
            </a:r>
            <a:br>
              <a:rPr lang="hr-HR" sz="1600" dirty="0"/>
            </a:br>
            <a:r>
              <a:rPr lang="hr-HR" sz="1600" dirty="0"/>
              <a:t>Korisnik se registrira (radi procjene popularnosti pojedine metode registracije).</a:t>
            </a:r>
            <a:br>
              <a:rPr lang="hr-HR" sz="1600" dirty="0"/>
            </a:br>
            <a:r>
              <a:rPr lang="hr-HR" sz="1600" dirty="0"/>
              <a:t>Korisnik troši virtualnu valutu (kovanice, kredite, tokene itd.).</a:t>
            </a:r>
            <a:br>
              <a:rPr lang="hr-HR" sz="1600" dirty="0"/>
            </a:br>
            <a:r>
              <a:rPr lang="hr-HR" sz="1600" dirty="0"/>
              <a:t>Korisnik započinje </a:t>
            </a:r>
            <a:r>
              <a:rPr lang="hr-HR" sz="1600" dirty="0" err="1"/>
              <a:t>tutorijal</a:t>
            </a:r>
            <a:r>
              <a:rPr lang="hr-HR" sz="1600" dirty="0"/>
              <a:t>.</a:t>
            </a:r>
            <a:br>
              <a:rPr lang="hr-HR" sz="1600" dirty="0"/>
            </a:br>
            <a:r>
              <a:rPr lang="hr-HR" sz="1600" dirty="0"/>
              <a:t>Korisnik prolazi cijeli </a:t>
            </a:r>
            <a:r>
              <a:rPr lang="hr-HR" sz="1600" dirty="0" err="1"/>
              <a:t>tutorijal</a:t>
            </a:r>
            <a:r>
              <a:rPr lang="hr-HR" sz="1600" dirty="0"/>
              <a:t>.</a:t>
            </a:r>
            <a:endParaRPr sz="1450" dirty="0">
              <a:latin typeface="URW Gothic"/>
              <a:cs typeface="URW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84368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0B5A4-3458-1E63-A995-5C4476820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70A1-BBBD-3586-77BD-1C88EF93E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Događaji u Google Analytics 4 specifični za igre</a:t>
            </a:r>
            <a:endParaRPr lang="en-US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30D1373D-1E74-1AB2-A2AE-255E2E1B0334}"/>
              </a:ext>
            </a:extLst>
          </p:cNvPr>
          <p:cNvSpPr txBox="1"/>
          <p:nvPr/>
        </p:nvSpPr>
        <p:spPr>
          <a:xfrm>
            <a:off x="1660662" y="2081732"/>
            <a:ext cx="2131060" cy="4512499"/>
          </a:xfrm>
          <a:prstGeom prst="rect">
            <a:avLst/>
          </a:prstGeom>
        </p:spPr>
        <p:txBody>
          <a:bodyPr vert="horz" wrap="square" lIns="0" tIns="16933" rIns="0" bIns="0" rtlCol="0">
            <a:noAutofit/>
          </a:bodyPr>
          <a:lstStyle/>
          <a:p>
            <a:pPr marL="161709" marR="6773" indent="937237" algn="r" rtl="0">
              <a:lnSpc>
                <a:spcPct val="147700"/>
              </a:lnSpc>
              <a:spcBef>
                <a:spcPts val="133"/>
              </a:spcBef>
            </a:pPr>
            <a:r>
              <a:rPr lang="en" sz="1467" b="0" i="0" u="none" strike="noStrike" spc="-127" dirty="0">
                <a:latin typeface="Arial Black"/>
                <a:cs typeface="Arial Black"/>
              </a:rPr>
              <a:t>earn_virtual_currency </a:t>
            </a:r>
            <a:r>
              <a:rPr lang="en" sz="1467" b="0" i="0" u="none" strike="noStrike" spc="-107" dirty="0">
                <a:solidFill>
                  <a:srgbClr val="0097A7"/>
                </a:solidFill>
                <a:latin typeface="Arial Black"/>
                <a:cs typeface="Arial Black"/>
                <a:hlinkClick r:id="rId3"/>
              </a:rPr>
              <a:t>event</a:t>
            </a:r>
            <a:endParaRPr sz="1467" dirty="0">
              <a:latin typeface="Arial Black"/>
              <a:cs typeface="Arial Black"/>
            </a:endParaRPr>
          </a:p>
          <a:p>
            <a:pPr marL="787380" marR="6773" indent="371677" algn="r" rtl="0">
              <a:lnSpc>
                <a:spcPct val="156900"/>
              </a:lnSpc>
            </a:pPr>
            <a:r>
              <a:rPr lang="en" sz="1467" b="0" i="0" u="none" strike="noStrike" spc="-87" dirty="0">
                <a:solidFill>
                  <a:srgbClr val="0097A7"/>
                </a:solidFill>
                <a:latin typeface="Arial Black"/>
                <a:cs typeface="Arial Black"/>
                <a:hlinkClick r:id="rId4"/>
              </a:rPr>
              <a:t>join_group</a:t>
            </a:r>
            <a:r>
              <a:rPr lang="en" sz="1467" b="0" i="0" u="none" strike="noStrike" spc="-87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5"/>
              </a:rPr>
              <a:t>level_end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6"/>
              </a:rPr>
              <a:t>level_start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7"/>
              </a:rPr>
              <a:t>level_up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  <a:hlinkClick r:id="rId8"/>
              </a:rPr>
              <a:t>post_score</a:t>
            </a:r>
            <a:r>
              <a:rPr lang="en" sz="1467" b="0" i="0" u="none" strike="noStrike" spc="-13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120" dirty="0">
                <a:solidFill>
                  <a:srgbClr val="0097A7"/>
                </a:solidFill>
                <a:latin typeface="Arial Black"/>
                <a:cs typeface="Arial Black"/>
                <a:hlinkClick r:id="rId9"/>
              </a:rPr>
              <a:t>select_content</a:t>
            </a:r>
            <a:endParaRPr sz="1467" dirty="0">
              <a:latin typeface="Arial Black"/>
              <a:cs typeface="Arial Black"/>
            </a:endParaRPr>
          </a:p>
          <a:p>
            <a:pPr marR="6773" algn="r" rtl="0">
              <a:lnSpc>
                <a:spcPct val="100000"/>
              </a:lnSpc>
              <a:spcBef>
                <a:spcPts val="1000"/>
              </a:spcBef>
            </a:pPr>
            <a:r>
              <a:rPr lang="en" sz="1467" b="0" i="0" u="none" strike="noStrike" spc="-100" dirty="0">
                <a:solidFill>
                  <a:srgbClr val="0097A7"/>
                </a:solidFill>
                <a:latin typeface="Arial Black"/>
                <a:cs typeface="Arial Black"/>
                <a:hlinkClick r:id="rId10"/>
              </a:rPr>
              <a:t>spend_virtual_currency</a:t>
            </a:r>
            <a:endParaRPr sz="1467" dirty="0">
              <a:latin typeface="Arial Black"/>
              <a:cs typeface="Arial Black"/>
            </a:endParaRPr>
          </a:p>
          <a:p>
            <a:pPr marL="202348" marR="6773" indent="680703" algn="r" rtl="0">
              <a:lnSpc>
                <a:spcPct val="156900"/>
              </a:lnSpc>
            </a:pPr>
            <a:r>
              <a:rPr lang="en" sz="1467" b="0" i="0" u="none" strike="noStrike" spc="-107" dirty="0">
                <a:solidFill>
                  <a:srgbClr val="0097A7"/>
                </a:solidFill>
                <a:latin typeface="Arial Black"/>
                <a:cs typeface="Arial Black"/>
                <a:hlinkClick r:id="rId11"/>
              </a:rPr>
              <a:t>tutorial_begin</a:t>
            </a:r>
            <a:r>
              <a:rPr lang="en" sz="1467" b="0" i="0" u="none" strike="noStrike" spc="-107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40" dirty="0">
                <a:solidFill>
                  <a:srgbClr val="0097A7"/>
                </a:solidFill>
                <a:latin typeface="Arial Black"/>
                <a:cs typeface="Arial Black"/>
                <a:hlinkClick r:id="rId12"/>
              </a:rPr>
              <a:t>tutorial_complete</a:t>
            </a:r>
            <a:r>
              <a:rPr lang="en" sz="1467" b="0" i="0" u="none" strike="noStrike" spc="-40" dirty="0">
                <a:solidFill>
                  <a:srgbClr val="0097A7"/>
                </a:solidFill>
                <a:latin typeface="Arial Black"/>
                <a:cs typeface="Arial Black"/>
              </a:rPr>
              <a:t> </a:t>
            </a:r>
            <a:r>
              <a:rPr lang="en" sz="1467" b="0" i="0" u="none" strike="noStrike" spc="-93" dirty="0">
                <a:solidFill>
                  <a:srgbClr val="0097A7"/>
                </a:solidFill>
                <a:latin typeface="Arial Black"/>
                <a:cs typeface="Arial Black"/>
                <a:hlinkClick r:id="rId13"/>
              </a:rPr>
              <a:t>unlock_achievement</a:t>
            </a:r>
            <a:endParaRPr sz="1467" dirty="0">
              <a:latin typeface="Arial Black"/>
              <a:cs typeface="Arial Black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46BFF0D0-57BA-D997-3D43-9B70EAB349EF}"/>
              </a:ext>
            </a:extLst>
          </p:cNvPr>
          <p:cNvSpPr txBox="1"/>
          <p:nvPr/>
        </p:nvSpPr>
        <p:spPr>
          <a:xfrm>
            <a:off x="4240159" y="1730039"/>
            <a:ext cx="6757247" cy="4574046"/>
          </a:xfrm>
          <a:prstGeom prst="rect">
            <a:avLst/>
          </a:prstGeom>
        </p:spPr>
        <p:txBody>
          <a:bodyPr vert="horz" wrap="square" lIns="0" tIns="123613" rIns="0" bIns="0" rtlCol="0" anchor="t">
            <a:noAutofit/>
          </a:bodyPr>
          <a:lstStyle/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450" b="0" i="0" u="none" strike="noStrike" spc="-107" dirty="0">
                <a:latin typeface="Arial Black"/>
                <a:cs typeface="Arial Black"/>
              </a:rPr>
              <a:t>Uvjet okidanja</a:t>
            </a:r>
          </a:p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600" dirty="0"/>
              <a:t>Korisnik zarađuje virtualnu valutu (kovanice, kredite, tokene itd.).</a:t>
            </a:r>
          </a:p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600" dirty="0"/>
              <a:t>Korisnik se pridružuje grupi radi procjene njezine popularnosti.</a:t>
            </a:r>
          </a:p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600" dirty="0"/>
              <a:t>Korisnik završava razinu u igri.</a:t>
            </a:r>
          </a:p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600" dirty="0"/>
              <a:t>Korisnik započinje novu razinu u igri.</a:t>
            </a:r>
          </a:p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600" dirty="0"/>
              <a:t>Korisnik prelazi na sljedeću razinu u igri.</a:t>
            </a:r>
          </a:p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600" dirty="0"/>
              <a:t>Korisnik objavljuje svoj rezultat.</a:t>
            </a:r>
          </a:p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600" dirty="0"/>
              <a:t>Korisnik odabire sadržaj.</a:t>
            </a:r>
          </a:p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600" dirty="0"/>
              <a:t>Korisnik troši virtualnu valutu (kovanice, kredite, tokene itd.).</a:t>
            </a:r>
          </a:p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600" dirty="0"/>
              <a:t>Korisnik započinje </a:t>
            </a:r>
            <a:r>
              <a:rPr lang="hr-HR" sz="1600" dirty="0" err="1"/>
              <a:t>tutorijal</a:t>
            </a:r>
            <a:r>
              <a:rPr lang="hr-HR" sz="1600" dirty="0"/>
              <a:t>.</a:t>
            </a:r>
          </a:p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600" dirty="0"/>
              <a:t>Korisnik prolazi cijeli </a:t>
            </a:r>
            <a:r>
              <a:rPr lang="hr-HR" sz="1600" dirty="0" err="1"/>
              <a:t>tutorijal</a:t>
            </a:r>
            <a:r>
              <a:rPr lang="hr-HR" sz="1600" dirty="0"/>
              <a:t>.</a:t>
            </a:r>
          </a:p>
          <a:p>
            <a:pPr marL="16510" rtl="0">
              <a:lnSpc>
                <a:spcPct val="100000"/>
              </a:lnSpc>
              <a:spcBef>
                <a:spcPts val="973"/>
              </a:spcBef>
            </a:pPr>
            <a:r>
              <a:rPr lang="hr-HR" sz="1600" dirty="0"/>
              <a:t>Korisnik otključava postignuće.</a:t>
            </a:r>
          </a:p>
        </p:txBody>
      </p:sp>
    </p:spTree>
    <p:extLst>
      <p:ext uri="{BB962C8B-B14F-4D97-AF65-F5344CB8AC3E}">
        <p14:creationId xmlns:p14="http://schemas.microsoft.com/office/powerpoint/2010/main" val="28959209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C7131-B367-C55A-D14C-0E2506D7A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500 prilagođenih događaja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7AFA2-A329-C85A-BC4D-453D0B8CF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25 parametara po događaju</a:t>
            </a:r>
          </a:p>
          <a:p>
            <a:r>
              <a:rPr lang="hr-HR" dirty="0"/>
              <a:t>25 korisničkih svojstava po svojstvu</a:t>
            </a:r>
          </a:p>
          <a:p>
            <a:r>
              <a:rPr lang="hr-HR" dirty="0"/>
              <a:t>DIMENZIJE predstavljaju posjetitelja (ili njegov posjet)</a:t>
            </a:r>
          </a:p>
          <a:p>
            <a:r>
              <a:rPr lang="hr-HR" dirty="0"/>
              <a:t>METRIKE predstavljaju radnje posjetitelja</a:t>
            </a:r>
          </a:p>
          <a:p>
            <a:r>
              <a:rPr lang="hr-HR" dirty="0"/>
              <a:t>Prilagođene dimenzije i metrike</a:t>
            </a:r>
          </a:p>
          <a:p>
            <a:pPr lvl="1"/>
            <a:r>
              <a:rPr lang="hr-HR" dirty="0"/>
              <a:t>50 prilagođenih dimenzija događaja</a:t>
            </a:r>
          </a:p>
          <a:p>
            <a:pPr lvl="1"/>
            <a:r>
              <a:rPr lang="hr-HR" dirty="0"/>
              <a:t>50 prilagođenih metrika po svojstvu</a:t>
            </a:r>
          </a:p>
          <a:p>
            <a:pPr lvl="1"/>
            <a:r>
              <a:rPr lang="hr-HR" dirty="0"/>
              <a:t>25 prilagođenih dimenzija usmjerenih na korisnika</a:t>
            </a:r>
          </a:p>
        </p:txBody>
      </p:sp>
    </p:spTree>
    <p:extLst>
      <p:ext uri="{BB962C8B-B14F-4D97-AF65-F5344CB8AC3E}">
        <p14:creationId xmlns:p14="http://schemas.microsoft.com/office/powerpoint/2010/main" val="3049041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087D-11A4-F1B9-8825-5F213C862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Bahnschrift SemiBold"/>
              </a:rPr>
              <a:t>Izvori prometa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6F142-F300-83DC-19FF-4BDFBB4C55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Izravni promet je zadano takav… s njim ne možete ništa učiniti…</a:t>
            </a:r>
          </a:p>
        </p:txBody>
      </p:sp>
      <p:grpSp>
        <p:nvGrpSpPr>
          <p:cNvPr id="23" name="object 7">
            <a:extLst>
              <a:ext uri="{FF2B5EF4-FFF2-40B4-BE49-F238E27FC236}">
                <a16:creationId xmlns:a16="http://schemas.microsoft.com/office/drawing/2014/main" id="{8A27CCD5-02F5-0B86-ED5B-9AEB83CA61A2}"/>
              </a:ext>
            </a:extLst>
          </p:cNvPr>
          <p:cNvGrpSpPr/>
          <p:nvPr/>
        </p:nvGrpSpPr>
        <p:grpSpPr>
          <a:xfrm>
            <a:off x="6467643" y="2486286"/>
            <a:ext cx="4769955" cy="3170503"/>
            <a:chOff x="1619236" y="1217575"/>
            <a:chExt cx="5905488" cy="3924289"/>
          </a:xfrm>
        </p:grpSpPr>
        <p:pic>
          <p:nvPicPr>
            <p:cNvPr id="21" name="object 8">
              <a:extLst>
                <a:ext uri="{FF2B5EF4-FFF2-40B4-BE49-F238E27FC236}">
                  <a16:creationId xmlns:a16="http://schemas.microsoft.com/office/drawing/2014/main" id="{81A98D4C-E07F-D8E7-4423-9D17EA7B8E82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19236" y="1217575"/>
              <a:ext cx="5905488" cy="3924289"/>
            </a:xfrm>
            <a:prstGeom prst="rect">
              <a:avLst/>
            </a:prstGeom>
          </p:spPr>
        </p:pic>
        <p:sp>
          <p:nvSpPr>
            <p:cNvPr id="22" name="object 9">
              <a:extLst>
                <a:ext uri="{FF2B5EF4-FFF2-40B4-BE49-F238E27FC236}">
                  <a16:creationId xmlns:a16="http://schemas.microsoft.com/office/drawing/2014/main" id="{75623458-A1CF-0C35-6CAA-10C5463FB0B1}"/>
                </a:ext>
              </a:extLst>
            </p:cNvPr>
            <p:cNvSpPr/>
            <p:nvPr/>
          </p:nvSpPr>
          <p:spPr>
            <a:xfrm>
              <a:off x="3469967" y="1289282"/>
              <a:ext cx="1477645" cy="1062355"/>
            </a:xfrm>
            <a:custGeom>
              <a:avLst/>
              <a:gdLst/>
              <a:ahLst/>
              <a:cxnLst/>
              <a:rect l="l" t="t" r="r" b="b"/>
              <a:pathLst>
                <a:path w="1477645" h="1062355">
                  <a:moveTo>
                    <a:pt x="73424" y="1062172"/>
                  </a:moveTo>
                  <a:lnTo>
                    <a:pt x="39274" y="1039972"/>
                  </a:lnTo>
                  <a:lnTo>
                    <a:pt x="0" y="601098"/>
                  </a:lnTo>
                  <a:lnTo>
                    <a:pt x="1086072" y="0"/>
                  </a:lnTo>
                  <a:lnTo>
                    <a:pt x="1395172" y="114424"/>
                  </a:lnTo>
                  <a:lnTo>
                    <a:pt x="1477122" y="163949"/>
                  </a:lnTo>
                  <a:lnTo>
                    <a:pt x="1314897" y="500348"/>
                  </a:lnTo>
                  <a:lnTo>
                    <a:pt x="73424" y="1062172"/>
                  </a:lnTo>
                  <a:close/>
                </a:path>
              </a:pathLst>
            </a:custGeom>
            <a:solidFill>
              <a:srgbClr val="E81C62">
                <a:alpha val="43849"/>
              </a:srgbClr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80E0382D-10DD-CFC3-8218-6B4FA3AD1B05}"/>
              </a:ext>
            </a:extLst>
          </p:cNvPr>
          <p:cNvSpPr txBox="1"/>
          <p:nvPr/>
        </p:nvSpPr>
        <p:spPr>
          <a:xfrm>
            <a:off x="8244357" y="5909934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r-HR" sz="1200" dirty="0">
                <a:latin typeface="Bahnschrift" panose="020B0502040204020203" pitchFamily="34" charset="0"/>
                <a:ea typeface="+mn-lt"/>
                <a:cs typeface="+mn-lt"/>
              </a:rPr>
              <a:t>Izvor</a:t>
            </a:r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</a:rPr>
              <a:t> : </a:t>
            </a:r>
            <a:r>
              <a:rPr lang="fr-FR" sz="1200" dirty="0">
                <a:latin typeface="Bahnschrift" panose="020B0502040204020203" pitchFamily="34" charset="0"/>
                <a:ea typeface="+mn-lt"/>
                <a:cs typeface="+mn-lt"/>
                <a:hlinkClick r:id="rId4"/>
              </a:rPr>
              <a:t>https://masoffer.com/xu-huong-affiliate-marketing-2016/</a:t>
            </a:r>
            <a:endParaRPr lang="fr-FR" sz="1200" dirty="0">
              <a:latin typeface="Bahnschrift" panose="020B0502040204020203" pitchFamily="34" charset="0"/>
              <a:ea typeface="+mn-lt"/>
              <a:cs typeface="+mn-lt"/>
            </a:endParaRPr>
          </a:p>
          <a:p>
            <a:endParaRPr lang="fr-FR" sz="1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267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04734-DFA4-12DA-8E18-4AEB2C26F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Prilagođeni izvor (kampanje)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80215-AF75-CD6D-D34F-E38DE1BF59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Kada želite nametnuti izvor na URL-u (klik), možete koristiti alat za izradu URL-ova.</a:t>
            </a:r>
          </a:p>
          <a:p>
            <a:r>
              <a:rPr lang="hr-HR" dirty="0"/>
              <a:t>On automatski dodaje UTM parametre u završni URL. Ti parametri nadjačavaju stvarni izvor.</a:t>
            </a:r>
            <a:endParaRPr lang="en-US" dirty="0"/>
          </a:p>
        </p:txBody>
      </p:sp>
      <p:grpSp>
        <p:nvGrpSpPr>
          <p:cNvPr id="8" name="object 9">
            <a:extLst>
              <a:ext uri="{FF2B5EF4-FFF2-40B4-BE49-F238E27FC236}">
                <a16:creationId xmlns:a16="http://schemas.microsoft.com/office/drawing/2014/main" id="{825E2638-F7E9-8CCE-BBDB-BAC8C189F73F}"/>
              </a:ext>
            </a:extLst>
          </p:cNvPr>
          <p:cNvGrpSpPr/>
          <p:nvPr/>
        </p:nvGrpSpPr>
        <p:grpSpPr>
          <a:xfrm>
            <a:off x="6839210" y="1739375"/>
            <a:ext cx="4175343" cy="4753500"/>
            <a:chOff x="4603265" y="319661"/>
            <a:chExt cx="4361180" cy="4824095"/>
          </a:xfrm>
        </p:grpSpPr>
        <p:pic>
          <p:nvPicPr>
            <p:cNvPr id="6" name="object 10">
              <a:extLst>
                <a:ext uri="{FF2B5EF4-FFF2-40B4-BE49-F238E27FC236}">
                  <a16:creationId xmlns:a16="http://schemas.microsoft.com/office/drawing/2014/main" id="{6BB8980E-422B-DDEF-22E4-03D1A39015A5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608040" y="324424"/>
              <a:ext cx="4351291" cy="4819065"/>
            </a:xfrm>
            <a:prstGeom prst="rect">
              <a:avLst/>
            </a:prstGeom>
          </p:spPr>
        </p:pic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8D185A97-0FD3-E608-5D13-22FA3A7F5A9B}"/>
                </a:ext>
              </a:extLst>
            </p:cNvPr>
            <p:cNvSpPr/>
            <p:nvPr/>
          </p:nvSpPr>
          <p:spPr>
            <a:xfrm>
              <a:off x="4603265" y="319661"/>
              <a:ext cx="4361180" cy="4824095"/>
            </a:xfrm>
            <a:custGeom>
              <a:avLst/>
              <a:gdLst/>
              <a:ahLst/>
              <a:cxnLst/>
              <a:rect l="l" t="t" r="r" b="b"/>
              <a:pathLst>
                <a:path w="4361180" h="4824095">
                  <a:moveTo>
                    <a:pt x="0" y="0"/>
                  </a:moveTo>
                  <a:lnTo>
                    <a:pt x="4360816" y="0"/>
                  </a:lnTo>
                  <a:lnTo>
                    <a:pt x="4360816" y="4823827"/>
                  </a:lnTo>
                </a:path>
                <a:path w="4361180" h="4824095">
                  <a:moveTo>
                    <a:pt x="0" y="482382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D8D8D8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9DFF466-1896-DE9B-E7BC-E16CD1E5ABBE}"/>
              </a:ext>
            </a:extLst>
          </p:cNvPr>
          <p:cNvSpPr txBox="1"/>
          <p:nvPr/>
        </p:nvSpPr>
        <p:spPr>
          <a:xfrm>
            <a:off x="5879684" y="6492612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200" dirty="0">
                <a:latin typeface="Bahnschrift" panose="020B0502040204020203" pitchFamily="34" charset="0"/>
              </a:rPr>
              <a:t>Source: </a:t>
            </a:r>
            <a:r>
              <a:rPr lang="fr-BE" sz="1200" dirty="0">
                <a:latin typeface="Bahnschrift" panose="020B0502040204020203" pitchFamily="34" charset="0"/>
                <a:hlinkClick r:id="rId4"/>
              </a:rPr>
              <a:t>https://fingerspitz.nl/blog/google-analytics-acquisitie-rapporten/</a:t>
            </a:r>
            <a:endParaRPr lang="fr-BE" sz="1200" dirty="0">
              <a:latin typeface="Bahnschrift" panose="020B0502040204020203" pitchFamily="34" charset="0"/>
            </a:endParaRPr>
          </a:p>
          <a:p>
            <a:endParaRPr lang="fr-BE" sz="1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95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41A0-6FA7-EC3F-E494-E0AC7489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Utrošeno vrijeme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5806C-EFA3-B8AC-E55E-94B8531ED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hr-HR" dirty="0"/>
              <a:t>Kako to funkcionira?</a:t>
            </a:r>
            <a:endParaRPr lang="en-US" dirty="0"/>
          </a:p>
          <a:p>
            <a:endParaRPr lang="en-US" dirty="0"/>
          </a:p>
          <a:p>
            <a:r>
              <a:rPr lang="hr-HR" dirty="0"/>
              <a:t>Kada korisnik započne novu sesiju, Google Analytics počinje bilježiti trajanje sesije (u milisekundama). Trajanje se šalje u Analytics kada se dogodi jedan od sljedećih događaja:</a:t>
            </a:r>
          </a:p>
          <a:p>
            <a:pPr lvl="1"/>
            <a:r>
              <a:rPr lang="hr-HR" dirty="0"/>
              <a:t>Korisnik premjesti aplikaciju u pozadinu</a:t>
            </a:r>
          </a:p>
          <a:p>
            <a:pPr lvl="1"/>
            <a:r>
              <a:rPr lang="hr-HR" dirty="0"/>
              <a:t>Korisnik napusti zaslon aplikacije ili web-stranicu (npr. zatvori karticu, prozor ili aplikaciju; ili prijeđe na drugi zaslon ili stranicu)</a:t>
            </a:r>
          </a:p>
          <a:p>
            <a:pPr lvl="1"/>
            <a:r>
              <a:rPr lang="hr-HR" dirty="0"/>
              <a:t>Stranica ili aplikacija se zamrzne</a:t>
            </a:r>
          </a:p>
          <a:p>
            <a:r>
              <a:rPr lang="hr-HR" dirty="0"/>
              <a:t>Trajanje se šalje u parametru </a:t>
            </a:r>
            <a:r>
              <a:rPr lang="hr-HR" b="1" dirty="0" err="1"/>
              <a:t>engagement_time_msec</a:t>
            </a:r>
            <a:r>
              <a:rPr lang="hr-HR" dirty="0"/>
              <a:t> i dodaje se sljedećem prikupljenom događaju.</a:t>
            </a:r>
          </a:p>
        </p:txBody>
      </p:sp>
    </p:spTree>
    <p:extLst>
      <p:ext uri="{BB962C8B-B14F-4D97-AF65-F5344CB8AC3E}">
        <p14:creationId xmlns:p14="http://schemas.microsoft.com/office/powerpoint/2010/main" val="1600235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C5945-C536-6A24-1E89-061CB3F2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SemiBold"/>
              </a:rPr>
              <a:t>HEART </a:t>
            </a:r>
            <a:r>
              <a:rPr lang="hr-HR" dirty="0">
                <a:latin typeface="Bahnschrift SemiBold"/>
              </a:rPr>
              <a:t>okvir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2B93D-CD3C-F6D2-5AB9-8676BAA27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119" y="5668635"/>
            <a:ext cx="10515600" cy="4241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 dirty="0">
                <a:latin typeface="Bahnschrift SemiLight"/>
                <a:hlinkClick r:id="rId3"/>
              </a:rPr>
              <a:t>Source: https://www.heartframework.com/</a:t>
            </a:r>
            <a:r>
              <a:rPr lang="en-US" sz="1200" dirty="0">
                <a:latin typeface="Bahnschrift SemiLight"/>
              </a:rPr>
              <a:t> </a:t>
            </a:r>
          </a:p>
        </p:txBody>
      </p:sp>
      <p:pic>
        <p:nvPicPr>
          <p:cNvPr id="4" name="Picture 3" descr="Should You Love the HEART Framework? – MeasuringU">
            <a:extLst>
              <a:ext uri="{FF2B5EF4-FFF2-40B4-BE49-F238E27FC236}">
                <a16:creationId xmlns:a16="http://schemas.microsoft.com/office/drawing/2014/main" id="{3F7578CF-593C-1541-0B28-6FEA9991E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059" y="1690797"/>
            <a:ext cx="6629400" cy="397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08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3A8CA-1561-9487-F44E-04B0224E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1127D-8124-EADC-771F-6FD0E761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SemiBold"/>
              </a:rPr>
              <a:t>HEART </a:t>
            </a:r>
            <a:r>
              <a:rPr lang="hr-HR" dirty="0">
                <a:latin typeface="Bahnschrift SemiBold"/>
              </a:rPr>
              <a:t>okvir</a:t>
            </a:r>
            <a:endParaRPr lang="en-US" dirty="0"/>
          </a:p>
        </p:txBody>
      </p:sp>
      <p:pic>
        <p:nvPicPr>
          <p:cNvPr id="5" name="Picture 4" descr="Google Heart Framework Example">
            <a:extLst>
              <a:ext uri="{FF2B5EF4-FFF2-40B4-BE49-F238E27FC236}">
                <a16:creationId xmlns:a16="http://schemas.microsoft.com/office/drawing/2014/main" id="{B4F1F384-DEDE-DADA-529D-D80A7DA59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665" y="1712696"/>
            <a:ext cx="7068670" cy="454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387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95792-11BE-23E5-B0AF-2A390EF4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E9F0-F895-C23F-A130-0FE715ACE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Bahnschrift SemiBold"/>
              </a:rPr>
              <a:t>Vježba u demo profilima</a:t>
            </a:r>
            <a:r>
              <a:rPr lang="en-US" dirty="0">
                <a:latin typeface="Bahnschrift SemiBold"/>
              </a:rPr>
              <a:t> GA4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13D28-E052-F143-2CFD-2DD52FF46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>
                <a:latin typeface="Bahnschrift SemiLight"/>
              </a:rPr>
              <a:t>Pristup demo računu </a:t>
            </a:r>
            <a:r>
              <a:rPr lang="en-US" dirty="0">
                <a:latin typeface="Bahnschrift SemiLight"/>
              </a:rPr>
              <a:t>Google GA4</a:t>
            </a:r>
          </a:p>
          <a:p>
            <a:pPr marL="0" indent="0">
              <a:buNone/>
            </a:pPr>
            <a:endParaRPr lang="en-US" dirty="0">
              <a:latin typeface="Bahnschrift SemiLight"/>
            </a:endParaRPr>
          </a:p>
          <a:p>
            <a:pPr marL="0" indent="0">
              <a:buNone/>
            </a:pPr>
            <a:r>
              <a:rPr lang="en-US" dirty="0">
                <a:latin typeface="Bahnschrift SemiLight"/>
                <a:hlinkClick r:id="rId3"/>
              </a:rPr>
              <a:t>https://support.google.com/analytics/answer/10993011?hl=en</a:t>
            </a:r>
            <a:r>
              <a:rPr lang="en-US" dirty="0">
                <a:latin typeface="Bahnschrift SemiLight"/>
              </a:rPr>
              <a:t> 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hr-HR" dirty="0">
                <a:latin typeface="Bahnschrift SemiLight"/>
              </a:rPr>
              <a:t>za</a:t>
            </a:r>
            <a:endParaRPr lang="en-US" dirty="0">
              <a:latin typeface="Bahnschrift SemiLight"/>
            </a:endParaRPr>
          </a:p>
          <a:p>
            <a:pPr marL="0" indent="0">
              <a:buNone/>
            </a:pPr>
            <a:endParaRPr lang="en-US" dirty="0">
              <a:latin typeface="Bahnschrift SemiLight"/>
            </a:endParaRPr>
          </a:p>
          <a:p>
            <a:pPr marL="0" indent="0">
              <a:buNone/>
            </a:pPr>
            <a:r>
              <a:rPr lang="en-US" dirty="0">
                <a:latin typeface="Bahnschrift SemiLight"/>
              </a:rPr>
              <a:t>Google Merch Shop </a:t>
            </a:r>
            <a:r>
              <a:rPr lang="en-US" dirty="0">
                <a:latin typeface="Bahnschrift SemiLight"/>
                <a:hlinkClick r:id="rId4"/>
              </a:rPr>
              <a:t>https://shop.merch.google/</a:t>
            </a:r>
            <a:r>
              <a:rPr lang="en-US" dirty="0">
                <a:latin typeface="Bahnschrift SemiLigh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5530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DAA6F9-7B5C-3B8F-FAB9-0A367225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5D7F82-8FEB-9156-6612-5C81F9300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/>
              <a:t>U Google DEMO računu (Google Analytics 4),</a:t>
            </a:r>
            <a:br>
              <a:rPr lang="hr-HR" dirty="0"/>
            </a:br>
            <a:r>
              <a:rPr lang="hr-HR" dirty="0"/>
              <a:t>analiza performansi proizvoda pomoću </a:t>
            </a:r>
            <a:r>
              <a:rPr lang="hr-HR" dirty="0" err="1"/>
              <a:t>Explore</a:t>
            </a:r>
            <a:r>
              <a:rPr lang="hr-HR" dirty="0"/>
              <a:t> (za rujan 2024.)</a:t>
            </a:r>
          </a:p>
          <a:p>
            <a:pPr marL="0" indent="0">
              <a:buNone/>
            </a:pPr>
            <a:endParaRPr lang="hr-HR" dirty="0"/>
          </a:p>
          <a:p>
            <a:r>
              <a:rPr lang="hr-HR" dirty="0"/>
              <a:t>Koja kategorija proizvoda je ostvarila najveći prihod na demo stranici?</a:t>
            </a:r>
          </a:p>
          <a:p>
            <a:r>
              <a:rPr lang="hr-HR" dirty="0"/>
              <a:t>Koji proizvod ima najvišu stopu konverzije?</a:t>
            </a:r>
          </a:p>
          <a:p>
            <a:r>
              <a:rPr lang="hr-HR" dirty="0"/>
              <a:t>Identificirajte stranice s najvišim stopama angažmana.</a:t>
            </a:r>
          </a:p>
          <a:p>
            <a:r>
              <a:rPr lang="hr-HR" dirty="0"/>
              <a:t>Koji kanali prometa generiraju najviše novih korisnika?</a:t>
            </a:r>
          </a:p>
        </p:txBody>
      </p:sp>
    </p:spTree>
    <p:extLst>
      <p:ext uri="{BB962C8B-B14F-4D97-AF65-F5344CB8AC3E}">
        <p14:creationId xmlns:p14="http://schemas.microsoft.com/office/powerpoint/2010/main" val="38133314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F8D0B-7A1A-8E52-374C-4438A1094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969A7BF-14E7-A421-1116-B90E7C7E1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F8CEE0-A9F5-32AB-D98C-64E5D84C8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hr-HR" dirty="0"/>
              <a:t>U Google DEMO računu (Google Analytics 4),</a:t>
            </a:r>
          </a:p>
          <a:p>
            <a:pPr marL="0" indent="0">
              <a:buNone/>
            </a:pPr>
            <a:endParaRPr lang="hr-HR" b="1" dirty="0"/>
          </a:p>
          <a:p>
            <a:pPr marL="0" indent="0">
              <a:buNone/>
            </a:pPr>
            <a:r>
              <a:rPr lang="hr-HR" b="1" dirty="0"/>
              <a:t>Kreiranje publike</a:t>
            </a:r>
          </a:p>
          <a:p>
            <a:r>
              <a:rPr lang="hr-HR" dirty="0"/>
              <a:t>Kreirajte publiku korisnika koji su dodali proizvod u košaricu, ali nisu dovršili kupnju.</a:t>
            </a:r>
          </a:p>
          <a:p>
            <a:r>
              <a:rPr lang="hr-HR" dirty="0"/>
              <a:t>Kreirajte publiku korisnika koji su posjetili stranicu proizvoda, ali ga nisu dodali u košaricu.</a:t>
            </a:r>
          </a:p>
        </p:txBody>
      </p:sp>
    </p:spTree>
    <p:extLst>
      <p:ext uri="{BB962C8B-B14F-4D97-AF65-F5344CB8AC3E}">
        <p14:creationId xmlns:p14="http://schemas.microsoft.com/office/powerpoint/2010/main" val="1047801492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C2AB7-4586-8EC4-CE23-4E50CD85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49B8274-F172-02A8-02A6-56D86C59B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23515C-03DE-9769-CB7D-E51920087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/>
              <a:t>U Google DEMO računu (Google Analytics 4),</a:t>
            </a:r>
          </a:p>
          <a:p>
            <a:endParaRPr lang="hr-HR" b="1" dirty="0"/>
          </a:p>
          <a:p>
            <a:r>
              <a:rPr lang="hr-HR" b="1" dirty="0"/>
              <a:t>Izrada </a:t>
            </a:r>
            <a:r>
              <a:rPr lang="hr-HR" b="1" dirty="0" err="1"/>
              <a:t>funnel</a:t>
            </a:r>
            <a:r>
              <a:rPr lang="hr-HR" b="1" dirty="0"/>
              <a:t>-a u </a:t>
            </a:r>
            <a:r>
              <a:rPr lang="hr-HR" b="1" dirty="0" err="1"/>
              <a:t>Explore</a:t>
            </a:r>
            <a:br>
              <a:rPr lang="hr-HR" dirty="0"/>
            </a:br>
            <a:r>
              <a:rPr lang="hr-HR" dirty="0"/>
              <a:t>Izrada prodajnog </a:t>
            </a:r>
            <a:r>
              <a:rPr lang="hr-HR" dirty="0" err="1"/>
              <a:t>funnel</a:t>
            </a:r>
            <a:r>
              <a:rPr lang="hr-HR" dirty="0"/>
              <a:t>-a (od početka sesije do kupnje)</a:t>
            </a:r>
          </a:p>
          <a:p>
            <a:r>
              <a:rPr lang="hr-HR" dirty="0"/>
              <a:t>Kako se ovaj </a:t>
            </a:r>
            <a:r>
              <a:rPr lang="hr-HR" dirty="0" err="1"/>
              <a:t>funnel</a:t>
            </a:r>
            <a:r>
              <a:rPr lang="hr-HR" dirty="0"/>
              <a:t> može usporediti kako bi se provjerilo jesu li mobilni uređaji jednako učinkoviti kao desktop računala?</a:t>
            </a:r>
          </a:p>
        </p:txBody>
      </p:sp>
    </p:spTree>
    <p:extLst>
      <p:ext uri="{BB962C8B-B14F-4D97-AF65-F5344CB8AC3E}">
        <p14:creationId xmlns:p14="http://schemas.microsoft.com/office/powerpoint/2010/main" val="1823397677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E090-2F98-4E4A-DF54-FC407A0D7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Bahnschrift SemiBold"/>
              </a:rPr>
              <a:t>Otvorena rasprava</a:t>
            </a:r>
            <a:endParaRPr lang="en-US" dirty="0">
              <a:latin typeface="Bahnschrift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6CD8-7380-0292-AFFB-3404AF2E6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dirty="0"/>
              <a:t>Klijent želi znati zašto je prodaja pala u posljednjih 30 dana. Što provjeravate?</a:t>
            </a:r>
          </a:p>
          <a:p>
            <a:r>
              <a:rPr lang="hr-HR" dirty="0"/>
              <a:t>Praćenje konverzija ne radi ispravno — kako možete identificirati problem?</a:t>
            </a:r>
          </a:p>
          <a:p>
            <a:r>
              <a:rPr lang="hr-HR" dirty="0"/>
              <a:t>Potrebno je poboljšati stopu angažmana na ključnoj stranici. Što mjerite i kako?</a:t>
            </a:r>
          </a:p>
        </p:txBody>
      </p:sp>
    </p:spTree>
    <p:extLst>
      <p:ext uri="{BB962C8B-B14F-4D97-AF65-F5344CB8AC3E}">
        <p14:creationId xmlns:p14="http://schemas.microsoft.com/office/powerpoint/2010/main" val="34667865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F4D2-F7C2-C3F8-C8E7-99E5DA311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932C74-90B2-F4E9-77E2-3FE520A5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C550D1-C1CB-015C-CDD8-B894AA99D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/>
              <a:t>U Google DEMO računu (Google Analytics 4),</a:t>
            </a:r>
          </a:p>
          <a:p>
            <a:pPr marL="0" indent="0">
              <a:buNone/>
            </a:pPr>
            <a:endParaRPr lang="hr-HR" b="1" dirty="0"/>
          </a:p>
          <a:p>
            <a:pPr marL="0" indent="0">
              <a:buNone/>
            </a:pPr>
            <a:r>
              <a:rPr lang="hr-HR" b="1" dirty="0"/>
              <a:t>Analiza novih korisnika:</a:t>
            </a:r>
          </a:p>
          <a:p>
            <a:r>
              <a:rPr lang="hr-HR" dirty="0"/>
              <a:t>Pitanje: Od 1. do 31. listopada 2024., koliko je novih korisnika posjetilo stranicu?</a:t>
            </a:r>
          </a:p>
          <a:p>
            <a:r>
              <a:rPr lang="hr-HR" dirty="0"/>
              <a:t>Cilj: Koristiti omjer akvizicije za dobivanje ove metrike.</a:t>
            </a:r>
          </a:p>
        </p:txBody>
      </p:sp>
    </p:spTree>
    <p:extLst>
      <p:ext uri="{BB962C8B-B14F-4D97-AF65-F5344CB8AC3E}">
        <p14:creationId xmlns:p14="http://schemas.microsoft.com/office/powerpoint/2010/main" val="3644873032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B24A0-96FC-8D58-1A87-C0081106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0A03AB1-AC03-DCFF-6513-9C2D73F5B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7A6C61-0F42-9BA9-9D1B-B14EDAF41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/>
              <a:t>U Google DEMO računu (Google Analytics 4),</a:t>
            </a:r>
          </a:p>
          <a:p>
            <a:pPr marL="0" indent="0">
              <a:buNone/>
            </a:pPr>
            <a:endParaRPr lang="hr-HR" b="1" dirty="0"/>
          </a:p>
          <a:p>
            <a:pPr marL="0" indent="0">
              <a:buNone/>
            </a:pPr>
            <a:r>
              <a:rPr lang="hr-HR" b="1" dirty="0"/>
              <a:t>Najuspješniji izvor prometa:</a:t>
            </a:r>
          </a:p>
          <a:p>
            <a:r>
              <a:rPr lang="hr-HR" dirty="0"/>
              <a:t>Pitanje: Između 1. i 15. studenoga 2024., koji je izvor prometa generirao najviše sesija?</a:t>
            </a:r>
          </a:p>
          <a:p>
            <a:r>
              <a:rPr lang="hr-HR" dirty="0"/>
              <a:t>Cilj: Identificirati najučinkovitiji izvor u izvještaju o akviziciji.</a:t>
            </a:r>
          </a:p>
        </p:txBody>
      </p:sp>
    </p:spTree>
    <p:extLst>
      <p:ext uri="{BB962C8B-B14F-4D97-AF65-F5344CB8AC3E}">
        <p14:creationId xmlns:p14="http://schemas.microsoft.com/office/powerpoint/2010/main" val="3574179064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E20EE-05C6-1661-05AE-29DA9CD45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DE5726-6576-5317-ABCB-26591D57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ED0660-2A53-B491-D4AE-2A1214F2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/>
              <a:t>U Google DEMO računu (Google Analytics 4),</a:t>
            </a:r>
          </a:p>
          <a:p>
            <a:pPr marL="0" indent="0">
              <a:buNone/>
            </a:pPr>
            <a:endParaRPr lang="hr-HR" b="1" dirty="0"/>
          </a:p>
          <a:p>
            <a:pPr marL="0" indent="0">
              <a:buNone/>
            </a:pPr>
            <a:r>
              <a:rPr lang="hr-HR" b="1" dirty="0"/>
              <a:t>Konverzije za </a:t>
            </a:r>
            <a:r>
              <a:rPr lang="hr-HR" b="1" dirty="0" err="1"/>
              <a:t>Add</a:t>
            </a:r>
            <a:r>
              <a:rPr lang="hr-HR" b="1" dirty="0"/>
              <a:t> to </a:t>
            </a:r>
            <a:r>
              <a:rPr lang="hr-HR" b="1" dirty="0" err="1"/>
              <a:t>Cart</a:t>
            </a:r>
            <a:r>
              <a:rPr lang="hr-HR" b="1" dirty="0"/>
              <a:t>:</a:t>
            </a:r>
          </a:p>
          <a:p>
            <a:r>
              <a:rPr lang="hr-HR" dirty="0"/>
              <a:t>Pitanje: U razdoblju od 1. do 30. listopada 2024., koliko je puta pokrenut događaj </a:t>
            </a:r>
            <a:r>
              <a:rPr lang="hr-HR" i="1" dirty="0" err="1"/>
              <a:t>add_to_cart</a:t>
            </a:r>
            <a:r>
              <a:rPr lang="hr-HR" dirty="0"/>
              <a:t>?</a:t>
            </a:r>
          </a:p>
          <a:p>
            <a:r>
              <a:rPr lang="hr-HR" dirty="0"/>
              <a:t>Cilj: Identificirati okidače za specifični e-</a:t>
            </a:r>
            <a:r>
              <a:rPr lang="hr-HR" dirty="0" err="1"/>
              <a:t>commerce</a:t>
            </a:r>
            <a:r>
              <a:rPr lang="hr-HR" dirty="0"/>
              <a:t> događaj.</a:t>
            </a:r>
          </a:p>
        </p:txBody>
      </p:sp>
    </p:spTree>
    <p:extLst>
      <p:ext uri="{BB962C8B-B14F-4D97-AF65-F5344CB8AC3E}">
        <p14:creationId xmlns:p14="http://schemas.microsoft.com/office/powerpoint/2010/main" val="310156873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13A86-0275-0AE1-2E46-94AA6903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5E4D206-7305-59F7-071B-33A48A629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CE5E19-E645-1BC2-FFC3-6888EA5AF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/>
              <a:t>U Google DEMO računu (Google Analytics 4),</a:t>
            </a:r>
          </a:p>
          <a:p>
            <a:pPr marL="0" indent="0">
              <a:buNone/>
            </a:pPr>
            <a:endParaRPr lang="hr-HR" b="1" dirty="0"/>
          </a:p>
          <a:p>
            <a:pPr marL="0" indent="0">
              <a:buNone/>
            </a:pPr>
            <a:r>
              <a:rPr lang="hr-HR" b="1" dirty="0"/>
              <a:t>Geografska uspješnost:</a:t>
            </a:r>
          </a:p>
          <a:p>
            <a:r>
              <a:rPr lang="hr-HR" dirty="0"/>
              <a:t>Pitanje: Između 1. listopada i 15. studenoga 2024., koja je regija u Sjedinjenim Američkim Državama ostvarila najveći prihod?</a:t>
            </a:r>
          </a:p>
          <a:p>
            <a:r>
              <a:rPr lang="hr-HR" dirty="0"/>
              <a:t>Cilj: Istražiti uspješnost po regijama u geografskim izvještajima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266393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98A40-6388-85F0-675D-D9DD86B86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24B63BE-8586-6FEC-E015-ABC5282C1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5F37F4-3406-209C-6F22-08449027D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hr-HR" dirty="0"/>
              <a:t>U Google DEMO računu (Google Analytics 4),</a:t>
            </a:r>
          </a:p>
          <a:p>
            <a:pPr marL="0" indent="0">
              <a:buNone/>
            </a:pPr>
            <a:endParaRPr lang="hr-HR" dirty="0"/>
          </a:p>
          <a:p>
            <a:r>
              <a:rPr lang="hr-HR" dirty="0"/>
              <a:t>Pitanje: Između 1. i 30. rujna 2024., za proizvode dodane u košaricu (</a:t>
            </a:r>
            <a:r>
              <a:rPr lang="hr-HR" i="1" dirty="0" err="1"/>
              <a:t>add_to_cart</a:t>
            </a:r>
            <a:r>
              <a:rPr lang="hr-HR" dirty="0"/>
              <a:t>), koji je izvor prometa generirao najviše dodavanja?</a:t>
            </a:r>
          </a:p>
          <a:p>
            <a:r>
              <a:rPr lang="hr-HR" dirty="0"/>
              <a:t>Cilj: Koristiti „Izvor prometa” kao sekundarnu dimenziju u izvještaju o događajima.</a:t>
            </a:r>
          </a:p>
        </p:txBody>
      </p:sp>
    </p:spTree>
    <p:extLst>
      <p:ext uri="{BB962C8B-B14F-4D97-AF65-F5344CB8AC3E}">
        <p14:creationId xmlns:p14="http://schemas.microsoft.com/office/powerpoint/2010/main" val="1193545550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91A5A-B04B-4599-9861-843A3724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A1966E-A19A-49CF-B922-FCD0FD385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015817-5A1F-8C62-AEBA-A68EF36EA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/>
              <a:t>U Google DEMO računu (Google Analytics 4),</a:t>
            </a:r>
          </a:p>
          <a:p>
            <a:pPr marL="0" indent="0">
              <a:buNone/>
            </a:pPr>
            <a:endParaRPr lang="hr-HR" b="1" dirty="0"/>
          </a:p>
          <a:p>
            <a:pPr marL="0" indent="0">
              <a:buNone/>
            </a:pPr>
            <a:r>
              <a:rPr lang="hr-HR" b="1" dirty="0"/>
              <a:t>Učinkovitost stranica prema vrsti uređaja:</a:t>
            </a:r>
          </a:p>
          <a:p>
            <a:r>
              <a:rPr lang="hr-HR" dirty="0"/>
              <a:t>Pitanje: U razdoblju od 1. do 31. kolovoza 2024., koja je stranica ostvarila najveću stopu </a:t>
            </a:r>
            <a:r>
              <a:rPr lang="hr-HR" dirty="0" err="1"/>
              <a:t>klikanja</a:t>
            </a:r>
            <a:r>
              <a:rPr lang="hr-HR" dirty="0"/>
              <a:t> (CTR) za korisnike koji koriste isključivo mobilne uređaje?</a:t>
            </a:r>
          </a:p>
          <a:p>
            <a:r>
              <a:rPr lang="hr-HR" dirty="0"/>
              <a:t>Cilj: Primijeniti filter za izdvajanje mobilnih uređaja i analizirati učinkovitost stranica.</a:t>
            </a:r>
          </a:p>
        </p:txBody>
      </p:sp>
    </p:spTree>
    <p:extLst>
      <p:ext uri="{BB962C8B-B14F-4D97-AF65-F5344CB8AC3E}">
        <p14:creationId xmlns:p14="http://schemas.microsoft.com/office/powerpoint/2010/main" val="25584532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450A-1909-5091-0B58-52F22B807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D762D8-F5E6-2D74-FC8C-6707A8B9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446A2E-A9EC-9710-548A-F98A4A94C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/>
              <a:t>U Google DEMO računu (Google Analytics 4),</a:t>
            </a:r>
          </a:p>
          <a:p>
            <a:pPr marL="0" indent="0">
              <a:buNone/>
            </a:pPr>
            <a:endParaRPr lang="hr-HR" b="1" dirty="0"/>
          </a:p>
          <a:p>
            <a:pPr marL="0" indent="0">
              <a:buNone/>
            </a:pPr>
            <a:r>
              <a:rPr lang="hr-HR" b="1" dirty="0"/>
              <a:t>Plaćeni promet i ponašanje korisnika:</a:t>
            </a:r>
          </a:p>
          <a:p>
            <a:r>
              <a:rPr lang="hr-HR" dirty="0"/>
              <a:t>Pitanje: Između 1. listopada i 15. studenoga 2024., koliko su stranica u prosjeku posjetili korisnici koji dolaze iz plaćenog pretraživanja?</a:t>
            </a:r>
          </a:p>
          <a:p>
            <a:r>
              <a:rPr lang="hr-HR" dirty="0"/>
              <a:t>Cilj: Primijeniti filter </a:t>
            </a:r>
            <a:r>
              <a:rPr lang="hr-HR" b="1" dirty="0" err="1"/>
              <a:t>medium</a:t>
            </a:r>
            <a:r>
              <a:rPr lang="hr-HR" b="1" dirty="0"/>
              <a:t> = </a:t>
            </a:r>
            <a:r>
              <a:rPr lang="hr-HR" b="1" dirty="0" err="1"/>
              <a:t>paid_search</a:t>
            </a:r>
            <a:r>
              <a:rPr lang="hr-HR" dirty="0"/>
              <a:t> i analizirati metrike angažmana (pregledi stranica po sesiji).</a:t>
            </a:r>
          </a:p>
        </p:txBody>
      </p:sp>
    </p:spTree>
    <p:extLst>
      <p:ext uri="{BB962C8B-B14F-4D97-AF65-F5344CB8AC3E}">
        <p14:creationId xmlns:p14="http://schemas.microsoft.com/office/powerpoint/2010/main" val="387705573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8B312-6FD7-46E6-C154-0B9023078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EA73C2-E871-B886-454D-3C2A152D7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750463-DD3E-418F-F0DB-9346E1B18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/>
              <a:t>U Google DEMO računu (Google Analytics 4),</a:t>
            </a:r>
          </a:p>
          <a:p>
            <a:endParaRPr lang="hr-HR" b="1" dirty="0"/>
          </a:p>
          <a:p>
            <a:pPr marL="0" indent="0">
              <a:buNone/>
            </a:pPr>
            <a:r>
              <a:rPr lang="hr-HR" b="1" dirty="0"/>
              <a:t>Prosječno vrijeme po izvoru prometa:</a:t>
            </a:r>
          </a:p>
          <a:p>
            <a:r>
              <a:rPr lang="hr-HR" dirty="0"/>
              <a:t>Pitanje: Između 1. i 31. kolovoza 2024., koji je izvor prometa generirao najduže prosječno trajanje sesije za posjetitelje iz Francuske?</a:t>
            </a:r>
          </a:p>
          <a:p>
            <a:r>
              <a:rPr lang="hr-HR" dirty="0"/>
              <a:t>Cilj: Primijeniti filter </a:t>
            </a:r>
            <a:r>
              <a:rPr lang="hr-HR" b="1" dirty="0" err="1"/>
              <a:t>country</a:t>
            </a:r>
            <a:r>
              <a:rPr lang="hr-HR" b="1" dirty="0"/>
              <a:t> = France</a:t>
            </a:r>
            <a:r>
              <a:rPr lang="hr-HR" dirty="0"/>
              <a:t> i analizirati uspješnost izvora prometa.</a:t>
            </a:r>
          </a:p>
        </p:txBody>
      </p:sp>
    </p:spTree>
    <p:extLst>
      <p:ext uri="{BB962C8B-B14F-4D97-AF65-F5344CB8AC3E}">
        <p14:creationId xmlns:p14="http://schemas.microsoft.com/office/powerpoint/2010/main" val="4288975152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A77E6-E189-93C8-EF5B-7DCB616E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C70BB1-4B35-4B13-3528-4F229DC81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DD9C3F-799B-E95B-0920-7FF89F527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/>
              <a:t>U Google DEMO računu (Google Analytics 4),</a:t>
            </a:r>
          </a:p>
          <a:p>
            <a:pPr marL="0" indent="0">
              <a:buNone/>
            </a:pPr>
            <a:endParaRPr lang="hr-HR" b="1" dirty="0"/>
          </a:p>
          <a:p>
            <a:pPr marL="0" indent="0">
              <a:buNone/>
            </a:pPr>
            <a:r>
              <a:rPr lang="hr-HR" b="1" dirty="0"/>
              <a:t>Konverzije prema državi i vrsti uređaja:</a:t>
            </a:r>
          </a:p>
          <a:p>
            <a:r>
              <a:rPr lang="hr-HR" dirty="0"/>
              <a:t>Pitanje: Između 1. rujna i 31. listopada 2024., koja je država zabilježila najviše konverzija s tableta?</a:t>
            </a:r>
          </a:p>
          <a:p>
            <a:r>
              <a:rPr lang="hr-HR" dirty="0"/>
              <a:t>Cilj: Koristiti „Državu” i „Vrstu uređaja” kao dimenzije za analizu konverzija</a:t>
            </a:r>
          </a:p>
        </p:txBody>
      </p:sp>
    </p:spTree>
    <p:extLst>
      <p:ext uri="{BB962C8B-B14F-4D97-AF65-F5344CB8AC3E}">
        <p14:creationId xmlns:p14="http://schemas.microsoft.com/office/powerpoint/2010/main" val="3519045171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E772A-08AD-2DFC-9F1A-4622EC576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6E7A1D1-BCD5-A0C7-03D2-3EB81EA27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Samostalna vježba ili vježba u paru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8CC1C6-71A3-57C9-4FDF-A4C030143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08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r-HR" dirty="0"/>
              <a:t>U Google DEMO računu (Google Analytics 4),</a:t>
            </a:r>
          </a:p>
          <a:p>
            <a:pPr marL="0" indent="0">
              <a:buNone/>
            </a:pPr>
            <a:endParaRPr lang="hr-HR" b="1" dirty="0"/>
          </a:p>
          <a:p>
            <a:pPr marL="0" indent="0">
              <a:buNone/>
            </a:pPr>
            <a:r>
              <a:rPr lang="hr-HR" b="1" dirty="0"/>
              <a:t>Povratni korisnici prema vrsti akvizicije:</a:t>
            </a:r>
          </a:p>
          <a:p>
            <a:r>
              <a:rPr lang="hr-HR" dirty="0"/>
              <a:t>Pitanje: Za mjesec rujan 2024., među povratnim korisnicima, koja je marketinška kampanja ostvarila najveći broj sesija?</a:t>
            </a:r>
          </a:p>
          <a:p>
            <a:r>
              <a:rPr lang="hr-HR" dirty="0"/>
              <a:t>Cilj: Primijeniti filter za povratne korisnike i analizirati kampanje u izvještajima o akviziciji.</a:t>
            </a:r>
          </a:p>
        </p:txBody>
      </p:sp>
    </p:spTree>
    <p:extLst>
      <p:ext uri="{BB962C8B-B14F-4D97-AF65-F5344CB8AC3E}">
        <p14:creationId xmlns:p14="http://schemas.microsoft.com/office/powerpoint/2010/main" val="1493350808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0177-B953-40CD-352C-1886B9DF8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3600" dirty="0">
                <a:latin typeface="Bahnschrift SemiBold"/>
              </a:rPr>
              <a:t>Sažetak</a:t>
            </a:r>
            <a:endParaRPr lang="fr-BE" sz="3600" dirty="0">
              <a:latin typeface="Bahnschrift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08594-8ECA-0466-27B4-44C981137F8C}"/>
              </a:ext>
            </a:extLst>
          </p:cNvPr>
          <p:cNvSpPr txBox="1"/>
          <p:nvPr/>
        </p:nvSpPr>
        <p:spPr>
          <a:xfrm>
            <a:off x="838200" y="1937551"/>
            <a:ext cx="96512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U ovoj lekciji istražili smo kako kvantificirati i procijeniti korisničko iskustvo pomoću podataka.</a:t>
            </a:r>
          </a:p>
          <a:p>
            <a:endParaRPr lang="hr-HR" dirty="0"/>
          </a:p>
          <a:p>
            <a:r>
              <a:rPr lang="hr-HR" dirty="0"/>
              <a:t>Naučili ste razliku između metrika (poput stope dovršetka zadatka, vremena potrebnog za izvršenje zadatka, stope pogrešaka), analitike (praćenje ponašanja korisnika putem alata poput Google Analytics ili </a:t>
            </a:r>
            <a:r>
              <a:rPr lang="hr-HR" dirty="0" err="1"/>
              <a:t>Hotjar</a:t>
            </a:r>
            <a:r>
              <a:rPr lang="hr-HR" dirty="0"/>
              <a:t>) i tehnika praćenja (kao što su </a:t>
            </a:r>
            <a:r>
              <a:rPr lang="hr-HR" dirty="0" err="1"/>
              <a:t>heatmape</a:t>
            </a:r>
            <a:r>
              <a:rPr lang="hr-HR" dirty="0"/>
              <a:t>, </a:t>
            </a:r>
            <a:r>
              <a:rPr lang="hr-HR" dirty="0" err="1"/>
              <a:t>funneli</a:t>
            </a:r>
            <a:r>
              <a:rPr lang="hr-HR" dirty="0"/>
              <a:t> i označavanje događaja).</a:t>
            </a:r>
          </a:p>
          <a:p>
            <a:endParaRPr lang="hr-HR" dirty="0"/>
          </a:p>
          <a:p>
            <a:r>
              <a:rPr lang="hr-HR" dirty="0"/>
              <a:t>Cilj je ići dalje od pretpostavki — prikupljanjem stvarnih podataka o korisnicima možete donositi informirane odluke o dizajnu, identificirati problematične točke i mjeriti kako se vaš dizajn razvija kroz vrijeme.</a:t>
            </a:r>
          </a:p>
          <a:p>
            <a:endParaRPr lang="hr-HR" dirty="0"/>
          </a:p>
          <a:p>
            <a:r>
              <a:rPr lang="hr-HR" dirty="0"/>
              <a:t>Ključna poruka? Ono što se mjeri, može se unaprijediti. Koristite metrike i analitiku kao kompas za dizajniranje iskustava koja doista služe korisnicima i ostvaruju poslovne ciljeve.</a:t>
            </a:r>
          </a:p>
        </p:txBody>
      </p:sp>
    </p:spTree>
    <p:extLst>
      <p:ext uri="{BB962C8B-B14F-4D97-AF65-F5344CB8AC3E}">
        <p14:creationId xmlns:p14="http://schemas.microsoft.com/office/powerpoint/2010/main" val="10450377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5D1CF-B20B-6329-9CA8-DB7398CD4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IZVORI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10EA56-7003-D841-7DD0-87293D83F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latin typeface="Bahnschrift SemiLight"/>
                <a:hlinkClick r:id="rId3"/>
              </a:rPr>
              <a:t>https://www.thyngster.com/ga4-measurement-protocol-cheatsheet/</a:t>
            </a:r>
            <a:r>
              <a:rPr lang="fr-FR" dirty="0">
                <a:latin typeface="Bahnschrift SemiLight"/>
              </a:rPr>
              <a:t> </a:t>
            </a:r>
          </a:p>
          <a:p>
            <a:r>
              <a:rPr lang="fr-FR" dirty="0">
                <a:latin typeface="Bahnschrift SemiLight"/>
                <a:hlinkClick r:id="rId4"/>
              </a:rPr>
              <a:t>https://www.autoriteprotectiondonnees.be/citoyen/themes/internet/cookies</a:t>
            </a:r>
            <a:r>
              <a:rPr lang="fr-FR" dirty="0">
                <a:latin typeface="Bahnschrift SemiLight"/>
              </a:rPr>
              <a:t> </a:t>
            </a:r>
          </a:p>
          <a:p>
            <a:r>
              <a:rPr lang="fr-FR" dirty="0">
                <a:latin typeface="Bahnschrift SemiLight"/>
                <a:hlinkClick r:id="rId5"/>
              </a:rPr>
              <a:t>https://support.google.com/analytics/table/13948007?visit_id=638753942898755878-2040512900&amp;rd=2</a:t>
            </a:r>
            <a:r>
              <a:rPr lang="fr-FR" dirty="0">
                <a:latin typeface="Bahnschrift SemiLight"/>
              </a:rPr>
              <a:t> </a:t>
            </a:r>
          </a:p>
          <a:p>
            <a:r>
              <a:rPr lang="fr-FR" dirty="0">
                <a:latin typeface="Bahnschrift SemiLight"/>
                <a:hlinkClick r:id="rId6"/>
              </a:rPr>
              <a:t>https://ga-dev-tools.google/campaign-url-builder/</a:t>
            </a:r>
            <a:r>
              <a:rPr lang="fr-FR" dirty="0">
                <a:latin typeface="Bahnschrift SemiLight"/>
              </a:rPr>
              <a:t> </a:t>
            </a:r>
          </a:p>
          <a:p>
            <a:r>
              <a:rPr lang="fr-FR" dirty="0">
                <a:latin typeface="Bahnschrift SemiLight"/>
                <a:hlinkClick r:id="rId7"/>
              </a:rPr>
              <a:t>https://www.heartframework.com/</a:t>
            </a:r>
            <a:r>
              <a:rPr lang="fr-FR" dirty="0">
                <a:latin typeface="Bahnschrift SemiLigh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14554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993D-08C5-D446-57D3-010CC50E6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DODATNA LITERATURA</a:t>
            </a:r>
            <a:endParaRPr lang="fr-BE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5720546-333F-4757-FD72-B9A88D4A59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068737"/>
              </p:ext>
            </p:extLst>
          </p:nvPr>
        </p:nvGraphicFramePr>
        <p:xfrm>
          <a:off x="942677" y="2105382"/>
          <a:ext cx="9780741" cy="2224025"/>
        </p:xfrm>
        <a:graphic>
          <a:graphicData uri="http://schemas.openxmlformats.org/drawingml/2006/table">
            <a:tbl>
              <a:tblPr firstRow="1" firstCol="1" bandRow="1"/>
              <a:tblGrid>
                <a:gridCol w="5250305">
                  <a:extLst>
                    <a:ext uri="{9D8B030D-6E8A-4147-A177-3AD203B41FA5}">
                      <a16:colId xmlns:a16="http://schemas.microsoft.com/office/drawing/2014/main" val="3602850931"/>
                    </a:ext>
                  </a:extLst>
                </a:gridCol>
                <a:gridCol w="4530436">
                  <a:extLst>
                    <a:ext uri="{9D8B030D-6E8A-4147-A177-3AD203B41FA5}">
                      <a16:colId xmlns:a16="http://schemas.microsoft.com/office/drawing/2014/main" val="935330335"/>
                    </a:ext>
                  </a:extLst>
                </a:gridCol>
              </a:tblGrid>
              <a:tr h="499073">
                <a:tc>
                  <a:txBody>
                    <a:bodyPr/>
                    <a:lstStyle/>
                    <a:p>
                      <a:pPr marR="4826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2985770" algn="l"/>
                        </a:tabLst>
                      </a:pPr>
                      <a:r>
                        <a:rPr lang="en-US" sz="1800" dirty="0">
                          <a:latin typeface="Bahnschrift SemiLight" panose="020B0502040204020203" pitchFamily="34" charset="0"/>
                          <a:hlinkClick r:id="rId3"/>
                        </a:rPr>
                        <a:t>Google Analytics 4 (GA4) Guide: How It Works and Why It Matters for Your Business - Oxford College of Marketing Blog</a:t>
                      </a:r>
                      <a:endParaRPr lang="fr-BE" sz="1800" b="1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89" marR="60089" marT="0" marB="0">
                    <a:lnL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Google Analytics 4 (GA4) Guide: How It Works and Why It Matters for Your Business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BE" sz="1800" b="1" kern="1200" dirty="0">
                        <a:solidFill>
                          <a:schemeClr val="tx1"/>
                        </a:solidFill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309102"/>
                  </a:ext>
                </a:extLst>
              </a:tr>
              <a:tr h="327597">
                <a:tc>
                  <a:txBody>
                    <a:bodyPr/>
                    <a:lstStyle/>
                    <a:p>
                      <a:pPr marL="0" marR="48260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>
                          <a:tab pos="2985770" algn="l"/>
                        </a:tabLst>
                        <a:defRPr/>
                      </a:pPr>
                      <a:r>
                        <a:rPr lang="fr-BE" sz="1800" b="1" kern="1200" dirty="0">
                          <a:solidFill>
                            <a:schemeClr val="tx1"/>
                          </a:solidFill>
                          <a:effectLst/>
                          <a:latin typeface="Bahnschrift SemiLight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4"/>
                        </a:rPr>
                        <a:t>https://medium.com/kubo/10-crucial-ui-ux-metrics-every-start-up-should-be-tracking-ee6f87af693a</a:t>
                      </a:r>
                      <a:endParaRPr lang="fr-BE" sz="1800" b="1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89" marR="60089" marT="0" marB="0">
                    <a:lnL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10 Crucial UI/UX Metrics Every Start-up Should Be Tracking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BE" sz="1800" b="1" kern="1200" dirty="0">
                        <a:solidFill>
                          <a:schemeClr val="tx1"/>
                        </a:solidFill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89" marR="60089" marT="0" marB="0">
                    <a:lnL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81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815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6117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1140c4-3360-46ff-98f6-a26ac4f9e7c6">
      <Terms xmlns="http://schemas.microsoft.com/office/infopath/2007/PartnerControls"/>
    </lcf76f155ced4ddcb4097134ff3c332f>
    <TaxCatchAll xmlns="bf2580ef-a796-40e3-be8d-6830ba55d2d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504FBE6F52C04FB2A4B7EA498E9F89" ma:contentTypeVersion="18" ma:contentTypeDescription="Crée un document." ma:contentTypeScope="" ma:versionID="c4dbb55318fc8e39eb2fe2d406416e6f">
  <xsd:schema xmlns:xsd="http://www.w3.org/2001/XMLSchema" xmlns:xs="http://www.w3.org/2001/XMLSchema" xmlns:p="http://schemas.microsoft.com/office/2006/metadata/properties" xmlns:ns2="131140c4-3360-46ff-98f6-a26ac4f9e7c6" xmlns:ns3="bf2580ef-a796-40e3-be8d-6830ba55d2d8" targetNamespace="http://schemas.microsoft.com/office/2006/metadata/properties" ma:root="true" ma:fieldsID="d3b5e8672349ee810ad0bac57695497d" ns2:_="" ns3:_="">
    <xsd:import namespace="131140c4-3360-46ff-98f6-a26ac4f9e7c6"/>
    <xsd:import namespace="bf2580ef-a796-40e3-be8d-6830ba55d2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1140c4-3360-46ff-98f6-a26ac4f9e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3907250d-aa00-4f19-8a1b-ff6a91677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80ef-a796-40e3-be8d-6830ba55d2d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b8aacb9-cb6a-4872-9b78-6276c0f03934}" ma:internalName="TaxCatchAll" ma:showField="CatchAllData" ma:web="bf2580ef-a796-40e3-be8d-6830ba55d2d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28DCC9-3A7C-46E0-AF69-E90CB586C3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444DCB-F353-45D1-89E5-844BE481A4DD}">
  <ds:schemaRefs>
    <ds:schemaRef ds:uri="http://schemas.microsoft.com/office/2006/metadata/properties"/>
    <ds:schemaRef ds:uri="http://schemas.microsoft.com/office/infopath/2007/PartnerControls"/>
    <ds:schemaRef ds:uri="131140c4-3360-46ff-98f6-a26ac4f9e7c6"/>
    <ds:schemaRef ds:uri="bf2580ef-a796-40e3-be8d-6830ba55d2d8"/>
  </ds:schemaRefs>
</ds:datastoreItem>
</file>

<file path=customXml/itemProps3.xml><?xml version="1.0" encoding="utf-8"?>
<ds:datastoreItem xmlns:ds="http://schemas.openxmlformats.org/officeDocument/2006/customXml" ds:itemID="{2FC9C456-7889-4010-9B0E-39A1BD3593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1140c4-3360-46ff-98f6-a26ac4f9e7c6"/>
    <ds:schemaRef ds:uri="bf2580ef-a796-40e3-be8d-6830ba55d2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5876</Words>
  <Application>Microsoft Macintosh PowerPoint</Application>
  <PresentationFormat>Widescreen</PresentationFormat>
  <Paragraphs>528</Paragraphs>
  <Slides>56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9" baseType="lpstr">
      <vt:lpstr>Arial</vt:lpstr>
      <vt:lpstr>Arial Black</vt:lpstr>
      <vt:lpstr>Bahnschrift</vt:lpstr>
      <vt:lpstr>Bahnschrift SemiBold</vt:lpstr>
      <vt:lpstr>Bahnschrift SemiLight</vt:lpstr>
      <vt:lpstr>Calibri</vt:lpstr>
      <vt:lpstr>Calibri Light</vt:lpstr>
      <vt:lpstr>Carlito</vt:lpstr>
      <vt:lpstr>Courier New</vt:lpstr>
      <vt:lpstr>Montserrat</vt:lpstr>
      <vt:lpstr>Nunito</vt:lpstr>
      <vt:lpstr>URW Gothic</vt:lpstr>
      <vt:lpstr>Tema sustava Office</vt:lpstr>
      <vt:lpstr>SHIFT4IT</vt:lpstr>
      <vt:lpstr>Mjerni pokazatelji (metrike)</vt:lpstr>
      <vt:lpstr>Sažetak</vt:lpstr>
      <vt:lpstr>Koliko marketinških oznaka za praćenje možete pronaći na početnoj stranici lolaliza.com?</vt:lpstr>
      <vt:lpstr>Koliko marketinških oznaka za praćenje možete pronaći na početnoj stranici https://www.reuters.com/?</vt:lpstr>
      <vt:lpstr>Koliko oznaka za praćenje možete pronaći na početnoj stranici Zalandа?</vt:lpstr>
      <vt:lpstr>Rješenja za praćenje</vt:lpstr>
      <vt:lpstr>Rješenja za praćenje</vt:lpstr>
      <vt:lpstr>Analitika su alati za mjerenje i analizu prometa na web-stranici</vt:lpstr>
      <vt:lpstr>Analitički alati prikazuju trendove</vt:lpstr>
      <vt:lpstr>Uzorkovanje vs pragovi</vt:lpstr>
      <vt:lpstr>Google Analytics je vodeći alat za analitiku</vt:lpstr>
      <vt:lpstr>Google Analytics - povijest</vt:lpstr>
      <vt:lpstr>Google Analytics - povijest </vt:lpstr>
      <vt:lpstr>GA instalacija </vt:lpstr>
      <vt:lpstr>GA instalacija </vt:lpstr>
      <vt:lpstr>Protokol za Google Analytics 4 </vt:lpstr>
      <vt:lpstr>Protokol za Google Analytics 4</vt:lpstr>
      <vt:lpstr>Više od 120 mogućih parametara</vt:lpstr>
      <vt:lpstr>Usklađenost s GDPR-om</vt:lpstr>
      <vt:lpstr>Osobno identifikacijski podaci</vt:lpstr>
      <vt:lpstr>Što je privola?</vt:lpstr>
      <vt:lpstr>Prednosti i mane</vt:lpstr>
      <vt:lpstr>Odaberite nasumičnu web-stranicu i provjerite je li usklađena s GDPR-om za vašu EU državu</vt:lpstr>
      <vt:lpstr>Privola: tehnička razmatranja</vt:lpstr>
      <vt:lpstr>Vježbajmo u demo računima Google Analytics 4</vt:lpstr>
      <vt:lpstr>Demo</vt:lpstr>
      <vt:lpstr>Postavljanje ciljeva</vt:lpstr>
      <vt:lpstr>Događaji u Google Analytics 4 specifični za e-trgovinu</vt:lpstr>
      <vt:lpstr>Događaji u Google Analytics 4 specifični za e-trgovinu</vt:lpstr>
      <vt:lpstr>Događaji u Google Analytics 4 specifični za e-trgovinu</vt:lpstr>
      <vt:lpstr>Događaji u Google Analytics 4 specifični za igre</vt:lpstr>
      <vt:lpstr>500 prilagođenih događaja</vt:lpstr>
      <vt:lpstr>Izvori prometa</vt:lpstr>
      <vt:lpstr>Prilagođeni izvor (kampanje)</vt:lpstr>
      <vt:lpstr>Utrošeno vrijeme</vt:lpstr>
      <vt:lpstr>HEART okvir</vt:lpstr>
      <vt:lpstr>HEART okvir</vt:lpstr>
      <vt:lpstr>Vježba u demo profilima GA4</vt:lpstr>
      <vt:lpstr>Samostalna vježba ili vježba u paru</vt:lpstr>
      <vt:lpstr>Samostalna vježba ili vježba u paru</vt:lpstr>
      <vt:lpstr>Samostalna vježba ili vježba u paru</vt:lpstr>
      <vt:lpstr>Otvorena rasprava</vt:lpstr>
      <vt:lpstr>Samostalna vježba ili vježba u paru</vt:lpstr>
      <vt:lpstr>Samostalna vježba ili vježba u paru</vt:lpstr>
      <vt:lpstr>Samostalna vježba ili vježba u paru</vt:lpstr>
      <vt:lpstr>Samostalna vježba ili vježba u paru</vt:lpstr>
      <vt:lpstr>Samostalna vježba ili vježba u paru</vt:lpstr>
      <vt:lpstr>Samostalna vježba ili vježba u paru</vt:lpstr>
      <vt:lpstr>Samostalna vježba ili vježba u paru</vt:lpstr>
      <vt:lpstr>Samostalna vježba ili vježba u paru</vt:lpstr>
      <vt:lpstr>Samostalna vježba ili vježba u paru</vt:lpstr>
      <vt:lpstr>Samostalna vježba ili vježba u paru</vt:lpstr>
      <vt:lpstr>Sažetak</vt:lpstr>
      <vt:lpstr>IZVORI</vt:lpstr>
      <vt:lpstr>DODATNA LITERATURA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prezentacija</dc:title>
  <dc:creator>Božica Bajčić</dc:creator>
  <cp:lastModifiedBy>Dino Duvnjak</cp:lastModifiedBy>
  <cp:revision>583</cp:revision>
  <dcterms:created xsi:type="dcterms:W3CDTF">2024-02-12T13:35:47Z</dcterms:created>
  <dcterms:modified xsi:type="dcterms:W3CDTF">2026-05-04T09:16:13Z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0x01010048504FBE6F52C04FB2A4B7EA498E9F89</vt:lpwstr>
  </property>
  <property fmtid="{D5CDD505-2E9C-101B-9397-08002B2CF9AE}" pid="3" name="MediaServiceImageTags">
    <vt:lpwstr/>
  </property>
</Properties>
</file>
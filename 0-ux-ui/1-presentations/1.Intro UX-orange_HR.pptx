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3"/>
  </p:notesMasterIdLst>
  <p:sldIdLst>
    <p:sldId id="256" r:id="rId5"/>
    <p:sldId id="269" r:id="rId6"/>
    <p:sldId id="273" r:id="rId7"/>
    <p:sldId id="274" r:id="rId8"/>
    <p:sldId id="739" r:id="rId9"/>
    <p:sldId id="280" r:id="rId10"/>
    <p:sldId id="278" r:id="rId11"/>
    <p:sldId id="292" r:id="rId12"/>
    <p:sldId id="286" r:id="rId13"/>
    <p:sldId id="287" r:id="rId14"/>
    <p:sldId id="288" r:id="rId15"/>
    <p:sldId id="293" r:id="rId16"/>
    <p:sldId id="289" r:id="rId17"/>
    <p:sldId id="290" r:id="rId18"/>
    <p:sldId id="294" r:id="rId19"/>
    <p:sldId id="296" r:id="rId20"/>
    <p:sldId id="291" r:id="rId21"/>
    <p:sldId id="297" r:id="rId22"/>
  </p:sldIdLst>
  <p:sldSz cx="12192000" cy="6858000"/>
  <p:notesSz cx="6858000" cy="9144000"/>
  <p:defaultTextStyle>
    <a:defPPr>
      <a:defRPr lang="sr-Latn-R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000"/>
    <a:srgbClr val="FFFFFF"/>
    <a:srgbClr val="163E64"/>
    <a:srgbClr val="78206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249" autoAdjust="0"/>
    <p:restoredTop sz="86885" autoAdjust="0"/>
  </p:normalViewPr>
  <p:slideViewPr>
    <p:cSldViewPr snapToGrid="0">
      <p:cViewPr varScale="1">
        <p:scale>
          <a:sx n="77" d="100"/>
          <a:sy n="77" d="100"/>
        </p:scale>
        <p:origin x="216" y="13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ven De Ruyter" userId="5ea340e3-eb8f-48cc-9db2-b85bc44eed87" providerId="ADAL" clId="{10C45024-79AD-46BD-BFD5-A28A2F51EA8E}"/>
    <pc:docChg chg="modSld">
      <pc:chgData name="Sven De Ruyter" userId="5ea340e3-eb8f-48cc-9db2-b85bc44eed87" providerId="ADAL" clId="{10C45024-79AD-46BD-BFD5-A28A2F51EA8E}" dt="2026-01-27T14:25:36.161" v="35" actId="20577"/>
      <pc:docMkLst>
        <pc:docMk/>
      </pc:docMkLst>
      <pc:sldChg chg="modNotesTx">
        <pc:chgData name="Sven De Ruyter" userId="5ea340e3-eb8f-48cc-9db2-b85bc44eed87" providerId="ADAL" clId="{10C45024-79AD-46BD-BFD5-A28A2F51EA8E}" dt="2026-01-27T14:25:36.161" v="35" actId="20577"/>
        <pc:sldMkLst>
          <pc:docMk/>
          <pc:sldMk cId="3176185021" sldId="274"/>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9FA30A4-60F7-4F66-BED3-63D830342BC3}" type="doc">
      <dgm:prSet loTypeId="urn:microsoft.com/office/officeart/2005/8/layout/default" loCatId="list" qsTypeId="urn:microsoft.com/office/officeart/2005/8/quickstyle/simple4" qsCatId="simple" csTypeId="urn:microsoft.com/office/officeart/2005/8/colors/accent2_2" csCatId="accent2" phldr="1"/>
      <dgm:spPr/>
      <dgm:t>
        <a:bodyPr/>
        <a:lstStyle/>
        <a:p>
          <a:endParaRPr lang="en-US"/>
        </a:p>
      </dgm:t>
    </dgm:pt>
    <dgm:pt modelId="{9BC3F0C1-6350-4DB7-BA10-4C445EE24B5A}">
      <dgm:prSet/>
      <dgm:spPr/>
      <dgm:t>
        <a:bodyPr/>
        <a:lstStyle/>
        <a:p>
          <a:r>
            <a:rPr lang="hr-HR" dirty="0"/>
            <a:t>Privlačenje i zadržavanje korisnika</a:t>
          </a:r>
          <a:endParaRPr lang="en-US" dirty="0"/>
        </a:p>
      </dgm:t>
    </dgm:pt>
    <dgm:pt modelId="{E0E19BFB-2DF7-4A50-8819-F2B129041504}" type="parTrans" cxnId="{39FAA803-12C6-4A58-BB96-C662EC856C71}">
      <dgm:prSet/>
      <dgm:spPr/>
      <dgm:t>
        <a:bodyPr/>
        <a:lstStyle/>
        <a:p>
          <a:endParaRPr lang="en-US"/>
        </a:p>
      </dgm:t>
    </dgm:pt>
    <dgm:pt modelId="{7CC18C2A-4CFC-4D93-B1E5-4CF8E8249192}" type="sibTrans" cxnId="{39FAA803-12C6-4A58-BB96-C662EC856C71}">
      <dgm:prSet/>
      <dgm:spPr/>
      <dgm:t>
        <a:bodyPr/>
        <a:lstStyle/>
        <a:p>
          <a:endParaRPr lang="en-US"/>
        </a:p>
      </dgm:t>
    </dgm:pt>
    <dgm:pt modelId="{C0040CEB-D030-465E-A70E-469A2F724D61}">
      <dgm:prSet/>
      <dgm:spPr/>
      <dgm:t>
        <a:bodyPr/>
        <a:lstStyle/>
        <a:p>
          <a:r>
            <a:rPr lang="hr-HR" dirty="0"/>
            <a:t>Smanjuje cijenu i vrijeme razvoja</a:t>
          </a:r>
          <a:endParaRPr lang="en-US" dirty="0"/>
        </a:p>
      </dgm:t>
    </dgm:pt>
    <dgm:pt modelId="{A6F2D8B4-8F3D-4749-A127-27038ED82372}" type="parTrans" cxnId="{3FB41E96-E006-4D1E-96FC-2E5937082AB6}">
      <dgm:prSet/>
      <dgm:spPr/>
      <dgm:t>
        <a:bodyPr/>
        <a:lstStyle/>
        <a:p>
          <a:endParaRPr lang="en-US"/>
        </a:p>
      </dgm:t>
    </dgm:pt>
    <dgm:pt modelId="{F349E383-D19B-4F18-A513-9935C859E713}" type="sibTrans" cxnId="{3FB41E96-E006-4D1E-96FC-2E5937082AB6}">
      <dgm:prSet/>
      <dgm:spPr/>
      <dgm:t>
        <a:bodyPr/>
        <a:lstStyle/>
        <a:p>
          <a:endParaRPr lang="en-US"/>
        </a:p>
      </dgm:t>
    </dgm:pt>
    <dgm:pt modelId="{7CEAD66A-CEDC-4FC8-A749-51C610640707}">
      <dgm:prSet/>
      <dgm:spPr/>
      <dgm:t>
        <a:bodyPr/>
        <a:lstStyle/>
        <a:p>
          <a:r>
            <a:rPr lang="hr-HR" dirty="0"/>
            <a:t>Omogućuje jednostavnu navigaciju</a:t>
          </a:r>
          <a:endParaRPr lang="en-US" dirty="0"/>
        </a:p>
      </dgm:t>
    </dgm:pt>
    <dgm:pt modelId="{ED342BEA-4C61-4055-BCE5-E0DCA71B185B}" type="parTrans" cxnId="{FB2062E4-04D5-4BB6-A752-36CE0653E382}">
      <dgm:prSet/>
      <dgm:spPr/>
      <dgm:t>
        <a:bodyPr/>
        <a:lstStyle/>
        <a:p>
          <a:endParaRPr lang="en-US"/>
        </a:p>
      </dgm:t>
    </dgm:pt>
    <dgm:pt modelId="{1D83CEDD-B0B6-4B17-9ACE-2AA0D551510D}" type="sibTrans" cxnId="{FB2062E4-04D5-4BB6-A752-36CE0653E382}">
      <dgm:prSet/>
      <dgm:spPr/>
      <dgm:t>
        <a:bodyPr/>
        <a:lstStyle/>
        <a:p>
          <a:endParaRPr lang="en-US"/>
        </a:p>
      </dgm:t>
    </dgm:pt>
    <dgm:pt modelId="{2B968D23-5455-4CAF-95C4-AD39E4511064}">
      <dgm:prSet/>
      <dgm:spPr/>
      <dgm:t>
        <a:bodyPr/>
        <a:lstStyle/>
        <a:p>
          <a:r>
            <a:rPr lang="hr-HR" dirty="0"/>
            <a:t>Jača brend</a:t>
          </a:r>
          <a:endParaRPr lang="en-US" dirty="0"/>
        </a:p>
      </dgm:t>
    </dgm:pt>
    <dgm:pt modelId="{CE83C779-3631-47A7-AC8D-F25088D2721A}" type="parTrans" cxnId="{BB7F70A7-1105-4053-936A-973AFBC0B869}">
      <dgm:prSet/>
      <dgm:spPr/>
      <dgm:t>
        <a:bodyPr/>
        <a:lstStyle/>
        <a:p>
          <a:endParaRPr lang="en-US"/>
        </a:p>
      </dgm:t>
    </dgm:pt>
    <dgm:pt modelId="{9A9CF5D0-972F-4429-A2AB-5E82E2F09943}" type="sibTrans" cxnId="{BB7F70A7-1105-4053-936A-973AFBC0B869}">
      <dgm:prSet/>
      <dgm:spPr/>
      <dgm:t>
        <a:bodyPr/>
        <a:lstStyle/>
        <a:p>
          <a:endParaRPr lang="en-US"/>
        </a:p>
      </dgm:t>
    </dgm:pt>
    <dgm:pt modelId="{CA3B80F0-87ED-4D75-A23F-768B960EFDB7}">
      <dgm:prSet/>
      <dgm:spPr/>
      <dgm:t>
        <a:bodyPr/>
        <a:lstStyle/>
        <a:p>
          <a:r>
            <a:rPr lang="hr-HR" dirty="0"/>
            <a:t>Povećava stopu konverzije</a:t>
          </a:r>
          <a:endParaRPr lang="en-US" dirty="0"/>
        </a:p>
      </dgm:t>
    </dgm:pt>
    <dgm:pt modelId="{D78D9A04-2CCB-4810-83CE-705952521370}" type="parTrans" cxnId="{38A94933-A932-47AE-B2AD-6C0DE9DA2EA4}">
      <dgm:prSet/>
      <dgm:spPr/>
      <dgm:t>
        <a:bodyPr/>
        <a:lstStyle/>
        <a:p>
          <a:endParaRPr lang="en-US"/>
        </a:p>
      </dgm:t>
    </dgm:pt>
    <dgm:pt modelId="{6EBDEC99-5418-4DB8-82FB-DC749FBFB11F}" type="sibTrans" cxnId="{38A94933-A932-47AE-B2AD-6C0DE9DA2EA4}">
      <dgm:prSet/>
      <dgm:spPr/>
      <dgm:t>
        <a:bodyPr/>
        <a:lstStyle/>
        <a:p>
          <a:endParaRPr lang="en-US"/>
        </a:p>
      </dgm:t>
    </dgm:pt>
    <dgm:pt modelId="{20E0E64E-6A7D-427A-B339-0670BEE55B04}">
      <dgm:prSet/>
      <dgm:spPr/>
      <dgm:t>
        <a:bodyPr/>
        <a:lstStyle/>
        <a:p>
          <a:r>
            <a:rPr lang="hr-HR" dirty="0"/>
            <a:t>Pomaže u optimizaciji za tražilice</a:t>
          </a:r>
          <a:endParaRPr lang="en-US" dirty="0"/>
        </a:p>
      </dgm:t>
    </dgm:pt>
    <dgm:pt modelId="{B2E9B5DD-150A-45D4-B588-B6CD407F97E3}" type="parTrans" cxnId="{20877530-7058-4365-ACA3-E3D030662CE8}">
      <dgm:prSet/>
      <dgm:spPr/>
      <dgm:t>
        <a:bodyPr/>
        <a:lstStyle/>
        <a:p>
          <a:endParaRPr lang="en-US"/>
        </a:p>
      </dgm:t>
    </dgm:pt>
    <dgm:pt modelId="{EFCFD943-1012-447E-91FF-889D5B895A6B}" type="sibTrans" cxnId="{20877530-7058-4365-ACA3-E3D030662CE8}">
      <dgm:prSet/>
      <dgm:spPr/>
      <dgm:t>
        <a:bodyPr/>
        <a:lstStyle/>
        <a:p>
          <a:endParaRPr lang="en-US"/>
        </a:p>
      </dgm:t>
    </dgm:pt>
    <dgm:pt modelId="{978756CE-CF34-4C08-9AF9-11A9B9C84B19}">
      <dgm:prSet/>
      <dgm:spPr/>
      <dgm:t>
        <a:bodyPr/>
        <a:lstStyle/>
        <a:p>
          <a:r>
            <a:rPr lang="hr-HR" dirty="0"/>
            <a:t>Unaprjeđuje brzinu web stranice</a:t>
          </a:r>
          <a:endParaRPr lang="en-US" dirty="0"/>
        </a:p>
      </dgm:t>
    </dgm:pt>
    <dgm:pt modelId="{0578A8E4-D12A-4973-BDF8-871EAB617516}" type="parTrans" cxnId="{FC7F3331-094D-4AE0-A566-2ECD565958C6}">
      <dgm:prSet/>
      <dgm:spPr/>
      <dgm:t>
        <a:bodyPr/>
        <a:lstStyle/>
        <a:p>
          <a:endParaRPr lang="en-US"/>
        </a:p>
      </dgm:t>
    </dgm:pt>
    <dgm:pt modelId="{EEDA24B5-6720-4E8B-B413-4E70995C6253}" type="sibTrans" cxnId="{FC7F3331-094D-4AE0-A566-2ECD565958C6}">
      <dgm:prSet/>
      <dgm:spPr/>
      <dgm:t>
        <a:bodyPr/>
        <a:lstStyle/>
        <a:p>
          <a:endParaRPr lang="en-US"/>
        </a:p>
      </dgm:t>
    </dgm:pt>
    <dgm:pt modelId="{2EF43128-D922-4C95-98C6-272F10F1D4D6}">
      <dgm:prSet/>
      <dgm:spPr/>
      <dgm:t>
        <a:bodyPr/>
        <a:lstStyle/>
        <a:p>
          <a:r>
            <a:rPr lang="hr-HR" dirty="0"/>
            <a:t>Smanjuje potrebu za korisničkom podrškom</a:t>
          </a:r>
          <a:endParaRPr lang="en-US" dirty="0"/>
        </a:p>
      </dgm:t>
    </dgm:pt>
    <dgm:pt modelId="{162067E3-F9AA-419C-A5A3-E47C2516BF34}" type="parTrans" cxnId="{A1274166-2192-48FB-B6FC-12EE0910BAFD}">
      <dgm:prSet/>
      <dgm:spPr/>
      <dgm:t>
        <a:bodyPr/>
        <a:lstStyle/>
        <a:p>
          <a:endParaRPr lang="en-US"/>
        </a:p>
      </dgm:t>
    </dgm:pt>
    <dgm:pt modelId="{54530C99-2C4F-4C44-925B-8527AB284FB9}" type="sibTrans" cxnId="{A1274166-2192-48FB-B6FC-12EE0910BAFD}">
      <dgm:prSet/>
      <dgm:spPr/>
      <dgm:t>
        <a:bodyPr/>
        <a:lstStyle/>
        <a:p>
          <a:endParaRPr lang="en-US"/>
        </a:p>
      </dgm:t>
    </dgm:pt>
    <dgm:pt modelId="{5D89A34D-A548-4D37-8C97-7DD1BA4D289A}">
      <dgm:prSet/>
      <dgm:spPr/>
      <dgm:t>
        <a:bodyPr/>
        <a:lstStyle/>
        <a:p>
          <a:r>
            <a:rPr lang="hr-HR" dirty="0"/>
            <a:t>Unaprjeđuje korisničko iskustvo</a:t>
          </a:r>
          <a:endParaRPr lang="en-US" dirty="0"/>
        </a:p>
      </dgm:t>
    </dgm:pt>
    <dgm:pt modelId="{5074BAA1-F0F8-4C38-A01F-377651FAB198}" type="parTrans" cxnId="{36A1C73E-2500-4873-9D6C-74A4AFCACDA1}">
      <dgm:prSet/>
      <dgm:spPr/>
      <dgm:t>
        <a:bodyPr/>
        <a:lstStyle/>
        <a:p>
          <a:endParaRPr lang="en-US"/>
        </a:p>
      </dgm:t>
    </dgm:pt>
    <dgm:pt modelId="{9703AC2A-CE21-4B84-8CCD-8F61422FBD60}" type="sibTrans" cxnId="{36A1C73E-2500-4873-9D6C-74A4AFCACDA1}">
      <dgm:prSet/>
      <dgm:spPr/>
      <dgm:t>
        <a:bodyPr/>
        <a:lstStyle/>
        <a:p>
          <a:endParaRPr lang="en-US"/>
        </a:p>
      </dgm:t>
    </dgm:pt>
    <dgm:pt modelId="{DF0E2983-E166-42C6-AB71-35410147AD12}">
      <dgm:prSet/>
      <dgm:spPr/>
      <dgm:t>
        <a:bodyPr/>
        <a:lstStyle/>
        <a:p>
          <a:r>
            <a:rPr lang="hr-HR" dirty="0"/>
            <a:t>Osigurava konkurentsku prednost</a:t>
          </a:r>
          <a:endParaRPr lang="en-US" dirty="0"/>
        </a:p>
      </dgm:t>
    </dgm:pt>
    <dgm:pt modelId="{F9C05C8B-2C29-42E7-9ECB-72FEA56FA236}" type="parTrans" cxnId="{D1600B68-1D20-4523-95E0-5403A5EFD1FE}">
      <dgm:prSet/>
      <dgm:spPr/>
      <dgm:t>
        <a:bodyPr/>
        <a:lstStyle/>
        <a:p>
          <a:endParaRPr lang="en-US"/>
        </a:p>
      </dgm:t>
    </dgm:pt>
    <dgm:pt modelId="{0A8769ED-1605-4815-8359-7180D3AC0F48}" type="sibTrans" cxnId="{D1600B68-1D20-4523-95E0-5403A5EFD1FE}">
      <dgm:prSet/>
      <dgm:spPr/>
      <dgm:t>
        <a:bodyPr/>
        <a:lstStyle/>
        <a:p>
          <a:endParaRPr lang="en-US"/>
        </a:p>
      </dgm:t>
    </dgm:pt>
    <dgm:pt modelId="{8D48FABE-052D-4648-A878-FAE28D4F2584}" type="pres">
      <dgm:prSet presAssocID="{19FA30A4-60F7-4F66-BED3-63D830342BC3}" presName="diagram" presStyleCnt="0">
        <dgm:presLayoutVars>
          <dgm:dir/>
          <dgm:resizeHandles val="exact"/>
        </dgm:presLayoutVars>
      </dgm:prSet>
      <dgm:spPr/>
    </dgm:pt>
    <dgm:pt modelId="{5922787C-154D-4996-8E0A-E67282CB10C9}" type="pres">
      <dgm:prSet presAssocID="{9BC3F0C1-6350-4DB7-BA10-4C445EE24B5A}" presName="node" presStyleLbl="node1" presStyleIdx="0" presStyleCnt="10">
        <dgm:presLayoutVars>
          <dgm:bulletEnabled val="1"/>
        </dgm:presLayoutVars>
      </dgm:prSet>
      <dgm:spPr/>
    </dgm:pt>
    <dgm:pt modelId="{E7866D7F-E344-4EF3-BCC3-2049AFB779D4}" type="pres">
      <dgm:prSet presAssocID="{7CC18C2A-4CFC-4D93-B1E5-4CF8E8249192}" presName="sibTrans" presStyleCnt="0"/>
      <dgm:spPr/>
    </dgm:pt>
    <dgm:pt modelId="{6BB6670A-083D-4EAC-82EC-48E1D2359FF5}" type="pres">
      <dgm:prSet presAssocID="{C0040CEB-D030-465E-A70E-469A2F724D61}" presName="node" presStyleLbl="node1" presStyleIdx="1" presStyleCnt="10">
        <dgm:presLayoutVars>
          <dgm:bulletEnabled val="1"/>
        </dgm:presLayoutVars>
      </dgm:prSet>
      <dgm:spPr/>
    </dgm:pt>
    <dgm:pt modelId="{E01A96DE-3525-4CBE-9B65-B57D4ED14B99}" type="pres">
      <dgm:prSet presAssocID="{F349E383-D19B-4F18-A513-9935C859E713}" presName="sibTrans" presStyleCnt="0"/>
      <dgm:spPr/>
    </dgm:pt>
    <dgm:pt modelId="{2459A73E-1F7D-4CD7-85CB-1FE78BA5CDAF}" type="pres">
      <dgm:prSet presAssocID="{7CEAD66A-CEDC-4FC8-A749-51C610640707}" presName="node" presStyleLbl="node1" presStyleIdx="2" presStyleCnt="10">
        <dgm:presLayoutVars>
          <dgm:bulletEnabled val="1"/>
        </dgm:presLayoutVars>
      </dgm:prSet>
      <dgm:spPr/>
    </dgm:pt>
    <dgm:pt modelId="{82BDAD40-8296-4962-BD0A-25044A03FB22}" type="pres">
      <dgm:prSet presAssocID="{1D83CEDD-B0B6-4B17-9ACE-2AA0D551510D}" presName="sibTrans" presStyleCnt="0"/>
      <dgm:spPr/>
    </dgm:pt>
    <dgm:pt modelId="{C8599C91-0F97-42DD-A956-A79211349CCA}" type="pres">
      <dgm:prSet presAssocID="{2B968D23-5455-4CAF-95C4-AD39E4511064}" presName="node" presStyleLbl="node1" presStyleIdx="3" presStyleCnt="10">
        <dgm:presLayoutVars>
          <dgm:bulletEnabled val="1"/>
        </dgm:presLayoutVars>
      </dgm:prSet>
      <dgm:spPr/>
    </dgm:pt>
    <dgm:pt modelId="{E4FDCFB7-B806-47E8-A394-E8EAC4B20660}" type="pres">
      <dgm:prSet presAssocID="{9A9CF5D0-972F-4429-A2AB-5E82E2F09943}" presName="sibTrans" presStyleCnt="0"/>
      <dgm:spPr/>
    </dgm:pt>
    <dgm:pt modelId="{EC90E2D9-D914-4FAD-A485-9054F2A91779}" type="pres">
      <dgm:prSet presAssocID="{CA3B80F0-87ED-4D75-A23F-768B960EFDB7}" presName="node" presStyleLbl="node1" presStyleIdx="4" presStyleCnt="10">
        <dgm:presLayoutVars>
          <dgm:bulletEnabled val="1"/>
        </dgm:presLayoutVars>
      </dgm:prSet>
      <dgm:spPr/>
    </dgm:pt>
    <dgm:pt modelId="{0D95AD79-8428-4D0C-B5B6-AC8DF08048C1}" type="pres">
      <dgm:prSet presAssocID="{6EBDEC99-5418-4DB8-82FB-DC749FBFB11F}" presName="sibTrans" presStyleCnt="0"/>
      <dgm:spPr/>
    </dgm:pt>
    <dgm:pt modelId="{E879F0EC-7D70-42CD-99FA-142E182FD9A5}" type="pres">
      <dgm:prSet presAssocID="{20E0E64E-6A7D-427A-B339-0670BEE55B04}" presName="node" presStyleLbl="node1" presStyleIdx="5" presStyleCnt="10">
        <dgm:presLayoutVars>
          <dgm:bulletEnabled val="1"/>
        </dgm:presLayoutVars>
      </dgm:prSet>
      <dgm:spPr/>
    </dgm:pt>
    <dgm:pt modelId="{FD0F154A-85BA-48CA-A611-BE3747B3389B}" type="pres">
      <dgm:prSet presAssocID="{EFCFD943-1012-447E-91FF-889D5B895A6B}" presName="sibTrans" presStyleCnt="0"/>
      <dgm:spPr/>
    </dgm:pt>
    <dgm:pt modelId="{16D4F4AF-211F-4F22-9328-79CF567944D3}" type="pres">
      <dgm:prSet presAssocID="{978756CE-CF34-4C08-9AF9-11A9B9C84B19}" presName="node" presStyleLbl="node1" presStyleIdx="6" presStyleCnt="10">
        <dgm:presLayoutVars>
          <dgm:bulletEnabled val="1"/>
        </dgm:presLayoutVars>
      </dgm:prSet>
      <dgm:spPr/>
    </dgm:pt>
    <dgm:pt modelId="{C0BA8975-E112-4AB7-9E9B-F549D3072BBC}" type="pres">
      <dgm:prSet presAssocID="{EEDA24B5-6720-4E8B-B413-4E70995C6253}" presName="sibTrans" presStyleCnt="0"/>
      <dgm:spPr/>
    </dgm:pt>
    <dgm:pt modelId="{ECAE8433-0EC7-4E19-9791-1907E73FE5C9}" type="pres">
      <dgm:prSet presAssocID="{2EF43128-D922-4C95-98C6-272F10F1D4D6}" presName="node" presStyleLbl="node1" presStyleIdx="7" presStyleCnt="10">
        <dgm:presLayoutVars>
          <dgm:bulletEnabled val="1"/>
        </dgm:presLayoutVars>
      </dgm:prSet>
      <dgm:spPr/>
    </dgm:pt>
    <dgm:pt modelId="{38D8D56B-FBB9-48CF-940E-A263FC4D6448}" type="pres">
      <dgm:prSet presAssocID="{54530C99-2C4F-4C44-925B-8527AB284FB9}" presName="sibTrans" presStyleCnt="0"/>
      <dgm:spPr/>
    </dgm:pt>
    <dgm:pt modelId="{8F7121CF-C43D-4543-BC6E-011B8C03FD98}" type="pres">
      <dgm:prSet presAssocID="{5D89A34D-A548-4D37-8C97-7DD1BA4D289A}" presName="node" presStyleLbl="node1" presStyleIdx="8" presStyleCnt="10">
        <dgm:presLayoutVars>
          <dgm:bulletEnabled val="1"/>
        </dgm:presLayoutVars>
      </dgm:prSet>
      <dgm:spPr/>
    </dgm:pt>
    <dgm:pt modelId="{3663CE19-5DC9-4E3A-AF02-F30E6D43D0FA}" type="pres">
      <dgm:prSet presAssocID="{9703AC2A-CE21-4B84-8CCD-8F61422FBD60}" presName="sibTrans" presStyleCnt="0"/>
      <dgm:spPr/>
    </dgm:pt>
    <dgm:pt modelId="{1CD06548-AE62-45CC-B97C-5C726FA57801}" type="pres">
      <dgm:prSet presAssocID="{DF0E2983-E166-42C6-AB71-35410147AD12}" presName="node" presStyleLbl="node1" presStyleIdx="9" presStyleCnt="10">
        <dgm:presLayoutVars>
          <dgm:bulletEnabled val="1"/>
        </dgm:presLayoutVars>
      </dgm:prSet>
      <dgm:spPr/>
    </dgm:pt>
  </dgm:ptLst>
  <dgm:cxnLst>
    <dgm:cxn modelId="{39FAA803-12C6-4A58-BB96-C662EC856C71}" srcId="{19FA30A4-60F7-4F66-BED3-63D830342BC3}" destId="{9BC3F0C1-6350-4DB7-BA10-4C445EE24B5A}" srcOrd="0" destOrd="0" parTransId="{E0E19BFB-2DF7-4A50-8819-F2B129041504}" sibTransId="{7CC18C2A-4CFC-4D93-B1E5-4CF8E8249192}"/>
    <dgm:cxn modelId="{D17E1E08-731F-4F2B-B47A-8A6315D00FC7}" type="presOf" srcId="{2EF43128-D922-4C95-98C6-272F10F1D4D6}" destId="{ECAE8433-0EC7-4E19-9791-1907E73FE5C9}" srcOrd="0" destOrd="0" presId="urn:microsoft.com/office/officeart/2005/8/layout/default"/>
    <dgm:cxn modelId="{86AA771B-1D2C-4FD8-9122-81E8B36F700C}" type="presOf" srcId="{978756CE-CF34-4C08-9AF9-11A9B9C84B19}" destId="{16D4F4AF-211F-4F22-9328-79CF567944D3}" srcOrd="0" destOrd="0" presId="urn:microsoft.com/office/officeart/2005/8/layout/default"/>
    <dgm:cxn modelId="{23A9EE28-64EF-4045-80A0-0D244E6F5F05}" type="presOf" srcId="{CA3B80F0-87ED-4D75-A23F-768B960EFDB7}" destId="{EC90E2D9-D914-4FAD-A485-9054F2A91779}" srcOrd="0" destOrd="0" presId="urn:microsoft.com/office/officeart/2005/8/layout/default"/>
    <dgm:cxn modelId="{20877530-7058-4365-ACA3-E3D030662CE8}" srcId="{19FA30A4-60F7-4F66-BED3-63D830342BC3}" destId="{20E0E64E-6A7D-427A-B339-0670BEE55B04}" srcOrd="5" destOrd="0" parTransId="{B2E9B5DD-150A-45D4-B588-B6CD407F97E3}" sibTransId="{EFCFD943-1012-447E-91FF-889D5B895A6B}"/>
    <dgm:cxn modelId="{FC7F3331-094D-4AE0-A566-2ECD565958C6}" srcId="{19FA30A4-60F7-4F66-BED3-63D830342BC3}" destId="{978756CE-CF34-4C08-9AF9-11A9B9C84B19}" srcOrd="6" destOrd="0" parTransId="{0578A8E4-D12A-4973-BDF8-871EAB617516}" sibTransId="{EEDA24B5-6720-4E8B-B413-4E70995C6253}"/>
    <dgm:cxn modelId="{38A94933-A932-47AE-B2AD-6C0DE9DA2EA4}" srcId="{19FA30A4-60F7-4F66-BED3-63D830342BC3}" destId="{CA3B80F0-87ED-4D75-A23F-768B960EFDB7}" srcOrd="4" destOrd="0" parTransId="{D78D9A04-2CCB-4810-83CE-705952521370}" sibTransId="{6EBDEC99-5418-4DB8-82FB-DC749FBFB11F}"/>
    <dgm:cxn modelId="{588D7433-632C-4AD5-92D6-06C5C7C8DD2C}" type="presOf" srcId="{7CEAD66A-CEDC-4FC8-A749-51C610640707}" destId="{2459A73E-1F7D-4CD7-85CB-1FE78BA5CDAF}" srcOrd="0" destOrd="0" presId="urn:microsoft.com/office/officeart/2005/8/layout/default"/>
    <dgm:cxn modelId="{36A1C73E-2500-4873-9D6C-74A4AFCACDA1}" srcId="{19FA30A4-60F7-4F66-BED3-63D830342BC3}" destId="{5D89A34D-A548-4D37-8C97-7DD1BA4D289A}" srcOrd="8" destOrd="0" parTransId="{5074BAA1-F0F8-4C38-A01F-377651FAB198}" sibTransId="{9703AC2A-CE21-4B84-8CCD-8F61422FBD60}"/>
    <dgm:cxn modelId="{22F42859-F7E9-41E3-AB77-990143E7EA2B}" type="presOf" srcId="{C0040CEB-D030-465E-A70E-469A2F724D61}" destId="{6BB6670A-083D-4EAC-82EC-48E1D2359FF5}" srcOrd="0" destOrd="0" presId="urn:microsoft.com/office/officeart/2005/8/layout/default"/>
    <dgm:cxn modelId="{A1274166-2192-48FB-B6FC-12EE0910BAFD}" srcId="{19FA30A4-60F7-4F66-BED3-63D830342BC3}" destId="{2EF43128-D922-4C95-98C6-272F10F1D4D6}" srcOrd="7" destOrd="0" parTransId="{162067E3-F9AA-419C-A5A3-E47C2516BF34}" sibTransId="{54530C99-2C4F-4C44-925B-8527AB284FB9}"/>
    <dgm:cxn modelId="{55832667-714B-4E09-B320-688120425816}" type="presOf" srcId="{9BC3F0C1-6350-4DB7-BA10-4C445EE24B5A}" destId="{5922787C-154D-4996-8E0A-E67282CB10C9}" srcOrd="0" destOrd="0" presId="urn:microsoft.com/office/officeart/2005/8/layout/default"/>
    <dgm:cxn modelId="{D1600B68-1D20-4523-95E0-5403A5EFD1FE}" srcId="{19FA30A4-60F7-4F66-BED3-63D830342BC3}" destId="{DF0E2983-E166-42C6-AB71-35410147AD12}" srcOrd="9" destOrd="0" parTransId="{F9C05C8B-2C29-42E7-9ECB-72FEA56FA236}" sibTransId="{0A8769ED-1605-4815-8359-7180D3AC0F48}"/>
    <dgm:cxn modelId="{9200D281-9DBB-4C62-B836-4E5071363BFC}" type="presOf" srcId="{2B968D23-5455-4CAF-95C4-AD39E4511064}" destId="{C8599C91-0F97-42DD-A956-A79211349CCA}" srcOrd="0" destOrd="0" presId="urn:microsoft.com/office/officeart/2005/8/layout/default"/>
    <dgm:cxn modelId="{3A6A0983-3D15-42E7-A68A-EA6B12FA0FBA}" type="presOf" srcId="{5D89A34D-A548-4D37-8C97-7DD1BA4D289A}" destId="{8F7121CF-C43D-4543-BC6E-011B8C03FD98}" srcOrd="0" destOrd="0" presId="urn:microsoft.com/office/officeart/2005/8/layout/default"/>
    <dgm:cxn modelId="{3FB41E96-E006-4D1E-96FC-2E5937082AB6}" srcId="{19FA30A4-60F7-4F66-BED3-63D830342BC3}" destId="{C0040CEB-D030-465E-A70E-469A2F724D61}" srcOrd="1" destOrd="0" parTransId="{A6F2D8B4-8F3D-4749-A127-27038ED82372}" sibTransId="{F349E383-D19B-4F18-A513-9935C859E713}"/>
    <dgm:cxn modelId="{CAF245A2-502B-4AF0-8586-7A35AD8734E4}" type="presOf" srcId="{20E0E64E-6A7D-427A-B339-0670BEE55B04}" destId="{E879F0EC-7D70-42CD-99FA-142E182FD9A5}" srcOrd="0" destOrd="0" presId="urn:microsoft.com/office/officeart/2005/8/layout/default"/>
    <dgm:cxn modelId="{BB7F70A7-1105-4053-936A-973AFBC0B869}" srcId="{19FA30A4-60F7-4F66-BED3-63D830342BC3}" destId="{2B968D23-5455-4CAF-95C4-AD39E4511064}" srcOrd="3" destOrd="0" parTransId="{CE83C779-3631-47A7-AC8D-F25088D2721A}" sibTransId="{9A9CF5D0-972F-4429-A2AB-5E82E2F09943}"/>
    <dgm:cxn modelId="{596D97C9-4CA3-410F-BF87-41508235BB21}" type="presOf" srcId="{DF0E2983-E166-42C6-AB71-35410147AD12}" destId="{1CD06548-AE62-45CC-B97C-5C726FA57801}" srcOrd="0" destOrd="0" presId="urn:microsoft.com/office/officeart/2005/8/layout/default"/>
    <dgm:cxn modelId="{FB2062E4-04D5-4BB6-A752-36CE0653E382}" srcId="{19FA30A4-60F7-4F66-BED3-63D830342BC3}" destId="{7CEAD66A-CEDC-4FC8-A749-51C610640707}" srcOrd="2" destOrd="0" parTransId="{ED342BEA-4C61-4055-BCE5-E0DCA71B185B}" sibTransId="{1D83CEDD-B0B6-4B17-9ACE-2AA0D551510D}"/>
    <dgm:cxn modelId="{08DD9AFD-A6B3-4112-B605-4F4B77F9D88C}" type="presOf" srcId="{19FA30A4-60F7-4F66-BED3-63D830342BC3}" destId="{8D48FABE-052D-4648-A878-FAE28D4F2584}" srcOrd="0" destOrd="0" presId="urn:microsoft.com/office/officeart/2005/8/layout/default"/>
    <dgm:cxn modelId="{9836EE7A-D242-441B-9775-7FAF76CB63AD}" type="presParOf" srcId="{8D48FABE-052D-4648-A878-FAE28D4F2584}" destId="{5922787C-154D-4996-8E0A-E67282CB10C9}" srcOrd="0" destOrd="0" presId="urn:microsoft.com/office/officeart/2005/8/layout/default"/>
    <dgm:cxn modelId="{86CE1329-69A9-4177-AA6E-AD0944520408}" type="presParOf" srcId="{8D48FABE-052D-4648-A878-FAE28D4F2584}" destId="{E7866D7F-E344-4EF3-BCC3-2049AFB779D4}" srcOrd="1" destOrd="0" presId="urn:microsoft.com/office/officeart/2005/8/layout/default"/>
    <dgm:cxn modelId="{39E1E495-6146-455D-A39A-5B456643DDA3}" type="presParOf" srcId="{8D48FABE-052D-4648-A878-FAE28D4F2584}" destId="{6BB6670A-083D-4EAC-82EC-48E1D2359FF5}" srcOrd="2" destOrd="0" presId="urn:microsoft.com/office/officeart/2005/8/layout/default"/>
    <dgm:cxn modelId="{F26C7D61-2AA1-477A-83A3-822C59223F2E}" type="presParOf" srcId="{8D48FABE-052D-4648-A878-FAE28D4F2584}" destId="{E01A96DE-3525-4CBE-9B65-B57D4ED14B99}" srcOrd="3" destOrd="0" presId="urn:microsoft.com/office/officeart/2005/8/layout/default"/>
    <dgm:cxn modelId="{8B0E8EEA-7456-46CC-96B3-4BE3D4A8BF6E}" type="presParOf" srcId="{8D48FABE-052D-4648-A878-FAE28D4F2584}" destId="{2459A73E-1F7D-4CD7-85CB-1FE78BA5CDAF}" srcOrd="4" destOrd="0" presId="urn:microsoft.com/office/officeart/2005/8/layout/default"/>
    <dgm:cxn modelId="{1332B26C-42D8-46E9-979F-37963A6E23FB}" type="presParOf" srcId="{8D48FABE-052D-4648-A878-FAE28D4F2584}" destId="{82BDAD40-8296-4962-BD0A-25044A03FB22}" srcOrd="5" destOrd="0" presId="urn:microsoft.com/office/officeart/2005/8/layout/default"/>
    <dgm:cxn modelId="{18F5B504-21F8-489A-AF22-C5E9408825DA}" type="presParOf" srcId="{8D48FABE-052D-4648-A878-FAE28D4F2584}" destId="{C8599C91-0F97-42DD-A956-A79211349CCA}" srcOrd="6" destOrd="0" presId="urn:microsoft.com/office/officeart/2005/8/layout/default"/>
    <dgm:cxn modelId="{B1FCD8EB-AFB4-42B7-B00F-AA8ECF81B2DB}" type="presParOf" srcId="{8D48FABE-052D-4648-A878-FAE28D4F2584}" destId="{E4FDCFB7-B806-47E8-A394-E8EAC4B20660}" srcOrd="7" destOrd="0" presId="urn:microsoft.com/office/officeart/2005/8/layout/default"/>
    <dgm:cxn modelId="{7E918944-A2CE-4D7A-B37D-165F067BD9BF}" type="presParOf" srcId="{8D48FABE-052D-4648-A878-FAE28D4F2584}" destId="{EC90E2D9-D914-4FAD-A485-9054F2A91779}" srcOrd="8" destOrd="0" presId="urn:microsoft.com/office/officeart/2005/8/layout/default"/>
    <dgm:cxn modelId="{71AB3E12-D1AC-4B47-89E3-601E8938795F}" type="presParOf" srcId="{8D48FABE-052D-4648-A878-FAE28D4F2584}" destId="{0D95AD79-8428-4D0C-B5B6-AC8DF08048C1}" srcOrd="9" destOrd="0" presId="urn:microsoft.com/office/officeart/2005/8/layout/default"/>
    <dgm:cxn modelId="{3E1AA054-A12F-4E89-A0C3-0A98A1D86458}" type="presParOf" srcId="{8D48FABE-052D-4648-A878-FAE28D4F2584}" destId="{E879F0EC-7D70-42CD-99FA-142E182FD9A5}" srcOrd="10" destOrd="0" presId="urn:microsoft.com/office/officeart/2005/8/layout/default"/>
    <dgm:cxn modelId="{F222D9AB-0482-459D-BD3A-4F8D20DCAFDD}" type="presParOf" srcId="{8D48FABE-052D-4648-A878-FAE28D4F2584}" destId="{FD0F154A-85BA-48CA-A611-BE3747B3389B}" srcOrd="11" destOrd="0" presId="urn:microsoft.com/office/officeart/2005/8/layout/default"/>
    <dgm:cxn modelId="{55203E70-25A8-4CC9-A1F1-00D25C840A0F}" type="presParOf" srcId="{8D48FABE-052D-4648-A878-FAE28D4F2584}" destId="{16D4F4AF-211F-4F22-9328-79CF567944D3}" srcOrd="12" destOrd="0" presId="urn:microsoft.com/office/officeart/2005/8/layout/default"/>
    <dgm:cxn modelId="{DDE441E3-5592-4E90-B397-6666BB267301}" type="presParOf" srcId="{8D48FABE-052D-4648-A878-FAE28D4F2584}" destId="{C0BA8975-E112-4AB7-9E9B-F549D3072BBC}" srcOrd="13" destOrd="0" presId="urn:microsoft.com/office/officeart/2005/8/layout/default"/>
    <dgm:cxn modelId="{0E991EBF-56D0-41C0-AFF2-E61EC25536FE}" type="presParOf" srcId="{8D48FABE-052D-4648-A878-FAE28D4F2584}" destId="{ECAE8433-0EC7-4E19-9791-1907E73FE5C9}" srcOrd="14" destOrd="0" presId="urn:microsoft.com/office/officeart/2005/8/layout/default"/>
    <dgm:cxn modelId="{1DF71402-8276-4037-AB15-5268006BCF5B}" type="presParOf" srcId="{8D48FABE-052D-4648-A878-FAE28D4F2584}" destId="{38D8D56B-FBB9-48CF-940E-A263FC4D6448}" srcOrd="15" destOrd="0" presId="urn:microsoft.com/office/officeart/2005/8/layout/default"/>
    <dgm:cxn modelId="{8F73E761-1811-49A9-9E5B-78B04DDAC57D}" type="presParOf" srcId="{8D48FABE-052D-4648-A878-FAE28D4F2584}" destId="{8F7121CF-C43D-4543-BC6E-011B8C03FD98}" srcOrd="16" destOrd="0" presId="urn:microsoft.com/office/officeart/2005/8/layout/default"/>
    <dgm:cxn modelId="{5E1C36B6-E609-4CFD-B7C8-1FFDB201F440}" type="presParOf" srcId="{8D48FABE-052D-4648-A878-FAE28D4F2584}" destId="{3663CE19-5DC9-4E3A-AF02-F30E6D43D0FA}" srcOrd="17" destOrd="0" presId="urn:microsoft.com/office/officeart/2005/8/layout/default"/>
    <dgm:cxn modelId="{B6423A76-9471-45EF-AB86-7ABE5BA3BE0B}" type="presParOf" srcId="{8D48FABE-052D-4648-A878-FAE28D4F2584}" destId="{1CD06548-AE62-45CC-B97C-5C726FA57801}" srcOrd="18"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922787C-154D-4996-8E0A-E67282CB10C9}">
      <dsp:nvSpPr>
        <dsp:cNvPr id="0" name=""/>
        <dsp:cNvSpPr/>
      </dsp:nvSpPr>
      <dsp:spPr>
        <a:xfrm>
          <a:off x="582645" y="1178"/>
          <a:ext cx="2174490" cy="1304694"/>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hr-HR" sz="2100" kern="1200" dirty="0"/>
            <a:t>Privlačenje i zadržavanje korisnika</a:t>
          </a:r>
          <a:endParaRPr lang="en-US" sz="2100" kern="1200" dirty="0"/>
        </a:p>
      </dsp:txBody>
      <dsp:txXfrm>
        <a:off x="582645" y="1178"/>
        <a:ext cx="2174490" cy="1304694"/>
      </dsp:txXfrm>
    </dsp:sp>
    <dsp:sp modelId="{6BB6670A-083D-4EAC-82EC-48E1D2359FF5}">
      <dsp:nvSpPr>
        <dsp:cNvPr id="0" name=""/>
        <dsp:cNvSpPr/>
      </dsp:nvSpPr>
      <dsp:spPr>
        <a:xfrm>
          <a:off x="2974584" y="1178"/>
          <a:ext cx="2174490" cy="1304694"/>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hr-HR" sz="2100" kern="1200" dirty="0"/>
            <a:t>Smanjuje cijenu i vrijeme razvoja</a:t>
          </a:r>
          <a:endParaRPr lang="en-US" sz="2100" kern="1200" dirty="0"/>
        </a:p>
      </dsp:txBody>
      <dsp:txXfrm>
        <a:off x="2974584" y="1178"/>
        <a:ext cx="2174490" cy="1304694"/>
      </dsp:txXfrm>
    </dsp:sp>
    <dsp:sp modelId="{2459A73E-1F7D-4CD7-85CB-1FE78BA5CDAF}">
      <dsp:nvSpPr>
        <dsp:cNvPr id="0" name=""/>
        <dsp:cNvSpPr/>
      </dsp:nvSpPr>
      <dsp:spPr>
        <a:xfrm>
          <a:off x="5366524" y="1178"/>
          <a:ext cx="2174490" cy="1304694"/>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hr-HR" sz="2100" kern="1200" dirty="0"/>
            <a:t>Omogućuje jednostavnu navigaciju</a:t>
          </a:r>
          <a:endParaRPr lang="en-US" sz="2100" kern="1200" dirty="0"/>
        </a:p>
      </dsp:txBody>
      <dsp:txXfrm>
        <a:off x="5366524" y="1178"/>
        <a:ext cx="2174490" cy="1304694"/>
      </dsp:txXfrm>
    </dsp:sp>
    <dsp:sp modelId="{C8599C91-0F97-42DD-A956-A79211349CCA}">
      <dsp:nvSpPr>
        <dsp:cNvPr id="0" name=""/>
        <dsp:cNvSpPr/>
      </dsp:nvSpPr>
      <dsp:spPr>
        <a:xfrm>
          <a:off x="7758464" y="1178"/>
          <a:ext cx="2174490" cy="1304694"/>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hr-HR" sz="2100" kern="1200" dirty="0"/>
            <a:t>Jača brend</a:t>
          </a:r>
          <a:endParaRPr lang="en-US" sz="2100" kern="1200" dirty="0"/>
        </a:p>
      </dsp:txBody>
      <dsp:txXfrm>
        <a:off x="7758464" y="1178"/>
        <a:ext cx="2174490" cy="1304694"/>
      </dsp:txXfrm>
    </dsp:sp>
    <dsp:sp modelId="{EC90E2D9-D914-4FAD-A485-9054F2A91779}">
      <dsp:nvSpPr>
        <dsp:cNvPr id="0" name=""/>
        <dsp:cNvSpPr/>
      </dsp:nvSpPr>
      <dsp:spPr>
        <a:xfrm>
          <a:off x="582645" y="1523321"/>
          <a:ext cx="2174490" cy="1304694"/>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hr-HR" sz="2100" kern="1200" dirty="0"/>
            <a:t>Povećava stopu konverzije</a:t>
          </a:r>
          <a:endParaRPr lang="en-US" sz="2100" kern="1200" dirty="0"/>
        </a:p>
      </dsp:txBody>
      <dsp:txXfrm>
        <a:off x="582645" y="1523321"/>
        <a:ext cx="2174490" cy="1304694"/>
      </dsp:txXfrm>
    </dsp:sp>
    <dsp:sp modelId="{E879F0EC-7D70-42CD-99FA-142E182FD9A5}">
      <dsp:nvSpPr>
        <dsp:cNvPr id="0" name=""/>
        <dsp:cNvSpPr/>
      </dsp:nvSpPr>
      <dsp:spPr>
        <a:xfrm>
          <a:off x="2974584" y="1523321"/>
          <a:ext cx="2174490" cy="1304694"/>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hr-HR" sz="2100" kern="1200" dirty="0"/>
            <a:t>Pomaže u optimizaciji za tražilice</a:t>
          </a:r>
          <a:endParaRPr lang="en-US" sz="2100" kern="1200" dirty="0"/>
        </a:p>
      </dsp:txBody>
      <dsp:txXfrm>
        <a:off x="2974584" y="1523321"/>
        <a:ext cx="2174490" cy="1304694"/>
      </dsp:txXfrm>
    </dsp:sp>
    <dsp:sp modelId="{16D4F4AF-211F-4F22-9328-79CF567944D3}">
      <dsp:nvSpPr>
        <dsp:cNvPr id="0" name=""/>
        <dsp:cNvSpPr/>
      </dsp:nvSpPr>
      <dsp:spPr>
        <a:xfrm>
          <a:off x="5366524" y="1523321"/>
          <a:ext cx="2174490" cy="1304694"/>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hr-HR" sz="2100" kern="1200" dirty="0"/>
            <a:t>Unaprjeđuje brzinu web stranice</a:t>
          </a:r>
          <a:endParaRPr lang="en-US" sz="2100" kern="1200" dirty="0"/>
        </a:p>
      </dsp:txBody>
      <dsp:txXfrm>
        <a:off x="5366524" y="1523321"/>
        <a:ext cx="2174490" cy="1304694"/>
      </dsp:txXfrm>
    </dsp:sp>
    <dsp:sp modelId="{ECAE8433-0EC7-4E19-9791-1907E73FE5C9}">
      <dsp:nvSpPr>
        <dsp:cNvPr id="0" name=""/>
        <dsp:cNvSpPr/>
      </dsp:nvSpPr>
      <dsp:spPr>
        <a:xfrm>
          <a:off x="7758464" y="1523321"/>
          <a:ext cx="2174490" cy="1304694"/>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hr-HR" sz="2100" kern="1200" dirty="0"/>
            <a:t>Smanjuje potrebu za korisničkom podrškom</a:t>
          </a:r>
          <a:endParaRPr lang="en-US" sz="2100" kern="1200" dirty="0"/>
        </a:p>
      </dsp:txBody>
      <dsp:txXfrm>
        <a:off x="7758464" y="1523321"/>
        <a:ext cx="2174490" cy="1304694"/>
      </dsp:txXfrm>
    </dsp:sp>
    <dsp:sp modelId="{8F7121CF-C43D-4543-BC6E-011B8C03FD98}">
      <dsp:nvSpPr>
        <dsp:cNvPr id="0" name=""/>
        <dsp:cNvSpPr/>
      </dsp:nvSpPr>
      <dsp:spPr>
        <a:xfrm>
          <a:off x="2974584" y="3045465"/>
          <a:ext cx="2174490" cy="1304694"/>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hr-HR" sz="2100" kern="1200" dirty="0"/>
            <a:t>Unaprjeđuje korisničko iskustvo</a:t>
          </a:r>
          <a:endParaRPr lang="en-US" sz="2100" kern="1200" dirty="0"/>
        </a:p>
      </dsp:txBody>
      <dsp:txXfrm>
        <a:off x="2974584" y="3045465"/>
        <a:ext cx="2174490" cy="1304694"/>
      </dsp:txXfrm>
    </dsp:sp>
    <dsp:sp modelId="{1CD06548-AE62-45CC-B97C-5C726FA57801}">
      <dsp:nvSpPr>
        <dsp:cNvPr id="0" name=""/>
        <dsp:cNvSpPr/>
      </dsp:nvSpPr>
      <dsp:spPr>
        <a:xfrm>
          <a:off x="5366524" y="3045465"/>
          <a:ext cx="2174490" cy="1304694"/>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hr-HR" sz="2100" kern="1200" dirty="0"/>
            <a:t>Osigurava konkurentsku prednost</a:t>
          </a:r>
          <a:endParaRPr lang="en-US" sz="2100" kern="1200" dirty="0"/>
        </a:p>
      </dsp:txBody>
      <dsp:txXfrm>
        <a:off x="5366524" y="3045465"/>
        <a:ext cx="2174490" cy="1304694"/>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B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C6262F1-3681-41EC-ABF5-FB4B9D8A9B47}" type="datetimeFigureOut">
              <a:rPr lang="fr-BE" smtClean="0"/>
              <a:t>13/03/26</a:t>
            </a:fld>
            <a:endParaRPr lang="fr-B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B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B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B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209458-76B0-492C-AE3B-5216EDE26413}" type="slidenum">
              <a:rPr lang="fr-BE" smtClean="0"/>
              <a:t>‹#›</a:t>
            </a:fld>
            <a:endParaRPr lang="fr-BE"/>
          </a:p>
        </p:txBody>
      </p:sp>
    </p:spTree>
    <p:extLst>
      <p:ext uri="{BB962C8B-B14F-4D97-AF65-F5344CB8AC3E}">
        <p14:creationId xmlns:p14="http://schemas.microsoft.com/office/powerpoint/2010/main" val="24001123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BE" dirty="0"/>
          </a:p>
        </p:txBody>
      </p:sp>
      <p:sp>
        <p:nvSpPr>
          <p:cNvPr id="4" name="Slide Number Placeholder 3"/>
          <p:cNvSpPr>
            <a:spLocks noGrp="1"/>
          </p:cNvSpPr>
          <p:nvPr>
            <p:ph type="sldNum" sz="quarter" idx="5"/>
          </p:nvPr>
        </p:nvSpPr>
        <p:spPr/>
        <p:txBody>
          <a:bodyPr/>
          <a:lstStyle/>
          <a:p>
            <a:fld id="{41209458-76B0-492C-AE3B-5216EDE26413}" type="slidenum">
              <a:rPr lang="fr-BE" smtClean="0"/>
              <a:t>3</a:t>
            </a:fld>
            <a:endParaRPr lang="fr-BE"/>
          </a:p>
        </p:txBody>
      </p:sp>
    </p:spTree>
    <p:extLst>
      <p:ext uri="{BB962C8B-B14F-4D97-AF65-F5344CB8AC3E}">
        <p14:creationId xmlns:p14="http://schemas.microsoft.com/office/powerpoint/2010/main" val="24727263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hr-HR" b="1" dirty="0"/>
              <a:t>Trajanje:</a:t>
            </a:r>
            <a:r>
              <a:rPr lang="hr-HR" dirty="0"/>
              <a:t> 30/40 minuta</a:t>
            </a:r>
            <a:br>
              <a:rPr lang="hr-HR" dirty="0"/>
            </a:br>
            <a:r>
              <a:rPr lang="hr-HR" b="1" dirty="0"/>
              <a:t>Priprema:</a:t>
            </a:r>
            <a:r>
              <a:rPr lang="hr-HR" dirty="0"/>
              <a:t> Svaki sudionik smisli tri tvrdnje o sebi: dvije istinite i jednu neistinitu.</a:t>
            </a:r>
            <a:br>
              <a:rPr lang="hr-HR" dirty="0"/>
            </a:br>
            <a:r>
              <a:rPr lang="hr-HR" b="1" dirty="0"/>
              <a:t>Prezentacija:</a:t>
            </a:r>
            <a:r>
              <a:rPr lang="hr-HR" dirty="0"/>
              <a:t> Redom svaka osoba podijeli svoje tri tvrdnje s grupom.</a:t>
            </a:r>
            <a:br>
              <a:rPr lang="hr-HR" dirty="0"/>
            </a:br>
            <a:r>
              <a:rPr lang="hr-HR" b="1" dirty="0"/>
              <a:t>Zaključivanje:</a:t>
            </a:r>
            <a:r>
              <a:rPr lang="hr-HR" dirty="0"/>
              <a:t> Ostali raspravljaju i pokušavaju otkriti koja je tvrdnja laž.</a:t>
            </a:r>
            <a:br>
              <a:rPr lang="hr-HR" dirty="0"/>
            </a:br>
            <a:r>
              <a:rPr lang="hr-HR" b="1" dirty="0"/>
              <a:t>Otkrivanje:</a:t>
            </a:r>
            <a:r>
              <a:rPr lang="hr-HR" dirty="0"/>
              <a:t> Osoba otkriva točan odgovor i može dodatno objasniti svoje istinite tvrdnje.</a:t>
            </a:r>
          </a:p>
          <a:p>
            <a:r>
              <a:rPr lang="hr-HR" dirty="0"/>
              <a:t>Tri tvrdnje mogu, primjerice, glasiti ovako:</a:t>
            </a:r>
          </a:p>
          <a:p>
            <a:r>
              <a:rPr lang="hr-HR" dirty="0"/>
              <a:t>Sviram gitaru.</a:t>
            </a:r>
          </a:p>
          <a:p>
            <a:r>
              <a:rPr lang="hr-HR" dirty="0"/>
              <a:t>Tečno govorim četiri jezika.</a:t>
            </a:r>
          </a:p>
          <a:p>
            <a:r>
              <a:rPr lang="hr-HR" dirty="0"/>
              <a:t>Nikada u životu nisam pio/pila alkohol.</a:t>
            </a:r>
          </a:p>
          <a:p>
            <a:endParaRPr lang="fr-BE" dirty="0"/>
          </a:p>
        </p:txBody>
      </p:sp>
      <p:sp>
        <p:nvSpPr>
          <p:cNvPr id="4" name="Slide Number Placeholder 3"/>
          <p:cNvSpPr>
            <a:spLocks noGrp="1"/>
          </p:cNvSpPr>
          <p:nvPr>
            <p:ph type="sldNum" sz="quarter" idx="5"/>
          </p:nvPr>
        </p:nvSpPr>
        <p:spPr/>
        <p:txBody>
          <a:bodyPr/>
          <a:lstStyle/>
          <a:p>
            <a:fld id="{41209458-76B0-492C-AE3B-5216EDE26413}" type="slidenum">
              <a:rPr lang="fr-BE" smtClean="0"/>
              <a:t>4</a:t>
            </a:fld>
            <a:endParaRPr lang="fr-BE"/>
          </a:p>
        </p:txBody>
      </p:sp>
    </p:spTree>
    <p:extLst>
      <p:ext uri="{BB962C8B-B14F-4D97-AF65-F5344CB8AC3E}">
        <p14:creationId xmlns:p14="http://schemas.microsoft.com/office/powerpoint/2010/main" val="25254543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BE" dirty="0"/>
          </a:p>
        </p:txBody>
      </p:sp>
      <p:sp>
        <p:nvSpPr>
          <p:cNvPr id="4" name="Slide Number Placeholder 3"/>
          <p:cNvSpPr>
            <a:spLocks noGrp="1"/>
          </p:cNvSpPr>
          <p:nvPr>
            <p:ph type="sldNum" sz="quarter" idx="5"/>
          </p:nvPr>
        </p:nvSpPr>
        <p:spPr/>
        <p:txBody>
          <a:bodyPr/>
          <a:lstStyle/>
          <a:p>
            <a:fld id="{41209458-76B0-492C-AE3B-5216EDE26413}" type="slidenum">
              <a:rPr lang="fr-BE" smtClean="0"/>
              <a:t>5</a:t>
            </a:fld>
            <a:endParaRPr lang="fr-BE"/>
          </a:p>
        </p:txBody>
      </p:sp>
    </p:spTree>
    <p:extLst>
      <p:ext uri="{BB962C8B-B14F-4D97-AF65-F5344CB8AC3E}">
        <p14:creationId xmlns:p14="http://schemas.microsoft.com/office/powerpoint/2010/main" val="29493381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hr-HR" dirty="0"/>
              <a:t>Atraktivan dizajn može vam na trenutak privući pažnju. Međutim, izniman dizajn budi osjećaj povezanosti, razumijevanja, lakoće i bezbrižne interakcije. To dovodi do želje za ponovnim korištenjem. Upravo je zato koncept dizajna evoluirao prema višem standardu. Danas korisnici procjenjuju proizvode iz svakog kuta. Suvremeni dizajneri stvaraju funkcionalne proizvode.</a:t>
            </a:r>
            <a:endParaRPr lang="fr-BE" dirty="0"/>
          </a:p>
        </p:txBody>
      </p:sp>
      <p:sp>
        <p:nvSpPr>
          <p:cNvPr id="4" name="Slide Number Placeholder 3"/>
          <p:cNvSpPr>
            <a:spLocks noGrp="1"/>
          </p:cNvSpPr>
          <p:nvPr>
            <p:ph type="sldNum" sz="quarter" idx="5"/>
          </p:nvPr>
        </p:nvSpPr>
        <p:spPr/>
        <p:txBody>
          <a:bodyPr/>
          <a:lstStyle/>
          <a:p>
            <a:fld id="{41209458-76B0-492C-AE3B-5216EDE26413}" type="slidenum">
              <a:rPr lang="fr-BE" smtClean="0"/>
              <a:t>6</a:t>
            </a:fld>
            <a:endParaRPr lang="fr-BE"/>
          </a:p>
        </p:txBody>
      </p:sp>
    </p:spTree>
    <p:extLst>
      <p:ext uri="{BB962C8B-B14F-4D97-AF65-F5344CB8AC3E}">
        <p14:creationId xmlns:p14="http://schemas.microsoft.com/office/powerpoint/2010/main" val="35708830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picture is worth a thousand words</a:t>
            </a:r>
            <a:endParaRPr lang="fr-BE" dirty="0"/>
          </a:p>
        </p:txBody>
      </p:sp>
      <p:sp>
        <p:nvSpPr>
          <p:cNvPr id="4" name="Slide Number Placeholder 3"/>
          <p:cNvSpPr>
            <a:spLocks noGrp="1"/>
          </p:cNvSpPr>
          <p:nvPr>
            <p:ph type="sldNum" sz="quarter" idx="5"/>
          </p:nvPr>
        </p:nvSpPr>
        <p:spPr/>
        <p:txBody>
          <a:bodyPr/>
          <a:lstStyle/>
          <a:p>
            <a:fld id="{41209458-76B0-492C-AE3B-5216EDE26413}" type="slidenum">
              <a:rPr lang="fr-BE" smtClean="0"/>
              <a:t>7</a:t>
            </a:fld>
            <a:endParaRPr lang="fr-BE"/>
          </a:p>
        </p:txBody>
      </p:sp>
    </p:spTree>
    <p:extLst>
      <p:ext uri="{BB962C8B-B14F-4D97-AF65-F5344CB8AC3E}">
        <p14:creationId xmlns:p14="http://schemas.microsoft.com/office/powerpoint/2010/main" val="6856579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hr-HR" dirty="0"/>
              <a:t>Korisničko iskustvo (UX) i korisničko sučelje (UI) dva su različita pojma koja se ne mogu razdvojiti. UI je ono što korisnik vidi, dok je UX ono što korisnik može učiniti s onim što je upravo vidio/la.</a:t>
            </a:r>
          </a:p>
          <a:p>
            <a:r>
              <a:rPr lang="hr-HR" dirty="0"/>
              <a:t>Misija UX dizajnera je unaprijediti način korištenja te osmisliti i razviti nove ideje kako bi definirao/la koncept projekta, dok se UI dizajner bavi tehničkim aspektima projekta i realizacijom korisničkog iskustva.</a:t>
            </a:r>
          </a:p>
        </p:txBody>
      </p:sp>
      <p:sp>
        <p:nvSpPr>
          <p:cNvPr id="4" name="Slide Number Placeholder 3"/>
          <p:cNvSpPr>
            <a:spLocks noGrp="1"/>
          </p:cNvSpPr>
          <p:nvPr>
            <p:ph type="sldNum" sz="quarter" idx="5"/>
          </p:nvPr>
        </p:nvSpPr>
        <p:spPr/>
        <p:txBody>
          <a:bodyPr/>
          <a:lstStyle/>
          <a:p>
            <a:fld id="{41209458-76B0-492C-AE3B-5216EDE26413}" type="slidenum">
              <a:rPr lang="fr-BE" smtClean="0"/>
              <a:t>8</a:t>
            </a:fld>
            <a:endParaRPr lang="fr-BE"/>
          </a:p>
        </p:txBody>
      </p:sp>
    </p:spTree>
    <p:extLst>
      <p:ext uri="{BB962C8B-B14F-4D97-AF65-F5344CB8AC3E}">
        <p14:creationId xmlns:p14="http://schemas.microsoft.com/office/powerpoint/2010/main" val="11484449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hr-HR" b="1" dirty="0"/>
              <a:t>Prednosti UI/UX dizajna</a:t>
            </a:r>
            <a:endParaRPr lang="hr-HR" dirty="0"/>
          </a:p>
          <a:p>
            <a:r>
              <a:rPr lang="hr-HR" b="1" dirty="0"/>
              <a:t>Privlačenje i zadržavanje korisnika</a:t>
            </a:r>
            <a:r>
              <a:rPr lang="hr-HR" dirty="0"/>
              <a:t> – Kvalitetno osmišljen UI/UX privlači nove korisnike i zadržava njihovu pažnju, povećavajući lojalnost.</a:t>
            </a:r>
          </a:p>
          <a:p>
            <a:r>
              <a:rPr lang="hr-HR" b="1" dirty="0"/>
              <a:t>Smanjuje troškove i vrijeme razvoja</a:t>
            </a:r>
            <a:r>
              <a:rPr lang="hr-HR" dirty="0"/>
              <a:t> – Strukturiran proces dizajna pomaže u ranom prepoznavanju problema, čime se štede vrijeme i resursi.</a:t>
            </a:r>
          </a:p>
          <a:p>
            <a:r>
              <a:rPr lang="hr-HR" b="1" dirty="0"/>
              <a:t>Omogućuje jednostavnu navigaciju</a:t>
            </a:r>
            <a:r>
              <a:rPr lang="hr-HR" dirty="0"/>
              <a:t> – Intuitivna sučelja omogućuju korisnicima da brzo i učinkovito pronađu ono što im je potrebno.</a:t>
            </a:r>
          </a:p>
          <a:p>
            <a:r>
              <a:rPr lang="hr-HR" b="1" dirty="0"/>
              <a:t>Jača brend</a:t>
            </a:r>
            <a:r>
              <a:rPr lang="hr-HR" dirty="0"/>
              <a:t> – Snažan UI/UX unapređuje identitet i vjerodostojnost brenda.</a:t>
            </a:r>
          </a:p>
          <a:p>
            <a:r>
              <a:rPr lang="hr-HR" b="1" dirty="0"/>
              <a:t>Povećava stopu konverzije</a:t>
            </a:r>
            <a:r>
              <a:rPr lang="hr-HR" dirty="0"/>
              <a:t> – Besprijekorno korisničko iskustvo potiče korisnike na željene radnje, poput registracije ili kupnje.</a:t>
            </a:r>
          </a:p>
          <a:p>
            <a:r>
              <a:rPr lang="hr-HR" b="1" dirty="0"/>
              <a:t>Pomaže u SEO-u</a:t>
            </a:r>
            <a:r>
              <a:rPr lang="hr-HR" dirty="0"/>
              <a:t> – Dobro strukturirane i korisnički prilagođene web stranice bolje se rangiraju na tražilicama.</a:t>
            </a:r>
          </a:p>
          <a:p>
            <a:r>
              <a:rPr lang="hr-HR" b="1" dirty="0"/>
              <a:t>Poboljšava brzinu web stranice</a:t>
            </a:r>
            <a:r>
              <a:rPr lang="hr-HR" dirty="0"/>
              <a:t> – Optimiziran UX/UI smanjuje vrijeme učitavanja i poboljšava performanse.</a:t>
            </a:r>
          </a:p>
          <a:p>
            <a:r>
              <a:rPr lang="hr-HR" b="1" dirty="0"/>
              <a:t>Smanjuje potrebu za korisničkom podrškom</a:t>
            </a:r>
            <a:r>
              <a:rPr lang="hr-HR" dirty="0"/>
              <a:t> – Jasan dizajn smanjuje konfuziju i broj upita korisničkoj službi.</a:t>
            </a:r>
          </a:p>
          <a:p>
            <a:r>
              <a:rPr lang="hr-HR" b="1" dirty="0"/>
              <a:t>Unaprjeđuje korisničko iskustvo</a:t>
            </a:r>
            <a:r>
              <a:rPr lang="hr-HR" dirty="0"/>
              <a:t> – Glatka i ugodna interakcija povećava zadovoljstvo korisnika.</a:t>
            </a:r>
          </a:p>
          <a:p>
            <a:r>
              <a:rPr lang="hr-HR" b="1" dirty="0"/>
              <a:t>Daje konkurentsku prednost</a:t>
            </a:r>
            <a:r>
              <a:rPr lang="hr-HR" dirty="0"/>
              <a:t> – Vrhunski UI/UX omogućuje proizvodu da se istakne na zasićenom tržištu.</a:t>
            </a:r>
          </a:p>
          <a:p>
            <a:endParaRPr lang="fr-BE" dirty="0"/>
          </a:p>
        </p:txBody>
      </p:sp>
      <p:sp>
        <p:nvSpPr>
          <p:cNvPr id="4" name="Slide Number Placeholder 3"/>
          <p:cNvSpPr>
            <a:spLocks noGrp="1"/>
          </p:cNvSpPr>
          <p:nvPr>
            <p:ph type="sldNum" sz="quarter" idx="5"/>
          </p:nvPr>
        </p:nvSpPr>
        <p:spPr/>
        <p:txBody>
          <a:bodyPr/>
          <a:lstStyle/>
          <a:p>
            <a:fld id="{41209458-76B0-492C-AE3B-5216EDE26413}" type="slidenum">
              <a:rPr lang="fr-BE" smtClean="0"/>
              <a:t>9</a:t>
            </a:fld>
            <a:endParaRPr lang="fr-BE"/>
          </a:p>
        </p:txBody>
      </p:sp>
    </p:spTree>
    <p:extLst>
      <p:ext uri="{BB962C8B-B14F-4D97-AF65-F5344CB8AC3E}">
        <p14:creationId xmlns:p14="http://schemas.microsoft.com/office/powerpoint/2010/main" val="25261387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hr-HR" b="1" dirty="0"/>
              <a:t>UX:</a:t>
            </a:r>
            <a:endParaRPr lang="hr-HR" dirty="0"/>
          </a:p>
          <a:p>
            <a:r>
              <a:rPr lang="hr-HR" b="1" dirty="0"/>
              <a:t>Istraživanje tržišta</a:t>
            </a:r>
            <a:r>
              <a:rPr lang="hr-HR" dirty="0"/>
              <a:t> – Razumijevanje trendova u industriji i potreba korisnika.</a:t>
            </a:r>
            <a:br>
              <a:rPr lang="hr-HR" dirty="0"/>
            </a:br>
            <a:r>
              <a:rPr lang="hr-HR" b="1" dirty="0"/>
              <a:t>Istraživanje korisnika</a:t>
            </a:r>
            <a:r>
              <a:rPr lang="hr-HR" dirty="0"/>
              <a:t> – Proučavanje ponašanja, ciljeva i problema korisnika.</a:t>
            </a:r>
            <a:br>
              <a:rPr lang="hr-HR" dirty="0"/>
            </a:br>
            <a:r>
              <a:rPr lang="hr-HR" b="1" dirty="0"/>
              <a:t>Izrada persona</a:t>
            </a:r>
            <a:r>
              <a:rPr lang="hr-HR" dirty="0"/>
              <a:t> – Kreiranje fiktivnih profila korisnika na temelju istraživanja.</a:t>
            </a:r>
            <a:br>
              <a:rPr lang="hr-HR" dirty="0"/>
            </a:br>
            <a:r>
              <a:rPr lang="hr-HR" b="1" dirty="0"/>
              <a:t>IA (Informacijska arhitektura)</a:t>
            </a:r>
            <a:r>
              <a:rPr lang="hr-HR" dirty="0"/>
              <a:t> – Strukturiranje sadržaja radi jednostavne navigacije.</a:t>
            </a:r>
            <a:br>
              <a:rPr lang="hr-HR" dirty="0"/>
            </a:br>
            <a:r>
              <a:rPr lang="hr-HR" b="1" dirty="0"/>
              <a:t>Empatija</a:t>
            </a:r>
            <a:r>
              <a:rPr lang="hr-HR" dirty="0"/>
              <a:t> – Razumijevanje osjećaja i perspektive korisnika.</a:t>
            </a:r>
            <a:br>
              <a:rPr lang="hr-HR" dirty="0"/>
            </a:br>
            <a:r>
              <a:rPr lang="hr-HR" b="1" dirty="0"/>
              <a:t>Mapiranje</a:t>
            </a:r>
            <a:r>
              <a:rPr lang="hr-HR" dirty="0"/>
              <a:t> – Vizualizacija odnosa ili koraka (npr. mapa korisničkog putovanja).</a:t>
            </a:r>
            <a:br>
              <a:rPr lang="hr-HR" dirty="0"/>
            </a:br>
            <a:r>
              <a:rPr lang="hr-HR" b="1" dirty="0"/>
              <a:t>Definiranje korisničkog putovanja</a:t>
            </a:r>
            <a:r>
              <a:rPr lang="hr-HR" dirty="0"/>
              <a:t> – Opisivanje koraka koje korisnici poduzimaju kako bi postigli cilj.</a:t>
            </a:r>
            <a:br>
              <a:rPr lang="hr-HR" dirty="0"/>
            </a:br>
            <a:r>
              <a:rPr lang="hr-HR" b="1" dirty="0"/>
              <a:t>Funkcionalnost</a:t>
            </a:r>
            <a:r>
              <a:rPr lang="hr-HR" dirty="0"/>
              <a:t> – Osiguravanje da značajke zadovoljavaju potrebe i očekivanja korisnika.</a:t>
            </a:r>
          </a:p>
          <a:p>
            <a:endParaRPr lang="en-US" b="1" dirty="0"/>
          </a:p>
          <a:p>
            <a:r>
              <a:rPr lang="hr-HR" b="1" dirty="0"/>
              <a:t>OBOJE (UX i UI):</a:t>
            </a:r>
            <a:endParaRPr lang="hr-HR" dirty="0"/>
          </a:p>
          <a:p>
            <a:r>
              <a:rPr lang="hr-HR" b="1" dirty="0"/>
              <a:t>Suradnja</a:t>
            </a:r>
            <a:r>
              <a:rPr lang="hr-HR" dirty="0"/>
              <a:t> – Rad između timova s ciljem stvaranja boljeg korisničkog iskustva.</a:t>
            </a:r>
            <a:br>
              <a:rPr lang="hr-HR" dirty="0"/>
            </a:br>
            <a:r>
              <a:rPr lang="hr-HR" b="1" dirty="0"/>
              <a:t>Dizajnersko razmišljanje</a:t>
            </a:r>
            <a:r>
              <a:rPr lang="hr-HR" dirty="0"/>
              <a:t> – Proces kreativnog rješavanja problema usmjeren na korisnika.</a:t>
            </a:r>
            <a:br>
              <a:rPr lang="hr-HR" dirty="0"/>
            </a:br>
            <a:r>
              <a:rPr lang="hr-HR" b="1" dirty="0" err="1"/>
              <a:t>Wireframing</a:t>
            </a:r>
            <a:r>
              <a:rPr lang="hr-HR" dirty="0"/>
              <a:t> – Osnovne skice rasporeda sučelja prije razrade dizajnerskih detalja.</a:t>
            </a:r>
            <a:br>
              <a:rPr lang="hr-HR" dirty="0"/>
            </a:br>
            <a:r>
              <a:rPr lang="hr-HR" b="1" dirty="0" err="1"/>
              <a:t>Prototipiranje</a:t>
            </a:r>
            <a:r>
              <a:rPr lang="hr-HR" dirty="0"/>
              <a:t> – Interaktivni modeli za testiranje funkcionalnosti i tijeka korištenja.</a:t>
            </a:r>
            <a:br>
              <a:rPr lang="hr-HR" dirty="0"/>
            </a:br>
            <a:r>
              <a:rPr lang="hr-HR" b="1" dirty="0"/>
              <a:t>Iteracije</a:t>
            </a:r>
            <a:r>
              <a:rPr lang="hr-HR" dirty="0"/>
              <a:t> – Ponavljana poboljšanja temeljena na povratnim informacijama.</a:t>
            </a:r>
            <a:br>
              <a:rPr lang="hr-HR" dirty="0"/>
            </a:br>
            <a:r>
              <a:rPr lang="hr-HR" b="1" dirty="0"/>
              <a:t>Testiranje</a:t>
            </a:r>
            <a:r>
              <a:rPr lang="hr-HR" dirty="0"/>
              <a:t> – Provjera dizajnerskih odluka s pomoću stvarnih korisnika.</a:t>
            </a:r>
            <a:br>
              <a:rPr lang="hr-HR" dirty="0"/>
            </a:br>
            <a:r>
              <a:rPr lang="hr-HR" b="1" dirty="0"/>
              <a:t>Istraživanje korisnika</a:t>
            </a:r>
            <a:r>
              <a:rPr lang="hr-HR" dirty="0"/>
              <a:t> – Prikupljanje uvida za donošenje dizajnerskih odluka.</a:t>
            </a:r>
          </a:p>
          <a:p>
            <a:endParaRPr lang="en-US" b="1" dirty="0"/>
          </a:p>
          <a:p>
            <a:endParaRPr lang="en-US" b="1" dirty="0"/>
          </a:p>
          <a:p>
            <a:r>
              <a:rPr lang="hr-HR" b="1" dirty="0"/>
              <a:t>UI:</a:t>
            </a:r>
            <a:endParaRPr lang="hr-HR" dirty="0"/>
          </a:p>
          <a:p>
            <a:r>
              <a:rPr lang="hr-HR" b="1" dirty="0"/>
              <a:t>Boja</a:t>
            </a:r>
            <a:r>
              <a:rPr lang="hr-HR" dirty="0"/>
              <a:t> – Koristi se za stvaranje ugođaja, isticanje elemenata i podršku identitetu brenda.</a:t>
            </a:r>
            <a:br>
              <a:rPr lang="hr-HR" dirty="0"/>
            </a:br>
            <a:r>
              <a:rPr lang="hr-HR" b="1" dirty="0"/>
              <a:t>Vizualni dizajn</a:t>
            </a:r>
            <a:r>
              <a:rPr lang="hr-HR" dirty="0"/>
              <a:t> – Cjelokupan izgled i dojam sučelja.</a:t>
            </a:r>
            <a:br>
              <a:rPr lang="hr-HR" dirty="0"/>
            </a:br>
            <a:r>
              <a:rPr lang="hr-HR" b="1" dirty="0"/>
              <a:t>Tipografija</a:t>
            </a:r>
            <a:r>
              <a:rPr lang="hr-HR" dirty="0"/>
              <a:t> – Stil i raspored teksta radi čitljivosti i dojma.</a:t>
            </a:r>
            <a:br>
              <a:rPr lang="hr-HR" dirty="0"/>
            </a:br>
            <a:r>
              <a:rPr lang="hr-HR" b="1" dirty="0"/>
              <a:t>Sustav dizajna</a:t>
            </a:r>
            <a:r>
              <a:rPr lang="hr-HR" dirty="0"/>
              <a:t> – Skup standarda i komponenti za dosljedan UI.</a:t>
            </a:r>
            <a:br>
              <a:rPr lang="hr-HR" dirty="0"/>
            </a:br>
            <a:r>
              <a:rPr lang="hr-HR" b="1" dirty="0"/>
              <a:t>Dizajn sučelja</a:t>
            </a:r>
            <a:r>
              <a:rPr lang="hr-HR" dirty="0"/>
              <a:t> – Oblikovanje načina na koji korisnici komuniciraju s digitalnim proizvodima.</a:t>
            </a:r>
            <a:br>
              <a:rPr lang="hr-HR" dirty="0"/>
            </a:br>
            <a:r>
              <a:rPr lang="hr-HR" b="1" dirty="0" err="1"/>
              <a:t>Brendiranje</a:t>
            </a:r>
            <a:r>
              <a:rPr lang="hr-HR" dirty="0"/>
              <a:t> – Vizualni identitet koji odražava osobnost tvrtke.</a:t>
            </a:r>
            <a:br>
              <a:rPr lang="hr-HR" dirty="0"/>
            </a:br>
            <a:r>
              <a:rPr lang="hr-HR" b="1" dirty="0"/>
              <a:t>Raspored (</a:t>
            </a:r>
            <a:r>
              <a:rPr lang="hr-HR" b="1" dirty="0" err="1"/>
              <a:t>layout</a:t>
            </a:r>
            <a:r>
              <a:rPr lang="hr-HR" b="1" dirty="0"/>
              <a:t>)</a:t>
            </a:r>
            <a:r>
              <a:rPr lang="hr-HR" dirty="0"/>
              <a:t> – Organizacija elemenata na zaslonu.</a:t>
            </a:r>
            <a:br>
              <a:rPr lang="hr-HR" dirty="0"/>
            </a:br>
            <a:r>
              <a:rPr lang="hr-HR" b="1" dirty="0"/>
              <a:t>Animacije</a:t>
            </a:r>
            <a:r>
              <a:rPr lang="hr-HR" dirty="0"/>
              <a:t> – Efekti pokreta koji vode ili angažiraju korisnike.</a:t>
            </a:r>
            <a:br>
              <a:rPr lang="hr-HR" dirty="0"/>
            </a:br>
            <a:r>
              <a:rPr lang="hr-HR" b="1" dirty="0"/>
              <a:t>Visoka razina vjernosti (</a:t>
            </a:r>
            <a:r>
              <a:rPr lang="hr-HR" b="1" dirty="0" err="1"/>
              <a:t>High</a:t>
            </a:r>
            <a:r>
              <a:rPr lang="hr-HR" b="1" dirty="0"/>
              <a:t> </a:t>
            </a:r>
            <a:r>
              <a:rPr lang="hr-HR" b="1" dirty="0" err="1"/>
              <a:t>Fidelity</a:t>
            </a:r>
            <a:r>
              <a:rPr lang="hr-HR" b="1" dirty="0"/>
              <a:t>)</a:t>
            </a:r>
            <a:r>
              <a:rPr lang="hr-HR" dirty="0"/>
              <a:t> – Detaljni, dorađeni prikazi bliski konačnom dizajnu.</a:t>
            </a:r>
          </a:p>
          <a:p>
            <a:endParaRPr lang="fr-BE" dirty="0"/>
          </a:p>
        </p:txBody>
      </p:sp>
      <p:sp>
        <p:nvSpPr>
          <p:cNvPr id="4" name="Slide Number Placeholder 3"/>
          <p:cNvSpPr>
            <a:spLocks noGrp="1"/>
          </p:cNvSpPr>
          <p:nvPr>
            <p:ph type="sldNum" sz="quarter" idx="5"/>
          </p:nvPr>
        </p:nvSpPr>
        <p:spPr/>
        <p:txBody>
          <a:bodyPr/>
          <a:lstStyle/>
          <a:p>
            <a:fld id="{41209458-76B0-492C-AE3B-5216EDE26413}" type="slidenum">
              <a:rPr lang="fr-BE" smtClean="0"/>
              <a:t>10</a:t>
            </a:fld>
            <a:endParaRPr lang="fr-BE"/>
          </a:p>
        </p:txBody>
      </p:sp>
    </p:spTree>
    <p:extLst>
      <p:ext uri="{BB962C8B-B14F-4D97-AF65-F5344CB8AC3E}">
        <p14:creationId xmlns:p14="http://schemas.microsoft.com/office/powerpoint/2010/main" val="39349009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BE" dirty="0"/>
          </a:p>
        </p:txBody>
      </p:sp>
      <p:sp>
        <p:nvSpPr>
          <p:cNvPr id="4" name="Slide Number Placeholder 3"/>
          <p:cNvSpPr>
            <a:spLocks noGrp="1"/>
          </p:cNvSpPr>
          <p:nvPr>
            <p:ph type="sldNum" sz="quarter" idx="5"/>
          </p:nvPr>
        </p:nvSpPr>
        <p:spPr/>
        <p:txBody>
          <a:bodyPr/>
          <a:lstStyle/>
          <a:p>
            <a:fld id="{41209458-76B0-492C-AE3B-5216EDE26413}" type="slidenum">
              <a:rPr lang="fr-BE" smtClean="0"/>
              <a:t>11</a:t>
            </a:fld>
            <a:endParaRPr lang="fr-BE"/>
          </a:p>
        </p:txBody>
      </p:sp>
    </p:spTree>
    <p:extLst>
      <p:ext uri="{BB962C8B-B14F-4D97-AF65-F5344CB8AC3E}">
        <p14:creationId xmlns:p14="http://schemas.microsoft.com/office/powerpoint/2010/main" val="3940228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hr-HR" dirty="0"/>
              <a:t>Pet elemenata UX dizajna čine strukturirani pristup stvaranju proizvoda usmjerenih na korisnika:</a:t>
            </a:r>
          </a:p>
          <a:p>
            <a:r>
              <a:rPr lang="hr-HR" b="1" dirty="0"/>
              <a:t>1. Strategija</a:t>
            </a:r>
            <a:r>
              <a:rPr lang="hr-HR" dirty="0"/>
              <a:t> – Temelj UX dizajna, gdje se definiraju ciljevi proizvoda i usklađuju s poslovnim ciljevima i potrebama korisnika. Istraživanje je ključno za razumijevanje očekivanja korisnika i osiguravanje smislenog dizajna.</a:t>
            </a:r>
          </a:p>
          <a:p>
            <a:r>
              <a:rPr lang="hr-HR" b="1" dirty="0"/>
              <a:t>2. Opseg (</a:t>
            </a:r>
            <a:r>
              <a:rPr lang="hr-HR" b="1" dirty="0" err="1"/>
              <a:t>Scope</a:t>
            </a:r>
            <a:r>
              <a:rPr lang="hr-HR" b="1" dirty="0"/>
              <a:t>)</a:t>
            </a:r>
            <a:r>
              <a:rPr lang="hr-HR" dirty="0"/>
              <a:t> – Određuje što će proizvod sadržavati i kako će funkcionirati. Uključuje definiranje funkcionalnosti, zahtjeva za sadržajem te osiguravanje da sve djeluje skladno i bez preopterećenja korisnika.</a:t>
            </a:r>
          </a:p>
          <a:p>
            <a:r>
              <a:rPr lang="hr-HR" b="1" dirty="0"/>
              <a:t>3. Struktura</a:t>
            </a:r>
            <a:r>
              <a:rPr lang="hr-HR" dirty="0"/>
              <a:t> – Usmjerena je na dizajn interakcije i informacijsku arhitekturu. Osigurava intuitivnu navigaciju kroz logičnu organizaciju sadržaja i interakcija.</a:t>
            </a:r>
          </a:p>
          <a:p>
            <a:r>
              <a:rPr lang="hr-HR" b="1" dirty="0"/>
              <a:t>4. Kostur (</a:t>
            </a:r>
            <a:r>
              <a:rPr lang="hr-HR" b="1" dirty="0" err="1"/>
              <a:t>Skeleton</a:t>
            </a:r>
            <a:r>
              <a:rPr lang="hr-HR" b="1" dirty="0"/>
              <a:t>)</a:t>
            </a:r>
            <a:r>
              <a:rPr lang="hr-HR" dirty="0"/>
              <a:t> – Vizualni nacrt koji uključuje </a:t>
            </a:r>
            <a:r>
              <a:rPr lang="hr-HR" dirty="0" err="1"/>
              <a:t>wireframeove</a:t>
            </a:r>
            <a:r>
              <a:rPr lang="hr-HR" dirty="0"/>
              <a:t> i prototipove te definira raspored elemenata sučelja poput gumba, slika i teksta. Cilj je stvoriti intuitivan raspored s kojim korisnici mogu lako komunicirati.</a:t>
            </a:r>
          </a:p>
          <a:p>
            <a:r>
              <a:rPr lang="hr-HR" b="1" dirty="0"/>
              <a:t>5. Površina (</a:t>
            </a:r>
            <a:r>
              <a:rPr lang="hr-HR" b="1" dirty="0" err="1"/>
              <a:t>Surface</a:t>
            </a:r>
            <a:r>
              <a:rPr lang="hr-HR" b="1" dirty="0"/>
              <a:t>)</a:t>
            </a:r>
            <a:r>
              <a:rPr lang="hr-HR" dirty="0"/>
              <a:t> – Završni sloj u kojem dolaze do izražaja elementi vizualnog dizajna poput tipografije, boja i vizualnih materijala. Ova faza obogaćuje osjetilno iskustvo i osigurava ravnotežu između estetike i funkcionalnosti za privlačno korisničko iskustvo.</a:t>
            </a:r>
          </a:p>
          <a:p>
            <a:r>
              <a:rPr lang="hr-HR" dirty="0"/>
              <a:t>Svaki sloj nadograđuje prethodni, stvarajući proizvod koji je jednostavan za korištenje i vizualno privlačan.</a:t>
            </a:r>
          </a:p>
          <a:p>
            <a:endParaRPr lang="fr-BE" dirty="0"/>
          </a:p>
        </p:txBody>
      </p:sp>
      <p:sp>
        <p:nvSpPr>
          <p:cNvPr id="4" name="Slide Number Placeholder 3"/>
          <p:cNvSpPr>
            <a:spLocks noGrp="1"/>
          </p:cNvSpPr>
          <p:nvPr>
            <p:ph type="sldNum" sz="quarter" idx="5"/>
          </p:nvPr>
        </p:nvSpPr>
        <p:spPr/>
        <p:txBody>
          <a:bodyPr/>
          <a:lstStyle/>
          <a:p>
            <a:fld id="{41209458-76B0-492C-AE3B-5216EDE26413}" type="slidenum">
              <a:rPr lang="fr-BE" smtClean="0"/>
              <a:t>12</a:t>
            </a:fld>
            <a:endParaRPr lang="fr-BE"/>
          </a:p>
        </p:txBody>
      </p:sp>
    </p:spTree>
    <p:extLst>
      <p:ext uri="{BB962C8B-B14F-4D97-AF65-F5344CB8AC3E}">
        <p14:creationId xmlns:p14="http://schemas.microsoft.com/office/powerpoint/2010/main" val="19040040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hr-HR" dirty="0"/>
              <a:t>UX proces sastoji se od pet ključnih faza:</a:t>
            </a:r>
          </a:p>
          <a:p>
            <a:r>
              <a:rPr lang="hr-HR" b="1" dirty="0"/>
              <a:t>1. Strategija</a:t>
            </a:r>
            <a:r>
              <a:rPr lang="hr-HR" dirty="0"/>
              <a:t> – Definira brend, vodeća načela i dugoročnu viziju. Oblikuje ciljeve projekta, metrike uspjeha i prioritete.</a:t>
            </a:r>
          </a:p>
          <a:p>
            <a:r>
              <a:rPr lang="hr-HR" b="1" dirty="0"/>
              <a:t>2. Istraživanje</a:t>
            </a:r>
            <a:r>
              <a:rPr lang="hr-HR" dirty="0"/>
              <a:t> – Naziva se i faza otkrivanja (Discovery), a njezina dubina ovisi o projektu. Uključuje istraživanje korisnika i konkurencije kako bi se informirao proces dizajna, no u </a:t>
            </a:r>
            <a:r>
              <a:rPr lang="hr-HR" dirty="0" err="1"/>
              <a:t>Lean</a:t>
            </a:r>
            <a:r>
              <a:rPr lang="hr-HR" dirty="0"/>
              <a:t> UX pristupu često se preskače ili pojednostavljuje.</a:t>
            </a:r>
          </a:p>
          <a:p>
            <a:r>
              <a:rPr lang="hr-HR" b="1" dirty="0"/>
              <a:t>3. Analiza</a:t>
            </a:r>
            <a:r>
              <a:rPr lang="hr-HR" dirty="0"/>
              <a:t> – Izvlači uvide iz prikupljenih podataka kako bi se razumjele potrebe korisnika i potvrdile pretpostavke.</a:t>
            </a:r>
          </a:p>
          <a:p>
            <a:r>
              <a:rPr lang="hr-HR" b="1" dirty="0"/>
              <a:t>4. Dizajn</a:t>
            </a:r>
            <a:r>
              <a:rPr lang="hr-HR" dirty="0"/>
              <a:t> – Suradnički i iterativan proces u kojem se ideje testiraju s korisnicima putem prototipova niske razine vjernosti (</a:t>
            </a:r>
            <a:r>
              <a:rPr lang="hr-HR" dirty="0" err="1"/>
              <a:t>low-fidelity</a:t>
            </a:r>
            <a:r>
              <a:rPr lang="hr-HR" dirty="0"/>
              <a:t>).</a:t>
            </a:r>
          </a:p>
          <a:p>
            <a:r>
              <a:rPr lang="hr-HR" b="1" dirty="0"/>
              <a:t>5. Produkcija</a:t>
            </a:r>
            <a:r>
              <a:rPr lang="hr-HR" dirty="0"/>
              <a:t> – Finalizira dizajne visoke razine vjernosti (</a:t>
            </a:r>
            <a:r>
              <a:rPr lang="hr-HR" dirty="0" err="1"/>
              <a:t>high-fidelity</a:t>
            </a:r>
            <a:r>
              <a:rPr lang="hr-HR" dirty="0"/>
              <a:t>), izrađuje digitalne materijale i blisko surađuje s developerima na implementaciji i validaciji proizvoda.</a:t>
            </a:r>
          </a:p>
          <a:p>
            <a:r>
              <a:rPr lang="hr-HR" dirty="0"/>
              <a:t>Iako ove faze podsjećaju na linearni „</a:t>
            </a:r>
            <a:r>
              <a:rPr lang="hr-HR" dirty="0" err="1"/>
              <a:t>waterfall</a:t>
            </a:r>
            <a:r>
              <a:rPr lang="hr-HR" dirty="0"/>
              <a:t>“ model, UX dizajn je po svojoj prirodi iterativan te zahtijeva stalne povratne informacije, revizije i komunikaciju sa dionicima. Ovakav pristup usklađen je s principima </a:t>
            </a:r>
            <a:r>
              <a:rPr lang="hr-HR" dirty="0" err="1"/>
              <a:t>Agile</a:t>
            </a:r>
            <a:r>
              <a:rPr lang="hr-HR" dirty="0"/>
              <a:t> razvoja i </a:t>
            </a:r>
            <a:r>
              <a:rPr lang="hr-HR" dirty="0" err="1"/>
              <a:t>Lean</a:t>
            </a:r>
            <a:r>
              <a:rPr lang="hr-HR" dirty="0"/>
              <a:t> </a:t>
            </a:r>
            <a:r>
              <a:rPr lang="hr-HR" dirty="0" err="1"/>
              <a:t>Startup</a:t>
            </a:r>
            <a:r>
              <a:rPr lang="hr-HR" dirty="0"/>
              <a:t> metodologije, osiguravajući kontinuirano unapređenje temeljeno na korisničkim uvidima. Učinkovita komunikacija ključna je za dobivanje podrške dionika i uspjeh projekta.</a:t>
            </a:r>
          </a:p>
          <a:p>
            <a:endParaRPr lang="fr-BE" dirty="0"/>
          </a:p>
        </p:txBody>
      </p:sp>
      <p:sp>
        <p:nvSpPr>
          <p:cNvPr id="4" name="Slide Number Placeholder 3"/>
          <p:cNvSpPr>
            <a:spLocks noGrp="1"/>
          </p:cNvSpPr>
          <p:nvPr>
            <p:ph type="sldNum" sz="quarter" idx="5"/>
          </p:nvPr>
        </p:nvSpPr>
        <p:spPr/>
        <p:txBody>
          <a:bodyPr/>
          <a:lstStyle/>
          <a:p>
            <a:fld id="{41209458-76B0-492C-AE3B-5216EDE26413}" type="slidenum">
              <a:rPr lang="fr-BE" smtClean="0"/>
              <a:t>13</a:t>
            </a:fld>
            <a:endParaRPr lang="fr-BE"/>
          </a:p>
        </p:txBody>
      </p:sp>
    </p:spTree>
    <p:extLst>
      <p:ext uri="{BB962C8B-B14F-4D97-AF65-F5344CB8AC3E}">
        <p14:creationId xmlns:p14="http://schemas.microsoft.com/office/powerpoint/2010/main" val="22917202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hr-HR" dirty="0" err="1"/>
              <a:t>CraftEase</a:t>
            </a:r>
            <a:r>
              <a:rPr lang="hr-HR" dirty="0"/>
              <a:t> / </a:t>
            </a:r>
            <a:r>
              <a:rPr lang="hr-HR" dirty="0" err="1"/>
              <a:t>DIYHub</a:t>
            </a:r>
            <a:r>
              <a:rPr lang="hr-HR" dirty="0"/>
              <a:t> je web-aplikacijsko rješenje razvijeno za trgovce opremom za uređenje doma koji žele povećati angažman kupaca izravno putem svoje web stranice. Naš je cilj vašoj trgovini pružiti integriranu digitalnu uslugu koja omogućuje upravljanje prijavama na DIY radionice, promociju projektnih </a:t>
            </a:r>
            <a:r>
              <a:rPr lang="hr-HR" dirty="0" err="1"/>
              <a:t>tutorijala</a:t>
            </a:r>
            <a:r>
              <a:rPr lang="hr-HR" dirty="0"/>
              <a:t> te praćenje dostupnosti alata i materijala u stvarnom vremenu.</a:t>
            </a:r>
          </a:p>
          <a:p>
            <a:r>
              <a:rPr lang="hr-HR" dirty="0"/>
              <a:t>Platforma je osmišljena tako da se besprijekorno integrira u vašu postojeću web stranicu. Jednostavna je za korištenje, sigurna i prilagodljiva vašem brendu i potrebama kupaca. Značajke uključuju personalizirane preporuke projekata, upravljanje rezervacijama, alate za prikupljanje povratnih informacija korisnika te analitiku za timove u trgovini.</a:t>
            </a:r>
          </a:p>
          <a:p>
            <a:r>
              <a:rPr lang="hr-HR" dirty="0"/>
              <a:t>Pružanjem ove dodatne vrijednosti, vaša trgovina postaje više od prodajnog mjesta — postaje DIY destinacija.</a:t>
            </a:r>
          </a:p>
          <a:p>
            <a:endParaRPr lang="fr-BE" dirty="0"/>
          </a:p>
        </p:txBody>
      </p:sp>
      <p:sp>
        <p:nvSpPr>
          <p:cNvPr id="4" name="Slide Number Placeholder 3"/>
          <p:cNvSpPr>
            <a:spLocks noGrp="1"/>
          </p:cNvSpPr>
          <p:nvPr>
            <p:ph type="sldNum" sz="quarter" idx="5"/>
          </p:nvPr>
        </p:nvSpPr>
        <p:spPr/>
        <p:txBody>
          <a:bodyPr/>
          <a:lstStyle/>
          <a:p>
            <a:fld id="{41209458-76B0-492C-AE3B-5216EDE26413}" type="slidenum">
              <a:rPr lang="fr-BE" smtClean="0"/>
              <a:t>14</a:t>
            </a:fld>
            <a:endParaRPr lang="fr-BE"/>
          </a:p>
        </p:txBody>
      </p:sp>
    </p:spTree>
    <p:extLst>
      <p:ext uri="{BB962C8B-B14F-4D97-AF65-F5344CB8AC3E}">
        <p14:creationId xmlns:p14="http://schemas.microsoft.com/office/powerpoint/2010/main" val="27420013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BE" dirty="0"/>
          </a:p>
        </p:txBody>
      </p:sp>
      <p:sp>
        <p:nvSpPr>
          <p:cNvPr id="4" name="Slide Number Placeholder 3"/>
          <p:cNvSpPr>
            <a:spLocks noGrp="1"/>
          </p:cNvSpPr>
          <p:nvPr>
            <p:ph type="sldNum" sz="quarter" idx="5"/>
          </p:nvPr>
        </p:nvSpPr>
        <p:spPr/>
        <p:txBody>
          <a:bodyPr/>
          <a:lstStyle/>
          <a:p>
            <a:fld id="{41209458-76B0-492C-AE3B-5216EDE26413}" type="slidenum">
              <a:rPr lang="fr-BE" smtClean="0"/>
              <a:t>15</a:t>
            </a:fld>
            <a:endParaRPr lang="fr-BE"/>
          </a:p>
        </p:txBody>
      </p:sp>
    </p:spTree>
    <p:extLst>
      <p:ext uri="{BB962C8B-B14F-4D97-AF65-F5344CB8AC3E}">
        <p14:creationId xmlns:p14="http://schemas.microsoft.com/office/powerpoint/2010/main" val="35730335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B5BC10-B247-8E6A-BFAF-844676D14B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8387D1-1B2B-EC53-4505-7565F3A13E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157D85-6A76-9B6A-054A-EE8A71794AA3}"/>
              </a:ext>
            </a:extLst>
          </p:cNvPr>
          <p:cNvSpPr>
            <a:spLocks noGrp="1"/>
          </p:cNvSpPr>
          <p:nvPr>
            <p:ph type="body" idx="1"/>
          </p:nvPr>
        </p:nvSpPr>
        <p:spPr/>
        <p:txBody>
          <a:bodyPr/>
          <a:lstStyle/>
          <a:p>
            <a:endParaRPr lang="fr-BE" dirty="0"/>
          </a:p>
        </p:txBody>
      </p:sp>
      <p:sp>
        <p:nvSpPr>
          <p:cNvPr id="4" name="Slide Number Placeholder 3">
            <a:extLst>
              <a:ext uri="{FF2B5EF4-FFF2-40B4-BE49-F238E27FC236}">
                <a16:creationId xmlns:a16="http://schemas.microsoft.com/office/drawing/2014/main" id="{068ED7EA-F419-25E0-342C-2B2085F9A57F}"/>
              </a:ext>
            </a:extLst>
          </p:cNvPr>
          <p:cNvSpPr>
            <a:spLocks noGrp="1"/>
          </p:cNvSpPr>
          <p:nvPr>
            <p:ph type="sldNum" sz="quarter" idx="5"/>
          </p:nvPr>
        </p:nvSpPr>
        <p:spPr/>
        <p:txBody>
          <a:bodyPr/>
          <a:lstStyle/>
          <a:p>
            <a:fld id="{41209458-76B0-492C-AE3B-5216EDE26413}" type="slidenum">
              <a:rPr lang="fr-BE" smtClean="0"/>
              <a:t>16</a:t>
            </a:fld>
            <a:endParaRPr lang="fr-BE"/>
          </a:p>
        </p:txBody>
      </p:sp>
    </p:spTree>
    <p:extLst>
      <p:ext uri="{BB962C8B-B14F-4D97-AF65-F5344CB8AC3E}">
        <p14:creationId xmlns:p14="http://schemas.microsoft.com/office/powerpoint/2010/main" val="35188832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BE" dirty="0"/>
          </a:p>
        </p:txBody>
      </p:sp>
      <p:sp>
        <p:nvSpPr>
          <p:cNvPr id="4" name="Slide Number Placeholder 3"/>
          <p:cNvSpPr>
            <a:spLocks noGrp="1"/>
          </p:cNvSpPr>
          <p:nvPr>
            <p:ph type="sldNum" sz="quarter" idx="5"/>
          </p:nvPr>
        </p:nvSpPr>
        <p:spPr/>
        <p:txBody>
          <a:bodyPr/>
          <a:lstStyle/>
          <a:p>
            <a:fld id="{41209458-76B0-492C-AE3B-5216EDE26413}" type="slidenum">
              <a:rPr lang="fr-BE" smtClean="0"/>
              <a:t>18</a:t>
            </a:fld>
            <a:endParaRPr lang="fr-BE"/>
          </a:p>
        </p:txBody>
      </p:sp>
    </p:spTree>
    <p:extLst>
      <p:ext uri="{BB962C8B-B14F-4D97-AF65-F5344CB8AC3E}">
        <p14:creationId xmlns:p14="http://schemas.microsoft.com/office/powerpoint/2010/main" val="32774996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Naslovni slajd">
    <p:spTree>
      <p:nvGrpSpPr>
        <p:cNvPr id="1" name=""/>
        <p:cNvGrpSpPr/>
        <p:nvPr/>
      </p:nvGrpSpPr>
      <p:grpSpPr>
        <a:xfrm>
          <a:off x="0" y="0"/>
          <a:ext cx="0" cy="0"/>
          <a:chOff x="0" y="0"/>
          <a:chExt cx="0" cy="0"/>
        </a:xfrm>
      </p:grpSpPr>
      <p:pic>
        <p:nvPicPr>
          <p:cNvPr id="14" name="Slika 13">
            <a:extLst>
              <a:ext uri="{FF2B5EF4-FFF2-40B4-BE49-F238E27FC236}">
                <a16:creationId xmlns:a16="http://schemas.microsoft.com/office/drawing/2014/main" id="{8FBD081C-E6C2-807B-F622-45A52F57D62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428"/>
            <a:ext cx="12192000" cy="6857142"/>
          </a:xfrm>
          <a:prstGeom prst="rect">
            <a:avLst/>
          </a:prstGeom>
        </p:spPr>
      </p:pic>
      <p:sp>
        <p:nvSpPr>
          <p:cNvPr id="2" name="Naslov 1">
            <a:extLst>
              <a:ext uri="{FF2B5EF4-FFF2-40B4-BE49-F238E27FC236}">
                <a16:creationId xmlns:a16="http://schemas.microsoft.com/office/drawing/2014/main" id="{00F290A5-665D-F2E4-352E-051E267BCC19}"/>
              </a:ext>
            </a:extLst>
          </p:cNvPr>
          <p:cNvSpPr>
            <a:spLocks noGrp="1"/>
          </p:cNvSpPr>
          <p:nvPr>
            <p:ph type="ctrTitle" hasCustomPrompt="1"/>
          </p:nvPr>
        </p:nvSpPr>
        <p:spPr>
          <a:xfrm>
            <a:off x="2455653" y="2468084"/>
            <a:ext cx="9144000" cy="2387600"/>
          </a:xfrm>
        </p:spPr>
        <p:txBody>
          <a:bodyPr anchor="b"/>
          <a:lstStyle>
            <a:lvl1pPr algn="r">
              <a:defRPr sz="6000">
                <a:latin typeface="Montserrat" panose="00000500000000000000" pitchFamily="2" charset="-18"/>
              </a:defRPr>
            </a:lvl1pPr>
          </a:lstStyle>
          <a:p>
            <a:r>
              <a:rPr lang="hr-HR" dirty="0"/>
              <a:t>DOCUMENT TITLE</a:t>
            </a:r>
          </a:p>
        </p:txBody>
      </p:sp>
      <p:sp>
        <p:nvSpPr>
          <p:cNvPr id="3" name="Podnaslov 2">
            <a:extLst>
              <a:ext uri="{FF2B5EF4-FFF2-40B4-BE49-F238E27FC236}">
                <a16:creationId xmlns:a16="http://schemas.microsoft.com/office/drawing/2014/main" id="{7A61E420-EBAD-A9E6-F448-076E17D0F241}"/>
              </a:ext>
            </a:extLst>
          </p:cNvPr>
          <p:cNvSpPr>
            <a:spLocks noGrp="1"/>
          </p:cNvSpPr>
          <p:nvPr>
            <p:ph type="subTitle" idx="1" hasCustomPrompt="1"/>
          </p:nvPr>
        </p:nvSpPr>
        <p:spPr>
          <a:xfrm>
            <a:off x="2455653" y="4947759"/>
            <a:ext cx="9144000" cy="1655762"/>
          </a:xfrm>
        </p:spPr>
        <p:txBody>
          <a:bodyPr/>
          <a:lstStyle>
            <a:lvl1pPr marL="0" indent="0" algn="r">
              <a:buNone/>
              <a:defRPr sz="2400">
                <a:latin typeface="Montserrat" panose="00000500000000000000" pitchFamily="2" charset="-18"/>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r-HR" dirty="0"/>
              <a:t>SUBHEADING</a:t>
            </a:r>
          </a:p>
        </p:txBody>
      </p:sp>
    </p:spTree>
    <p:extLst>
      <p:ext uri="{BB962C8B-B14F-4D97-AF65-F5344CB8AC3E}">
        <p14:creationId xmlns:p14="http://schemas.microsoft.com/office/powerpoint/2010/main" val="1637976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Naslovni slajd">
    <p:spTree>
      <p:nvGrpSpPr>
        <p:cNvPr id="1" name=""/>
        <p:cNvGrpSpPr/>
        <p:nvPr/>
      </p:nvGrpSpPr>
      <p:grpSpPr>
        <a:xfrm>
          <a:off x="0" y="0"/>
          <a:ext cx="0" cy="0"/>
          <a:chOff x="0" y="0"/>
          <a:chExt cx="0" cy="0"/>
        </a:xfrm>
      </p:grpSpPr>
      <p:pic>
        <p:nvPicPr>
          <p:cNvPr id="9" name="Slika 8">
            <a:extLst>
              <a:ext uri="{FF2B5EF4-FFF2-40B4-BE49-F238E27FC236}">
                <a16:creationId xmlns:a16="http://schemas.microsoft.com/office/drawing/2014/main" id="{1E9C26A1-6687-A87D-1AE0-CDCFC63DA5B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428"/>
            <a:ext cx="12192000" cy="6857142"/>
          </a:xfrm>
          <a:prstGeom prst="rect">
            <a:avLst/>
          </a:prstGeom>
        </p:spPr>
      </p:pic>
      <p:sp>
        <p:nvSpPr>
          <p:cNvPr id="2" name="Naslov 1">
            <a:extLst>
              <a:ext uri="{FF2B5EF4-FFF2-40B4-BE49-F238E27FC236}">
                <a16:creationId xmlns:a16="http://schemas.microsoft.com/office/drawing/2014/main" id="{00F290A5-665D-F2E4-352E-051E267BCC19}"/>
              </a:ext>
            </a:extLst>
          </p:cNvPr>
          <p:cNvSpPr>
            <a:spLocks noGrp="1"/>
          </p:cNvSpPr>
          <p:nvPr>
            <p:ph type="ctrTitle" hasCustomPrompt="1"/>
          </p:nvPr>
        </p:nvSpPr>
        <p:spPr>
          <a:xfrm>
            <a:off x="2455653" y="3382477"/>
            <a:ext cx="9144000" cy="2387600"/>
          </a:xfrm>
        </p:spPr>
        <p:txBody>
          <a:bodyPr anchor="b"/>
          <a:lstStyle>
            <a:lvl1pPr algn="r">
              <a:defRPr sz="4800">
                <a:latin typeface="Bahnschrift" panose="020B0502040204020203" pitchFamily="34" charset="0"/>
              </a:defRPr>
            </a:lvl1pPr>
          </a:lstStyle>
          <a:p>
            <a:r>
              <a:rPr lang="hr-HR" dirty="0"/>
              <a:t>HEADING</a:t>
            </a:r>
          </a:p>
        </p:txBody>
      </p:sp>
    </p:spTree>
    <p:extLst>
      <p:ext uri="{BB962C8B-B14F-4D97-AF65-F5344CB8AC3E}">
        <p14:creationId xmlns:p14="http://schemas.microsoft.com/office/powerpoint/2010/main" val="16266225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Naslov i sadržaj">
    <p:spTree>
      <p:nvGrpSpPr>
        <p:cNvPr id="1" name=""/>
        <p:cNvGrpSpPr/>
        <p:nvPr/>
      </p:nvGrpSpPr>
      <p:grpSpPr>
        <a:xfrm>
          <a:off x="0" y="0"/>
          <a:ext cx="0" cy="0"/>
          <a:chOff x="0" y="0"/>
          <a:chExt cx="0" cy="0"/>
        </a:xfrm>
      </p:grpSpPr>
      <p:pic>
        <p:nvPicPr>
          <p:cNvPr id="10" name="Slika 9" descr="Slika na kojoj se prikazuje crta, snimka zaslona, šarenilo, dizajn&#10;&#10;Opis je automatski generiran">
            <a:extLst>
              <a:ext uri="{FF2B5EF4-FFF2-40B4-BE49-F238E27FC236}">
                <a16:creationId xmlns:a16="http://schemas.microsoft.com/office/drawing/2014/main" id="{7D3E6235-77BD-81C2-1C4B-460BFF2AC56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Naslov 1">
            <a:extLst>
              <a:ext uri="{FF2B5EF4-FFF2-40B4-BE49-F238E27FC236}">
                <a16:creationId xmlns:a16="http://schemas.microsoft.com/office/drawing/2014/main" id="{3476ACE7-458A-DB79-D9F2-688CE21D2DDA}"/>
              </a:ext>
            </a:extLst>
          </p:cNvPr>
          <p:cNvSpPr>
            <a:spLocks noGrp="1"/>
          </p:cNvSpPr>
          <p:nvPr>
            <p:ph type="title"/>
          </p:nvPr>
        </p:nvSpPr>
        <p:spPr/>
        <p:txBody>
          <a:bodyPr>
            <a:normAutofit/>
          </a:bodyPr>
          <a:lstStyle>
            <a:lvl1pPr algn="r">
              <a:defRPr sz="3600">
                <a:latin typeface="Bahnschrift SemiBold" panose="020B0502040204020203" pitchFamily="34" charset="0"/>
              </a:defRPr>
            </a:lvl1pPr>
          </a:lstStyle>
          <a:p>
            <a:r>
              <a:rPr lang="hr-HR" dirty="0"/>
              <a:t>Kliknite da biste uredili stil naslova matrice</a:t>
            </a:r>
          </a:p>
        </p:txBody>
      </p:sp>
      <p:sp>
        <p:nvSpPr>
          <p:cNvPr id="3" name="Rezervirano mjesto sadržaja 2">
            <a:extLst>
              <a:ext uri="{FF2B5EF4-FFF2-40B4-BE49-F238E27FC236}">
                <a16:creationId xmlns:a16="http://schemas.microsoft.com/office/drawing/2014/main" id="{48EC462E-02D9-044A-298B-A009977EE7DD}"/>
              </a:ext>
            </a:extLst>
          </p:cNvPr>
          <p:cNvSpPr>
            <a:spLocks noGrp="1"/>
          </p:cNvSpPr>
          <p:nvPr>
            <p:ph idx="1"/>
          </p:nvPr>
        </p:nvSpPr>
        <p:spPr/>
        <p:txBody>
          <a:bodyPr/>
          <a:lstStyle>
            <a:lvl1pPr>
              <a:defRPr>
                <a:latin typeface="Bahnschrift SemiLight" panose="020B0502040204020203" pitchFamily="34" charset="0"/>
              </a:defRPr>
            </a:lvl1pPr>
            <a:lvl2pPr>
              <a:defRPr>
                <a:latin typeface="Bahnschrift SemiLight" panose="020B0502040204020203" pitchFamily="34" charset="0"/>
              </a:defRPr>
            </a:lvl2pPr>
            <a:lvl3pPr>
              <a:defRPr>
                <a:latin typeface="Bahnschrift SemiLight" panose="020B0502040204020203" pitchFamily="34" charset="0"/>
              </a:defRPr>
            </a:lvl3pPr>
            <a:lvl4pPr>
              <a:defRPr>
                <a:latin typeface="Bahnschrift SemiLight" panose="020B0502040204020203" pitchFamily="34" charset="0"/>
              </a:defRPr>
            </a:lvl4pPr>
            <a:lvl5pPr>
              <a:defRPr>
                <a:latin typeface="Bahnschrift SemiLight" panose="020B0502040204020203" pitchFamily="34" charset="0"/>
              </a:defRPr>
            </a:lvl5pPr>
          </a:lstStyle>
          <a:p>
            <a:pPr lvl="0"/>
            <a:r>
              <a:rPr lang="hr-HR" dirty="0"/>
              <a:t>Kliknite da biste uredili matrice</a:t>
            </a:r>
          </a:p>
        </p:txBody>
      </p:sp>
    </p:spTree>
    <p:extLst>
      <p:ext uri="{BB962C8B-B14F-4D97-AF65-F5344CB8AC3E}">
        <p14:creationId xmlns:p14="http://schemas.microsoft.com/office/powerpoint/2010/main" val="16012754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va sadržaja">
    <p:spTree>
      <p:nvGrpSpPr>
        <p:cNvPr id="1" name=""/>
        <p:cNvGrpSpPr/>
        <p:nvPr/>
      </p:nvGrpSpPr>
      <p:grpSpPr>
        <a:xfrm>
          <a:off x="0" y="0"/>
          <a:ext cx="0" cy="0"/>
          <a:chOff x="0" y="0"/>
          <a:chExt cx="0" cy="0"/>
        </a:xfrm>
      </p:grpSpPr>
      <p:pic>
        <p:nvPicPr>
          <p:cNvPr id="8" name="Slika 7" descr="Slika na kojoj se prikazuje crta, snimka zaslona, šarenilo, dizajn">
            <a:extLst>
              <a:ext uri="{FF2B5EF4-FFF2-40B4-BE49-F238E27FC236}">
                <a16:creationId xmlns:a16="http://schemas.microsoft.com/office/drawing/2014/main" id="{813DD7BB-6C45-D079-40C8-D9AAFA33515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Naslov 1">
            <a:extLst>
              <a:ext uri="{FF2B5EF4-FFF2-40B4-BE49-F238E27FC236}">
                <a16:creationId xmlns:a16="http://schemas.microsoft.com/office/drawing/2014/main" id="{E69C0126-D498-D7EF-F08C-471CA839C90A}"/>
              </a:ext>
            </a:extLst>
          </p:cNvPr>
          <p:cNvSpPr>
            <a:spLocks noGrp="1"/>
          </p:cNvSpPr>
          <p:nvPr>
            <p:ph type="title"/>
          </p:nvPr>
        </p:nvSpPr>
        <p:spPr/>
        <p:txBody>
          <a:bodyPr>
            <a:normAutofit/>
          </a:bodyPr>
          <a:lstStyle>
            <a:lvl1pPr algn="r">
              <a:defRPr sz="3600">
                <a:latin typeface="Bahnschrift SemiBold" panose="020B0502040204020203" pitchFamily="34" charset="0"/>
              </a:defRPr>
            </a:lvl1pPr>
          </a:lstStyle>
          <a:p>
            <a:r>
              <a:rPr lang="hr-HR" dirty="0"/>
              <a:t>Kliknite da biste uredili stil naslova matrice</a:t>
            </a:r>
          </a:p>
        </p:txBody>
      </p:sp>
      <p:sp>
        <p:nvSpPr>
          <p:cNvPr id="3" name="Rezervirano mjesto sadržaja 2">
            <a:extLst>
              <a:ext uri="{FF2B5EF4-FFF2-40B4-BE49-F238E27FC236}">
                <a16:creationId xmlns:a16="http://schemas.microsoft.com/office/drawing/2014/main" id="{E0915537-B2D1-B872-5BC6-E6A6498B822A}"/>
              </a:ext>
            </a:extLst>
          </p:cNvPr>
          <p:cNvSpPr>
            <a:spLocks noGrp="1"/>
          </p:cNvSpPr>
          <p:nvPr>
            <p:ph sz="half" idx="1"/>
          </p:nvPr>
        </p:nvSpPr>
        <p:spPr>
          <a:xfrm>
            <a:off x="838200" y="1825625"/>
            <a:ext cx="5181600" cy="4351338"/>
          </a:xfrm>
        </p:spPr>
        <p:txBody>
          <a:bodyPr/>
          <a:lstStyle>
            <a:lvl1pPr>
              <a:defRPr>
                <a:latin typeface="Bahnschrift SemiLight" panose="020B0502040204020203" pitchFamily="34" charset="0"/>
              </a:defRPr>
            </a:lvl1pPr>
          </a:lstStyle>
          <a:p>
            <a:pPr lvl="0"/>
            <a:r>
              <a:rPr lang="hr-HR" dirty="0"/>
              <a:t>Kliknite da biste uredili matrice</a:t>
            </a:r>
          </a:p>
        </p:txBody>
      </p:sp>
      <p:sp>
        <p:nvSpPr>
          <p:cNvPr id="4" name="Rezervirano mjesto sadržaja 3">
            <a:extLst>
              <a:ext uri="{FF2B5EF4-FFF2-40B4-BE49-F238E27FC236}">
                <a16:creationId xmlns:a16="http://schemas.microsoft.com/office/drawing/2014/main" id="{6E429AF7-3B52-7B21-C5E7-7BA86CDA8184}"/>
              </a:ext>
            </a:extLst>
          </p:cNvPr>
          <p:cNvSpPr>
            <a:spLocks noGrp="1"/>
          </p:cNvSpPr>
          <p:nvPr>
            <p:ph sz="half" idx="2"/>
          </p:nvPr>
        </p:nvSpPr>
        <p:spPr>
          <a:xfrm>
            <a:off x="6172200" y="1825625"/>
            <a:ext cx="5181600" cy="4351338"/>
          </a:xfrm>
        </p:spPr>
        <p:txBody>
          <a:bodyPr/>
          <a:lstStyle>
            <a:lvl1pPr marL="0" indent="0">
              <a:buNone/>
              <a:defRPr/>
            </a:lvl1pPr>
          </a:lstStyle>
          <a:p>
            <a:pPr lvl="0"/>
            <a:endParaRPr lang="hr-HR" dirty="0"/>
          </a:p>
        </p:txBody>
      </p:sp>
    </p:spTree>
    <p:extLst>
      <p:ext uri="{BB962C8B-B14F-4D97-AF65-F5344CB8AC3E}">
        <p14:creationId xmlns:p14="http://schemas.microsoft.com/office/powerpoint/2010/main" val="41308425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Naslovni slajd">
    <p:spTree>
      <p:nvGrpSpPr>
        <p:cNvPr id="1" name=""/>
        <p:cNvGrpSpPr/>
        <p:nvPr/>
      </p:nvGrpSpPr>
      <p:grpSpPr>
        <a:xfrm>
          <a:off x="0" y="0"/>
          <a:ext cx="0" cy="0"/>
          <a:chOff x="0" y="0"/>
          <a:chExt cx="0" cy="0"/>
        </a:xfrm>
      </p:grpSpPr>
      <p:pic>
        <p:nvPicPr>
          <p:cNvPr id="5" name="Slika 4">
            <a:extLst>
              <a:ext uri="{FF2B5EF4-FFF2-40B4-BE49-F238E27FC236}">
                <a16:creationId xmlns:a16="http://schemas.microsoft.com/office/drawing/2014/main" id="{8A7D5785-C017-9CDE-887E-053A663A786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428"/>
            <a:ext cx="12192000" cy="6857142"/>
          </a:xfrm>
          <a:prstGeom prst="rect">
            <a:avLst/>
          </a:prstGeom>
        </p:spPr>
      </p:pic>
      <p:sp>
        <p:nvSpPr>
          <p:cNvPr id="2" name="Naslov 1">
            <a:extLst>
              <a:ext uri="{FF2B5EF4-FFF2-40B4-BE49-F238E27FC236}">
                <a16:creationId xmlns:a16="http://schemas.microsoft.com/office/drawing/2014/main" id="{00F290A5-665D-F2E4-352E-051E267BCC19}"/>
              </a:ext>
            </a:extLst>
          </p:cNvPr>
          <p:cNvSpPr>
            <a:spLocks noGrp="1"/>
          </p:cNvSpPr>
          <p:nvPr>
            <p:ph type="ctrTitle" hasCustomPrompt="1"/>
          </p:nvPr>
        </p:nvSpPr>
        <p:spPr>
          <a:xfrm>
            <a:off x="2455653" y="3382477"/>
            <a:ext cx="9144000" cy="2387600"/>
          </a:xfrm>
        </p:spPr>
        <p:txBody>
          <a:bodyPr anchor="b"/>
          <a:lstStyle>
            <a:lvl1pPr algn="r">
              <a:defRPr sz="4800">
                <a:latin typeface="Bahnschrift" panose="020B0502040204020203" pitchFamily="34" charset="0"/>
              </a:defRPr>
            </a:lvl1pPr>
          </a:lstStyle>
          <a:p>
            <a:r>
              <a:rPr lang="hr-HR" dirty="0"/>
              <a:t>HEADING</a:t>
            </a:r>
          </a:p>
        </p:txBody>
      </p:sp>
    </p:spTree>
    <p:extLst>
      <p:ext uri="{BB962C8B-B14F-4D97-AF65-F5344CB8AC3E}">
        <p14:creationId xmlns:p14="http://schemas.microsoft.com/office/powerpoint/2010/main" val="38116070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2_Naslov i sadržaj">
    <p:spTree>
      <p:nvGrpSpPr>
        <p:cNvPr id="1" name=""/>
        <p:cNvGrpSpPr/>
        <p:nvPr/>
      </p:nvGrpSpPr>
      <p:grpSpPr>
        <a:xfrm>
          <a:off x="0" y="0"/>
          <a:ext cx="0" cy="0"/>
          <a:chOff x="0" y="0"/>
          <a:chExt cx="0" cy="0"/>
        </a:xfrm>
      </p:grpSpPr>
      <p:pic>
        <p:nvPicPr>
          <p:cNvPr id="5" name="Slika 4" descr="Slika na kojoj se prikazuje crta, alat, dizajn&#10;&#10;Opis je automatski generiran">
            <a:extLst>
              <a:ext uri="{FF2B5EF4-FFF2-40B4-BE49-F238E27FC236}">
                <a16:creationId xmlns:a16="http://schemas.microsoft.com/office/drawing/2014/main" id="{7174B7B0-D794-7A54-5CF6-E0A21E0E58C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Naslov 1">
            <a:extLst>
              <a:ext uri="{FF2B5EF4-FFF2-40B4-BE49-F238E27FC236}">
                <a16:creationId xmlns:a16="http://schemas.microsoft.com/office/drawing/2014/main" id="{3476ACE7-458A-DB79-D9F2-688CE21D2DDA}"/>
              </a:ext>
            </a:extLst>
          </p:cNvPr>
          <p:cNvSpPr>
            <a:spLocks noGrp="1"/>
          </p:cNvSpPr>
          <p:nvPr>
            <p:ph type="title"/>
          </p:nvPr>
        </p:nvSpPr>
        <p:spPr/>
        <p:txBody>
          <a:bodyPr>
            <a:normAutofit/>
          </a:bodyPr>
          <a:lstStyle>
            <a:lvl1pPr algn="r">
              <a:defRPr sz="3600">
                <a:latin typeface="Bahnschrift SemiBold" panose="020B0502040204020203" pitchFamily="34" charset="0"/>
              </a:defRPr>
            </a:lvl1pPr>
          </a:lstStyle>
          <a:p>
            <a:r>
              <a:rPr lang="hr-HR" dirty="0"/>
              <a:t>Kliknite da biste uredili stil naslova matrice</a:t>
            </a:r>
          </a:p>
        </p:txBody>
      </p:sp>
      <p:sp>
        <p:nvSpPr>
          <p:cNvPr id="3" name="Rezervirano mjesto sadržaja 2">
            <a:extLst>
              <a:ext uri="{FF2B5EF4-FFF2-40B4-BE49-F238E27FC236}">
                <a16:creationId xmlns:a16="http://schemas.microsoft.com/office/drawing/2014/main" id="{48EC462E-02D9-044A-298B-A009977EE7DD}"/>
              </a:ext>
            </a:extLst>
          </p:cNvPr>
          <p:cNvSpPr>
            <a:spLocks noGrp="1"/>
          </p:cNvSpPr>
          <p:nvPr>
            <p:ph idx="1"/>
          </p:nvPr>
        </p:nvSpPr>
        <p:spPr/>
        <p:txBody>
          <a:bodyPr/>
          <a:lstStyle>
            <a:lvl1pPr>
              <a:defRPr>
                <a:latin typeface="Bahnschrift SemiLight" panose="020B0502040204020203" pitchFamily="34" charset="0"/>
              </a:defRPr>
            </a:lvl1pPr>
            <a:lvl2pPr>
              <a:defRPr>
                <a:latin typeface="Bahnschrift SemiLight" panose="020B0502040204020203" pitchFamily="34" charset="0"/>
              </a:defRPr>
            </a:lvl2pPr>
            <a:lvl3pPr>
              <a:defRPr>
                <a:latin typeface="Bahnschrift SemiLight" panose="020B0502040204020203" pitchFamily="34" charset="0"/>
              </a:defRPr>
            </a:lvl3pPr>
            <a:lvl4pPr>
              <a:defRPr>
                <a:latin typeface="Bahnschrift SemiLight" panose="020B0502040204020203" pitchFamily="34" charset="0"/>
              </a:defRPr>
            </a:lvl4pPr>
            <a:lvl5pPr>
              <a:defRPr>
                <a:latin typeface="Bahnschrift SemiLight" panose="020B0502040204020203" pitchFamily="34" charset="0"/>
              </a:defRPr>
            </a:lvl5pPr>
          </a:lstStyle>
          <a:p>
            <a:pPr lvl="0"/>
            <a:r>
              <a:rPr lang="hr-HR" dirty="0"/>
              <a:t>Kliknite da biste uredili matrice</a:t>
            </a:r>
          </a:p>
        </p:txBody>
      </p:sp>
    </p:spTree>
    <p:extLst>
      <p:ext uri="{BB962C8B-B14F-4D97-AF65-F5344CB8AC3E}">
        <p14:creationId xmlns:p14="http://schemas.microsoft.com/office/powerpoint/2010/main" val="34989322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2_Dva sadržaja">
    <p:spTree>
      <p:nvGrpSpPr>
        <p:cNvPr id="1" name=""/>
        <p:cNvGrpSpPr/>
        <p:nvPr/>
      </p:nvGrpSpPr>
      <p:grpSpPr>
        <a:xfrm>
          <a:off x="0" y="0"/>
          <a:ext cx="0" cy="0"/>
          <a:chOff x="0" y="0"/>
          <a:chExt cx="0" cy="0"/>
        </a:xfrm>
      </p:grpSpPr>
      <p:pic>
        <p:nvPicPr>
          <p:cNvPr id="6" name="Slika 5">
            <a:extLst>
              <a:ext uri="{FF2B5EF4-FFF2-40B4-BE49-F238E27FC236}">
                <a16:creationId xmlns:a16="http://schemas.microsoft.com/office/drawing/2014/main" id="{78154B72-B9D9-7CC8-2522-C7E3F4476C3F}"/>
              </a:ext>
            </a:extLst>
          </p:cNvPr>
          <p:cNvPicPr>
            <a:picLocks noChangeAspect="1"/>
          </p:cNvPicPr>
          <p:nvPr userDrawn="1"/>
        </p:nvPicPr>
        <p:blipFill>
          <a:blip r:embed="rId2"/>
          <a:stretch>
            <a:fillRect/>
          </a:stretch>
        </p:blipFill>
        <p:spPr>
          <a:xfrm>
            <a:off x="0" y="0"/>
            <a:ext cx="12192000" cy="6857999"/>
          </a:xfrm>
          <a:prstGeom prst="rect">
            <a:avLst/>
          </a:prstGeom>
        </p:spPr>
      </p:pic>
      <p:sp>
        <p:nvSpPr>
          <p:cNvPr id="2" name="Naslov 1">
            <a:extLst>
              <a:ext uri="{FF2B5EF4-FFF2-40B4-BE49-F238E27FC236}">
                <a16:creationId xmlns:a16="http://schemas.microsoft.com/office/drawing/2014/main" id="{E69C0126-D498-D7EF-F08C-471CA839C90A}"/>
              </a:ext>
            </a:extLst>
          </p:cNvPr>
          <p:cNvSpPr>
            <a:spLocks noGrp="1"/>
          </p:cNvSpPr>
          <p:nvPr>
            <p:ph type="title"/>
          </p:nvPr>
        </p:nvSpPr>
        <p:spPr/>
        <p:txBody>
          <a:bodyPr>
            <a:normAutofit/>
          </a:bodyPr>
          <a:lstStyle>
            <a:lvl1pPr algn="r">
              <a:defRPr sz="3600">
                <a:latin typeface="Bahnschrift SemiBold" panose="020B0502040204020203" pitchFamily="34" charset="0"/>
              </a:defRPr>
            </a:lvl1pPr>
          </a:lstStyle>
          <a:p>
            <a:r>
              <a:rPr lang="hr-HR" dirty="0"/>
              <a:t>Kliknite da biste uredili stil naslova matrice</a:t>
            </a:r>
          </a:p>
        </p:txBody>
      </p:sp>
      <p:sp>
        <p:nvSpPr>
          <p:cNvPr id="3" name="Rezervirano mjesto sadržaja 2">
            <a:extLst>
              <a:ext uri="{FF2B5EF4-FFF2-40B4-BE49-F238E27FC236}">
                <a16:creationId xmlns:a16="http://schemas.microsoft.com/office/drawing/2014/main" id="{E0915537-B2D1-B872-5BC6-E6A6498B822A}"/>
              </a:ext>
            </a:extLst>
          </p:cNvPr>
          <p:cNvSpPr>
            <a:spLocks noGrp="1"/>
          </p:cNvSpPr>
          <p:nvPr>
            <p:ph sz="half" idx="1"/>
          </p:nvPr>
        </p:nvSpPr>
        <p:spPr>
          <a:xfrm>
            <a:off x="838200" y="1825625"/>
            <a:ext cx="5181600" cy="4351338"/>
          </a:xfrm>
        </p:spPr>
        <p:txBody>
          <a:bodyPr/>
          <a:lstStyle>
            <a:lvl1pPr>
              <a:defRPr>
                <a:latin typeface="Bahnschrift SemiLight" panose="020B0502040204020203" pitchFamily="34" charset="0"/>
              </a:defRPr>
            </a:lvl1pPr>
          </a:lstStyle>
          <a:p>
            <a:pPr lvl="0"/>
            <a:r>
              <a:rPr lang="hr-HR" dirty="0"/>
              <a:t>Kliknite da biste uredili matrice</a:t>
            </a:r>
          </a:p>
        </p:txBody>
      </p:sp>
      <p:sp>
        <p:nvSpPr>
          <p:cNvPr id="4" name="Rezervirano mjesto sadržaja 3">
            <a:extLst>
              <a:ext uri="{FF2B5EF4-FFF2-40B4-BE49-F238E27FC236}">
                <a16:creationId xmlns:a16="http://schemas.microsoft.com/office/drawing/2014/main" id="{6E429AF7-3B52-7B21-C5E7-7BA86CDA8184}"/>
              </a:ext>
            </a:extLst>
          </p:cNvPr>
          <p:cNvSpPr>
            <a:spLocks noGrp="1"/>
          </p:cNvSpPr>
          <p:nvPr>
            <p:ph sz="half" idx="2"/>
          </p:nvPr>
        </p:nvSpPr>
        <p:spPr>
          <a:xfrm>
            <a:off x="6172200" y="1825625"/>
            <a:ext cx="5181600" cy="4351338"/>
          </a:xfrm>
        </p:spPr>
        <p:txBody>
          <a:bodyPr/>
          <a:lstStyle>
            <a:lvl1pPr marL="0" indent="0">
              <a:buNone/>
              <a:defRPr/>
            </a:lvl1pPr>
          </a:lstStyle>
          <a:p>
            <a:pPr lvl="0"/>
            <a:endParaRPr lang="hr-HR" dirty="0"/>
          </a:p>
        </p:txBody>
      </p:sp>
    </p:spTree>
    <p:extLst>
      <p:ext uri="{BB962C8B-B14F-4D97-AF65-F5344CB8AC3E}">
        <p14:creationId xmlns:p14="http://schemas.microsoft.com/office/powerpoint/2010/main" val="16389726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11_Naslov i sadržaj">
    <p:spTree>
      <p:nvGrpSpPr>
        <p:cNvPr id="1" name=""/>
        <p:cNvGrpSpPr/>
        <p:nvPr/>
      </p:nvGrpSpPr>
      <p:grpSpPr>
        <a:xfrm>
          <a:off x="0" y="0"/>
          <a:ext cx="0" cy="0"/>
          <a:chOff x="0" y="0"/>
          <a:chExt cx="0" cy="0"/>
        </a:xfrm>
      </p:grpSpPr>
      <p:pic>
        <p:nvPicPr>
          <p:cNvPr id="7" name="Slika 6">
            <a:extLst>
              <a:ext uri="{FF2B5EF4-FFF2-40B4-BE49-F238E27FC236}">
                <a16:creationId xmlns:a16="http://schemas.microsoft.com/office/drawing/2014/main" id="{E1102532-B18A-F116-ED3D-C3E4F6576CC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428"/>
            <a:ext cx="12191998" cy="6857142"/>
          </a:xfrm>
          <a:prstGeom prst="rect">
            <a:avLst/>
          </a:prstGeom>
        </p:spPr>
      </p:pic>
      <p:sp>
        <p:nvSpPr>
          <p:cNvPr id="2" name="Naslov 1">
            <a:extLst>
              <a:ext uri="{FF2B5EF4-FFF2-40B4-BE49-F238E27FC236}">
                <a16:creationId xmlns:a16="http://schemas.microsoft.com/office/drawing/2014/main" id="{3476ACE7-458A-DB79-D9F2-688CE21D2DDA}"/>
              </a:ext>
            </a:extLst>
          </p:cNvPr>
          <p:cNvSpPr>
            <a:spLocks noGrp="1"/>
          </p:cNvSpPr>
          <p:nvPr>
            <p:ph type="title" hasCustomPrompt="1"/>
          </p:nvPr>
        </p:nvSpPr>
        <p:spPr/>
        <p:txBody>
          <a:bodyPr>
            <a:normAutofit/>
          </a:bodyPr>
          <a:lstStyle>
            <a:lvl1pPr algn="l">
              <a:defRPr sz="3600">
                <a:latin typeface="Bahnschrift SemiBold" panose="020B0502040204020203" pitchFamily="34" charset="0"/>
              </a:defRPr>
            </a:lvl1pPr>
          </a:lstStyle>
          <a:p>
            <a:r>
              <a:rPr lang="hr-HR" dirty="0"/>
              <a:t>DISCUSSION</a:t>
            </a:r>
          </a:p>
        </p:txBody>
      </p:sp>
      <p:sp>
        <p:nvSpPr>
          <p:cNvPr id="3" name="Rezervirano mjesto sadržaja 2">
            <a:extLst>
              <a:ext uri="{FF2B5EF4-FFF2-40B4-BE49-F238E27FC236}">
                <a16:creationId xmlns:a16="http://schemas.microsoft.com/office/drawing/2014/main" id="{48EC462E-02D9-044A-298B-A009977EE7DD}"/>
              </a:ext>
            </a:extLst>
          </p:cNvPr>
          <p:cNvSpPr>
            <a:spLocks noGrp="1"/>
          </p:cNvSpPr>
          <p:nvPr>
            <p:ph idx="1"/>
          </p:nvPr>
        </p:nvSpPr>
        <p:spPr/>
        <p:txBody>
          <a:bodyPr/>
          <a:lstStyle>
            <a:lvl1pPr>
              <a:defRPr>
                <a:latin typeface="Bahnschrift SemiLight" panose="020B0502040204020203" pitchFamily="34" charset="0"/>
              </a:defRPr>
            </a:lvl1pPr>
            <a:lvl2pPr>
              <a:defRPr>
                <a:latin typeface="Bahnschrift SemiLight" panose="020B0502040204020203" pitchFamily="34" charset="0"/>
              </a:defRPr>
            </a:lvl2pPr>
            <a:lvl3pPr>
              <a:defRPr>
                <a:latin typeface="Bahnschrift SemiLight" panose="020B0502040204020203" pitchFamily="34" charset="0"/>
              </a:defRPr>
            </a:lvl3pPr>
            <a:lvl4pPr>
              <a:defRPr>
                <a:latin typeface="Bahnschrift SemiLight" panose="020B0502040204020203" pitchFamily="34" charset="0"/>
              </a:defRPr>
            </a:lvl4pPr>
            <a:lvl5pPr>
              <a:defRPr>
                <a:latin typeface="Bahnschrift SemiLight" panose="020B0502040204020203" pitchFamily="34" charset="0"/>
              </a:defRPr>
            </a:lvl5pPr>
          </a:lstStyle>
          <a:p>
            <a:pPr lvl="0"/>
            <a:r>
              <a:rPr lang="hr-HR" dirty="0"/>
              <a:t>Kliknite da biste uredili matrice</a:t>
            </a:r>
          </a:p>
        </p:txBody>
      </p:sp>
    </p:spTree>
    <p:extLst>
      <p:ext uri="{BB962C8B-B14F-4D97-AF65-F5344CB8AC3E}">
        <p14:creationId xmlns:p14="http://schemas.microsoft.com/office/powerpoint/2010/main" val="4622179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12_Naslov i sadržaj">
    <p:spTree>
      <p:nvGrpSpPr>
        <p:cNvPr id="1" name=""/>
        <p:cNvGrpSpPr/>
        <p:nvPr/>
      </p:nvGrpSpPr>
      <p:grpSpPr>
        <a:xfrm>
          <a:off x="0" y="0"/>
          <a:ext cx="0" cy="0"/>
          <a:chOff x="0" y="0"/>
          <a:chExt cx="0" cy="0"/>
        </a:xfrm>
      </p:grpSpPr>
      <p:pic>
        <p:nvPicPr>
          <p:cNvPr id="7" name="Slika 6">
            <a:extLst>
              <a:ext uri="{FF2B5EF4-FFF2-40B4-BE49-F238E27FC236}">
                <a16:creationId xmlns:a16="http://schemas.microsoft.com/office/drawing/2014/main" id="{E1102532-B18A-F116-ED3D-C3E4F6576CC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428"/>
            <a:ext cx="12191998" cy="6857141"/>
          </a:xfrm>
          <a:prstGeom prst="rect">
            <a:avLst/>
          </a:prstGeom>
        </p:spPr>
      </p:pic>
      <p:sp>
        <p:nvSpPr>
          <p:cNvPr id="2" name="Naslov 1">
            <a:extLst>
              <a:ext uri="{FF2B5EF4-FFF2-40B4-BE49-F238E27FC236}">
                <a16:creationId xmlns:a16="http://schemas.microsoft.com/office/drawing/2014/main" id="{3476ACE7-458A-DB79-D9F2-688CE21D2DDA}"/>
              </a:ext>
            </a:extLst>
          </p:cNvPr>
          <p:cNvSpPr>
            <a:spLocks noGrp="1"/>
          </p:cNvSpPr>
          <p:nvPr>
            <p:ph type="title" hasCustomPrompt="1"/>
          </p:nvPr>
        </p:nvSpPr>
        <p:spPr/>
        <p:txBody>
          <a:bodyPr>
            <a:normAutofit/>
          </a:bodyPr>
          <a:lstStyle>
            <a:lvl1pPr algn="l">
              <a:defRPr sz="3600">
                <a:latin typeface="Bahnschrift SemiBold" panose="020B0502040204020203" pitchFamily="34" charset="0"/>
              </a:defRPr>
            </a:lvl1pPr>
          </a:lstStyle>
          <a:p>
            <a:r>
              <a:rPr lang="hr-HR" dirty="0"/>
              <a:t>EXERCISE</a:t>
            </a:r>
          </a:p>
        </p:txBody>
      </p:sp>
      <p:sp>
        <p:nvSpPr>
          <p:cNvPr id="3" name="Rezervirano mjesto sadržaja 2">
            <a:extLst>
              <a:ext uri="{FF2B5EF4-FFF2-40B4-BE49-F238E27FC236}">
                <a16:creationId xmlns:a16="http://schemas.microsoft.com/office/drawing/2014/main" id="{48EC462E-02D9-044A-298B-A009977EE7DD}"/>
              </a:ext>
            </a:extLst>
          </p:cNvPr>
          <p:cNvSpPr>
            <a:spLocks noGrp="1"/>
          </p:cNvSpPr>
          <p:nvPr>
            <p:ph idx="1"/>
          </p:nvPr>
        </p:nvSpPr>
        <p:spPr/>
        <p:txBody>
          <a:bodyPr/>
          <a:lstStyle>
            <a:lvl1pPr>
              <a:defRPr>
                <a:latin typeface="Bahnschrift SemiLight" panose="020B0502040204020203" pitchFamily="34" charset="0"/>
              </a:defRPr>
            </a:lvl1pPr>
            <a:lvl2pPr>
              <a:defRPr>
                <a:latin typeface="Bahnschrift SemiLight" panose="020B0502040204020203" pitchFamily="34" charset="0"/>
              </a:defRPr>
            </a:lvl2pPr>
            <a:lvl3pPr>
              <a:defRPr>
                <a:latin typeface="Bahnschrift SemiLight" panose="020B0502040204020203" pitchFamily="34" charset="0"/>
              </a:defRPr>
            </a:lvl3pPr>
            <a:lvl4pPr>
              <a:defRPr>
                <a:latin typeface="Bahnschrift SemiLight" panose="020B0502040204020203" pitchFamily="34" charset="0"/>
              </a:defRPr>
            </a:lvl4pPr>
            <a:lvl5pPr>
              <a:defRPr>
                <a:latin typeface="Bahnschrift SemiLight" panose="020B0502040204020203" pitchFamily="34" charset="0"/>
              </a:defRPr>
            </a:lvl5pPr>
          </a:lstStyle>
          <a:p>
            <a:pPr lvl="0"/>
            <a:r>
              <a:rPr lang="hr-HR" dirty="0"/>
              <a:t>Kliknite da biste uredili matrice</a:t>
            </a:r>
          </a:p>
        </p:txBody>
      </p:sp>
    </p:spTree>
    <p:extLst>
      <p:ext uri="{BB962C8B-B14F-4D97-AF65-F5344CB8AC3E}">
        <p14:creationId xmlns:p14="http://schemas.microsoft.com/office/powerpoint/2010/main" val="25453023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13_Naslov i sadržaj">
    <p:spTree>
      <p:nvGrpSpPr>
        <p:cNvPr id="1" name=""/>
        <p:cNvGrpSpPr/>
        <p:nvPr/>
      </p:nvGrpSpPr>
      <p:grpSpPr>
        <a:xfrm>
          <a:off x="0" y="0"/>
          <a:ext cx="0" cy="0"/>
          <a:chOff x="0" y="0"/>
          <a:chExt cx="0" cy="0"/>
        </a:xfrm>
      </p:grpSpPr>
      <p:pic>
        <p:nvPicPr>
          <p:cNvPr id="7" name="Slika 6">
            <a:extLst>
              <a:ext uri="{FF2B5EF4-FFF2-40B4-BE49-F238E27FC236}">
                <a16:creationId xmlns:a16="http://schemas.microsoft.com/office/drawing/2014/main" id="{E1102532-B18A-F116-ED3D-C3E4F6576CC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2" y="428"/>
            <a:ext cx="12191996" cy="6857141"/>
          </a:xfrm>
          <a:prstGeom prst="rect">
            <a:avLst/>
          </a:prstGeom>
        </p:spPr>
      </p:pic>
      <p:sp>
        <p:nvSpPr>
          <p:cNvPr id="2" name="Naslov 1">
            <a:extLst>
              <a:ext uri="{FF2B5EF4-FFF2-40B4-BE49-F238E27FC236}">
                <a16:creationId xmlns:a16="http://schemas.microsoft.com/office/drawing/2014/main" id="{3476ACE7-458A-DB79-D9F2-688CE21D2DDA}"/>
              </a:ext>
            </a:extLst>
          </p:cNvPr>
          <p:cNvSpPr>
            <a:spLocks noGrp="1"/>
          </p:cNvSpPr>
          <p:nvPr>
            <p:ph type="title" hasCustomPrompt="1"/>
          </p:nvPr>
        </p:nvSpPr>
        <p:spPr/>
        <p:txBody>
          <a:bodyPr>
            <a:normAutofit/>
          </a:bodyPr>
          <a:lstStyle>
            <a:lvl1pPr algn="l">
              <a:defRPr sz="3600">
                <a:latin typeface="Bahnschrift SemiBold" panose="020B0502040204020203" pitchFamily="34" charset="0"/>
              </a:defRPr>
            </a:lvl1pPr>
          </a:lstStyle>
          <a:p>
            <a:r>
              <a:rPr lang="hr-HR" dirty="0"/>
              <a:t>HOMEWORK</a:t>
            </a:r>
          </a:p>
        </p:txBody>
      </p:sp>
      <p:sp>
        <p:nvSpPr>
          <p:cNvPr id="3" name="Rezervirano mjesto sadržaja 2">
            <a:extLst>
              <a:ext uri="{FF2B5EF4-FFF2-40B4-BE49-F238E27FC236}">
                <a16:creationId xmlns:a16="http://schemas.microsoft.com/office/drawing/2014/main" id="{48EC462E-02D9-044A-298B-A009977EE7DD}"/>
              </a:ext>
            </a:extLst>
          </p:cNvPr>
          <p:cNvSpPr>
            <a:spLocks noGrp="1"/>
          </p:cNvSpPr>
          <p:nvPr>
            <p:ph idx="1"/>
          </p:nvPr>
        </p:nvSpPr>
        <p:spPr/>
        <p:txBody>
          <a:bodyPr/>
          <a:lstStyle>
            <a:lvl1pPr>
              <a:defRPr>
                <a:latin typeface="Bahnschrift SemiLight" panose="020B0502040204020203" pitchFamily="34" charset="0"/>
              </a:defRPr>
            </a:lvl1pPr>
            <a:lvl2pPr>
              <a:defRPr>
                <a:latin typeface="Bahnschrift SemiLight" panose="020B0502040204020203" pitchFamily="34" charset="0"/>
              </a:defRPr>
            </a:lvl2pPr>
            <a:lvl3pPr>
              <a:defRPr>
                <a:latin typeface="Bahnschrift SemiLight" panose="020B0502040204020203" pitchFamily="34" charset="0"/>
              </a:defRPr>
            </a:lvl3pPr>
            <a:lvl4pPr>
              <a:defRPr>
                <a:latin typeface="Bahnschrift SemiLight" panose="020B0502040204020203" pitchFamily="34" charset="0"/>
              </a:defRPr>
            </a:lvl4pPr>
            <a:lvl5pPr>
              <a:defRPr>
                <a:latin typeface="Bahnschrift SemiLight" panose="020B0502040204020203" pitchFamily="34" charset="0"/>
              </a:defRPr>
            </a:lvl5pPr>
          </a:lstStyle>
          <a:p>
            <a:pPr lvl="0"/>
            <a:r>
              <a:rPr lang="hr-HR" dirty="0"/>
              <a:t>Kliknite da biste uredili matrice</a:t>
            </a:r>
          </a:p>
        </p:txBody>
      </p:sp>
    </p:spTree>
    <p:extLst>
      <p:ext uri="{BB962C8B-B14F-4D97-AF65-F5344CB8AC3E}">
        <p14:creationId xmlns:p14="http://schemas.microsoft.com/office/powerpoint/2010/main" val="521306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14_Naslov i sadržaj">
    <p:spTree>
      <p:nvGrpSpPr>
        <p:cNvPr id="1" name=""/>
        <p:cNvGrpSpPr/>
        <p:nvPr/>
      </p:nvGrpSpPr>
      <p:grpSpPr>
        <a:xfrm>
          <a:off x="0" y="0"/>
          <a:ext cx="0" cy="0"/>
          <a:chOff x="0" y="0"/>
          <a:chExt cx="0" cy="0"/>
        </a:xfrm>
      </p:grpSpPr>
      <p:pic>
        <p:nvPicPr>
          <p:cNvPr id="7" name="Slika 6">
            <a:extLst>
              <a:ext uri="{FF2B5EF4-FFF2-40B4-BE49-F238E27FC236}">
                <a16:creationId xmlns:a16="http://schemas.microsoft.com/office/drawing/2014/main" id="{E1102532-B18A-F116-ED3D-C3E4F6576CC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2" y="428"/>
            <a:ext cx="12191996" cy="6857140"/>
          </a:xfrm>
          <a:prstGeom prst="rect">
            <a:avLst/>
          </a:prstGeom>
        </p:spPr>
      </p:pic>
      <p:sp>
        <p:nvSpPr>
          <p:cNvPr id="2" name="Naslov 1">
            <a:extLst>
              <a:ext uri="{FF2B5EF4-FFF2-40B4-BE49-F238E27FC236}">
                <a16:creationId xmlns:a16="http://schemas.microsoft.com/office/drawing/2014/main" id="{3476ACE7-458A-DB79-D9F2-688CE21D2DDA}"/>
              </a:ext>
            </a:extLst>
          </p:cNvPr>
          <p:cNvSpPr>
            <a:spLocks noGrp="1"/>
          </p:cNvSpPr>
          <p:nvPr>
            <p:ph type="title" hasCustomPrompt="1"/>
          </p:nvPr>
        </p:nvSpPr>
        <p:spPr/>
        <p:txBody>
          <a:bodyPr>
            <a:normAutofit/>
          </a:bodyPr>
          <a:lstStyle>
            <a:lvl1pPr algn="l">
              <a:defRPr sz="3600">
                <a:latin typeface="Bahnschrift SemiBold" panose="020B0502040204020203" pitchFamily="34" charset="0"/>
              </a:defRPr>
            </a:lvl1pPr>
          </a:lstStyle>
          <a:p>
            <a:r>
              <a:rPr lang="hr-HR" dirty="0"/>
              <a:t>ASSESSMENTS</a:t>
            </a:r>
          </a:p>
        </p:txBody>
      </p:sp>
      <p:sp>
        <p:nvSpPr>
          <p:cNvPr id="3" name="Rezervirano mjesto sadržaja 2">
            <a:extLst>
              <a:ext uri="{FF2B5EF4-FFF2-40B4-BE49-F238E27FC236}">
                <a16:creationId xmlns:a16="http://schemas.microsoft.com/office/drawing/2014/main" id="{48EC462E-02D9-044A-298B-A009977EE7DD}"/>
              </a:ext>
            </a:extLst>
          </p:cNvPr>
          <p:cNvSpPr>
            <a:spLocks noGrp="1"/>
          </p:cNvSpPr>
          <p:nvPr>
            <p:ph idx="1"/>
          </p:nvPr>
        </p:nvSpPr>
        <p:spPr/>
        <p:txBody>
          <a:bodyPr/>
          <a:lstStyle>
            <a:lvl1pPr>
              <a:defRPr>
                <a:latin typeface="Bahnschrift SemiLight" panose="020B0502040204020203" pitchFamily="34" charset="0"/>
              </a:defRPr>
            </a:lvl1pPr>
            <a:lvl2pPr>
              <a:defRPr>
                <a:latin typeface="Bahnschrift SemiLight" panose="020B0502040204020203" pitchFamily="34" charset="0"/>
              </a:defRPr>
            </a:lvl2pPr>
            <a:lvl3pPr>
              <a:defRPr>
                <a:latin typeface="Bahnschrift SemiLight" panose="020B0502040204020203" pitchFamily="34" charset="0"/>
              </a:defRPr>
            </a:lvl3pPr>
            <a:lvl4pPr>
              <a:defRPr>
                <a:latin typeface="Bahnschrift SemiLight" panose="020B0502040204020203" pitchFamily="34" charset="0"/>
              </a:defRPr>
            </a:lvl4pPr>
            <a:lvl5pPr>
              <a:defRPr>
                <a:latin typeface="Bahnschrift SemiLight" panose="020B0502040204020203" pitchFamily="34" charset="0"/>
              </a:defRPr>
            </a:lvl5pPr>
          </a:lstStyle>
          <a:p>
            <a:pPr lvl="0"/>
            <a:r>
              <a:rPr lang="hr-HR" dirty="0"/>
              <a:t>Kliknite da biste uredili matrice</a:t>
            </a:r>
          </a:p>
        </p:txBody>
      </p:sp>
    </p:spTree>
    <p:extLst>
      <p:ext uri="{BB962C8B-B14F-4D97-AF65-F5344CB8AC3E}">
        <p14:creationId xmlns:p14="http://schemas.microsoft.com/office/powerpoint/2010/main" val="5136237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15_Naslov i sadržaj">
    <p:spTree>
      <p:nvGrpSpPr>
        <p:cNvPr id="1" name=""/>
        <p:cNvGrpSpPr/>
        <p:nvPr/>
      </p:nvGrpSpPr>
      <p:grpSpPr>
        <a:xfrm>
          <a:off x="0" y="0"/>
          <a:ext cx="0" cy="0"/>
          <a:chOff x="0" y="0"/>
          <a:chExt cx="0" cy="0"/>
        </a:xfrm>
      </p:grpSpPr>
      <p:pic>
        <p:nvPicPr>
          <p:cNvPr id="7" name="Slika 6">
            <a:extLst>
              <a:ext uri="{FF2B5EF4-FFF2-40B4-BE49-F238E27FC236}">
                <a16:creationId xmlns:a16="http://schemas.microsoft.com/office/drawing/2014/main" id="{E1102532-B18A-F116-ED3D-C3E4F6576CC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3" y="428"/>
            <a:ext cx="12191994" cy="6857140"/>
          </a:xfrm>
          <a:prstGeom prst="rect">
            <a:avLst/>
          </a:prstGeom>
        </p:spPr>
      </p:pic>
      <p:sp>
        <p:nvSpPr>
          <p:cNvPr id="2" name="Naslov 1">
            <a:extLst>
              <a:ext uri="{FF2B5EF4-FFF2-40B4-BE49-F238E27FC236}">
                <a16:creationId xmlns:a16="http://schemas.microsoft.com/office/drawing/2014/main" id="{3476ACE7-458A-DB79-D9F2-688CE21D2DDA}"/>
              </a:ext>
            </a:extLst>
          </p:cNvPr>
          <p:cNvSpPr>
            <a:spLocks noGrp="1"/>
          </p:cNvSpPr>
          <p:nvPr>
            <p:ph type="title" hasCustomPrompt="1"/>
          </p:nvPr>
        </p:nvSpPr>
        <p:spPr/>
        <p:txBody>
          <a:bodyPr>
            <a:normAutofit/>
          </a:bodyPr>
          <a:lstStyle>
            <a:lvl1pPr algn="l">
              <a:defRPr sz="3600">
                <a:latin typeface="Bahnschrift SemiBold" panose="020B0502040204020203" pitchFamily="34" charset="0"/>
              </a:defRPr>
            </a:lvl1pPr>
          </a:lstStyle>
          <a:p>
            <a:r>
              <a:rPr lang="hr-HR" dirty="0"/>
              <a:t>ADDITIONAL READING</a:t>
            </a:r>
          </a:p>
        </p:txBody>
      </p:sp>
      <p:sp>
        <p:nvSpPr>
          <p:cNvPr id="3" name="Rezervirano mjesto sadržaja 2">
            <a:extLst>
              <a:ext uri="{FF2B5EF4-FFF2-40B4-BE49-F238E27FC236}">
                <a16:creationId xmlns:a16="http://schemas.microsoft.com/office/drawing/2014/main" id="{48EC462E-02D9-044A-298B-A009977EE7DD}"/>
              </a:ext>
            </a:extLst>
          </p:cNvPr>
          <p:cNvSpPr>
            <a:spLocks noGrp="1"/>
          </p:cNvSpPr>
          <p:nvPr>
            <p:ph idx="1"/>
          </p:nvPr>
        </p:nvSpPr>
        <p:spPr/>
        <p:txBody>
          <a:bodyPr/>
          <a:lstStyle>
            <a:lvl1pPr>
              <a:defRPr>
                <a:latin typeface="Bahnschrift SemiLight" panose="020B0502040204020203" pitchFamily="34" charset="0"/>
              </a:defRPr>
            </a:lvl1pPr>
            <a:lvl2pPr>
              <a:defRPr>
                <a:latin typeface="Bahnschrift SemiLight" panose="020B0502040204020203" pitchFamily="34" charset="0"/>
              </a:defRPr>
            </a:lvl2pPr>
            <a:lvl3pPr>
              <a:defRPr>
                <a:latin typeface="Bahnschrift SemiLight" panose="020B0502040204020203" pitchFamily="34" charset="0"/>
              </a:defRPr>
            </a:lvl3pPr>
            <a:lvl4pPr>
              <a:defRPr>
                <a:latin typeface="Bahnschrift SemiLight" panose="020B0502040204020203" pitchFamily="34" charset="0"/>
              </a:defRPr>
            </a:lvl4pPr>
            <a:lvl5pPr>
              <a:defRPr>
                <a:latin typeface="Bahnschrift SemiLight" panose="020B0502040204020203" pitchFamily="34" charset="0"/>
              </a:defRPr>
            </a:lvl5pPr>
          </a:lstStyle>
          <a:p>
            <a:pPr lvl="0"/>
            <a:r>
              <a:rPr lang="hr-HR" dirty="0"/>
              <a:t>Kliknite da biste uredili matrice</a:t>
            </a:r>
          </a:p>
        </p:txBody>
      </p:sp>
    </p:spTree>
    <p:extLst>
      <p:ext uri="{BB962C8B-B14F-4D97-AF65-F5344CB8AC3E}">
        <p14:creationId xmlns:p14="http://schemas.microsoft.com/office/powerpoint/2010/main" val="7215969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16_Naslov i sadržaj">
    <p:spTree>
      <p:nvGrpSpPr>
        <p:cNvPr id="1" name=""/>
        <p:cNvGrpSpPr/>
        <p:nvPr/>
      </p:nvGrpSpPr>
      <p:grpSpPr>
        <a:xfrm>
          <a:off x="0" y="0"/>
          <a:ext cx="0" cy="0"/>
          <a:chOff x="0" y="0"/>
          <a:chExt cx="0" cy="0"/>
        </a:xfrm>
      </p:grpSpPr>
      <p:pic>
        <p:nvPicPr>
          <p:cNvPr id="7" name="Slika 6">
            <a:extLst>
              <a:ext uri="{FF2B5EF4-FFF2-40B4-BE49-F238E27FC236}">
                <a16:creationId xmlns:a16="http://schemas.microsoft.com/office/drawing/2014/main" id="{E1102532-B18A-F116-ED3D-C3E4F6576CC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3" y="428"/>
            <a:ext cx="12191994" cy="6857139"/>
          </a:xfrm>
          <a:prstGeom prst="rect">
            <a:avLst/>
          </a:prstGeom>
        </p:spPr>
      </p:pic>
      <p:sp>
        <p:nvSpPr>
          <p:cNvPr id="2" name="Naslov 1">
            <a:extLst>
              <a:ext uri="{FF2B5EF4-FFF2-40B4-BE49-F238E27FC236}">
                <a16:creationId xmlns:a16="http://schemas.microsoft.com/office/drawing/2014/main" id="{3476ACE7-458A-DB79-D9F2-688CE21D2DDA}"/>
              </a:ext>
            </a:extLst>
          </p:cNvPr>
          <p:cNvSpPr>
            <a:spLocks noGrp="1"/>
          </p:cNvSpPr>
          <p:nvPr>
            <p:ph type="title" hasCustomPrompt="1"/>
          </p:nvPr>
        </p:nvSpPr>
        <p:spPr/>
        <p:txBody>
          <a:bodyPr>
            <a:normAutofit/>
          </a:bodyPr>
          <a:lstStyle>
            <a:lvl1pPr algn="l">
              <a:defRPr sz="3600">
                <a:latin typeface="Bahnschrift SemiBold" panose="020B0502040204020203" pitchFamily="34" charset="0"/>
              </a:defRPr>
            </a:lvl1pPr>
          </a:lstStyle>
          <a:p>
            <a:r>
              <a:rPr lang="hr-HR" dirty="0"/>
              <a:t>RESOURCES</a:t>
            </a:r>
          </a:p>
        </p:txBody>
      </p:sp>
      <p:sp>
        <p:nvSpPr>
          <p:cNvPr id="3" name="Rezervirano mjesto sadržaja 2">
            <a:extLst>
              <a:ext uri="{FF2B5EF4-FFF2-40B4-BE49-F238E27FC236}">
                <a16:creationId xmlns:a16="http://schemas.microsoft.com/office/drawing/2014/main" id="{48EC462E-02D9-044A-298B-A009977EE7DD}"/>
              </a:ext>
            </a:extLst>
          </p:cNvPr>
          <p:cNvSpPr>
            <a:spLocks noGrp="1"/>
          </p:cNvSpPr>
          <p:nvPr>
            <p:ph idx="1"/>
          </p:nvPr>
        </p:nvSpPr>
        <p:spPr/>
        <p:txBody>
          <a:bodyPr/>
          <a:lstStyle>
            <a:lvl1pPr>
              <a:defRPr>
                <a:latin typeface="Bahnschrift SemiLight" panose="020B0502040204020203" pitchFamily="34" charset="0"/>
              </a:defRPr>
            </a:lvl1pPr>
            <a:lvl2pPr>
              <a:defRPr>
                <a:latin typeface="Bahnschrift SemiLight" panose="020B0502040204020203" pitchFamily="34" charset="0"/>
              </a:defRPr>
            </a:lvl2pPr>
            <a:lvl3pPr>
              <a:defRPr>
                <a:latin typeface="Bahnschrift SemiLight" panose="020B0502040204020203" pitchFamily="34" charset="0"/>
              </a:defRPr>
            </a:lvl3pPr>
            <a:lvl4pPr>
              <a:defRPr>
                <a:latin typeface="Bahnschrift SemiLight" panose="020B0502040204020203" pitchFamily="34" charset="0"/>
              </a:defRPr>
            </a:lvl4pPr>
            <a:lvl5pPr>
              <a:defRPr>
                <a:latin typeface="Bahnschrift SemiLight" panose="020B0502040204020203" pitchFamily="34" charset="0"/>
              </a:defRPr>
            </a:lvl5pPr>
          </a:lstStyle>
          <a:p>
            <a:pPr lvl="0"/>
            <a:r>
              <a:rPr lang="hr-HR" dirty="0"/>
              <a:t>Kliknite da biste uredili matrice</a:t>
            </a:r>
          </a:p>
        </p:txBody>
      </p:sp>
    </p:spTree>
    <p:extLst>
      <p:ext uri="{BB962C8B-B14F-4D97-AF65-F5344CB8AC3E}">
        <p14:creationId xmlns:p14="http://schemas.microsoft.com/office/powerpoint/2010/main" val="17585101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6_Završni slajd">
    <p:spTree>
      <p:nvGrpSpPr>
        <p:cNvPr id="1" name=""/>
        <p:cNvGrpSpPr/>
        <p:nvPr/>
      </p:nvGrpSpPr>
      <p:grpSpPr>
        <a:xfrm>
          <a:off x="0" y="0"/>
          <a:ext cx="0" cy="0"/>
          <a:chOff x="0" y="0"/>
          <a:chExt cx="0" cy="0"/>
        </a:xfrm>
      </p:grpSpPr>
      <p:pic>
        <p:nvPicPr>
          <p:cNvPr id="9" name="Slika 8">
            <a:extLst>
              <a:ext uri="{FF2B5EF4-FFF2-40B4-BE49-F238E27FC236}">
                <a16:creationId xmlns:a16="http://schemas.microsoft.com/office/drawing/2014/main" id="{1E9C26A1-6687-A87D-1AE0-CDCFC63DA5B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428"/>
            <a:ext cx="12191998" cy="6857142"/>
          </a:xfrm>
          <a:prstGeom prst="rect">
            <a:avLst/>
          </a:prstGeom>
        </p:spPr>
      </p:pic>
    </p:spTree>
    <p:extLst>
      <p:ext uri="{BB962C8B-B14F-4D97-AF65-F5344CB8AC3E}">
        <p14:creationId xmlns:p14="http://schemas.microsoft.com/office/powerpoint/2010/main" val="204982704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60F6218-7FD0-4DD6-AFC5-08C4A05D6C0B}" type="datetimeFigureOut">
              <a:rPr lang="en-US" smtClean="0"/>
              <a:t>3/13/26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7F2C487-0981-408E-B048-5940796DAFDE}" type="slidenum">
              <a:rPr lang="en-US" smtClean="0"/>
              <a:t>‹#›</a:t>
            </a:fld>
            <a:endParaRPr lang="en-US"/>
          </a:p>
        </p:txBody>
      </p:sp>
    </p:spTree>
    <p:extLst>
      <p:ext uri="{BB962C8B-B14F-4D97-AF65-F5344CB8AC3E}">
        <p14:creationId xmlns:p14="http://schemas.microsoft.com/office/powerpoint/2010/main" val="423307152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Prilagođeni izgled">
    <p:spTree>
      <p:nvGrpSpPr>
        <p:cNvPr id="1" name=""/>
        <p:cNvGrpSpPr/>
        <p:nvPr/>
      </p:nvGrpSpPr>
      <p:grpSpPr>
        <a:xfrm>
          <a:off x="0" y="0"/>
          <a:ext cx="0" cy="0"/>
          <a:chOff x="0" y="0"/>
          <a:chExt cx="0" cy="0"/>
        </a:xfrm>
      </p:grpSpPr>
      <p:pic>
        <p:nvPicPr>
          <p:cNvPr id="7" name="Slika 6" descr="Slika na kojoj se prikazuje snimka zaslona, crta, dizajn&#10;&#10;Sadržaj generiran umjetnom inteligencijom može biti netočan.">
            <a:extLst>
              <a:ext uri="{FF2B5EF4-FFF2-40B4-BE49-F238E27FC236}">
                <a16:creationId xmlns:a16="http://schemas.microsoft.com/office/drawing/2014/main" id="{06B022C9-54E7-BB73-8A26-59E11FA9C35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Naslov 1">
            <a:extLst>
              <a:ext uri="{FF2B5EF4-FFF2-40B4-BE49-F238E27FC236}">
                <a16:creationId xmlns:a16="http://schemas.microsoft.com/office/drawing/2014/main" id="{BF2A96D7-17D5-D8FA-1A2A-53ABEC2070E7}"/>
              </a:ext>
            </a:extLst>
          </p:cNvPr>
          <p:cNvSpPr>
            <a:spLocks noGrp="1"/>
          </p:cNvSpPr>
          <p:nvPr>
            <p:ph type="title" hasCustomPrompt="1"/>
          </p:nvPr>
        </p:nvSpPr>
        <p:spPr/>
        <p:txBody>
          <a:bodyPr/>
          <a:lstStyle>
            <a:lvl1pPr>
              <a:defRPr/>
            </a:lvl1pPr>
          </a:lstStyle>
          <a:p>
            <a:r>
              <a:rPr lang="hr-HR" dirty="0"/>
              <a:t>SUMMARY</a:t>
            </a:r>
          </a:p>
        </p:txBody>
      </p:sp>
    </p:spTree>
    <p:extLst>
      <p:ext uri="{BB962C8B-B14F-4D97-AF65-F5344CB8AC3E}">
        <p14:creationId xmlns:p14="http://schemas.microsoft.com/office/powerpoint/2010/main" val="27798461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Rezervirano mjesto naslova 1">
            <a:extLst>
              <a:ext uri="{FF2B5EF4-FFF2-40B4-BE49-F238E27FC236}">
                <a16:creationId xmlns:a16="http://schemas.microsoft.com/office/drawing/2014/main" id="{1B650DF9-2458-1434-6EFF-3D965EDC4A3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hr-HR" dirty="0"/>
              <a:t>Kliknite da biste uredili stil naslova matrice</a:t>
            </a:r>
          </a:p>
        </p:txBody>
      </p:sp>
      <p:sp>
        <p:nvSpPr>
          <p:cNvPr id="3" name="Rezervirano mjesto teksta 2">
            <a:extLst>
              <a:ext uri="{FF2B5EF4-FFF2-40B4-BE49-F238E27FC236}">
                <a16:creationId xmlns:a16="http://schemas.microsoft.com/office/drawing/2014/main" id="{76C6E5EE-2B8F-9019-690C-3AF0A69B8CC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hr-HR"/>
              <a:t>Kliknite da biste uredili matrice</a:t>
            </a:r>
          </a:p>
          <a:p>
            <a:pPr lvl="1"/>
            <a:r>
              <a:rPr lang="hr-HR"/>
              <a:t>Druga razina</a:t>
            </a:r>
          </a:p>
          <a:p>
            <a:pPr lvl="2"/>
            <a:r>
              <a:rPr lang="hr-HR"/>
              <a:t>Treća razina</a:t>
            </a:r>
          </a:p>
          <a:p>
            <a:pPr lvl="3"/>
            <a:r>
              <a:rPr lang="hr-HR"/>
              <a:t>Četvrta razina</a:t>
            </a:r>
          </a:p>
          <a:p>
            <a:pPr lvl="4"/>
            <a:r>
              <a:rPr lang="hr-HR"/>
              <a:t>Peta razina stilove teksta</a:t>
            </a:r>
          </a:p>
        </p:txBody>
      </p:sp>
      <p:sp>
        <p:nvSpPr>
          <p:cNvPr id="4" name="Rezervirano mjesto datuma 3">
            <a:extLst>
              <a:ext uri="{FF2B5EF4-FFF2-40B4-BE49-F238E27FC236}">
                <a16:creationId xmlns:a16="http://schemas.microsoft.com/office/drawing/2014/main" id="{470CF1CA-F427-A5AF-96AA-671002CD74C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963B997-549E-41F4-A1E4-B0CF42B49EF1}" type="datetimeFigureOut">
              <a:rPr lang="hr-HR" smtClean="0"/>
              <a:t>13.03.2026.</a:t>
            </a:fld>
            <a:endParaRPr lang="hr-HR"/>
          </a:p>
        </p:txBody>
      </p:sp>
      <p:sp>
        <p:nvSpPr>
          <p:cNvPr id="5" name="Rezervirano mjesto podnožja 4">
            <a:extLst>
              <a:ext uri="{FF2B5EF4-FFF2-40B4-BE49-F238E27FC236}">
                <a16:creationId xmlns:a16="http://schemas.microsoft.com/office/drawing/2014/main" id="{8D829544-1FE5-4ED0-6A51-373B245680A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hr-HR"/>
          </a:p>
        </p:txBody>
      </p:sp>
      <p:sp>
        <p:nvSpPr>
          <p:cNvPr id="6" name="Rezervirano mjesto broja slajda 5">
            <a:extLst>
              <a:ext uri="{FF2B5EF4-FFF2-40B4-BE49-F238E27FC236}">
                <a16:creationId xmlns:a16="http://schemas.microsoft.com/office/drawing/2014/main" id="{33A67201-5F88-A086-59F5-4A06FA6BE09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ACDD723-16A0-42C8-A963-6C8D73A0AD48}" type="slidenum">
              <a:rPr lang="hr-HR" smtClean="0"/>
              <a:t>‹#›</a:t>
            </a:fld>
            <a:endParaRPr lang="hr-HR"/>
          </a:p>
        </p:txBody>
      </p:sp>
    </p:spTree>
    <p:extLst>
      <p:ext uri="{BB962C8B-B14F-4D97-AF65-F5344CB8AC3E}">
        <p14:creationId xmlns:p14="http://schemas.microsoft.com/office/powerpoint/2010/main" val="897513809"/>
      </p:ext>
    </p:extLst>
  </p:cSld>
  <p:clrMap bg1="lt1" tx1="dk1" bg2="lt2" tx2="dk2" accent1="accent1" accent2="accent2" accent3="accent3" accent4="accent4" accent5="accent5" accent6="accent6" hlink="hlink" folHlink="folHlink"/>
  <p:sldLayoutIdLst>
    <p:sldLayoutId id="2147483649" r:id="rId1"/>
    <p:sldLayoutId id="2147483664" r:id="rId2"/>
    <p:sldLayoutId id="2147483650" r:id="rId3"/>
    <p:sldLayoutId id="2147483659" r:id="rId4"/>
    <p:sldLayoutId id="2147483666" r:id="rId5"/>
    <p:sldLayoutId id="2147483652" r:id="rId6"/>
    <p:sldLayoutId id="2147483661" r:id="rId7"/>
    <p:sldLayoutId id="2147483676" r:id="rId8"/>
    <p:sldLayoutId id="2147483677" r:id="rId9"/>
    <p:sldLayoutId id="2147483678" r:id="rId10"/>
    <p:sldLayoutId id="2147483679" r:id="rId11"/>
    <p:sldLayoutId id="2147483680" r:id="rId12"/>
    <p:sldLayoutId id="2147483681" r:id="rId13"/>
    <p:sldLayoutId id="2147483669" r:id="rId14"/>
    <p:sldLayoutId id="2147483682" r:id="rId15"/>
    <p:sldLayoutId id="2147483683" r:id="rId1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r-Latn-R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hyperlink" Target="https://pixabay.com/" TargetMode="Externa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hyperlink" Target="https://medium.com/"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hyperlink" Target="https://anmadesign.com/differences-entre-ui-ux/" TargetMode="External"/><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7.xml"/><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hyperlink" Target="https://www.interaction-design.org/"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6.xml"/><Relationship Id="rId4" Type="http://schemas.openxmlformats.org/officeDocument/2006/relationships/hyperlink" Target="https://uxmastery.com/"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hyperlink" Target="https://uxwing.com/" TargetMode="Externa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4.xml"/><Relationship Id="rId1" Type="http://schemas.openxmlformats.org/officeDocument/2006/relationships/slideLayout" Target="../slideLayouts/slideLayout6.xml"/><Relationship Id="rId4" Type="http://schemas.openxmlformats.org/officeDocument/2006/relationships/hyperlink" Target="https://dorve.com/blog/top-25-free-tools-for-ux-ui-and-web-designers/" TargetMode="External"/></Relationships>
</file>

<file path=ppt/slides/_rels/slide17.xml.rels><?xml version="1.0" encoding="UTF-8" standalone="yes"?>
<Relationships xmlns="http://schemas.openxmlformats.org/package/2006/relationships"><Relationship Id="rId3" Type="http://schemas.openxmlformats.org/officeDocument/2006/relationships/hyperlink" Target="https://uxrecipe.github.io/" TargetMode="External"/><Relationship Id="rId2" Type="http://schemas.openxmlformats.org/officeDocument/2006/relationships/hyperlink" Target="https://www.ux-checklist.com/" TargetMode="Externa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8" Type="http://schemas.openxmlformats.org/officeDocument/2006/relationships/hyperlink" Target="https://www.solulab.com/role-of-ux-in-modern-web-design/#:~:text=User%20experience%20in%20web%20design,the%20success%20of%20digital%20platforms" TargetMode="External"/><Relationship Id="rId3" Type="http://schemas.openxmlformats.org/officeDocument/2006/relationships/hyperlink" Target="https://www.smashingmagazine.com/2018/02/comprehensive-guide-ui-design/" TargetMode="External"/><Relationship Id="rId7" Type="http://schemas.openxmlformats.org/officeDocument/2006/relationships/hyperlink" Target="https://careerfoundry.com/en/blog/ux-design/the-difference-between-ux-and-ui-design-a-laymans-guide/" TargetMode="External"/><Relationship Id="rId2" Type="http://schemas.openxmlformats.org/officeDocument/2006/relationships/notesSlide" Target="../notesSlides/notesSlide15.xml"/><Relationship Id="rId1" Type="http://schemas.openxmlformats.org/officeDocument/2006/relationships/slideLayout" Target="../slideLayouts/slideLayout12.xml"/><Relationship Id="rId6" Type="http://schemas.openxmlformats.org/officeDocument/2006/relationships/hyperlink" Target="https://www.figma.com/resource-library/difference-between-ui-and-ux/" TargetMode="External"/><Relationship Id="rId11" Type="http://schemas.openxmlformats.org/officeDocument/2006/relationships/hyperlink" Target="https://baymard.com/learn/ux-design-principles" TargetMode="External"/><Relationship Id="rId5" Type="http://schemas.openxmlformats.org/officeDocument/2006/relationships/hyperlink" Target="https://openclassrooms.com/en/paths/76-ux-designer" TargetMode="External"/><Relationship Id="rId10" Type="http://schemas.openxmlformats.org/officeDocument/2006/relationships/hyperlink" Target="https://www.uxpin.com/studio/blog/guide-design-consistency-best-practices-ui-ux-designers/" TargetMode="External"/><Relationship Id="rId4" Type="http://schemas.openxmlformats.org/officeDocument/2006/relationships/hyperlink" Target="https://uxplanet.org/" TargetMode="External"/><Relationship Id="rId9" Type="http://schemas.openxmlformats.org/officeDocument/2006/relationships/hyperlink" Target="https://www.interaction-design.org/literature/topics/ux-desig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Naslov 3">
            <a:extLst>
              <a:ext uri="{FF2B5EF4-FFF2-40B4-BE49-F238E27FC236}">
                <a16:creationId xmlns:a16="http://schemas.microsoft.com/office/drawing/2014/main" id="{4022C4E9-1E70-8866-3479-A24FD93D0CAC}"/>
              </a:ext>
            </a:extLst>
          </p:cNvPr>
          <p:cNvSpPr>
            <a:spLocks noGrp="1"/>
          </p:cNvSpPr>
          <p:nvPr>
            <p:ph type="ctrTitle"/>
          </p:nvPr>
        </p:nvSpPr>
        <p:spPr/>
        <p:txBody>
          <a:bodyPr/>
          <a:lstStyle/>
          <a:p>
            <a:r>
              <a:rPr lang="fr-BE" dirty="0"/>
              <a:t>SHIFT4IT</a:t>
            </a:r>
            <a:endParaRPr lang="hr-HR" dirty="0"/>
          </a:p>
        </p:txBody>
      </p:sp>
      <p:sp>
        <p:nvSpPr>
          <p:cNvPr id="5" name="Podnaslov 4">
            <a:extLst>
              <a:ext uri="{FF2B5EF4-FFF2-40B4-BE49-F238E27FC236}">
                <a16:creationId xmlns:a16="http://schemas.microsoft.com/office/drawing/2014/main" id="{2D59F4E1-B531-21D4-1874-34304F7DAD4F}"/>
              </a:ext>
            </a:extLst>
          </p:cNvPr>
          <p:cNvSpPr>
            <a:spLocks noGrp="1"/>
          </p:cNvSpPr>
          <p:nvPr>
            <p:ph type="subTitle" idx="1"/>
          </p:nvPr>
        </p:nvSpPr>
        <p:spPr/>
        <p:txBody>
          <a:bodyPr/>
          <a:lstStyle/>
          <a:p>
            <a:r>
              <a:rPr lang="en-US" b="0" i="0" dirty="0">
                <a:solidFill>
                  <a:srgbClr val="000000"/>
                </a:solidFill>
                <a:effectLst/>
                <a:latin typeface="Nunito" pitchFamily="2" charset="0"/>
              </a:rPr>
              <a:t>Shifting the </a:t>
            </a:r>
            <a:r>
              <a:rPr lang="en-US" b="0" i="0" dirty="0" err="1">
                <a:solidFill>
                  <a:srgbClr val="000000"/>
                </a:solidFill>
                <a:effectLst/>
                <a:latin typeface="Nunito" pitchFamily="2" charset="0"/>
              </a:rPr>
              <a:t>paradygm</a:t>
            </a:r>
            <a:r>
              <a:rPr lang="en-US" b="0" i="0" dirty="0">
                <a:solidFill>
                  <a:srgbClr val="000000"/>
                </a:solidFill>
                <a:effectLst/>
                <a:latin typeface="Nunito" pitchFamily="2" charset="0"/>
              </a:rPr>
              <a:t> for women in IT sector</a:t>
            </a:r>
            <a:endParaRPr lang="hr-HR" dirty="0"/>
          </a:p>
        </p:txBody>
      </p:sp>
    </p:spTree>
    <p:extLst>
      <p:ext uri="{BB962C8B-B14F-4D97-AF65-F5344CB8AC3E}">
        <p14:creationId xmlns:p14="http://schemas.microsoft.com/office/powerpoint/2010/main" val="4955189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10B755-035D-6006-F32F-1A6176242608}"/>
              </a:ext>
            </a:extLst>
          </p:cNvPr>
          <p:cNvSpPr>
            <a:spLocks noGrp="1"/>
          </p:cNvSpPr>
          <p:nvPr>
            <p:ph type="ctrTitle"/>
          </p:nvPr>
        </p:nvSpPr>
        <p:spPr/>
        <p:txBody>
          <a:bodyPr/>
          <a:lstStyle/>
          <a:p>
            <a:r>
              <a:rPr lang="hr-HR" dirty="0"/>
              <a:t>Uvod u </a:t>
            </a:r>
            <a:r>
              <a:rPr lang="fr-BE" dirty="0"/>
              <a:t>UX-UI</a:t>
            </a:r>
          </a:p>
        </p:txBody>
      </p:sp>
    </p:spTree>
    <p:extLst>
      <p:ext uri="{BB962C8B-B14F-4D97-AF65-F5344CB8AC3E}">
        <p14:creationId xmlns:p14="http://schemas.microsoft.com/office/powerpoint/2010/main" val="32187929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520E77-6BD4-B176-25A6-25BF4579A86F}"/>
              </a:ext>
            </a:extLst>
          </p:cNvPr>
          <p:cNvSpPr>
            <a:spLocks noGrp="1"/>
          </p:cNvSpPr>
          <p:nvPr>
            <p:ph type="title"/>
          </p:nvPr>
        </p:nvSpPr>
        <p:spPr/>
        <p:txBody>
          <a:bodyPr/>
          <a:lstStyle/>
          <a:p>
            <a:r>
              <a:rPr lang="fr-BE" dirty="0"/>
              <a:t>Module Program</a:t>
            </a:r>
          </a:p>
        </p:txBody>
      </p:sp>
      <p:sp>
        <p:nvSpPr>
          <p:cNvPr id="3" name="Content Placeholder 2">
            <a:extLst>
              <a:ext uri="{FF2B5EF4-FFF2-40B4-BE49-F238E27FC236}">
                <a16:creationId xmlns:a16="http://schemas.microsoft.com/office/drawing/2014/main" id="{5F062CA8-9A84-BA53-1B11-1FC20A7CCA2E}"/>
              </a:ext>
            </a:extLst>
          </p:cNvPr>
          <p:cNvSpPr>
            <a:spLocks noGrp="1"/>
          </p:cNvSpPr>
          <p:nvPr>
            <p:ph idx="1"/>
          </p:nvPr>
        </p:nvSpPr>
        <p:spPr/>
        <p:txBody>
          <a:bodyPr>
            <a:normAutofit fontScale="92500" lnSpcReduction="20000"/>
          </a:bodyPr>
          <a:lstStyle/>
          <a:p>
            <a:r>
              <a:rPr lang="hr-HR" dirty="0"/>
              <a:t>Pozdrav</a:t>
            </a:r>
            <a:r>
              <a:rPr lang="fr-BE" dirty="0"/>
              <a:t> </a:t>
            </a:r>
          </a:p>
          <a:p>
            <a:r>
              <a:rPr lang="hr-HR" b="1" dirty="0"/>
              <a:t>Uvod u</a:t>
            </a:r>
            <a:r>
              <a:rPr lang="fr-BE" dirty="0"/>
              <a:t> UX &amp; UI</a:t>
            </a:r>
          </a:p>
          <a:p>
            <a:r>
              <a:rPr lang="hr-HR" dirty="0"/>
              <a:t>Principi ergonomije i dizajna</a:t>
            </a:r>
            <a:endParaRPr lang="fr-BE" dirty="0"/>
          </a:p>
          <a:p>
            <a:r>
              <a:rPr lang="hr-HR" dirty="0"/>
              <a:t>Informacijska arhitektura</a:t>
            </a:r>
          </a:p>
          <a:p>
            <a:r>
              <a:rPr lang="pt-BR" dirty="0"/>
              <a:t>Sustav dizajna i izrada prototipa</a:t>
            </a:r>
            <a:endParaRPr lang="hr-HR" dirty="0"/>
          </a:p>
          <a:p>
            <a:r>
              <a:rPr lang="hr-HR" dirty="0"/>
              <a:t>Istraživanje korisnika</a:t>
            </a:r>
            <a:r>
              <a:rPr lang="fr-BE" dirty="0"/>
              <a:t>/ </a:t>
            </a:r>
            <a:r>
              <a:rPr lang="fr-BE" dirty="0" err="1"/>
              <a:t>Testi</a:t>
            </a:r>
            <a:r>
              <a:rPr lang="hr-HR" dirty="0" err="1"/>
              <a:t>ranje</a:t>
            </a:r>
            <a:endParaRPr lang="fr-BE" dirty="0"/>
          </a:p>
          <a:p>
            <a:r>
              <a:rPr lang="hr-HR" dirty="0"/>
              <a:t>Design </a:t>
            </a:r>
            <a:r>
              <a:rPr lang="hr-HR" dirty="0" err="1"/>
              <a:t>thinking</a:t>
            </a:r>
            <a:r>
              <a:rPr lang="hr-HR" dirty="0"/>
              <a:t> (dizajnersko razmišljanje)</a:t>
            </a:r>
            <a:endParaRPr lang="fr-BE" dirty="0"/>
          </a:p>
          <a:p>
            <a:r>
              <a:rPr lang="hr-HR" dirty="0"/>
              <a:t>Pristupačnost</a:t>
            </a:r>
            <a:endParaRPr lang="fr-BE" dirty="0"/>
          </a:p>
          <a:p>
            <a:r>
              <a:rPr lang="hr-HR" dirty="0"/>
              <a:t>Metrike</a:t>
            </a:r>
            <a:endParaRPr lang="fr-BE" dirty="0">
              <a:ea typeface="Calibri" panose="020F0502020204030204" pitchFamily="34" charset="0"/>
              <a:cs typeface="Times New Roman" panose="02020603050405020304" pitchFamily="18" charset="0"/>
            </a:endParaRPr>
          </a:p>
          <a:p>
            <a:r>
              <a:rPr lang="hr-HR" dirty="0"/>
              <a:t>Projekt</a:t>
            </a:r>
            <a:endParaRPr lang="fr-BE" dirty="0">
              <a:ea typeface="Calibri" panose="020F0502020204030204" pitchFamily="34" charset="0"/>
              <a:cs typeface="Times New Roman" panose="02020603050405020304" pitchFamily="18" charset="0"/>
            </a:endParaRPr>
          </a:p>
          <a:p>
            <a:endParaRPr lang="fr-BE" dirty="0">
              <a:ea typeface="Calibri" panose="020F0502020204030204" pitchFamily="34" charset="0"/>
              <a:cs typeface="Times New Roman" panose="02020603050405020304" pitchFamily="18" charset="0"/>
            </a:endParaRPr>
          </a:p>
          <a:p>
            <a:endParaRPr lang="fr-BE" dirty="0">
              <a:ea typeface="Calibri" panose="020F0502020204030204" pitchFamily="34" charset="0"/>
              <a:cs typeface="Times New Roman" panose="02020603050405020304" pitchFamily="18" charset="0"/>
            </a:endParaRPr>
          </a:p>
          <a:p>
            <a:endParaRPr lang="fr-BE" dirty="0">
              <a:ea typeface="Calibri" panose="020F0502020204030204" pitchFamily="34" charset="0"/>
              <a:cs typeface="Times New Roman" panose="02020603050405020304" pitchFamily="18" charset="0"/>
            </a:endParaRPr>
          </a:p>
          <a:p>
            <a:endParaRPr lang="fr-BE" dirty="0">
              <a:ea typeface="Calibri" panose="020F0502020204030204" pitchFamily="34" charset="0"/>
              <a:cs typeface="Times New Roman" panose="02020603050405020304" pitchFamily="18" charset="0"/>
            </a:endParaRPr>
          </a:p>
          <a:p>
            <a:endParaRPr lang="fr-BE" dirty="0">
              <a:ea typeface="Calibri" panose="020F0502020204030204" pitchFamily="34" charset="0"/>
              <a:cs typeface="Times New Roman" panose="02020603050405020304" pitchFamily="18" charset="0"/>
            </a:endParaRPr>
          </a:p>
          <a:p>
            <a:endParaRPr lang="fr-BE" dirty="0"/>
          </a:p>
          <a:p>
            <a:endParaRPr lang="fr-BE" dirty="0"/>
          </a:p>
          <a:p>
            <a:endParaRPr lang="fr-BE" dirty="0"/>
          </a:p>
        </p:txBody>
      </p:sp>
    </p:spTree>
    <p:extLst>
      <p:ext uri="{BB962C8B-B14F-4D97-AF65-F5344CB8AC3E}">
        <p14:creationId xmlns:p14="http://schemas.microsoft.com/office/powerpoint/2010/main" val="2687100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0B4019-5DED-E5FD-92FA-6C5947054D36}"/>
              </a:ext>
            </a:extLst>
          </p:cNvPr>
          <p:cNvSpPr>
            <a:spLocks noGrp="1"/>
          </p:cNvSpPr>
          <p:nvPr>
            <p:ph type="title"/>
          </p:nvPr>
        </p:nvSpPr>
        <p:spPr>
          <a:xfrm>
            <a:off x="838200" y="365125"/>
            <a:ext cx="10515600" cy="1325563"/>
          </a:xfrm>
        </p:spPr>
        <p:txBody>
          <a:bodyPr anchor="ctr">
            <a:normAutofit/>
          </a:bodyPr>
          <a:lstStyle/>
          <a:p>
            <a:r>
              <a:rPr lang="hr-HR" dirty="0"/>
              <a:t>Istine i laž</a:t>
            </a:r>
            <a:endParaRPr lang="fr-BE" dirty="0"/>
          </a:p>
        </p:txBody>
      </p:sp>
      <p:pic>
        <p:nvPicPr>
          <p:cNvPr id="1028" name="Picture 4" descr="Tromper, Deception, Mensonges, Loupe">
            <a:extLst>
              <a:ext uri="{FF2B5EF4-FFF2-40B4-BE49-F238E27FC236}">
                <a16:creationId xmlns:a16="http://schemas.microsoft.com/office/drawing/2014/main" id="{7637A011-69EC-A9F1-CAD3-1ECB7D7D82E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892" t="5107" r="6988" b="5145"/>
          <a:stretch>
            <a:fillRect/>
          </a:stretch>
        </p:blipFill>
        <p:spPr bwMode="auto">
          <a:xfrm>
            <a:off x="2305050" y="2190750"/>
            <a:ext cx="7581900" cy="3905250"/>
          </a:xfrm>
          <a:prstGeom prst="rect">
            <a:avLst/>
          </a:prstGeom>
          <a:solidFill>
            <a:srgbClr val="FFFFFF"/>
          </a:solidFill>
        </p:spPr>
      </p:pic>
      <p:sp>
        <p:nvSpPr>
          <p:cNvPr id="5" name="TextBox 4">
            <a:extLst>
              <a:ext uri="{FF2B5EF4-FFF2-40B4-BE49-F238E27FC236}">
                <a16:creationId xmlns:a16="http://schemas.microsoft.com/office/drawing/2014/main" id="{310C4C9A-4701-17DD-8F45-4A1F0CE4D27E}"/>
              </a:ext>
            </a:extLst>
          </p:cNvPr>
          <p:cNvSpPr txBox="1"/>
          <p:nvPr/>
        </p:nvSpPr>
        <p:spPr>
          <a:xfrm>
            <a:off x="7905750" y="6096000"/>
            <a:ext cx="2772229" cy="276999"/>
          </a:xfrm>
          <a:prstGeom prst="rect">
            <a:avLst/>
          </a:prstGeom>
          <a:noFill/>
        </p:spPr>
        <p:txBody>
          <a:bodyPr wrap="square">
            <a:spAutoFit/>
          </a:bodyPr>
          <a:lstStyle/>
          <a:p>
            <a:r>
              <a:rPr lang="fr-BE" sz="1200" dirty="0">
                <a:latin typeface="Bahnschrift SemiLight" panose="020B0502040204020203" pitchFamily="34" charset="0"/>
              </a:rPr>
              <a:t>Source: </a:t>
            </a:r>
            <a:r>
              <a:rPr lang="fr-BE" sz="1200" dirty="0">
                <a:latin typeface="Bahnschrift SemiLight" panose="020B0502040204020203" pitchFamily="34" charset="0"/>
                <a:hlinkClick r:id="rId4"/>
              </a:rPr>
              <a:t>https://pixabay.com</a:t>
            </a:r>
            <a:r>
              <a:rPr lang="fr-BE" sz="1200" dirty="0">
                <a:latin typeface="Bahnschrift SemiLight" panose="020B0502040204020203" pitchFamily="34" charset="0"/>
              </a:rPr>
              <a:t>  </a:t>
            </a:r>
          </a:p>
        </p:txBody>
      </p:sp>
    </p:spTree>
    <p:extLst>
      <p:ext uri="{BB962C8B-B14F-4D97-AF65-F5344CB8AC3E}">
        <p14:creationId xmlns:p14="http://schemas.microsoft.com/office/powerpoint/2010/main" val="31761850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3D0177-B953-40CD-352C-1886B9DF8FA2}"/>
              </a:ext>
            </a:extLst>
          </p:cNvPr>
          <p:cNvSpPr>
            <a:spLocks noGrp="1"/>
          </p:cNvSpPr>
          <p:nvPr>
            <p:ph type="title"/>
          </p:nvPr>
        </p:nvSpPr>
        <p:spPr/>
        <p:txBody>
          <a:bodyPr/>
          <a:lstStyle/>
          <a:p>
            <a:r>
              <a:rPr lang="hr-HR" sz="3600" dirty="0">
                <a:latin typeface="Bahnschrift SemiBold"/>
              </a:rPr>
              <a:t>Sažetak</a:t>
            </a:r>
            <a:endParaRPr lang="fr-BE" sz="3600" dirty="0">
              <a:latin typeface="Bahnschrift SemiBold"/>
            </a:endParaRPr>
          </a:p>
        </p:txBody>
      </p:sp>
      <p:sp>
        <p:nvSpPr>
          <p:cNvPr id="4" name="TextBox 3">
            <a:extLst>
              <a:ext uri="{FF2B5EF4-FFF2-40B4-BE49-F238E27FC236}">
                <a16:creationId xmlns:a16="http://schemas.microsoft.com/office/drawing/2014/main" id="{09008594-8ECA-0466-27B4-44C981137F8C}"/>
              </a:ext>
            </a:extLst>
          </p:cNvPr>
          <p:cNvSpPr txBox="1"/>
          <p:nvPr/>
        </p:nvSpPr>
        <p:spPr>
          <a:xfrm>
            <a:off x="838200" y="1937551"/>
            <a:ext cx="9651274" cy="3785652"/>
          </a:xfrm>
          <a:prstGeom prst="rect">
            <a:avLst/>
          </a:prstGeom>
          <a:noFill/>
        </p:spPr>
        <p:txBody>
          <a:bodyPr wrap="square">
            <a:spAutoFit/>
          </a:bodyPr>
          <a:lstStyle/>
          <a:p>
            <a:r>
              <a:rPr lang="hr-HR" sz="2000" dirty="0"/>
              <a:t>U ovoj prvoj lekciji istražit ćete osnove dizajna korisničkog iskustva (UX) i korisničkog sučelja (UI).</a:t>
            </a:r>
          </a:p>
          <a:p>
            <a:endParaRPr lang="hr-HR" sz="2000" dirty="0"/>
          </a:p>
          <a:p>
            <a:r>
              <a:rPr lang="hr-HR" sz="2000" dirty="0"/>
              <a:t>Vidjet ćete kako se UX fokusira na razumijevanje korisnika i oblikovanje digitalnih iskustava koja su intuitivna i zadovoljavajuća, dok UI oblikuje vizualne i interaktivne elemente — poput rasporeda, boja i navigacije.</a:t>
            </a:r>
          </a:p>
          <a:p>
            <a:endParaRPr lang="hr-HR" sz="2000" dirty="0"/>
          </a:p>
          <a:p>
            <a:r>
              <a:rPr lang="hr-HR" sz="2000" dirty="0"/>
              <a:t>Također ćete naučiti da odličan UX/UI dizajn započinje istraživanjem, razvija se kroz izradu prototipa i unapređuje testiranjem — uvijek s korisnikom u središtu procesa.</a:t>
            </a:r>
          </a:p>
          <a:p>
            <a:endParaRPr lang="hr-HR" sz="2000" dirty="0"/>
          </a:p>
          <a:p>
            <a:r>
              <a:rPr lang="hr-HR" sz="2000" dirty="0"/>
              <a:t>Na kraju ćete razumjeti svrhu UX/UI dizajna, njegovu ulogu u razvoju proizvoda i zašto je ključan za stvaranje digitalnih proizvoda prilagođenih korisnicima.</a:t>
            </a:r>
          </a:p>
        </p:txBody>
      </p:sp>
    </p:spTree>
    <p:extLst>
      <p:ext uri="{BB962C8B-B14F-4D97-AF65-F5344CB8AC3E}">
        <p14:creationId xmlns:p14="http://schemas.microsoft.com/office/powerpoint/2010/main" val="27106772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171E04-94C9-DB75-19A7-FD70B4B0B1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D354E6-DB6C-9C04-CAA5-0FEBCEE53482}"/>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hr-HR" b="1" kern="1200" dirty="0">
                <a:latin typeface="Bahnschrift SemiBold" panose="020B0502040204020203" pitchFamily="34" charset="0"/>
                <a:ea typeface="+mj-ea"/>
                <a:cs typeface="+mj-cs"/>
              </a:rPr>
              <a:t>Uvod u </a:t>
            </a:r>
            <a:r>
              <a:rPr lang="hr-HR" kern="1200" dirty="0">
                <a:latin typeface="Bahnschrift SemiBold" panose="020B0502040204020203" pitchFamily="34" charset="0"/>
                <a:ea typeface="+mj-ea"/>
                <a:cs typeface="+mj-cs"/>
              </a:rPr>
              <a:t>UX &amp; UI</a:t>
            </a:r>
          </a:p>
        </p:txBody>
      </p:sp>
      <p:sp>
        <p:nvSpPr>
          <p:cNvPr id="4" name="TextBox 3">
            <a:extLst>
              <a:ext uri="{FF2B5EF4-FFF2-40B4-BE49-F238E27FC236}">
                <a16:creationId xmlns:a16="http://schemas.microsoft.com/office/drawing/2014/main" id="{8DFEF679-3E32-1740-61F3-2979E83677A8}"/>
              </a:ext>
            </a:extLst>
          </p:cNvPr>
          <p:cNvSpPr txBox="1"/>
          <p:nvPr/>
        </p:nvSpPr>
        <p:spPr>
          <a:xfrm>
            <a:off x="3048000" y="2974216"/>
            <a:ext cx="6096000" cy="2000548"/>
          </a:xfrm>
          <a:prstGeom prst="rect">
            <a:avLst/>
          </a:prstGeom>
          <a:noFill/>
        </p:spPr>
        <p:txBody>
          <a:bodyPr wrap="square">
            <a:spAutoFit/>
          </a:bodyPr>
          <a:lstStyle/>
          <a:p>
            <a:pPr algn="ctr"/>
            <a:r>
              <a:rPr lang="en-US" sz="3600" dirty="0">
                <a:latin typeface="Bahnschrift SemiLight" panose="020B0502040204020203" pitchFamily="34" charset="0"/>
              </a:rPr>
              <a:t>“</a:t>
            </a:r>
            <a:r>
              <a:rPr lang="hr-HR" sz="3600" dirty="0">
                <a:latin typeface="Bahnschrift SemiLight" panose="020B0502040204020203" pitchFamily="34" charset="0"/>
              </a:rPr>
              <a:t>Dizajn nije samo onako kako izgleda. Dizajn je kako radi.</a:t>
            </a:r>
            <a:r>
              <a:rPr lang="en-US" sz="3600" dirty="0">
                <a:latin typeface="Bahnschrift SemiLight" panose="020B0502040204020203" pitchFamily="34" charset="0"/>
              </a:rPr>
              <a:t>”</a:t>
            </a:r>
          </a:p>
          <a:p>
            <a:r>
              <a:rPr lang="en-US" sz="1600" dirty="0">
                <a:latin typeface="Bahnschrift SemiLight" panose="020B0502040204020203" pitchFamily="34" charset="0"/>
              </a:rPr>
              <a:t>					Steve Jobs</a:t>
            </a:r>
            <a:endParaRPr lang="fr-BE" sz="1600" dirty="0">
              <a:latin typeface="Bahnschrift SemiLight" panose="020B0502040204020203" pitchFamily="34" charset="0"/>
            </a:endParaRPr>
          </a:p>
        </p:txBody>
      </p:sp>
    </p:spTree>
    <p:extLst>
      <p:ext uri="{BB962C8B-B14F-4D97-AF65-F5344CB8AC3E}">
        <p14:creationId xmlns:p14="http://schemas.microsoft.com/office/powerpoint/2010/main" val="18607062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979FE1-86E5-44B9-07FE-359E98549489}"/>
              </a:ext>
            </a:extLst>
          </p:cNvPr>
          <p:cNvSpPr>
            <a:spLocks noGrp="1"/>
          </p:cNvSpPr>
          <p:nvPr>
            <p:ph type="title"/>
          </p:nvPr>
        </p:nvSpPr>
        <p:spPr/>
        <p:txBody>
          <a:bodyPr/>
          <a:lstStyle/>
          <a:p>
            <a:r>
              <a:rPr lang="hr-HR" b="1" dirty="0"/>
              <a:t>Uvod u </a:t>
            </a:r>
            <a:r>
              <a:rPr lang="fr-BE" dirty="0"/>
              <a:t>UX &amp; UI</a:t>
            </a:r>
          </a:p>
        </p:txBody>
      </p:sp>
      <p:pic>
        <p:nvPicPr>
          <p:cNvPr id="4" name="Content Placeholder 3">
            <a:extLst>
              <a:ext uri="{FF2B5EF4-FFF2-40B4-BE49-F238E27FC236}">
                <a16:creationId xmlns:a16="http://schemas.microsoft.com/office/drawing/2014/main" id="{E39E33B2-3103-C531-6FB9-517304AD53ED}"/>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867025" y="2148681"/>
            <a:ext cx="6457950" cy="3705225"/>
          </a:xfrm>
        </p:spPr>
      </p:pic>
      <p:sp>
        <p:nvSpPr>
          <p:cNvPr id="10" name="TextBox 9">
            <a:extLst>
              <a:ext uri="{FF2B5EF4-FFF2-40B4-BE49-F238E27FC236}">
                <a16:creationId xmlns:a16="http://schemas.microsoft.com/office/drawing/2014/main" id="{0987A12E-1517-1E3B-4388-F1A4191358B1}"/>
              </a:ext>
            </a:extLst>
          </p:cNvPr>
          <p:cNvSpPr txBox="1"/>
          <p:nvPr/>
        </p:nvSpPr>
        <p:spPr>
          <a:xfrm>
            <a:off x="747252" y="1794738"/>
            <a:ext cx="6096000" cy="707886"/>
          </a:xfrm>
          <a:prstGeom prst="rect">
            <a:avLst/>
          </a:prstGeom>
          <a:noFill/>
        </p:spPr>
        <p:txBody>
          <a:bodyPr wrap="square">
            <a:spAutoFit/>
          </a:bodyPr>
          <a:lstStyle/>
          <a:p>
            <a:r>
              <a:rPr lang="fr-BE" sz="4000" b="1" dirty="0"/>
              <a:t>…</a:t>
            </a:r>
          </a:p>
        </p:txBody>
      </p:sp>
      <p:sp>
        <p:nvSpPr>
          <p:cNvPr id="3" name="TextBox 2">
            <a:extLst>
              <a:ext uri="{FF2B5EF4-FFF2-40B4-BE49-F238E27FC236}">
                <a16:creationId xmlns:a16="http://schemas.microsoft.com/office/drawing/2014/main" id="{F0BE3082-1100-D6E7-470D-4BB8207B5C8D}"/>
              </a:ext>
            </a:extLst>
          </p:cNvPr>
          <p:cNvSpPr txBox="1"/>
          <p:nvPr/>
        </p:nvSpPr>
        <p:spPr>
          <a:xfrm>
            <a:off x="7403134" y="5930850"/>
            <a:ext cx="2218877" cy="276999"/>
          </a:xfrm>
          <a:prstGeom prst="rect">
            <a:avLst/>
          </a:prstGeom>
          <a:noFill/>
        </p:spPr>
        <p:txBody>
          <a:bodyPr wrap="none" rtlCol="0">
            <a:spAutoFit/>
          </a:bodyPr>
          <a:lstStyle/>
          <a:p>
            <a:r>
              <a:rPr lang="fr-BE" sz="1200" dirty="0">
                <a:latin typeface="Bahnschrift SemiLight" panose="020B0502040204020203" pitchFamily="34" charset="0"/>
              </a:rPr>
              <a:t>Source: </a:t>
            </a:r>
            <a:r>
              <a:rPr lang="fr-BE" sz="1200" dirty="0">
                <a:latin typeface="Bahnschrift SemiLight" panose="020B0502040204020203" pitchFamily="34" charset="0"/>
                <a:hlinkClick r:id="rId4"/>
              </a:rPr>
              <a:t>https://medium.com/</a:t>
            </a:r>
            <a:r>
              <a:rPr lang="fr-BE" sz="1200" dirty="0">
                <a:latin typeface="Bahnschrift SemiLight" panose="020B0502040204020203" pitchFamily="34" charset="0"/>
              </a:rPr>
              <a:t> </a:t>
            </a:r>
          </a:p>
        </p:txBody>
      </p:sp>
    </p:spTree>
    <p:extLst>
      <p:ext uri="{BB962C8B-B14F-4D97-AF65-F5344CB8AC3E}">
        <p14:creationId xmlns:p14="http://schemas.microsoft.com/office/powerpoint/2010/main" val="32672394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r-HR" dirty="0"/>
              <a:t>Definicije</a:t>
            </a:r>
            <a:endParaRPr lang="fr-BE" dirty="0"/>
          </a:p>
        </p:txBody>
      </p:sp>
      <p:pic>
        <p:nvPicPr>
          <p:cNvPr id="7" name="Content Placeholder 6"/>
          <p:cNvPicPr>
            <a:picLocks noGrp="1" noChangeAspect="1"/>
          </p:cNvPicPr>
          <p:nvPr>
            <p:ph sz="half" idx="1"/>
          </p:nvPr>
        </p:nvPicPr>
        <p:blipFill>
          <a:blip r:embed="rId3"/>
          <a:stretch>
            <a:fillRect/>
          </a:stretch>
        </p:blipFill>
        <p:spPr>
          <a:xfrm>
            <a:off x="505691" y="2316827"/>
            <a:ext cx="5181600" cy="3884871"/>
          </a:xfrm>
          <a:prstGeom prst="rect">
            <a:avLst/>
          </a:prstGeom>
        </p:spPr>
      </p:pic>
      <p:pic>
        <p:nvPicPr>
          <p:cNvPr id="8" name="Content Placeholder 7"/>
          <p:cNvPicPr>
            <a:picLocks noGrp="1" noChangeAspect="1"/>
          </p:cNvPicPr>
          <p:nvPr>
            <p:ph sz="half" idx="2"/>
          </p:nvPr>
        </p:nvPicPr>
        <p:blipFill>
          <a:blip r:embed="rId4"/>
          <a:stretch>
            <a:fillRect/>
          </a:stretch>
        </p:blipFill>
        <p:spPr>
          <a:xfrm>
            <a:off x="6172203" y="2230048"/>
            <a:ext cx="5181600" cy="4090179"/>
          </a:xfrm>
          <a:prstGeom prst="rect">
            <a:avLst/>
          </a:prstGeom>
        </p:spPr>
      </p:pic>
      <p:sp>
        <p:nvSpPr>
          <p:cNvPr id="3" name="Text Placeholder 2"/>
          <p:cNvSpPr>
            <a:spLocks noGrp="1"/>
          </p:cNvSpPr>
          <p:nvPr>
            <p:ph type="body" idx="4294967295"/>
          </p:nvPr>
        </p:nvSpPr>
        <p:spPr>
          <a:xfrm>
            <a:off x="346363" y="1452368"/>
            <a:ext cx="5181599" cy="1016000"/>
          </a:xfrm>
        </p:spPr>
        <p:txBody>
          <a:bodyPr anchor="ctr">
            <a:normAutofit/>
          </a:bodyPr>
          <a:lstStyle/>
          <a:p>
            <a:pPr marL="0" indent="0" algn="ctr">
              <a:lnSpc>
                <a:spcPts val="3200"/>
              </a:lnSpc>
              <a:buNone/>
            </a:pPr>
            <a:r>
              <a:rPr lang="fr-BE" sz="2400" b="1" dirty="0"/>
              <a:t>UX d</a:t>
            </a:r>
            <a:r>
              <a:rPr lang="hr-HR" sz="2400" b="1" dirty="0" err="1"/>
              <a:t>izajn</a:t>
            </a:r>
            <a:r>
              <a:rPr lang="fr-BE" sz="2400" b="1" dirty="0"/>
              <a:t>: </a:t>
            </a:r>
            <a:r>
              <a:rPr lang="hr-HR" sz="2400" dirty="0"/>
              <a:t>Dizajn korisničkog sustava</a:t>
            </a:r>
            <a:endParaRPr lang="fr-BE" sz="2400" i="1" dirty="0"/>
          </a:p>
        </p:txBody>
      </p:sp>
      <p:sp>
        <p:nvSpPr>
          <p:cNvPr id="5" name="Text Placeholder 4"/>
          <p:cNvSpPr>
            <a:spLocks noGrp="1"/>
          </p:cNvSpPr>
          <p:nvPr>
            <p:ph type="body" sz="quarter" idx="4294967295"/>
          </p:nvPr>
        </p:nvSpPr>
        <p:spPr>
          <a:xfrm>
            <a:off x="5992091" y="1690688"/>
            <a:ext cx="5033718" cy="822325"/>
          </a:xfrm>
        </p:spPr>
        <p:txBody>
          <a:bodyPr>
            <a:normAutofit/>
          </a:bodyPr>
          <a:lstStyle/>
          <a:p>
            <a:pPr marL="0" indent="0" algn="ctr">
              <a:lnSpc>
                <a:spcPct val="100000"/>
              </a:lnSpc>
              <a:buNone/>
            </a:pPr>
            <a:r>
              <a:rPr lang="fr-BE" sz="2400" b="1" dirty="0"/>
              <a:t>UI d</a:t>
            </a:r>
            <a:r>
              <a:rPr lang="hr-HR" sz="2400" b="1" dirty="0" err="1"/>
              <a:t>izajn</a:t>
            </a:r>
            <a:r>
              <a:rPr lang="fr-BE" sz="2400" b="1" dirty="0"/>
              <a:t>:</a:t>
            </a:r>
            <a:r>
              <a:rPr lang="fr-BE" sz="2400" dirty="0"/>
              <a:t> </a:t>
            </a:r>
            <a:r>
              <a:rPr lang="hr-HR" sz="2400" dirty="0"/>
              <a:t>Dizajn korisničkog sučelja</a:t>
            </a:r>
            <a:endParaRPr lang="fr-BE" dirty="0"/>
          </a:p>
        </p:txBody>
      </p:sp>
      <p:sp>
        <p:nvSpPr>
          <p:cNvPr id="6" name="TextBox 5">
            <a:extLst>
              <a:ext uri="{FF2B5EF4-FFF2-40B4-BE49-F238E27FC236}">
                <a16:creationId xmlns:a16="http://schemas.microsoft.com/office/drawing/2014/main" id="{7914C5D7-8061-F980-151C-9CA1A6631626}"/>
              </a:ext>
            </a:extLst>
          </p:cNvPr>
          <p:cNvSpPr txBox="1"/>
          <p:nvPr/>
        </p:nvSpPr>
        <p:spPr>
          <a:xfrm>
            <a:off x="4232563" y="6492875"/>
            <a:ext cx="4311361" cy="276999"/>
          </a:xfrm>
          <a:prstGeom prst="rect">
            <a:avLst/>
          </a:prstGeom>
          <a:noFill/>
        </p:spPr>
        <p:txBody>
          <a:bodyPr wrap="square">
            <a:spAutoFit/>
          </a:bodyPr>
          <a:lstStyle/>
          <a:p>
            <a:r>
              <a:rPr lang="fr-BE" sz="1200" dirty="0">
                <a:latin typeface="Bahnschrift SemiLight" panose="020B0502040204020203" pitchFamily="34" charset="0"/>
              </a:rPr>
              <a:t>Source: </a:t>
            </a:r>
            <a:r>
              <a:rPr lang="fr-BE" sz="1200" dirty="0">
                <a:latin typeface="Bahnschrift SemiLight" panose="020B0502040204020203" pitchFamily="34" charset="0"/>
                <a:hlinkClick r:id="rId5"/>
              </a:rPr>
              <a:t>https://anmadesign.com/differences-entre-ui-ux/</a:t>
            </a:r>
            <a:r>
              <a:rPr lang="fr-BE" sz="1200" dirty="0">
                <a:latin typeface="Bahnschrift SemiLight" panose="020B0502040204020203" pitchFamily="34" charset="0"/>
              </a:rPr>
              <a:t> </a:t>
            </a:r>
          </a:p>
        </p:txBody>
      </p:sp>
    </p:spTree>
    <p:extLst>
      <p:ext uri="{BB962C8B-B14F-4D97-AF65-F5344CB8AC3E}">
        <p14:creationId xmlns:p14="http://schemas.microsoft.com/office/powerpoint/2010/main" val="25040538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6731E6-F359-EDB5-4D75-884011BF741C}"/>
              </a:ext>
            </a:extLst>
          </p:cNvPr>
          <p:cNvSpPr>
            <a:spLocks noGrp="1"/>
          </p:cNvSpPr>
          <p:nvPr>
            <p:ph type="title"/>
          </p:nvPr>
        </p:nvSpPr>
        <p:spPr/>
        <p:txBody>
          <a:bodyPr anchor="ctr">
            <a:normAutofit/>
          </a:bodyPr>
          <a:lstStyle/>
          <a:p>
            <a:r>
              <a:rPr lang="hr-HR" dirty="0"/>
              <a:t>Prednosti</a:t>
            </a:r>
            <a:r>
              <a:rPr lang="en-US" dirty="0"/>
              <a:t> UI/UX d</a:t>
            </a:r>
            <a:r>
              <a:rPr lang="hr-HR" dirty="0" err="1"/>
              <a:t>izajna</a:t>
            </a:r>
            <a:endParaRPr lang="fr-BE" dirty="0"/>
          </a:p>
        </p:txBody>
      </p:sp>
      <p:graphicFrame>
        <p:nvGraphicFramePr>
          <p:cNvPr id="7" name="Content Placeholder 2">
            <a:extLst>
              <a:ext uri="{FF2B5EF4-FFF2-40B4-BE49-F238E27FC236}">
                <a16:creationId xmlns:a16="http://schemas.microsoft.com/office/drawing/2014/main" id="{0AFF4D96-1BEA-93A8-6F0E-EB19F92E4408}"/>
              </a:ext>
            </a:extLst>
          </p:cNvPr>
          <p:cNvGraphicFramePr>
            <a:graphicFrameLocks noGrp="1"/>
          </p:cNvGraphicFramePr>
          <p:nvPr>
            <p:ph idx="1"/>
            <p:extLst>
              <p:ext uri="{D42A27DB-BD31-4B8C-83A1-F6EECF244321}">
                <p14:modId xmlns:p14="http://schemas.microsoft.com/office/powerpoint/2010/main" val="3958498785"/>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8233875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B2E76B-1D55-806B-50F5-BA4BB73DABF1}"/>
              </a:ext>
            </a:extLst>
          </p:cNvPr>
          <p:cNvSpPr>
            <a:spLocks noGrp="1"/>
          </p:cNvSpPr>
          <p:nvPr>
            <p:ph type="title"/>
          </p:nvPr>
        </p:nvSpPr>
        <p:spPr/>
        <p:txBody>
          <a:bodyPr/>
          <a:lstStyle/>
          <a:p>
            <a:r>
              <a:rPr lang="en-US" dirty="0"/>
              <a:t>UI vs UX DESIGN </a:t>
            </a:r>
            <a:endParaRPr lang="fr-BE" dirty="0"/>
          </a:p>
        </p:txBody>
      </p:sp>
      <p:sp>
        <p:nvSpPr>
          <p:cNvPr id="3" name="Content Placeholder 2">
            <a:extLst>
              <a:ext uri="{FF2B5EF4-FFF2-40B4-BE49-F238E27FC236}">
                <a16:creationId xmlns:a16="http://schemas.microsoft.com/office/drawing/2014/main" id="{62A3875D-B979-6C59-D259-EF5857B676EA}"/>
              </a:ext>
            </a:extLst>
          </p:cNvPr>
          <p:cNvSpPr>
            <a:spLocks noGrp="1"/>
          </p:cNvSpPr>
          <p:nvPr>
            <p:ph idx="1"/>
          </p:nvPr>
        </p:nvSpPr>
        <p:spPr/>
        <p:txBody>
          <a:bodyPr/>
          <a:lstStyle/>
          <a:p>
            <a:r>
              <a:rPr lang="hr-HR" sz="2800" dirty="0"/>
              <a:t>Ključne </a:t>
            </a:r>
            <a:r>
              <a:rPr lang="hr-HR" sz="2800" dirty="0">
                <a:solidFill>
                  <a:srgbClr val="163E64"/>
                </a:solidFill>
              </a:rPr>
              <a:t>razlike</a:t>
            </a:r>
            <a:endParaRPr lang="fr-BE" dirty="0">
              <a:solidFill>
                <a:srgbClr val="163E64"/>
              </a:solidFill>
            </a:endParaRPr>
          </a:p>
        </p:txBody>
      </p:sp>
      <p:pic>
        <p:nvPicPr>
          <p:cNvPr id="18" name="Picture 17">
            <a:extLst>
              <a:ext uri="{FF2B5EF4-FFF2-40B4-BE49-F238E27FC236}">
                <a16:creationId xmlns:a16="http://schemas.microsoft.com/office/drawing/2014/main" id="{ED54C903-C1B3-4C25-DD73-5B26CBDDDBE9}"/>
              </a:ext>
            </a:extLst>
          </p:cNvPr>
          <p:cNvPicPr>
            <a:picLocks noChangeAspect="1"/>
          </p:cNvPicPr>
          <p:nvPr/>
        </p:nvPicPr>
        <p:blipFill>
          <a:blip r:embed="rId3"/>
          <a:stretch>
            <a:fillRect/>
          </a:stretch>
        </p:blipFill>
        <p:spPr>
          <a:xfrm>
            <a:off x="3033927" y="2432263"/>
            <a:ext cx="6124145" cy="3744700"/>
          </a:xfrm>
          <a:prstGeom prst="rect">
            <a:avLst/>
          </a:prstGeom>
        </p:spPr>
      </p:pic>
      <p:sp>
        <p:nvSpPr>
          <p:cNvPr id="4" name="TekstniOkvir 3">
            <a:extLst>
              <a:ext uri="{FF2B5EF4-FFF2-40B4-BE49-F238E27FC236}">
                <a16:creationId xmlns:a16="http://schemas.microsoft.com/office/drawing/2014/main" id="{3B4A03D4-6236-051A-4389-581A25559BE8}"/>
              </a:ext>
            </a:extLst>
          </p:cNvPr>
          <p:cNvSpPr txBox="1"/>
          <p:nvPr/>
        </p:nvSpPr>
        <p:spPr>
          <a:xfrm>
            <a:off x="3472069" y="3222689"/>
            <a:ext cx="1682135" cy="2123658"/>
          </a:xfrm>
          <a:prstGeom prst="rect">
            <a:avLst/>
          </a:prstGeom>
          <a:solidFill>
            <a:srgbClr val="78206E"/>
          </a:solidFill>
        </p:spPr>
        <p:txBody>
          <a:bodyPr wrap="square" rtlCol="0">
            <a:spAutoFit/>
          </a:bodyPr>
          <a:lstStyle/>
          <a:p>
            <a:r>
              <a:rPr lang="hr-HR" sz="1200" dirty="0">
                <a:solidFill>
                  <a:schemeClr val="bg1"/>
                </a:solidFill>
              </a:rPr>
              <a:t>UX</a:t>
            </a:r>
          </a:p>
          <a:p>
            <a:r>
              <a:rPr lang="hr-HR" sz="1200" dirty="0">
                <a:solidFill>
                  <a:schemeClr val="bg1"/>
                </a:solidFill>
              </a:rPr>
              <a:t>Istraživanje tržišta</a:t>
            </a:r>
          </a:p>
          <a:p>
            <a:r>
              <a:rPr lang="hr-HR" sz="1200" dirty="0">
                <a:solidFill>
                  <a:schemeClr val="bg1"/>
                </a:solidFill>
              </a:rPr>
              <a:t>Istraživanje korisnika</a:t>
            </a:r>
          </a:p>
          <a:p>
            <a:r>
              <a:rPr lang="hr-HR" sz="1200" dirty="0">
                <a:solidFill>
                  <a:schemeClr val="bg1"/>
                </a:solidFill>
              </a:rPr>
              <a:t>Izrada persona</a:t>
            </a:r>
          </a:p>
          <a:p>
            <a:r>
              <a:rPr lang="hr-HR" sz="1200" dirty="0">
                <a:solidFill>
                  <a:schemeClr val="bg1"/>
                </a:solidFill>
              </a:rPr>
              <a:t>IA (informacijska </a:t>
            </a:r>
          </a:p>
          <a:p>
            <a:r>
              <a:rPr lang="hr-HR" sz="1200" dirty="0">
                <a:solidFill>
                  <a:schemeClr val="bg1"/>
                </a:solidFill>
              </a:rPr>
              <a:t>arhitektura)</a:t>
            </a:r>
          </a:p>
          <a:p>
            <a:r>
              <a:rPr lang="hr-HR" sz="1200" dirty="0">
                <a:solidFill>
                  <a:schemeClr val="bg1"/>
                </a:solidFill>
              </a:rPr>
              <a:t>Empatija</a:t>
            </a:r>
          </a:p>
          <a:p>
            <a:r>
              <a:rPr lang="hr-HR" sz="1200" dirty="0">
                <a:solidFill>
                  <a:schemeClr val="bg1"/>
                </a:solidFill>
              </a:rPr>
              <a:t>Mapiranje</a:t>
            </a:r>
          </a:p>
          <a:p>
            <a:r>
              <a:rPr lang="hr-HR" sz="1200" dirty="0">
                <a:solidFill>
                  <a:schemeClr val="bg1"/>
                </a:solidFill>
              </a:rPr>
              <a:t>Definiranje korisničkog </a:t>
            </a:r>
          </a:p>
          <a:p>
            <a:r>
              <a:rPr lang="hr-HR" sz="1200" dirty="0">
                <a:solidFill>
                  <a:schemeClr val="bg1"/>
                </a:solidFill>
              </a:rPr>
              <a:t>putovanja</a:t>
            </a:r>
          </a:p>
          <a:p>
            <a:r>
              <a:rPr lang="hr-HR" sz="1200" dirty="0">
                <a:solidFill>
                  <a:schemeClr val="bg1"/>
                </a:solidFill>
              </a:rPr>
              <a:t>Funkcionalnost</a:t>
            </a:r>
          </a:p>
        </p:txBody>
      </p:sp>
      <p:sp>
        <p:nvSpPr>
          <p:cNvPr id="5" name="Elipsa 4">
            <a:extLst>
              <a:ext uri="{FF2B5EF4-FFF2-40B4-BE49-F238E27FC236}">
                <a16:creationId xmlns:a16="http://schemas.microsoft.com/office/drawing/2014/main" id="{ABB79CD9-F6EE-4376-9067-2ED4D2B05371}"/>
              </a:ext>
            </a:extLst>
          </p:cNvPr>
          <p:cNvSpPr/>
          <p:nvPr/>
        </p:nvSpPr>
        <p:spPr>
          <a:xfrm>
            <a:off x="3220278" y="4797287"/>
            <a:ext cx="251792" cy="304800"/>
          </a:xfrm>
          <a:prstGeom prst="ellipse">
            <a:avLst/>
          </a:prstGeom>
          <a:solidFill>
            <a:srgbClr val="78206E"/>
          </a:solidFill>
          <a:ln>
            <a:solidFill>
              <a:srgbClr val="78206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6" name="TekstniOkvir 5">
            <a:extLst>
              <a:ext uri="{FF2B5EF4-FFF2-40B4-BE49-F238E27FC236}">
                <a16:creationId xmlns:a16="http://schemas.microsoft.com/office/drawing/2014/main" id="{90968E34-614D-82F1-2CDF-15F2374D7695}"/>
              </a:ext>
            </a:extLst>
          </p:cNvPr>
          <p:cNvSpPr txBox="1"/>
          <p:nvPr/>
        </p:nvSpPr>
        <p:spPr>
          <a:xfrm>
            <a:off x="5387007" y="3444663"/>
            <a:ext cx="1417983" cy="1754326"/>
          </a:xfrm>
          <a:prstGeom prst="rect">
            <a:avLst/>
          </a:prstGeom>
          <a:solidFill>
            <a:srgbClr val="163E64"/>
          </a:solidFill>
          <a:ln>
            <a:solidFill>
              <a:srgbClr val="163E64"/>
            </a:solidFill>
          </a:ln>
        </p:spPr>
        <p:txBody>
          <a:bodyPr wrap="square" rtlCol="0">
            <a:spAutoFit/>
          </a:bodyPr>
          <a:lstStyle/>
          <a:p>
            <a:pPr algn="ctr"/>
            <a:r>
              <a:rPr lang="hr-HR" sz="1200" dirty="0">
                <a:solidFill>
                  <a:srgbClr val="FFFFFF"/>
                </a:solidFill>
              </a:rPr>
              <a:t>Suradnja</a:t>
            </a:r>
          </a:p>
          <a:p>
            <a:pPr algn="ctr"/>
            <a:r>
              <a:rPr lang="hr-HR" sz="1200" dirty="0">
                <a:solidFill>
                  <a:srgbClr val="FFFFFF"/>
                </a:solidFill>
              </a:rPr>
              <a:t>Dizajnersko </a:t>
            </a:r>
          </a:p>
          <a:p>
            <a:pPr algn="ctr"/>
            <a:r>
              <a:rPr lang="hr-HR" sz="1200" dirty="0">
                <a:solidFill>
                  <a:srgbClr val="FFFFFF"/>
                </a:solidFill>
              </a:rPr>
              <a:t>Razmišljanje</a:t>
            </a:r>
          </a:p>
          <a:p>
            <a:pPr algn="ctr"/>
            <a:r>
              <a:rPr lang="hr-HR" sz="1200" dirty="0" err="1">
                <a:solidFill>
                  <a:srgbClr val="FFFFFF"/>
                </a:solidFill>
              </a:rPr>
              <a:t>Wireframing</a:t>
            </a:r>
            <a:endParaRPr lang="hr-HR" sz="1200" dirty="0">
              <a:solidFill>
                <a:srgbClr val="FFFFFF"/>
              </a:solidFill>
            </a:endParaRPr>
          </a:p>
          <a:p>
            <a:pPr algn="ctr"/>
            <a:r>
              <a:rPr lang="hr-HR" sz="1200" dirty="0" err="1">
                <a:solidFill>
                  <a:srgbClr val="FFFFFF"/>
                </a:solidFill>
              </a:rPr>
              <a:t>Prototipiranje</a:t>
            </a:r>
            <a:endParaRPr lang="hr-HR" sz="1200" dirty="0">
              <a:solidFill>
                <a:srgbClr val="FFFFFF"/>
              </a:solidFill>
            </a:endParaRPr>
          </a:p>
          <a:p>
            <a:pPr algn="ctr"/>
            <a:r>
              <a:rPr lang="hr-HR" sz="1200" dirty="0">
                <a:solidFill>
                  <a:srgbClr val="FFFFFF"/>
                </a:solidFill>
              </a:rPr>
              <a:t>Iteracije</a:t>
            </a:r>
          </a:p>
          <a:p>
            <a:pPr algn="ctr"/>
            <a:r>
              <a:rPr lang="hr-HR" sz="1200" dirty="0">
                <a:solidFill>
                  <a:srgbClr val="FFFFFF"/>
                </a:solidFill>
              </a:rPr>
              <a:t>Testiranje</a:t>
            </a:r>
          </a:p>
          <a:p>
            <a:pPr algn="ctr"/>
            <a:r>
              <a:rPr lang="hr-HR" sz="1200" dirty="0">
                <a:solidFill>
                  <a:srgbClr val="FFFFFF"/>
                </a:solidFill>
              </a:rPr>
              <a:t>Istraživanje </a:t>
            </a:r>
          </a:p>
          <a:p>
            <a:pPr algn="ctr"/>
            <a:r>
              <a:rPr lang="hr-HR" sz="1200" dirty="0">
                <a:solidFill>
                  <a:srgbClr val="FFFFFF"/>
                </a:solidFill>
              </a:rPr>
              <a:t>korisnika</a:t>
            </a:r>
          </a:p>
        </p:txBody>
      </p:sp>
      <p:sp>
        <p:nvSpPr>
          <p:cNvPr id="7" name="TekstniOkvir 6">
            <a:extLst>
              <a:ext uri="{FF2B5EF4-FFF2-40B4-BE49-F238E27FC236}">
                <a16:creationId xmlns:a16="http://schemas.microsoft.com/office/drawing/2014/main" id="{455C8078-50F8-5E05-7F57-BA205BEA760A}"/>
              </a:ext>
            </a:extLst>
          </p:cNvPr>
          <p:cNvSpPr txBox="1"/>
          <p:nvPr/>
        </p:nvSpPr>
        <p:spPr>
          <a:xfrm>
            <a:off x="7037793" y="3222689"/>
            <a:ext cx="1578189" cy="2369880"/>
          </a:xfrm>
          <a:prstGeom prst="rect">
            <a:avLst/>
          </a:prstGeom>
          <a:solidFill>
            <a:srgbClr val="FFC000"/>
          </a:solidFill>
        </p:spPr>
        <p:txBody>
          <a:bodyPr wrap="none" rtlCol="0">
            <a:spAutoFit/>
          </a:bodyPr>
          <a:lstStyle/>
          <a:p>
            <a:r>
              <a:rPr lang="hr-HR" sz="1200" dirty="0"/>
              <a:t>UI</a:t>
            </a:r>
          </a:p>
          <a:p>
            <a:r>
              <a:rPr lang="hr-HR" sz="1200" dirty="0"/>
              <a:t>Boja</a:t>
            </a:r>
          </a:p>
          <a:p>
            <a:r>
              <a:rPr lang="hr-HR" sz="1200" dirty="0"/>
              <a:t>Vizualni dizajn</a:t>
            </a:r>
          </a:p>
          <a:p>
            <a:r>
              <a:rPr lang="hr-HR" sz="1200" dirty="0"/>
              <a:t>Tipografija</a:t>
            </a:r>
          </a:p>
          <a:p>
            <a:r>
              <a:rPr lang="hr-HR" sz="1200" dirty="0"/>
              <a:t>Sustav dizajna</a:t>
            </a:r>
          </a:p>
          <a:p>
            <a:r>
              <a:rPr lang="hr-HR" sz="1200" dirty="0"/>
              <a:t>Dizajn sučelja</a:t>
            </a:r>
          </a:p>
          <a:p>
            <a:r>
              <a:rPr lang="hr-HR" sz="1200" dirty="0" err="1"/>
              <a:t>Brendiranje</a:t>
            </a:r>
            <a:endParaRPr lang="hr-HR" sz="1200" dirty="0"/>
          </a:p>
          <a:p>
            <a:r>
              <a:rPr lang="hr-HR" sz="1200" dirty="0"/>
              <a:t>Raspored</a:t>
            </a:r>
          </a:p>
          <a:p>
            <a:r>
              <a:rPr lang="hr-HR" sz="1200" dirty="0"/>
              <a:t>Animacije</a:t>
            </a:r>
          </a:p>
          <a:p>
            <a:r>
              <a:rPr lang="hr-HR" sz="1200" dirty="0"/>
              <a:t>Visoka razina vjernosti</a:t>
            </a:r>
          </a:p>
          <a:p>
            <a:endParaRPr lang="hr-HR" sz="1400" dirty="0"/>
          </a:p>
          <a:p>
            <a:endParaRPr lang="hr-HR" sz="1400" dirty="0"/>
          </a:p>
        </p:txBody>
      </p:sp>
    </p:spTree>
    <p:extLst>
      <p:ext uri="{BB962C8B-B14F-4D97-AF65-F5344CB8AC3E}">
        <p14:creationId xmlns:p14="http://schemas.microsoft.com/office/powerpoint/2010/main" val="24438496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4FFCE0-6651-3CB4-158A-1835EE4F24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B10982-E07F-D8DA-2F9C-4B85979AB6EB}"/>
              </a:ext>
            </a:extLst>
          </p:cNvPr>
          <p:cNvSpPr>
            <a:spLocks noGrp="1"/>
          </p:cNvSpPr>
          <p:nvPr>
            <p:ph type="title"/>
          </p:nvPr>
        </p:nvSpPr>
        <p:spPr/>
        <p:txBody>
          <a:bodyPr/>
          <a:lstStyle/>
          <a:p>
            <a:r>
              <a:rPr lang="en-US" dirty="0"/>
              <a:t>UI vs UX DESIGN</a:t>
            </a:r>
            <a:endParaRPr lang="fr-BE" dirty="0"/>
          </a:p>
        </p:txBody>
      </p:sp>
      <p:sp>
        <p:nvSpPr>
          <p:cNvPr id="3" name="Content Placeholder 2">
            <a:extLst>
              <a:ext uri="{FF2B5EF4-FFF2-40B4-BE49-F238E27FC236}">
                <a16:creationId xmlns:a16="http://schemas.microsoft.com/office/drawing/2014/main" id="{D9BDD1F9-97B7-6FE5-4220-6A1F9323BF63}"/>
              </a:ext>
            </a:extLst>
          </p:cNvPr>
          <p:cNvSpPr>
            <a:spLocks noGrp="1"/>
          </p:cNvSpPr>
          <p:nvPr>
            <p:ph idx="1"/>
          </p:nvPr>
        </p:nvSpPr>
        <p:spPr/>
        <p:txBody>
          <a:bodyPr/>
          <a:lstStyle/>
          <a:p>
            <a:r>
              <a:rPr lang="hr-HR" dirty="0"/>
              <a:t>Opis posla</a:t>
            </a:r>
            <a:endParaRPr lang="fr-BE" dirty="0"/>
          </a:p>
        </p:txBody>
      </p:sp>
      <p:pic>
        <p:nvPicPr>
          <p:cNvPr id="5" name="Content Placeholder 3">
            <a:extLst>
              <a:ext uri="{FF2B5EF4-FFF2-40B4-BE49-F238E27FC236}">
                <a16:creationId xmlns:a16="http://schemas.microsoft.com/office/drawing/2014/main" id="{9CA8305D-B01B-4F6C-58BF-0149BD27DB5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372495" y="1690688"/>
            <a:ext cx="6257621" cy="5042600"/>
          </a:xfrm>
          <a:prstGeom prst="rect">
            <a:avLst/>
          </a:prstGeom>
        </p:spPr>
      </p:pic>
    </p:spTree>
    <p:extLst>
      <p:ext uri="{BB962C8B-B14F-4D97-AF65-F5344CB8AC3E}">
        <p14:creationId xmlns:p14="http://schemas.microsoft.com/office/powerpoint/2010/main" val="27807816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1" name="Title 1">
            <a:extLst>
              <a:ext uri="{FF2B5EF4-FFF2-40B4-BE49-F238E27FC236}">
                <a16:creationId xmlns:a16="http://schemas.microsoft.com/office/drawing/2014/main" id="{2CEC484B-5072-574D-B825-7E1924E84AA0}"/>
              </a:ext>
            </a:extLst>
          </p:cNvPr>
          <p:cNvSpPr>
            <a:spLocks noGrp="1"/>
          </p:cNvSpPr>
          <p:nvPr>
            <p:ph type="title"/>
          </p:nvPr>
        </p:nvSpPr>
        <p:spPr>
          <a:xfrm>
            <a:off x="838200" y="365125"/>
            <a:ext cx="10515600" cy="1325563"/>
          </a:xfrm>
        </p:spPr>
        <p:txBody>
          <a:bodyPr/>
          <a:lstStyle/>
          <a:p>
            <a:r>
              <a:rPr lang="en-US" b="1" i="0" dirty="0">
                <a:solidFill>
                  <a:srgbClr val="242424"/>
                </a:solidFill>
                <a:effectLst/>
                <a:latin typeface="sohne"/>
              </a:rPr>
              <a:t>5 </a:t>
            </a:r>
            <a:r>
              <a:rPr lang="hr-HR" b="1" i="0" dirty="0">
                <a:solidFill>
                  <a:srgbClr val="242424"/>
                </a:solidFill>
                <a:effectLst/>
                <a:latin typeface="sohne"/>
              </a:rPr>
              <a:t>razina korisničkog iskustva</a:t>
            </a:r>
            <a:endParaRPr lang="en-US" dirty="0"/>
          </a:p>
        </p:txBody>
      </p:sp>
      <p:sp>
        <p:nvSpPr>
          <p:cNvPr id="2062" name="Content Placeholder 2">
            <a:extLst>
              <a:ext uri="{FF2B5EF4-FFF2-40B4-BE49-F238E27FC236}">
                <a16:creationId xmlns:a16="http://schemas.microsoft.com/office/drawing/2014/main" id="{861ACE4F-9C9B-63E7-CA5C-20C5C12EA5C4}"/>
              </a:ext>
            </a:extLst>
          </p:cNvPr>
          <p:cNvSpPr>
            <a:spLocks noGrp="1"/>
          </p:cNvSpPr>
          <p:nvPr>
            <p:ph sz="half" idx="1"/>
          </p:nvPr>
        </p:nvSpPr>
        <p:spPr>
          <a:xfrm>
            <a:off x="838200" y="1825625"/>
            <a:ext cx="5181600" cy="4351338"/>
          </a:xfrm>
        </p:spPr>
        <p:txBody>
          <a:bodyPr>
            <a:normAutofit fontScale="92500"/>
          </a:bodyPr>
          <a:lstStyle/>
          <a:p>
            <a:pPr algn="l">
              <a:lnSpc>
                <a:spcPts val="3900"/>
              </a:lnSpc>
              <a:spcAft>
                <a:spcPts val="2400"/>
              </a:spcAft>
            </a:pPr>
            <a:r>
              <a:rPr lang="hr-HR" dirty="0"/>
              <a:t>Dizajnirao </a:t>
            </a:r>
            <a:r>
              <a:rPr lang="en-US" dirty="0"/>
              <a:t>James Garrett</a:t>
            </a:r>
          </a:p>
          <a:p>
            <a:r>
              <a:rPr lang="hr-HR" dirty="0"/>
              <a:t>Pet razina pomaže u raščlanjivanju procesa rada na UX-u, omogućujući postupni dizajnerski proces — od osnova prema detaljima. Ova metoda pomaže u stvaranju kvalitetnog proizvoda koji ispunjava sve zahtjeve korisnika i poslovanja.</a:t>
            </a:r>
            <a:endParaRPr lang="en-US" dirty="0"/>
          </a:p>
        </p:txBody>
      </p:sp>
      <p:pic>
        <p:nvPicPr>
          <p:cNvPr id="2054" name="Picture 6" descr="A diagram of the 5 elements of user experience shown as an iceberg with 5 layers and a kraken to resemble unknown considerations.">
            <a:extLst>
              <a:ext uri="{FF2B5EF4-FFF2-40B4-BE49-F238E27FC236}">
                <a16:creationId xmlns:a16="http://schemas.microsoft.com/office/drawing/2014/main" id="{7E643BED-EF3B-C02C-39EE-12CD42D9676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9329" b="11951"/>
          <a:stretch/>
        </p:blipFill>
        <p:spPr bwMode="auto">
          <a:xfrm>
            <a:off x="6969482" y="1690687"/>
            <a:ext cx="4100300" cy="5009293"/>
          </a:xfrm>
          <a:prstGeom prst="rect">
            <a:avLst/>
          </a:prstGeom>
          <a:solidFill>
            <a:srgbClr val="FFFFFF"/>
          </a:solidFill>
        </p:spPr>
      </p:pic>
      <p:sp>
        <p:nvSpPr>
          <p:cNvPr id="2" name="TextBox 1">
            <a:extLst>
              <a:ext uri="{FF2B5EF4-FFF2-40B4-BE49-F238E27FC236}">
                <a16:creationId xmlns:a16="http://schemas.microsoft.com/office/drawing/2014/main" id="{3AB74E52-F291-FB5C-12BB-DF7A66E32B47}"/>
              </a:ext>
            </a:extLst>
          </p:cNvPr>
          <p:cNvSpPr txBox="1"/>
          <p:nvPr/>
        </p:nvSpPr>
        <p:spPr>
          <a:xfrm>
            <a:off x="8935980" y="6492875"/>
            <a:ext cx="3256020" cy="276999"/>
          </a:xfrm>
          <a:prstGeom prst="rect">
            <a:avLst/>
          </a:prstGeom>
          <a:noFill/>
        </p:spPr>
        <p:txBody>
          <a:bodyPr wrap="none" rtlCol="0">
            <a:spAutoFit/>
          </a:bodyPr>
          <a:lstStyle/>
          <a:p>
            <a:r>
              <a:rPr lang="fr-BE" sz="1200" dirty="0">
                <a:latin typeface="Bahnschrift SemiLight" panose="020B0502040204020203" pitchFamily="34" charset="0"/>
              </a:rPr>
              <a:t>Source: </a:t>
            </a:r>
            <a:r>
              <a:rPr lang="fr-BE" sz="1200" dirty="0">
                <a:latin typeface="Bahnschrift SemiLight" panose="020B0502040204020203" pitchFamily="34" charset="0"/>
                <a:hlinkClick r:id="rId4"/>
              </a:rPr>
              <a:t>https://www.interaction-design.org/</a:t>
            </a:r>
            <a:r>
              <a:rPr lang="fr-BE" sz="1200" dirty="0">
                <a:latin typeface="Bahnschrift SemiLight" panose="020B0502040204020203" pitchFamily="34" charset="0"/>
              </a:rPr>
              <a:t> </a:t>
            </a:r>
          </a:p>
        </p:txBody>
      </p:sp>
    </p:spTree>
    <p:extLst>
      <p:ext uri="{BB962C8B-B14F-4D97-AF65-F5344CB8AC3E}">
        <p14:creationId xmlns:p14="http://schemas.microsoft.com/office/powerpoint/2010/main" val="19204534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09E27-4669-161D-5E91-57D159D67A5B}"/>
              </a:ext>
            </a:extLst>
          </p:cNvPr>
          <p:cNvSpPr>
            <a:spLocks noGrp="1"/>
          </p:cNvSpPr>
          <p:nvPr>
            <p:ph type="title"/>
          </p:nvPr>
        </p:nvSpPr>
        <p:spPr/>
        <p:txBody>
          <a:bodyPr/>
          <a:lstStyle/>
          <a:p>
            <a:r>
              <a:rPr lang="fr-FR" dirty="0"/>
              <a:t>UX </a:t>
            </a:r>
            <a:r>
              <a:rPr lang="fr-FR" dirty="0" err="1"/>
              <a:t>proces</a:t>
            </a:r>
            <a:endParaRPr lang="fr-BE" dirty="0"/>
          </a:p>
        </p:txBody>
      </p:sp>
      <p:pic>
        <p:nvPicPr>
          <p:cNvPr id="1026" name="Picture 2">
            <a:extLst>
              <a:ext uri="{FF2B5EF4-FFF2-40B4-BE49-F238E27FC236}">
                <a16:creationId xmlns:a16="http://schemas.microsoft.com/office/drawing/2014/main" id="{40446C0B-8755-F9CD-B5F3-77ECA41F482B}"/>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357938" y="1825625"/>
            <a:ext cx="7476124" cy="435133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9E339D7C-1693-4BD6-031F-45807ED79F4A}"/>
              </a:ext>
            </a:extLst>
          </p:cNvPr>
          <p:cNvSpPr txBox="1"/>
          <p:nvPr/>
        </p:nvSpPr>
        <p:spPr>
          <a:xfrm>
            <a:off x="9436077" y="6492875"/>
            <a:ext cx="2347117" cy="276999"/>
          </a:xfrm>
          <a:prstGeom prst="rect">
            <a:avLst/>
          </a:prstGeom>
          <a:noFill/>
        </p:spPr>
        <p:txBody>
          <a:bodyPr wrap="none" rtlCol="0">
            <a:spAutoFit/>
          </a:bodyPr>
          <a:lstStyle/>
          <a:p>
            <a:r>
              <a:rPr lang="fr-BE" sz="1200" dirty="0">
                <a:latin typeface="Bahnschrift SemiLight" panose="020B0502040204020203" pitchFamily="34" charset="0"/>
              </a:rPr>
              <a:t>Source: </a:t>
            </a:r>
            <a:r>
              <a:rPr lang="fr-BE" sz="1200" dirty="0">
                <a:latin typeface="Bahnschrift SemiLight" panose="020B0502040204020203" pitchFamily="34" charset="0"/>
                <a:hlinkClick r:id="rId4"/>
              </a:rPr>
              <a:t>https://uxmastery.com/</a:t>
            </a:r>
            <a:endParaRPr lang="fr-BE" sz="1200" dirty="0">
              <a:latin typeface="Bahnschrift SemiLight" panose="020B0502040204020203" pitchFamily="34" charset="0"/>
            </a:endParaRPr>
          </a:p>
        </p:txBody>
      </p:sp>
    </p:spTree>
    <p:extLst>
      <p:ext uri="{BB962C8B-B14F-4D97-AF65-F5344CB8AC3E}">
        <p14:creationId xmlns:p14="http://schemas.microsoft.com/office/powerpoint/2010/main" val="13370821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0CE4B6-89C0-5873-6AF4-250C6414CA1D}"/>
              </a:ext>
            </a:extLst>
          </p:cNvPr>
          <p:cNvSpPr>
            <a:spLocks noGrp="1"/>
          </p:cNvSpPr>
          <p:nvPr>
            <p:ph type="title"/>
          </p:nvPr>
        </p:nvSpPr>
        <p:spPr>
          <a:xfrm>
            <a:off x="838200" y="365125"/>
            <a:ext cx="10515600" cy="1325563"/>
          </a:xfrm>
        </p:spPr>
        <p:txBody>
          <a:bodyPr anchor="ctr">
            <a:normAutofit/>
          </a:bodyPr>
          <a:lstStyle/>
          <a:p>
            <a:r>
              <a:rPr lang="hr-HR" dirty="0"/>
              <a:t>Uvod u projekt</a:t>
            </a:r>
            <a:endParaRPr lang="fr-BE" dirty="0"/>
          </a:p>
        </p:txBody>
      </p:sp>
      <p:sp>
        <p:nvSpPr>
          <p:cNvPr id="4" name="Content Placeholder 3">
            <a:extLst>
              <a:ext uri="{FF2B5EF4-FFF2-40B4-BE49-F238E27FC236}">
                <a16:creationId xmlns:a16="http://schemas.microsoft.com/office/drawing/2014/main" id="{11E703A7-B0FB-D112-F985-5120953D91A7}"/>
              </a:ext>
            </a:extLst>
          </p:cNvPr>
          <p:cNvSpPr>
            <a:spLocks noGrp="1"/>
          </p:cNvSpPr>
          <p:nvPr>
            <p:ph sz="half" idx="1"/>
          </p:nvPr>
        </p:nvSpPr>
        <p:spPr>
          <a:xfrm>
            <a:off x="838200" y="1825625"/>
            <a:ext cx="5181600" cy="4351338"/>
          </a:xfrm>
        </p:spPr>
        <p:txBody>
          <a:bodyPr>
            <a:normAutofit fontScale="92500" lnSpcReduction="10000"/>
          </a:bodyPr>
          <a:lstStyle/>
          <a:p>
            <a:pPr marL="0" indent="0">
              <a:buNone/>
            </a:pPr>
            <a:r>
              <a:rPr lang="hr-HR" dirty="0" err="1"/>
              <a:t>CraftEase</a:t>
            </a:r>
            <a:r>
              <a:rPr lang="hr-HR" dirty="0"/>
              <a:t> / </a:t>
            </a:r>
            <a:r>
              <a:rPr lang="hr-HR" dirty="0" err="1"/>
              <a:t>DIYHub</a:t>
            </a:r>
            <a:r>
              <a:rPr lang="hr-HR" dirty="0"/>
              <a:t> je web-aplikacija razvijena za trgovce opremom za uređenje doma koji žele povećati angažman kupaca izravno putem svoje web stranice.</a:t>
            </a:r>
          </a:p>
          <a:p>
            <a:pPr marL="0" indent="0">
              <a:buNone/>
            </a:pPr>
            <a:r>
              <a:rPr lang="hr-HR" dirty="0"/>
              <a:t>Naš cilj je trgovini pružiti integriranu digitalnu uslugu koja omogućuje upravljanje prijavama na DIY radionice, promociju projektnih </a:t>
            </a:r>
            <a:r>
              <a:rPr lang="hr-HR" dirty="0" err="1"/>
              <a:t>tutorijala</a:t>
            </a:r>
            <a:r>
              <a:rPr lang="hr-HR" dirty="0"/>
              <a:t> te praćenje dostupnosti alata i materijala u stvarnom vremenu.</a:t>
            </a:r>
          </a:p>
          <a:p>
            <a:pPr marL="0" indent="0">
              <a:buNone/>
            </a:pPr>
            <a:endParaRPr lang="fr-BE" dirty="0"/>
          </a:p>
        </p:txBody>
      </p:sp>
      <p:pic>
        <p:nvPicPr>
          <p:cNvPr id="10" name="Picture 9" descr="A black background with a black square&#10;&#10;AI-generated content may be incorrect.">
            <a:extLst>
              <a:ext uri="{FF2B5EF4-FFF2-40B4-BE49-F238E27FC236}">
                <a16:creationId xmlns:a16="http://schemas.microsoft.com/office/drawing/2014/main" id="{BC4419CC-8F96-4CC6-A56E-830BE20439D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87331" y="1825625"/>
            <a:ext cx="4351338" cy="4351338"/>
          </a:xfrm>
          <a:prstGeom prst="rect">
            <a:avLst/>
          </a:prstGeom>
          <a:noFill/>
        </p:spPr>
      </p:pic>
      <p:sp>
        <p:nvSpPr>
          <p:cNvPr id="11" name="TextBox 10">
            <a:extLst>
              <a:ext uri="{FF2B5EF4-FFF2-40B4-BE49-F238E27FC236}">
                <a16:creationId xmlns:a16="http://schemas.microsoft.com/office/drawing/2014/main" id="{0977434E-819F-01F0-E3BA-5310BA345981}"/>
              </a:ext>
            </a:extLst>
          </p:cNvPr>
          <p:cNvSpPr txBox="1"/>
          <p:nvPr/>
        </p:nvSpPr>
        <p:spPr>
          <a:xfrm>
            <a:off x="9338376" y="6354375"/>
            <a:ext cx="2159566" cy="276999"/>
          </a:xfrm>
          <a:prstGeom prst="rect">
            <a:avLst/>
          </a:prstGeom>
          <a:noFill/>
        </p:spPr>
        <p:txBody>
          <a:bodyPr wrap="none" rtlCol="0">
            <a:spAutoFit/>
          </a:bodyPr>
          <a:lstStyle/>
          <a:p>
            <a:r>
              <a:rPr lang="fr-BE" sz="1200" dirty="0">
                <a:latin typeface="Bahnschrift SemiLight" panose="020B0502040204020203" pitchFamily="34" charset="0"/>
              </a:rPr>
              <a:t>Source: </a:t>
            </a:r>
            <a:r>
              <a:rPr lang="fr-BE" sz="1200" dirty="0">
                <a:latin typeface="Bahnschrift SemiLight" panose="020B0502040204020203" pitchFamily="34" charset="0"/>
                <a:hlinkClick r:id="rId4"/>
              </a:rPr>
              <a:t>https://uxwing.com/</a:t>
            </a:r>
            <a:r>
              <a:rPr lang="fr-BE" sz="1200" dirty="0">
                <a:latin typeface="Bahnschrift SemiLight" panose="020B0502040204020203" pitchFamily="34" charset="0"/>
              </a:rPr>
              <a:t> </a:t>
            </a:r>
          </a:p>
        </p:txBody>
      </p:sp>
    </p:spTree>
    <p:extLst>
      <p:ext uri="{BB962C8B-B14F-4D97-AF65-F5344CB8AC3E}">
        <p14:creationId xmlns:p14="http://schemas.microsoft.com/office/powerpoint/2010/main" val="40860054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AA2A66-F02C-077E-D80A-B2FEDF35A707}"/>
              </a:ext>
            </a:extLst>
          </p:cNvPr>
          <p:cNvSpPr>
            <a:spLocks noGrp="1"/>
          </p:cNvSpPr>
          <p:nvPr>
            <p:ph type="title"/>
          </p:nvPr>
        </p:nvSpPr>
        <p:spPr/>
        <p:txBody>
          <a:bodyPr/>
          <a:lstStyle/>
          <a:p>
            <a:r>
              <a:rPr lang="fr-BE" dirty="0"/>
              <a:t>UX-UI </a:t>
            </a:r>
            <a:r>
              <a:rPr lang="hr-HR" dirty="0"/>
              <a:t>praktični </a:t>
            </a:r>
            <a:r>
              <a:rPr lang="hr-HR" dirty="0" err="1"/>
              <a:t>riječnik</a:t>
            </a:r>
            <a:r>
              <a:rPr lang="hr-HR" dirty="0"/>
              <a:t> pojmova</a:t>
            </a:r>
            <a:endParaRPr lang="fr-BE" dirty="0"/>
          </a:p>
        </p:txBody>
      </p:sp>
      <p:sp>
        <p:nvSpPr>
          <p:cNvPr id="3" name="Content Placeholder 2">
            <a:extLst>
              <a:ext uri="{FF2B5EF4-FFF2-40B4-BE49-F238E27FC236}">
                <a16:creationId xmlns:a16="http://schemas.microsoft.com/office/drawing/2014/main" id="{28313DDF-2ADA-0FF0-5922-B0233E5309B0}"/>
              </a:ext>
            </a:extLst>
          </p:cNvPr>
          <p:cNvSpPr>
            <a:spLocks noGrp="1"/>
          </p:cNvSpPr>
          <p:nvPr>
            <p:ph idx="1"/>
          </p:nvPr>
        </p:nvSpPr>
        <p:spPr/>
        <p:txBody>
          <a:bodyPr/>
          <a:lstStyle/>
          <a:p>
            <a:r>
              <a:rPr lang="en-US" dirty="0"/>
              <a:t>50 UI/UX</a:t>
            </a:r>
            <a:r>
              <a:rPr lang="hr-HR" dirty="0"/>
              <a:t> objašnjenih izraza s primjerima i alatima</a:t>
            </a:r>
          </a:p>
          <a:p>
            <a:pPr marL="0" indent="0">
              <a:buNone/>
            </a:pPr>
            <a:r>
              <a:rPr lang="en-US" dirty="0">
                <a:sym typeface="Wingdings" panose="05000000000000000000" pitchFamily="2" charset="2"/>
              </a:rPr>
              <a:t> </a:t>
            </a:r>
            <a:r>
              <a:rPr lang="hr-HR" dirty="0">
                <a:sym typeface="Wingdings" panose="05000000000000000000" pitchFamily="2" charset="2"/>
              </a:rPr>
              <a:t>Pogledajte </a:t>
            </a:r>
            <a:r>
              <a:rPr lang="en-US" dirty="0">
                <a:sym typeface="Wingdings" panose="05000000000000000000" pitchFamily="2" charset="2"/>
              </a:rPr>
              <a:t>PDF </a:t>
            </a:r>
            <a:endParaRPr lang="fr-BE" dirty="0"/>
          </a:p>
        </p:txBody>
      </p:sp>
    </p:spTree>
    <p:extLst>
      <p:ext uri="{BB962C8B-B14F-4D97-AF65-F5344CB8AC3E}">
        <p14:creationId xmlns:p14="http://schemas.microsoft.com/office/powerpoint/2010/main" val="31853537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D52392-D5B1-38D6-9957-2A03A2FED6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CE16C-8787-D336-F833-0B8A8672F974}"/>
              </a:ext>
            </a:extLst>
          </p:cNvPr>
          <p:cNvSpPr>
            <a:spLocks noGrp="1"/>
          </p:cNvSpPr>
          <p:nvPr>
            <p:ph type="title"/>
          </p:nvPr>
        </p:nvSpPr>
        <p:spPr/>
        <p:txBody>
          <a:bodyPr/>
          <a:lstStyle/>
          <a:p>
            <a:r>
              <a:rPr lang="hr-HR" dirty="0"/>
              <a:t>Najbolji besplatni </a:t>
            </a:r>
            <a:r>
              <a:rPr lang="en-US" dirty="0"/>
              <a:t>UI/UX </a:t>
            </a:r>
            <a:r>
              <a:rPr lang="hr-HR" dirty="0"/>
              <a:t>alati</a:t>
            </a:r>
            <a:endParaRPr lang="fr-BE" dirty="0"/>
          </a:p>
        </p:txBody>
      </p:sp>
      <p:sp>
        <p:nvSpPr>
          <p:cNvPr id="3" name="Content Placeholder 2">
            <a:extLst>
              <a:ext uri="{FF2B5EF4-FFF2-40B4-BE49-F238E27FC236}">
                <a16:creationId xmlns:a16="http://schemas.microsoft.com/office/drawing/2014/main" id="{DDBBBF08-8D10-0259-526F-20511A0FA156}"/>
              </a:ext>
            </a:extLst>
          </p:cNvPr>
          <p:cNvSpPr>
            <a:spLocks noGrp="1"/>
          </p:cNvSpPr>
          <p:nvPr>
            <p:ph idx="1"/>
          </p:nvPr>
        </p:nvSpPr>
        <p:spPr>
          <a:xfrm>
            <a:off x="838200" y="1840139"/>
            <a:ext cx="10515600" cy="4351338"/>
          </a:xfrm>
        </p:spPr>
        <p:txBody>
          <a:bodyPr/>
          <a:lstStyle/>
          <a:p>
            <a:r>
              <a:rPr lang="en-US" dirty="0">
                <a:sym typeface="Wingdings" panose="05000000000000000000" pitchFamily="2" charset="2"/>
              </a:rPr>
              <a:t> </a:t>
            </a:r>
            <a:r>
              <a:rPr lang="hr-HR" dirty="0">
                <a:sym typeface="Wingdings" panose="05000000000000000000" pitchFamily="2" charset="2"/>
              </a:rPr>
              <a:t>Pogledajte</a:t>
            </a:r>
            <a:r>
              <a:rPr lang="en-US" dirty="0">
                <a:sym typeface="Wingdings" panose="05000000000000000000" pitchFamily="2" charset="2"/>
              </a:rPr>
              <a:t> PDF </a:t>
            </a:r>
          </a:p>
          <a:p>
            <a:endParaRPr lang="fr-BE" dirty="0"/>
          </a:p>
          <a:p>
            <a:endParaRPr lang="fr-BE" dirty="0"/>
          </a:p>
        </p:txBody>
      </p:sp>
      <p:pic>
        <p:nvPicPr>
          <p:cNvPr id="1030" name="Picture 6" descr="Top 25 free tools for UX, UI and web designers (2021 edition) | Dorve">
            <a:extLst>
              <a:ext uri="{FF2B5EF4-FFF2-40B4-BE49-F238E27FC236}">
                <a16:creationId xmlns:a16="http://schemas.microsoft.com/office/drawing/2014/main" id="{2D2B06F1-302F-80CF-538E-9F53690F04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64657" y="2608412"/>
            <a:ext cx="8062685" cy="358306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389B3793-B256-3D7F-554B-264EB4D35F5F}"/>
              </a:ext>
            </a:extLst>
          </p:cNvPr>
          <p:cNvSpPr txBox="1"/>
          <p:nvPr/>
        </p:nvSpPr>
        <p:spPr>
          <a:xfrm>
            <a:off x="4455125" y="6215876"/>
            <a:ext cx="5820824" cy="276999"/>
          </a:xfrm>
          <a:prstGeom prst="rect">
            <a:avLst/>
          </a:prstGeom>
          <a:noFill/>
        </p:spPr>
        <p:txBody>
          <a:bodyPr wrap="none" rtlCol="0">
            <a:spAutoFit/>
          </a:bodyPr>
          <a:lstStyle/>
          <a:p>
            <a:r>
              <a:rPr lang="fr-BE" sz="1200" dirty="0">
                <a:latin typeface="Bahnschrift SemiLight" panose="020B0502040204020203" pitchFamily="34" charset="0"/>
              </a:rPr>
              <a:t>Source: </a:t>
            </a:r>
            <a:r>
              <a:rPr lang="fr-BE" sz="1200" dirty="0">
                <a:latin typeface="Bahnschrift SemiLight" panose="020B0502040204020203" pitchFamily="34" charset="0"/>
                <a:hlinkClick r:id="rId4"/>
              </a:rPr>
              <a:t>https://dorve.com/blog/top-25-free-tools-for-ux-ui-and-web-designers/</a:t>
            </a:r>
            <a:r>
              <a:rPr lang="fr-BE" sz="1200" dirty="0">
                <a:latin typeface="Bahnschrift SemiLight" panose="020B0502040204020203" pitchFamily="34" charset="0"/>
              </a:rPr>
              <a:t> </a:t>
            </a:r>
          </a:p>
        </p:txBody>
      </p:sp>
    </p:spTree>
    <p:extLst>
      <p:ext uri="{BB962C8B-B14F-4D97-AF65-F5344CB8AC3E}">
        <p14:creationId xmlns:p14="http://schemas.microsoft.com/office/powerpoint/2010/main" val="24244531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507828-3162-238D-8EEE-DA89FCD8996C}"/>
              </a:ext>
            </a:extLst>
          </p:cNvPr>
          <p:cNvSpPr>
            <a:spLocks noGrp="1"/>
          </p:cNvSpPr>
          <p:nvPr>
            <p:ph type="title"/>
          </p:nvPr>
        </p:nvSpPr>
        <p:spPr/>
        <p:txBody>
          <a:bodyPr/>
          <a:lstStyle/>
          <a:p>
            <a:r>
              <a:rPr lang="hr-HR" dirty="0"/>
              <a:t>Izvori</a:t>
            </a:r>
            <a:endParaRPr lang="fr-BE" dirty="0"/>
          </a:p>
        </p:txBody>
      </p:sp>
      <p:sp>
        <p:nvSpPr>
          <p:cNvPr id="3" name="Content Placeholder 2">
            <a:extLst>
              <a:ext uri="{FF2B5EF4-FFF2-40B4-BE49-F238E27FC236}">
                <a16:creationId xmlns:a16="http://schemas.microsoft.com/office/drawing/2014/main" id="{3E853C9C-B290-496A-7426-6CC73F41B201}"/>
              </a:ext>
            </a:extLst>
          </p:cNvPr>
          <p:cNvSpPr>
            <a:spLocks noGrp="1"/>
          </p:cNvSpPr>
          <p:nvPr>
            <p:ph idx="1"/>
          </p:nvPr>
        </p:nvSpPr>
        <p:spPr/>
        <p:txBody>
          <a:bodyPr/>
          <a:lstStyle/>
          <a:p>
            <a:r>
              <a:rPr lang="fr-BE" dirty="0">
                <a:hlinkClick r:id="rId2"/>
              </a:rPr>
              <a:t>https://www.checklist.design/</a:t>
            </a:r>
          </a:p>
          <a:p>
            <a:r>
              <a:rPr lang="fr-BE" dirty="0">
                <a:hlinkClick r:id="rId2"/>
              </a:rPr>
              <a:t>https://www.ux-checklist.com/</a:t>
            </a:r>
            <a:endParaRPr lang="fr-BE" dirty="0"/>
          </a:p>
          <a:p>
            <a:r>
              <a:rPr lang="fr-BE" dirty="0">
                <a:hlinkClick r:id="rId3"/>
              </a:rPr>
              <a:t>https://uxrecipe.github.io/</a:t>
            </a:r>
            <a:endParaRPr lang="fr-BE" dirty="0"/>
          </a:p>
          <a:p>
            <a:endParaRPr lang="fr-BE" dirty="0"/>
          </a:p>
        </p:txBody>
      </p:sp>
    </p:spTree>
    <p:extLst>
      <p:ext uri="{BB962C8B-B14F-4D97-AF65-F5344CB8AC3E}">
        <p14:creationId xmlns:p14="http://schemas.microsoft.com/office/powerpoint/2010/main" val="26901688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03993D-08C5-D446-57D3-010CC50E6845}"/>
              </a:ext>
            </a:extLst>
          </p:cNvPr>
          <p:cNvSpPr>
            <a:spLocks noGrp="1"/>
          </p:cNvSpPr>
          <p:nvPr>
            <p:ph type="title"/>
          </p:nvPr>
        </p:nvSpPr>
        <p:spPr/>
        <p:txBody>
          <a:bodyPr/>
          <a:lstStyle/>
          <a:p>
            <a:r>
              <a:rPr lang="hr-HR" dirty="0"/>
              <a:t>Dodatni materijali</a:t>
            </a:r>
            <a:endParaRPr lang="fr-BE" dirty="0"/>
          </a:p>
        </p:txBody>
      </p:sp>
      <p:graphicFrame>
        <p:nvGraphicFramePr>
          <p:cNvPr id="6" name="Content Placeholder 5">
            <a:extLst>
              <a:ext uri="{FF2B5EF4-FFF2-40B4-BE49-F238E27FC236}">
                <a16:creationId xmlns:a16="http://schemas.microsoft.com/office/drawing/2014/main" id="{95720546-333F-4757-FD72-B9A88D4A5920}"/>
              </a:ext>
            </a:extLst>
          </p:cNvPr>
          <p:cNvGraphicFramePr>
            <a:graphicFrameLocks noGrp="1"/>
          </p:cNvGraphicFramePr>
          <p:nvPr>
            <p:ph idx="1"/>
            <p:extLst>
              <p:ext uri="{D42A27DB-BD31-4B8C-83A1-F6EECF244321}">
                <p14:modId xmlns:p14="http://schemas.microsoft.com/office/powerpoint/2010/main" val="3712289508"/>
              </p:ext>
            </p:extLst>
          </p:nvPr>
        </p:nvGraphicFramePr>
        <p:xfrm>
          <a:off x="942677" y="1850739"/>
          <a:ext cx="9780741" cy="4351339"/>
        </p:xfrm>
        <a:graphic>
          <a:graphicData uri="http://schemas.openxmlformats.org/drawingml/2006/table">
            <a:tbl>
              <a:tblPr firstRow="1" firstCol="1" bandRow="1"/>
              <a:tblGrid>
                <a:gridCol w="5250305">
                  <a:extLst>
                    <a:ext uri="{9D8B030D-6E8A-4147-A177-3AD203B41FA5}">
                      <a16:colId xmlns:a16="http://schemas.microsoft.com/office/drawing/2014/main" val="3602850931"/>
                    </a:ext>
                  </a:extLst>
                </a:gridCol>
                <a:gridCol w="4530436">
                  <a:extLst>
                    <a:ext uri="{9D8B030D-6E8A-4147-A177-3AD203B41FA5}">
                      <a16:colId xmlns:a16="http://schemas.microsoft.com/office/drawing/2014/main" val="935330335"/>
                    </a:ext>
                  </a:extLst>
                </a:gridCol>
              </a:tblGrid>
              <a:tr h="499073">
                <a:tc>
                  <a:txBody>
                    <a:bodyPr/>
                    <a:lstStyle/>
                    <a:p>
                      <a:pPr marR="482600">
                        <a:lnSpc>
                          <a:spcPct val="107000"/>
                        </a:lnSpc>
                        <a:spcAft>
                          <a:spcPts val="800"/>
                        </a:spcAft>
                        <a:buNone/>
                        <a:tabLst>
                          <a:tab pos="2985770" algn="l"/>
                        </a:tabLst>
                      </a:pPr>
                      <a:r>
                        <a:rPr lang="hr-HR" sz="1100" b="1" u="sng" dirty="0">
                          <a:solidFill>
                            <a:srgbClr val="FFFFFF"/>
                          </a:solidFill>
                          <a:effectLst/>
                          <a:latin typeface="Bahnschrift SemiLight" panose="020B0502040204020203" pitchFamily="34" charset="0"/>
                          <a:ea typeface="Calibri" panose="020F0502020204030204" pitchFamily="34" charset="0"/>
                          <a:cs typeface="Times New Roman" panose="02020603050405020304" pitchFamily="18" charset="0"/>
                          <a:hlinkClick r:id="rId3"/>
                        </a:rPr>
                        <a:t>https://www.smashingmagazine.com/2018/02/comprehensive-guide-ui-design</a:t>
                      </a:r>
                      <a:endParaRPr lang="fr-BE" sz="1100" b="1" dirty="0">
                        <a:effectLst/>
                        <a:latin typeface="Bahnschrift SemiLight" panose="020B0502040204020203" pitchFamily="34" charset="0"/>
                        <a:ea typeface="Calibri" panose="020F0502020204030204" pitchFamily="34" charset="0"/>
                        <a:cs typeface="Times New Roman" panose="02020603050405020304" pitchFamily="18" charset="0"/>
                      </a:endParaRPr>
                    </a:p>
                  </a:txBody>
                  <a:tcPr marL="60089" marR="60089" marT="0" marB="0">
                    <a:lnL w="12700" cap="flat" cmpd="sng" algn="ctr">
                      <a:solidFill>
                        <a:srgbClr val="F48134"/>
                      </a:solidFill>
                      <a:prstDash val="solid"/>
                      <a:round/>
                      <a:headEnd type="none" w="med" len="med"/>
                      <a:tailEnd type="none" w="med" len="med"/>
                    </a:lnL>
                    <a:lnR w="12700" cap="flat" cmpd="sng" algn="ctr">
                      <a:solidFill>
                        <a:srgbClr val="F48134"/>
                      </a:solidFill>
                      <a:prstDash val="solid"/>
                      <a:round/>
                      <a:headEnd type="none" w="med" len="med"/>
                      <a:tailEnd type="none" w="med" len="med"/>
                    </a:lnR>
                    <a:lnT w="12700" cap="flat" cmpd="sng" algn="ctr">
                      <a:solidFill>
                        <a:srgbClr val="F48134"/>
                      </a:solidFill>
                      <a:prstDash val="solid"/>
                      <a:round/>
                      <a:headEnd type="none" w="med" len="med"/>
                      <a:tailEnd type="none" w="med" len="med"/>
                    </a:lnT>
                    <a:lnB w="12700" cap="flat" cmpd="sng" algn="ctr">
                      <a:solidFill>
                        <a:srgbClr val="F48134"/>
                      </a:solidFill>
                      <a:prstDash val="solid"/>
                      <a:round/>
                      <a:headEnd type="none" w="med" len="med"/>
                      <a:tailEnd type="none" w="med" len="med"/>
                    </a:lnB>
                    <a:noFill/>
                  </a:tcPr>
                </a:tc>
                <a:tc>
                  <a:txBody>
                    <a:bodyPr/>
                    <a:lstStyle/>
                    <a:p>
                      <a:pPr>
                        <a:lnSpc>
                          <a:spcPct val="107000"/>
                        </a:lnSpc>
                        <a:spcAft>
                          <a:spcPts val="800"/>
                        </a:spcAft>
                        <a:buNone/>
                      </a:pPr>
                      <a:r>
                        <a:rPr lang="hr-HR" sz="1200" b="1" dirty="0">
                          <a:solidFill>
                            <a:schemeClr val="tx1"/>
                          </a:solidFill>
                          <a:effectLst/>
                          <a:latin typeface="Bahnschrift SemiLight" panose="020B0502040204020203" pitchFamily="34" charset="0"/>
                          <a:ea typeface="Calibri" panose="020F0502020204030204" pitchFamily="34" charset="0"/>
                          <a:cs typeface="Times New Roman" panose="02020603050405020304" pitchFamily="18" charset="0"/>
                        </a:rPr>
                        <a:t>Detaljan vodič za dizajn korisničkog sučelja</a:t>
                      </a:r>
                      <a:endParaRPr lang="fr-BE" sz="1200" b="1" kern="1200" dirty="0">
                        <a:solidFill>
                          <a:schemeClr val="tx1"/>
                        </a:solidFill>
                        <a:effectLst/>
                        <a:latin typeface="Bahnschrift SemiLight" panose="020B0502040204020203"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48134"/>
                      </a:solidFill>
                      <a:prstDash val="solid"/>
                      <a:round/>
                      <a:headEnd type="none" w="med" len="med"/>
                      <a:tailEnd type="none" w="med" len="med"/>
                    </a:lnL>
                    <a:lnR w="12700" cap="flat" cmpd="sng" algn="ctr">
                      <a:solidFill>
                        <a:srgbClr val="F48134"/>
                      </a:solidFill>
                      <a:prstDash val="solid"/>
                      <a:round/>
                      <a:headEnd type="none" w="med" len="med"/>
                      <a:tailEnd type="none" w="med" len="med"/>
                    </a:lnR>
                    <a:lnT w="12700" cap="flat" cmpd="sng" algn="ctr">
                      <a:solidFill>
                        <a:srgbClr val="F48134"/>
                      </a:solidFill>
                      <a:prstDash val="solid"/>
                      <a:round/>
                      <a:headEnd type="none" w="med" len="med"/>
                      <a:tailEnd type="none" w="med" len="med"/>
                    </a:lnT>
                    <a:lnB w="12700" cap="flat" cmpd="sng" algn="ctr">
                      <a:solidFill>
                        <a:srgbClr val="F48134"/>
                      </a:solidFill>
                      <a:prstDash val="solid"/>
                      <a:round/>
                      <a:headEnd type="none" w="med" len="med"/>
                      <a:tailEnd type="none" w="med" len="med"/>
                    </a:lnB>
                    <a:noFill/>
                  </a:tcPr>
                </a:tc>
                <a:extLst>
                  <a:ext uri="{0D108BD9-81ED-4DB2-BD59-A6C34878D82A}">
                    <a16:rowId xmlns:a16="http://schemas.microsoft.com/office/drawing/2014/main" val="1980309102"/>
                  </a:ext>
                </a:extLst>
              </a:tr>
              <a:tr h="327597">
                <a:tc>
                  <a:txBody>
                    <a:bodyPr/>
                    <a:lstStyle/>
                    <a:p>
                      <a:pPr marR="482600">
                        <a:lnSpc>
                          <a:spcPct val="107000"/>
                        </a:lnSpc>
                        <a:spcAft>
                          <a:spcPts val="800"/>
                        </a:spcAft>
                        <a:buNone/>
                        <a:tabLst>
                          <a:tab pos="2985770" algn="l"/>
                        </a:tabLst>
                      </a:pPr>
                      <a:r>
                        <a:rPr lang="en-US" sz="1100" b="1" u="sng" dirty="0">
                          <a:solidFill>
                            <a:srgbClr val="0563C1"/>
                          </a:solidFill>
                          <a:effectLst/>
                          <a:latin typeface="Bahnschrift SemiLight" panose="020B0502040204020203" pitchFamily="34" charset="0"/>
                          <a:ea typeface="Calibri" panose="020F0502020204030204" pitchFamily="34" charset="0"/>
                          <a:cs typeface="Times New Roman" panose="02020603050405020304" pitchFamily="18" charset="0"/>
                          <a:hlinkClick r:id="rId4"/>
                        </a:rPr>
                        <a:t>https://uxplanet.org/</a:t>
                      </a:r>
                      <a:endParaRPr lang="fr-BE" sz="1100" b="1" dirty="0">
                        <a:effectLst/>
                        <a:latin typeface="Bahnschrift SemiLight" panose="020B0502040204020203" pitchFamily="34" charset="0"/>
                        <a:ea typeface="Calibri" panose="020F0502020204030204" pitchFamily="34" charset="0"/>
                        <a:cs typeface="Times New Roman" panose="02020603050405020304" pitchFamily="18" charset="0"/>
                      </a:endParaRPr>
                    </a:p>
                  </a:txBody>
                  <a:tcPr marL="60089" marR="60089" marT="0" marB="0">
                    <a:lnL w="12700" cap="flat" cmpd="sng" algn="ctr">
                      <a:solidFill>
                        <a:srgbClr val="F48134"/>
                      </a:solidFill>
                      <a:prstDash val="solid"/>
                      <a:round/>
                      <a:headEnd type="none" w="med" len="med"/>
                      <a:tailEnd type="none" w="med" len="med"/>
                    </a:lnL>
                    <a:lnR w="12700" cap="flat" cmpd="sng" algn="ctr">
                      <a:solidFill>
                        <a:srgbClr val="F48134"/>
                      </a:solidFill>
                      <a:prstDash val="solid"/>
                      <a:round/>
                      <a:headEnd type="none" w="med" len="med"/>
                      <a:tailEnd type="none" w="med" len="med"/>
                    </a:lnR>
                    <a:lnT w="12700" cap="flat" cmpd="sng" algn="ctr">
                      <a:solidFill>
                        <a:srgbClr val="F48134"/>
                      </a:solidFill>
                      <a:prstDash val="solid"/>
                      <a:round/>
                      <a:headEnd type="none" w="med" len="med"/>
                      <a:tailEnd type="none" w="med" len="med"/>
                    </a:lnT>
                    <a:lnB w="12700" cap="flat" cmpd="sng" algn="ctr">
                      <a:solidFill>
                        <a:srgbClr val="F48134"/>
                      </a:solidFill>
                      <a:prstDash val="solid"/>
                      <a:round/>
                      <a:headEnd type="none" w="med" len="med"/>
                      <a:tailEnd type="none" w="med" len="med"/>
                    </a:lnB>
                    <a:noFill/>
                  </a:tcPr>
                </a:tc>
                <a:tc>
                  <a:txBody>
                    <a:bodyPr/>
                    <a:lstStyle/>
                    <a:p>
                      <a:pPr>
                        <a:lnSpc>
                          <a:spcPct val="107000"/>
                        </a:lnSpc>
                        <a:spcAft>
                          <a:spcPts val="800"/>
                        </a:spcAft>
                        <a:buNone/>
                      </a:pPr>
                      <a:r>
                        <a:rPr lang="hr-HR" sz="1200" b="1" kern="1200" dirty="0">
                          <a:solidFill>
                            <a:schemeClr val="tx1"/>
                          </a:solidFill>
                          <a:effectLst/>
                          <a:latin typeface="Bahnschrift SemiLight" panose="020B0502040204020203" pitchFamily="34" charset="0"/>
                          <a:ea typeface="Calibri" panose="020F0502020204030204" pitchFamily="34" charset="0"/>
                          <a:cs typeface="Times New Roman" panose="02020603050405020304" pitchFamily="18" charset="0"/>
                        </a:rPr>
                        <a:t>Jedinstveno mjesto za sve informacije o korisničkom iskustvu</a:t>
                      </a:r>
                      <a:endParaRPr lang="fr-BE" sz="1200" b="1" kern="1200" dirty="0">
                        <a:solidFill>
                          <a:schemeClr val="tx1"/>
                        </a:solidFill>
                        <a:effectLst/>
                        <a:latin typeface="Bahnschrift SemiLight" panose="020B0502040204020203" pitchFamily="34" charset="0"/>
                        <a:ea typeface="Calibri" panose="020F0502020204030204" pitchFamily="34" charset="0"/>
                        <a:cs typeface="Times New Roman" panose="02020603050405020304" pitchFamily="18" charset="0"/>
                      </a:endParaRPr>
                    </a:p>
                  </a:txBody>
                  <a:tcPr marL="60089" marR="60089" marT="0" marB="0">
                    <a:lnL w="12700" cap="flat" cmpd="sng" algn="ctr">
                      <a:solidFill>
                        <a:srgbClr val="F48134"/>
                      </a:solidFill>
                      <a:prstDash val="solid"/>
                      <a:round/>
                      <a:headEnd type="none" w="med" len="med"/>
                      <a:tailEnd type="none" w="med" len="med"/>
                    </a:lnL>
                    <a:lnR w="12700" cap="flat" cmpd="sng" algn="ctr">
                      <a:solidFill>
                        <a:srgbClr val="F48134"/>
                      </a:solidFill>
                      <a:prstDash val="solid"/>
                      <a:round/>
                      <a:headEnd type="none" w="med" len="med"/>
                      <a:tailEnd type="none" w="med" len="med"/>
                    </a:lnR>
                    <a:lnT w="12700" cap="flat" cmpd="sng" algn="ctr">
                      <a:solidFill>
                        <a:srgbClr val="F48134"/>
                      </a:solidFill>
                      <a:prstDash val="solid"/>
                      <a:round/>
                      <a:headEnd type="none" w="med" len="med"/>
                      <a:tailEnd type="none" w="med" len="med"/>
                    </a:lnT>
                    <a:lnB w="12700" cap="flat" cmpd="sng" algn="ctr">
                      <a:solidFill>
                        <a:srgbClr val="F48134"/>
                      </a:solidFill>
                      <a:prstDash val="solid"/>
                      <a:round/>
                      <a:headEnd type="none" w="med" len="med"/>
                      <a:tailEnd type="none" w="med" len="med"/>
                    </a:lnB>
                    <a:noFill/>
                  </a:tcPr>
                </a:tc>
                <a:extLst>
                  <a:ext uri="{0D108BD9-81ED-4DB2-BD59-A6C34878D82A}">
                    <a16:rowId xmlns:a16="http://schemas.microsoft.com/office/drawing/2014/main" val="1503815557"/>
                  </a:ext>
                </a:extLst>
              </a:tr>
              <a:tr h="332048">
                <a:tc>
                  <a:txBody>
                    <a:bodyPr/>
                    <a:lstStyle/>
                    <a:p>
                      <a:pPr marR="482600">
                        <a:lnSpc>
                          <a:spcPct val="107000"/>
                        </a:lnSpc>
                        <a:spcAft>
                          <a:spcPts val="800"/>
                        </a:spcAft>
                        <a:buNone/>
                        <a:tabLst>
                          <a:tab pos="2985770" algn="l"/>
                        </a:tabLst>
                      </a:pPr>
                      <a:r>
                        <a:rPr lang="hr-HR" sz="1100" b="1" u="sng">
                          <a:solidFill>
                            <a:srgbClr val="0563C1"/>
                          </a:solidFill>
                          <a:effectLst/>
                          <a:latin typeface="Bahnschrift SemiLight" panose="020B0502040204020203" pitchFamily="34" charset="0"/>
                          <a:ea typeface="Calibri" panose="020F0502020204030204" pitchFamily="34" charset="0"/>
                          <a:cs typeface="Times New Roman" panose="02020603050405020304" pitchFamily="18" charset="0"/>
                          <a:hlinkClick r:id="rId5"/>
                        </a:rPr>
                        <a:t>https://openclassrooms.com/en/paths/76-ux-designer</a:t>
                      </a:r>
                      <a:r>
                        <a:rPr lang="hr-HR" sz="1100" b="1">
                          <a:effectLst/>
                          <a:latin typeface="Bahnschrift SemiLight" panose="020B0502040204020203" pitchFamily="34" charset="0"/>
                          <a:ea typeface="Calibri" panose="020F0502020204030204" pitchFamily="34" charset="0"/>
                          <a:cs typeface="Times New Roman" panose="02020603050405020304" pitchFamily="18" charset="0"/>
                        </a:rPr>
                        <a:t> </a:t>
                      </a:r>
                      <a:endParaRPr lang="fr-BE" sz="1100" b="1">
                        <a:effectLst/>
                        <a:latin typeface="Bahnschrift SemiLight" panose="020B0502040204020203" pitchFamily="34" charset="0"/>
                        <a:ea typeface="Calibri" panose="020F0502020204030204" pitchFamily="34" charset="0"/>
                        <a:cs typeface="Times New Roman" panose="02020603050405020304" pitchFamily="18" charset="0"/>
                      </a:endParaRPr>
                    </a:p>
                  </a:txBody>
                  <a:tcPr marL="60089" marR="60089" marT="0" marB="0">
                    <a:lnL w="12700" cap="flat" cmpd="sng" algn="ctr">
                      <a:solidFill>
                        <a:srgbClr val="F48134"/>
                      </a:solidFill>
                      <a:prstDash val="solid"/>
                      <a:round/>
                      <a:headEnd type="none" w="med" len="med"/>
                      <a:tailEnd type="none" w="med" len="med"/>
                    </a:lnL>
                    <a:lnR w="12700" cap="flat" cmpd="sng" algn="ctr">
                      <a:solidFill>
                        <a:srgbClr val="F48134"/>
                      </a:solidFill>
                      <a:prstDash val="solid"/>
                      <a:round/>
                      <a:headEnd type="none" w="med" len="med"/>
                      <a:tailEnd type="none" w="med" len="med"/>
                    </a:lnR>
                    <a:lnT w="12700" cap="flat" cmpd="sng" algn="ctr">
                      <a:solidFill>
                        <a:srgbClr val="F48134"/>
                      </a:solidFill>
                      <a:prstDash val="solid"/>
                      <a:round/>
                      <a:headEnd type="none" w="med" len="med"/>
                      <a:tailEnd type="none" w="med" len="med"/>
                    </a:lnT>
                    <a:lnB w="12700" cap="flat" cmpd="sng" algn="ctr">
                      <a:solidFill>
                        <a:srgbClr val="F48134"/>
                      </a:solidFill>
                      <a:prstDash val="solid"/>
                      <a:round/>
                      <a:headEnd type="none" w="med" len="med"/>
                      <a:tailEnd type="none" w="med" len="med"/>
                    </a:lnB>
                    <a:noFill/>
                  </a:tcPr>
                </a:tc>
                <a:tc>
                  <a:txBody>
                    <a:bodyPr/>
                    <a:lstStyle/>
                    <a:p>
                      <a:pPr>
                        <a:lnSpc>
                          <a:spcPct val="107000"/>
                        </a:lnSpc>
                        <a:spcAft>
                          <a:spcPts val="800"/>
                        </a:spcAft>
                        <a:buNone/>
                      </a:pPr>
                      <a:r>
                        <a:rPr lang="hr-HR" sz="1200" b="1" kern="1200" dirty="0">
                          <a:solidFill>
                            <a:schemeClr val="tx1"/>
                          </a:solidFill>
                          <a:effectLst/>
                          <a:latin typeface="Bahnschrift SemiLight" panose="020B0502040204020203" pitchFamily="34" charset="0"/>
                          <a:ea typeface="Calibri" panose="020F0502020204030204" pitchFamily="34" charset="0"/>
                          <a:cs typeface="Times New Roman" panose="02020603050405020304" pitchFamily="18" charset="0"/>
                        </a:rPr>
                        <a:t>Online trening za UX dizajnere</a:t>
                      </a:r>
                      <a:endParaRPr lang="fr-BE" sz="1200" b="1" kern="1200" dirty="0">
                        <a:solidFill>
                          <a:schemeClr val="tx1"/>
                        </a:solidFill>
                        <a:effectLst/>
                        <a:latin typeface="Bahnschrift SemiLight" panose="020B0502040204020203" pitchFamily="34" charset="0"/>
                        <a:ea typeface="Calibri" panose="020F0502020204030204" pitchFamily="34" charset="0"/>
                        <a:cs typeface="Times New Roman" panose="02020603050405020304" pitchFamily="18" charset="0"/>
                      </a:endParaRPr>
                    </a:p>
                  </a:txBody>
                  <a:tcPr marL="60089" marR="60089" marT="0" marB="0">
                    <a:lnL w="12700" cap="flat" cmpd="sng" algn="ctr">
                      <a:solidFill>
                        <a:srgbClr val="F48134"/>
                      </a:solidFill>
                      <a:prstDash val="solid"/>
                      <a:round/>
                      <a:headEnd type="none" w="med" len="med"/>
                      <a:tailEnd type="none" w="med" len="med"/>
                    </a:lnL>
                    <a:lnR w="12700" cap="flat" cmpd="sng" algn="ctr">
                      <a:solidFill>
                        <a:srgbClr val="F48134"/>
                      </a:solidFill>
                      <a:prstDash val="solid"/>
                      <a:round/>
                      <a:headEnd type="none" w="med" len="med"/>
                      <a:tailEnd type="none" w="med" len="med"/>
                    </a:lnR>
                    <a:lnT w="12700" cap="flat" cmpd="sng" algn="ctr">
                      <a:solidFill>
                        <a:srgbClr val="F48134"/>
                      </a:solidFill>
                      <a:prstDash val="solid"/>
                      <a:round/>
                      <a:headEnd type="none" w="med" len="med"/>
                      <a:tailEnd type="none" w="med" len="med"/>
                    </a:lnT>
                    <a:lnB w="12700" cap="flat" cmpd="sng" algn="ctr">
                      <a:solidFill>
                        <a:srgbClr val="F48134"/>
                      </a:solidFill>
                      <a:prstDash val="solid"/>
                      <a:round/>
                      <a:headEnd type="none" w="med" len="med"/>
                      <a:tailEnd type="none" w="med" len="med"/>
                    </a:lnB>
                    <a:noFill/>
                  </a:tcPr>
                </a:tc>
                <a:extLst>
                  <a:ext uri="{0D108BD9-81ED-4DB2-BD59-A6C34878D82A}">
                    <a16:rowId xmlns:a16="http://schemas.microsoft.com/office/drawing/2014/main" val="4283846655"/>
                  </a:ext>
                </a:extLst>
              </a:tr>
              <a:tr h="503524">
                <a:tc>
                  <a:txBody>
                    <a:bodyPr/>
                    <a:lstStyle/>
                    <a:p>
                      <a:pPr marR="482600">
                        <a:lnSpc>
                          <a:spcPct val="107000"/>
                        </a:lnSpc>
                        <a:spcAft>
                          <a:spcPts val="800"/>
                        </a:spcAft>
                        <a:buNone/>
                        <a:tabLst>
                          <a:tab pos="2985770" algn="l"/>
                        </a:tabLst>
                      </a:pPr>
                      <a:r>
                        <a:rPr lang="hr-HR" sz="1100" b="1" u="sng" dirty="0">
                          <a:solidFill>
                            <a:srgbClr val="0563C1"/>
                          </a:solidFill>
                          <a:effectLst/>
                          <a:latin typeface="Bahnschrift SemiLight" panose="020B0502040204020203" pitchFamily="34" charset="0"/>
                          <a:ea typeface="Calibri" panose="020F0502020204030204" pitchFamily="34" charset="0"/>
                          <a:cs typeface="Times New Roman" panose="02020603050405020304" pitchFamily="18" charset="0"/>
                          <a:hlinkClick r:id="rId6"/>
                        </a:rPr>
                        <a:t>https://www.figma.com/resource-library/difference-between-ui-and-ux/</a:t>
                      </a:r>
                      <a:r>
                        <a:rPr lang="hr-HR" sz="1100" b="1" dirty="0">
                          <a:effectLst/>
                          <a:latin typeface="Bahnschrift SemiLight" panose="020B0502040204020203" pitchFamily="34" charset="0"/>
                          <a:ea typeface="Calibri" panose="020F0502020204030204" pitchFamily="34" charset="0"/>
                          <a:cs typeface="Times New Roman" panose="02020603050405020304" pitchFamily="18" charset="0"/>
                        </a:rPr>
                        <a:t> </a:t>
                      </a:r>
                      <a:endParaRPr lang="fr-BE" sz="1100" b="1" dirty="0">
                        <a:effectLst/>
                        <a:latin typeface="Bahnschrift SemiLight" panose="020B0502040204020203" pitchFamily="34" charset="0"/>
                        <a:ea typeface="Calibri" panose="020F0502020204030204" pitchFamily="34" charset="0"/>
                        <a:cs typeface="Times New Roman" panose="02020603050405020304" pitchFamily="18" charset="0"/>
                      </a:endParaRPr>
                    </a:p>
                  </a:txBody>
                  <a:tcPr marL="60089" marR="60089" marT="0" marB="0">
                    <a:lnL w="12700" cap="flat" cmpd="sng" algn="ctr">
                      <a:solidFill>
                        <a:srgbClr val="F48134"/>
                      </a:solidFill>
                      <a:prstDash val="solid"/>
                      <a:round/>
                      <a:headEnd type="none" w="med" len="med"/>
                      <a:tailEnd type="none" w="med" len="med"/>
                    </a:lnL>
                    <a:lnR w="12700" cap="flat" cmpd="sng" algn="ctr">
                      <a:solidFill>
                        <a:srgbClr val="F48134"/>
                      </a:solidFill>
                      <a:prstDash val="solid"/>
                      <a:round/>
                      <a:headEnd type="none" w="med" len="med"/>
                      <a:tailEnd type="none" w="med" len="med"/>
                    </a:lnR>
                    <a:lnT w="12700" cap="flat" cmpd="sng" algn="ctr">
                      <a:solidFill>
                        <a:srgbClr val="F48134"/>
                      </a:solidFill>
                      <a:prstDash val="solid"/>
                      <a:round/>
                      <a:headEnd type="none" w="med" len="med"/>
                      <a:tailEnd type="none" w="med" len="med"/>
                    </a:lnT>
                    <a:lnB w="12700" cap="flat" cmpd="sng" algn="ctr">
                      <a:solidFill>
                        <a:srgbClr val="F48134"/>
                      </a:solidFill>
                      <a:prstDash val="solid"/>
                      <a:round/>
                      <a:headEnd type="none" w="med" len="med"/>
                      <a:tailEnd type="none" w="med" len="med"/>
                    </a:lnB>
                    <a:noFill/>
                  </a:tcPr>
                </a:tc>
                <a:tc>
                  <a:txBody>
                    <a:bodyPr/>
                    <a:lstStyle/>
                    <a:p>
                      <a:pPr>
                        <a:lnSpc>
                          <a:spcPct val="107000"/>
                        </a:lnSpc>
                        <a:spcAft>
                          <a:spcPts val="800"/>
                        </a:spcAft>
                        <a:buNone/>
                      </a:pPr>
                      <a:r>
                        <a:rPr lang="hr-HR" sz="1200" b="1" kern="1200" dirty="0">
                          <a:solidFill>
                            <a:schemeClr val="tx1"/>
                          </a:solidFill>
                          <a:effectLst/>
                          <a:latin typeface="Bahnschrift SemiLight" panose="020B0502040204020203" pitchFamily="34" charset="0"/>
                          <a:ea typeface="Calibri" panose="020F0502020204030204" pitchFamily="34" charset="0"/>
                          <a:cs typeface="Times New Roman" panose="02020603050405020304" pitchFamily="18" charset="0"/>
                        </a:rPr>
                        <a:t>UI vs UX: Koja je razlika između UX i UI dizajna?</a:t>
                      </a:r>
                      <a:endParaRPr lang="fr-BE" sz="1200" b="1" kern="1200" dirty="0">
                        <a:solidFill>
                          <a:schemeClr val="tx1"/>
                        </a:solidFill>
                        <a:effectLst/>
                        <a:latin typeface="Bahnschrift SemiLight" panose="020B0502040204020203" pitchFamily="34" charset="0"/>
                        <a:ea typeface="Calibri" panose="020F0502020204030204" pitchFamily="34" charset="0"/>
                        <a:cs typeface="Times New Roman" panose="02020603050405020304" pitchFamily="18" charset="0"/>
                      </a:endParaRPr>
                    </a:p>
                  </a:txBody>
                  <a:tcPr marL="60089" marR="60089" marT="0" marB="0">
                    <a:lnL w="12700" cap="flat" cmpd="sng" algn="ctr">
                      <a:solidFill>
                        <a:srgbClr val="F48134"/>
                      </a:solidFill>
                      <a:prstDash val="solid"/>
                      <a:round/>
                      <a:headEnd type="none" w="med" len="med"/>
                      <a:tailEnd type="none" w="med" len="med"/>
                    </a:lnL>
                    <a:lnR w="12700" cap="flat" cmpd="sng" algn="ctr">
                      <a:solidFill>
                        <a:srgbClr val="F48134"/>
                      </a:solidFill>
                      <a:prstDash val="solid"/>
                      <a:round/>
                      <a:headEnd type="none" w="med" len="med"/>
                      <a:tailEnd type="none" w="med" len="med"/>
                    </a:lnR>
                    <a:lnT w="12700" cap="flat" cmpd="sng" algn="ctr">
                      <a:solidFill>
                        <a:srgbClr val="F48134"/>
                      </a:solidFill>
                      <a:prstDash val="solid"/>
                      <a:round/>
                      <a:headEnd type="none" w="med" len="med"/>
                      <a:tailEnd type="none" w="med" len="med"/>
                    </a:lnT>
                    <a:lnB w="12700" cap="flat" cmpd="sng" algn="ctr">
                      <a:solidFill>
                        <a:srgbClr val="F48134"/>
                      </a:solidFill>
                      <a:prstDash val="solid"/>
                      <a:round/>
                      <a:headEnd type="none" w="med" len="med"/>
                      <a:tailEnd type="none" w="med" len="med"/>
                    </a:lnB>
                    <a:noFill/>
                  </a:tcPr>
                </a:tc>
                <a:extLst>
                  <a:ext uri="{0D108BD9-81ED-4DB2-BD59-A6C34878D82A}">
                    <a16:rowId xmlns:a16="http://schemas.microsoft.com/office/drawing/2014/main" val="1493908624"/>
                  </a:ext>
                </a:extLst>
              </a:tr>
              <a:tr h="503524">
                <a:tc>
                  <a:txBody>
                    <a:bodyPr/>
                    <a:lstStyle/>
                    <a:p>
                      <a:pPr marR="482600">
                        <a:lnSpc>
                          <a:spcPct val="107000"/>
                        </a:lnSpc>
                        <a:spcAft>
                          <a:spcPts val="800"/>
                        </a:spcAft>
                        <a:buNone/>
                        <a:tabLst>
                          <a:tab pos="2985770" algn="l"/>
                        </a:tabLst>
                      </a:pPr>
                      <a:r>
                        <a:rPr lang="hr-HR" sz="1100" b="1" u="sng" dirty="0">
                          <a:solidFill>
                            <a:srgbClr val="0563C1"/>
                          </a:solidFill>
                          <a:effectLst/>
                          <a:latin typeface="Bahnschrift SemiLight" panose="020B0502040204020203" pitchFamily="34" charset="0"/>
                          <a:ea typeface="Calibri" panose="020F0502020204030204" pitchFamily="34" charset="0"/>
                          <a:cs typeface="Times New Roman" panose="02020603050405020304" pitchFamily="18" charset="0"/>
                          <a:hlinkClick r:id="rId7"/>
                        </a:rPr>
                        <a:t>https://careerfoundry.com/en/blog/ux-design/the-difference-between-ux-and-ui-design-a-laymans-guide/</a:t>
                      </a:r>
                      <a:r>
                        <a:rPr lang="hr-HR" sz="1100" b="1" dirty="0">
                          <a:effectLst/>
                          <a:latin typeface="Bahnschrift SemiLight" panose="020B0502040204020203" pitchFamily="34" charset="0"/>
                          <a:ea typeface="Calibri" panose="020F0502020204030204" pitchFamily="34" charset="0"/>
                          <a:cs typeface="Times New Roman" panose="02020603050405020304" pitchFamily="18" charset="0"/>
                        </a:rPr>
                        <a:t> </a:t>
                      </a:r>
                      <a:endParaRPr lang="fr-BE" sz="1100" b="1" dirty="0">
                        <a:effectLst/>
                        <a:latin typeface="Bahnschrift SemiLight" panose="020B0502040204020203" pitchFamily="34" charset="0"/>
                        <a:ea typeface="Calibri" panose="020F0502020204030204" pitchFamily="34" charset="0"/>
                        <a:cs typeface="Times New Roman" panose="02020603050405020304" pitchFamily="18" charset="0"/>
                      </a:endParaRPr>
                    </a:p>
                  </a:txBody>
                  <a:tcPr marL="60089" marR="60089" marT="0" marB="0">
                    <a:lnL w="12700" cap="flat" cmpd="sng" algn="ctr">
                      <a:solidFill>
                        <a:srgbClr val="F48134"/>
                      </a:solidFill>
                      <a:prstDash val="solid"/>
                      <a:round/>
                      <a:headEnd type="none" w="med" len="med"/>
                      <a:tailEnd type="none" w="med" len="med"/>
                    </a:lnL>
                    <a:lnR w="12700" cap="flat" cmpd="sng" algn="ctr">
                      <a:solidFill>
                        <a:srgbClr val="F48134"/>
                      </a:solidFill>
                      <a:prstDash val="solid"/>
                      <a:round/>
                      <a:headEnd type="none" w="med" len="med"/>
                      <a:tailEnd type="none" w="med" len="med"/>
                    </a:lnR>
                    <a:lnT w="12700" cap="flat" cmpd="sng" algn="ctr">
                      <a:solidFill>
                        <a:srgbClr val="F48134"/>
                      </a:solidFill>
                      <a:prstDash val="solid"/>
                      <a:round/>
                      <a:headEnd type="none" w="med" len="med"/>
                      <a:tailEnd type="none" w="med" len="med"/>
                    </a:lnT>
                    <a:lnB w="12700" cap="flat" cmpd="sng" algn="ctr">
                      <a:solidFill>
                        <a:srgbClr val="F48134"/>
                      </a:solidFill>
                      <a:prstDash val="solid"/>
                      <a:round/>
                      <a:headEnd type="none" w="med" len="med"/>
                      <a:tailEnd type="none" w="med" len="med"/>
                    </a:lnB>
                    <a:noFill/>
                  </a:tcPr>
                </a:tc>
                <a:tc>
                  <a:txBody>
                    <a:bodyPr/>
                    <a:lstStyle/>
                    <a:p>
                      <a:pPr>
                        <a:lnSpc>
                          <a:spcPct val="107000"/>
                        </a:lnSpc>
                        <a:spcAft>
                          <a:spcPts val="800"/>
                        </a:spcAft>
                        <a:buNone/>
                      </a:pPr>
                      <a:r>
                        <a:rPr lang="hr-HR" sz="1200" b="1" kern="1200" dirty="0">
                          <a:solidFill>
                            <a:schemeClr val="tx1"/>
                          </a:solidFill>
                          <a:effectLst/>
                          <a:latin typeface="Bahnschrift SemiLight" panose="020B0502040204020203" pitchFamily="34" charset="0"/>
                          <a:ea typeface="Calibri" panose="020F0502020204030204" pitchFamily="34" charset="0"/>
                          <a:cs typeface="Times New Roman" panose="02020603050405020304" pitchFamily="18" charset="0"/>
                        </a:rPr>
                        <a:t>UI vs UX: Koja je razlika između UX i UI dizajna?</a:t>
                      </a:r>
                      <a:endParaRPr lang="fr-BE" sz="1200" b="1" kern="1200" dirty="0">
                        <a:solidFill>
                          <a:schemeClr val="tx1"/>
                        </a:solidFill>
                        <a:effectLst/>
                        <a:latin typeface="Bahnschrift SemiLight" panose="020B0502040204020203" pitchFamily="34" charset="0"/>
                        <a:ea typeface="Calibri" panose="020F0502020204030204" pitchFamily="34" charset="0"/>
                        <a:cs typeface="Times New Roman" panose="02020603050405020304" pitchFamily="18" charset="0"/>
                      </a:endParaRPr>
                    </a:p>
                  </a:txBody>
                  <a:tcPr marL="60089" marR="60089" marT="0" marB="0">
                    <a:lnL w="12700" cap="flat" cmpd="sng" algn="ctr">
                      <a:solidFill>
                        <a:srgbClr val="F48134"/>
                      </a:solidFill>
                      <a:prstDash val="solid"/>
                      <a:round/>
                      <a:headEnd type="none" w="med" len="med"/>
                      <a:tailEnd type="none" w="med" len="med"/>
                    </a:lnL>
                    <a:lnR w="12700" cap="flat" cmpd="sng" algn="ctr">
                      <a:solidFill>
                        <a:srgbClr val="F48134"/>
                      </a:solidFill>
                      <a:prstDash val="solid"/>
                      <a:round/>
                      <a:headEnd type="none" w="med" len="med"/>
                      <a:tailEnd type="none" w="med" len="med"/>
                    </a:lnR>
                    <a:lnT w="12700" cap="flat" cmpd="sng" algn="ctr">
                      <a:solidFill>
                        <a:srgbClr val="F48134"/>
                      </a:solidFill>
                      <a:prstDash val="solid"/>
                      <a:round/>
                      <a:headEnd type="none" w="med" len="med"/>
                      <a:tailEnd type="none" w="med" len="med"/>
                    </a:lnT>
                    <a:lnB w="12700" cap="flat" cmpd="sng" algn="ctr">
                      <a:solidFill>
                        <a:srgbClr val="F48134"/>
                      </a:solidFill>
                      <a:prstDash val="solid"/>
                      <a:round/>
                      <a:headEnd type="none" w="med" len="med"/>
                      <a:tailEnd type="none" w="med" len="med"/>
                    </a:lnB>
                    <a:noFill/>
                  </a:tcPr>
                </a:tc>
                <a:extLst>
                  <a:ext uri="{0D108BD9-81ED-4DB2-BD59-A6C34878D82A}">
                    <a16:rowId xmlns:a16="http://schemas.microsoft.com/office/drawing/2014/main" val="983335706"/>
                  </a:ext>
                </a:extLst>
              </a:tr>
              <a:tr h="846477">
                <a:tc>
                  <a:txBody>
                    <a:bodyPr/>
                    <a:lstStyle/>
                    <a:p>
                      <a:pPr marR="482600">
                        <a:lnSpc>
                          <a:spcPct val="107000"/>
                        </a:lnSpc>
                        <a:spcAft>
                          <a:spcPts val="800"/>
                        </a:spcAft>
                        <a:buNone/>
                        <a:tabLst>
                          <a:tab pos="2985770" algn="l"/>
                        </a:tabLst>
                      </a:pPr>
                      <a:r>
                        <a:rPr lang="hr-HR" sz="1100" b="1" u="sng" dirty="0">
                          <a:solidFill>
                            <a:srgbClr val="0563C1"/>
                          </a:solidFill>
                          <a:effectLst/>
                          <a:latin typeface="Bahnschrift SemiLight" panose="020B0502040204020203" pitchFamily="34" charset="0"/>
                          <a:ea typeface="Calibri" panose="020F0502020204030204" pitchFamily="34" charset="0"/>
                          <a:cs typeface="Times New Roman" panose="02020603050405020304" pitchFamily="18" charset="0"/>
                          <a:hlinkClick r:id="rId8"/>
                        </a:rPr>
                        <a:t>https://www.solulab.com/role-of-ux-in-modern-web-design/#:~:text=User%20experience%20in%20web%20design,the%20success%20of%20digital%20platforms</a:t>
                      </a:r>
                      <a:endParaRPr lang="fr-BE" sz="1100" b="1" dirty="0">
                        <a:effectLst/>
                        <a:latin typeface="Bahnschrift SemiLight" panose="020B0502040204020203" pitchFamily="34" charset="0"/>
                        <a:ea typeface="Calibri" panose="020F0502020204030204" pitchFamily="34" charset="0"/>
                        <a:cs typeface="Times New Roman" panose="02020603050405020304" pitchFamily="18" charset="0"/>
                      </a:endParaRPr>
                    </a:p>
                  </a:txBody>
                  <a:tcPr marL="60089" marR="60089" marT="0" marB="0">
                    <a:lnL w="12700" cap="flat" cmpd="sng" algn="ctr">
                      <a:solidFill>
                        <a:srgbClr val="F48134"/>
                      </a:solidFill>
                      <a:prstDash val="solid"/>
                      <a:round/>
                      <a:headEnd type="none" w="med" len="med"/>
                      <a:tailEnd type="none" w="med" len="med"/>
                    </a:lnL>
                    <a:lnR w="12700" cap="flat" cmpd="sng" algn="ctr">
                      <a:solidFill>
                        <a:srgbClr val="F48134"/>
                      </a:solidFill>
                      <a:prstDash val="solid"/>
                      <a:round/>
                      <a:headEnd type="none" w="med" len="med"/>
                      <a:tailEnd type="none" w="med" len="med"/>
                    </a:lnR>
                    <a:lnT w="12700" cap="flat" cmpd="sng" algn="ctr">
                      <a:solidFill>
                        <a:srgbClr val="F48134"/>
                      </a:solidFill>
                      <a:prstDash val="solid"/>
                      <a:round/>
                      <a:headEnd type="none" w="med" len="med"/>
                      <a:tailEnd type="none" w="med" len="med"/>
                    </a:lnT>
                    <a:lnB w="12700" cap="flat" cmpd="sng" algn="ctr">
                      <a:solidFill>
                        <a:srgbClr val="F48134"/>
                      </a:solidFill>
                      <a:prstDash val="solid"/>
                      <a:round/>
                      <a:headEnd type="none" w="med" len="med"/>
                      <a:tailEnd type="none" w="med" len="med"/>
                    </a:lnB>
                    <a:noFill/>
                  </a:tcPr>
                </a:tc>
                <a:tc>
                  <a:txBody>
                    <a:bodyPr/>
                    <a:lstStyle/>
                    <a:p>
                      <a:pPr>
                        <a:lnSpc>
                          <a:spcPct val="107000"/>
                        </a:lnSpc>
                        <a:spcAft>
                          <a:spcPts val="800"/>
                        </a:spcAft>
                        <a:buNone/>
                      </a:pPr>
                      <a:r>
                        <a:rPr lang="hr-HR" sz="1200" b="1" kern="1200" dirty="0">
                          <a:solidFill>
                            <a:schemeClr val="tx1"/>
                          </a:solidFill>
                          <a:effectLst/>
                          <a:latin typeface="Bahnschrift SemiLight" panose="020B0502040204020203" pitchFamily="34" charset="0"/>
                          <a:ea typeface="Calibri" panose="020F0502020204030204" pitchFamily="34" charset="0"/>
                          <a:cs typeface="Times New Roman" panose="02020603050405020304" pitchFamily="18" charset="0"/>
                        </a:rPr>
                        <a:t>Uloga UX-a (iskustva korisnika) u modernom web dizajnu</a:t>
                      </a:r>
                      <a:endParaRPr lang="fr-BE" sz="1200" b="1" kern="1200" dirty="0">
                        <a:solidFill>
                          <a:schemeClr val="tx1"/>
                        </a:solidFill>
                        <a:effectLst/>
                        <a:latin typeface="Bahnschrift SemiLight" panose="020B0502040204020203" pitchFamily="34" charset="0"/>
                        <a:ea typeface="Calibri" panose="020F0502020204030204" pitchFamily="34" charset="0"/>
                        <a:cs typeface="Times New Roman" panose="02020603050405020304" pitchFamily="18" charset="0"/>
                      </a:endParaRPr>
                    </a:p>
                    <a:p>
                      <a:pPr>
                        <a:lnSpc>
                          <a:spcPct val="107000"/>
                        </a:lnSpc>
                        <a:spcAft>
                          <a:spcPts val="800"/>
                        </a:spcAft>
                        <a:buNone/>
                      </a:pPr>
                      <a:r>
                        <a:rPr lang="hr-HR" sz="1200" b="1" kern="1200" dirty="0">
                          <a:solidFill>
                            <a:schemeClr val="tx1"/>
                          </a:solidFill>
                          <a:effectLst/>
                          <a:latin typeface="Bahnschrift SemiLight" panose="020B0502040204020203" pitchFamily="34" charset="0"/>
                          <a:ea typeface="Calibri" panose="020F0502020204030204" pitchFamily="34" charset="0"/>
                          <a:cs typeface="Times New Roman" panose="02020603050405020304" pitchFamily="18" charset="0"/>
                        </a:rPr>
                        <a:t> </a:t>
                      </a:r>
                      <a:endParaRPr lang="fr-BE" sz="1200" b="1" kern="1200" dirty="0">
                        <a:solidFill>
                          <a:schemeClr val="tx1"/>
                        </a:solidFill>
                        <a:effectLst/>
                        <a:latin typeface="Bahnschrift SemiLight" panose="020B0502040204020203" pitchFamily="34" charset="0"/>
                        <a:ea typeface="Calibri" panose="020F0502020204030204" pitchFamily="34" charset="0"/>
                        <a:cs typeface="Times New Roman" panose="02020603050405020304" pitchFamily="18" charset="0"/>
                      </a:endParaRPr>
                    </a:p>
                  </a:txBody>
                  <a:tcPr marL="60089" marR="60089" marT="0" marB="0">
                    <a:lnL w="12700" cap="flat" cmpd="sng" algn="ctr">
                      <a:solidFill>
                        <a:srgbClr val="F48134"/>
                      </a:solidFill>
                      <a:prstDash val="solid"/>
                      <a:round/>
                      <a:headEnd type="none" w="med" len="med"/>
                      <a:tailEnd type="none" w="med" len="med"/>
                    </a:lnL>
                    <a:lnR w="12700" cap="flat" cmpd="sng" algn="ctr">
                      <a:solidFill>
                        <a:srgbClr val="F48134"/>
                      </a:solidFill>
                      <a:prstDash val="solid"/>
                      <a:round/>
                      <a:headEnd type="none" w="med" len="med"/>
                      <a:tailEnd type="none" w="med" len="med"/>
                    </a:lnR>
                    <a:lnT w="12700" cap="flat" cmpd="sng" algn="ctr">
                      <a:solidFill>
                        <a:srgbClr val="F48134"/>
                      </a:solidFill>
                      <a:prstDash val="solid"/>
                      <a:round/>
                      <a:headEnd type="none" w="med" len="med"/>
                      <a:tailEnd type="none" w="med" len="med"/>
                    </a:lnT>
                    <a:lnB w="12700" cap="flat" cmpd="sng" algn="ctr">
                      <a:solidFill>
                        <a:srgbClr val="F48134"/>
                      </a:solidFill>
                      <a:prstDash val="solid"/>
                      <a:round/>
                      <a:headEnd type="none" w="med" len="med"/>
                      <a:tailEnd type="none" w="med" len="med"/>
                    </a:lnB>
                    <a:noFill/>
                  </a:tcPr>
                </a:tc>
                <a:extLst>
                  <a:ext uri="{0D108BD9-81ED-4DB2-BD59-A6C34878D82A}">
                    <a16:rowId xmlns:a16="http://schemas.microsoft.com/office/drawing/2014/main" val="1148910509"/>
                  </a:ext>
                </a:extLst>
              </a:tr>
              <a:tr h="503524">
                <a:tc>
                  <a:txBody>
                    <a:bodyPr/>
                    <a:lstStyle/>
                    <a:p>
                      <a:pPr marR="482600">
                        <a:lnSpc>
                          <a:spcPct val="107000"/>
                        </a:lnSpc>
                        <a:spcAft>
                          <a:spcPts val="800"/>
                        </a:spcAft>
                        <a:buNone/>
                        <a:tabLst>
                          <a:tab pos="2985770" algn="l"/>
                        </a:tabLst>
                      </a:pPr>
                      <a:r>
                        <a:rPr lang="hr-HR" sz="1100" b="1" u="sng" dirty="0">
                          <a:solidFill>
                            <a:srgbClr val="0563C1"/>
                          </a:solidFill>
                          <a:effectLst/>
                          <a:latin typeface="Bahnschrift SemiLight" panose="020B0502040204020203" pitchFamily="34" charset="0"/>
                          <a:ea typeface="Calibri" panose="020F0502020204030204" pitchFamily="34" charset="0"/>
                          <a:cs typeface="Times New Roman" panose="02020603050405020304" pitchFamily="18" charset="0"/>
                          <a:hlinkClick r:id="rId9"/>
                        </a:rPr>
                        <a:t>https://www.interaction-design.org/literature/topics/ux-design</a:t>
                      </a:r>
                      <a:endParaRPr lang="fr-BE" sz="1100" b="1" dirty="0">
                        <a:effectLst/>
                        <a:latin typeface="Bahnschrift SemiLight" panose="020B0502040204020203" pitchFamily="34" charset="0"/>
                        <a:ea typeface="Calibri" panose="020F0502020204030204" pitchFamily="34" charset="0"/>
                        <a:cs typeface="Times New Roman" panose="02020603050405020304" pitchFamily="18" charset="0"/>
                      </a:endParaRPr>
                    </a:p>
                  </a:txBody>
                  <a:tcPr marL="60089" marR="60089" marT="0" marB="0">
                    <a:lnL w="12700" cap="flat" cmpd="sng" algn="ctr">
                      <a:solidFill>
                        <a:srgbClr val="F48134"/>
                      </a:solidFill>
                      <a:prstDash val="solid"/>
                      <a:round/>
                      <a:headEnd type="none" w="med" len="med"/>
                      <a:tailEnd type="none" w="med" len="med"/>
                    </a:lnL>
                    <a:lnR w="12700" cap="flat" cmpd="sng" algn="ctr">
                      <a:solidFill>
                        <a:srgbClr val="F48134"/>
                      </a:solidFill>
                      <a:prstDash val="solid"/>
                      <a:round/>
                      <a:headEnd type="none" w="med" len="med"/>
                      <a:tailEnd type="none" w="med" len="med"/>
                    </a:lnR>
                    <a:lnT w="12700" cap="flat" cmpd="sng" algn="ctr">
                      <a:solidFill>
                        <a:srgbClr val="F48134"/>
                      </a:solidFill>
                      <a:prstDash val="solid"/>
                      <a:round/>
                      <a:headEnd type="none" w="med" len="med"/>
                      <a:tailEnd type="none" w="med" len="med"/>
                    </a:lnT>
                    <a:lnB w="12700" cap="flat" cmpd="sng" algn="ctr">
                      <a:solidFill>
                        <a:srgbClr val="F48134"/>
                      </a:solidFill>
                      <a:prstDash val="solid"/>
                      <a:round/>
                      <a:headEnd type="none" w="med" len="med"/>
                      <a:tailEnd type="none" w="med" len="med"/>
                    </a:lnB>
                    <a:noFill/>
                  </a:tcPr>
                </a:tc>
                <a:tc>
                  <a:txBody>
                    <a:bodyPr/>
                    <a:lstStyle/>
                    <a:p>
                      <a:pPr>
                        <a:lnSpc>
                          <a:spcPct val="107000"/>
                        </a:lnSpc>
                        <a:spcAft>
                          <a:spcPts val="800"/>
                        </a:spcAft>
                        <a:buNone/>
                      </a:pPr>
                      <a:r>
                        <a:rPr lang="hr-HR" sz="1200" b="1" kern="1200" dirty="0">
                          <a:solidFill>
                            <a:schemeClr val="tx1"/>
                          </a:solidFill>
                          <a:effectLst/>
                          <a:latin typeface="Bahnschrift SemiLight" panose="020B0502040204020203" pitchFamily="34" charset="0"/>
                          <a:ea typeface="Calibri" panose="020F0502020204030204" pitchFamily="34" charset="0"/>
                          <a:cs typeface="Times New Roman" panose="02020603050405020304" pitchFamily="18" charset="0"/>
                        </a:rPr>
                        <a:t>Što je iskustvo korisnika u (UX) dizajnu?</a:t>
                      </a:r>
                      <a:endParaRPr lang="fr-BE" sz="1200" b="1" kern="1200" dirty="0">
                        <a:solidFill>
                          <a:schemeClr val="tx1"/>
                        </a:solidFill>
                        <a:effectLst/>
                        <a:latin typeface="Bahnschrift SemiLight" panose="020B0502040204020203" pitchFamily="34" charset="0"/>
                        <a:ea typeface="Calibri" panose="020F0502020204030204" pitchFamily="34" charset="0"/>
                        <a:cs typeface="Times New Roman" panose="02020603050405020304" pitchFamily="18" charset="0"/>
                      </a:endParaRPr>
                    </a:p>
                  </a:txBody>
                  <a:tcPr marL="60089" marR="60089" marT="0" marB="0">
                    <a:lnL w="12700" cap="flat" cmpd="sng" algn="ctr">
                      <a:solidFill>
                        <a:srgbClr val="F48134"/>
                      </a:solidFill>
                      <a:prstDash val="solid"/>
                      <a:round/>
                      <a:headEnd type="none" w="med" len="med"/>
                      <a:tailEnd type="none" w="med" len="med"/>
                    </a:lnL>
                    <a:lnR w="12700" cap="flat" cmpd="sng" algn="ctr">
                      <a:solidFill>
                        <a:srgbClr val="F48134"/>
                      </a:solidFill>
                      <a:prstDash val="solid"/>
                      <a:round/>
                      <a:headEnd type="none" w="med" len="med"/>
                      <a:tailEnd type="none" w="med" len="med"/>
                    </a:lnR>
                    <a:lnT w="12700" cap="flat" cmpd="sng" algn="ctr">
                      <a:solidFill>
                        <a:srgbClr val="F48134"/>
                      </a:solidFill>
                      <a:prstDash val="solid"/>
                      <a:round/>
                      <a:headEnd type="none" w="med" len="med"/>
                      <a:tailEnd type="none" w="med" len="med"/>
                    </a:lnT>
                    <a:lnB w="12700" cap="flat" cmpd="sng" algn="ctr">
                      <a:solidFill>
                        <a:srgbClr val="F48134"/>
                      </a:solidFill>
                      <a:prstDash val="solid"/>
                      <a:round/>
                      <a:headEnd type="none" w="med" len="med"/>
                      <a:tailEnd type="none" w="med" len="med"/>
                    </a:lnB>
                    <a:noFill/>
                  </a:tcPr>
                </a:tc>
                <a:extLst>
                  <a:ext uri="{0D108BD9-81ED-4DB2-BD59-A6C34878D82A}">
                    <a16:rowId xmlns:a16="http://schemas.microsoft.com/office/drawing/2014/main" val="2418051351"/>
                  </a:ext>
                </a:extLst>
              </a:tr>
              <a:tr h="503524">
                <a:tc>
                  <a:txBody>
                    <a:bodyPr/>
                    <a:lstStyle/>
                    <a:p>
                      <a:pPr marR="482600">
                        <a:lnSpc>
                          <a:spcPct val="107000"/>
                        </a:lnSpc>
                        <a:spcAft>
                          <a:spcPts val="800"/>
                        </a:spcAft>
                        <a:buNone/>
                        <a:tabLst>
                          <a:tab pos="2985770" algn="l"/>
                        </a:tabLst>
                      </a:pPr>
                      <a:r>
                        <a:rPr lang="hr-HR" sz="1100" b="1" u="sng" dirty="0">
                          <a:solidFill>
                            <a:srgbClr val="0563C1"/>
                          </a:solidFill>
                          <a:effectLst/>
                          <a:latin typeface="Bahnschrift SemiLight" panose="020B0502040204020203" pitchFamily="34" charset="0"/>
                          <a:ea typeface="Calibri" panose="020F0502020204030204" pitchFamily="34" charset="0"/>
                          <a:cs typeface="Times New Roman" panose="02020603050405020304" pitchFamily="18" charset="0"/>
                          <a:hlinkClick r:id="rId10"/>
                        </a:rPr>
                        <a:t>https://www.uxpin.com/studio/blog/guide-design-consistency-best-practices-ui-ux-designers/</a:t>
                      </a:r>
                      <a:endParaRPr lang="fr-BE" sz="1100" b="1" dirty="0">
                        <a:effectLst/>
                        <a:latin typeface="Bahnschrift SemiLight" panose="020B0502040204020203" pitchFamily="34" charset="0"/>
                        <a:ea typeface="Calibri" panose="020F0502020204030204" pitchFamily="34" charset="0"/>
                        <a:cs typeface="Times New Roman" panose="02020603050405020304" pitchFamily="18" charset="0"/>
                      </a:endParaRPr>
                    </a:p>
                  </a:txBody>
                  <a:tcPr marL="60089" marR="60089" marT="0" marB="0">
                    <a:lnL w="12700" cap="flat" cmpd="sng" algn="ctr">
                      <a:solidFill>
                        <a:srgbClr val="F48134"/>
                      </a:solidFill>
                      <a:prstDash val="solid"/>
                      <a:round/>
                      <a:headEnd type="none" w="med" len="med"/>
                      <a:tailEnd type="none" w="med" len="med"/>
                    </a:lnL>
                    <a:lnR w="12700" cap="flat" cmpd="sng" algn="ctr">
                      <a:solidFill>
                        <a:srgbClr val="F48134"/>
                      </a:solidFill>
                      <a:prstDash val="solid"/>
                      <a:round/>
                      <a:headEnd type="none" w="med" len="med"/>
                      <a:tailEnd type="none" w="med" len="med"/>
                    </a:lnR>
                    <a:lnT w="12700" cap="flat" cmpd="sng" algn="ctr">
                      <a:solidFill>
                        <a:srgbClr val="F48134"/>
                      </a:solidFill>
                      <a:prstDash val="solid"/>
                      <a:round/>
                      <a:headEnd type="none" w="med" len="med"/>
                      <a:tailEnd type="none" w="med" len="med"/>
                    </a:lnT>
                    <a:lnB w="12700" cap="flat" cmpd="sng" algn="ctr">
                      <a:solidFill>
                        <a:srgbClr val="F48134"/>
                      </a:solidFill>
                      <a:prstDash val="solid"/>
                      <a:round/>
                      <a:headEnd type="none" w="med" len="med"/>
                      <a:tailEnd type="none" w="med" len="med"/>
                    </a:lnB>
                    <a:noFill/>
                  </a:tcPr>
                </a:tc>
                <a:tc>
                  <a:txBody>
                    <a:bodyPr/>
                    <a:lstStyle/>
                    <a:p>
                      <a:pPr>
                        <a:lnSpc>
                          <a:spcPct val="107000"/>
                        </a:lnSpc>
                        <a:spcAft>
                          <a:spcPts val="800"/>
                        </a:spcAft>
                        <a:buNone/>
                      </a:pPr>
                      <a:r>
                        <a:rPr lang="hr-HR" sz="1200" b="1" kern="1200" dirty="0">
                          <a:solidFill>
                            <a:schemeClr val="tx1"/>
                          </a:solidFill>
                          <a:effectLst/>
                          <a:latin typeface="Bahnschrift SemiLight" panose="020B0502040204020203" pitchFamily="34" charset="0"/>
                          <a:ea typeface="Calibri" panose="020F0502020204030204" pitchFamily="34" charset="0"/>
                          <a:cs typeface="Times New Roman" panose="02020603050405020304" pitchFamily="18" charset="0"/>
                        </a:rPr>
                        <a:t>Vodič za dosljedan dizajn – najbolje prakse u UI i UX dizajnu</a:t>
                      </a:r>
                      <a:endParaRPr lang="fr-BE" sz="1200" b="1" kern="1200" dirty="0">
                        <a:solidFill>
                          <a:schemeClr val="tx1"/>
                        </a:solidFill>
                        <a:effectLst/>
                        <a:latin typeface="Bahnschrift SemiLight" panose="020B0502040204020203" pitchFamily="34" charset="0"/>
                        <a:ea typeface="Calibri" panose="020F0502020204030204" pitchFamily="34" charset="0"/>
                        <a:cs typeface="Times New Roman" panose="02020603050405020304" pitchFamily="18" charset="0"/>
                      </a:endParaRPr>
                    </a:p>
                  </a:txBody>
                  <a:tcPr marL="60089" marR="60089" marT="0" marB="0">
                    <a:lnL w="12700" cap="flat" cmpd="sng" algn="ctr">
                      <a:solidFill>
                        <a:srgbClr val="F48134"/>
                      </a:solidFill>
                      <a:prstDash val="solid"/>
                      <a:round/>
                      <a:headEnd type="none" w="med" len="med"/>
                      <a:tailEnd type="none" w="med" len="med"/>
                    </a:lnL>
                    <a:lnR w="12700" cap="flat" cmpd="sng" algn="ctr">
                      <a:solidFill>
                        <a:srgbClr val="F48134"/>
                      </a:solidFill>
                      <a:prstDash val="solid"/>
                      <a:round/>
                      <a:headEnd type="none" w="med" len="med"/>
                      <a:tailEnd type="none" w="med" len="med"/>
                    </a:lnR>
                    <a:lnT w="12700" cap="flat" cmpd="sng" algn="ctr">
                      <a:solidFill>
                        <a:srgbClr val="F48134"/>
                      </a:solidFill>
                      <a:prstDash val="solid"/>
                      <a:round/>
                      <a:headEnd type="none" w="med" len="med"/>
                      <a:tailEnd type="none" w="med" len="med"/>
                    </a:lnT>
                    <a:lnB w="12700" cap="flat" cmpd="sng" algn="ctr">
                      <a:solidFill>
                        <a:srgbClr val="F48134"/>
                      </a:solidFill>
                      <a:prstDash val="solid"/>
                      <a:round/>
                      <a:headEnd type="none" w="med" len="med"/>
                      <a:tailEnd type="none" w="med" len="med"/>
                    </a:lnB>
                    <a:noFill/>
                  </a:tcPr>
                </a:tc>
                <a:extLst>
                  <a:ext uri="{0D108BD9-81ED-4DB2-BD59-A6C34878D82A}">
                    <a16:rowId xmlns:a16="http://schemas.microsoft.com/office/drawing/2014/main" val="1535359599"/>
                  </a:ext>
                </a:extLst>
              </a:tr>
              <a:tr h="332048">
                <a:tc>
                  <a:txBody>
                    <a:bodyPr/>
                    <a:lstStyle/>
                    <a:p>
                      <a:pPr marR="482600">
                        <a:lnSpc>
                          <a:spcPct val="107000"/>
                        </a:lnSpc>
                        <a:spcAft>
                          <a:spcPts val="800"/>
                        </a:spcAft>
                        <a:buNone/>
                        <a:tabLst>
                          <a:tab pos="2985770" algn="l"/>
                        </a:tabLst>
                      </a:pPr>
                      <a:r>
                        <a:rPr lang="hr-HR" sz="1100" b="1" u="sng" dirty="0">
                          <a:solidFill>
                            <a:srgbClr val="0563C1"/>
                          </a:solidFill>
                          <a:effectLst/>
                          <a:latin typeface="Bahnschrift SemiLight" panose="020B0502040204020203" pitchFamily="34" charset="0"/>
                          <a:ea typeface="Calibri" panose="020F0502020204030204" pitchFamily="34" charset="0"/>
                          <a:cs typeface="Times New Roman" panose="02020603050405020304" pitchFamily="18" charset="0"/>
                          <a:hlinkClick r:id="rId11"/>
                        </a:rPr>
                        <a:t>https://baymard.com/learn/ux-design-principles</a:t>
                      </a:r>
                      <a:endParaRPr lang="fr-BE" sz="1100" b="1" dirty="0">
                        <a:effectLst/>
                        <a:latin typeface="Bahnschrift SemiLight" panose="020B0502040204020203" pitchFamily="34" charset="0"/>
                        <a:ea typeface="Calibri" panose="020F0502020204030204" pitchFamily="34" charset="0"/>
                        <a:cs typeface="Times New Roman" panose="02020603050405020304" pitchFamily="18" charset="0"/>
                      </a:endParaRPr>
                    </a:p>
                  </a:txBody>
                  <a:tcPr marL="60089" marR="60089" marT="0" marB="0">
                    <a:lnL w="12700" cap="flat" cmpd="sng" algn="ctr">
                      <a:solidFill>
                        <a:srgbClr val="F48134"/>
                      </a:solidFill>
                      <a:prstDash val="solid"/>
                      <a:round/>
                      <a:headEnd type="none" w="med" len="med"/>
                      <a:tailEnd type="none" w="med" len="med"/>
                    </a:lnL>
                    <a:lnR w="12700" cap="flat" cmpd="sng" algn="ctr">
                      <a:solidFill>
                        <a:srgbClr val="F48134"/>
                      </a:solidFill>
                      <a:prstDash val="solid"/>
                      <a:round/>
                      <a:headEnd type="none" w="med" len="med"/>
                      <a:tailEnd type="none" w="med" len="med"/>
                    </a:lnR>
                    <a:lnT w="12700" cap="flat" cmpd="sng" algn="ctr">
                      <a:solidFill>
                        <a:srgbClr val="F48134"/>
                      </a:solidFill>
                      <a:prstDash val="solid"/>
                      <a:round/>
                      <a:headEnd type="none" w="med" len="med"/>
                      <a:tailEnd type="none" w="med" len="med"/>
                    </a:lnT>
                    <a:lnB w="12700" cap="flat" cmpd="sng" algn="ctr">
                      <a:solidFill>
                        <a:srgbClr val="F48134"/>
                      </a:solidFill>
                      <a:prstDash val="solid"/>
                      <a:round/>
                      <a:headEnd type="none" w="med" len="med"/>
                      <a:tailEnd type="none" w="med" len="med"/>
                    </a:lnB>
                    <a:noFill/>
                  </a:tcPr>
                </a:tc>
                <a:tc>
                  <a:txBody>
                    <a:bodyPr/>
                    <a:lstStyle/>
                    <a:p>
                      <a:pPr>
                        <a:lnSpc>
                          <a:spcPct val="107000"/>
                        </a:lnSpc>
                        <a:spcAft>
                          <a:spcPts val="800"/>
                        </a:spcAft>
                        <a:buNone/>
                      </a:pPr>
                      <a:r>
                        <a:rPr lang="hr-HR" sz="1200" b="1" kern="1200" dirty="0">
                          <a:solidFill>
                            <a:schemeClr val="tx1"/>
                          </a:solidFill>
                          <a:effectLst/>
                          <a:latin typeface="Bahnschrift SemiLight" panose="020B0502040204020203" pitchFamily="34" charset="0"/>
                          <a:ea typeface="Calibri" panose="020F0502020204030204" pitchFamily="34" charset="0"/>
                          <a:cs typeface="Times New Roman" panose="02020603050405020304" pitchFamily="18" charset="0"/>
                        </a:rPr>
                        <a:t>Najbolje prakse i ključna načela UX dizajna</a:t>
                      </a:r>
                      <a:endParaRPr lang="fr-BE" sz="1200" b="1" kern="1200" dirty="0">
                        <a:solidFill>
                          <a:schemeClr val="tx1"/>
                        </a:solidFill>
                        <a:effectLst/>
                        <a:latin typeface="Bahnschrift SemiLight" panose="020B0502040204020203" pitchFamily="34" charset="0"/>
                        <a:ea typeface="Calibri" panose="020F0502020204030204" pitchFamily="34" charset="0"/>
                        <a:cs typeface="Times New Roman" panose="02020603050405020304" pitchFamily="18" charset="0"/>
                      </a:endParaRPr>
                    </a:p>
                  </a:txBody>
                  <a:tcPr marL="60089" marR="60089" marT="0" marB="0">
                    <a:lnL w="12700" cap="flat" cmpd="sng" algn="ctr">
                      <a:solidFill>
                        <a:srgbClr val="F48134"/>
                      </a:solidFill>
                      <a:prstDash val="solid"/>
                      <a:round/>
                      <a:headEnd type="none" w="med" len="med"/>
                      <a:tailEnd type="none" w="med" len="med"/>
                    </a:lnL>
                    <a:lnR w="12700" cap="flat" cmpd="sng" algn="ctr">
                      <a:solidFill>
                        <a:srgbClr val="F48134"/>
                      </a:solidFill>
                      <a:prstDash val="solid"/>
                      <a:round/>
                      <a:headEnd type="none" w="med" len="med"/>
                      <a:tailEnd type="none" w="med" len="med"/>
                    </a:lnR>
                    <a:lnT w="12700" cap="flat" cmpd="sng" algn="ctr">
                      <a:solidFill>
                        <a:srgbClr val="F48134"/>
                      </a:solidFill>
                      <a:prstDash val="solid"/>
                      <a:round/>
                      <a:headEnd type="none" w="med" len="med"/>
                      <a:tailEnd type="none" w="med" len="med"/>
                    </a:lnT>
                    <a:lnB w="12700" cap="flat" cmpd="sng" algn="ctr">
                      <a:solidFill>
                        <a:srgbClr val="F48134"/>
                      </a:solidFill>
                      <a:prstDash val="solid"/>
                      <a:round/>
                      <a:headEnd type="none" w="med" len="med"/>
                      <a:tailEnd type="none" w="med" len="med"/>
                    </a:lnB>
                    <a:noFill/>
                  </a:tcPr>
                </a:tc>
                <a:extLst>
                  <a:ext uri="{0D108BD9-81ED-4DB2-BD59-A6C34878D82A}">
                    <a16:rowId xmlns:a16="http://schemas.microsoft.com/office/drawing/2014/main" val="3537557662"/>
                  </a:ext>
                </a:extLst>
              </a:tr>
            </a:tbl>
          </a:graphicData>
        </a:graphic>
      </p:graphicFrame>
    </p:spTree>
    <p:extLst>
      <p:ext uri="{BB962C8B-B14F-4D97-AF65-F5344CB8AC3E}">
        <p14:creationId xmlns:p14="http://schemas.microsoft.com/office/powerpoint/2010/main" val="3168611797"/>
      </p:ext>
    </p:extLst>
  </p:cSld>
  <p:clrMapOvr>
    <a:masterClrMapping/>
  </p:clrMapOvr>
</p:sld>
</file>

<file path=ppt/theme/theme1.xml><?xml version="1.0" encoding="utf-8"?>
<a:theme xmlns:a="http://schemas.openxmlformats.org/drawingml/2006/main" name="Tema sustava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2">
    <wetp:webextensionref xmlns:r="http://schemas.openxmlformats.org/officeDocument/2006/relationships" r:id="rId1"/>
  </wetp:taskpane>
  <wetp:taskpane dockstate="right" visibility="0" width="350" row="1">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7ADC1A95-6C56-4587-84E8-09CBD922BB3C}">
  <we:reference id="135565c1-a7e4-41ef-a151-04725413e45f" version="2.0.0.0" store="EXCatalog" storeType="EXCatalog"/>
  <we:alternateReferences>
    <we:reference id="WA200005669" version="2.0.0.0" store="en-US"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F9A0C5D6-F2AB-4AF3-A12D-A0C3BAC63C77}">
  <we:reference id="b976bf9e-dd87-459f-840c-210c09b36273" version="3.0.0.2" store="EXCatalog" storeType="EXCatalog"/>
  <we:alternateReferences>
    <we:reference id="WA200005566" version="3.0.0.2" store="en-US"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8504FBE6F52C04FB2A4B7EA498E9F89" ma:contentTypeVersion="18" ma:contentTypeDescription="Crée un document." ma:contentTypeScope="" ma:versionID="c4dbb55318fc8e39eb2fe2d406416e6f">
  <xsd:schema xmlns:xsd="http://www.w3.org/2001/XMLSchema" xmlns:xs="http://www.w3.org/2001/XMLSchema" xmlns:p="http://schemas.microsoft.com/office/2006/metadata/properties" xmlns:ns2="131140c4-3360-46ff-98f6-a26ac4f9e7c6" xmlns:ns3="bf2580ef-a796-40e3-be8d-6830ba55d2d8" targetNamespace="http://schemas.microsoft.com/office/2006/metadata/properties" ma:root="true" ma:fieldsID="d3b5e8672349ee810ad0bac57695497d" ns2:_="" ns3:_="">
    <xsd:import namespace="131140c4-3360-46ff-98f6-a26ac4f9e7c6"/>
    <xsd:import namespace="bf2580ef-a796-40e3-be8d-6830ba55d2d8"/>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GenerationTime" minOccurs="0"/>
                <xsd:element ref="ns2:MediaServiceEventHashCode" minOccurs="0"/>
                <xsd:element ref="ns2:MediaServiceOCR" minOccurs="0"/>
                <xsd:element ref="ns2:MediaServiceDateTaken" minOccurs="0"/>
                <xsd:element ref="ns2:MediaServiceAutoKeyPoints" minOccurs="0"/>
                <xsd:element ref="ns2:MediaServiceKeyPoints" minOccurs="0"/>
                <xsd:element ref="ns2:MediaLengthInSeconds" minOccurs="0"/>
                <xsd:element ref="ns3:SharedWithUsers" minOccurs="0"/>
                <xsd:element ref="ns3:SharedWithDetails" minOccurs="0"/>
                <xsd:element ref="ns2:MediaServiceLocation"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31140c4-3360-46ff-98f6-a26ac4f9e7c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LengthInSeconds" ma:index="17" nillable="true" ma:displayName="Length (seconds)" ma:internalName="MediaLengthInSeconds" ma:readOnly="true">
      <xsd:simpleType>
        <xsd:restriction base="dms:Unknown"/>
      </xsd:simpleType>
    </xsd:element>
    <xsd:element name="MediaServiceLocation" ma:index="20"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Balises d’images" ma:readOnly="false" ma:fieldId="{5cf76f15-5ced-4ddc-b409-7134ff3c332f}" ma:taxonomyMulti="true" ma:sspId="3907250d-aa00-4f19-8a1b-ff6a91677b1c"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bf2580ef-a796-40e3-be8d-6830ba55d2d8" elementFormDefault="qualified">
    <xsd:import namespace="http://schemas.microsoft.com/office/2006/documentManagement/types"/>
    <xsd:import namespace="http://schemas.microsoft.com/office/infopath/2007/PartnerControls"/>
    <xsd:element name="SharedWithUsers" ma:index="18"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Partagé avec détails" ma:internalName="SharedWithDetails" ma:readOnly="true">
      <xsd:simpleType>
        <xsd:restriction base="dms:Note">
          <xsd:maxLength value="255"/>
        </xsd:restriction>
      </xsd:simpleType>
    </xsd:element>
    <xsd:element name="TaxCatchAll" ma:index="23" nillable="true" ma:displayName="Taxonomy Catch All Column" ma:hidden="true" ma:list="{eb8aacb9-cb6a-4872-9b78-6276c0f03934}" ma:internalName="TaxCatchAll" ma:showField="CatchAllData" ma:web="bf2580ef-a796-40e3-be8d-6830ba55d2d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131140c4-3360-46ff-98f6-a26ac4f9e7c6">
      <Terms xmlns="http://schemas.microsoft.com/office/infopath/2007/PartnerControls"/>
    </lcf76f155ced4ddcb4097134ff3c332f>
    <TaxCatchAll xmlns="bf2580ef-a796-40e3-be8d-6830ba55d2d8"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E7425F5-88A1-42C8-982A-866E7A48A65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31140c4-3360-46ff-98f6-a26ac4f9e7c6"/>
    <ds:schemaRef ds:uri="bf2580ef-a796-40e3-be8d-6830ba55d2d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84CABAF-EFBA-4193-98DE-8CDEF17F22C7}">
  <ds:schemaRefs>
    <ds:schemaRef ds:uri="15d97abc-4b31-4075-bf11-d83a2f703467"/>
    <ds:schemaRef ds:uri="http://purl.org/dc/dcmitype/"/>
    <ds:schemaRef ds:uri="http://schemas.microsoft.com/office/2006/metadata/properties"/>
    <ds:schemaRef ds:uri="http://purl.org/dc/terms/"/>
    <ds:schemaRef ds:uri="http://schemas.microsoft.com/office/infopath/2007/PartnerControls"/>
    <ds:schemaRef ds:uri="217e628a-7dd1-4ebc-9dd6-f06149bac755"/>
    <ds:schemaRef ds:uri="http://www.w3.org/XML/1998/namespace"/>
    <ds:schemaRef ds:uri="http://schemas.microsoft.com/office/2006/documentManagement/types"/>
    <ds:schemaRef ds:uri="http://schemas.openxmlformats.org/package/2006/metadata/core-properties"/>
    <ds:schemaRef ds:uri="http://purl.org/dc/elements/1.1/"/>
    <ds:schemaRef ds:uri="131140c4-3360-46ff-98f6-a26ac4f9e7c6"/>
    <ds:schemaRef ds:uri="bf2580ef-a796-40e3-be8d-6830ba55d2d8"/>
  </ds:schemaRefs>
</ds:datastoreItem>
</file>

<file path=customXml/itemProps3.xml><?xml version="1.0" encoding="utf-8"?>
<ds:datastoreItem xmlns:ds="http://schemas.openxmlformats.org/officeDocument/2006/customXml" ds:itemID="{FE82EE56-CAFF-45FC-A693-AD8F21A4AEB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77797</TotalTime>
  <Words>1970</Words>
  <Application>Microsoft Macintosh PowerPoint</Application>
  <PresentationFormat>Widescreen</PresentationFormat>
  <Paragraphs>186</Paragraphs>
  <Slides>18</Slides>
  <Notes>15</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18</vt:i4>
      </vt:variant>
    </vt:vector>
  </HeadingPairs>
  <TitlesOfParts>
    <vt:vector size="30" baseType="lpstr">
      <vt:lpstr>Aptos</vt:lpstr>
      <vt:lpstr>Arial</vt:lpstr>
      <vt:lpstr>Bahnschrift</vt:lpstr>
      <vt:lpstr>Bahnschrift SemiBold</vt:lpstr>
      <vt:lpstr>Bahnschrift SemiLight</vt:lpstr>
      <vt:lpstr>Calibri</vt:lpstr>
      <vt:lpstr>Calibri Light</vt:lpstr>
      <vt:lpstr>Montserrat</vt:lpstr>
      <vt:lpstr>Nunito</vt:lpstr>
      <vt:lpstr>sohne</vt:lpstr>
      <vt:lpstr>Wingdings</vt:lpstr>
      <vt:lpstr>Tema sustava Office</vt:lpstr>
      <vt:lpstr>SHIFT4IT</vt:lpstr>
      <vt:lpstr>Uvod u UX-UI</vt:lpstr>
      <vt:lpstr>Module Program</vt:lpstr>
      <vt:lpstr>Istine i laž</vt:lpstr>
      <vt:lpstr>Sažetak</vt:lpstr>
      <vt:lpstr>Uvod u UX &amp; UI</vt:lpstr>
      <vt:lpstr>Uvod u UX &amp; UI</vt:lpstr>
      <vt:lpstr>Definicije</vt:lpstr>
      <vt:lpstr>Prednosti UI/UX dizajna</vt:lpstr>
      <vt:lpstr>UI vs UX DESIGN </vt:lpstr>
      <vt:lpstr>UI vs UX DESIGN</vt:lpstr>
      <vt:lpstr>5 razina korisničkog iskustva</vt:lpstr>
      <vt:lpstr>UX proces</vt:lpstr>
      <vt:lpstr>Uvod u projekt</vt:lpstr>
      <vt:lpstr>UX-UI praktični riječnik pojmova</vt:lpstr>
      <vt:lpstr>Najbolji besplatni UI/UX alati</vt:lpstr>
      <vt:lpstr>Izvori</vt:lpstr>
      <vt:lpstr>Dodatni materijali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prezentacija</dc:title>
  <dc:creator>Božica Bajčić</dc:creator>
  <cp:lastModifiedBy>Dino Duvnjak</cp:lastModifiedBy>
  <cp:revision>15</cp:revision>
  <dcterms:created xsi:type="dcterms:W3CDTF">2024-02-12T13:35:47Z</dcterms:created>
  <dcterms:modified xsi:type="dcterms:W3CDTF">2026-03-13T14:01:01Z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0x01010048504FBE6F52C04FB2A4B7EA498E9F89</vt:lpwstr>
  </property>
  <property fmtid="{D5CDD505-2E9C-101B-9397-08002B2CF9AE}" pid="3" name="MediaServiceImageTags">
    <vt:lpwstr/>
  </property>
</Properties>
</file>
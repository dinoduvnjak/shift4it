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2"/>
  </p:notesMasterIdLst>
  <p:sldIdLst>
    <p:sldId id="742" r:id="rId5"/>
    <p:sldId id="256" r:id="rId6"/>
    <p:sldId id="741" r:id="rId7"/>
    <p:sldId id="386" r:id="rId8"/>
    <p:sldId id="339" r:id="rId9"/>
    <p:sldId id="387" r:id="rId10"/>
    <p:sldId id="402" r:id="rId11"/>
    <p:sldId id="403" r:id="rId12"/>
    <p:sldId id="405" r:id="rId13"/>
    <p:sldId id="406" r:id="rId14"/>
    <p:sldId id="388" r:id="rId15"/>
    <p:sldId id="389" r:id="rId16"/>
    <p:sldId id="390" r:id="rId17"/>
    <p:sldId id="391" r:id="rId18"/>
    <p:sldId id="392" r:id="rId19"/>
    <p:sldId id="398" r:id="rId20"/>
    <p:sldId id="399" r:id="rId21"/>
    <p:sldId id="400" r:id="rId22"/>
    <p:sldId id="401" r:id="rId23"/>
    <p:sldId id="407" r:id="rId24"/>
    <p:sldId id="408" r:id="rId25"/>
    <p:sldId id="429" r:id="rId26"/>
    <p:sldId id="430" r:id="rId27"/>
    <p:sldId id="284" r:id="rId28"/>
    <p:sldId id="740" r:id="rId29"/>
    <p:sldId id="286" r:id="rId30"/>
    <p:sldId id="287" r:id="rId31"/>
    <p:sldId id="434" r:id="rId32"/>
    <p:sldId id="435" r:id="rId33"/>
    <p:sldId id="436" r:id="rId34"/>
    <p:sldId id="437" r:id="rId35"/>
    <p:sldId id="438" r:id="rId36"/>
    <p:sldId id="432" r:id="rId37"/>
    <p:sldId id="431" r:id="rId38"/>
    <p:sldId id="306" r:id="rId39"/>
    <p:sldId id="309" r:id="rId40"/>
    <p:sldId id="425" r:id="rId41"/>
    <p:sldId id="426" r:id="rId42"/>
    <p:sldId id="419" r:id="rId43"/>
    <p:sldId id="424" r:id="rId44"/>
    <p:sldId id="302" r:id="rId45"/>
    <p:sldId id="433" r:id="rId46"/>
    <p:sldId id="418" r:id="rId47"/>
    <p:sldId id="428" r:id="rId48"/>
    <p:sldId id="427" r:id="rId49"/>
    <p:sldId id="420" r:id="rId50"/>
    <p:sldId id="421" r:id="rId51"/>
    <p:sldId id="422" r:id="rId52"/>
    <p:sldId id="423" r:id="rId53"/>
    <p:sldId id="439" r:id="rId54"/>
    <p:sldId id="264" r:id="rId55"/>
    <p:sldId id="409" r:id="rId56"/>
    <p:sldId id="410" r:id="rId57"/>
    <p:sldId id="411" r:id="rId58"/>
    <p:sldId id="412" r:id="rId59"/>
    <p:sldId id="397" r:id="rId60"/>
    <p:sldId id="396" r:id="rId61"/>
    <p:sldId id="395" r:id="rId62"/>
    <p:sldId id="393" r:id="rId63"/>
    <p:sldId id="394" r:id="rId64"/>
    <p:sldId id="739" r:id="rId65"/>
    <p:sldId id="413" r:id="rId66"/>
    <p:sldId id="414" r:id="rId67"/>
    <p:sldId id="415" r:id="rId68"/>
    <p:sldId id="416" r:id="rId69"/>
    <p:sldId id="417" r:id="rId70"/>
    <p:sldId id="440" r:id="rId71"/>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BAFB0-E817-42F5-8237-4C3D3A495C0E}" v="14" dt="2026-01-28T13:30:4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065"/>
    <p:restoredTop sz="71087" autoAdjust="0"/>
  </p:normalViewPr>
  <p:slideViewPr>
    <p:cSldViewPr snapToGrid="0">
      <p:cViewPr varScale="1">
        <p:scale>
          <a:sx n="93" d="100"/>
          <a:sy n="93" d="100"/>
        </p:scale>
        <p:origin x="240" y="1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Ruyter" userId="5ea340e3-eb8f-48cc-9db2-b85bc44eed87" providerId="ADAL" clId="{10C45024-79AD-46BD-BFD5-A28A2F51EA8E}"/>
    <pc:docChg chg="custSel addSld delSld modSld">
      <pc:chgData name="Sven De Ruyter" userId="5ea340e3-eb8f-48cc-9db2-b85bc44eed87" providerId="ADAL" clId="{10C45024-79AD-46BD-BFD5-A28A2F51EA8E}" dt="2026-01-28T13:31:24.729" v="277" actId="20577"/>
      <pc:docMkLst>
        <pc:docMk/>
      </pc:docMkLst>
      <pc:sldChg chg="addSp modSp">
        <pc:chgData name="Sven De Ruyter" userId="5ea340e3-eb8f-48cc-9db2-b85bc44eed87" providerId="ADAL" clId="{10C45024-79AD-46BD-BFD5-A28A2F51EA8E}" dt="2026-01-28T13:30:18.819" v="247"/>
        <pc:sldMkLst>
          <pc:docMk/>
          <pc:sldMk cId="3761455401" sldId="264"/>
        </pc:sldMkLst>
        <pc:spChg chg="add mod">
          <ac:chgData name="Sven De Ruyter" userId="5ea340e3-eb8f-48cc-9db2-b85bc44eed87" providerId="ADAL" clId="{10C45024-79AD-46BD-BFD5-A28A2F51EA8E}" dt="2026-01-28T13:30:18.819" v="247"/>
          <ac:spMkLst>
            <pc:docMk/>
            <pc:sldMk cId="3761455401" sldId="264"/>
            <ac:spMk id="5" creationId="{77F3FBF5-F81B-F481-8D4C-4424F76B9B38}"/>
          </ac:spMkLst>
        </pc:spChg>
        <pc:picChg chg="add mod">
          <ac:chgData name="Sven De Ruyter" userId="5ea340e3-eb8f-48cc-9db2-b85bc44eed87" providerId="ADAL" clId="{10C45024-79AD-46BD-BFD5-A28A2F51EA8E}" dt="2026-01-28T13:29:45.446" v="244"/>
          <ac:picMkLst>
            <pc:docMk/>
            <pc:sldMk cId="3761455401" sldId="264"/>
            <ac:picMk id="4" creationId="{1CB8A873-B5AD-E2E9-5CB1-57581D337C82}"/>
          </ac:picMkLst>
        </pc:picChg>
      </pc:sldChg>
      <pc:sldChg chg="modSp mod">
        <pc:chgData name="Sven De Ruyter" userId="5ea340e3-eb8f-48cc-9db2-b85bc44eed87" providerId="ADAL" clId="{10C45024-79AD-46BD-BFD5-A28A2F51EA8E}" dt="2026-01-28T13:22:28.048" v="178" actId="1076"/>
        <pc:sldMkLst>
          <pc:docMk/>
          <pc:sldMk cId="2782895168" sldId="284"/>
        </pc:sldMkLst>
        <pc:spChg chg="mod">
          <ac:chgData name="Sven De Ruyter" userId="5ea340e3-eb8f-48cc-9db2-b85bc44eed87" providerId="ADAL" clId="{10C45024-79AD-46BD-BFD5-A28A2F51EA8E}" dt="2026-01-28T13:22:28.048" v="178" actId="1076"/>
          <ac:spMkLst>
            <pc:docMk/>
            <pc:sldMk cId="2782895168" sldId="284"/>
            <ac:spMk id="14" creationId="{C567E8BE-90FB-747F-EEF2-FB27F21EE9E2}"/>
          </ac:spMkLst>
        </pc:spChg>
      </pc:sldChg>
      <pc:sldChg chg="modSp mod">
        <pc:chgData name="Sven De Ruyter" userId="5ea340e3-eb8f-48cc-9db2-b85bc44eed87" providerId="ADAL" clId="{10C45024-79AD-46BD-BFD5-A28A2F51EA8E}" dt="2026-01-28T13:23:03.155" v="196" actId="3626"/>
        <pc:sldMkLst>
          <pc:docMk/>
          <pc:sldMk cId="1555955299" sldId="286"/>
        </pc:sldMkLst>
        <pc:spChg chg="mod">
          <ac:chgData name="Sven De Ruyter" userId="5ea340e3-eb8f-48cc-9db2-b85bc44eed87" providerId="ADAL" clId="{10C45024-79AD-46BD-BFD5-A28A2F51EA8E}" dt="2026-01-28T13:23:03.155" v="196" actId="3626"/>
          <ac:spMkLst>
            <pc:docMk/>
            <pc:sldMk cId="1555955299" sldId="286"/>
            <ac:spMk id="13" creationId="{E6A1C845-F479-FFA3-B4F8-0DBF781C94CB}"/>
          </ac:spMkLst>
        </pc:spChg>
      </pc:sldChg>
      <pc:sldChg chg="addSp delSp modSp mod">
        <pc:chgData name="Sven De Ruyter" userId="5ea340e3-eb8f-48cc-9db2-b85bc44eed87" providerId="ADAL" clId="{10C45024-79AD-46BD-BFD5-A28A2F51EA8E}" dt="2026-01-28T13:23:11.995" v="199" actId="1076"/>
        <pc:sldMkLst>
          <pc:docMk/>
          <pc:sldMk cId="1390040182" sldId="287"/>
        </pc:sldMkLst>
        <pc:spChg chg="add mod">
          <ac:chgData name="Sven De Ruyter" userId="5ea340e3-eb8f-48cc-9db2-b85bc44eed87" providerId="ADAL" clId="{10C45024-79AD-46BD-BFD5-A28A2F51EA8E}" dt="2026-01-28T13:23:11.995" v="199" actId="1076"/>
          <ac:spMkLst>
            <pc:docMk/>
            <pc:sldMk cId="1390040182" sldId="287"/>
            <ac:spMk id="4" creationId="{669EADEE-2ED7-2BAC-12B4-B5B25D9E2ADD}"/>
          </ac:spMkLst>
        </pc:spChg>
        <pc:picChg chg="del">
          <ac:chgData name="Sven De Ruyter" userId="5ea340e3-eb8f-48cc-9db2-b85bc44eed87" providerId="ADAL" clId="{10C45024-79AD-46BD-BFD5-A28A2F51EA8E}" dt="2026-01-28T13:23:07.537" v="197" actId="478"/>
          <ac:picMkLst>
            <pc:docMk/>
            <pc:sldMk cId="1390040182" sldId="287"/>
            <ac:picMk id="2" creationId="{01778108-A5BC-CB68-C8BA-E54CF72601E2}"/>
          </ac:picMkLst>
        </pc:picChg>
      </pc:sldChg>
      <pc:sldChg chg="addSp delSp modSp mod">
        <pc:chgData name="Sven De Ruyter" userId="5ea340e3-eb8f-48cc-9db2-b85bc44eed87" providerId="ADAL" clId="{10C45024-79AD-46BD-BFD5-A28A2F51EA8E}" dt="2026-01-28T13:20:41.630" v="64" actId="1076"/>
        <pc:sldMkLst>
          <pc:docMk/>
          <pc:sldMk cId="2604226444" sldId="389"/>
        </pc:sldMkLst>
        <pc:spChg chg="add mod">
          <ac:chgData name="Sven De Ruyter" userId="5ea340e3-eb8f-48cc-9db2-b85bc44eed87" providerId="ADAL" clId="{10C45024-79AD-46BD-BFD5-A28A2F51EA8E}" dt="2026-01-28T13:20:41.630" v="64" actId="1076"/>
          <ac:spMkLst>
            <pc:docMk/>
            <pc:sldMk cId="2604226444" sldId="389"/>
            <ac:spMk id="3" creationId="{669EADEE-2ED7-2BAC-12B4-B5B25D9E2ADD}"/>
          </ac:spMkLst>
        </pc:spChg>
        <pc:picChg chg="del">
          <ac:chgData name="Sven De Ruyter" userId="5ea340e3-eb8f-48cc-9db2-b85bc44eed87" providerId="ADAL" clId="{10C45024-79AD-46BD-BFD5-A28A2F51EA8E}" dt="2026-01-28T13:20:36.415" v="62" actId="478"/>
          <ac:picMkLst>
            <pc:docMk/>
            <pc:sldMk cId="2604226444" sldId="389"/>
            <ac:picMk id="8" creationId="{22A69F87-B7D6-2F1D-6847-EB802B8ECC3E}"/>
          </ac:picMkLst>
        </pc:picChg>
      </pc:sldChg>
      <pc:sldChg chg="addSp delSp modSp mod">
        <pc:chgData name="Sven De Ruyter" userId="5ea340e3-eb8f-48cc-9db2-b85bc44eed87" providerId="ADAL" clId="{10C45024-79AD-46BD-BFD5-A28A2F51EA8E}" dt="2026-01-28T13:20:50.666" v="67" actId="1076"/>
        <pc:sldMkLst>
          <pc:docMk/>
          <pc:sldMk cId="2379742759" sldId="390"/>
        </pc:sldMkLst>
        <pc:spChg chg="add mod">
          <ac:chgData name="Sven De Ruyter" userId="5ea340e3-eb8f-48cc-9db2-b85bc44eed87" providerId="ADAL" clId="{10C45024-79AD-46BD-BFD5-A28A2F51EA8E}" dt="2026-01-28T13:20:50.666" v="67" actId="1076"/>
          <ac:spMkLst>
            <pc:docMk/>
            <pc:sldMk cId="2379742759" sldId="390"/>
            <ac:spMk id="4" creationId="{669EADEE-2ED7-2BAC-12B4-B5B25D9E2ADD}"/>
          </ac:spMkLst>
        </pc:spChg>
        <pc:picChg chg="del">
          <ac:chgData name="Sven De Ruyter" userId="5ea340e3-eb8f-48cc-9db2-b85bc44eed87" providerId="ADAL" clId="{10C45024-79AD-46BD-BFD5-A28A2F51EA8E}" dt="2026-01-28T13:20:44.349" v="65" actId="478"/>
          <ac:picMkLst>
            <pc:docMk/>
            <pc:sldMk cId="2379742759" sldId="390"/>
            <ac:picMk id="3" creationId="{27107975-02BA-F9BD-1908-AC23DE5009A6}"/>
          </ac:picMkLst>
        </pc:picChg>
      </pc:sldChg>
      <pc:sldChg chg="modNotesTx">
        <pc:chgData name="Sven De Ruyter" userId="5ea340e3-eb8f-48cc-9db2-b85bc44eed87" providerId="ADAL" clId="{10C45024-79AD-46BD-BFD5-A28A2F51EA8E}" dt="2026-01-28T13:31:24.729" v="277" actId="20577"/>
        <pc:sldMkLst>
          <pc:docMk/>
          <pc:sldMk cId="2868743823" sldId="394"/>
        </pc:sldMkLst>
      </pc:sldChg>
      <pc:sldChg chg="addSp modSp">
        <pc:chgData name="Sven De Ruyter" userId="5ea340e3-eb8f-48cc-9db2-b85bc44eed87" providerId="ADAL" clId="{10C45024-79AD-46BD-BFD5-A28A2F51EA8E}" dt="2026-01-28T13:30:44.728" v="252"/>
        <pc:sldMkLst>
          <pc:docMk/>
          <pc:sldMk cId="2516545047" sldId="396"/>
        </pc:sldMkLst>
        <pc:spChg chg="add mod">
          <ac:chgData name="Sven De Ruyter" userId="5ea340e3-eb8f-48cc-9db2-b85bc44eed87" providerId="ADAL" clId="{10C45024-79AD-46BD-BFD5-A28A2F51EA8E}" dt="2026-01-28T13:30:44.728" v="252"/>
          <ac:spMkLst>
            <pc:docMk/>
            <pc:sldMk cId="2516545047" sldId="396"/>
            <ac:spMk id="5" creationId="{2E9170EA-9C66-A4C1-426E-F9734DC03DD8}"/>
          </ac:spMkLst>
        </pc:spChg>
      </pc:sldChg>
      <pc:sldChg chg="modSp mod">
        <pc:chgData name="Sven De Ruyter" userId="5ea340e3-eb8f-48cc-9db2-b85bc44eed87" providerId="ADAL" clId="{10C45024-79AD-46BD-BFD5-A28A2F51EA8E}" dt="2026-01-28T13:19:29.238" v="21" actId="1076"/>
        <pc:sldMkLst>
          <pc:docMk/>
          <pc:sldMk cId="846350453" sldId="402"/>
        </pc:sldMkLst>
        <pc:spChg chg="mod">
          <ac:chgData name="Sven De Ruyter" userId="5ea340e3-eb8f-48cc-9db2-b85bc44eed87" providerId="ADAL" clId="{10C45024-79AD-46BD-BFD5-A28A2F51EA8E}" dt="2026-01-28T13:19:29.238" v="21" actId="1076"/>
          <ac:spMkLst>
            <pc:docMk/>
            <pc:sldMk cId="846350453" sldId="402"/>
            <ac:spMk id="5" creationId="{9DE2B0A6-AF6C-C374-8345-68EDC495C62E}"/>
          </ac:spMkLst>
        </pc:spChg>
      </pc:sldChg>
      <pc:sldChg chg="modSp mod">
        <pc:chgData name="Sven De Ruyter" userId="5ea340e3-eb8f-48cc-9db2-b85bc44eed87" providerId="ADAL" clId="{10C45024-79AD-46BD-BFD5-A28A2F51EA8E}" dt="2026-01-28T13:19:50.997" v="38" actId="3626"/>
        <pc:sldMkLst>
          <pc:docMk/>
          <pc:sldMk cId="2626583608" sldId="403"/>
        </pc:sldMkLst>
        <pc:spChg chg="mod">
          <ac:chgData name="Sven De Ruyter" userId="5ea340e3-eb8f-48cc-9db2-b85bc44eed87" providerId="ADAL" clId="{10C45024-79AD-46BD-BFD5-A28A2F51EA8E}" dt="2026-01-28T13:19:50.997" v="38" actId="3626"/>
          <ac:spMkLst>
            <pc:docMk/>
            <pc:sldMk cId="2626583608" sldId="403"/>
            <ac:spMk id="7" creationId="{69CCBAB6-FE4A-7EA3-7C6B-960C1C9036EA}"/>
          </ac:spMkLst>
        </pc:spChg>
      </pc:sldChg>
      <pc:sldChg chg="modSp mod">
        <pc:chgData name="Sven De Ruyter" userId="5ea340e3-eb8f-48cc-9db2-b85bc44eed87" providerId="ADAL" clId="{10C45024-79AD-46BD-BFD5-A28A2F51EA8E}" dt="2026-01-28T13:20:11.017" v="51" actId="3626"/>
        <pc:sldMkLst>
          <pc:docMk/>
          <pc:sldMk cId="289269615" sldId="405"/>
        </pc:sldMkLst>
        <pc:spChg chg="mod">
          <ac:chgData name="Sven De Ruyter" userId="5ea340e3-eb8f-48cc-9db2-b85bc44eed87" providerId="ADAL" clId="{10C45024-79AD-46BD-BFD5-A28A2F51EA8E}" dt="2026-01-28T13:20:11.017" v="51" actId="3626"/>
          <ac:spMkLst>
            <pc:docMk/>
            <pc:sldMk cId="289269615" sldId="405"/>
            <ac:spMk id="5" creationId="{3819480F-02C5-A6E5-F25B-56E946367942}"/>
          </ac:spMkLst>
        </pc:spChg>
      </pc:sldChg>
      <pc:sldChg chg="modSp mod">
        <pc:chgData name="Sven De Ruyter" userId="5ea340e3-eb8f-48cc-9db2-b85bc44eed87" providerId="ADAL" clId="{10C45024-79AD-46BD-BFD5-A28A2F51EA8E}" dt="2026-01-28T13:20:28.645" v="61" actId="1076"/>
        <pc:sldMkLst>
          <pc:docMk/>
          <pc:sldMk cId="2049160505" sldId="406"/>
        </pc:sldMkLst>
        <pc:spChg chg="mod">
          <ac:chgData name="Sven De Ruyter" userId="5ea340e3-eb8f-48cc-9db2-b85bc44eed87" providerId="ADAL" clId="{10C45024-79AD-46BD-BFD5-A28A2F51EA8E}" dt="2026-01-28T13:20:28.645" v="61" actId="1076"/>
          <ac:spMkLst>
            <pc:docMk/>
            <pc:sldMk cId="2049160505" sldId="406"/>
            <ac:spMk id="8" creationId="{B7F05F14-7BE7-98C0-1234-2EFCF435101D}"/>
          </ac:spMkLst>
        </pc:spChg>
      </pc:sldChg>
      <pc:sldChg chg="modSp mod">
        <pc:chgData name="Sven De Ruyter" userId="5ea340e3-eb8f-48cc-9db2-b85bc44eed87" providerId="ADAL" clId="{10C45024-79AD-46BD-BFD5-A28A2F51EA8E}" dt="2026-01-28T13:21:09.162" v="79" actId="20577"/>
        <pc:sldMkLst>
          <pc:docMk/>
          <pc:sldMk cId="157787104" sldId="407"/>
        </pc:sldMkLst>
        <pc:spChg chg="mod">
          <ac:chgData name="Sven De Ruyter" userId="5ea340e3-eb8f-48cc-9db2-b85bc44eed87" providerId="ADAL" clId="{10C45024-79AD-46BD-BFD5-A28A2F51EA8E}" dt="2026-01-28T13:21:09.162" v="79" actId="20577"/>
          <ac:spMkLst>
            <pc:docMk/>
            <pc:sldMk cId="157787104" sldId="407"/>
            <ac:spMk id="5" creationId="{3160751C-77EC-03B9-1EE2-2B4FBC2D78ED}"/>
          </ac:spMkLst>
        </pc:spChg>
      </pc:sldChg>
      <pc:sldChg chg="modNotesTx">
        <pc:chgData name="Sven De Ruyter" userId="5ea340e3-eb8f-48cc-9db2-b85bc44eed87" providerId="ADAL" clId="{10C45024-79AD-46BD-BFD5-A28A2F51EA8E}" dt="2026-01-28T13:21:38.752" v="124" actId="6549"/>
        <pc:sldMkLst>
          <pc:docMk/>
          <pc:sldMk cId="2396971527" sldId="408"/>
        </pc:sldMkLst>
      </pc:sldChg>
      <pc:sldChg chg="addSp modSp mod">
        <pc:chgData name="Sven De Ruyter" userId="5ea340e3-eb8f-48cc-9db2-b85bc44eed87" providerId="ADAL" clId="{10C45024-79AD-46BD-BFD5-A28A2F51EA8E}" dt="2026-01-28T13:30:23.829" v="249" actId="1076"/>
        <pc:sldMkLst>
          <pc:docMk/>
          <pc:sldMk cId="3778468979" sldId="410"/>
        </pc:sldMkLst>
        <pc:spChg chg="add mod">
          <ac:chgData name="Sven De Ruyter" userId="5ea340e3-eb8f-48cc-9db2-b85bc44eed87" providerId="ADAL" clId="{10C45024-79AD-46BD-BFD5-A28A2F51EA8E}" dt="2026-01-28T13:30:23.829" v="249" actId="1076"/>
          <ac:spMkLst>
            <pc:docMk/>
            <pc:sldMk cId="3778468979" sldId="410"/>
            <ac:spMk id="4" creationId="{62665D8C-322A-847C-E413-EE55335394C4}"/>
          </ac:spMkLst>
        </pc:spChg>
      </pc:sldChg>
      <pc:sldChg chg="addSp modSp mod">
        <pc:chgData name="Sven De Ruyter" userId="5ea340e3-eb8f-48cc-9db2-b85bc44eed87" providerId="ADAL" clId="{10C45024-79AD-46BD-BFD5-A28A2F51EA8E}" dt="2026-01-28T13:30:39.581" v="251" actId="1076"/>
        <pc:sldMkLst>
          <pc:docMk/>
          <pc:sldMk cId="267766679" sldId="412"/>
        </pc:sldMkLst>
        <pc:spChg chg="add mod">
          <ac:chgData name="Sven De Ruyter" userId="5ea340e3-eb8f-48cc-9db2-b85bc44eed87" providerId="ADAL" clId="{10C45024-79AD-46BD-BFD5-A28A2F51EA8E}" dt="2026-01-28T13:30:39.581" v="251" actId="1076"/>
          <ac:spMkLst>
            <pc:docMk/>
            <pc:sldMk cId="267766679" sldId="412"/>
            <ac:spMk id="4" creationId="{0F40B2BF-FD87-1248-6B85-769496C622F0}"/>
          </ac:spMkLst>
        </pc:spChg>
      </pc:sldChg>
      <pc:sldChg chg="modSp mod">
        <pc:chgData name="Sven De Ruyter" userId="5ea340e3-eb8f-48cc-9db2-b85bc44eed87" providerId="ADAL" clId="{10C45024-79AD-46BD-BFD5-A28A2F51EA8E}" dt="2026-01-28T13:28:15.412" v="243" actId="3626"/>
        <pc:sldMkLst>
          <pc:docMk/>
          <pc:sldMk cId="3601350200" sldId="419"/>
        </pc:sldMkLst>
        <pc:spChg chg="mod">
          <ac:chgData name="Sven De Ruyter" userId="5ea340e3-eb8f-48cc-9db2-b85bc44eed87" providerId="ADAL" clId="{10C45024-79AD-46BD-BFD5-A28A2F51EA8E}" dt="2026-01-28T13:28:02.529" v="234" actId="3626"/>
          <ac:spMkLst>
            <pc:docMk/>
            <pc:sldMk cId="3601350200" sldId="419"/>
            <ac:spMk id="4" creationId="{0A5C8912-9A44-0D71-AB7D-B159958AAE2F}"/>
          </ac:spMkLst>
        </pc:spChg>
        <pc:spChg chg="mod">
          <ac:chgData name="Sven De Ruyter" userId="5ea340e3-eb8f-48cc-9db2-b85bc44eed87" providerId="ADAL" clId="{10C45024-79AD-46BD-BFD5-A28A2F51EA8E}" dt="2026-01-28T13:28:15.412" v="243" actId="3626"/>
          <ac:spMkLst>
            <pc:docMk/>
            <pc:sldMk cId="3601350200" sldId="419"/>
            <ac:spMk id="8" creationId="{80853BB8-7276-D15E-DF5F-9D1F830FD0BB}"/>
          </ac:spMkLst>
        </pc:spChg>
      </pc:sldChg>
      <pc:sldChg chg="addSp modSp mod">
        <pc:chgData name="Sven De Ruyter" userId="5ea340e3-eb8f-48cc-9db2-b85bc44eed87" providerId="ADAL" clId="{10C45024-79AD-46BD-BFD5-A28A2F51EA8E}" dt="2026-01-28T13:27:42.350" v="224" actId="14100"/>
        <pc:sldMkLst>
          <pc:docMk/>
          <pc:sldMk cId="3965371216" sldId="425"/>
        </pc:sldMkLst>
        <pc:spChg chg="add mod">
          <ac:chgData name="Sven De Ruyter" userId="5ea340e3-eb8f-48cc-9db2-b85bc44eed87" providerId="ADAL" clId="{10C45024-79AD-46BD-BFD5-A28A2F51EA8E}" dt="2026-01-28T13:27:42.350" v="224" actId="14100"/>
          <ac:spMkLst>
            <pc:docMk/>
            <pc:sldMk cId="3965371216" sldId="425"/>
            <ac:spMk id="5" creationId="{A9D67AB0-7F11-5754-1394-0E25A94BCC96}"/>
          </ac:spMkLst>
        </pc:spChg>
      </pc:sldChg>
      <pc:sldChg chg="addSp modSp">
        <pc:chgData name="Sven De Ruyter" userId="5ea340e3-eb8f-48cc-9db2-b85bc44eed87" providerId="ADAL" clId="{10C45024-79AD-46BD-BFD5-A28A2F51EA8E}" dt="2026-01-28T13:27:47.779" v="225"/>
        <pc:sldMkLst>
          <pc:docMk/>
          <pc:sldMk cId="4082101331" sldId="426"/>
        </pc:sldMkLst>
        <pc:spChg chg="add mod">
          <ac:chgData name="Sven De Ruyter" userId="5ea340e3-eb8f-48cc-9db2-b85bc44eed87" providerId="ADAL" clId="{10C45024-79AD-46BD-BFD5-A28A2F51EA8E}" dt="2026-01-28T13:27:47.779" v="225"/>
          <ac:spMkLst>
            <pc:docMk/>
            <pc:sldMk cId="4082101331" sldId="426"/>
            <ac:spMk id="6" creationId="{F947E4C8-2A51-5FD0-DC62-D12BE7EBBC85}"/>
          </ac:spMkLst>
        </pc:spChg>
        <pc:picChg chg="add mod">
          <ac:chgData name="Sven De Ruyter" userId="5ea340e3-eb8f-48cc-9db2-b85bc44eed87" providerId="ADAL" clId="{10C45024-79AD-46BD-BFD5-A28A2F51EA8E}" dt="2026-01-28T13:27:05.753" v="220"/>
          <ac:picMkLst>
            <pc:docMk/>
            <pc:sldMk cId="4082101331" sldId="426"/>
            <ac:picMk id="4" creationId="{D836AEE2-2F7A-B011-14D9-456A6E106E76}"/>
          </ac:picMkLst>
        </pc:picChg>
      </pc:sldChg>
      <pc:sldChg chg="modNotesTx">
        <pc:chgData name="Sven De Ruyter" userId="5ea340e3-eb8f-48cc-9db2-b85bc44eed87" providerId="ADAL" clId="{10C45024-79AD-46BD-BFD5-A28A2F51EA8E}" dt="2026-01-28T13:22:08.665" v="168" actId="20577"/>
        <pc:sldMkLst>
          <pc:docMk/>
          <pc:sldMk cId="1252570819" sldId="430"/>
        </pc:sldMkLst>
      </pc:sldChg>
      <pc:sldChg chg="modSp mod">
        <pc:chgData name="Sven De Ruyter" userId="5ea340e3-eb8f-48cc-9db2-b85bc44eed87" providerId="ADAL" clId="{10C45024-79AD-46BD-BFD5-A28A2F51EA8E}" dt="2026-01-28T13:23:57.311" v="205" actId="2711"/>
        <pc:sldMkLst>
          <pc:docMk/>
          <pc:sldMk cId="3871840925" sldId="434"/>
        </pc:sldMkLst>
        <pc:spChg chg="mod">
          <ac:chgData name="Sven De Ruyter" userId="5ea340e3-eb8f-48cc-9db2-b85bc44eed87" providerId="ADAL" clId="{10C45024-79AD-46BD-BFD5-A28A2F51EA8E}" dt="2026-01-28T13:23:40.096" v="201" actId="2711"/>
          <ac:spMkLst>
            <pc:docMk/>
            <pc:sldMk cId="3871840925" sldId="434"/>
            <ac:spMk id="7" creationId="{ED2CA4CB-DC82-CB32-F611-96DD109400E7}"/>
          </ac:spMkLst>
        </pc:spChg>
        <pc:spChg chg="mod">
          <ac:chgData name="Sven De Ruyter" userId="5ea340e3-eb8f-48cc-9db2-b85bc44eed87" providerId="ADAL" clId="{10C45024-79AD-46BD-BFD5-A28A2F51EA8E}" dt="2026-01-28T13:23:44.495" v="202" actId="2711"/>
          <ac:spMkLst>
            <pc:docMk/>
            <pc:sldMk cId="3871840925" sldId="434"/>
            <ac:spMk id="9" creationId="{65C67ADC-BEA0-9029-6D17-B44CA429DF62}"/>
          </ac:spMkLst>
        </pc:spChg>
        <pc:spChg chg="mod">
          <ac:chgData name="Sven De Ruyter" userId="5ea340e3-eb8f-48cc-9db2-b85bc44eed87" providerId="ADAL" clId="{10C45024-79AD-46BD-BFD5-A28A2F51EA8E}" dt="2026-01-28T13:23:48.378" v="203" actId="2711"/>
          <ac:spMkLst>
            <pc:docMk/>
            <pc:sldMk cId="3871840925" sldId="434"/>
            <ac:spMk id="11" creationId="{36938143-BB07-3DA6-CF40-9AE37D0DB926}"/>
          </ac:spMkLst>
        </pc:spChg>
        <pc:spChg chg="mod">
          <ac:chgData name="Sven De Ruyter" userId="5ea340e3-eb8f-48cc-9db2-b85bc44eed87" providerId="ADAL" clId="{10C45024-79AD-46BD-BFD5-A28A2F51EA8E}" dt="2026-01-28T13:23:52.837" v="204" actId="2711"/>
          <ac:spMkLst>
            <pc:docMk/>
            <pc:sldMk cId="3871840925" sldId="434"/>
            <ac:spMk id="13" creationId="{6FD2FFB9-F6CF-2A0C-2C92-59D4E0C194DC}"/>
          </ac:spMkLst>
        </pc:spChg>
        <pc:spChg chg="mod">
          <ac:chgData name="Sven De Ruyter" userId="5ea340e3-eb8f-48cc-9db2-b85bc44eed87" providerId="ADAL" clId="{10C45024-79AD-46BD-BFD5-A28A2F51EA8E}" dt="2026-01-28T13:23:57.311" v="205" actId="2711"/>
          <ac:spMkLst>
            <pc:docMk/>
            <pc:sldMk cId="3871840925" sldId="434"/>
            <ac:spMk id="15" creationId="{AE984289-A968-7FF7-8E24-C2B701CCCA03}"/>
          </ac:spMkLst>
        </pc:spChg>
        <pc:spChg chg="mod">
          <ac:chgData name="Sven De Ruyter" userId="5ea340e3-eb8f-48cc-9db2-b85bc44eed87" providerId="ADAL" clId="{10C45024-79AD-46BD-BFD5-A28A2F51EA8E}" dt="2026-01-28T13:23:29.778" v="200" actId="2711"/>
          <ac:spMkLst>
            <pc:docMk/>
            <pc:sldMk cId="3871840925" sldId="434"/>
            <ac:spMk id="17" creationId="{FD86F59F-9063-1275-DF4D-11FE9A62FD8C}"/>
          </ac:spMkLst>
        </pc:spChg>
      </pc:sldChg>
      <pc:sldChg chg="modSp mod">
        <pc:chgData name="Sven De Ruyter" userId="5ea340e3-eb8f-48cc-9db2-b85bc44eed87" providerId="ADAL" clId="{10C45024-79AD-46BD-BFD5-A28A2F51EA8E}" dt="2026-01-28T13:24:29.183" v="210" actId="2711"/>
        <pc:sldMkLst>
          <pc:docMk/>
          <pc:sldMk cId="1402232474" sldId="435"/>
        </pc:sldMkLst>
        <pc:spChg chg="mod">
          <ac:chgData name="Sven De Ruyter" userId="5ea340e3-eb8f-48cc-9db2-b85bc44eed87" providerId="ADAL" clId="{10C45024-79AD-46BD-BFD5-A28A2F51EA8E}" dt="2026-01-28T13:24:11.304" v="206" actId="2711"/>
          <ac:spMkLst>
            <pc:docMk/>
            <pc:sldMk cId="1402232474" sldId="435"/>
            <ac:spMk id="16" creationId="{58323076-A69F-4629-3C20-4EC383B6F7F9}"/>
          </ac:spMkLst>
        </pc:spChg>
        <pc:spChg chg="mod">
          <ac:chgData name="Sven De Ruyter" userId="5ea340e3-eb8f-48cc-9db2-b85bc44eed87" providerId="ADAL" clId="{10C45024-79AD-46BD-BFD5-A28A2F51EA8E}" dt="2026-01-28T13:24:17.112" v="207" actId="2711"/>
          <ac:spMkLst>
            <pc:docMk/>
            <pc:sldMk cId="1402232474" sldId="435"/>
            <ac:spMk id="21" creationId="{4F53C5B9-2841-6140-2FA4-F782029D1A96}"/>
          </ac:spMkLst>
        </pc:spChg>
        <pc:spChg chg="mod">
          <ac:chgData name="Sven De Ruyter" userId="5ea340e3-eb8f-48cc-9db2-b85bc44eed87" providerId="ADAL" clId="{10C45024-79AD-46BD-BFD5-A28A2F51EA8E}" dt="2026-01-28T13:24:20.679" v="208" actId="2711"/>
          <ac:spMkLst>
            <pc:docMk/>
            <pc:sldMk cId="1402232474" sldId="435"/>
            <ac:spMk id="23" creationId="{7921E0F6-8294-29F8-CF84-1508DD5B555A}"/>
          </ac:spMkLst>
        </pc:spChg>
        <pc:spChg chg="mod">
          <ac:chgData name="Sven De Ruyter" userId="5ea340e3-eb8f-48cc-9db2-b85bc44eed87" providerId="ADAL" clId="{10C45024-79AD-46BD-BFD5-A28A2F51EA8E}" dt="2026-01-28T13:24:25.744" v="209" actId="2711"/>
          <ac:spMkLst>
            <pc:docMk/>
            <pc:sldMk cId="1402232474" sldId="435"/>
            <ac:spMk id="25" creationId="{E7D8470C-0B0D-3D9B-460A-0AF0F56916C0}"/>
          </ac:spMkLst>
        </pc:spChg>
        <pc:spChg chg="mod">
          <ac:chgData name="Sven De Ruyter" userId="5ea340e3-eb8f-48cc-9db2-b85bc44eed87" providerId="ADAL" clId="{10C45024-79AD-46BD-BFD5-A28A2F51EA8E}" dt="2026-01-28T13:24:29.183" v="210" actId="2711"/>
          <ac:spMkLst>
            <pc:docMk/>
            <pc:sldMk cId="1402232474" sldId="435"/>
            <ac:spMk id="27" creationId="{AC702D57-7961-7536-F45F-6782F670CF01}"/>
          </ac:spMkLst>
        </pc:spChg>
      </pc:sldChg>
      <pc:sldChg chg="modSp mod">
        <pc:chgData name="Sven De Ruyter" userId="5ea340e3-eb8f-48cc-9db2-b85bc44eed87" providerId="ADAL" clId="{10C45024-79AD-46BD-BFD5-A28A2F51EA8E}" dt="2026-01-28T13:25:13.928" v="217" actId="2711"/>
        <pc:sldMkLst>
          <pc:docMk/>
          <pc:sldMk cId="3536862473" sldId="436"/>
        </pc:sldMkLst>
        <pc:spChg chg="mod">
          <ac:chgData name="Sven De Ruyter" userId="5ea340e3-eb8f-48cc-9db2-b85bc44eed87" providerId="ADAL" clId="{10C45024-79AD-46BD-BFD5-A28A2F51EA8E}" dt="2026-01-28T13:24:39.944" v="211" actId="2711"/>
          <ac:spMkLst>
            <pc:docMk/>
            <pc:sldMk cId="3536862473" sldId="436"/>
            <ac:spMk id="24" creationId="{5314090D-9BCC-90AD-6E8F-F0EA590F5FDC}"/>
          </ac:spMkLst>
        </pc:spChg>
        <pc:spChg chg="mod">
          <ac:chgData name="Sven De Ruyter" userId="5ea340e3-eb8f-48cc-9db2-b85bc44eed87" providerId="ADAL" clId="{10C45024-79AD-46BD-BFD5-A28A2F51EA8E}" dt="2026-01-28T13:24:44.412" v="212" actId="2711"/>
          <ac:spMkLst>
            <pc:docMk/>
            <pc:sldMk cId="3536862473" sldId="436"/>
            <ac:spMk id="28" creationId="{1B5B59A6-FCE9-722D-3C9B-882261B21A6F}"/>
          </ac:spMkLst>
        </pc:spChg>
        <pc:spChg chg="mod">
          <ac:chgData name="Sven De Ruyter" userId="5ea340e3-eb8f-48cc-9db2-b85bc44eed87" providerId="ADAL" clId="{10C45024-79AD-46BD-BFD5-A28A2F51EA8E}" dt="2026-01-28T13:24:50.445" v="213" actId="2711"/>
          <ac:spMkLst>
            <pc:docMk/>
            <pc:sldMk cId="3536862473" sldId="436"/>
            <ac:spMk id="30" creationId="{7953FE2A-70EB-9976-C84E-69A5AD9C7BDD}"/>
          </ac:spMkLst>
        </pc:spChg>
        <pc:spChg chg="mod">
          <ac:chgData name="Sven De Ruyter" userId="5ea340e3-eb8f-48cc-9db2-b85bc44eed87" providerId="ADAL" clId="{10C45024-79AD-46BD-BFD5-A28A2F51EA8E}" dt="2026-01-28T13:24:53.862" v="214" actId="2711"/>
          <ac:spMkLst>
            <pc:docMk/>
            <pc:sldMk cId="3536862473" sldId="436"/>
            <ac:spMk id="32" creationId="{474B494E-BB6F-5D25-679E-753D17DFA65F}"/>
          </ac:spMkLst>
        </pc:spChg>
        <pc:spChg chg="mod">
          <ac:chgData name="Sven De Ruyter" userId="5ea340e3-eb8f-48cc-9db2-b85bc44eed87" providerId="ADAL" clId="{10C45024-79AD-46BD-BFD5-A28A2F51EA8E}" dt="2026-01-28T13:25:03.368" v="215" actId="2711"/>
          <ac:spMkLst>
            <pc:docMk/>
            <pc:sldMk cId="3536862473" sldId="436"/>
            <ac:spMk id="36" creationId="{35C49B1B-F4E4-DC88-4D68-0BDD54BE8A71}"/>
          </ac:spMkLst>
        </pc:spChg>
        <pc:spChg chg="mod">
          <ac:chgData name="Sven De Ruyter" userId="5ea340e3-eb8f-48cc-9db2-b85bc44eed87" providerId="ADAL" clId="{10C45024-79AD-46BD-BFD5-A28A2F51EA8E}" dt="2026-01-28T13:25:09.561" v="216" actId="2711"/>
          <ac:spMkLst>
            <pc:docMk/>
            <pc:sldMk cId="3536862473" sldId="436"/>
            <ac:spMk id="38" creationId="{36CEBC64-0E9E-E486-54B3-857C85A2BAC1}"/>
          </ac:spMkLst>
        </pc:spChg>
        <pc:spChg chg="mod">
          <ac:chgData name="Sven De Ruyter" userId="5ea340e3-eb8f-48cc-9db2-b85bc44eed87" providerId="ADAL" clId="{10C45024-79AD-46BD-BFD5-A28A2F51EA8E}" dt="2026-01-28T13:25:13.928" v="217" actId="2711"/>
          <ac:spMkLst>
            <pc:docMk/>
            <pc:sldMk cId="3536862473" sldId="436"/>
            <ac:spMk id="40" creationId="{32F4CE6D-BBDD-6D8B-48E2-49F5B383CA02}"/>
          </ac:spMkLst>
        </pc:spChg>
      </pc:sldChg>
      <pc:sldChg chg="modSp mod">
        <pc:chgData name="Sven De Ruyter" userId="5ea340e3-eb8f-48cc-9db2-b85bc44eed87" providerId="ADAL" clId="{10C45024-79AD-46BD-BFD5-A28A2F51EA8E}" dt="2026-01-28T13:25:32.528" v="219" actId="2711"/>
        <pc:sldMkLst>
          <pc:docMk/>
          <pc:sldMk cId="1822009370" sldId="437"/>
        </pc:sldMkLst>
        <pc:spChg chg="mod">
          <ac:chgData name="Sven De Ruyter" userId="5ea340e3-eb8f-48cc-9db2-b85bc44eed87" providerId="ADAL" clId="{10C45024-79AD-46BD-BFD5-A28A2F51EA8E}" dt="2026-01-28T13:25:29.178" v="218" actId="2711"/>
          <ac:spMkLst>
            <pc:docMk/>
            <pc:sldMk cId="1822009370" sldId="437"/>
            <ac:spMk id="49" creationId="{C6D3E4CC-085D-B81D-788A-839EE8627E53}"/>
          </ac:spMkLst>
        </pc:spChg>
        <pc:spChg chg="mod">
          <ac:chgData name="Sven De Ruyter" userId="5ea340e3-eb8f-48cc-9db2-b85bc44eed87" providerId="ADAL" clId="{10C45024-79AD-46BD-BFD5-A28A2F51EA8E}" dt="2026-01-28T13:25:32.528" v="219" actId="2711"/>
          <ac:spMkLst>
            <pc:docMk/>
            <pc:sldMk cId="1822009370" sldId="437"/>
            <ac:spMk id="51" creationId="{D797B08E-67FE-9113-A673-0AE07AEF1076}"/>
          </ac:spMkLst>
        </pc:spChg>
      </pc:sldChg>
      <pc:sldChg chg="modSp mod">
        <pc:chgData name="Sven De Ruyter" userId="5ea340e3-eb8f-48cc-9db2-b85bc44eed87" providerId="ADAL" clId="{10C45024-79AD-46BD-BFD5-A28A2F51EA8E}" dt="2026-01-28T13:22:48.078" v="187" actId="3626"/>
        <pc:sldMkLst>
          <pc:docMk/>
          <pc:sldMk cId="3485811695" sldId="740"/>
        </pc:sldMkLst>
        <pc:spChg chg="mod">
          <ac:chgData name="Sven De Ruyter" userId="5ea340e3-eb8f-48cc-9db2-b85bc44eed87" providerId="ADAL" clId="{10C45024-79AD-46BD-BFD5-A28A2F51EA8E}" dt="2026-01-28T13:22:48.078" v="187" actId="3626"/>
          <ac:spMkLst>
            <pc:docMk/>
            <pc:sldMk cId="3485811695" sldId="740"/>
            <ac:spMk id="14" creationId="{CD6A0DE8-1E3A-3DAD-3305-2D10B9FF1978}"/>
          </ac:spMkLst>
        </pc:spChg>
      </pc:sldChg>
      <pc:sldChg chg="add del">
        <pc:chgData name="Sven De Ruyter" userId="5ea340e3-eb8f-48cc-9db2-b85bc44eed87" providerId="ADAL" clId="{10C45024-79AD-46BD-BFD5-A28A2F51EA8E}" dt="2026-01-28T13:30:07.145" v="246"/>
        <pc:sldMkLst>
          <pc:docMk/>
          <pc:sldMk cId="2158487028" sldId="7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E1AAB-ABE9-4797-BA29-224EAA3BDCB0}" type="datetimeFigureOut">
              <a:t>4/13/26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2528A-504D-42C8-8112-D4335BF0C069}" type="slidenum">
              <a:t>‹#›</a:t>
            </a:fld>
            <a:endParaRPr lang="fr-FR"/>
          </a:p>
        </p:txBody>
      </p:sp>
    </p:spTree>
    <p:extLst>
      <p:ext uri="{BB962C8B-B14F-4D97-AF65-F5344CB8AC3E}">
        <p14:creationId xmlns:p14="http://schemas.microsoft.com/office/powerpoint/2010/main" val="165310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designsystems.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tlassian.desig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radfrost.com/blog/post/atomic-web-desig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bradfrost.com/blog/post/interface-inventory/"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esignsystemchecklist.com/"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DE2B-15A9-E69F-30FD-B3CED68DF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45242-45AA-2196-C631-F81B15E1C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452F3-B2FD-7267-4647-AB9A0328BD93}"/>
              </a:ext>
            </a:extLst>
          </p:cNvPr>
          <p:cNvSpPr>
            <a:spLocks noGrp="1"/>
          </p:cNvSpPr>
          <p:nvPr>
            <p:ph type="body" idx="1"/>
          </p:nvPr>
        </p:nvSpPr>
        <p:spPr/>
        <p:txBody>
          <a:bodyPr/>
          <a:lstStyle/>
          <a:p>
            <a:endParaRPr lang="fr-BE" dirty="0"/>
          </a:p>
        </p:txBody>
      </p:sp>
      <p:sp>
        <p:nvSpPr>
          <p:cNvPr id="4" name="Slide Number Placeholder 3">
            <a:extLst>
              <a:ext uri="{FF2B5EF4-FFF2-40B4-BE49-F238E27FC236}">
                <a16:creationId xmlns:a16="http://schemas.microsoft.com/office/drawing/2014/main" id="{708D71EC-9B3B-64DE-6C88-245BAEF4B49D}"/>
              </a:ext>
            </a:extLst>
          </p:cNvPr>
          <p:cNvSpPr>
            <a:spLocks noGrp="1"/>
          </p:cNvSpPr>
          <p:nvPr>
            <p:ph type="sldNum" sz="quarter" idx="5"/>
          </p:nvPr>
        </p:nvSpPr>
        <p:spPr/>
        <p:txBody>
          <a:bodyPr/>
          <a:lstStyle/>
          <a:p>
            <a:fld id="{41209458-76B0-492C-AE3B-5216EDE26413}" type="slidenum">
              <a:rPr lang="fr-BE" smtClean="0"/>
              <a:t>3</a:t>
            </a:fld>
            <a:endParaRPr lang="fr-BE"/>
          </a:p>
        </p:txBody>
      </p:sp>
    </p:spTree>
    <p:extLst>
      <p:ext uri="{BB962C8B-B14F-4D97-AF65-F5344CB8AC3E}">
        <p14:creationId xmlns:p14="http://schemas.microsoft.com/office/powerpoint/2010/main" val="3518671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Uvod u sustave dizajna i </a:t>
            </a:r>
            <a:r>
              <a:rPr lang="hr-HR" dirty="0" err="1"/>
              <a:t>prototipiranje</a:t>
            </a:r>
            <a:r>
              <a:rPr lang="hr-HR" dirty="0"/>
              <a:t> u UX/UI-u.</a:t>
            </a:r>
          </a:p>
          <a:p>
            <a:r>
              <a:rPr lang="hr-HR" dirty="0"/>
              <a:t>🔹 </a:t>
            </a:r>
            <a:r>
              <a:rPr lang="hr-HR" b="1" dirty="0"/>
              <a:t>Ključne poruke:</a:t>
            </a:r>
            <a:endParaRPr lang="hr-HR" dirty="0"/>
          </a:p>
          <a:p>
            <a:pPr marL="171450" indent="-171450">
              <a:buFont typeface="Arial" panose="020B0604020202020204" pitchFamily="34" charset="0"/>
              <a:buChar char="•"/>
            </a:pPr>
            <a:r>
              <a:rPr lang="hr-HR" dirty="0"/>
              <a:t>Sustav dizajna je strukturirani skup smjernica, najboljih praksi i ponovno upotrebljivih UI komponenti.</a:t>
            </a:r>
          </a:p>
          <a:p>
            <a:pPr marL="171450" indent="-171450">
              <a:buFont typeface="Arial" panose="020B0604020202020204" pitchFamily="34" charset="0"/>
              <a:buChar char="•"/>
            </a:pPr>
            <a:r>
              <a:rPr lang="hr-HR" dirty="0"/>
              <a:t>Osigurava dosljednost, smanjuje redundanciju i stvara zajednički jezik između dizajnerskih i razvojnih timova.</a:t>
            </a:r>
          </a:p>
          <a:p>
            <a:pPr marL="171450" indent="-171450">
              <a:buFont typeface="Arial" panose="020B0604020202020204" pitchFamily="34" charset="0"/>
              <a:buChar char="•"/>
            </a:pPr>
            <a:r>
              <a:rPr lang="hr-HR" dirty="0"/>
              <a:t>Dobro implementiran sustav dizajna poboljšava suradnju i povećava učinkovitost.</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4</a:t>
            </a:fld>
            <a:endParaRPr lang="en-US"/>
          </a:p>
        </p:txBody>
      </p:sp>
    </p:spTree>
    <p:extLst>
      <p:ext uri="{BB962C8B-B14F-4D97-AF65-F5344CB8AC3E}">
        <p14:creationId xmlns:p14="http://schemas.microsoft.com/office/powerpoint/2010/main" val="1402314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1161ab1297_1_1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1161ab1297_1_1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hr-HR" dirty="0"/>
              <a:t>📌 </a:t>
            </a:r>
            <a:r>
              <a:rPr lang="hr-HR" b="1" dirty="0"/>
              <a:t>Cilj:</a:t>
            </a:r>
            <a:r>
              <a:rPr lang="hr-HR" dirty="0"/>
              <a:t> Definirati što je sustav dizajna i koje su njegove ključne komponente.</a:t>
            </a:r>
          </a:p>
          <a:p>
            <a:r>
              <a:rPr lang="hr-HR" dirty="0"/>
              <a:t>🔹 </a:t>
            </a:r>
            <a:r>
              <a:rPr lang="hr-HR" b="1" dirty="0"/>
              <a:t>Ključne poruke:</a:t>
            </a:r>
            <a:br>
              <a:rPr lang="hr-HR" dirty="0"/>
            </a:br>
            <a:r>
              <a:rPr lang="hr-HR" dirty="0"/>
              <a:t>Sustav dizajna je alatni paket za produktne timove koji pruža:</a:t>
            </a:r>
          </a:p>
          <a:p>
            <a:r>
              <a:rPr lang="hr-HR" dirty="0"/>
              <a:t>standardizirane komponente (gumbi, polja za unos, tipografija)</a:t>
            </a:r>
          </a:p>
          <a:p>
            <a:r>
              <a:rPr lang="hr-HR" dirty="0"/>
              <a:t>smjernice za </a:t>
            </a:r>
            <a:r>
              <a:rPr lang="hr-HR" dirty="0" err="1"/>
              <a:t>brendiranje</a:t>
            </a:r>
            <a:r>
              <a:rPr lang="hr-HR" dirty="0"/>
              <a:t>, UX, pristupačnost i razvoj</a:t>
            </a:r>
          </a:p>
          <a:p>
            <a:r>
              <a:rPr lang="hr-HR" dirty="0"/>
              <a:t>obrasce (</a:t>
            </a:r>
            <a:r>
              <a:rPr lang="hr-HR" dirty="0" err="1"/>
              <a:t>patternse</a:t>
            </a:r>
            <a:r>
              <a:rPr lang="hr-HR" dirty="0"/>
              <a:t>) za dosljedno korisničko iskustvo</a:t>
            </a:r>
          </a:p>
          <a:p>
            <a:r>
              <a:rPr lang="hr-HR" dirty="0"/>
              <a:t>Olakšava suradnju među timovima i omogućuje učinkovito skaliranje dizajna.</a:t>
            </a:r>
          </a:p>
          <a:p>
            <a:r>
              <a:rPr lang="hr-HR" dirty="0"/>
              <a:t>🔗 </a:t>
            </a:r>
            <a:r>
              <a:rPr lang="hr-HR" b="1" dirty="0"/>
              <a:t>Primjeri:</a:t>
            </a:r>
            <a:endParaRPr lang="hr-HR" dirty="0"/>
          </a:p>
          <a:p>
            <a:r>
              <a:rPr lang="hr-HR" dirty="0"/>
              <a:t>Polaris (</a:t>
            </a:r>
            <a:r>
              <a:rPr lang="hr-HR" dirty="0" err="1"/>
              <a:t>Shopify</a:t>
            </a:r>
            <a:r>
              <a:rPr lang="hr-HR" dirty="0"/>
              <a:t>)</a:t>
            </a:r>
          </a:p>
          <a:p>
            <a:r>
              <a:rPr lang="hr-HR" dirty="0" err="1"/>
              <a:t>Material</a:t>
            </a:r>
            <a:r>
              <a:rPr lang="hr-HR" dirty="0"/>
              <a:t> Design</a:t>
            </a:r>
          </a:p>
          <a:p>
            <a:pPr marL="0" lvl="0" indent="0" algn="l">
              <a:spcBef>
                <a:spcPts val="0"/>
              </a:spcBef>
              <a:spcAft>
                <a:spcPts val="0"/>
              </a:spcAft>
              <a:buNone/>
            </a:pPr>
            <a:endParaRPr dirty="0">
              <a:ea typeface="Calibri"/>
              <a:cs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b="1" dirty="0"/>
              <a:t>Cilj:</a:t>
            </a:r>
            <a:r>
              <a:rPr lang="hr-HR" dirty="0"/>
              <a:t> Istaknuti prednosti korištenja sustava dizajna.</a:t>
            </a:r>
          </a:p>
          <a:p>
            <a:r>
              <a:rPr lang="hr-HR" dirty="0"/>
              <a:t>🔹 </a:t>
            </a:r>
            <a:r>
              <a:rPr lang="hr-HR" b="1" dirty="0"/>
              <a:t>Ključne prednosti:</a:t>
            </a:r>
            <a:br>
              <a:rPr lang="hr-HR" dirty="0"/>
            </a:br>
            <a:r>
              <a:rPr lang="hr-HR" dirty="0"/>
              <a:t>✅ Dosljednost kroz različite proizvode i platforme.</a:t>
            </a:r>
            <a:br>
              <a:rPr lang="hr-HR" dirty="0"/>
            </a:br>
            <a:r>
              <a:rPr lang="hr-HR" dirty="0"/>
              <a:t>✅ Ušteda vremena i troškova (smanjenje redundantnog rada).</a:t>
            </a:r>
            <a:br>
              <a:rPr lang="hr-HR" dirty="0"/>
            </a:br>
            <a:r>
              <a:rPr lang="hr-HR" dirty="0"/>
              <a:t>✅ Brži razvoj zahvaljujući ponovno upotrebljivim komponentama.</a:t>
            </a:r>
            <a:br>
              <a:rPr lang="hr-HR" dirty="0"/>
            </a:br>
            <a:r>
              <a:rPr lang="hr-HR" dirty="0"/>
              <a:t>✅ Centralizirano održavanje, što olakšava ažuriranja.</a:t>
            </a:r>
            <a:br>
              <a:rPr lang="hr-HR" dirty="0"/>
            </a:br>
            <a:r>
              <a:rPr lang="hr-HR" dirty="0"/>
              <a:t>✅ Poboljšana komunikacija između dizajnera, developera i dionika.</a:t>
            </a:r>
          </a:p>
          <a:p>
            <a:r>
              <a:rPr lang="hr-HR" dirty="0"/>
              <a:t>🔗 </a:t>
            </a:r>
            <a:r>
              <a:rPr lang="hr-HR" b="1" dirty="0"/>
              <a:t>Dodatno čitanje:</a:t>
            </a:r>
            <a:br>
              <a:rPr lang="hr-HR" dirty="0"/>
            </a:br>
            <a:r>
              <a:rPr lang="hr-HR" dirty="0"/>
              <a:t>Design System ROI </a:t>
            </a:r>
            <a:r>
              <a:rPr lang="hr-HR" dirty="0" err="1"/>
              <a:t>Calculator</a:t>
            </a:r>
            <a:r>
              <a:rPr lang="hr-HR" dirty="0"/>
              <a:t> – </a:t>
            </a:r>
            <a:r>
              <a:rPr lang="hr-HR" dirty="0">
                <a:hlinkClick r:id="rId3"/>
              </a:rPr>
              <a:t>https://www.designsystems.com/</a:t>
            </a:r>
            <a:endParaRPr lang="hr-HR"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6</a:t>
            </a:fld>
            <a:endParaRPr lang="en-US"/>
          </a:p>
        </p:txBody>
      </p:sp>
    </p:spTree>
    <p:extLst>
      <p:ext uri="{BB962C8B-B14F-4D97-AF65-F5344CB8AC3E}">
        <p14:creationId xmlns:p14="http://schemas.microsoft.com/office/powerpoint/2010/main" val="4002772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Prikazati stvarne (</a:t>
            </a:r>
            <a:r>
              <a:rPr lang="hr-HR" dirty="0" err="1"/>
              <a:t>real-world</a:t>
            </a:r>
            <a:r>
              <a:rPr lang="hr-HR" dirty="0"/>
              <a:t>) sustave dizajna.</a:t>
            </a:r>
          </a:p>
          <a:p>
            <a:r>
              <a:rPr lang="hr-HR" dirty="0"/>
              <a:t>🔹 </a:t>
            </a:r>
            <a:r>
              <a:rPr lang="hr-HR" b="1" dirty="0"/>
              <a:t>Ključne poruke:</a:t>
            </a:r>
            <a:endParaRPr lang="hr-HR" dirty="0"/>
          </a:p>
          <a:p>
            <a:r>
              <a:rPr lang="hr-HR" dirty="0"/>
              <a:t>Velike kompanije održavaju javno dostupne sustave dizajna kako bi osigurale skalabilnost i učinkovitost.</a:t>
            </a:r>
          </a:p>
          <a:p>
            <a:r>
              <a:rPr lang="hr-HR" dirty="0"/>
              <a:t>Primjeri sustava:</a:t>
            </a:r>
          </a:p>
          <a:p>
            <a:pPr lvl="1"/>
            <a:r>
              <a:rPr lang="hr-HR" dirty="0" err="1"/>
              <a:t>Atlassian</a:t>
            </a:r>
            <a:r>
              <a:rPr lang="hr-HR" dirty="0"/>
              <a:t> – Fokus na temeljima (</a:t>
            </a:r>
            <a:r>
              <a:rPr lang="hr-HR" dirty="0" err="1"/>
              <a:t>foundations</a:t>
            </a:r>
            <a:r>
              <a:rPr lang="hr-HR" dirty="0"/>
              <a:t>), komponentama i design tokenima.</a:t>
            </a:r>
          </a:p>
          <a:p>
            <a:pPr lvl="1"/>
            <a:r>
              <a:rPr lang="hr-HR" dirty="0"/>
              <a:t>IBM </a:t>
            </a:r>
            <a:r>
              <a:rPr lang="hr-HR" b="1" dirty="0" err="1"/>
              <a:t>Carbon</a:t>
            </a:r>
            <a:r>
              <a:rPr lang="hr-HR" dirty="0"/>
              <a:t> – Naglasak na pristupačnosti, razvoju i vizualizaciji podataka.</a:t>
            </a:r>
          </a:p>
          <a:p>
            <a:pPr lvl="1"/>
            <a:r>
              <a:rPr lang="hr-HR" dirty="0" err="1"/>
              <a:t>Shopify</a:t>
            </a:r>
            <a:r>
              <a:rPr lang="hr-HR" dirty="0"/>
              <a:t> </a:t>
            </a:r>
            <a:r>
              <a:rPr lang="hr-HR" b="1" dirty="0"/>
              <a:t>Polaris</a:t>
            </a:r>
            <a:r>
              <a:rPr lang="hr-HR" dirty="0"/>
              <a:t> – Razvijen za e-</a:t>
            </a:r>
            <a:r>
              <a:rPr lang="hr-HR" dirty="0" err="1"/>
              <a:t>commerce</a:t>
            </a:r>
            <a:r>
              <a:rPr lang="hr-HR" dirty="0"/>
              <a:t> iskustva.</a:t>
            </a:r>
          </a:p>
          <a:p>
            <a:r>
              <a:rPr lang="hr-HR" dirty="0"/>
              <a:t>Design tokeni su skalabilne varijable za boje, tipografiju i razmake koje omogućuju dosljednost i lakše održavanje sustava.</a:t>
            </a:r>
          </a:p>
          <a:p>
            <a:r>
              <a:rPr lang="hr-HR" dirty="0"/>
              <a:t>🔗 </a:t>
            </a:r>
            <a:r>
              <a:rPr lang="hr-HR" b="1" dirty="0"/>
              <a:t>Dodatno čitanje:</a:t>
            </a:r>
            <a:br>
              <a:rPr lang="hr-HR" dirty="0"/>
            </a:br>
            <a:r>
              <a:rPr lang="hr-HR" dirty="0">
                <a:hlinkClick r:id="rId3"/>
              </a:rPr>
              <a:t>https://atlassian.design/</a:t>
            </a:r>
            <a:endParaRPr lang="hr-HR" dirty="0"/>
          </a:p>
          <a:p>
            <a:endParaRPr lang="en-US" b="1"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7</a:t>
            </a:fld>
            <a:endParaRPr lang="en-US"/>
          </a:p>
        </p:txBody>
      </p:sp>
    </p:spTree>
    <p:extLst>
      <p:ext uri="{BB962C8B-B14F-4D97-AF65-F5344CB8AC3E}">
        <p14:creationId xmlns:p14="http://schemas.microsoft.com/office/powerpoint/2010/main" val="4033395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Objasniti temeljne principe sustava dizajna.</a:t>
            </a:r>
          </a:p>
          <a:p>
            <a:r>
              <a:rPr lang="hr-HR" dirty="0"/>
              <a:t>🔹 </a:t>
            </a:r>
            <a:r>
              <a:rPr lang="hr-HR" b="1" dirty="0"/>
              <a:t>Ključne poruke:</a:t>
            </a:r>
            <a:endParaRPr lang="hr-HR" dirty="0"/>
          </a:p>
          <a:p>
            <a:r>
              <a:rPr lang="hr-HR" dirty="0"/>
              <a:t>Sustav dizajna nikada nije u potpunosti završen; razvija se zajedno s proizvodom.</a:t>
            </a:r>
          </a:p>
          <a:p>
            <a:r>
              <a:rPr lang="hr-HR" dirty="0"/>
              <a:t>Zahtijeva jasno definirano vlasništvo i odgovornost, uključujući UX i UI dizajnere, developere i produkt menadžere.</a:t>
            </a:r>
          </a:p>
          <a:p>
            <a:r>
              <a:rPr lang="hr-HR" dirty="0"/>
              <a:t>Suradnja i upravljanje sustavom (</a:t>
            </a:r>
            <a:r>
              <a:rPr lang="hr-HR" dirty="0" err="1"/>
              <a:t>governance</a:t>
            </a:r>
            <a:r>
              <a:rPr lang="hr-HR" dirty="0"/>
              <a:t>) ključni su za dugoročnu primjenu i dosljednost.</a:t>
            </a:r>
          </a:p>
          <a:p>
            <a:r>
              <a:rPr lang="hr-HR" dirty="0"/>
              <a:t>🔗 </a:t>
            </a:r>
            <a:r>
              <a:rPr lang="hr-HR" b="1" dirty="0"/>
              <a:t>Preporučena literatura:</a:t>
            </a:r>
            <a:br>
              <a:rPr lang="hr-HR" dirty="0"/>
            </a:br>
            <a:r>
              <a:rPr lang="hr-HR" dirty="0"/>
              <a:t>Brad Frost – </a:t>
            </a:r>
            <a:r>
              <a:rPr lang="hr-HR" i="1" dirty="0"/>
              <a:t>Atomic Design</a:t>
            </a:r>
            <a:br>
              <a:rPr lang="hr-HR" dirty="0"/>
            </a:br>
            <a:r>
              <a:rPr lang="hr-HR" dirty="0">
                <a:hlinkClick r:id="rId3"/>
              </a:rPr>
              <a:t>https://bradfrost.com/blog/post/atomic-web-design/</a:t>
            </a:r>
            <a:endParaRPr lang="hr-HR"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11</a:t>
            </a:fld>
            <a:endParaRPr lang="en-US"/>
          </a:p>
        </p:txBody>
      </p:sp>
    </p:spTree>
    <p:extLst>
      <p:ext uri="{BB962C8B-B14F-4D97-AF65-F5344CB8AC3E}">
        <p14:creationId xmlns:p14="http://schemas.microsoft.com/office/powerpoint/2010/main" val="43736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Identificirati ključne dionike u sustavu dizajna.</a:t>
            </a:r>
          </a:p>
          <a:p>
            <a:r>
              <a:rPr lang="hr-HR" dirty="0"/>
              <a:t>🔹 </a:t>
            </a:r>
            <a:r>
              <a:rPr lang="hr-HR" b="1" dirty="0"/>
              <a:t>Ključne uloge:</a:t>
            </a:r>
            <a:endParaRPr lang="hr-HR" dirty="0"/>
          </a:p>
          <a:p>
            <a:r>
              <a:rPr lang="hr-HR" dirty="0"/>
              <a:t>👤 </a:t>
            </a:r>
            <a:r>
              <a:rPr lang="hr-HR" b="1" dirty="0" err="1"/>
              <a:t>Jezgreni</a:t>
            </a:r>
            <a:r>
              <a:rPr lang="hr-HR" b="1" dirty="0"/>
              <a:t> tim (Core Team):</a:t>
            </a:r>
            <a:r>
              <a:rPr lang="hr-HR" dirty="0"/>
              <a:t> Definira sustav, </a:t>
            </a:r>
            <a:r>
              <a:rPr lang="hr-HR" dirty="0" err="1"/>
              <a:t>validira</a:t>
            </a:r>
            <a:r>
              <a:rPr lang="hr-HR" dirty="0"/>
              <a:t> nove komponente i održava dosljednost.</a:t>
            </a:r>
          </a:p>
          <a:p>
            <a:r>
              <a:rPr lang="hr-HR" dirty="0"/>
              <a:t>👥 </a:t>
            </a:r>
            <a:r>
              <a:rPr lang="hr-HR" b="1" dirty="0"/>
              <a:t>Produktni tim (</a:t>
            </a:r>
            <a:r>
              <a:rPr lang="hr-HR" b="1" dirty="0" err="1"/>
              <a:t>Product</a:t>
            </a:r>
            <a:r>
              <a:rPr lang="hr-HR" b="1" dirty="0"/>
              <a:t> Team):</a:t>
            </a:r>
            <a:r>
              <a:rPr lang="hr-HR" dirty="0"/>
              <a:t> Prvi korisnici sustava, doprinose njegovu unaprjeđenju.</a:t>
            </a:r>
          </a:p>
          <a:p>
            <a:r>
              <a:rPr lang="hr-HR" dirty="0"/>
              <a:t>👨‍💻 </a:t>
            </a:r>
            <a:r>
              <a:rPr lang="hr-HR" b="1" dirty="0"/>
              <a:t>Developeri i dizajneri:</a:t>
            </a:r>
            <a:r>
              <a:rPr lang="hr-HR" dirty="0"/>
              <a:t> Implementiraju, iteriraju i usavršavaju komponente.</a:t>
            </a:r>
          </a:p>
          <a:p>
            <a:r>
              <a:rPr lang="hr-HR" dirty="0"/>
              <a:t>📢 </a:t>
            </a:r>
            <a:r>
              <a:rPr lang="hr-HR" b="1" dirty="0"/>
              <a:t>Dionici (PM-ovi, stručnjaci za pristupačnost):</a:t>
            </a:r>
            <a:r>
              <a:rPr lang="hr-HR" dirty="0"/>
              <a:t> Osiguravaju primjenu sustava unutar različitih timova.</a:t>
            </a:r>
          </a:p>
          <a:p>
            <a:r>
              <a:rPr lang="hr-HR" dirty="0"/>
              <a:t>🔹 </a:t>
            </a:r>
            <a:r>
              <a:rPr lang="hr-HR" b="1" dirty="0"/>
              <a:t>Zašto je to važno?</a:t>
            </a:r>
            <a:br>
              <a:rPr lang="hr-HR" dirty="0"/>
            </a:br>
            <a:r>
              <a:rPr lang="hr-HR" dirty="0"/>
              <a:t>Jasno definirano vlasništvo i procesi omogućuju skalabilnost i dosljednost sustava.</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12</a:t>
            </a:fld>
            <a:endParaRPr lang="en-US"/>
          </a:p>
        </p:txBody>
      </p:sp>
    </p:spTree>
    <p:extLst>
      <p:ext uri="{BB962C8B-B14F-4D97-AF65-F5344CB8AC3E}">
        <p14:creationId xmlns:p14="http://schemas.microsoft.com/office/powerpoint/2010/main" val="2032300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Prikazati proces izrade sustava dizajna.</a:t>
            </a:r>
          </a:p>
          <a:p>
            <a:r>
              <a:rPr lang="hr-HR" dirty="0"/>
              <a:t>🔹 </a:t>
            </a:r>
            <a:r>
              <a:rPr lang="hr-HR" b="1" dirty="0"/>
              <a:t>Korak po korak pristup:</a:t>
            </a:r>
            <a:endParaRPr lang="hr-HR" dirty="0"/>
          </a:p>
          <a:p>
            <a:r>
              <a:rPr lang="hr-HR" dirty="0"/>
              <a:t>1️⃣ Inventar postojećih komponenti i brend resursa</a:t>
            </a:r>
            <a:br>
              <a:rPr lang="hr-HR" dirty="0"/>
            </a:br>
            <a:r>
              <a:rPr lang="hr-HR" dirty="0"/>
              <a:t>2️⃣ Definiranje principa korisničkog iskustva i usklađivanje među timovima</a:t>
            </a:r>
            <a:br>
              <a:rPr lang="hr-HR" dirty="0"/>
            </a:br>
            <a:r>
              <a:rPr lang="hr-HR" dirty="0"/>
              <a:t>3️⃣ </a:t>
            </a:r>
            <a:r>
              <a:rPr lang="hr-HR" dirty="0" err="1"/>
              <a:t>Prioritizacija</a:t>
            </a:r>
            <a:r>
              <a:rPr lang="hr-HR" dirty="0"/>
              <a:t> komponenti prema vrijednosti i utjecaju</a:t>
            </a:r>
            <a:br>
              <a:rPr lang="hr-HR" dirty="0"/>
            </a:br>
            <a:r>
              <a:rPr lang="hr-HR" dirty="0"/>
              <a:t>4️⃣ Implementacija i dokumentacija</a:t>
            </a:r>
            <a:br>
              <a:rPr lang="hr-HR" dirty="0"/>
            </a:br>
            <a:r>
              <a:rPr lang="hr-HR" dirty="0"/>
              <a:t>5️⃣ Mjerenje uspjeha pomoću KPI-</a:t>
            </a:r>
            <a:r>
              <a:rPr lang="hr-HR" dirty="0" err="1"/>
              <a:t>jeva</a:t>
            </a:r>
            <a:endParaRPr lang="hr-HR" dirty="0"/>
          </a:p>
          <a:p>
            <a:r>
              <a:rPr lang="hr-HR" dirty="0"/>
              <a:t>🔗 </a:t>
            </a:r>
            <a:r>
              <a:rPr lang="hr-HR" b="1" dirty="0"/>
              <a:t>Korisni resursi:</a:t>
            </a:r>
            <a:br>
              <a:rPr lang="hr-HR" dirty="0"/>
            </a:br>
            <a:r>
              <a:rPr lang="hr-HR" dirty="0"/>
              <a:t>Brad Frost – </a:t>
            </a:r>
            <a:r>
              <a:rPr lang="hr-HR" i="1" dirty="0"/>
              <a:t>Interface </a:t>
            </a:r>
            <a:r>
              <a:rPr lang="hr-HR" i="1" dirty="0" err="1"/>
              <a:t>Inventory</a:t>
            </a:r>
            <a:r>
              <a:rPr lang="hr-HR" i="1" dirty="0"/>
              <a:t> </a:t>
            </a:r>
            <a:r>
              <a:rPr lang="hr-HR" i="1" dirty="0" err="1"/>
              <a:t>Guide</a:t>
            </a:r>
            <a:br>
              <a:rPr lang="hr-HR" dirty="0"/>
            </a:br>
            <a:r>
              <a:rPr lang="hr-HR" dirty="0">
                <a:hlinkClick r:id="rId3"/>
              </a:rPr>
              <a:t>https://bradfrost.com/blog/post/interface-inventory/</a:t>
            </a:r>
            <a:endParaRPr lang="hr-HR"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14</a:t>
            </a:fld>
            <a:endParaRPr lang="en-US"/>
          </a:p>
        </p:txBody>
      </p:sp>
    </p:spTree>
    <p:extLst>
      <p:ext uri="{BB962C8B-B14F-4D97-AF65-F5344CB8AC3E}">
        <p14:creationId xmlns:p14="http://schemas.microsoft.com/office/powerpoint/2010/main" val="1467678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Duration: 10 to 15  minutes</a:t>
            </a:r>
          </a:p>
        </p:txBody>
      </p:sp>
      <p:sp>
        <p:nvSpPr>
          <p:cNvPr id="4" name="Slide Number Placeholder 3"/>
          <p:cNvSpPr>
            <a:spLocks noGrp="1"/>
          </p:cNvSpPr>
          <p:nvPr>
            <p:ph type="sldNum" sz="quarter" idx="5"/>
          </p:nvPr>
        </p:nvSpPr>
        <p:spPr/>
        <p:txBody>
          <a:bodyPr/>
          <a:lstStyle/>
          <a:p>
            <a:fld id="{C082528A-504D-42C8-8112-D4335BF0C069}" type="slidenum">
              <a:rPr lang="en-US"/>
              <a:t>21</a:t>
            </a:fld>
            <a:endParaRPr lang="en-US"/>
          </a:p>
        </p:txBody>
      </p:sp>
    </p:spTree>
    <p:extLst>
      <p:ext uri="{BB962C8B-B14F-4D97-AF65-F5344CB8AC3E}">
        <p14:creationId xmlns:p14="http://schemas.microsoft.com/office/powerpoint/2010/main" val="473826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err="1"/>
              <a:t>Students</a:t>
            </a:r>
            <a:r>
              <a:rPr lang="fr-BE" dirty="0"/>
              <a:t> are free to chose a </a:t>
            </a:r>
            <a:r>
              <a:rPr lang="fr-BE" dirty="0" err="1"/>
              <a:t>homepage</a:t>
            </a:r>
            <a:r>
              <a:rPr lang="fr-BE" dirty="0"/>
              <a:t> </a:t>
            </a:r>
            <a:br>
              <a:rPr lang="fr-BE" dirty="0"/>
            </a:br>
            <a:r>
              <a:rPr lang="fr-BE" dirty="0"/>
              <a:t>Duration: 30 </a:t>
            </a:r>
            <a:r>
              <a:rPr lang="fr-BE" dirty="0" err="1"/>
              <a:t>tot</a:t>
            </a:r>
            <a:r>
              <a:rPr lang="fr-BE" dirty="0"/>
              <a:t> 50 minutes</a:t>
            </a:r>
          </a:p>
        </p:txBody>
      </p:sp>
      <p:sp>
        <p:nvSpPr>
          <p:cNvPr id="4" name="Slide Number Placeholder 3"/>
          <p:cNvSpPr>
            <a:spLocks noGrp="1"/>
          </p:cNvSpPr>
          <p:nvPr>
            <p:ph type="sldNum" sz="quarter" idx="5"/>
          </p:nvPr>
        </p:nvSpPr>
        <p:spPr/>
        <p:txBody>
          <a:bodyPr/>
          <a:lstStyle/>
          <a:p>
            <a:fld id="{C082528A-504D-42C8-8112-D4335BF0C069}" type="slidenum">
              <a:rPr lang="fr-BE" smtClean="0"/>
              <a:t>23</a:t>
            </a:fld>
            <a:endParaRPr lang="fr-BE"/>
          </a:p>
        </p:txBody>
      </p:sp>
    </p:spTree>
    <p:extLst>
      <p:ext uri="{BB962C8B-B14F-4D97-AF65-F5344CB8AC3E}">
        <p14:creationId xmlns:p14="http://schemas.microsoft.com/office/powerpoint/2010/main" val="2298391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C064-A57E-FB9E-8BDE-065D41B91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DBE068-7557-E3C2-E1BB-EF54285EC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F62B6-839C-F4A2-C4D3-27121A1339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48809D-27F2-BEB3-B43B-74E4AC26A34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73597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Najbolje prakse za organizaciju sustava dizajna u </a:t>
            </a:r>
            <a:r>
              <a:rPr lang="hr-HR" dirty="0" err="1"/>
              <a:t>Figmi</a:t>
            </a:r>
            <a:r>
              <a:rPr lang="hr-HR" dirty="0"/>
              <a:t>.</a:t>
            </a:r>
          </a:p>
          <a:p>
            <a:r>
              <a:rPr lang="hr-HR" dirty="0"/>
              <a:t>🔹 </a:t>
            </a:r>
            <a:r>
              <a:rPr lang="hr-HR" b="1" dirty="0"/>
              <a:t>Uobičajene strukture:</a:t>
            </a:r>
            <a:endParaRPr lang="hr-HR" dirty="0"/>
          </a:p>
          <a:p>
            <a:r>
              <a:rPr lang="hr-HR" b="1" dirty="0"/>
              <a:t>Jedna datoteka (Single File):</a:t>
            </a:r>
            <a:r>
              <a:rPr lang="hr-HR" dirty="0"/>
              <a:t> Za manje projekte — sve na jednom mjestu.</a:t>
            </a:r>
          </a:p>
          <a:p>
            <a:r>
              <a:rPr lang="hr-HR" b="1" dirty="0" err="1"/>
              <a:t>Style</a:t>
            </a:r>
            <a:r>
              <a:rPr lang="hr-HR" b="1" dirty="0"/>
              <a:t> + </a:t>
            </a:r>
            <a:r>
              <a:rPr lang="hr-HR" b="1" dirty="0" err="1"/>
              <a:t>Component</a:t>
            </a:r>
            <a:r>
              <a:rPr lang="hr-HR" b="1" dirty="0"/>
              <a:t> datoteke:</a:t>
            </a:r>
            <a:r>
              <a:rPr lang="hr-HR" dirty="0"/>
              <a:t> Odvojene datoteke za stilove i komponente radi bolje skalabilnosti.</a:t>
            </a:r>
          </a:p>
          <a:p>
            <a:r>
              <a:rPr lang="hr-HR" b="1" dirty="0"/>
              <a:t>Sustav biblioteka (</a:t>
            </a:r>
            <a:r>
              <a:rPr lang="hr-HR" b="1" dirty="0" err="1"/>
              <a:t>Library</a:t>
            </a:r>
            <a:r>
              <a:rPr lang="hr-HR" b="1" dirty="0"/>
              <a:t> System):</a:t>
            </a:r>
            <a:r>
              <a:rPr lang="hr-HR" dirty="0"/>
              <a:t> Mogućnost zamjene stilova (npr. </a:t>
            </a:r>
            <a:r>
              <a:rPr lang="hr-HR" dirty="0" err="1"/>
              <a:t>light</a:t>
            </a:r>
            <a:r>
              <a:rPr lang="hr-HR" dirty="0"/>
              <a:t>/</a:t>
            </a:r>
            <a:r>
              <a:rPr lang="hr-HR" dirty="0" err="1"/>
              <a:t>dark</a:t>
            </a:r>
            <a:r>
              <a:rPr lang="hr-HR" dirty="0"/>
              <a:t> mode, varijacije </a:t>
            </a:r>
            <a:r>
              <a:rPr lang="hr-HR" dirty="0" err="1"/>
              <a:t>brendinga</a:t>
            </a:r>
            <a:r>
              <a:rPr lang="hr-HR" dirty="0"/>
              <a:t>).</a:t>
            </a:r>
          </a:p>
          <a:p>
            <a:r>
              <a:rPr lang="hr-HR" dirty="0"/>
              <a:t>🔹 </a:t>
            </a:r>
            <a:r>
              <a:rPr lang="hr-HR" b="1" dirty="0"/>
              <a:t>Zašto je to važno?</a:t>
            </a:r>
            <a:br>
              <a:rPr lang="hr-HR" dirty="0"/>
            </a:br>
            <a:r>
              <a:rPr lang="hr-HR" dirty="0"/>
              <a:t>Pomaže u smanjenju složenosti i povećava održivost sustava dizajna.</a:t>
            </a:r>
          </a:p>
          <a:p>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32</a:t>
            </a:fld>
            <a:endParaRPr lang="en-US"/>
          </a:p>
        </p:txBody>
      </p:sp>
    </p:spTree>
    <p:extLst>
      <p:ext uri="{BB962C8B-B14F-4D97-AF65-F5344CB8AC3E}">
        <p14:creationId xmlns:p14="http://schemas.microsoft.com/office/powerpoint/2010/main" val="420777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Definirati najbolje prakse za imenovanje komponenti i održavanje dokumentacije.</a:t>
            </a:r>
          </a:p>
          <a:p>
            <a:r>
              <a:rPr lang="hr-HR" dirty="0"/>
              <a:t>🔹 </a:t>
            </a:r>
            <a:r>
              <a:rPr lang="hr-HR" b="1" dirty="0"/>
              <a:t>Ključne smjernice:</a:t>
            </a:r>
            <a:br>
              <a:rPr lang="hr-HR" dirty="0"/>
            </a:br>
            <a:r>
              <a:rPr lang="hr-HR" dirty="0"/>
              <a:t>✅ Koristite semantičke nazive umjesto generičkih (npr. „</a:t>
            </a:r>
            <a:r>
              <a:rPr lang="hr-HR" dirty="0" err="1"/>
              <a:t>Primary</a:t>
            </a:r>
            <a:r>
              <a:rPr lang="hr-HR" dirty="0"/>
              <a:t> </a:t>
            </a:r>
            <a:r>
              <a:rPr lang="hr-HR" dirty="0" err="1"/>
              <a:t>Button</a:t>
            </a:r>
            <a:r>
              <a:rPr lang="hr-HR" dirty="0"/>
              <a:t>” umjesto „</a:t>
            </a:r>
            <a:r>
              <a:rPr lang="hr-HR" dirty="0" err="1"/>
              <a:t>Button</a:t>
            </a:r>
            <a:r>
              <a:rPr lang="hr-HR" dirty="0"/>
              <a:t> 1”).</a:t>
            </a:r>
            <a:br>
              <a:rPr lang="hr-HR" dirty="0"/>
            </a:br>
            <a:r>
              <a:rPr lang="hr-HR" dirty="0"/>
              <a:t>✅ Grupirajte elemente prema funkcionalnosti, a ne prema stilu.</a:t>
            </a:r>
            <a:br>
              <a:rPr lang="hr-HR" dirty="0"/>
            </a:br>
            <a:r>
              <a:rPr lang="hr-HR" dirty="0"/>
              <a:t>✅ Održavajte sveobuhvatnu dokumentaciju za developere i dizajnere.</a:t>
            </a:r>
          </a:p>
          <a:p>
            <a:r>
              <a:rPr lang="hr-HR" dirty="0"/>
              <a:t>🔗 </a:t>
            </a:r>
            <a:r>
              <a:rPr lang="hr-HR" b="1" dirty="0"/>
              <a:t>Resursi za imenovanje i dokumentaciju:</a:t>
            </a:r>
            <a:br>
              <a:rPr lang="hr-HR" dirty="0"/>
            </a:br>
            <a:r>
              <a:rPr lang="hr-HR" dirty="0">
                <a:hlinkClick r:id="rId3"/>
              </a:rPr>
              <a:t>https://designsystemchecklist.com/</a:t>
            </a:r>
            <a:endParaRPr lang="hr-HR"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33</a:t>
            </a:fld>
            <a:endParaRPr lang="en-US"/>
          </a:p>
        </p:txBody>
      </p:sp>
    </p:spTree>
    <p:extLst>
      <p:ext uri="{BB962C8B-B14F-4D97-AF65-F5344CB8AC3E}">
        <p14:creationId xmlns:p14="http://schemas.microsoft.com/office/powerpoint/2010/main" val="1960571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611E1-D261-C7B0-22D6-505D3BC2E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7DF7B-9C6A-F7DE-E2AB-5538311AF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72EA4-16FD-9F42-7B7C-DCEC416889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469A7B-6DD0-AEC6-B13A-B8FF66CE4DFB}"/>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357868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 </a:t>
            </a:r>
            <a:r>
              <a:rPr lang="hr-HR" b="1" dirty="0"/>
              <a:t>Cilj:</a:t>
            </a:r>
            <a:r>
              <a:rPr lang="hr-HR" dirty="0"/>
              <a:t> Objasniti različite vrste </a:t>
            </a:r>
            <a:r>
              <a:rPr lang="hr-HR" b="1" dirty="0" err="1"/>
              <a:t>prototipiranja</a:t>
            </a:r>
            <a:r>
              <a:rPr lang="hr-HR" b="1" dirty="0"/>
              <a:t> u UX/UI dizajnu</a:t>
            </a:r>
            <a:r>
              <a:rPr lang="hr-HR" dirty="0"/>
              <a:t>.</a:t>
            </a:r>
          </a:p>
          <a:p>
            <a:r>
              <a:rPr lang="hr-HR" dirty="0"/>
              <a:t>🔹 </a:t>
            </a:r>
            <a:r>
              <a:rPr lang="hr-HR" b="1" dirty="0"/>
              <a:t>Vrste prototipova:</a:t>
            </a:r>
            <a:br>
              <a:rPr lang="hr-HR" dirty="0"/>
            </a:br>
            <a:r>
              <a:rPr lang="hr-HR" dirty="0"/>
              <a:t>1️⃣ </a:t>
            </a:r>
            <a:r>
              <a:rPr lang="hr-HR" b="1" dirty="0" err="1"/>
              <a:t>Low-fidelity</a:t>
            </a:r>
            <a:r>
              <a:rPr lang="hr-HR" b="1" dirty="0"/>
              <a:t> </a:t>
            </a:r>
            <a:r>
              <a:rPr lang="hr-HR" b="1" dirty="0" err="1"/>
              <a:t>wireframeovi</a:t>
            </a:r>
            <a:r>
              <a:rPr lang="hr-HR" dirty="0"/>
              <a:t> – Brze skice za rano testiranje i validaciju ideja.</a:t>
            </a:r>
            <a:br>
              <a:rPr lang="hr-HR" dirty="0"/>
            </a:br>
            <a:r>
              <a:rPr lang="hr-HR" dirty="0"/>
              <a:t>2️⃣ </a:t>
            </a:r>
            <a:r>
              <a:rPr lang="hr-HR" b="1" dirty="0" err="1"/>
              <a:t>High-fidelity</a:t>
            </a:r>
            <a:r>
              <a:rPr lang="hr-HR" b="1" dirty="0"/>
              <a:t> </a:t>
            </a:r>
            <a:r>
              <a:rPr lang="hr-HR" b="1" dirty="0" err="1"/>
              <a:t>wireframeovi</a:t>
            </a:r>
            <a:r>
              <a:rPr lang="hr-HR" dirty="0"/>
              <a:t> – Detaljniji prikazi koji se fokusiraju na </a:t>
            </a:r>
            <a:r>
              <a:rPr lang="hr-HR" b="1" dirty="0"/>
              <a:t>raspored i strukturu</a:t>
            </a:r>
            <a:r>
              <a:rPr lang="hr-HR" dirty="0"/>
              <a:t>.</a:t>
            </a:r>
            <a:br>
              <a:rPr lang="hr-HR" dirty="0"/>
            </a:br>
            <a:r>
              <a:rPr lang="hr-HR" dirty="0"/>
              <a:t>3️⃣ </a:t>
            </a:r>
            <a:r>
              <a:rPr lang="hr-HR" b="1" dirty="0"/>
              <a:t>Interaktivni prototipovi</a:t>
            </a:r>
            <a:r>
              <a:rPr lang="hr-HR" dirty="0"/>
              <a:t> – Simulacije </a:t>
            </a:r>
            <a:r>
              <a:rPr lang="hr-HR" b="1" dirty="0"/>
              <a:t>korisničkih interakcija i korisničkih tokova (</a:t>
            </a:r>
            <a:r>
              <a:rPr lang="hr-HR" b="1" dirty="0" err="1"/>
              <a:t>user</a:t>
            </a:r>
            <a:r>
              <a:rPr lang="hr-HR" b="1" dirty="0"/>
              <a:t> </a:t>
            </a:r>
            <a:r>
              <a:rPr lang="hr-HR" b="1" dirty="0" err="1"/>
              <a:t>flows</a:t>
            </a:r>
            <a:r>
              <a:rPr lang="hr-HR" b="1" dirty="0"/>
              <a:t>)</a:t>
            </a:r>
            <a:r>
              <a:rPr lang="hr-HR" dirty="0"/>
              <a:t>.</a:t>
            </a:r>
          </a:p>
          <a:p>
            <a:r>
              <a:rPr lang="hr-HR" dirty="0"/>
              <a:t>🔹 </a:t>
            </a:r>
            <a:r>
              <a:rPr lang="hr-HR" b="1" dirty="0"/>
              <a:t>Zašto je ovo važno?</a:t>
            </a:r>
            <a:br>
              <a:rPr lang="hr-HR" dirty="0"/>
            </a:br>
            <a:r>
              <a:rPr lang="hr-HR" dirty="0"/>
              <a:t>Pomaže u </a:t>
            </a:r>
            <a:r>
              <a:rPr lang="hr-HR" b="1" dirty="0"/>
              <a:t>provjeri i validaciji ideja prije razvoja</a:t>
            </a:r>
            <a:r>
              <a:rPr lang="hr-HR" dirty="0"/>
              <a:t>, čime se smanjuje potreba za skupim izmjenama kasnije.</a:t>
            </a:r>
          </a:p>
          <a:p>
            <a:r>
              <a:rPr lang="hr-HR" dirty="0"/>
              <a:t>🔗 </a:t>
            </a:r>
            <a:r>
              <a:rPr lang="hr-HR" b="1" dirty="0"/>
              <a:t>Više o </a:t>
            </a:r>
            <a:r>
              <a:rPr lang="hr-HR" b="1" dirty="0" err="1"/>
              <a:t>prototipiranju</a:t>
            </a:r>
            <a:r>
              <a:rPr lang="hr-HR" b="1" dirty="0"/>
              <a:t>:</a:t>
            </a:r>
            <a:br>
              <a:rPr lang="hr-HR" dirty="0"/>
            </a:br>
            <a:r>
              <a:rPr lang="hr-HR" dirty="0" err="1"/>
              <a:t>Figma</a:t>
            </a:r>
            <a:r>
              <a:rPr lang="hr-HR" dirty="0"/>
              <a:t> </a:t>
            </a:r>
            <a:r>
              <a:rPr lang="hr-HR" dirty="0" err="1"/>
              <a:t>Prototyping</a:t>
            </a:r>
            <a:r>
              <a:rPr lang="hr-HR" dirty="0"/>
              <a:t> </a:t>
            </a:r>
            <a:r>
              <a:rPr lang="hr-HR" dirty="0" err="1"/>
              <a:t>Guide</a:t>
            </a:r>
            <a:endParaRPr lang="hr-HR" dirty="0"/>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082528A-504D-42C8-8112-D4335BF0C069}" type="slidenum">
              <a:rPr lang="en-US"/>
              <a:t>49</a:t>
            </a:fld>
            <a:endParaRPr lang="en-US"/>
          </a:p>
        </p:txBody>
      </p:sp>
    </p:spTree>
    <p:extLst>
      <p:ext uri="{BB962C8B-B14F-4D97-AF65-F5344CB8AC3E}">
        <p14:creationId xmlns:p14="http://schemas.microsoft.com/office/powerpoint/2010/main" val="1630769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b="1" dirty="0" err="1"/>
              <a:t>Figma</a:t>
            </a:r>
            <a:r>
              <a:rPr lang="hr-HR" b="1" dirty="0"/>
              <a:t> stranice: base, </a:t>
            </a:r>
            <a:r>
              <a:rPr lang="hr-HR" b="1" dirty="0" err="1"/>
              <a:t>option</a:t>
            </a:r>
            <a:r>
              <a:rPr lang="hr-HR" b="1" dirty="0"/>
              <a:t>, </a:t>
            </a:r>
            <a:r>
              <a:rPr lang="hr-HR" b="1" dirty="0" err="1"/>
              <a:t>type</a:t>
            </a:r>
            <a:r>
              <a:rPr lang="hr-HR" b="1" dirty="0"/>
              <a:t> </a:t>
            </a:r>
            <a:r>
              <a:rPr lang="hr-HR" b="1" dirty="0" err="1"/>
              <a:t>of</a:t>
            </a:r>
            <a:r>
              <a:rPr lang="hr-HR" b="1" dirty="0"/>
              <a:t> </a:t>
            </a:r>
            <a:r>
              <a:rPr lang="hr-HR" b="1" dirty="0" err="1"/>
              <a:t>interactions</a:t>
            </a:r>
            <a:r>
              <a:rPr lang="hr-HR" dirty="0"/>
              <a:t> → demonstracija osnova u </a:t>
            </a:r>
            <a:r>
              <a:rPr lang="hr-HR" dirty="0" err="1"/>
              <a:t>Figmi</a:t>
            </a:r>
            <a:r>
              <a:rPr lang="hr-HR" dirty="0"/>
              <a:t>.</a:t>
            </a:r>
          </a:p>
          <a:p>
            <a:r>
              <a:rPr lang="hr-HR" b="1" dirty="0"/>
              <a:t>Stranica </a:t>
            </a:r>
            <a:r>
              <a:rPr lang="hr-HR" b="1" dirty="0" err="1"/>
              <a:t>Exercise</a:t>
            </a:r>
            <a:r>
              <a:rPr lang="hr-HR" b="1" dirty="0"/>
              <a:t> 1:</a:t>
            </a:r>
            <a:r>
              <a:rPr lang="hr-HR" dirty="0"/>
              <a:t> </a:t>
            </a:r>
            <a:r>
              <a:rPr lang="hr-HR" i="1" dirty="0"/>
              <a:t>Ispričajte priču koristeći samo oblike (molimo).</a:t>
            </a:r>
            <a:br>
              <a:rPr lang="hr-HR" dirty="0"/>
            </a:br>
            <a:r>
              <a:rPr lang="hr-HR" dirty="0"/>
              <a:t>→ korištenje i manipulacija osnovnim oblicima u </a:t>
            </a:r>
            <a:r>
              <a:rPr lang="hr-HR" dirty="0" err="1"/>
              <a:t>Figmi</a:t>
            </a:r>
            <a:r>
              <a:rPr lang="hr-HR" dirty="0"/>
              <a:t> kako bi se stvorila priča za prezentaciju.</a:t>
            </a:r>
          </a:p>
          <a:p>
            <a:r>
              <a:rPr lang="hr-HR" b="1" dirty="0"/>
              <a:t>Stranice </a:t>
            </a:r>
            <a:r>
              <a:rPr lang="hr-HR" b="1" dirty="0" err="1"/>
              <a:t>Overlays</a:t>
            </a:r>
            <a:r>
              <a:rPr lang="hr-HR" dirty="0"/>
              <a:t> → demonstracija, zatim:</a:t>
            </a:r>
          </a:p>
          <a:p>
            <a:r>
              <a:rPr lang="hr-HR" b="1" dirty="0"/>
              <a:t>Stranica </a:t>
            </a:r>
            <a:r>
              <a:rPr lang="hr-HR" b="1" dirty="0" err="1"/>
              <a:t>Exercise</a:t>
            </a:r>
            <a:r>
              <a:rPr lang="hr-HR" b="1" dirty="0"/>
              <a:t> 2:</a:t>
            </a:r>
            <a:r>
              <a:rPr lang="hr-HR" dirty="0"/>
              <a:t> izradite nešto (jedan ekran) koristeći </a:t>
            </a:r>
            <a:r>
              <a:rPr lang="hr-HR" b="1" dirty="0" err="1"/>
              <a:t>overlays</a:t>
            </a:r>
            <a:r>
              <a:rPr lang="hr-HR" dirty="0"/>
              <a:t>.</a:t>
            </a:r>
          </a:p>
          <a:p>
            <a:r>
              <a:rPr lang="hr-HR" b="1" dirty="0"/>
              <a:t>Stranice </a:t>
            </a:r>
            <a:r>
              <a:rPr lang="hr-HR" b="1" dirty="0" err="1"/>
              <a:t>Interactive</a:t>
            </a:r>
            <a:r>
              <a:rPr lang="hr-HR" b="1" dirty="0"/>
              <a:t> </a:t>
            </a:r>
            <a:r>
              <a:rPr lang="hr-HR" b="1" dirty="0" err="1"/>
              <a:t>Components</a:t>
            </a:r>
            <a:r>
              <a:rPr lang="hr-HR" b="1" dirty="0"/>
              <a:t>, </a:t>
            </a:r>
            <a:r>
              <a:rPr lang="hr-HR" b="1" dirty="0" err="1"/>
              <a:t>Variables</a:t>
            </a:r>
            <a:r>
              <a:rPr lang="hr-HR" dirty="0"/>
              <a:t> → demonstracija, zatim:</a:t>
            </a:r>
          </a:p>
          <a:p>
            <a:r>
              <a:rPr lang="hr-HR" b="1" dirty="0"/>
              <a:t>Stranica </a:t>
            </a:r>
            <a:r>
              <a:rPr lang="hr-HR" b="1" dirty="0" err="1"/>
              <a:t>Exercise</a:t>
            </a:r>
            <a:r>
              <a:rPr lang="hr-HR" b="1" dirty="0"/>
              <a:t> 3:</a:t>
            </a:r>
            <a:r>
              <a:rPr lang="hr-HR" dirty="0"/>
              <a:t> zadatak je </a:t>
            </a:r>
            <a:r>
              <a:rPr lang="hr-HR" b="1" dirty="0"/>
              <a:t>samo povezati ekrane u prototip</a:t>
            </a:r>
            <a:r>
              <a:rPr lang="hr-HR" dirty="0"/>
              <a:t>.</a:t>
            </a:r>
          </a:p>
          <a:p>
            <a:r>
              <a:rPr lang="hr-HR" b="1" dirty="0"/>
              <a:t>Trajanje:</a:t>
            </a:r>
            <a:r>
              <a:rPr lang="hr-HR" dirty="0"/>
              <a:t> 60 minuta.</a:t>
            </a:r>
          </a:p>
        </p:txBody>
      </p:sp>
      <p:sp>
        <p:nvSpPr>
          <p:cNvPr id="4" name="Slide Number Placeholder 3"/>
          <p:cNvSpPr>
            <a:spLocks noGrp="1"/>
          </p:cNvSpPr>
          <p:nvPr>
            <p:ph type="sldNum" sz="quarter" idx="5"/>
          </p:nvPr>
        </p:nvSpPr>
        <p:spPr/>
        <p:txBody>
          <a:bodyPr/>
          <a:lstStyle/>
          <a:p>
            <a:fld id="{C082528A-504D-42C8-8112-D4335BF0C069}" type="slidenum">
              <a:rPr lang="fr-BE" smtClean="0"/>
              <a:t>60</a:t>
            </a:fld>
            <a:endParaRPr lang="fr-BE"/>
          </a:p>
        </p:txBody>
      </p:sp>
    </p:spTree>
    <p:extLst>
      <p:ext uri="{BB962C8B-B14F-4D97-AF65-F5344CB8AC3E}">
        <p14:creationId xmlns:p14="http://schemas.microsoft.com/office/powerpoint/2010/main" val="839644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61</a:t>
            </a:fld>
            <a:endParaRPr lang="fr-BE"/>
          </a:p>
        </p:txBody>
      </p:sp>
    </p:spTree>
    <p:extLst>
      <p:ext uri="{BB962C8B-B14F-4D97-AF65-F5344CB8AC3E}">
        <p14:creationId xmlns:p14="http://schemas.microsoft.com/office/powerpoint/2010/main" val="722281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C082528A-504D-42C8-8112-D4335BF0C069}" type="slidenum">
              <a:rPr lang="fr-BE" smtClean="0"/>
              <a:t>67</a:t>
            </a:fld>
            <a:endParaRPr lang="fr-BE"/>
          </a:p>
        </p:txBody>
      </p:sp>
    </p:spTree>
    <p:extLst>
      <p:ext uri="{BB962C8B-B14F-4D97-AF65-F5344CB8AC3E}">
        <p14:creationId xmlns:p14="http://schemas.microsoft.com/office/powerpoint/2010/main" val="343664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356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2867800"/>
            <a:ext cx="11360800" cy="1122400"/>
          </a:xfrm>
          <a:prstGeom prst="rect">
            <a:avLst/>
          </a:prstGeom>
        </p:spPr>
        <p:txBody>
          <a:bodyPr spcFirstLastPara="1" wrap="square" lIns="0" tIns="0" rIns="0" bIns="0" anchor="ctr" anchorCtr="0">
            <a:norm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9" name="Google Shape;19;p3"/>
          <p:cNvSpPr txBox="1">
            <a:spLocks noGrp="1"/>
          </p:cNvSpPr>
          <p:nvPr>
            <p:ph type="sldNum" idx="12"/>
          </p:nvPr>
        </p:nvSpPr>
        <p:spPr>
          <a:xfrm>
            <a:off x="11284395" y="6201867"/>
            <a:ext cx="600000" cy="304800"/>
          </a:xfrm>
          <a:prstGeom prst="rect">
            <a:avLst/>
          </a:prstGeom>
        </p:spPr>
        <p:txBody>
          <a:bodyPr spcFirstLastPara="1" wrap="square" lIns="91425" tIns="0" rIns="91425"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20" name="Google Shape;20;p3"/>
          <p:cNvPicPr preferRelativeResize="0"/>
          <p:nvPr/>
        </p:nvPicPr>
        <p:blipFill rotWithShape="1">
          <a:blip r:embed="rId2">
            <a:alphaModFix amt="35000"/>
          </a:blip>
          <a:srcRect l="4963" t="35235" r="4954" b="35235"/>
          <a:stretch/>
        </p:blipFill>
        <p:spPr>
          <a:xfrm>
            <a:off x="10582267" y="398134"/>
            <a:ext cx="1259200" cy="252333"/>
          </a:xfrm>
          <a:prstGeom prst="rect">
            <a:avLst/>
          </a:prstGeom>
          <a:noFill/>
          <a:ln>
            <a:noFill/>
          </a:ln>
        </p:spPr>
      </p:pic>
    </p:spTree>
    <p:extLst>
      <p:ext uri="{BB962C8B-B14F-4D97-AF65-F5344CB8AC3E}">
        <p14:creationId xmlns:p14="http://schemas.microsoft.com/office/powerpoint/2010/main" val="3201796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ey - Cases - Full screen">
  <p:cSld name="TITLE_AND_TWO_COLUMNS_1_1_1">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364800" y="285700"/>
            <a:ext cx="9979600" cy="412800"/>
          </a:xfrm>
          <a:prstGeom prst="rect">
            <a:avLst/>
          </a:prstGeom>
        </p:spPr>
        <p:txBody>
          <a:bodyPr spcFirstLastPara="1" wrap="square" lIns="0" tIns="0" rIns="0" bIns="0" anchor="ctr" anchorCtr="0">
            <a:normAutofit/>
          </a:bodyPr>
          <a:lstStyle>
            <a:lvl1pPr lvl="0" rtl="0">
              <a:spcBef>
                <a:spcPts val="0"/>
              </a:spcBef>
              <a:spcAft>
                <a:spcPts val="0"/>
              </a:spcAft>
              <a:buSzPts val="1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8"/>
          <p:cNvSpPr txBox="1">
            <a:spLocks noGrp="1"/>
          </p:cNvSpPr>
          <p:nvPr>
            <p:ph type="sldNum" idx="12"/>
          </p:nvPr>
        </p:nvSpPr>
        <p:spPr>
          <a:xfrm>
            <a:off x="11284395" y="6201867"/>
            <a:ext cx="600000" cy="304800"/>
          </a:xfrm>
          <a:prstGeom prst="rect">
            <a:avLst/>
          </a:prstGeom>
        </p:spPr>
        <p:txBody>
          <a:bodyPr spcFirstLastPara="1" wrap="square" lIns="91425" tIns="0" rIns="91425"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grpSp>
        <p:nvGrpSpPr>
          <p:cNvPr id="55" name="Google Shape;55;p8"/>
          <p:cNvGrpSpPr/>
          <p:nvPr/>
        </p:nvGrpSpPr>
        <p:grpSpPr>
          <a:xfrm rot="10800000">
            <a:off x="4121033" y="-11933"/>
            <a:ext cx="8071067" cy="6872800"/>
            <a:chOff x="-228875" y="-11150"/>
            <a:chExt cx="6053300" cy="5154600"/>
          </a:xfrm>
        </p:grpSpPr>
        <p:sp>
          <p:nvSpPr>
            <p:cNvPr id="56" name="Google Shape;56;p8"/>
            <p:cNvSpPr/>
            <p:nvPr/>
          </p:nvSpPr>
          <p:spPr>
            <a:xfrm>
              <a:off x="3085125" y="-8925"/>
              <a:ext cx="2739300" cy="5143500"/>
            </a:xfrm>
            <a:prstGeom prst="rtTriangle">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 name="Google Shape;57;p8"/>
            <p:cNvSpPr/>
            <p:nvPr/>
          </p:nvSpPr>
          <p:spPr>
            <a:xfrm>
              <a:off x="-228875" y="-11150"/>
              <a:ext cx="3314100" cy="51546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8" name="Google Shape;58;p8"/>
          <p:cNvSpPr txBox="1">
            <a:spLocks noGrp="1"/>
          </p:cNvSpPr>
          <p:nvPr>
            <p:ph type="subTitle" idx="1"/>
          </p:nvPr>
        </p:nvSpPr>
        <p:spPr>
          <a:xfrm>
            <a:off x="598633" y="1916700"/>
            <a:ext cx="2486800" cy="513600"/>
          </a:xfrm>
          <a:prstGeom prst="rect">
            <a:avLst/>
          </a:prstGeom>
        </p:spPr>
        <p:txBody>
          <a:bodyPr spcFirstLastPara="1" wrap="square" lIns="0" tIns="0" rIns="0" bIns="0" anchor="t" anchorCtr="0">
            <a:noAutofit/>
          </a:bodyPr>
          <a:lstStyle>
            <a:lvl1pPr lvl="0" rtl="0">
              <a:spcBef>
                <a:spcPts val="0"/>
              </a:spcBef>
              <a:spcAft>
                <a:spcPts val="0"/>
              </a:spcAft>
              <a:buClr>
                <a:srgbClr val="222222"/>
              </a:buClr>
              <a:buSzPts val="1800"/>
              <a:buFont typeface="Roboto"/>
              <a:buNone/>
              <a:defRPr b="1">
                <a:solidFill>
                  <a:srgbClr val="222222"/>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8"/>
          <p:cNvSpPr txBox="1">
            <a:spLocks noGrp="1"/>
          </p:cNvSpPr>
          <p:nvPr>
            <p:ph type="subTitle" idx="2"/>
          </p:nvPr>
        </p:nvSpPr>
        <p:spPr>
          <a:xfrm>
            <a:off x="598633" y="2884500"/>
            <a:ext cx="2486800" cy="613600"/>
          </a:xfrm>
          <a:prstGeom prst="rect">
            <a:avLst/>
          </a:prstGeom>
        </p:spPr>
        <p:txBody>
          <a:bodyPr spcFirstLastPara="1" wrap="square" lIns="0" tIns="0" rIns="0" bIns="0" anchor="t" anchorCtr="0">
            <a:noAutofit/>
          </a:bodyPr>
          <a:lstStyle>
            <a:lvl1pPr lvl="0" rtl="0">
              <a:spcBef>
                <a:spcPts val="0"/>
              </a:spcBef>
              <a:spcAft>
                <a:spcPts val="0"/>
              </a:spcAft>
              <a:buClr>
                <a:srgbClr val="444343"/>
              </a:buClr>
              <a:buSzPts val="1100"/>
              <a:buFont typeface="Roboto"/>
              <a:buNone/>
              <a:defRPr sz="1467">
                <a:solidFill>
                  <a:srgbClr val="444343"/>
                </a:solidFill>
                <a:latin typeface="Roboto"/>
                <a:ea typeface="Roboto"/>
                <a:cs typeface="Roboto"/>
                <a:sym typeface="Roboto"/>
              </a:defRPr>
            </a:lvl1pPr>
            <a:lvl2pPr lvl="1" rtl="0">
              <a:spcBef>
                <a:spcPts val="0"/>
              </a:spcBef>
              <a:spcAft>
                <a:spcPts val="0"/>
              </a:spcAft>
              <a:buSzPts val="1400"/>
              <a:buFont typeface="Roboto"/>
              <a:buNone/>
              <a:defRPr>
                <a:latin typeface="Roboto"/>
                <a:ea typeface="Roboto"/>
                <a:cs typeface="Roboto"/>
                <a:sym typeface="Roboto"/>
              </a:defRPr>
            </a:lvl2pPr>
            <a:lvl3pPr lvl="2" rtl="0">
              <a:spcBef>
                <a:spcPts val="0"/>
              </a:spcBef>
              <a:spcAft>
                <a:spcPts val="0"/>
              </a:spcAft>
              <a:buSzPts val="1400"/>
              <a:buFont typeface="Roboto"/>
              <a:buNone/>
              <a:defRPr>
                <a:latin typeface="Roboto"/>
                <a:ea typeface="Roboto"/>
                <a:cs typeface="Roboto"/>
                <a:sym typeface="Roboto"/>
              </a:defRPr>
            </a:lvl3pPr>
            <a:lvl4pPr lvl="3" rtl="0">
              <a:spcBef>
                <a:spcPts val="0"/>
              </a:spcBef>
              <a:spcAft>
                <a:spcPts val="0"/>
              </a:spcAft>
              <a:buSzPts val="1400"/>
              <a:buFont typeface="Roboto"/>
              <a:buNone/>
              <a:defRPr>
                <a:latin typeface="Roboto"/>
                <a:ea typeface="Roboto"/>
                <a:cs typeface="Roboto"/>
                <a:sym typeface="Roboto"/>
              </a:defRPr>
            </a:lvl4pPr>
            <a:lvl5pPr lvl="4" rtl="0">
              <a:spcBef>
                <a:spcPts val="0"/>
              </a:spcBef>
              <a:spcAft>
                <a:spcPts val="0"/>
              </a:spcAft>
              <a:buSzPts val="1400"/>
              <a:buFont typeface="Roboto"/>
              <a:buNone/>
              <a:defRPr>
                <a:latin typeface="Roboto"/>
                <a:ea typeface="Roboto"/>
                <a:cs typeface="Roboto"/>
                <a:sym typeface="Roboto"/>
              </a:defRPr>
            </a:lvl5pPr>
            <a:lvl6pPr lvl="5" rtl="0">
              <a:spcBef>
                <a:spcPts val="0"/>
              </a:spcBef>
              <a:spcAft>
                <a:spcPts val="0"/>
              </a:spcAft>
              <a:buSzPts val="1400"/>
              <a:buFont typeface="Roboto"/>
              <a:buNone/>
              <a:defRPr>
                <a:latin typeface="Roboto"/>
                <a:ea typeface="Roboto"/>
                <a:cs typeface="Roboto"/>
                <a:sym typeface="Roboto"/>
              </a:defRPr>
            </a:lvl6pPr>
            <a:lvl7pPr lvl="6" rtl="0">
              <a:spcBef>
                <a:spcPts val="0"/>
              </a:spcBef>
              <a:spcAft>
                <a:spcPts val="0"/>
              </a:spcAft>
              <a:buSzPts val="1400"/>
              <a:buFont typeface="Roboto"/>
              <a:buNone/>
              <a:defRPr>
                <a:latin typeface="Roboto"/>
                <a:ea typeface="Roboto"/>
                <a:cs typeface="Roboto"/>
                <a:sym typeface="Roboto"/>
              </a:defRPr>
            </a:lvl7pPr>
            <a:lvl8pPr lvl="7" rtl="0">
              <a:spcBef>
                <a:spcPts val="0"/>
              </a:spcBef>
              <a:spcAft>
                <a:spcPts val="0"/>
              </a:spcAft>
              <a:buSzPts val="1400"/>
              <a:buFont typeface="Roboto"/>
              <a:buNone/>
              <a:defRPr>
                <a:latin typeface="Roboto"/>
                <a:ea typeface="Roboto"/>
                <a:cs typeface="Roboto"/>
                <a:sym typeface="Roboto"/>
              </a:defRPr>
            </a:lvl8pPr>
            <a:lvl9pPr lvl="8" rtl="0">
              <a:spcBef>
                <a:spcPts val="0"/>
              </a:spcBef>
              <a:spcAft>
                <a:spcPts val="0"/>
              </a:spcAft>
              <a:buSzPts val="1400"/>
              <a:buFont typeface="Roboto"/>
              <a:buNone/>
              <a:defRPr>
                <a:latin typeface="Roboto"/>
                <a:ea typeface="Roboto"/>
                <a:cs typeface="Roboto"/>
                <a:sym typeface="Roboto"/>
              </a:defRPr>
            </a:lvl9pPr>
          </a:lstStyle>
          <a:p>
            <a:endParaRPr/>
          </a:p>
        </p:txBody>
      </p:sp>
    </p:spTree>
    <p:extLst>
      <p:ext uri="{BB962C8B-B14F-4D97-AF65-F5344CB8AC3E}">
        <p14:creationId xmlns:p14="http://schemas.microsoft.com/office/powerpoint/2010/main" val="489048797"/>
      </p:ext>
    </p:extLst>
  </p:cSld>
  <p:clrMapOvr>
    <a:masterClrMapping/>
  </p:clrMapOvr>
  <p:extLst>
    <p:ext uri="{DCECCB84-F9BA-43D5-87BE-67443E8EF086}">
      <p15:sldGuideLst xmlns:p15="http://schemas.microsoft.com/office/powerpoint/2012/main">
        <p15:guide id="1" pos="2596" userDrawn="1">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re et texte + image">
  <p:cSld name="TITLE_AND_TWO_COLUMNS_1">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364800" y="285700"/>
            <a:ext cx="9979600" cy="412800"/>
          </a:xfrm>
          <a:prstGeom prst="rect">
            <a:avLst/>
          </a:prstGeom>
        </p:spPr>
        <p:txBody>
          <a:bodyPr spcFirstLastPara="1" wrap="square" lIns="0" tIns="0" rIns="0" bIns="0" anchor="ctr" anchorCtr="0">
            <a:normAutofit/>
          </a:bodyPr>
          <a:lstStyle>
            <a:lvl1pPr lvl="0" rtl="0">
              <a:spcBef>
                <a:spcPts val="0"/>
              </a:spcBef>
              <a:spcAft>
                <a:spcPts val="0"/>
              </a:spcAft>
              <a:buSzPts val="1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 name="Google Shape;39;p6"/>
          <p:cNvSpPr txBox="1">
            <a:spLocks noGrp="1"/>
          </p:cNvSpPr>
          <p:nvPr>
            <p:ph type="body" idx="1"/>
          </p:nvPr>
        </p:nvSpPr>
        <p:spPr>
          <a:xfrm>
            <a:off x="720167" y="2157100"/>
            <a:ext cx="5760000" cy="3561200"/>
          </a:xfrm>
          <a:prstGeom prst="rect">
            <a:avLst/>
          </a:prstGeom>
        </p:spPr>
        <p:txBody>
          <a:bodyPr spcFirstLastPara="1" wrap="square" lIns="91425" tIns="91425" rIns="91425" bIns="91425" anchor="t" anchorCtr="0">
            <a:normAutofit/>
          </a:bodyPr>
          <a:lstStyle>
            <a:lvl1pPr marL="609585" lvl="0" indent="-423323" rtl="0">
              <a:lnSpc>
                <a:spcPct val="105000"/>
              </a:lnSpc>
              <a:spcBef>
                <a:spcPts val="0"/>
              </a:spcBef>
              <a:spcAft>
                <a:spcPts val="0"/>
              </a:spcAft>
              <a:buClr>
                <a:srgbClr val="444343"/>
              </a:buClr>
              <a:buSzPts val="1400"/>
              <a:buFont typeface="Roboto"/>
              <a:buChar char="●"/>
              <a:defRPr sz="1867">
                <a:solidFill>
                  <a:srgbClr val="444343"/>
                </a:solidFill>
                <a:latin typeface="Roboto"/>
                <a:ea typeface="Roboto"/>
                <a:cs typeface="Roboto"/>
                <a:sym typeface="Roboto"/>
              </a:defRPr>
            </a:lvl1pPr>
            <a:lvl2pPr marL="1219170" lvl="1"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2pPr>
            <a:lvl3pPr marL="1828754" lvl="2"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3pPr>
            <a:lvl4pPr marL="2438339" lvl="3"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4pPr>
            <a:lvl5pPr marL="3047924" lvl="4"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5pPr>
            <a:lvl6pPr marL="3657509" lvl="5"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6pPr>
            <a:lvl7pPr marL="4267093" lvl="6"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7pPr>
            <a:lvl8pPr marL="4876678" lvl="7"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8pPr>
            <a:lvl9pPr marL="5486263" lvl="8" indent="-423323" rtl="0">
              <a:lnSpc>
                <a:spcPct val="105000"/>
              </a:lnSpc>
              <a:spcBef>
                <a:spcPts val="0"/>
              </a:spcBef>
              <a:spcAft>
                <a:spcPts val="0"/>
              </a:spcAft>
              <a:buClr>
                <a:srgbClr val="444343"/>
              </a:buClr>
              <a:buSzPts val="1400"/>
              <a:buFont typeface="Roboto"/>
              <a:buChar char="■"/>
              <a:defRPr>
                <a:solidFill>
                  <a:srgbClr val="444343"/>
                </a:solidFill>
                <a:latin typeface="Roboto"/>
                <a:ea typeface="Roboto"/>
                <a:cs typeface="Roboto"/>
                <a:sym typeface="Roboto"/>
              </a:defRPr>
            </a:lvl9pPr>
          </a:lstStyle>
          <a:p>
            <a:endParaRPr/>
          </a:p>
        </p:txBody>
      </p:sp>
      <p:sp>
        <p:nvSpPr>
          <p:cNvPr id="40" name="Google Shape;40;p6"/>
          <p:cNvSpPr txBox="1">
            <a:spLocks noGrp="1"/>
          </p:cNvSpPr>
          <p:nvPr>
            <p:ph type="sldNum" idx="12"/>
          </p:nvPr>
        </p:nvSpPr>
        <p:spPr>
          <a:xfrm>
            <a:off x="11284395" y="6201867"/>
            <a:ext cx="600000" cy="304800"/>
          </a:xfrm>
          <a:prstGeom prst="rect">
            <a:avLst/>
          </a:prstGeom>
        </p:spPr>
        <p:txBody>
          <a:bodyPr spcFirstLastPara="1" wrap="square" lIns="91425" tIns="0" rIns="91425"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41" name="Google Shape;41;p6"/>
          <p:cNvSpPr txBox="1">
            <a:spLocks noGrp="1"/>
          </p:cNvSpPr>
          <p:nvPr>
            <p:ph type="subTitle" idx="2"/>
          </p:nvPr>
        </p:nvSpPr>
        <p:spPr>
          <a:xfrm>
            <a:off x="720167" y="1334633"/>
            <a:ext cx="7044800" cy="513600"/>
          </a:xfrm>
          <a:prstGeom prst="rect">
            <a:avLst/>
          </a:prstGeom>
        </p:spPr>
        <p:txBody>
          <a:bodyPr spcFirstLastPara="1" wrap="square" lIns="0" tIns="0" rIns="0" bIns="0" anchor="t" anchorCtr="0">
            <a:noAutofit/>
          </a:bodyPr>
          <a:lstStyle>
            <a:lvl1pPr lvl="0" rtl="0">
              <a:spcBef>
                <a:spcPts val="0"/>
              </a:spcBef>
              <a:spcAft>
                <a:spcPts val="0"/>
              </a:spcAft>
              <a:buClr>
                <a:srgbClr val="222222"/>
              </a:buClr>
              <a:buSzPts val="2500"/>
              <a:buFont typeface="Roboto"/>
              <a:buNone/>
              <a:defRPr sz="3333" b="1">
                <a:solidFill>
                  <a:srgbClr val="222222"/>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42" name="Google Shape;42;p6"/>
          <p:cNvPicPr preferRelativeResize="0"/>
          <p:nvPr/>
        </p:nvPicPr>
        <p:blipFill rotWithShape="1">
          <a:blip r:embed="rId2">
            <a:alphaModFix amt="35000"/>
          </a:blip>
          <a:srcRect l="4963" t="35235" r="4954" b="35235"/>
          <a:stretch/>
        </p:blipFill>
        <p:spPr>
          <a:xfrm>
            <a:off x="10582267" y="398134"/>
            <a:ext cx="1259200" cy="252333"/>
          </a:xfrm>
          <a:prstGeom prst="rect">
            <a:avLst/>
          </a:prstGeom>
          <a:noFill/>
          <a:ln>
            <a:noFill/>
          </a:ln>
        </p:spPr>
      </p:pic>
    </p:spTree>
    <p:extLst>
      <p:ext uri="{BB962C8B-B14F-4D97-AF65-F5344CB8AC3E}">
        <p14:creationId xmlns:p14="http://schemas.microsoft.com/office/powerpoint/2010/main" val="3544177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64800" y="285700"/>
            <a:ext cx="9979600" cy="412800"/>
          </a:xfrm>
          <a:prstGeom prst="rect">
            <a:avLst/>
          </a:prstGeom>
        </p:spPr>
        <p:txBody>
          <a:bodyPr spcFirstLastPara="1" wrap="square" lIns="0" tIns="0" rIns="0" bIns="0" anchor="ctr" anchorCtr="0">
            <a:normAutofit/>
          </a:bodyPr>
          <a:lstStyle>
            <a:lvl1pPr lvl="0" rtl="0">
              <a:spcBef>
                <a:spcPts val="0"/>
              </a:spcBef>
              <a:spcAft>
                <a:spcPts val="0"/>
              </a:spcAft>
              <a:buSzPts val="1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9"/>
          <p:cNvSpPr txBox="1">
            <a:spLocks noGrp="1"/>
          </p:cNvSpPr>
          <p:nvPr>
            <p:ph type="sldNum" idx="12"/>
          </p:nvPr>
        </p:nvSpPr>
        <p:spPr>
          <a:xfrm>
            <a:off x="11284395" y="6201867"/>
            <a:ext cx="600000" cy="304800"/>
          </a:xfrm>
          <a:prstGeom prst="rect">
            <a:avLst/>
          </a:prstGeom>
        </p:spPr>
        <p:txBody>
          <a:bodyPr spcFirstLastPara="1" wrap="square" lIns="91425" tIns="0" rIns="91425"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63" name="Google Shape;63;p9"/>
          <p:cNvPicPr preferRelativeResize="0"/>
          <p:nvPr/>
        </p:nvPicPr>
        <p:blipFill rotWithShape="1">
          <a:blip r:embed="rId2">
            <a:alphaModFix amt="35000"/>
          </a:blip>
          <a:srcRect l="4963" t="35235" r="4954" b="35235"/>
          <a:stretch/>
        </p:blipFill>
        <p:spPr>
          <a:xfrm>
            <a:off x="10582267" y="398134"/>
            <a:ext cx="1259200" cy="252333"/>
          </a:xfrm>
          <a:prstGeom prst="rect">
            <a:avLst/>
          </a:prstGeom>
          <a:noFill/>
          <a:ln>
            <a:noFill/>
          </a:ln>
        </p:spPr>
      </p:pic>
    </p:spTree>
    <p:extLst>
      <p:ext uri="{BB962C8B-B14F-4D97-AF65-F5344CB8AC3E}">
        <p14:creationId xmlns:p14="http://schemas.microsoft.com/office/powerpoint/2010/main" val="24534056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Grey - Table des matières 1">
  <p:cSld name="TITLE_AND_BODY_9">
    <p:spTree>
      <p:nvGrpSpPr>
        <p:cNvPr id="1" name="Shape 153"/>
        <p:cNvGrpSpPr/>
        <p:nvPr/>
      </p:nvGrpSpPr>
      <p:grpSpPr>
        <a:xfrm>
          <a:off x="0" y="0"/>
          <a:ext cx="0" cy="0"/>
          <a:chOff x="0" y="0"/>
          <a:chExt cx="0" cy="0"/>
        </a:xfrm>
      </p:grpSpPr>
      <p:grpSp>
        <p:nvGrpSpPr>
          <p:cNvPr id="154" name="Google Shape;154;p28"/>
          <p:cNvGrpSpPr/>
          <p:nvPr/>
        </p:nvGrpSpPr>
        <p:grpSpPr>
          <a:xfrm>
            <a:off x="1" y="-11900"/>
            <a:ext cx="7765900" cy="6869800"/>
            <a:chOff x="0" y="-8925"/>
            <a:chExt cx="5824425" cy="5152350"/>
          </a:xfrm>
        </p:grpSpPr>
        <p:sp>
          <p:nvSpPr>
            <p:cNvPr id="155" name="Google Shape;155;p28"/>
            <p:cNvSpPr/>
            <p:nvPr/>
          </p:nvSpPr>
          <p:spPr>
            <a:xfrm>
              <a:off x="3085125" y="-8925"/>
              <a:ext cx="2739300" cy="5143500"/>
            </a:xfrm>
            <a:prstGeom prst="rtTriangle">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 name="Google Shape;156;p28"/>
            <p:cNvSpPr/>
            <p:nvPr/>
          </p:nvSpPr>
          <p:spPr>
            <a:xfrm>
              <a:off x="0" y="-75"/>
              <a:ext cx="3085200" cy="51435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7" name="Google Shape;157;p28"/>
          <p:cNvSpPr txBox="1">
            <a:spLocks noGrp="1"/>
          </p:cNvSpPr>
          <p:nvPr>
            <p:ph type="title"/>
          </p:nvPr>
        </p:nvSpPr>
        <p:spPr>
          <a:xfrm>
            <a:off x="3631001" y="2351700"/>
            <a:ext cx="7025200" cy="413200"/>
          </a:xfrm>
          <a:prstGeom prst="rect">
            <a:avLst/>
          </a:prstGeom>
        </p:spPr>
        <p:txBody>
          <a:bodyPr spcFirstLastPara="1" wrap="square" lIns="0" tIns="0" rIns="0" bIns="0" anchor="ctr" anchorCtr="0">
            <a:normAutofit/>
          </a:bodyPr>
          <a:lstStyle>
            <a:lvl1pPr lvl="0"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1pPr>
            <a:lvl2pPr lvl="1"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2pPr>
            <a:lvl3pPr lvl="2"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3pPr>
            <a:lvl4pPr lvl="3"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4pPr>
            <a:lvl5pPr lvl="4"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5pPr>
            <a:lvl6pPr lvl="5"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6pPr>
            <a:lvl7pPr lvl="6"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7pPr>
            <a:lvl8pPr lvl="7"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8pPr>
            <a:lvl9pPr lvl="8" rtl="0">
              <a:spcBef>
                <a:spcPts val="0"/>
              </a:spcBef>
              <a:spcAft>
                <a:spcPts val="0"/>
              </a:spcAft>
              <a:buClr>
                <a:srgbClr val="222222"/>
              </a:buClr>
              <a:buSzPts val="1500"/>
              <a:buFont typeface="Roboto"/>
              <a:buNone/>
              <a:defRPr sz="2000" b="1">
                <a:solidFill>
                  <a:srgbClr val="222222"/>
                </a:solidFill>
                <a:latin typeface="Roboto"/>
                <a:ea typeface="Roboto"/>
                <a:cs typeface="Roboto"/>
                <a:sym typeface="Roboto"/>
              </a:defRPr>
            </a:lvl9pPr>
          </a:lstStyle>
          <a:p>
            <a:endParaRPr/>
          </a:p>
        </p:txBody>
      </p:sp>
      <p:sp>
        <p:nvSpPr>
          <p:cNvPr id="158" name="Google Shape;158;p28"/>
          <p:cNvSpPr txBox="1">
            <a:spLocks noGrp="1"/>
          </p:cNvSpPr>
          <p:nvPr>
            <p:ph type="body" idx="1"/>
          </p:nvPr>
        </p:nvSpPr>
        <p:spPr>
          <a:xfrm>
            <a:off x="2590100" y="1999067"/>
            <a:ext cx="2970000" cy="511600"/>
          </a:xfrm>
          <a:prstGeom prst="rect">
            <a:avLst/>
          </a:prstGeom>
        </p:spPr>
        <p:txBody>
          <a:bodyPr spcFirstLastPara="1" wrap="square" lIns="0" tIns="0" rIns="0" bIns="0" anchor="t" anchorCtr="0">
            <a:normAutofit/>
          </a:bodyPr>
          <a:lstStyle>
            <a:lvl1pPr marL="609585" lvl="0"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1pPr>
            <a:lvl2pPr marL="1219170" lvl="1"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2pPr>
            <a:lvl3pPr marL="1828754" lvl="2"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3pPr>
            <a:lvl4pPr marL="2438339" lvl="3"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4pPr>
            <a:lvl5pPr marL="3047924" lvl="4"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5pPr>
            <a:lvl6pPr marL="3657509" lvl="5"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6pPr>
            <a:lvl7pPr marL="4267093" lvl="6"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7pPr>
            <a:lvl8pPr marL="4876678" lvl="7"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8pPr>
            <a:lvl9pPr marL="5486263" lvl="8" indent="-397923" rtl="0">
              <a:spcBef>
                <a:spcPts val="0"/>
              </a:spcBef>
              <a:spcAft>
                <a:spcPts val="0"/>
              </a:spcAft>
              <a:buClr>
                <a:srgbClr val="222222"/>
              </a:buClr>
              <a:buSzPts val="1100"/>
              <a:buFont typeface="Roboto"/>
              <a:buChar char="■"/>
              <a:defRPr sz="1467">
                <a:solidFill>
                  <a:srgbClr val="222222"/>
                </a:solidFill>
                <a:latin typeface="Roboto"/>
                <a:ea typeface="Roboto"/>
                <a:cs typeface="Roboto"/>
                <a:sym typeface="Roboto"/>
              </a:defRPr>
            </a:lvl9pPr>
          </a:lstStyle>
          <a:p>
            <a:endParaRPr/>
          </a:p>
        </p:txBody>
      </p:sp>
      <p:sp>
        <p:nvSpPr>
          <p:cNvPr id="159" name="Google Shape;159;p28"/>
          <p:cNvSpPr txBox="1">
            <a:spLocks noGrp="1"/>
          </p:cNvSpPr>
          <p:nvPr>
            <p:ph type="sldNum" idx="12"/>
          </p:nvPr>
        </p:nvSpPr>
        <p:spPr>
          <a:xfrm>
            <a:off x="11284395" y="6201867"/>
            <a:ext cx="600000" cy="304800"/>
          </a:xfrm>
          <a:prstGeom prst="rect">
            <a:avLst/>
          </a:prstGeom>
        </p:spPr>
        <p:txBody>
          <a:bodyPr spcFirstLastPara="1" wrap="square" lIns="91425" tIns="0" rIns="91425" bIns="0" anchor="ctr" anchorCtr="0">
            <a:normAutofit/>
          </a:bodyPr>
          <a:lstStyle>
            <a:lvl1pPr lvl="0" algn="r" rtl="0">
              <a:buNone/>
              <a:defRPr sz="1333">
                <a:solidFill>
                  <a:srgbClr val="A6A6A6"/>
                </a:solidFill>
                <a:latin typeface="Roboto"/>
                <a:ea typeface="Roboto"/>
                <a:cs typeface="Roboto"/>
                <a:sym typeface="Roboto"/>
              </a:defRPr>
            </a:lvl1pPr>
            <a:lvl2pPr lvl="1" algn="r" rtl="0">
              <a:buNone/>
              <a:defRPr sz="1333">
                <a:solidFill>
                  <a:srgbClr val="A6A6A6"/>
                </a:solidFill>
                <a:latin typeface="Roboto"/>
                <a:ea typeface="Roboto"/>
                <a:cs typeface="Roboto"/>
                <a:sym typeface="Roboto"/>
              </a:defRPr>
            </a:lvl2pPr>
            <a:lvl3pPr lvl="2" algn="r" rtl="0">
              <a:buNone/>
              <a:defRPr sz="1333">
                <a:solidFill>
                  <a:srgbClr val="A6A6A6"/>
                </a:solidFill>
                <a:latin typeface="Roboto"/>
                <a:ea typeface="Roboto"/>
                <a:cs typeface="Roboto"/>
                <a:sym typeface="Roboto"/>
              </a:defRPr>
            </a:lvl3pPr>
            <a:lvl4pPr lvl="3" algn="r" rtl="0">
              <a:buNone/>
              <a:defRPr sz="1333">
                <a:solidFill>
                  <a:srgbClr val="A6A6A6"/>
                </a:solidFill>
                <a:latin typeface="Roboto"/>
                <a:ea typeface="Roboto"/>
                <a:cs typeface="Roboto"/>
                <a:sym typeface="Roboto"/>
              </a:defRPr>
            </a:lvl4pPr>
            <a:lvl5pPr lvl="4" algn="r" rtl="0">
              <a:buNone/>
              <a:defRPr sz="1333">
                <a:solidFill>
                  <a:srgbClr val="A6A6A6"/>
                </a:solidFill>
                <a:latin typeface="Roboto"/>
                <a:ea typeface="Roboto"/>
                <a:cs typeface="Roboto"/>
                <a:sym typeface="Roboto"/>
              </a:defRPr>
            </a:lvl5pPr>
            <a:lvl6pPr lvl="5" algn="r" rtl="0">
              <a:buNone/>
              <a:defRPr sz="1333">
                <a:solidFill>
                  <a:srgbClr val="A6A6A6"/>
                </a:solidFill>
                <a:latin typeface="Roboto"/>
                <a:ea typeface="Roboto"/>
                <a:cs typeface="Roboto"/>
                <a:sym typeface="Roboto"/>
              </a:defRPr>
            </a:lvl6pPr>
            <a:lvl7pPr lvl="6" algn="r" rtl="0">
              <a:buNone/>
              <a:defRPr sz="1333">
                <a:solidFill>
                  <a:srgbClr val="A6A6A6"/>
                </a:solidFill>
                <a:latin typeface="Roboto"/>
                <a:ea typeface="Roboto"/>
                <a:cs typeface="Roboto"/>
                <a:sym typeface="Roboto"/>
              </a:defRPr>
            </a:lvl7pPr>
            <a:lvl8pPr lvl="7" algn="r" rtl="0">
              <a:buNone/>
              <a:defRPr sz="1333">
                <a:solidFill>
                  <a:srgbClr val="A6A6A6"/>
                </a:solidFill>
                <a:latin typeface="Roboto"/>
                <a:ea typeface="Roboto"/>
                <a:cs typeface="Roboto"/>
                <a:sym typeface="Roboto"/>
              </a:defRPr>
            </a:lvl8pPr>
            <a:lvl9pPr lvl="8" algn="r" rtl="0">
              <a:buNone/>
              <a:defRPr sz="1333">
                <a:solidFill>
                  <a:srgbClr val="A6A6A6"/>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160" name="Google Shape;160;p28"/>
          <p:cNvSpPr txBox="1">
            <a:spLocks noGrp="1"/>
          </p:cNvSpPr>
          <p:nvPr>
            <p:ph type="subTitle" idx="2"/>
          </p:nvPr>
        </p:nvSpPr>
        <p:spPr>
          <a:xfrm>
            <a:off x="1066156" y="1274047"/>
            <a:ext cx="1214400" cy="1070400"/>
          </a:xfrm>
          <a:prstGeom prst="rect">
            <a:avLst/>
          </a:prstGeom>
        </p:spPr>
        <p:txBody>
          <a:bodyPr spcFirstLastPara="1" wrap="square" lIns="0" tIns="0" rIns="0" bIns="0" anchor="t" anchorCtr="0">
            <a:normAutofit/>
          </a:bodyPr>
          <a:lstStyle>
            <a:lvl1pPr lvl="0" algn="ctr" rtl="0">
              <a:spcBef>
                <a:spcPts val="0"/>
              </a:spcBef>
              <a:spcAft>
                <a:spcPts val="0"/>
              </a:spcAft>
              <a:buClr>
                <a:srgbClr val="415DF4"/>
              </a:buClr>
              <a:buSzPts val="6000"/>
              <a:buFont typeface="Helvetica Neue"/>
              <a:buNone/>
              <a:defRPr sz="8000" b="1">
                <a:solidFill>
                  <a:srgbClr val="415DF4"/>
                </a:solidFill>
                <a:latin typeface="Helvetica Neue"/>
                <a:ea typeface="Helvetica Neue"/>
                <a:cs typeface="Helvetica Neue"/>
                <a:sym typeface="Helvetica Neu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1" name="Google Shape;161;p28"/>
          <p:cNvSpPr txBox="1">
            <a:spLocks noGrp="1"/>
          </p:cNvSpPr>
          <p:nvPr>
            <p:ph type="title" idx="3"/>
          </p:nvPr>
        </p:nvSpPr>
        <p:spPr>
          <a:xfrm>
            <a:off x="364800" y="345600"/>
            <a:ext cx="11360800" cy="412800"/>
          </a:xfrm>
          <a:prstGeom prst="rect">
            <a:avLst/>
          </a:prstGeom>
        </p:spPr>
        <p:txBody>
          <a:bodyPr spcFirstLastPara="1" wrap="square" lIns="0" tIns="0" rIns="0" bIns="0" anchor="ctr" anchorCtr="0">
            <a:normAutofit/>
          </a:bodyPr>
          <a:lstStyle>
            <a:lvl1pPr lvl="0" rtl="0">
              <a:spcBef>
                <a:spcPts val="0"/>
              </a:spcBef>
              <a:spcAft>
                <a:spcPts val="0"/>
              </a:spcAft>
              <a:buClr>
                <a:schemeClr val="dk1"/>
              </a:buClr>
              <a:buSzPts val="1500"/>
              <a:buFont typeface="Roboto"/>
              <a:buNone/>
              <a:defRPr sz="2000" b="1">
                <a:solidFill>
                  <a:schemeClr val="dk1"/>
                </a:solidFill>
                <a:latin typeface="Roboto"/>
                <a:ea typeface="Roboto"/>
                <a:cs typeface="Roboto"/>
                <a:sym typeface="Roboto"/>
              </a:defRPr>
            </a:lvl1pPr>
            <a:lvl2pPr lvl="1" rtl="0">
              <a:spcBef>
                <a:spcPts val="0"/>
              </a:spcBef>
              <a:spcAft>
                <a:spcPts val="0"/>
              </a:spcAft>
              <a:buClr>
                <a:schemeClr val="dk1"/>
              </a:buClr>
              <a:buSzPts val="2800"/>
              <a:buNone/>
              <a:defRPr sz="3733">
                <a:solidFill>
                  <a:schemeClr val="dk1"/>
                </a:solidFill>
              </a:defRPr>
            </a:lvl2pPr>
            <a:lvl3pPr lvl="2" rtl="0">
              <a:spcBef>
                <a:spcPts val="0"/>
              </a:spcBef>
              <a:spcAft>
                <a:spcPts val="0"/>
              </a:spcAft>
              <a:buClr>
                <a:schemeClr val="dk1"/>
              </a:buClr>
              <a:buSzPts val="2800"/>
              <a:buNone/>
              <a:defRPr sz="3733">
                <a:solidFill>
                  <a:schemeClr val="dk1"/>
                </a:solidFill>
              </a:defRPr>
            </a:lvl3pPr>
            <a:lvl4pPr lvl="3" rtl="0">
              <a:spcBef>
                <a:spcPts val="0"/>
              </a:spcBef>
              <a:spcAft>
                <a:spcPts val="0"/>
              </a:spcAft>
              <a:buClr>
                <a:schemeClr val="dk1"/>
              </a:buClr>
              <a:buSzPts val="2800"/>
              <a:buNone/>
              <a:defRPr sz="3733">
                <a:solidFill>
                  <a:schemeClr val="dk1"/>
                </a:solidFill>
              </a:defRPr>
            </a:lvl4pPr>
            <a:lvl5pPr lvl="4" rtl="0">
              <a:spcBef>
                <a:spcPts val="0"/>
              </a:spcBef>
              <a:spcAft>
                <a:spcPts val="0"/>
              </a:spcAft>
              <a:buClr>
                <a:schemeClr val="dk1"/>
              </a:buClr>
              <a:buSzPts val="2800"/>
              <a:buNone/>
              <a:defRPr sz="3733">
                <a:solidFill>
                  <a:schemeClr val="dk1"/>
                </a:solidFill>
              </a:defRPr>
            </a:lvl5pPr>
            <a:lvl6pPr lvl="5" rtl="0">
              <a:spcBef>
                <a:spcPts val="0"/>
              </a:spcBef>
              <a:spcAft>
                <a:spcPts val="0"/>
              </a:spcAft>
              <a:buClr>
                <a:schemeClr val="dk1"/>
              </a:buClr>
              <a:buSzPts val="2800"/>
              <a:buNone/>
              <a:defRPr sz="3733">
                <a:solidFill>
                  <a:schemeClr val="dk1"/>
                </a:solidFill>
              </a:defRPr>
            </a:lvl6pPr>
            <a:lvl7pPr lvl="6" rtl="0">
              <a:spcBef>
                <a:spcPts val="0"/>
              </a:spcBef>
              <a:spcAft>
                <a:spcPts val="0"/>
              </a:spcAft>
              <a:buClr>
                <a:schemeClr val="dk1"/>
              </a:buClr>
              <a:buSzPts val="2800"/>
              <a:buNone/>
              <a:defRPr sz="3733">
                <a:solidFill>
                  <a:schemeClr val="dk1"/>
                </a:solidFill>
              </a:defRPr>
            </a:lvl7pPr>
            <a:lvl8pPr lvl="7" rtl="0">
              <a:spcBef>
                <a:spcPts val="0"/>
              </a:spcBef>
              <a:spcAft>
                <a:spcPts val="0"/>
              </a:spcAft>
              <a:buClr>
                <a:schemeClr val="dk1"/>
              </a:buClr>
              <a:buSzPts val="2800"/>
              <a:buNone/>
              <a:defRPr sz="3733">
                <a:solidFill>
                  <a:schemeClr val="dk1"/>
                </a:solidFill>
              </a:defRPr>
            </a:lvl8pPr>
            <a:lvl9pPr lvl="8" rtl="0">
              <a:spcBef>
                <a:spcPts val="0"/>
              </a:spcBef>
              <a:spcAft>
                <a:spcPts val="0"/>
              </a:spcAft>
              <a:buClr>
                <a:schemeClr val="dk1"/>
              </a:buClr>
              <a:buSzPts val="2800"/>
              <a:buNone/>
              <a:defRPr sz="3733">
                <a:solidFill>
                  <a:schemeClr val="dk1"/>
                </a:solidFill>
              </a:defRPr>
            </a:lvl9pPr>
          </a:lstStyle>
          <a:p>
            <a:endParaRPr/>
          </a:p>
        </p:txBody>
      </p:sp>
      <p:pic>
        <p:nvPicPr>
          <p:cNvPr id="162" name="Google Shape;162;p28"/>
          <p:cNvPicPr preferRelativeResize="0"/>
          <p:nvPr/>
        </p:nvPicPr>
        <p:blipFill rotWithShape="1">
          <a:blip r:embed="rId2">
            <a:alphaModFix amt="35000"/>
          </a:blip>
          <a:srcRect l="4963" t="35235" r="4954" b="35235"/>
          <a:stretch/>
        </p:blipFill>
        <p:spPr>
          <a:xfrm>
            <a:off x="10582267" y="398134"/>
            <a:ext cx="1259200" cy="252333"/>
          </a:xfrm>
          <a:prstGeom prst="rect">
            <a:avLst/>
          </a:prstGeom>
          <a:noFill/>
          <a:ln>
            <a:noFill/>
          </a:ln>
        </p:spPr>
      </p:pic>
    </p:spTree>
    <p:extLst>
      <p:ext uri="{BB962C8B-B14F-4D97-AF65-F5344CB8AC3E}">
        <p14:creationId xmlns:p14="http://schemas.microsoft.com/office/powerpoint/2010/main" val="2753891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 2. Approche">
  <p:cSld name="CUSTOM_1">
    <p:bg>
      <p:bgPr>
        <a:blipFill>
          <a:blip r:embed="rId2">
            <a:alphaModFix/>
          </a:blip>
          <a:stretch>
            <a:fillRect/>
          </a:stretch>
        </a:blipFill>
        <a:effectLst/>
      </p:bgPr>
    </p:bg>
    <p:spTree>
      <p:nvGrpSpPr>
        <p:cNvPr id="1" name="Shape 117"/>
        <p:cNvGrpSpPr/>
        <p:nvPr/>
      </p:nvGrpSpPr>
      <p:grpSpPr>
        <a:xfrm>
          <a:off x="0" y="0"/>
          <a:ext cx="0" cy="0"/>
          <a:chOff x="0" y="0"/>
          <a:chExt cx="0" cy="0"/>
        </a:xfrm>
      </p:grpSpPr>
      <p:pic>
        <p:nvPicPr>
          <p:cNvPr id="118" name="Google Shape;118;p20"/>
          <p:cNvPicPr preferRelativeResize="0"/>
          <p:nvPr/>
        </p:nvPicPr>
        <p:blipFill rotWithShape="1">
          <a:blip r:embed="rId3">
            <a:alphaModFix/>
          </a:blip>
          <a:srcRect b="10"/>
          <a:stretch/>
        </p:blipFill>
        <p:spPr>
          <a:xfrm>
            <a:off x="-9433" y="-13133"/>
            <a:ext cx="12237237" cy="6919001"/>
          </a:xfrm>
          <a:prstGeom prst="rect">
            <a:avLst/>
          </a:prstGeom>
          <a:noFill/>
          <a:ln>
            <a:noFill/>
          </a:ln>
        </p:spPr>
      </p:pic>
      <p:sp>
        <p:nvSpPr>
          <p:cNvPr id="119" name="Google Shape;119;p20"/>
          <p:cNvSpPr txBox="1">
            <a:spLocks noGrp="1"/>
          </p:cNvSpPr>
          <p:nvPr>
            <p:ph type="title"/>
          </p:nvPr>
        </p:nvSpPr>
        <p:spPr>
          <a:xfrm>
            <a:off x="1530923" y="2692533"/>
            <a:ext cx="5268800" cy="968000"/>
          </a:xfrm>
          <a:prstGeom prst="rect">
            <a:avLst/>
          </a:prstGeom>
        </p:spPr>
        <p:txBody>
          <a:bodyPr spcFirstLastPara="1" wrap="square" lIns="0" tIns="0" rIns="0" bIns="0" anchor="b" anchorCtr="0">
            <a:noAutofit/>
          </a:bodyPr>
          <a:lstStyle>
            <a:lvl1pPr lvl="0" rtl="0">
              <a:spcBef>
                <a:spcPts val="0"/>
              </a:spcBef>
              <a:spcAft>
                <a:spcPts val="0"/>
              </a:spcAft>
              <a:buClr>
                <a:srgbClr val="FFFFFF"/>
              </a:buClr>
              <a:buSzPts val="4200"/>
              <a:buFont typeface="Roboto Black"/>
              <a:buNone/>
              <a:defRPr sz="5600">
                <a:solidFill>
                  <a:srgbClr val="FFFFFF"/>
                </a:solidFill>
                <a:latin typeface="Roboto Black"/>
                <a:ea typeface="Roboto Black"/>
                <a:cs typeface="Roboto Black"/>
                <a:sym typeface="Roboto Black"/>
              </a:defRPr>
            </a:lvl1pPr>
            <a:lvl2pPr lvl="1" rtl="0">
              <a:spcBef>
                <a:spcPts val="0"/>
              </a:spcBef>
              <a:spcAft>
                <a:spcPts val="0"/>
              </a:spcAft>
              <a:buSzPts val="4200"/>
              <a:buFont typeface="Roboto Black"/>
              <a:buNone/>
              <a:defRPr sz="5600">
                <a:latin typeface="Roboto Black"/>
                <a:ea typeface="Roboto Black"/>
                <a:cs typeface="Roboto Black"/>
                <a:sym typeface="Roboto Black"/>
              </a:defRPr>
            </a:lvl2pPr>
            <a:lvl3pPr lvl="2" rtl="0">
              <a:spcBef>
                <a:spcPts val="0"/>
              </a:spcBef>
              <a:spcAft>
                <a:spcPts val="0"/>
              </a:spcAft>
              <a:buSzPts val="4200"/>
              <a:buFont typeface="Roboto Black"/>
              <a:buNone/>
              <a:defRPr sz="5600">
                <a:latin typeface="Roboto Black"/>
                <a:ea typeface="Roboto Black"/>
                <a:cs typeface="Roboto Black"/>
                <a:sym typeface="Roboto Black"/>
              </a:defRPr>
            </a:lvl3pPr>
            <a:lvl4pPr lvl="3" rtl="0">
              <a:spcBef>
                <a:spcPts val="0"/>
              </a:spcBef>
              <a:spcAft>
                <a:spcPts val="0"/>
              </a:spcAft>
              <a:buSzPts val="4200"/>
              <a:buFont typeface="Roboto Black"/>
              <a:buNone/>
              <a:defRPr sz="5600">
                <a:latin typeface="Roboto Black"/>
                <a:ea typeface="Roboto Black"/>
                <a:cs typeface="Roboto Black"/>
                <a:sym typeface="Roboto Black"/>
              </a:defRPr>
            </a:lvl4pPr>
            <a:lvl5pPr lvl="4" rtl="0">
              <a:spcBef>
                <a:spcPts val="0"/>
              </a:spcBef>
              <a:spcAft>
                <a:spcPts val="0"/>
              </a:spcAft>
              <a:buSzPts val="4200"/>
              <a:buFont typeface="Roboto Black"/>
              <a:buNone/>
              <a:defRPr sz="5600">
                <a:latin typeface="Roboto Black"/>
                <a:ea typeface="Roboto Black"/>
                <a:cs typeface="Roboto Black"/>
                <a:sym typeface="Roboto Black"/>
              </a:defRPr>
            </a:lvl5pPr>
            <a:lvl6pPr lvl="5" rtl="0">
              <a:spcBef>
                <a:spcPts val="0"/>
              </a:spcBef>
              <a:spcAft>
                <a:spcPts val="0"/>
              </a:spcAft>
              <a:buSzPts val="4200"/>
              <a:buFont typeface="Roboto Black"/>
              <a:buNone/>
              <a:defRPr sz="5600">
                <a:latin typeface="Roboto Black"/>
                <a:ea typeface="Roboto Black"/>
                <a:cs typeface="Roboto Black"/>
                <a:sym typeface="Roboto Black"/>
              </a:defRPr>
            </a:lvl6pPr>
            <a:lvl7pPr lvl="6" rtl="0">
              <a:spcBef>
                <a:spcPts val="0"/>
              </a:spcBef>
              <a:spcAft>
                <a:spcPts val="0"/>
              </a:spcAft>
              <a:buSzPts val="4200"/>
              <a:buFont typeface="Roboto Black"/>
              <a:buNone/>
              <a:defRPr sz="5600">
                <a:latin typeface="Roboto Black"/>
                <a:ea typeface="Roboto Black"/>
                <a:cs typeface="Roboto Black"/>
                <a:sym typeface="Roboto Black"/>
              </a:defRPr>
            </a:lvl7pPr>
            <a:lvl8pPr lvl="7" rtl="0">
              <a:spcBef>
                <a:spcPts val="0"/>
              </a:spcBef>
              <a:spcAft>
                <a:spcPts val="0"/>
              </a:spcAft>
              <a:buSzPts val="4200"/>
              <a:buFont typeface="Roboto Black"/>
              <a:buNone/>
              <a:defRPr sz="5600">
                <a:latin typeface="Roboto Black"/>
                <a:ea typeface="Roboto Black"/>
                <a:cs typeface="Roboto Black"/>
                <a:sym typeface="Roboto Black"/>
              </a:defRPr>
            </a:lvl8pPr>
            <a:lvl9pPr lvl="8" rtl="0">
              <a:spcBef>
                <a:spcPts val="0"/>
              </a:spcBef>
              <a:spcAft>
                <a:spcPts val="0"/>
              </a:spcAft>
              <a:buSzPts val="4200"/>
              <a:buFont typeface="Roboto Black"/>
              <a:buNone/>
              <a:defRPr sz="5600">
                <a:latin typeface="Roboto Black"/>
                <a:ea typeface="Roboto Black"/>
                <a:cs typeface="Roboto Black"/>
                <a:sym typeface="Roboto Black"/>
              </a:defRPr>
            </a:lvl9pPr>
          </a:lstStyle>
          <a:p>
            <a:endParaRPr/>
          </a:p>
        </p:txBody>
      </p:sp>
      <p:sp>
        <p:nvSpPr>
          <p:cNvPr id="120" name="Google Shape;120;p20"/>
          <p:cNvSpPr txBox="1">
            <a:spLocks noGrp="1"/>
          </p:cNvSpPr>
          <p:nvPr>
            <p:ph type="subTitle" idx="1"/>
          </p:nvPr>
        </p:nvSpPr>
        <p:spPr>
          <a:xfrm>
            <a:off x="1498288" y="3649656"/>
            <a:ext cx="5169600" cy="408000"/>
          </a:xfrm>
          <a:prstGeom prst="rect">
            <a:avLst/>
          </a:prstGeom>
        </p:spPr>
        <p:txBody>
          <a:bodyPr spcFirstLastPara="1" wrap="square" lIns="0" tIns="0" rIns="0" bIns="0" anchor="t" anchorCtr="0">
            <a:normAutofit/>
          </a:bodyPr>
          <a:lstStyle>
            <a:lvl1pPr lvl="0" rtl="0">
              <a:spcBef>
                <a:spcPts val="0"/>
              </a:spcBef>
              <a:spcAft>
                <a:spcPts val="0"/>
              </a:spcAft>
              <a:buClr>
                <a:srgbClr val="FFFFFF"/>
              </a:buClr>
              <a:buSzPts val="1800"/>
              <a:buFont typeface="Roboto Medium"/>
              <a:buNone/>
              <a:defRPr>
                <a:solidFill>
                  <a:srgbClr val="FFFFFF"/>
                </a:solidFill>
                <a:latin typeface="Roboto Medium"/>
                <a:ea typeface="Roboto Medium"/>
                <a:cs typeface="Roboto Medium"/>
                <a:sym typeface="Roboto Medium"/>
              </a:defRPr>
            </a:lvl1pPr>
            <a:lvl2pPr lvl="1"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2pPr>
            <a:lvl3pPr lvl="2"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3pPr>
            <a:lvl4pPr lvl="3"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4pPr>
            <a:lvl5pPr lvl="4"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5pPr>
            <a:lvl6pPr lvl="5"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6pPr>
            <a:lvl7pPr lvl="6"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7pPr>
            <a:lvl8pPr lvl="7"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8pPr>
            <a:lvl9pPr lvl="8" rtl="0">
              <a:spcBef>
                <a:spcPts val="0"/>
              </a:spcBef>
              <a:spcAft>
                <a:spcPts val="0"/>
              </a:spcAft>
              <a:buClr>
                <a:srgbClr val="FFFFFF"/>
              </a:buClr>
              <a:buSzPts val="1400"/>
              <a:buFont typeface="Roboto Medium"/>
              <a:buNone/>
              <a:defRPr>
                <a:solidFill>
                  <a:srgbClr val="FFFFFF"/>
                </a:solidFill>
                <a:latin typeface="Roboto Medium"/>
                <a:ea typeface="Roboto Medium"/>
                <a:cs typeface="Roboto Medium"/>
                <a:sym typeface="Roboto Medium"/>
              </a:defRPr>
            </a:lvl9pPr>
          </a:lstStyle>
          <a:p>
            <a:endParaRPr/>
          </a:p>
        </p:txBody>
      </p:sp>
    </p:spTree>
    <p:extLst>
      <p:ext uri="{BB962C8B-B14F-4D97-AF65-F5344CB8AC3E}">
        <p14:creationId xmlns:p14="http://schemas.microsoft.com/office/powerpoint/2010/main" val="2441701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2588501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13.04.2026.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www.adobe.com/" TargetMode="Externa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atlassian.design/"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figma.com/@atlassian"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figma.com/@ibmorg" TargetMode="External"/><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polaris.shopify.com/"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hyperlink" Target="https://www.zalando.be/?_rfl=nl" TargetMode="External"/><Relationship Id="rId5" Type="http://schemas.openxmlformats.org/officeDocument/2006/relationships/image" Target="../media/image29.sv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s://www.zalando.be/?_rfl=nl" TargetMode="External"/><Relationship Id="rId5" Type="http://schemas.openxmlformats.org/officeDocument/2006/relationships/image" Target="../media/image29.sv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hyperlink" Target="https://www.zalando.be/?_rfl=nl" TargetMode="External"/><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png"/><Relationship Id="rId9" Type="http://schemas.openxmlformats.org/officeDocument/2006/relationships/image" Target="../media/image36.svg"/></Relationships>
</file>

<file path=ppt/slides/_rels/slide2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svg"/></Relationships>
</file>

<file path=ppt/slides/_rels/slide31.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svg"/><Relationship Id="rId3" Type="http://schemas.openxmlformats.org/officeDocument/2006/relationships/image" Target="../media/image46.svg"/><Relationship Id="rId7" Type="http://schemas.openxmlformats.org/officeDocument/2006/relationships/image" Target="../media/image42.png"/><Relationship Id="rId12" Type="http://schemas.openxmlformats.org/officeDocument/2006/relationships/image" Target="../media/image54.svg"/><Relationship Id="rId2" Type="http://schemas.openxmlformats.org/officeDocument/2006/relationships/image" Target="../media/image40.sv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53.svg"/><Relationship Id="rId5" Type="http://schemas.openxmlformats.org/officeDocument/2006/relationships/image" Target="../media/image48.svg"/><Relationship Id="rId10" Type="http://schemas.openxmlformats.org/officeDocument/2006/relationships/image" Target="../media/image52.svg"/><Relationship Id="rId4" Type="http://schemas.openxmlformats.org/officeDocument/2006/relationships/image" Target="../media/image47.svg"/><Relationship Id="rId9" Type="http://schemas.openxmlformats.org/officeDocument/2006/relationships/image" Target="../media/image51.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www.gov.uk/" TargetMode="External"/><Relationship Id="rId2" Type="http://schemas.openxmlformats.org/officeDocument/2006/relationships/hyperlink" Target="https://www.decathlon.be/nl/splashpage/" TargetMode="External"/><Relationship Id="rId1" Type="http://schemas.openxmlformats.org/officeDocument/2006/relationships/slideLayout" Target="../slideLayouts/slideLayout13.xml"/><Relationship Id="rId5" Type="http://schemas.openxmlformats.org/officeDocument/2006/relationships/hyperlink" Target="https://youtu.be/uiCGvhI7Vwo?si=yrelRecf0K1BrTh-" TargetMode="External"/><Relationship Id="rId4" Type="http://schemas.openxmlformats.org/officeDocument/2006/relationships/hyperlink" Target="https://m3.material.io/"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slideLayout" Target="../slideLayouts/slideLayout6.xml"/><Relationship Id="rId5" Type="http://schemas.openxmlformats.org/officeDocument/2006/relationships/hyperlink" Target="https://storybook.js.org/" TargetMode="External"/><Relationship Id="rId4" Type="http://schemas.openxmlformats.org/officeDocument/2006/relationships/hyperlink" Target="https://zeroheight.com/logi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hyperlink" Target="https://www.figma.com/best-practices/branching-in-figma/" TargetMode="Externa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hyperlink" Target="https://help.figma.com/hc/en-us/articles/360039820134-Manage-and-share-styles#Move_styles" TargetMode="Externa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hyperlink" Target="https://help.figma.com/hc/en-us/articles/4404848314647-Move-published-components" TargetMode="Externa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hyperlink" Target="https://liferay.design/" TargetMode="External"/><Relationship Id="rId7" Type="http://schemas.openxmlformats.org/officeDocument/2006/relationships/hyperlink" Target="https://design.wonderflow.ai/" TargetMode="External"/><Relationship Id="rId2" Type="http://schemas.openxmlformats.org/officeDocument/2006/relationships/hyperlink" Target="https://wise.design/" TargetMode="External"/><Relationship Id="rId1" Type="http://schemas.openxmlformats.org/officeDocument/2006/relationships/slideLayout" Target="../slideLayouts/slideLayout13.xml"/><Relationship Id="rId6" Type="http://schemas.openxmlformats.org/officeDocument/2006/relationships/hyperlink" Target="https://www.openbridge.no/" TargetMode="External"/><Relationship Id="rId5" Type="http://schemas.openxmlformats.org/officeDocument/2006/relationships/hyperlink" Target="https://luna-website.ext.prd.jspaas.uk/" TargetMode="External"/><Relationship Id="rId4" Type="http://schemas.openxmlformats.org/officeDocument/2006/relationships/hyperlink" Target="https://gel.westpacgroup.com.au/articles"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www.figma.com/community/plugin/820660579767995949" TargetMode="External"/><Relationship Id="rId7" Type="http://schemas.openxmlformats.org/officeDocument/2006/relationships/hyperlink" Target="https://www.figma.com/community/plugin/801195587640428208" TargetMode="External"/><Relationship Id="rId2" Type="http://schemas.openxmlformats.org/officeDocument/2006/relationships/hyperlink" Target="https://www.figma.com/community/plugin/735733267883397781" TargetMode="External"/><Relationship Id="rId1" Type="http://schemas.openxmlformats.org/officeDocument/2006/relationships/slideLayout" Target="../slideLayouts/slideLayout13.xml"/><Relationship Id="rId6" Type="http://schemas.openxmlformats.org/officeDocument/2006/relationships/hyperlink" Target="https://www.figma.com/community/plugin/815578663120885543" TargetMode="External"/><Relationship Id="rId5" Type="http://schemas.openxmlformats.org/officeDocument/2006/relationships/hyperlink" Target="https://www.figma.com/community/plugin/739825414752646970" TargetMode="External"/><Relationship Id="rId4" Type="http://schemas.openxmlformats.org/officeDocument/2006/relationships/hyperlink" Target="https://www.figma.com/community/plugin/818203235789864127"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www.figma.com/community/plugin/1205622541257680763" TargetMode="External"/><Relationship Id="rId2" Type="http://schemas.openxmlformats.org/officeDocument/2006/relationships/hyperlink" Target="https://www.figma.com/community/plugin/1134018716847999330" TargetMode="External"/><Relationship Id="rId1" Type="http://schemas.openxmlformats.org/officeDocument/2006/relationships/slideLayout" Target="../slideLayouts/slideLayout13.xml"/><Relationship Id="rId4" Type="http://schemas.openxmlformats.org/officeDocument/2006/relationships/hyperlink" Target="https://www.figma.com/community/plugin/1116018586739867857/Propstar"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component.gallery/components/" TargetMode="External"/><Relationship Id="rId7" Type="http://schemas.openxmlformats.org/officeDocument/2006/relationships/hyperlink" Target="https://www.linkedin.com/posts/vitalyfriedman_ux-design-designsystems-activity-7034860410952372225-N02u?utm_source=share&amp;utm_medium=member_desktop" TargetMode="External"/><Relationship Id="rId2" Type="http://schemas.openxmlformats.org/officeDocument/2006/relationships/hyperlink" Target="https://www.designsystems.com/" TargetMode="External"/><Relationship Id="rId1" Type="http://schemas.openxmlformats.org/officeDocument/2006/relationships/slideLayout" Target="../slideLayouts/slideLayout13.xml"/><Relationship Id="rId6" Type="http://schemas.openxmlformats.org/officeDocument/2006/relationships/hyperlink" Target="https://www.designsystemchecklist.com/" TargetMode="External"/><Relationship Id="rId5" Type="http://schemas.openxmlformats.org/officeDocument/2006/relationships/hyperlink" Target="https://twitter.com/molly_hellmuth" TargetMode="External"/><Relationship Id="rId4" Type="http://schemas.openxmlformats.org/officeDocument/2006/relationships/hyperlink" Target="https://twitter.com/disco_lu"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booking.design/how-we-built-our-multi-platform-design-system-at-booking-com-d7b895399d40" TargetMode="External"/><Relationship Id="rId2" Type="http://schemas.openxmlformats.org/officeDocument/2006/relationships/hyperlink" Target="https://www.knapsack.cloud/calculator" TargetMode="Externa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hyperlink" Target="https://www.designsystems.com/"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hyperlink" Target="https://help.figma.com/hc/en-us/articles/360039820134-Manage-and-share-styles#Move_styles" TargetMode="External"/><Relationship Id="rId5" Type="http://schemas.openxmlformats.org/officeDocument/2006/relationships/hyperlink" Target="https://www.figma.com/best-practices/branching-in-figma/" TargetMode="External"/><Relationship Id="rId4" Type="http://schemas.openxmlformats.org/officeDocument/2006/relationships/hyperlink" Target="https://bradfrost.com/blog/post/atomic-web-desig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lstStyle/>
          <a:p>
            <a:r>
              <a:rPr lang="fr-BE" dirty="0"/>
              <a:t>SHIFT4IT</a:t>
            </a:r>
            <a:endParaRPr lang="hr-HR" dirty="0"/>
          </a:p>
        </p:txBody>
      </p:sp>
      <p:sp>
        <p:nvSpPr>
          <p:cNvPr id="5" name="Podnaslov 4">
            <a:extLst>
              <a:ext uri="{FF2B5EF4-FFF2-40B4-BE49-F238E27FC236}">
                <a16:creationId xmlns:a16="http://schemas.microsoft.com/office/drawing/2014/main" id="{2D59F4E1-B531-21D4-1874-34304F7DAD4F}"/>
              </a:ext>
            </a:extLst>
          </p:cNvPr>
          <p:cNvSpPr>
            <a:spLocks noGrp="1"/>
          </p:cNvSpPr>
          <p:nvPr>
            <p:ph type="subTitle" idx="1"/>
          </p:nvPr>
        </p:nvSpPr>
        <p:spPr/>
        <p:txBody>
          <a:bodyPr/>
          <a:lstStyle/>
          <a:p>
            <a:r>
              <a:rPr lang="en-US" b="0" i="0" dirty="0">
                <a:solidFill>
                  <a:srgbClr val="000000"/>
                </a:solidFill>
                <a:effectLst/>
                <a:latin typeface="Nunito" pitchFamily="2" charset="0"/>
              </a:rPr>
              <a:t>Shifting the </a:t>
            </a:r>
            <a:r>
              <a:rPr lang="en-US" b="0" i="0" dirty="0" err="1">
                <a:solidFill>
                  <a:srgbClr val="000000"/>
                </a:solidFill>
                <a:effectLst/>
                <a:latin typeface="Nunito" pitchFamily="2" charset="0"/>
              </a:rPr>
              <a:t>paradygm</a:t>
            </a:r>
            <a:r>
              <a:rPr lang="en-US" b="0" i="0" dirty="0">
                <a:solidFill>
                  <a:srgbClr val="000000"/>
                </a:solidFill>
                <a:effectLst/>
                <a:latin typeface="Nunito" pitchFamily="2" charset="0"/>
              </a:rPr>
              <a:t> for women in IT sector</a:t>
            </a:r>
            <a:endParaRPr lang="hr-HR" dirty="0"/>
          </a:p>
        </p:txBody>
      </p:sp>
    </p:spTree>
    <p:extLst>
      <p:ext uri="{BB962C8B-B14F-4D97-AF65-F5344CB8AC3E}">
        <p14:creationId xmlns:p14="http://schemas.microsoft.com/office/powerpoint/2010/main" val="3160911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BA6161-1608-0121-4879-BF8160F25737}"/>
              </a:ext>
            </a:extLst>
          </p:cNvPr>
          <p:cNvSpPr>
            <a:spLocks noGrp="1"/>
          </p:cNvSpPr>
          <p:nvPr>
            <p:ph type="ctrTitle"/>
          </p:nvPr>
        </p:nvSpPr>
        <p:spPr/>
        <p:txBody>
          <a:bodyPr/>
          <a:lstStyle/>
          <a:p>
            <a:r>
              <a:rPr lang="hr-HR" dirty="0">
                <a:latin typeface="Bahnschrift"/>
              </a:rPr>
              <a:t>Sustav dizajna i </a:t>
            </a:r>
            <a:r>
              <a:rPr lang="hr-HR" dirty="0" err="1">
                <a:latin typeface="Bahnschrift"/>
              </a:rPr>
              <a:t>prototipiranje</a:t>
            </a:r>
            <a:endParaRPr lang="fr-FR" dirty="0"/>
          </a:p>
        </p:txBody>
      </p:sp>
    </p:spTree>
    <p:extLst>
      <p:ext uri="{BB962C8B-B14F-4D97-AF65-F5344CB8AC3E}">
        <p14:creationId xmlns:p14="http://schemas.microsoft.com/office/powerpoint/2010/main" val="49551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CA5E0-5B15-644C-47E8-BE8A6A235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0D99D-F126-5390-8506-3172825CEEAC}"/>
              </a:ext>
            </a:extLst>
          </p:cNvPr>
          <p:cNvSpPr>
            <a:spLocks noGrp="1"/>
          </p:cNvSpPr>
          <p:nvPr>
            <p:ph type="title"/>
          </p:nvPr>
        </p:nvSpPr>
        <p:spPr/>
        <p:txBody>
          <a:bodyPr/>
          <a:lstStyle/>
          <a:p>
            <a:r>
              <a:rPr lang="hr-HR" sz="3600" dirty="0">
                <a:latin typeface="Bahnschrift SemiBold"/>
              </a:rPr>
              <a:t>Sustav dizajna i </a:t>
            </a:r>
            <a:r>
              <a:rPr lang="hr-HR" sz="3600" dirty="0" err="1">
                <a:latin typeface="Bahnschrift SemiBold"/>
              </a:rPr>
              <a:t>prototipiranje</a:t>
            </a:r>
            <a:endParaRPr lang="fr-BE" sz="3600" dirty="0">
              <a:latin typeface="Bahnschrift SemiBold"/>
            </a:endParaRPr>
          </a:p>
        </p:txBody>
      </p:sp>
      <p:sp>
        <p:nvSpPr>
          <p:cNvPr id="3" name="TextBox 2">
            <a:extLst>
              <a:ext uri="{FF2B5EF4-FFF2-40B4-BE49-F238E27FC236}">
                <a16:creationId xmlns:a16="http://schemas.microsoft.com/office/drawing/2014/main" id="{7F71411E-70FF-6FF5-BB10-6D7E1DECCD43}"/>
              </a:ext>
            </a:extLst>
          </p:cNvPr>
          <p:cNvSpPr txBox="1"/>
          <p:nvPr/>
        </p:nvSpPr>
        <p:spPr>
          <a:xfrm>
            <a:off x="926756" y="2038865"/>
            <a:ext cx="8971005" cy="2677656"/>
          </a:xfrm>
          <a:prstGeom prst="rect">
            <a:avLst/>
          </a:prstGeom>
          <a:noFill/>
        </p:spPr>
        <p:txBody>
          <a:bodyPr wrap="square" rtlCol="0">
            <a:spAutoFit/>
          </a:bodyPr>
          <a:lstStyle/>
          <a:p>
            <a:pPr marL="342900" indent="-342900">
              <a:buFont typeface="Arial" panose="020B0604020202020204" pitchFamily="34" charset="0"/>
              <a:buChar char="•"/>
            </a:pPr>
            <a:r>
              <a:rPr lang="hr-HR" sz="2400" dirty="0"/>
              <a:t>Uvod u sustav dizajna</a:t>
            </a:r>
          </a:p>
          <a:p>
            <a:pPr marL="342900" indent="-342900">
              <a:buFont typeface="Arial" panose="020B0604020202020204" pitchFamily="34" charset="0"/>
              <a:buChar char="•"/>
            </a:pPr>
            <a:r>
              <a:rPr lang="hr-HR" sz="2400" dirty="0"/>
              <a:t>Provedba projekta sustava dizajna</a:t>
            </a:r>
          </a:p>
          <a:p>
            <a:pPr marL="342900" indent="-342900">
              <a:buFont typeface="Arial" panose="020B0604020202020204" pitchFamily="34" charset="0"/>
              <a:buChar char="•"/>
            </a:pPr>
            <a:r>
              <a:rPr lang="hr-HR" sz="2400" dirty="0"/>
              <a:t>Savjeti i trikovi</a:t>
            </a:r>
          </a:p>
          <a:p>
            <a:pPr marL="342900" indent="-342900">
              <a:buFont typeface="Arial" panose="020B0604020202020204" pitchFamily="34" charset="0"/>
              <a:buChar char="•"/>
            </a:pPr>
            <a:r>
              <a:rPr lang="hr-HR" sz="2400" dirty="0"/>
              <a:t>Različite vrste korisničkih sučelja (UI)</a:t>
            </a:r>
          </a:p>
          <a:p>
            <a:pPr marL="342900" indent="-342900">
              <a:buFont typeface="Arial" panose="020B0604020202020204" pitchFamily="34" charset="0"/>
              <a:buChar char="•"/>
            </a:pPr>
            <a:r>
              <a:rPr lang="hr-HR" sz="2400" dirty="0"/>
              <a:t>Sažetak</a:t>
            </a:r>
          </a:p>
          <a:p>
            <a:pPr marL="342900" indent="-342900">
              <a:buFont typeface="Arial" panose="020B0604020202020204" pitchFamily="34" charset="0"/>
              <a:buChar char="•"/>
            </a:pPr>
            <a:r>
              <a:rPr lang="hr-HR" sz="2400" dirty="0"/>
              <a:t>Resursi</a:t>
            </a:r>
          </a:p>
          <a:p>
            <a:pPr marL="342900" indent="-342900">
              <a:buFont typeface="Arial" panose="020B0604020202020204" pitchFamily="34" charset="0"/>
              <a:buChar char="•"/>
            </a:pPr>
            <a:r>
              <a:rPr lang="hr-HR" sz="2400" dirty="0"/>
              <a:t>Dodatna literatura</a:t>
            </a:r>
            <a:endParaRPr lang="fr-BE" dirty="0">
              <a:latin typeface="Bahnschrift SemiLight" panose="020B0502040204020203" pitchFamily="34" charset="0"/>
            </a:endParaRPr>
          </a:p>
        </p:txBody>
      </p:sp>
    </p:spTree>
    <p:extLst>
      <p:ext uri="{BB962C8B-B14F-4D97-AF65-F5344CB8AC3E}">
        <p14:creationId xmlns:p14="http://schemas.microsoft.com/office/powerpoint/2010/main" val="457224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12D2C-3DF9-03C0-922A-F9A192AC7122}"/>
              </a:ext>
            </a:extLst>
          </p:cNvPr>
          <p:cNvSpPr>
            <a:spLocks noGrp="1"/>
          </p:cNvSpPr>
          <p:nvPr>
            <p:ph type="ctrTitle"/>
          </p:nvPr>
        </p:nvSpPr>
        <p:spPr/>
        <p:txBody>
          <a:bodyPr/>
          <a:lstStyle/>
          <a:p>
            <a:r>
              <a:rPr lang="hr-HR" dirty="0">
                <a:latin typeface="Bahnschrift"/>
              </a:rPr>
              <a:t>Uvod u sustav dizajna</a:t>
            </a:r>
            <a:endParaRPr lang="fr-FR" dirty="0"/>
          </a:p>
        </p:txBody>
      </p:sp>
    </p:spTree>
    <p:extLst>
      <p:ext uri="{BB962C8B-B14F-4D97-AF65-F5344CB8AC3E}">
        <p14:creationId xmlns:p14="http://schemas.microsoft.com/office/powerpoint/2010/main" val="396795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5" name="Titre 4">
            <a:extLst>
              <a:ext uri="{FF2B5EF4-FFF2-40B4-BE49-F238E27FC236}">
                <a16:creationId xmlns:a16="http://schemas.microsoft.com/office/drawing/2014/main" id="{F9D0AA5D-97F1-748D-3BB6-025DD91ED484}"/>
              </a:ext>
            </a:extLst>
          </p:cNvPr>
          <p:cNvSpPr>
            <a:spLocks noGrp="1"/>
          </p:cNvSpPr>
          <p:nvPr>
            <p:ph type="title"/>
          </p:nvPr>
        </p:nvSpPr>
        <p:spPr/>
        <p:txBody>
          <a:bodyPr/>
          <a:lstStyle/>
          <a:p>
            <a:r>
              <a:rPr lang="hr-HR" dirty="0">
                <a:latin typeface="Bahnschrift SemiBold"/>
              </a:rPr>
              <a:t>Što je sustav dizajna</a:t>
            </a:r>
            <a:r>
              <a:rPr lang="fr-FR" dirty="0">
                <a:latin typeface="Bahnschrift SemiBold"/>
              </a:rPr>
              <a:t>?</a:t>
            </a:r>
          </a:p>
        </p:txBody>
      </p:sp>
      <p:sp>
        <p:nvSpPr>
          <p:cNvPr id="225" name="Google Shape;225;p35"/>
          <p:cNvSpPr/>
          <p:nvPr/>
        </p:nvSpPr>
        <p:spPr>
          <a:xfrm>
            <a:off x="6495691" y="1908300"/>
            <a:ext cx="5268400" cy="5940000"/>
          </a:xfrm>
          <a:prstGeom prst="roundRect">
            <a:avLst>
              <a:gd name="adj" fmla="val 1551"/>
            </a:avLst>
          </a:prstGeom>
          <a:solidFill>
            <a:schemeClr val="lt1"/>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t> </a:t>
            </a:r>
            <a:endParaRPr sz="2489"/>
          </a:p>
        </p:txBody>
      </p:sp>
      <p:pic>
        <p:nvPicPr>
          <p:cNvPr id="226" name="Google Shape;226;p35"/>
          <p:cNvPicPr preferRelativeResize="0"/>
          <p:nvPr/>
        </p:nvPicPr>
        <p:blipFill>
          <a:blip r:embed="rId3">
            <a:alphaModFix/>
          </a:blip>
          <a:stretch>
            <a:fillRect/>
          </a:stretch>
        </p:blipFill>
        <p:spPr>
          <a:xfrm>
            <a:off x="7959291" y="1899198"/>
            <a:ext cx="3710267" cy="5949063"/>
          </a:xfrm>
          <a:prstGeom prst="rect">
            <a:avLst/>
          </a:prstGeom>
          <a:noFill/>
          <a:ln>
            <a:noFill/>
          </a:ln>
        </p:spPr>
      </p:pic>
      <p:pic>
        <p:nvPicPr>
          <p:cNvPr id="227" name="Google Shape;227;p35"/>
          <p:cNvPicPr preferRelativeResize="0"/>
          <p:nvPr/>
        </p:nvPicPr>
        <p:blipFill>
          <a:blip r:embed="rId4">
            <a:alphaModFix/>
          </a:blip>
          <a:stretch>
            <a:fillRect/>
          </a:stretch>
        </p:blipFill>
        <p:spPr>
          <a:xfrm>
            <a:off x="6502791" y="1899200"/>
            <a:ext cx="1558000" cy="5950000"/>
          </a:xfrm>
          <a:prstGeom prst="roundRect">
            <a:avLst>
              <a:gd name="adj" fmla="val 6536"/>
            </a:avLst>
          </a:prstGeom>
          <a:noFill/>
          <a:ln>
            <a:noFill/>
          </a:ln>
        </p:spPr>
      </p:pic>
      <p:sp>
        <p:nvSpPr>
          <p:cNvPr id="228" name="Google Shape;228;p35"/>
          <p:cNvSpPr/>
          <p:nvPr/>
        </p:nvSpPr>
        <p:spPr>
          <a:xfrm>
            <a:off x="6495858" y="1908300"/>
            <a:ext cx="5268400" cy="5940000"/>
          </a:xfrm>
          <a:prstGeom prst="roundRect">
            <a:avLst>
              <a:gd name="adj" fmla="val 1551"/>
            </a:avLst>
          </a:prstGeom>
          <a:noFill/>
          <a:ln w="9525" cap="flat" cmpd="sng">
            <a:solidFill>
              <a:srgbClr val="E9E9E9"/>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89"/>
              <a:t> </a:t>
            </a:r>
            <a:endParaRPr sz="2489"/>
          </a:p>
        </p:txBody>
      </p:sp>
      <p:sp>
        <p:nvSpPr>
          <p:cNvPr id="229" name="Google Shape;229;p35"/>
          <p:cNvSpPr txBox="1"/>
          <p:nvPr/>
        </p:nvSpPr>
        <p:spPr>
          <a:xfrm>
            <a:off x="720167" y="2204967"/>
            <a:ext cx="5024000" cy="295465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hr-HR" sz="1600" dirty="0"/>
              <a:t>Sustav dizajna prevodi se kao skup pravila, najboljih praksi, ponovno upotrebljivih elemenata i resursa koji su dostupni različitim timovima. Sustav dizajna možemo promatrati kao veliki zajednički alatni kovčeg koji svim timovima donosi jednostavnost i dosljednost pri izgradnji sučelja.</a:t>
            </a:r>
          </a:p>
          <a:p>
            <a:endParaRPr lang="hr-HR" sz="1600" dirty="0"/>
          </a:p>
          <a:p>
            <a:r>
              <a:rPr lang="hr-HR" sz="1600" dirty="0"/>
              <a:t>Sustav dizajna je skup standarda za upravljanje dizajnom na većoj razini (u velikim sustavima) smanjujući redundanciju, a istovremeno stvarajući zajednički jezik i vizualnu dosljednost kroz različite stranice i kanale.</a:t>
            </a:r>
          </a:p>
        </p:txBody>
      </p:sp>
      <p:sp>
        <p:nvSpPr>
          <p:cNvPr id="2" name="TextBox 1">
            <a:extLst>
              <a:ext uri="{FF2B5EF4-FFF2-40B4-BE49-F238E27FC236}">
                <a16:creationId xmlns:a16="http://schemas.microsoft.com/office/drawing/2014/main" id="{D819FC85-5C28-D6BB-7020-E0AE8818236E}"/>
              </a:ext>
            </a:extLst>
          </p:cNvPr>
          <p:cNvSpPr txBox="1"/>
          <p:nvPr/>
        </p:nvSpPr>
        <p:spPr>
          <a:xfrm>
            <a:off x="10560725" y="6492875"/>
            <a:ext cx="1421068" cy="553998"/>
          </a:xfrm>
          <a:prstGeom prst="rect">
            <a:avLst/>
          </a:prstGeom>
          <a:noFill/>
        </p:spPr>
        <p:txBody>
          <a:bodyPr wrap="square" rtlCol="0">
            <a:spAutoFit/>
          </a:bodyPr>
          <a:lstStyle/>
          <a:p>
            <a:r>
              <a:rPr lang="fr-BE" sz="1200" dirty="0">
                <a:latin typeface="Bahnschrift SemiLight" panose="020B0502040204020203" pitchFamily="34" charset="0"/>
                <a:hlinkClick r:id="rId5"/>
              </a:rPr>
              <a:t>www.adobe.com</a:t>
            </a:r>
            <a:endParaRPr lang="fr-BE" sz="1200" dirty="0">
              <a:latin typeface="Bahnschrift SemiLight" panose="020B0502040204020203" pitchFamily="34" charset="0"/>
            </a:endParaRPr>
          </a:p>
          <a:p>
            <a:endParaRPr lang="fr-BE" dirty="0"/>
          </a:p>
        </p:txBody>
      </p:sp>
    </p:spTree>
    <p:extLst>
      <p:ext uri="{BB962C8B-B14F-4D97-AF65-F5344CB8AC3E}">
        <p14:creationId xmlns:p14="http://schemas.microsoft.com/office/powerpoint/2010/main" val="2458164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AE3B6-FCD6-5CE2-2284-C1FD4B78D0D9}"/>
              </a:ext>
            </a:extLst>
          </p:cNvPr>
          <p:cNvSpPr>
            <a:spLocks noGrp="1"/>
          </p:cNvSpPr>
          <p:nvPr>
            <p:ph type="title"/>
          </p:nvPr>
        </p:nvSpPr>
        <p:spPr/>
        <p:txBody>
          <a:bodyPr>
            <a:normAutofit/>
          </a:bodyPr>
          <a:lstStyle/>
          <a:p>
            <a:r>
              <a:rPr lang="hr-HR" dirty="0">
                <a:latin typeface="Bahnschrift SemiBold"/>
              </a:rPr>
              <a:t>Prednosti sustava dizajna</a:t>
            </a:r>
            <a:endParaRPr lang="fr-FR" dirty="0"/>
          </a:p>
        </p:txBody>
      </p:sp>
      <p:sp>
        <p:nvSpPr>
          <p:cNvPr id="3" name="Espace réservé du contenu 2">
            <a:extLst>
              <a:ext uri="{FF2B5EF4-FFF2-40B4-BE49-F238E27FC236}">
                <a16:creationId xmlns:a16="http://schemas.microsoft.com/office/drawing/2014/main" id="{52145E37-93BC-D33B-9764-C1F5D0C8518F}"/>
              </a:ext>
            </a:extLst>
          </p:cNvPr>
          <p:cNvSpPr>
            <a:spLocks noGrp="1"/>
          </p:cNvSpPr>
          <p:nvPr>
            <p:ph idx="1"/>
          </p:nvPr>
        </p:nvSpPr>
        <p:spPr/>
        <p:txBody>
          <a:bodyPr vert="horz" lIns="91440" tIns="45720" rIns="91440" bIns="45720" rtlCol="0" anchor="t">
            <a:normAutofit lnSpcReduction="10000"/>
          </a:bodyPr>
          <a:lstStyle/>
          <a:p>
            <a:r>
              <a:rPr lang="hr-HR" dirty="0"/>
              <a:t>Dosljednost korisničkog iskustva</a:t>
            </a:r>
          </a:p>
          <a:p>
            <a:r>
              <a:rPr lang="hr-HR" dirty="0"/>
              <a:t>Ojačan identitet na svim medijima i platformama</a:t>
            </a:r>
          </a:p>
          <a:p>
            <a:r>
              <a:rPr lang="hr-HR" dirty="0"/>
              <a:t>Ušteda vremena i novca</a:t>
            </a:r>
          </a:p>
          <a:p>
            <a:r>
              <a:rPr lang="hr-HR" dirty="0"/>
              <a:t>Centralizirano održavanje</a:t>
            </a:r>
          </a:p>
          <a:p>
            <a:r>
              <a:rPr lang="hr-HR" dirty="0"/>
              <a:t>Pojednostavljena komunikacija unutar tima (vidi slajd br. 10)</a:t>
            </a:r>
          </a:p>
          <a:p>
            <a:r>
              <a:rPr lang="hr-HR" dirty="0"/>
              <a:t>Poticanje zajedničkog stvaranja (</a:t>
            </a:r>
            <a:r>
              <a:rPr lang="hr-HR" dirty="0" err="1"/>
              <a:t>co-creation</a:t>
            </a:r>
            <a:r>
              <a:rPr lang="hr-HR" dirty="0"/>
              <a:t>)</a:t>
            </a:r>
          </a:p>
          <a:p>
            <a:r>
              <a:rPr lang="hr-HR" dirty="0"/>
              <a:t>Sustav </a:t>
            </a:r>
            <a:r>
              <a:rPr lang="hr-HR" dirty="0" err="1"/>
              <a:t>validiran</a:t>
            </a:r>
            <a:r>
              <a:rPr lang="hr-HR" dirty="0"/>
              <a:t> od strane različitih stručnjaka (UX / UI / PO / </a:t>
            </a:r>
            <a:r>
              <a:rPr lang="hr-HR" dirty="0" err="1"/>
              <a:t>Tech</a:t>
            </a:r>
            <a:r>
              <a:rPr lang="hr-HR" dirty="0"/>
              <a:t> / Pristupačnost)</a:t>
            </a:r>
          </a:p>
          <a:p>
            <a:r>
              <a:rPr lang="hr-HR" dirty="0"/>
              <a:t>Predstavlja dobitak u smislu dosljednosti, vremena i novca.</a:t>
            </a:r>
          </a:p>
        </p:txBody>
      </p:sp>
    </p:spTree>
    <p:extLst>
      <p:ext uri="{BB962C8B-B14F-4D97-AF65-F5344CB8AC3E}">
        <p14:creationId xmlns:p14="http://schemas.microsoft.com/office/powerpoint/2010/main" val="1299780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F120E-EB52-F984-FBF8-365F2CE5524C}"/>
              </a:ext>
            </a:extLst>
          </p:cNvPr>
          <p:cNvSpPr>
            <a:spLocks noGrp="1"/>
          </p:cNvSpPr>
          <p:nvPr>
            <p:ph type="title"/>
          </p:nvPr>
        </p:nvSpPr>
        <p:spPr/>
        <p:txBody>
          <a:bodyPr/>
          <a:lstStyle/>
          <a:p>
            <a:r>
              <a:rPr lang="hr-HR" dirty="0">
                <a:latin typeface="Bahnschrift SemiBold"/>
              </a:rPr>
              <a:t>Primjeri</a:t>
            </a:r>
            <a:endParaRPr lang="en-US" dirty="0"/>
          </a:p>
        </p:txBody>
      </p:sp>
      <p:sp>
        <p:nvSpPr>
          <p:cNvPr id="3" name="Content Placeholder 2">
            <a:extLst>
              <a:ext uri="{FF2B5EF4-FFF2-40B4-BE49-F238E27FC236}">
                <a16:creationId xmlns:a16="http://schemas.microsoft.com/office/drawing/2014/main" id="{A6E8F6A8-043E-0FF9-18F9-CF054A5132F6}"/>
              </a:ext>
            </a:extLst>
          </p:cNvPr>
          <p:cNvSpPr>
            <a:spLocks noGrp="1"/>
          </p:cNvSpPr>
          <p:nvPr>
            <p:ph sz="half" idx="1"/>
          </p:nvPr>
        </p:nvSpPr>
        <p:spPr/>
        <p:txBody>
          <a:bodyPr vert="horz" lIns="91440" tIns="45720" rIns="91440" bIns="45720" rtlCol="0" anchor="t">
            <a:normAutofit fontScale="92500" lnSpcReduction="10000"/>
          </a:bodyPr>
          <a:lstStyle/>
          <a:p>
            <a:pPr marL="0" indent="0">
              <a:buNone/>
            </a:pPr>
            <a:r>
              <a:rPr lang="en-US" b="1" dirty="0">
                <a:latin typeface="Bahnschrift SemiLight"/>
              </a:rPr>
              <a:t>Atlassian</a:t>
            </a:r>
            <a:br>
              <a:rPr lang="en-US" b="1" dirty="0">
                <a:latin typeface="Bahnschrift SemiLight"/>
              </a:rPr>
            </a:br>
            <a:endParaRPr lang="en-US" b="1" dirty="0">
              <a:latin typeface="Bahnschrift SemiLight"/>
            </a:endParaRPr>
          </a:p>
          <a:p>
            <a:r>
              <a:rPr lang="en-US" dirty="0">
                <a:latin typeface="Bahnschrift SemiLight"/>
                <a:hlinkClick r:id="rId3"/>
              </a:rPr>
              <a:t>https://atlassian.design/</a:t>
            </a:r>
            <a:r>
              <a:rPr lang="en-US" dirty="0">
                <a:latin typeface="Bahnschrift SemiLight"/>
              </a:rPr>
              <a:t> </a:t>
            </a:r>
          </a:p>
          <a:p>
            <a:r>
              <a:rPr lang="hr-HR" dirty="0"/>
              <a:t>Pravila korištenja, dizajna, koda i uredničke smjernice</a:t>
            </a:r>
            <a:endParaRPr lang="en-US" dirty="0"/>
          </a:p>
          <a:p>
            <a:endParaRPr lang="en-US" dirty="0">
              <a:latin typeface="Bahnschrift SemiLight"/>
            </a:endParaRPr>
          </a:p>
          <a:p>
            <a:r>
              <a:rPr lang="hr-HR" dirty="0">
                <a:latin typeface="Bahnschrift SemiLight"/>
              </a:rPr>
              <a:t>Komponente</a:t>
            </a:r>
            <a:r>
              <a:rPr lang="en-US" dirty="0">
                <a:latin typeface="Bahnschrift SemiLight"/>
              </a:rPr>
              <a:t> </a:t>
            </a:r>
            <a:endParaRPr lang="en-US" dirty="0"/>
          </a:p>
          <a:p>
            <a:r>
              <a:rPr lang="hr-HR" dirty="0"/>
              <a:t>Obrasci</a:t>
            </a:r>
            <a:endParaRPr lang="en-US" dirty="0"/>
          </a:p>
          <a:p>
            <a:r>
              <a:rPr lang="en-US" dirty="0"/>
              <a:t>Br</a:t>
            </a:r>
            <a:r>
              <a:rPr lang="hr-HR" dirty="0" err="1"/>
              <a:t>end</a:t>
            </a:r>
            <a:r>
              <a:rPr lang="en-US" dirty="0"/>
              <a:t> </a:t>
            </a:r>
          </a:p>
          <a:p>
            <a:r>
              <a:rPr lang="hr-HR" dirty="0"/>
              <a:t>Temelji</a:t>
            </a:r>
            <a:r>
              <a:rPr lang="en-US" dirty="0"/>
              <a:t> </a:t>
            </a:r>
          </a:p>
        </p:txBody>
      </p:sp>
      <p:pic>
        <p:nvPicPr>
          <p:cNvPr id="6" name="image 14" descr="preencoded.png">
            <a:extLst>
              <a:ext uri="{FF2B5EF4-FFF2-40B4-BE49-F238E27FC236}">
                <a16:creationId xmlns:a16="http://schemas.microsoft.com/office/drawing/2014/main" id="{67A97638-8332-B7A0-53F3-21F9DCE28AA6}"/>
              </a:ext>
            </a:extLst>
          </p:cNvPr>
          <p:cNvPicPr>
            <a:picLocks noChangeAspect="1"/>
          </p:cNvPicPr>
          <p:nvPr/>
        </p:nvPicPr>
        <p:blipFill>
          <a:blip r:embed="rId4"/>
          <a:srcRect/>
          <a:stretch/>
        </p:blipFill>
        <p:spPr>
          <a:xfrm>
            <a:off x="5488797" y="2724151"/>
            <a:ext cx="6703203" cy="4133849"/>
          </a:xfrm>
          <a:prstGeom prst="rect">
            <a:avLst/>
          </a:prstGeom>
        </p:spPr>
      </p:pic>
      <p:sp>
        <p:nvSpPr>
          <p:cNvPr id="5" name="TextBox 4">
            <a:extLst>
              <a:ext uri="{FF2B5EF4-FFF2-40B4-BE49-F238E27FC236}">
                <a16:creationId xmlns:a16="http://schemas.microsoft.com/office/drawing/2014/main" id="{9DE2B0A6-AF6C-C374-8345-68EDC495C62E}"/>
              </a:ext>
            </a:extLst>
          </p:cNvPr>
          <p:cNvSpPr txBox="1"/>
          <p:nvPr/>
        </p:nvSpPr>
        <p:spPr>
          <a:xfrm>
            <a:off x="9771212" y="6492875"/>
            <a:ext cx="6148550" cy="276999"/>
          </a:xfrm>
          <a:prstGeom prst="rect">
            <a:avLst/>
          </a:prstGeom>
          <a:noFill/>
        </p:spPr>
        <p:txBody>
          <a:bodyPr wrap="square">
            <a:spAutoFit/>
          </a:bodyPr>
          <a:lstStyle/>
          <a:p>
            <a:r>
              <a:rPr lang="en-US" sz="1200" dirty="0">
                <a:latin typeface="Bahnschrift SemiLight"/>
              </a:rPr>
              <a:t>Source: </a:t>
            </a:r>
            <a:r>
              <a:rPr lang="en-US" sz="1200" dirty="0">
                <a:latin typeface="Bahnschrift SemiLight"/>
                <a:hlinkClick r:id="rId3"/>
              </a:rPr>
              <a:t>https://atlassian.design/</a:t>
            </a:r>
            <a:r>
              <a:rPr lang="en-US" sz="1200" dirty="0">
                <a:latin typeface="Bahnschrift SemiLight"/>
              </a:rPr>
              <a:t> </a:t>
            </a:r>
          </a:p>
        </p:txBody>
      </p:sp>
    </p:spTree>
    <p:extLst>
      <p:ext uri="{BB962C8B-B14F-4D97-AF65-F5344CB8AC3E}">
        <p14:creationId xmlns:p14="http://schemas.microsoft.com/office/powerpoint/2010/main" val="846350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15709-8073-6787-809C-0F73DB8EC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C23F5-DBDA-96EA-F6B6-17507A93A9BD}"/>
              </a:ext>
            </a:extLst>
          </p:cNvPr>
          <p:cNvSpPr>
            <a:spLocks noGrp="1"/>
          </p:cNvSpPr>
          <p:nvPr>
            <p:ph type="title"/>
          </p:nvPr>
        </p:nvSpPr>
        <p:spPr/>
        <p:txBody>
          <a:bodyPr/>
          <a:lstStyle/>
          <a:p>
            <a:r>
              <a:rPr lang="hr-HR" dirty="0">
                <a:latin typeface="Bahnschrift SemiBold"/>
              </a:rPr>
              <a:t>Primjeri</a:t>
            </a:r>
            <a:endParaRPr lang="en-US" dirty="0"/>
          </a:p>
        </p:txBody>
      </p:sp>
      <p:sp>
        <p:nvSpPr>
          <p:cNvPr id="3" name="Content Placeholder 2">
            <a:extLst>
              <a:ext uri="{FF2B5EF4-FFF2-40B4-BE49-F238E27FC236}">
                <a16:creationId xmlns:a16="http://schemas.microsoft.com/office/drawing/2014/main" id="{F3E9C317-4AB3-2FB7-61BD-C758C0D62109}"/>
              </a:ext>
            </a:extLst>
          </p:cNvPr>
          <p:cNvSpPr>
            <a:spLocks noGrp="1"/>
          </p:cNvSpPr>
          <p:nvPr>
            <p:ph sz="half" idx="1"/>
          </p:nvPr>
        </p:nvSpPr>
        <p:spPr/>
        <p:txBody>
          <a:bodyPr vert="horz" lIns="91440" tIns="45720" rIns="91440" bIns="45720" rtlCol="0" anchor="t">
            <a:normAutofit lnSpcReduction="10000"/>
          </a:bodyPr>
          <a:lstStyle/>
          <a:p>
            <a:pPr>
              <a:buNone/>
            </a:pPr>
            <a:r>
              <a:rPr lang="en-US" b="1" dirty="0">
                <a:latin typeface="Bahnschrift SemiLight"/>
              </a:rPr>
              <a:t>Atlassian </a:t>
            </a:r>
            <a:endParaRPr lang="en-US" dirty="0"/>
          </a:p>
          <a:p>
            <a:pPr marL="0" indent="0">
              <a:buNone/>
            </a:pPr>
            <a:endParaRPr lang="en-US" dirty="0">
              <a:latin typeface="Bahnschrift SemiLight"/>
            </a:endParaRPr>
          </a:p>
          <a:p>
            <a:r>
              <a:rPr lang="hr-HR" dirty="0">
                <a:latin typeface="Bahnschrift SemiLight"/>
              </a:rPr>
              <a:t>Temelji</a:t>
            </a:r>
            <a:r>
              <a:rPr lang="en-US" dirty="0">
                <a:latin typeface="Bahnschrift SemiLight"/>
              </a:rPr>
              <a:t> </a:t>
            </a:r>
            <a:endParaRPr lang="en-US" dirty="0"/>
          </a:p>
          <a:p>
            <a:r>
              <a:rPr lang="hr-HR" dirty="0">
                <a:latin typeface="Bahnschrift SemiLight"/>
              </a:rPr>
              <a:t>Komponente</a:t>
            </a:r>
            <a:r>
              <a:rPr lang="en-US" dirty="0">
                <a:latin typeface="Bahnschrift SemiLight"/>
              </a:rPr>
              <a:t> </a:t>
            </a:r>
            <a:endParaRPr lang="en-US" dirty="0"/>
          </a:p>
          <a:p>
            <a:r>
              <a:rPr lang="hr-HR" dirty="0">
                <a:latin typeface="Bahnschrift SemiLight"/>
              </a:rPr>
              <a:t>Dizajnerski tokeni</a:t>
            </a:r>
            <a:endParaRPr lang="en-US" dirty="0"/>
          </a:p>
          <a:p>
            <a:pPr marL="0" indent="0">
              <a:buNone/>
            </a:pPr>
            <a:endParaRPr lang="en-US" dirty="0"/>
          </a:p>
          <a:p>
            <a:r>
              <a:rPr lang="en-US" dirty="0">
                <a:latin typeface="Bahnschrift SemiLight"/>
                <a:hlinkClick r:id="rId2"/>
              </a:rPr>
              <a:t>https://www.figma.com/@atlassian</a:t>
            </a:r>
            <a:endParaRPr lang="en-US" dirty="0">
              <a:latin typeface="Bahnschrift SemiLight"/>
            </a:endParaRPr>
          </a:p>
          <a:p>
            <a:pPr marL="0" indent="0">
              <a:buNone/>
            </a:pPr>
            <a:r>
              <a:rPr lang="en-US" dirty="0">
                <a:latin typeface="Bahnschrift SemiLight"/>
              </a:rPr>
              <a:t>    </a:t>
            </a:r>
          </a:p>
        </p:txBody>
      </p:sp>
      <p:pic>
        <p:nvPicPr>
          <p:cNvPr id="5" name="Base / Left-Right" descr="preencoded.png">
            <a:extLst>
              <a:ext uri="{FF2B5EF4-FFF2-40B4-BE49-F238E27FC236}">
                <a16:creationId xmlns:a16="http://schemas.microsoft.com/office/drawing/2014/main" id="{959E82EB-994C-A594-9620-3ACC0315A430}"/>
              </a:ext>
            </a:extLst>
          </p:cNvPr>
          <p:cNvPicPr>
            <a:picLocks noChangeAspect="1"/>
          </p:cNvPicPr>
          <p:nvPr/>
        </p:nvPicPr>
        <p:blipFill>
          <a:blip r:embed="rId3"/>
          <a:srcRect l="50982" t="29399" r="2439" b="28771"/>
          <a:stretch/>
        </p:blipFill>
        <p:spPr>
          <a:xfrm>
            <a:off x="6209725" y="1993369"/>
            <a:ext cx="5678851" cy="2868702"/>
          </a:xfrm>
          <a:prstGeom prst="rect">
            <a:avLst/>
          </a:prstGeom>
        </p:spPr>
      </p:pic>
      <p:sp>
        <p:nvSpPr>
          <p:cNvPr id="7" name="TextBox 6">
            <a:extLst>
              <a:ext uri="{FF2B5EF4-FFF2-40B4-BE49-F238E27FC236}">
                <a16:creationId xmlns:a16="http://schemas.microsoft.com/office/drawing/2014/main" id="{69CCBAB6-FE4A-7EA3-7C6B-960C1C9036EA}"/>
              </a:ext>
            </a:extLst>
          </p:cNvPr>
          <p:cNvSpPr txBox="1"/>
          <p:nvPr/>
        </p:nvSpPr>
        <p:spPr>
          <a:xfrm>
            <a:off x="9397049" y="4862071"/>
            <a:ext cx="2681452" cy="461665"/>
          </a:xfrm>
          <a:prstGeom prst="rect">
            <a:avLst/>
          </a:prstGeom>
          <a:noFill/>
        </p:spPr>
        <p:txBody>
          <a:bodyPr wrap="square">
            <a:spAutoFit/>
          </a:bodyPr>
          <a:lstStyle/>
          <a:p>
            <a:r>
              <a:rPr lang="en-US" sz="1200" dirty="0">
                <a:latin typeface="Bahnschrift SemiLight"/>
              </a:rPr>
              <a:t>Source: </a:t>
            </a:r>
            <a:r>
              <a:rPr lang="en-US" sz="1200" dirty="0">
                <a:latin typeface="Bahnschrift SemiLight"/>
                <a:hlinkClick r:id="rId2"/>
              </a:rPr>
              <a:t>https://www.figma.com/@atlassian</a:t>
            </a:r>
            <a:endParaRPr lang="en-US" sz="1200" dirty="0">
              <a:latin typeface="Bahnschrift SemiLight"/>
            </a:endParaRPr>
          </a:p>
        </p:txBody>
      </p:sp>
    </p:spTree>
    <p:extLst>
      <p:ext uri="{BB962C8B-B14F-4D97-AF65-F5344CB8AC3E}">
        <p14:creationId xmlns:p14="http://schemas.microsoft.com/office/powerpoint/2010/main" val="2626583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B9C1-4273-1A54-8C16-2999D333E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26897-4D11-E773-416E-B35619CA1223}"/>
              </a:ext>
            </a:extLst>
          </p:cNvPr>
          <p:cNvSpPr>
            <a:spLocks noGrp="1"/>
          </p:cNvSpPr>
          <p:nvPr>
            <p:ph type="title"/>
          </p:nvPr>
        </p:nvSpPr>
        <p:spPr/>
        <p:txBody>
          <a:bodyPr/>
          <a:lstStyle/>
          <a:p>
            <a:r>
              <a:rPr lang="hr-HR" dirty="0">
                <a:latin typeface="Bahnschrift SemiBold"/>
              </a:rPr>
              <a:t>Primjeri</a:t>
            </a:r>
            <a:endParaRPr lang="en-US" dirty="0"/>
          </a:p>
        </p:txBody>
      </p:sp>
      <p:sp>
        <p:nvSpPr>
          <p:cNvPr id="3" name="Content Placeholder 2">
            <a:extLst>
              <a:ext uri="{FF2B5EF4-FFF2-40B4-BE49-F238E27FC236}">
                <a16:creationId xmlns:a16="http://schemas.microsoft.com/office/drawing/2014/main" id="{D59EB492-7127-AF4E-A982-863D0313F4D5}"/>
              </a:ext>
            </a:extLst>
          </p:cNvPr>
          <p:cNvSpPr>
            <a:spLocks noGrp="1"/>
          </p:cNvSpPr>
          <p:nvPr>
            <p:ph sz="half" idx="1"/>
          </p:nvPr>
        </p:nvSpPr>
        <p:spPr>
          <a:xfrm>
            <a:off x="838200" y="1825625"/>
            <a:ext cx="6344478" cy="4351338"/>
          </a:xfrm>
        </p:spPr>
        <p:txBody>
          <a:bodyPr vert="horz" lIns="91440" tIns="45720" rIns="91440" bIns="45720" rtlCol="0" anchor="t">
            <a:noAutofit/>
          </a:bodyPr>
          <a:lstStyle/>
          <a:p>
            <a:pPr marL="0" indent="0">
              <a:buNone/>
            </a:pPr>
            <a:r>
              <a:rPr lang="en-US" b="1" dirty="0">
                <a:latin typeface="Bahnschrift SemiLight"/>
              </a:rPr>
              <a:t>Carbon</a:t>
            </a:r>
          </a:p>
          <a:p>
            <a:r>
              <a:rPr lang="hr-HR" dirty="0">
                <a:latin typeface="Bahnschrift SemiLight"/>
              </a:rPr>
              <a:t>Pravila korištenja, dizajna, koda i pristupačnosti</a:t>
            </a:r>
            <a:endParaRPr lang="en-US" dirty="0"/>
          </a:p>
          <a:p>
            <a:r>
              <a:rPr lang="en-US" sz="1800" dirty="0">
                <a:latin typeface="Bahnschrift SemiLight"/>
              </a:rPr>
              <a:t>D</a:t>
            </a:r>
            <a:r>
              <a:rPr lang="hr-HR" sz="1800" dirty="0" err="1">
                <a:latin typeface="Bahnschrift SemiLight"/>
              </a:rPr>
              <a:t>izajniranje</a:t>
            </a:r>
            <a:r>
              <a:rPr lang="en-US" sz="1800" dirty="0">
                <a:latin typeface="Bahnschrift SemiLight"/>
              </a:rPr>
              <a:t> </a:t>
            </a:r>
            <a:endParaRPr lang="en-US" sz="1800" dirty="0"/>
          </a:p>
          <a:p>
            <a:r>
              <a:rPr lang="hr-HR" sz="1800" dirty="0">
                <a:latin typeface="Bahnschrift SemiLight"/>
              </a:rPr>
              <a:t>Razvoj</a:t>
            </a:r>
            <a:r>
              <a:rPr lang="en-US" sz="1800" dirty="0">
                <a:latin typeface="Bahnschrift SemiLight"/>
              </a:rPr>
              <a:t> </a:t>
            </a:r>
            <a:endParaRPr lang="en-US" sz="1800" dirty="0"/>
          </a:p>
          <a:p>
            <a:r>
              <a:rPr lang="hr-HR" sz="1800" dirty="0">
                <a:latin typeface="Bahnschrift SemiLight"/>
              </a:rPr>
              <a:t>Doprinos</a:t>
            </a:r>
            <a:r>
              <a:rPr lang="en-US" sz="1800" dirty="0">
                <a:latin typeface="Bahnschrift SemiLight"/>
              </a:rPr>
              <a:t> </a:t>
            </a:r>
            <a:endParaRPr lang="en-US" sz="1800" dirty="0"/>
          </a:p>
          <a:p>
            <a:r>
              <a:rPr lang="en-US" sz="1800" dirty="0">
                <a:latin typeface="Bahnschrift SemiLight"/>
              </a:rPr>
              <a:t>Migra</a:t>
            </a:r>
            <a:r>
              <a:rPr lang="hr-HR" sz="1800" dirty="0" err="1">
                <a:latin typeface="Bahnschrift SemiLight"/>
              </a:rPr>
              <a:t>cija</a:t>
            </a:r>
            <a:r>
              <a:rPr lang="en-US" sz="1800" dirty="0">
                <a:latin typeface="Bahnschrift SemiLight"/>
              </a:rPr>
              <a:t> </a:t>
            </a:r>
            <a:endParaRPr lang="en-US" sz="1800" dirty="0"/>
          </a:p>
          <a:p>
            <a:r>
              <a:rPr lang="hr-HR" sz="1800" dirty="0">
                <a:latin typeface="Bahnschrift SemiLight"/>
              </a:rPr>
              <a:t>Smjernice</a:t>
            </a:r>
            <a:r>
              <a:rPr lang="en-US" sz="1800" dirty="0">
                <a:latin typeface="Bahnschrift SemiLight"/>
              </a:rPr>
              <a:t> </a:t>
            </a:r>
            <a:endParaRPr lang="en-US" sz="1800" dirty="0"/>
          </a:p>
          <a:p>
            <a:r>
              <a:rPr lang="hr-HR" sz="1800" dirty="0">
                <a:latin typeface="Bahnschrift SemiLight"/>
              </a:rPr>
              <a:t>Komponente</a:t>
            </a:r>
            <a:r>
              <a:rPr lang="en-US" sz="1800" dirty="0">
                <a:latin typeface="Bahnschrift SemiLight"/>
              </a:rPr>
              <a:t> </a:t>
            </a:r>
            <a:endParaRPr lang="en-US" sz="1800" dirty="0"/>
          </a:p>
          <a:p>
            <a:r>
              <a:rPr lang="hr-HR" sz="1800" dirty="0">
                <a:latin typeface="Bahnschrift SemiLight"/>
              </a:rPr>
              <a:t>Uzorci</a:t>
            </a:r>
            <a:r>
              <a:rPr lang="en-US" sz="1800" dirty="0">
                <a:latin typeface="Bahnschrift SemiLight"/>
              </a:rPr>
              <a:t> </a:t>
            </a:r>
            <a:endParaRPr lang="en-US" sz="1800" dirty="0"/>
          </a:p>
          <a:p>
            <a:r>
              <a:rPr lang="hr-HR" sz="1800" dirty="0">
                <a:latin typeface="Bahnschrift SemiLight"/>
              </a:rPr>
              <a:t>Resursi zajednice</a:t>
            </a:r>
            <a:r>
              <a:rPr lang="en-US" sz="1800" dirty="0">
                <a:latin typeface="Bahnschrift SemiLight"/>
              </a:rPr>
              <a:t> </a:t>
            </a:r>
            <a:endParaRPr lang="en-US" sz="1800" dirty="0"/>
          </a:p>
          <a:p>
            <a:r>
              <a:rPr lang="hr-HR" sz="1800" dirty="0">
                <a:latin typeface="Bahnschrift SemiLight"/>
              </a:rPr>
              <a:t>Vizualizacija podataka</a:t>
            </a:r>
            <a:r>
              <a:rPr lang="en-US" sz="1800" dirty="0">
                <a:latin typeface="Bahnschrift SemiLight"/>
              </a:rPr>
              <a:t> </a:t>
            </a:r>
          </a:p>
          <a:p>
            <a:endParaRPr lang="en-US" sz="1800" dirty="0"/>
          </a:p>
        </p:txBody>
      </p:sp>
      <p:pic>
        <p:nvPicPr>
          <p:cNvPr id="6" name="image 14" descr="preencoded.png">
            <a:extLst>
              <a:ext uri="{FF2B5EF4-FFF2-40B4-BE49-F238E27FC236}">
                <a16:creationId xmlns:a16="http://schemas.microsoft.com/office/drawing/2014/main" id="{939C030E-AE3F-85A0-2CC0-526FF6D0DC02}"/>
              </a:ext>
            </a:extLst>
          </p:cNvPr>
          <p:cNvPicPr>
            <a:picLocks noChangeAspect="1"/>
          </p:cNvPicPr>
          <p:nvPr/>
        </p:nvPicPr>
        <p:blipFill>
          <a:blip r:embed="rId2"/>
          <a:srcRect/>
          <a:stretch/>
        </p:blipFill>
        <p:spPr>
          <a:xfrm>
            <a:off x="4890052" y="3059113"/>
            <a:ext cx="6673850" cy="3117850"/>
          </a:xfrm>
          <a:prstGeom prst="rect">
            <a:avLst/>
          </a:prstGeom>
        </p:spPr>
      </p:pic>
      <p:sp>
        <p:nvSpPr>
          <p:cNvPr id="5" name="TextBox 4">
            <a:extLst>
              <a:ext uri="{FF2B5EF4-FFF2-40B4-BE49-F238E27FC236}">
                <a16:creationId xmlns:a16="http://schemas.microsoft.com/office/drawing/2014/main" id="{3819480F-02C5-A6E5-F25B-56E946367942}"/>
              </a:ext>
            </a:extLst>
          </p:cNvPr>
          <p:cNvSpPr txBox="1"/>
          <p:nvPr/>
        </p:nvSpPr>
        <p:spPr>
          <a:xfrm>
            <a:off x="9144000" y="6215876"/>
            <a:ext cx="6096000" cy="276999"/>
          </a:xfrm>
          <a:prstGeom prst="rect">
            <a:avLst/>
          </a:prstGeom>
          <a:noFill/>
        </p:spPr>
        <p:txBody>
          <a:bodyPr wrap="square">
            <a:spAutoFit/>
          </a:bodyPr>
          <a:lstStyle/>
          <a:p>
            <a:r>
              <a:rPr lang="en-US" sz="1200" dirty="0">
                <a:latin typeface="Bahnschrift SemiLight"/>
              </a:rPr>
              <a:t>Source: </a:t>
            </a:r>
            <a:r>
              <a:rPr lang="en-US" sz="1200" dirty="0">
                <a:latin typeface="Bahnschrift SemiLight"/>
                <a:hlinkClick r:id="rId3"/>
              </a:rPr>
              <a:t>https://www.figma.com/@ibmorg</a:t>
            </a:r>
            <a:r>
              <a:rPr lang="en-US" sz="1200" dirty="0">
                <a:latin typeface="Bahnschrift SemiLight"/>
              </a:rPr>
              <a:t> </a:t>
            </a:r>
            <a:endParaRPr lang="en-US" sz="1200" dirty="0"/>
          </a:p>
        </p:txBody>
      </p:sp>
    </p:spTree>
    <p:extLst>
      <p:ext uri="{BB962C8B-B14F-4D97-AF65-F5344CB8AC3E}">
        <p14:creationId xmlns:p14="http://schemas.microsoft.com/office/powerpoint/2010/main" val="28926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82F4-2370-98EF-DEEE-DCBF62229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041D0-AB62-A555-75FC-12DF6E0EE817}"/>
              </a:ext>
            </a:extLst>
          </p:cNvPr>
          <p:cNvSpPr>
            <a:spLocks noGrp="1"/>
          </p:cNvSpPr>
          <p:nvPr>
            <p:ph type="title"/>
          </p:nvPr>
        </p:nvSpPr>
        <p:spPr/>
        <p:txBody>
          <a:bodyPr/>
          <a:lstStyle/>
          <a:p>
            <a:r>
              <a:rPr lang="hr-HR" dirty="0">
                <a:latin typeface="Bahnschrift SemiBold"/>
              </a:rPr>
              <a:t>Primjeri</a:t>
            </a:r>
            <a:endParaRPr lang="en-US" dirty="0"/>
          </a:p>
        </p:txBody>
      </p:sp>
      <p:sp>
        <p:nvSpPr>
          <p:cNvPr id="3" name="Content Placeholder 2">
            <a:extLst>
              <a:ext uri="{FF2B5EF4-FFF2-40B4-BE49-F238E27FC236}">
                <a16:creationId xmlns:a16="http://schemas.microsoft.com/office/drawing/2014/main" id="{FBF2CCA6-99A5-9D97-F6DD-005197BB0EAD}"/>
              </a:ext>
            </a:extLst>
          </p:cNvPr>
          <p:cNvSpPr>
            <a:spLocks noGrp="1"/>
          </p:cNvSpPr>
          <p:nvPr>
            <p:ph sz="half" idx="1"/>
          </p:nvPr>
        </p:nvSpPr>
        <p:spPr/>
        <p:txBody>
          <a:bodyPr vert="horz" lIns="91440" tIns="45720" rIns="91440" bIns="45720" rtlCol="0" anchor="t">
            <a:normAutofit/>
          </a:bodyPr>
          <a:lstStyle/>
          <a:p>
            <a:pPr marL="0" indent="0">
              <a:buNone/>
            </a:pPr>
            <a:r>
              <a:rPr lang="en-US" b="1" dirty="0">
                <a:latin typeface="Bahnschrift SemiLight"/>
              </a:rPr>
              <a:t>Polaris (Shopify) </a:t>
            </a:r>
          </a:p>
          <a:p>
            <a:endParaRPr lang="en-US" b="1" dirty="0">
              <a:latin typeface="Bahnschrift SemiLight"/>
            </a:endParaRPr>
          </a:p>
          <a:p>
            <a:r>
              <a:rPr lang="en-US" dirty="0">
                <a:latin typeface="Bahnschrift SemiLight"/>
                <a:hlinkClick r:id="rId2"/>
              </a:rPr>
              <a:t>https://polaris.shopify.com/</a:t>
            </a:r>
            <a:r>
              <a:rPr lang="en-US" dirty="0">
                <a:latin typeface="Bahnschrift SemiLight"/>
              </a:rPr>
              <a:t> </a:t>
            </a:r>
            <a:endParaRPr lang="en-US" dirty="0"/>
          </a:p>
        </p:txBody>
      </p:sp>
      <p:pic>
        <p:nvPicPr>
          <p:cNvPr id="5" name="image 15" descr="preencoded.png">
            <a:extLst>
              <a:ext uri="{FF2B5EF4-FFF2-40B4-BE49-F238E27FC236}">
                <a16:creationId xmlns:a16="http://schemas.microsoft.com/office/drawing/2014/main" id="{406B4B3B-4DB0-ABBC-38FB-0205F69A9EFF}"/>
              </a:ext>
            </a:extLst>
          </p:cNvPr>
          <p:cNvPicPr>
            <a:picLocks noChangeAspect="1"/>
          </p:cNvPicPr>
          <p:nvPr/>
        </p:nvPicPr>
        <p:blipFill>
          <a:blip r:embed="rId3"/>
          <a:srcRect/>
          <a:stretch/>
        </p:blipFill>
        <p:spPr>
          <a:xfrm>
            <a:off x="4954905" y="3721100"/>
            <a:ext cx="6731000" cy="2590800"/>
          </a:xfrm>
          <a:prstGeom prst="rect">
            <a:avLst/>
          </a:prstGeom>
        </p:spPr>
      </p:pic>
      <p:sp>
        <p:nvSpPr>
          <p:cNvPr id="8" name="TextBox 7">
            <a:extLst>
              <a:ext uri="{FF2B5EF4-FFF2-40B4-BE49-F238E27FC236}">
                <a16:creationId xmlns:a16="http://schemas.microsoft.com/office/drawing/2014/main" id="{B7F05F14-7BE7-98C0-1234-2EFCF435101D}"/>
              </a:ext>
            </a:extLst>
          </p:cNvPr>
          <p:cNvSpPr txBox="1"/>
          <p:nvPr/>
        </p:nvSpPr>
        <p:spPr>
          <a:xfrm>
            <a:off x="9350892" y="6354375"/>
            <a:ext cx="6093372" cy="276999"/>
          </a:xfrm>
          <a:prstGeom prst="rect">
            <a:avLst/>
          </a:prstGeom>
          <a:noFill/>
        </p:spPr>
        <p:txBody>
          <a:bodyPr wrap="square">
            <a:spAutoFit/>
          </a:bodyPr>
          <a:lstStyle/>
          <a:p>
            <a:r>
              <a:rPr lang="en-US" sz="1200" dirty="0">
                <a:latin typeface="Bahnschrift SemiLight"/>
              </a:rPr>
              <a:t>Source:</a:t>
            </a:r>
            <a:r>
              <a:rPr lang="en-US" sz="1200" dirty="0">
                <a:latin typeface="Bahnschrift SemiLight"/>
                <a:hlinkClick r:id="rId2"/>
              </a:rPr>
              <a:t> https://polaris.shopify.com/</a:t>
            </a:r>
            <a:r>
              <a:rPr lang="en-US" sz="1200" dirty="0">
                <a:latin typeface="Bahnschrift SemiLight"/>
              </a:rPr>
              <a:t> </a:t>
            </a:r>
            <a:endParaRPr lang="en-US" sz="1200" dirty="0"/>
          </a:p>
        </p:txBody>
      </p:sp>
    </p:spTree>
    <p:extLst>
      <p:ext uri="{BB962C8B-B14F-4D97-AF65-F5344CB8AC3E}">
        <p14:creationId xmlns:p14="http://schemas.microsoft.com/office/powerpoint/2010/main" val="204916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6614-F874-B036-FC23-B31D0FF666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C0748D-1B25-ABCE-696C-88A550E76640}"/>
              </a:ext>
            </a:extLst>
          </p:cNvPr>
          <p:cNvSpPr>
            <a:spLocks noGrp="1"/>
          </p:cNvSpPr>
          <p:nvPr>
            <p:ph type="title"/>
          </p:nvPr>
        </p:nvSpPr>
        <p:spPr/>
        <p:txBody>
          <a:bodyPr>
            <a:normAutofit/>
          </a:bodyPr>
          <a:lstStyle/>
          <a:p>
            <a:r>
              <a:rPr lang="hr-HR" dirty="0"/>
              <a:t>Neki principi sustava dizajna</a:t>
            </a:r>
            <a:endParaRPr lang="fr-FR" dirty="0"/>
          </a:p>
        </p:txBody>
      </p:sp>
      <p:sp>
        <p:nvSpPr>
          <p:cNvPr id="3" name="Espace réservé du contenu 2">
            <a:extLst>
              <a:ext uri="{FF2B5EF4-FFF2-40B4-BE49-F238E27FC236}">
                <a16:creationId xmlns:a16="http://schemas.microsoft.com/office/drawing/2014/main" id="{EF575EF7-BDE3-FD31-05CC-076D39FCDC18}"/>
              </a:ext>
            </a:extLst>
          </p:cNvPr>
          <p:cNvSpPr>
            <a:spLocks noGrp="1"/>
          </p:cNvSpPr>
          <p:nvPr>
            <p:ph idx="1"/>
          </p:nvPr>
        </p:nvSpPr>
        <p:spPr/>
        <p:txBody>
          <a:bodyPr vert="horz" lIns="91440" tIns="45720" rIns="91440" bIns="45720" rtlCol="0" anchor="t">
            <a:normAutofit/>
          </a:bodyPr>
          <a:lstStyle/>
          <a:p>
            <a:r>
              <a:rPr lang="hr-HR" dirty="0"/>
              <a:t>Sustav dizajna nikada nije završen — gradi se i razvija zajedno s proizvodom. Da bi bio uspješan, potrebno je krenuti od malih, jasno definiranih koraka.</a:t>
            </a:r>
          </a:p>
          <a:p>
            <a:r>
              <a:rPr lang="hr-HR" dirty="0"/>
              <a:t>Sustav dizajna nije namijenjen samo dizajnerima; on je punopravni proizvod koji zahtijeva tim, odgovorne osobe, jasnu viziju i definirana pravila.</a:t>
            </a:r>
          </a:p>
          <a:p>
            <a:r>
              <a:rPr lang="hr-HR" dirty="0"/>
              <a:t>Suradnja svih uključenih ključni je faktor koji određuje kvalitetu i uspješnost sustava dizajna.</a:t>
            </a:r>
          </a:p>
        </p:txBody>
      </p:sp>
    </p:spTree>
    <p:extLst>
      <p:ext uri="{BB962C8B-B14F-4D97-AF65-F5344CB8AC3E}">
        <p14:creationId xmlns:p14="http://schemas.microsoft.com/office/powerpoint/2010/main" val="2438927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Ellipse 58">
            <a:extLst>
              <a:ext uri="{FF2B5EF4-FFF2-40B4-BE49-F238E27FC236}">
                <a16:creationId xmlns:a16="http://schemas.microsoft.com/office/drawing/2014/main" id="{5E74FF4B-5EB4-05E4-0C07-9BC962CF70C9}"/>
              </a:ext>
            </a:extLst>
          </p:cNvPr>
          <p:cNvSpPr/>
          <p:nvPr/>
        </p:nvSpPr>
        <p:spPr>
          <a:xfrm>
            <a:off x="490499" y="1613966"/>
            <a:ext cx="5023587" cy="5064518"/>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llipse 57">
            <a:extLst>
              <a:ext uri="{FF2B5EF4-FFF2-40B4-BE49-F238E27FC236}">
                <a16:creationId xmlns:a16="http://schemas.microsoft.com/office/drawing/2014/main" id="{37FFDA7E-A4EA-EAB0-8F3C-A0982EEA2238}"/>
              </a:ext>
            </a:extLst>
          </p:cNvPr>
          <p:cNvSpPr/>
          <p:nvPr/>
        </p:nvSpPr>
        <p:spPr>
          <a:xfrm>
            <a:off x="1067290" y="1608675"/>
            <a:ext cx="3875296" cy="3852727"/>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llipse 56">
            <a:extLst>
              <a:ext uri="{FF2B5EF4-FFF2-40B4-BE49-F238E27FC236}">
                <a16:creationId xmlns:a16="http://schemas.microsoft.com/office/drawing/2014/main" id="{B80431B9-013C-9C38-5139-EF1278212199}"/>
              </a:ext>
            </a:extLst>
          </p:cNvPr>
          <p:cNvSpPr/>
          <p:nvPr/>
        </p:nvSpPr>
        <p:spPr>
          <a:xfrm>
            <a:off x="1681123" y="1608676"/>
            <a:ext cx="2721712" cy="269385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Ellipse 55">
            <a:extLst>
              <a:ext uri="{FF2B5EF4-FFF2-40B4-BE49-F238E27FC236}">
                <a16:creationId xmlns:a16="http://schemas.microsoft.com/office/drawing/2014/main" id="{C4217E53-EF89-5F68-D231-2947E581BE7F}"/>
              </a:ext>
            </a:extLst>
          </p:cNvPr>
          <p:cNvSpPr/>
          <p:nvPr/>
        </p:nvSpPr>
        <p:spPr>
          <a:xfrm>
            <a:off x="2538373" y="1804468"/>
            <a:ext cx="1107753" cy="113810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C743C20-2B2F-6D8D-9037-8D87E67E51C5}"/>
              </a:ext>
            </a:extLst>
          </p:cNvPr>
          <p:cNvSpPr>
            <a:spLocks noGrp="1"/>
          </p:cNvSpPr>
          <p:nvPr>
            <p:ph type="title"/>
          </p:nvPr>
        </p:nvSpPr>
        <p:spPr/>
        <p:txBody>
          <a:bodyPr>
            <a:normAutofit/>
          </a:bodyPr>
          <a:lstStyle/>
          <a:p>
            <a:r>
              <a:rPr lang="hr-HR" dirty="0">
                <a:latin typeface="Bahnschrift SemiBold"/>
              </a:rPr>
              <a:t>Uloge i odgovornosti</a:t>
            </a:r>
            <a:endParaRPr lang="fr-FR" dirty="0"/>
          </a:p>
        </p:txBody>
      </p:sp>
      <p:sp>
        <p:nvSpPr>
          <p:cNvPr id="31" name="Google Shape;268;p40">
            <a:extLst>
              <a:ext uri="{FF2B5EF4-FFF2-40B4-BE49-F238E27FC236}">
                <a16:creationId xmlns:a16="http://schemas.microsoft.com/office/drawing/2014/main" id="{C328AEA3-0749-75CB-5C41-4D6E52E8B186}"/>
              </a:ext>
            </a:extLst>
          </p:cNvPr>
          <p:cNvSpPr/>
          <p:nvPr/>
        </p:nvSpPr>
        <p:spPr>
          <a:xfrm>
            <a:off x="787889" y="1099552"/>
            <a:ext cx="4593200" cy="4593200"/>
          </a:xfrm>
          <a:prstGeom prst="ellipse">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lnSpc>
                <a:spcPct val="80000"/>
              </a:lnSpc>
              <a:spcBef>
                <a:spcPts val="0"/>
              </a:spcBef>
              <a:spcAft>
                <a:spcPts val="0"/>
              </a:spcAft>
              <a:buNone/>
            </a:pPr>
            <a:r>
              <a:rPr lang="hr-HR" sz="1467" b="1" dirty="0">
                <a:solidFill>
                  <a:schemeClr val="dk1"/>
                </a:solidFill>
                <a:latin typeface="Helvetica Neue"/>
                <a:ea typeface="Helvetica Neue"/>
                <a:cs typeface="Helvetica Neue"/>
                <a:sym typeface="Helvetica Neue"/>
              </a:rPr>
              <a:t>Dionici</a:t>
            </a:r>
            <a:endParaRPr sz="1200" i="1" dirty="0">
              <a:solidFill>
                <a:schemeClr val="dk1"/>
              </a:solidFill>
              <a:latin typeface="Helvetica Neue"/>
              <a:ea typeface="Helvetica Neue"/>
              <a:cs typeface="Helvetica Neue"/>
              <a:sym typeface="Helvetica Neue"/>
            </a:endParaRPr>
          </a:p>
        </p:txBody>
      </p:sp>
      <p:sp>
        <p:nvSpPr>
          <p:cNvPr id="33" name="Google Shape;269;p40">
            <a:extLst>
              <a:ext uri="{FF2B5EF4-FFF2-40B4-BE49-F238E27FC236}">
                <a16:creationId xmlns:a16="http://schemas.microsoft.com/office/drawing/2014/main" id="{A9760045-249D-43BC-1415-509305F1FF95}"/>
              </a:ext>
            </a:extLst>
          </p:cNvPr>
          <p:cNvSpPr/>
          <p:nvPr/>
        </p:nvSpPr>
        <p:spPr>
          <a:xfrm>
            <a:off x="1552056" y="1341085"/>
            <a:ext cx="3055600" cy="3055600"/>
          </a:xfrm>
          <a:prstGeom prst="ellipse">
            <a:avLst/>
          </a:prstGeom>
          <a:noFill/>
          <a:ln>
            <a:noFill/>
          </a:ln>
        </p:spPr>
        <p:txBody>
          <a:bodyPr spcFirstLastPara="1" wrap="square" lIns="121900" tIns="1706867"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lnSpc>
                <a:spcPct val="80000"/>
              </a:lnSpc>
              <a:spcBef>
                <a:spcPts val="0"/>
              </a:spcBef>
              <a:spcAft>
                <a:spcPts val="0"/>
              </a:spcAft>
              <a:buNone/>
            </a:pPr>
            <a:r>
              <a:rPr lang="en" sz="1467" b="1" dirty="0">
                <a:solidFill>
                  <a:schemeClr val="dk1"/>
                </a:solidFill>
                <a:latin typeface="Helvetica Neue"/>
                <a:ea typeface="Helvetica Neue"/>
                <a:cs typeface="Helvetica Neue"/>
                <a:sym typeface="Helvetica Neue"/>
              </a:rPr>
              <a:t>Product </a:t>
            </a:r>
            <a:r>
              <a:rPr lang="hr-HR" sz="1467" b="1" dirty="0">
                <a:solidFill>
                  <a:schemeClr val="dk1"/>
                </a:solidFill>
                <a:latin typeface="Helvetica Neue"/>
                <a:ea typeface="Helvetica Neue"/>
                <a:cs typeface="Helvetica Neue"/>
                <a:sym typeface="Helvetica Neue"/>
              </a:rPr>
              <a:t>tim</a:t>
            </a:r>
            <a:endParaRPr sz="1467" b="1" dirty="0">
              <a:solidFill>
                <a:schemeClr val="dk1"/>
              </a:solidFill>
              <a:latin typeface="Helvetica Neue"/>
              <a:ea typeface="Helvetica Neue"/>
              <a:cs typeface="Helvetica Neue"/>
              <a:sym typeface="Helvetica Neue"/>
            </a:endParaRPr>
          </a:p>
          <a:p>
            <a:pPr marL="0" lvl="0" indent="0" algn="ctr" rtl="0">
              <a:lnSpc>
                <a:spcPct val="100000"/>
              </a:lnSpc>
              <a:spcBef>
                <a:spcPts val="0"/>
              </a:spcBef>
              <a:spcAft>
                <a:spcPts val="0"/>
              </a:spcAft>
              <a:buNone/>
            </a:pPr>
            <a:r>
              <a:rPr lang="en" sz="1200" i="1" dirty="0">
                <a:solidFill>
                  <a:schemeClr val="dk1"/>
                </a:solidFill>
                <a:latin typeface="Helvetica Neue"/>
                <a:ea typeface="Helvetica Neue"/>
                <a:cs typeface="Helvetica Neue"/>
                <a:sym typeface="Helvetica Neue"/>
              </a:rPr>
              <a:t>(UX, UI </a:t>
            </a:r>
            <a:r>
              <a:rPr lang="hr-HR" sz="1200" i="1" dirty="0">
                <a:solidFill>
                  <a:schemeClr val="dk1"/>
                </a:solidFill>
                <a:latin typeface="Helvetica Neue"/>
                <a:ea typeface="Helvetica Neue"/>
                <a:cs typeface="Helvetica Neue"/>
                <a:sym typeface="Helvetica Neue"/>
              </a:rPr>
              <a:t>i</a:t>
            </a:r>
            <a:r>
              <a:rPr lang="en" sz="1200" i="1" dirty="0">
                <a:solidFill>
                  <a:schemeClr val="dk1"/>
                </a:solidFill>
                <a:latin typeface="Helvetica Neue"/>
                <a:ea typeface="Helvetica Neue"/>
                <a:cs typeface="Helvetica Neue"/>
                <a:sym typeface="Helvetica Neue"/>
              </a:rPr>
              <a:t> Dev)</a:t>
            </a:r>
            <a:endParaRPr sz="1200" i="1" dirty="0">
              <a:solidFill>
                <a:schemeClr val="dk1"/>
              </a:solidFill>
              <a:latin typeface="Helvetica Neue"/>
              <a:ea typeface="Helvetica Neue"/>
              <a:cs typeface="Helvetica Neue"/>
              <a:sym typeface="Helvetica Neue"/>
            </a:endParaRPr>
          </a:p>
        </p:txBody>
      </p:sp>
      <p:sp>
        <p:nvSpPr>
          <p:cNvPr id="35" name="Google Shape;272;p40">
            <a:extLst>
              <a:ext uri="{FF2B5EF4-FFF2-40B4-BE49-F238E27FC236}">
                <a16:creationId xmlns:a16="http://schemas.microsoft.com/office/drawing/2014/main" id="{D57E6942-0CC2-9EF1-1EDD-0B25ACDC7579}"/>
              </a:ext>
            </a:extLst>
          </p:cNvPr>
          <p:cNvSpPr/>
          <p:nvPr/>
        </p:nvSpPr>
        <p:spPr>
          <a:xfrm>
            <a:off x="2304289" y="1609052"/>
            <a:ext cx="1570400" cy="1570400"/>
          </a:xfrm>
          <a:prstGeom prst="ellipse">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lnSpc>
                <a:spcPct val="80000"/>
              </a:lnSpc>
              <a:spcBef>
                <a:spcPts val="0"/>
              </a:spcBef>
              <a:spcAft>
                <a:spcPts val="0"/>
              </a:spcAft>
              <a:buNone/>
            </a:pPr>
            <a:r>
              <a:rPr lang="hr-HR" sz="1467" b="1" dirty="0">
                <a:solidFill>
                  <a:schemeClr val="dk1"/>
                </a:solidFill>
                <a:latin typeface="Helvetica Neue"/>
                <a:ea typeface="Helvetica Neue"/>
                <a:cs typeface="Helvetica Neue"/>
                <a:sym typeface="Helvetica Neue"/>
              </a:rPr>
              <a:t>Osnovni (</a:t>
            </a:r>
            <a:r>
              <a:rPr lang="hr-HR" sz="1467" b="1" dirty="0" err="1">
                <a:solidFill>
                  <a:schemeClr val="dk1"/>
                </a:solidFill>
                <a:latin typeface="Helvetica Neue"/>
                <a:ea typeface="Helvetica Neue"/>
                <a:cs typeface="Helvetica Neue"/>
                <a:sym typeface="Helvetica Neue"/>
              </a:rPr>
              <a:t>core</a:t>
            </a:r>
            <a:r>
              <a:rPr lang="hr-HR" sz="1467" b="1" dirty="0">
                <a:solidFill>
                  <a:schemeClr val="dk1"/>
                </a:solidFill>
                <a:latin typeface="Helvetica Neue"/>
                <a:ea typeface="Helvetica Neue"/>
                <a:cs typeface="Helvetica Neue"/>
                <a:sym typeface="Helvetica Neue"/>
              </a:rPr>
              <a:t>) tim</a:t>
            </a:r>
            <a:endParaRPr sz="1733" dirty="0"/>
          </a:p>
        </p:txBody>
      </p:sp>
      <p:sp>
        <p:nvSpPr>
          <p:cNvPr id="37" name="Google Shape;273;p40">
            <a:extLst>
              <a:ext uri="{FF2B5EF4-FFF2-40B4-BE49-F238E27FC236}">
                <a16:creationId xmlns:a16="http://schemas.microsoft.com/office/drawing/2014/main" id="{7D6FDAB0-5795-7C59-F461-27C5910BE426}"/>
              </a:ext>
            </a:extLst>
          </p:cNvPr>
          <p:cNvSpPr txBox="1"/>
          <p:nvPr/>
        </p:nvSpPr>
        <p:spPr>
          <a:xfrm>
            <a:off x="1822256" y="5935852"/>
            <a:ext cx="2515200" cy="25962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hr-HR" sz="1467" b="1" dirty="0">
                <a:solidFill>
                  <a:schemeClr val="dk1"/>
                </a:solidFill>
                <a:latin typeface="Helvetica Neue"/>
                <a:ea typeface="Helvetica Neue"/>
                <a:cs typeface="Helvetica Neue"/>
                <a:sym typeface="Helvetica Neue"/>
              </a:rPr>
              <a:t>Kupci i krajnji korisnici</a:t>
            </a:r>
            <a:endParaRPr sz="1733" dirty="0">
              <a:latin typeface="Roboto"/>
              <a:ea typeface="Roboto"/>
              <a:cs typeface="Roboto"/>
              <a:sym typeface="Roboto"/>
            </a:endParaRPr>
          </a:p>
        </p:txBody>
      </p:sp>
      <p:cxnSp>
        <p:nvCxnSpPr>
          <p:cNvPr id="39" name="Google Shape;274;p40">
            <a:extLst>
              <a:ext uri="{FF2B5EF4-FFF2-40B4-BE49-F238E27FC236}">
                <a16:creationId xmlns:a16="http://schemas.microsoft.com/office/drawing/2014/main" id="{9B802968-12D5-2962-07E9-B14984BF40DB}"/>
              </a:ext>
            </a:extLst>
          </p:cNvPr>
          <p:cNvCxnSpPr/>
          <p:nvPr/>
        </p:nvCxnSpPr>
        <p:spPr>
          <a:xfrm>
            <a:off x="3089489" y="1833319"/>
            <a:ext cx="3395600" cy="0"/>
          </a:xfrm>
          <a:prstGeom prst="straightConnector1">
            <a:avLst/>
          </a:prstGeom>
          <a:noFill/>
          <a:ln w="9525" cap="flat" cmpd="sng">
            <a:solidFill>
              <a:schemeClr val="dk2"/>
            </a:solidFill>
            <a:prstDash val="solid"/>
            <a:round/>
            <a:headEnd type="oval" w="med" len="med"/>
            <a:tailEnd type="none" w="med" len="med"/>
          </a:ln>
        </p:spPr>
      </p:cxnSp>
      <p:cxnSp>
        <p:nvCxnSpPr>
          <p:cNvPr id="41" name="Google Shape;275;p40">
            <a:extLst>
              <a:ext uri="{FF2B5EF4-FFF2-40B4-BE49-F238E27FC236}">
                <a16:creationId xmlns:a16="http://schemas.microsoft.com/office/drawing/2014/main" id="{9DAF18A3-5369-C8DB-6A64-4A2298B78225}"/>
              </a:ext>
            </a:extLst>
          </p:cNvPr>
          <p:cNvCxnSpPr/>
          <p:nvPr/>
        </p:nvCxnSpPr>
        <p:spPr>
          <a:xfrm>
            <a:off x="4246125" y="2665692"/>
            <a:ext cx="2239200" cy="0"/>
          </a:xfrm>
          <a:prstGeom prst="straightConnector1">
            <a:avLst/>
          </a:prstGeom>
          <a:noFill/>
          <a:ln w="9525" cap="flat" cmpd="sng">
            <a:solidFill>
              <a:schemeClr val="dk2"/>
            </a:solidFill>
            <a:prstDash val="solid"/>
            <a:round/>
            <a:headEnd type="oval" w="med" len="med"/>
            <a:tailEnd type="none" w="med" len="med"/>
          </a:ln>
        </p:spPr>
      </p:cxnSp>
      <p:cxnSp>
        <p:nvCxnSpPr>
          <p:cNvPr id="43" name="Google Shape;276;p40">
            <a:extLst>
              <a:ext uri="{FF2B5EF4-FFF2-40B4-BE49-F238E27FC236}">
                <a16:creationId xmlns:a16="http://schemas.microsoft.com/office/drawing/2014/main" id="{512F4C88-2B82-9DDA-8C15-3C98CA5E0C79}"/>
              </a:ext>
            </a:extLst>
          </p:cNvPr>
          <p:cNvCxnSpPr/>
          <p:nvPr/>
        </p:nvCxnSpPr>
        <p:spPr>
          <a:xfrm>
            <a:off x="4246125" y="4322792"/>
            <a:ext cx="2223600" cy="0"/>
          </a:xfrm>
          <a:prstGeom prst="straightConnector1">
            <a:avLst/>
          </a:prstGeom>
          <a:noFill/>
          <a:ln w="9525" cap="flat" cmpd="sng">
            <a:solidFill>
              <a:schemeClr val="dk2"/>
            </a:solidFill>
            <a:prstDash val="solid"/>
            <a:round/>
            <a:headEnd type="oval" w="med" len="med"/>
            <a:tailEnd type="none" w="med" len="med"/>
          </a:ln>
        </p:spPr>
      </p:cxnSp>
      <p:sp>
        <p:nvSpPr>
          <p:cNvPr id="47" name="Google Shape;278;p40">
            <a:extLst>
              <a:ext uri="{FF2B5EF4-FFF2-40B4-BE49-F238E27FC236}">
                <a16:creationId xmlns:a16="http://schemas.microsoft.com/office/drawing/2014/main" id="{ABB50A4D-66D6-032C-1FF7-C273DB5D3A82}"/>
              </a:ext>
            </a:extLst>
          </p:cNvPr>
          <p:cNvSpPr txBox="1"/>
          <p:nvPr/>
        </p:nvSpPr>
        <p:spPr>
          <a:xfrm>
            <a:off x="6644267" y="1614467"/>
            <a:ext cx="5202800" cy="861734"/>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297" lvl="0" indent="-152396" algn="l" rtl="0">
              <a:spcBef>
                <a:spcPts val="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Postavlja sustav i njegovu viziju</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Odobrava (</a:t>
            </a:r>
            <a:r>
              <a:rPr lang="hr-HR" sz="1000" dirty="0" err="1">
                <a:solidFill>
                  <a:schemeClr val="dk1"/>
                </a:solidFill>
                <a:latin typeface="Bahnschrift SemiLight" panose="020B0502040204020203" pitchFamily="34" charset="0"/>
                <a:ea typeface="Roboto"/>
                <a:cs typeface="Roboto"/>
                <a:sym typeface="Roboto"/>
              </a:rPr>
              <a:t>validira</a:t>
            </a:r>
            <a:r>
              <a:rPr lang="hr-HR" sz="1000" dirty="0">
                <a:solidFill>
                  <a:schemeClr val="dk1"/>
                </a:solidFill>
                <a:latin typeface="Bahnschrift SemiLight" panose="020B0502040204020203" pitchFamily="34" charset="0"/>
                <a:ea typeface="Roboto"/>
                <a:cs typeface="Roboto"/>
                <a:sym typeface="Roboto"/>
              </a:rPr>
              <a:t>) što ulazi u sustav i što se iz njega uklanja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40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Aktivno uključuje ostale u proces</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p:txBody>
      </p:sp>
      <p:sp>
        <p:nvSpPr>
          <p:cNvPr id="49" name="Google Shape;279;p40">
            <a:extLst>
              <a:ext uri="{FF2B5EF4-FFF2-40B4-BE49-F238E27FC236}">
                <a16:creationId xmlns:a16="http://schemas.microsoft.com/office/drawing/2014/main" id="{5A5104A4-C034-CDFD-4F01-930CE8B23D5E}"/>
              </a:ext>
            </a:extLst>
          </p:cNvPr>
          <p:cNvSpPr txBox="1"/>
          <p:nvPr/>
        </p:nvSpPr>
        <p:spPr>
          <a:xfrm>
            <a:off x="6644267" y="2454100"/>
            <a:ext cx="5202800" cy="1374695"/>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297" lvl="0" indent="-152396" algn="l" rtl="0">
              <a:spcBef>
                <a:spcPts val="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Oni su prvi korisnici sustava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Uz pomoć osnovnog tima svakodnevno centraliziraju svoje znanje, zajedničke resurse i alate</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Ako su ujedno i </a:t>
            </a:r>
            <a:r>
              <a:rPr lang="hr-HR" sz="1000" dirty="0" err="1">
                <a:solidFill>
                  <a:schemeClr val="dk1"/>
                </a:solidFill>
                <a:latin typeface="Bahnschrift SemiLight" panose="020B0502040204020203" pitchFamily="34" charset="0"/>
                <a:ea typeface="Roboto"/>
                <a:cs typeface="Roboto"/>
                <a:sym typeface="Roboto"/>
              </a:rPr>
              <a:t>doprinositelji</a:t>
            </a:r>
            <a:r>
              <a:rPr lang="hr-HR" sz="1000" dirty="0">
                <a:solidFill>
                  <a:schemeClr val="dk1"/>
                </a:solidFill>
                <a:latin typeface="Bahnschrift SemiLight" panose="020B0502040204020203" pitchFamily="34" charset="0"/>
                <a:ea typeface="Roboto"/>
                <a:cs typeface="Roboto"/>
                <a:sym typeface="Roboto"/>
              </a:rPr>
              <a:t> (</a:t>
            </a:r>
            <a:r>
              <a:rPr lang="hr-HR" sz="1000" dirty="0" err="1">
                <a:solidFill>
                  <a:schemeClr val="dk1"/>
                </a:solidFill>
                <a:latin typeface="Bahnschrift SemiLight" panose="020B0502040204020203" pitchFamily="34" charset="0"/>
                <a:ea typeface="Roboto"/>
                <a:cs typeface="Roboto"/>
                <a:sym typeface="Roboto"/>
              </a:rPr>
              <a:t>contributori</a:t>
            </a:r>
            <a:r>
              <a:rPr lang="hr-HR" sz="1000" dirty="0">
                <a:solidFill>
                  <a:schemeClr val="dk1"/>
                </a:solidFill>
                <a:latin typeface="Bahnschrift SemiLight" panose="020B0502040204020203" pitchFamily="34" charset="0"/>
                <a:ea typeface="Roboto"/>
                <a:cs typeface="Roboto"/>
                <a:sym typeface="Roboto"/>
              </a:rPr>
              <a:t>) moraju biti svjesni prioriteta svakog tima i imati dobar pregled cjeline</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40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Svi dijele zajedničku filozofiju, stavove i principe vezane uz sustav</a:t>
            </a:r>
            <a:r>
              <a:rPr lang="en" sz="1000" dirty="0">
                <a:solidFill>
                  <a:schemeClr val="dk1"/>
                </a:solidFill>
                <a:latin typeface="Roboto"/>
                <a:ea typeface="Roboto"/>
                <a:cs typeface="Roboto"/>
                <a:sym typeface="Roboto"/>
              </a:rPr>
              <a:t>.</a:t>
            </a:r>
            <a:endParaRPr sz="1000" dirty="0">
              <a:solidFill>
                <a:schemeClr val="dk1"/>
              </a:solidFill>
              <a:latin typeface="Roboto"/>
              <a:ea typeface="Roboto"/>
              <a:cs typeface="Roboto"/>
              <a:sym typeface="Roboto"/>
            </a:endParaRPr>
          </a:p>
        </p:txBody>
      </p:sp>
      <p:sp>
        <p:nvSpPr>
          <p:cNvPr id="51" name="Google Shape;280;p40">
            <a:extLst>
              <a:ext uri="{FF2B5EF4-FFF2-40B4-BE49-F238E27FC236}">
                <a16:creationId xmlns:a16="http://schemas.microsoft.com/office/drawing/2014/main" id="{3A4973AA-A670-8BF8-188C-CBEFBA287224}"/>
              </a:ext>
            </a:extLst>
          </p:cNvPr>
          <p:cNvSpPr txBox="1"/>
          <p:nvPr/>
        </p:nvSpPr>
        <p:spPr>
          <a:xfrm>
            <a:off x="6644267" y="4099892"/>
            <a:ext cx="5202800" cy="861734"/>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297" lvl="0" indent="-152396" algn="l" rtl="0">
              <a:spcBef>
                <a:spcPts val="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Prate i educiraju sve o ciljevima i napretku vezanom uz sustav dizajna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Donose nove perspektive i različita stajališta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40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Podržavaju različite ideje i inicijative</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p:txBody>
      </p:sp>
      <p:cxnSp>
        <p:nvCxnSpPr>
          <p:cNvPr id="53" name="Google Shape;281;p40">
            <a:extLst>
              <a:ext uri="{FF2B5EF4-FFF2-40B4-BE49-F238E27FC236}">
                <a16:creationId xmlns:a16="http://schemas.microsoft.com/office/drawing/2014/main" id="{1E0E9F3D-D2E1-DE4B-43CC-C272D41AB41E}"/>
              </a:ext>
            </a:extLst>
          </p:cNvPr>
          <p:cNvCxnSpPr/>
          <p:nvPr/>
        </p:nvCxnSpPr>
        <p:spPr>
          <a:xfrm>
            <a:off x="4230792" y="6048659"/>
            <a:ext cx="2239200" cy="0"/>
          </a:xfrm>
          <a:prstGeom prst="straightConnector1">
            <a:avLst/>
          </a:prstGeom>
          <a:noFill/>
          <a:ln w="9525" cap="flat" cmpd="sng">
            <a:solidFill>
              <a:schemeClr val="dk2"/>
            </a:solidFill>
            <a:prstDash val="solid"/>
            <a:round/>
            <a:headEnd type="oval" w="med" len="med"/>
            <a:tailEnd type="none" w="med" len="med"/>
          </a:ln>
        </p:spPr>
      </p:cxnSp>
      <p:sp>
        <p:nvSpPr>
          <p:cNvPr id="55" name="Google Shape;282;p40">
            <a:extLst>
              <a:ext uri="{FF2B5EF4-FFF2-40B4-BE49-F238E27FC236}">
                <a16:creationId xmlns:a16="http://schemas.microsoft.com/office/drawing/2014/main" id="{BF9D1D06-C93A-E278-F5B6-26E507321906}"/>
              </a:ext>
            </a:extLst>
          </p:cNvPr>
          <p:cNvSpPr txBox="1"/>
          <p:nvPr/>
        </p:nvSpPr>
        <p:spPr>
          <a:xfrm>
            <a:off x="6644267" y="5419867"/>
            <a:ext cx="5202800" cy="861734"/>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297" lvl="0" indent="-152396" algn="l" rtl="0">
              <a:spcBef>
                <a:spcPts val="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Prate i informiraju sve o ciljevima i napretku vezanom uz sustav dizajna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Donose nove perspektive i različita gledišta</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a:p>
            <a:pPr marL="114297" lvl="0" indent="-152396" algn="l" rtl="0">
              <a:spcBef>
                <a:spcPts val="400"/>
              </a:spcBef>
              <a:spcAft>
                <a:spcPts val="400"/>
              </a:spcAft>
              <a:buClr>
                <a:schemeClr val="dk1"/>
              </a:buClr>
              <a:buSzPts val="900"/>
              <a:buFont typeface="Roboto"/>
              <a:buChar char="•"/>
            </a:pPr>
            <a:r>
              <a:rPr lang="hr-HR" sz="1000" dirty="0">
                <a:solidFill>
                  <a:schemeClr val="dk1"/>
                </a:solidFill>
                <a:latin typeface="Bahnschrift SemiLight" panose="020B0502040204020203" pitchFamily="34" charset="0"/>
                <a:ea typeface="Roboto"/>
                <a:cs typeface="Roboto"/>
                <a:sym typeface="Roboto"/>
              </a:rPr>
              <a:t>Podržavaju različite ideje i inicijative</a:t>
            </a:r>
            <a:r>
              <a:rPr lang="en" sz="1000" dirty="0">
                <a:solidFill>
                  <a:schemeClr val="dk1"/>
                </a:solidFill>
                <a:latin typeface="Bahnschrift SemiLight" panose="020B0502040204020203" pitchFamily="34" charset="0"/>
                <a:ea typeface="Roboto"/>
                <a:cs typeface="Roboto"/>
                <a:sym typeface="Roboto"/>
              </a:rPr>
              <a:t>.</a:t>
            </a:r>
            <a:endParaRPr sz="1000" dirty="0">
              <a:solidFill>
                <a:schemeClr val="dk1"/>
              </a:solidFill>
              <a:latin typeface="Bahnschrift SemiLight" panose="020B0502040204020203" pitchFamily="34" charset="0"/>
              <a:ea typeface="Roboto"/>
              <a:cs typeface="Roboto"/>
              <a:sym typeface="Roboto"/>
            </a:endParaRPr>
          </a:p>
        </p:txBody>
      </p:sp>
      <p:sp>
        <p:nvSpPr>
          <p:cNvPr id="4" name="TextBox 3">
            <a:extLst>
              <a:ext uri="{FF2B5EF4-FFF2-40B4-BE49-F238E27FC236}">
                <a16:creationId xmlns:a16="http://schemas.microsoft.com/office/drawing/2014/main" id="{67646661-60B8-158A-84A0-59985A4221DD}"/>
              </a:ext>
            </a:extLst>
          </p:cNvPr>
          <p:cNvSpPr txBox="1"/>
          <p:nvPr/>
        </p:nvSpPr>
        <p:spPr>
          <a:xfrm>
            <a:off x="141890" y="6195475"/>
            <a:ext cx="1680366" cy="514768"/>
          </a:xfrm>
          <a:prstGeom prst="rect">
            <a:avLst/>
          </a:prstGeom>
          <a:noFill/>
        </p:spPr>
        <p:txBody>
          <a:bodyPr wrap="square" rtlCol="0">
            <a:spAutoFit/>
          </a:bodyPr>
          <a:lstStyle/>
          <a:p>
            <a:endParaRPr lang="fr-BE" dirty="0"/>
          </a:p>
        </p:txBody>
      </p:sp>
      <p:sp>
        <p:nvSpPr>
          <p:cNvPr id="3" name="ZoneTexte 2">
            <a:extLst>
              <a:ext uri="{FF2B5EF4-FFF2-40B4-BE49-F238E27FC236}">
                <a16:creationId xmlns:a16="http://schemas.microsoft.com/office/drawing/2014/main" id="{669EADEE-2ED7-2BAC-12B4-B5B25D9E2ADD}"/>
              </a:ext>
            </a:extLst>
          </p:cNvPr>
          <p:cNvSpPr txBox="1"/>
          <p:nvPr/>
        </p:nvSpPr>
        <p:spPr>
          <a:xfrm>
            <a:off x="456227" y="6426898"/>
            <a:ext cx="2449792"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2604226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288;p41" descr="Une image contenant habits, chaussures, homme, dessin humoristique&#10;&#10;Le contenu généré par l’IA peut être incorrect.">
            <a:extLst>
              <a:ext uri="{FF2B5EF4-FFF2-40B4-BE49-F238E27FC236}">
                <a16:creationId xmlns:a16="http://schemas.microsoft.com/office/drawing/2014/main" id="{DF383A99-70BE-1ACD-8D93-DEDBF18FA6A9}"/>
              </a:ext>
            </a:extLst>
          </p:cNvPr>
          <p:cNvPicPr preferRelativeResize="0"/>
          <p:nvPr/>
        </p:nvPicPr>
        <p:blipFill>
          <a:blip r:embed="rId2">
            <a:alphaModFix/>
          </a:blip>
          <a:stretch>
            <a:fillRect/>
          </a:stretch>
        </p:blipFill>
        <p:spPr>
          <a:xfrm>
            <a:off x="7092276" y="1803569"/>
            <a:ext cx="4442267" cy="4442267"/>
          </a:xfrm>
          <a:prstGeom prst="rect">
            <a:avLst/>
          </a:prstGeom>
          <a:noFill/>
          <a:ln>
            <a:noFill/>
          </a:ln>
        </p:spPr>
      </p:pic>
      <p:sp>
        <p:nvSpPr>
          <p:cNvPr id="2" name="Titre 1">
            <a:extLst>
              <a:ext uri="{FF2B5EF4-FFF2-40B4-BE49-F238E27FC236}">
                <a16:creationId xmlns:a16="http://schemas.microsoft.com/office/drawing/2014/main" id="{DA05E68E-2F5C-654F-7510-C0E76BDD45C9}"/>
              </a:ext>
            </a:extLst>
          </p:cNvPr>
          <p:cNvSpPr>
            <a:spLocks noGrp="1"/>
          </p:cNvSpPr>
          <p:nvPr>
            <p:ph type="title"/>
          </p:nvPr>
        </p:nvSpPr>
        <p:spPr/>
        <p:txBody>
          <a:bodyPr/>
          <a:lstStyle/>
          <a:p>
            <a:r>
              <a:rPr lang="hr-HR" dirty="0">
                <a:latin typeface="Bahnschrift SemiBold"/>
              </a:rPr>
              <a:t>Tko bi trebao biti dio osnovnog (</a:t>
            </a:r>
            <a:r>
              <a:rPr lang="hr-HR" dirty="0" err="1">
                <a:latin typeface="Bahnschrift SemiBold"/>
              </a:rPr>
              <a:t>core</a:t>
            </a:r>
            <a:r>
              <a:rPr lang="hr-HR" dirty="0">
                <a:latin typeface="Bahnschrift SemiBold"/>
              </a:rPr>
              <a:t>) tima sustava dizajna</a:t>
            </a:r>
            <a:r>
              <a:rPr lang="fr-FR" dirty="0">
                <a:latin typeface="Bahnschrift SemiBold"/>
              </a:rPr>
              <a:t>? </a:t>
            </a:r>
          </a:p>
        </p:txBody>
      </p:sp>
      <p:graphicFrame>
        <p:nvGraphicFramePr>
          <p:cNvPr id="9" name="Google Shape;303;p42">
            <a:extLst>
              <a:ext uri="{FF2B5EF4-FFF2-40B4-BE49-F238E27FC236}">
                <a16:creationId xmlns:a16="http://schemas.microsoft.com/office/drawing/2014/main" id="{F861DC66-1B2B-82B1-9133-7F9EC6696ECF}"/>
              </a:ext>
            </a:extLst>
          </p:cNvPr>
          <p:cNvGraphicFramePr/>
          <p:nvPr>
            <p:extLst>
              <p:ext uri="{D42A27DB-BD31-4B8C-83A1-F6EECF244321}">
                <p14:modId xmlns:p14="http://schemas.microsoft.com/office/powerpoint/2010/main" val="294954910"/>
              </p:ext>
            </p:extLst>
          </p:nvPr>
        </p:nvGraphicFramePr>
        <p:xfrm>
          <a:off x="635462" y="2324946"/>
          <a:ext cx="6251300" cy="3840200"/>
        </p:xfrm>
        <a:graphic>
          <a:graphicData uri="http://schemas.openxmlformats.org/drawingml/2006/table">
            <a:tbl>
              <a:tblPr>
                <a:noFill/>
              </a:tblPr>
              <a:tblGrid>
                <a:gridCol w="2700862">
                  <a:extLst>
                    <a:ext uri="{9D8B030D-6E8A-4147-A177-3AD203B41FA5}">
                      <a16:colId xmlns:a16="http://schemas.microsoft.com/office/drawing/2014/main" val="20000"/>
                    </a:ext>
                  </a:extLst>
                </a:gridCol>
                <a:gridCol w="3550438">
                  <a:extLst>
                    <a:ext uri="{9D8B030D-6E8A-4147-A177-3AD203B41FA5}">
                      <a16:colId xmlns:a16="http://schemas.microsoft.com/office/drawing/2014/main" val="20001"/>
                    </a:ext>
                  </a:extLst>
                </a:gridCol>
              </a:tblGrid>
              <a:tr h="445467">
                <a:tc>
                  <a:txBody>
                    <a:bodyPr/>
                    <a:lstStyle/>
                    <a:p>
                      <a:pPr marL="0" lvl="0" indent="0" algn="l" rtl="0">
                        <a:spcBef>
                          <a:spcPts val="0"/>
                        </a:spcBef>
                        <a:spcAft>
                          <a:spcPts val="0"/>
                        </a:spcAft>
                        <a:buNone/>
                      </a:pPr>
                      <a:r>
                        <a:rPr lang="hr-HR" sz="1400" b="1" dirty="0">
                          <a:latin typeface="Bahnschrift SemiLight" panose="020B0502040204020203" pitchFamily="34" charset="0"/>
                          <a:ea typeface="Roboto"/>
                          <a:cs typeface="Roboto"/>
                        </a:rPr>
                        <a:t>Uloge</a:t>
                      </a:r>
                      <a:r>
                        <a:rPr lang="en" sz="1400" b="1" dirty="0">
                          <a:latin typeface="Bahnschrift SemiLight" panose="020B0502040204020203" pitchFamily="34" charset="0"/>
                          <a:ea typeface="Roboto"/>
                          <a:cs typeface="Roboto"/>
                          <a:sym typeface="Roboto"/>
                        </a:rPr>
                        <a:t>?</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ABCCEA">
                          <a:alpha val="0"/>
                        </a:srgbClr>
                      </a:solidFill>
                      <a:prstDash val="solid"/>
                      <a:round/>
                      <a:headEnd type="none" w="sm" len="sm"/>
                      <a:tailEnd type="none" w="sm" len="sm"/>
                    </a:lnT>
                    <a:lnB w="19050" cap="flat" cmpd="sng">
                      <a:solidFill>
                        <a:srgbClr val="8753F4"/>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hr-HR" sz="1400" b="1" dirty="0">
                          <a:latin typeface="Bahnschrift SemiLight" panose="020B0502040204020203" pitchFamily="34" charset="0"/>
                          <a:ea typeface="Roboto"/>
                          <a:cs typeface="Roboto"/>
                          <a:sym typeface="Roboto"/>
                        </a:rPr>
                        <a:t>Zašto</a:t>
                      </a:r>
                      <a:r>
                        <a:rPr lang="en" sz="1400" b="1" dirty="0">
                          <a:latin typeface="Bahnschrift SemiLight" panose="020B0502040204020203" pitchFamily="34" charset="0"/>
                          <a:ea typeface="Roboto"/>
                          <a:cs typeface="Roboto"/>
                          <a:sym typeface="Roboto"/>
                        </a:rPr>
                        <a:t>?</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ABCCEA">
                          <a:alpha val="0"/>
                        </a:srgbClr>
                      </a:solidFill>
                      <a:prstDash val="solid"/>
                      <a:round/>
                      <a:headEnd type="none" w="sm" len="sm"/>
                      <a:tailEnd type="none" w="sm" len="sm"/>
                    </a:lnT>
                    <a:lnB w="19050" cap="flat" cmpd="sng">
                      <a:solidFill>
                        <a:srgbClr val="8753F4"/>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24933">
                <a:tc>
                  <a:txBody>
                    <a:bodyPr/>
                    <a:lstStyle/>
                    <a:p>
                      <a:pPr marL="0" lvl="0" indent="0" algn="l" rtl="0">
                        <a:spcBef>
                          <a:spcPts val="0"/>
                        </a:spcBef>
                        <a:spcAft>
                          <a:spcPts val="0"/>
                        </a:spcAft>
                        <a:buNone/>
                      </a:pPr>
                      <a:r>
                        <a:rPr lang="hr-HR" sz="1400" b="1" dirty="0">
                          <a:latin typeface="Bahnschrift SemiLight" panose="020B0502040204020203" pitchFamily="34" charset="0"/>
                          <a:ea typeface="Roboto"/>
                          <a:cs typeface="Roboto"/>
                          <a:sym typeface="Roboto"/>
                        </a:rPr>
                        <a:t>Vlasnik proizvoda</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19050" cap="flat" cmpd="sng">
                      <a:solidFill>
                        <a:srgbClr val="8753F4"/>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hr-HR" sz="1400" dirty="0">
                          <a:solidFill>
                            <a:schemeClr val="dk1"/>
                          </a:solidFill>
                          <a:latin typeface="Bahnschrift SemiLight" panose="020B0502040204020203" pitchFamily="34" charset="0"/>
                          <a:ea typeface="Roboto"/>
                          <a:cs typeface="Roboto"/>
                          <a:sym typeface="Roboto"/>
                        </a:rPr>
                        <a:t>Održavanje vizije proizvoda</a:t>
                      </a:r>
                      <a:endParaRPr sz="1400" dirty="0">
                        <a:solidFill>
                          <a:schemeClr val="dk1"/>
                        </a:solidFill>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19050" cap="flat" cmpd="sng">
                      <a:solidFill>
                        <a:srgbClr val="8753F4"/>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4933">
                <a:tc>
                  <a:txBody>
                    <a:bodyPr/>
                    <a:lstStyle/>
                    <a:p>
                      <a:pPr marL="0" lvl="0" indent="0" algn="l" rtl="0">
                        <a:spcBef>
                          <a:spcPts val="0"/>
                        </a:spcBef>
                        <a:spcAft>
                          <a:spcPts val="0"/>
                        </a:spcAft>
                        <a:buNone/>
                      </a:pPr>
                      <a:r>
                        <a:rPr lang="en" sz="1400" b="1" dirty="0">
                          <a:latin typeface="Bahnschrift SemiLight" panose="020B0502040204020203" pitchFamily="34" charset="0"/>
                          <a:ea typeface="Roboto"/>
                          <a:cs typeface="Roboto"/>
                          <a:sym typeface="Roboto"/>
                        </a:rPr>
                        <a:t>Devel</a:t>
                      </a:r>
                      <a:r>
                        <a:rPr lang="hr-HR" sz="1400" b="1" dirty="0">
                          <a:latin typeface="Bahnschrift SemiLight" panose="020B0502040204020203" pitchFamily="34" charset="0"/>
                          <a:ea typeface="Roboto"/>
                          <a:cs typeface="Roboto"/>
                          <a:sym typeface="Roboto"/>
                        </a:rPr>
                        <a:t>operi</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hr-HR" sz="1400" dirty="0" err="1">
                          <a:solidFill>
                            <a:schemeClr val="dk1"/>
                          </a:solidFill>
                          <a:latin typeface="Bahnschrift SemiLight" panose="020B0502040204020203" pitchFamily="34" charset="0"/>
                          <a:ea typeface="Roboto"/>
                          <a:cs typeface="Roboto"/>
                          <a:sym typeface="Roboto"/>
                        </a:rPr>
                        <a:t>Validiranje</a:t>
                      </a:r>
                      <a:r>
                        <a:rPr lang="hr-HR" sz="1400" dirty="0">
                          <a:solidFill>
                            <a:schemeClr val="dk1"/>
                          </a:solidFill>
                          <a:latin typeface="Bahnschrift SemiLight" panose="020B0502040204020203" pitchFamily="34" charset="0"/>
                          <a:ea typeface="Roboto"/>
                          <a:cs typeface="Roboto"/>
                          <a:sym typeface="Roboto"/>
                        </a:rPr>
                        <a:t> tehničke izvedivosti</a:t>
                      </a:r>
                      <a:endParaRPr sz="1400" dirty="0">
                        <a:solidFill>
                          <a:schemeClr val="dk1"/>
                        </a:solidFill>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20567">
                <a:tc>
                  <a:txBody>
                    <a:bodyPr/>
                    <a:lstStyle/>
                    <a:p>
                      <a:pPr marL="0" lvl="0" indent="0" algn="l" rtl="0">
                        <a:spcBef>
                          <a:spcPts val="0"/>
                        </a:spcBef>
                        <a:spcAft>
                          <a:spcPts val="0"/>
                        </a:spcAft>
                        <a:buNone/>
                      </a:pPr>
                      <a:r>
                        <a:rPr lang="en" sz="1400" b="1" dirty="0">
                          <a:latin typeface="Bahnschrift SemiLight" panose="020B0502040204020203" pitchFamily="34" charset="0"/>
                          <a:ea typeface="Roboto"/>
                          <a:cs typeface="Roboto"/>
                          <a:sym typeface="Roboto"/>
                        </a:rPr>
                        <a:t>UX </a:t>
                      </a:r>
                      <a:r>
                        <a:rPr lang="hr-HR" sz="1400" b="1" dirty="0">
                          <a:latin typeface="Bahnschrift SemiLight" panose="020B0502040204020203" pitchFamily="34" charset="0"/>
                          <a:ea typeface="Roboto"/>
                          <a:cs typeface="Roboto"/>
                          <a:sym typeface="Roboto"/>
                        </a:rPr>
                        <a:t>Istraživač</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hr-HR" sz="1400" dirty="0">
                          <a:latin typeface="Bahnschrift SemiLight" panose="020B0502040204020203" pitchFamily="34" charset="0"/>
                          <a:ea typeface="Roboto"/>
                          <a:cs typeface="Roboto"/>
                          <a:sym typeface="Roboto"/>
                        </a:rPr>
                        <a:t>Održavanje dosljednosti s rezultatima korisničkih istraživanja</a:t>
                      </a:r>
                      <a:endParaRPr sz="1400"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20567">
                <a:tc>
                  <a:txBody>
                    <a:bodyPr/>
                    <a:lstStyle/>
                    <a:p>
                      <a:pPr marL="0" lvl="0" indent="0" algn="l" rtl="0">
                        <a:spcBef>
                          <a:spcPts val="0"/>
                        </a:spcBef>
                        <a:spcAft>
                          <a:spcPts val="0"/>
                        </a:spcAft>
                        <a:buNone/>
                      </a:pPr>
                      <a:r>
                        <a:rPr lang="en" sz="1400" b="1" dirty="0">
                          <a:latin typeface="Bahnschrift SemiLight" panose="020B0502040204020203" pitchFamily="34" charset="0"/>
                          <a:ea typeface="Roboto"/>
                          <a:cs typeface="Roboto"/>
                          <a:sym typeface="Roboto"/>
                        </a:rPr>
                        <a:t>UX D</a:t>
                      </a:r>
                      <a:r>
                        <a:rPr lang="hr-HR" sz="1400" b="1" dirty="0" err="1">
                          <a:latin typeface="Bahnschrift SemiLight" panose="020B0502040204020203" pitchFamily="34" charset="0"/>
                          <a:ea typeface="Roboto"/>
                          <a:cs typeface="Roboto"/>
                          <a:sym typeface="Roboto"/>
                        </a:rPr>
                        <a:t>izajner</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hr-HR" sz="1400" dirty="0">
                          <a:latin typeface="Bahnschrift SemiLight" panose="020B0502040204020203" pitchFamily="34" charset="0"/>
                          <a:ea typeface="Roboto"/>
                          <a:cs typeface="Roboto"/>
                          <a:sym typeface="Roboto"/>
                        </a:rPr>
                        <a:t>Stvaranje onoga što funkcionira kroz višestruke povratne informacije</a:t>
                      </a:r>
                      <a:endParaRPr sz="1400"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24933">
                <a:tc>
                  <a:txBody>
                    <a:bodyPr/>
                    <a:lstStyle/>
                    <a:p>
                      <a:pPr marL="0" lvl="0" indent="0" algn="l" rtl="0">
                        <a:spcBef>
                          <a:spcPts val="0"/>
                        </a:spcBef>
                        <a:spcAft>
                          <a:spcPts val="0"/>
                        </a:spcAft>
                        <a:buClr>
                          <a:schemeClr val="dk1"/>
                        </a:buClr>
                        <a:buSzPts val="1100"/>
                        <a:buFont typeface="Arial"/>
                        <a:buNone/>
                      </a:pPr>
                      <a:r>
                        <a:rPr lang="hr-HR" sz="1400" b="1" dirty="0">
                          <a:latin typeface="Bahnschrift SemiLight" panose="020B0502040204020203" pitchFamily="34" charset="0"/>
                          <a:ea typeface="Roboto"/>
                          <a:cs typeface="Roboto"/>
                          <a:sym typeface="Roboto"/>
                        </a:rPr>
                        <a:t>Stručnjak za pristupačnost</a:t>
                      </a:r>
                      <a:r>
                        <a:rPr lang="en" sz="1400" b="1" dirty="0">
                          <a:latin typeface="Bahnschrift SemiLight" panose="020B0502040204020203" pitchFamily="34" charset="0"/>
                          <a:ea typeface="Roboto"/>
                          <a:cs typeface="Roboto"/>
                          <a:sym typeface="Roboto"/>
                        </a:rPr>
                        <a:t> </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hr-HR" sz="1400" dirty="0">
                          <a:solidFill>
                            <a:schemeClr val="dk1"/>
                          </a:solidFill>
                          <a:latin typeface="Bahnschrift SemiLight" panose="020B0502040204020203" pitchFamily="34" charset="0"/>
                          <a:ea typeface="Roboto"/>
                          <a:cs typeface="Roboto"/>
                          <a:sym typeface="Roboto"/>
                        </a:rPr>
                        <a:t>Osiguravanje usklađenosti s kriterijima pristupačnosti</a:t>
                      </a:r>
                      <a:endParaRPr sz="1400" dirty="0">
                        <a:solidFill>
                          <a:schemeClr val="dk1"/>
                        </a:solidFill>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24933">
                <a:tc>
                  <a:txBody>
                    <a:bodyPr/>
                    <a:lstStyle/>
                    <a:p>
                      <a:pPr marL="0" lvl="0" indent="0" algn="l" rtl="0">
                        <a:spcBef>
                          <a:spcPts val="0"/>
                        </a:spcBef>
                        <a:spcAft>
                          <a:spcPts val="0"/>
                        </a:spcAft>
                        <a:buNone/>
                      </a:pPr>
                      <a:r>
                        <a:rPr lang="hr-HR" sz="1400" b="1" dirty="0">
                          <a:latin typeface="Bahnschrift SemiLight" panose="020B0502040204020203" pitchFamily="34" charset="0"/>
                          <a:ea typeface="Roboto"/>
                          <a:cs typeface="Roboto"/>
                          <a:sym typeface="Roboto"/>
                        </a:rPr>
                        <a:t>Komunikacijski tim</a:t>
                      </a:r>
                      <a:endParaRPr sz="1400" b="1" dirty="0">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hr-HR" sz="1400" dirty="0">
                          <a:solidFill>
                            <a:schemeClr val="dk1"/>
                          </a:solidFill>
                          <a:latin typeface="Bahnschrift SemiLight" panose="020B0502040204020203" pitchFamily="34" charset="0"/>
                          <a:ea typeface="Roboto"/>
                          <a:cs typeface="Roboto"/>
                          <a:sym typeface="Roboto"/>
                        </a:rPr>
                        <a:t>Osigurava </a:t>
                      </a:r>
                      <a:r>
                        <a:rPr lang="hr-HR" sz="1400" dirty="0" err="1">
                          <a:solidFill>
                            <a:schemeClr val="dk1"/>
                          </a:solidFill>
                          <a:latin typeface="Bahnschrift SemiLight" panose="020B0502040204020203" pitchFamily="34" charset="0"/>
                          <a:ea typeface="Roboto"/>
                          <a:cs typeface="Roboto"/>
                          <a:sym typeface="Roboto"/>
                        </a:rPr>
                        <a:t>brending</a:t>
                      </a:r>
                      <a:r>
                        <a:rPr lang="hr-HR" sz="1400" dirty="0">
                          <a:solidFill>
                            <a:schemeClr val="dk1"/>
                          </a:solidFill>
                          <a:latin typeface="Bahnschrift SemiLight" panose="020B0502040204020203" pitchFamily="34" charset="0"/>
                          <a:ea typeface="Roboto"/>
                          <a:cs typeface="Roboto"/>
                          <a:sym typeface="Roboto"/>
                        </a:rPr>
                        <a:t> korporacije</a:t>
                      </a:r>
                      <a:endParaRPr sz="1400" dirty="0">
                        <a:solidFill>
                          <a:schemeClr val="dk1"/>
                        </a:solidFill>
                        <a:latin typeface="Bahnschrift SemiLight" panose="020B0502040204020203" pitchFamily="34" charset="0"/>
                        <a:ea typeface="Roboto"/>
                        <a:cs typeface="Roboto"/>
                        <a:sym typeface="Roboto"/>
                      </a:endParaRPr>
                    </a:p>
                  </a:txBody>
                  <a:tcPr marL="121900" marR="121900" marT="121900" marB="121900">
                    <a:lnL w="9525" cap="flat" cmpd="sng">
                      <a:solidFill>
                        <a:srgbClr val="ABCCEA">
                          <a:alpha val="0"/>
                        </a:srgbClr>
                      </a:solidFill>
                      <a:prstDash val="solid"/>
                      <a:round/>
                      <a:headEnd type="none" w="sm" len="sm"/>
                      <a:tailEnd type="none" w="sm" len="sm"/>
                    </a:lnL>
                    <a:lnR w="9525" cap="flat" cmpd="sng">
                      <a:solidFill>
                        <a:srgbClr val="ABCCEA">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4" name="ZoneTexte 2">
            <a:extLst>
              <a:ext uri="{FF2B5EF4-FFF2-40B4-BE49-F238E27FC236}">
                <a16:creationId xmlns:a16="http://schemas.microsoft.com/office/drawing/2014/main" id="{669EADEE-2ED7-2BAC-12B4-B5B25D9E2ADD}"/>
              </a:ext>
            </a:extLst>
          </p:cNvPr>
          <p:cNvSpPr txBox="1"/>
          <p:nvPr/>
        </p:nvSpPr>
        <p:spPr>
          <a:xfrm>
            <a:off x="9999158" y="6015003"/>
            <a:ext cx="2449792"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2379742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CFCC-140B-47E3-28B4-0FB3671F24CD}"/>
              </a:ext>
            </a:extLst>
          </p:cNvPr>
          <p:cNvSpPr>
            <a:spLocks noGrp="1"/>
          </p:cNvSpPr>
          <p:nvPr>
            <p:ph type="ctrTitle"/>
          </p:nvPr>
        </p:nvSpPr>
        <p:spPr/>
        <p:txBody>
          <a:bodyPr/>
          <a:lstStyle/>
          <a:p>
            <a:r>
              <a:rPr lang="hr-HR" dirty="0">
                <a:latin typeface="Bahnschrift"/>
              </a:rPr>
              <a:t>Provedba projekata sustava dizajna</a:t>
            </a:r>
            <a:endParaRPr lang="en-US" dirty="0"/>
          </a:p>
        </p:txBody>
      </p:sp>
    </p:spTree>
    <p:extLst>
      <p:ext uri="{BB962C8B-B14F-4D97-AF65-F5344CB8AC3E}">
        <p14:creationId xmlns:p14="http://schemas.microsoft.com/office/powerpoint/2010/main" val="2124318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2C98D-9032-8B82-883D-619993B3EB5F}"/>
              </a:ext>
            </a:extLst>
          </p:cNvPr>
          <p:cNvSpPr>
            <a:spLocks noGrp="1"/>
          </p:cNvSpPr>
          <p:nvPr>
            <p:ph type="title"/>
          </p:nvPr>
        </p:nvSpPr>
        <p:spPr/>
        <p:txBody>
          <a:bodyPr/>
          <a:lstStyle/>
          <a:p>
            <a:pPr marL="742950" indent="-742950">
              <a:buAutoNum type="arabicPeriod"/>
            </a:pPr>
            <a:r>
              <a:rPr lang="hr-HR" dirty="0">
                <a:latin typeface="Bahnschrift SemiBold"/>
              </a:rPr>
              <a:t>Usklađivanje (</a:t>
            </a:r>
            <a:r>
              <a:rPr lang="hr-HR" dirty="0" err="1">
                <a:latin typeface="Bahnschrift SemiBold"/>
              </a:rPr>
              <a:t>alignment</a:t>
            </a:r>
            <a:r>
              <a:rPr lang="hr-HR" dirty="0">
                <a:latin typeface="Bahnschrift SemiBold"/>
              </a:rPr>
              <a:t>)</a:t>
            </a:r>
            <a:endParaRPr lang="en-US" dirty="0"/>
          </a:p>
        </p:txBody>
      </p:sp>
      <p:sp>
        <p:nvSpPr>
          <p:cNvPr id="3" name="Content Placeholder 2">
            <a:extLst>
              <a:ext uri="{FF2B5EF4-FFF2-40B4-BE49-F238E27FC236}">
                <a16:creationId xmlns:a16="http://schemas.microsoft.com/office/drawing/2014/main" id="{4C0F1781-6A06-BBBF-8B16-CD3ED10E23FA}"/>
              </a:ext>
            </a:extLst>
          </p:cNvPr>
          <p:cNvSpPr>
            <a:spLocks noGrp="1"/>
          </p:cNvSpPr>
          <p:nvPr>
            <p:ph idx="1"/>
          </p:nvPr>
        </p:nvSpPr>
        <p:spPr/>
        <p:txBody>
          <a:bodyPr vert="horz" lIns="91440" tIns="45720" rIns="91440" bIns="45720" rtlCol="0" anchor="t">
            <a:normAutofit/>
          </a:bodyPr>
          <a:lstStyle/>
          <a:p>
            <a:pPr marL="0" indent="0">
              <a:buNone/>
            </a:pPr>
            <a:r>
              <a:rPr lang="hr-HR" b="1" dirty="0"/>
              <a:t>Inventar (</a:t>
            </a:r>
            <a:r>
              <a:rPr lang="hr-HR" b="1" dirty="0" err="1"/>
              <a:t>Inventory</a:t>
            </a:r>
            <a:r>
              <a:rPr lang="hr-HR" b="1" dirty="0"/>
              <a:t>)</a:t>
            </a:r>
            <a:endParaRPr lang="hr-HR" dirty="0"/>
          </a:p>
          <a:p>
            <a:r>
              <a:rPr lang="hr-HR" dirty="0"/>
              <a:t>Stjecanje pregleda obrazaca (komponenti i ponavljajućih funkcionalnosti u sustavu) na temelju postojećeg proizvoda i odabranog osnovnog (</a:t>
            </a:r>
            <a:r>
              <a:rPr lang="hr-HR" dirty="0" err="1"/>
              <a:t>baseline</a:t>
            </a:r>
            <a:r>
              <a:rPr lang="hr-HR" dirty="0"/>
              <a:t>) </a:t>
            </a:r>
            <a:r>
              <a:rPr lang="hr-HR" dirty="0" err="1"/>
              <a:t>frameworka</a:t>
            </a:r>
            <a:r>
              <a:rPr lang="hr-HR" dirty="0"/>
              <a:t>.</a:t>
            </a:r>
          </a:p>
          <a:p>
            <a:r>
              <a:rPr lang="hr-HR" dirty="0"/>
              <a:t>Prikupljanje svih brend resursa (ponavljajućih elemenata brenda, ikone, boje…) koji se najčešće koriste u proizvodu te </a:t>
            </a:r>
            <a:r>
              <a:rPr lang="hr-HR" dirty="0" err="1"/>
              <a:t>prioritiziranje</a:t>
            </a:r>
            <a:r>
              <a:rPr lang="hr-HR" dirty="0"/>
              <a:t>.</a:t>
            </a:r>
          </a:p>
          <a:p>
            <a:r>
              <a:rPr lang="hr-HR" dirty="0"/>
              <a:t>Organiziranje radionica s različitim timovima kako bi se prikupile informacije i uskladili standardi.</a:t>
            </a:r>
          </a:p>
        </p:txBody>
      </p:sp>
    </p:spTree>
    <p:extLst>
      <p:ext uri="{BB962C8B-B14F-4D97-AF65-F5344CB8AC3E}">
        <p14:creationId xmlns:p14="http://schemas.microsoft.com/office/powerpoint/2010/main" val="457422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D95CE-44D3-54F3-FD71-4100198F0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6639C-0B45-793A-ACAC-34B45F5F500D}"/>
              </a:ext>
            </a:extLst>
          </p:cNvPr>
          <p:cNvSpPr>
            <a:spLocks noGrp="1"/>
          </p:cNvSpPr>
          <p:nvPr>
            <p:ph type="title"/>
          </p:nvPr>
        </p:nvSpPr>
        <p:spPr/>
        <p:txBody>
          <a:bodyPr/>
          <a:lstStyle/>
          <a:p>
            <a:pPr marL="742950" indent="-742950">
              <a:buAutoNum type="arabicPeriod"/>
            </a:pPr>
            <a:r>
              <a:rPr lang="hr-HR" dirty="0">
                <a:latin typeface="Bahnschrift SemiBold"/>
              </a:rPr>
              <a:t>Usklađivanje (</a:t>
            </a:r>
            <a:r>
              <a:rPr lang="hr-HR" dirty="0" err="1">
                <a:latin typeface="Bahnschrift SemiBold"/>
              </a:rPr>
              <a:t>alignment</a:t>
            </a:r>
            <a:r>
              <a:rPr lang="hr-HR" dirty="0">
                <a:latin typeface="Bahnschrift SemiBold"/>
              </a:rPr>
              <a:t>)</a:t>
            </a:r>
            <a:endParaRPr lang="en-US" dirty="0"/>
          </a:p>
        </p:txBody>
      </p:sp>
      <p:sp>
        <p:nvSpPr>
          <p:cNvPr id="3" name="Content Placeholder 2">
            <a:extLst>
              <a:ext uri="{FF2B5EF4-FFF2-40B4-BE49-F238E27FC236}">
                <a16:creationId xmlns:a16="http://schemas.microsoft.com/office/drawing/2014/main" id="{96E70CC7-D553-D4CE-DF3E-88B11B1CF449}"/>
              </a:ext>
            </a:extLst>
          </p:cNvPr>
          <p:cNvSpPr>
            <a:spLocks noGrp="1"/>
          </p:cNvSpPr>
          <p:nvPr>
            <p:ph idx="1"/>
          </p:nvPr>
        </p:nvSpPr>
        <p:spPr/>
        <p:txBody>
          <a:bodyPr vert="horz" lIns="91440" tIns="45720" rIns="91440" bIns="45720" rtlCol="0" anchor="t">
            <a:normAutofit/>
          </a:bodyPr>
          <a:lstStyle/>
          <a:p>
            <a:pPr marL="0" indent="0">
              <a:buNone/>
            </a:pPr>
            <a:r>
              <a:rPr lang="hr-HR" b="1" dirty="0">
                <a:latin typeface="Bahnschrift SemiLight"/>
              </a:rPr>
              <a:t>Iskustveni principi</a:t>
            </a:r>
            <a:r>
              <a:rPr lang="en-US" b="1" dirty="0">
                <a:latin typeface="Bahnschrift SemiLight"/>
              </a:rPr>
              <a:t> </a:t>
            </a:r>
            <a:endParaRPr lang="en-US" b="1" dirty="0"/>
          </a:p>
          <a:p>
            <a:r>
              <a:rPr lang="hr-HR" dirty="0"/>
              <a:t>Stjecanje pregleda obrazaca (komponenti i ponavljajućih funkcionalnosti u sustavu) na temelju postojećeg proizvoda i odabranog osnovnog (</a:t>
            </a:r>
            <a:r>
              <a:rPr lang="hr-HR" dirty="0" err="1"/>
              <a:t>baseline</a:t>
            </a:r>
            <a:r>
              <a:rPr lang="hr-HR" dirty="0"/>
              <a:t>) </a:t>
            </a:r>
            <a:r>
              <a:rPr lang="hr-HR" dirty="0" err="1"/>
              <a:t>frameworka</a:t>
            </a:r>
            <a:r>
              <a:rPr lang="hr-HR" dirty="0"/>
              <a:t>.</a:t>
            </a:r>
          </a:p>
          <a:p>
            <a:r>
              <a:rPr lang="hr-HR" dirty="0"/>
              <a:t>Prikupljanje svih brend resursa (ponavljajućih elemenata brenda, ikone, boje…) koji se najčešće koriste u proizvodu te </a:t>
            </a:r>
            <a:r>
              <a:rPr lang="hr-HR" dirty="0" err="1"/>
              <a:t>prioritiziranje</a:t>
            </a:r>
            <a:r>
              <a:rPr lang="hr-HR" dirty="0"/>
              <a:t>.</a:t>
            </a:r>
          </a:p>
          <a:p>
            <a:r>
              <a:rPr lang="hr-HR" dirty="0"/>
              <a:t>Organiziranje radionica s različitim timovima kako bi se prikupile informacije i uskladili standardi.</a:t>
            </a:r>
          </a:p>
          <a:p>
            <a:pPr marL="0" indent="0">
              <a:buNone/>
            </a:pPr>
            <a:endParaRPr lang="en-US" dirty="0"/>
          </a:p>
        </p:txBody>
      </p:sp>
    </p:spTree>
    <p:extLst>
      <p:ext uri="{BB962C8B-B14F-4D97-AF65-F5344CB8AC3E}">
        <p14:creationId xmlns:p14="http://schemas.microsoft.com/office/powerpoint/2010/main" val="382350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DA24F-3426-D49A-AABD-2001FEFA827C}"/>
              </a:ext>
            </a:extLst>
          </p:cNvPr>
          <p:cNvSpPr>
            <a:spLocks noGrp="1"/>
          </p:cNvSpPr>
          <p:nvPr>
            <p:ph type="title"/>
          </p:nvPr>
        </p:nvSpPr>
        <p:spPr/>
        <p:txBody>
          <a:bodyPr/>
          <a:lstStyle/>
          <a:p>
            <a:pPr marL="742950" indent="-742950">
              <a:buAutoNum type="arabicPeriod"/>
            </a:pPr>
            <a:r>
              <a:rPr lang="hr-HR" dirty="0">
                <a:latin typeface="Bahnschrift SemiBold"/>
              </a:rPr>
              <a:t>Usklađivanje (</a:t>
            </a:r>
            <a:r>
              <a:rPr lang="hr-HR" dirty="0" err="1">
                <a:latin typeface="Bahnschrift SemiBold"/>
              </a:rPr>
              <a:t>alignment</a:t>
            </a:r>
            <a:r>
              <a:rPr lang="hr-HR" dirty="0">
                <a:latin typeface="Bahnschrift SemiBold"/>
              </a:rPr>
              <a:t>)</a:t>
            </a:r>
            <a:endParaRPr lang="en-US" dirty="0">
              <a:latin typeface="Bahnschrift SemiBold"/>
            </a:endParaRPr>
          </a:p>
        </p:txBody>
      </p:sp>
      <p:sp>
        <p:nvSpPr>
          <p:cNvPr id="3" name="Content Placeholder 2">
            <a:extLst>
              <a:ext uri="{FF2B5EF4-FFF2-40B4-BE49-F238E27FC236}">
                <a16:creationId xmlns:a16="http://schemas.microsoft.com/office/drawing/2014/main" id="{80E25070-761E-5E87-9A05-CBB80587D712}"/>
              </a:ext>
            </a:extLst>
          </p:cNvPr>
          <p:cNvSpPr>
            <a:spLocks noGrp="1"/>
          </p:cNvSpPr>
          <p:nvPr>
            <p:ph idx="1"/>
          </p:nvPr>
        </p:nvSpPr>
        <p:spPr/>
        <p:txBody>
          <a:bodyPr vert="horz" lIns="91440" tIns="45720" rIns="91440" bIns="45720" rtlCol="0" anchor="t">
            <a:normAutofit lnSpcReduction="10000"/>
          </a:bodyPr>
          <a:lstStyle/>
          <a:p>
            <a:r>
              <a:rPr lang="hr-HR" b="1" dirty="0"/>
              <a:t>Uloge i proces</a:t>
            </a:r>
            <a:endParaRPr lang="hr-HR" dirty="0"/>
          </a:p>
          <a:p>
            <a:r>
              <a:rPr lang="hr-HR" dirty="0"/>
              <a:t>Precizno identificiranje i razumijevanje uloge svake osobe te njihove povezane zadatke.</a:t>
            </a:r>
          </a:p>
          <a:p>
            <a:r>
              <a:rPr lang="hr-HR" dirty="0"/>
              <a:t>Kada govorimo o sustavima dizajna, često razlikujemo četiri vrste uloga: „sponzori“, „garanti (odgovorne osobe)“, „</a:t>
            </a:r>
            <a:r>
              <a:rPr lang="hr-HR" dirty="0" err="1"/>
              <a:t>doprinositelji</a:t>
            </a:r>
            <a:r>
              <a:rPr lang="hr-HR" dirty="0"/>
              <a:t>“ i „korisnici (</a:t>
            </a:r>
            <a:r>
              <a:rPr lang="hr-HR" dirty="0" err="1"/>
              <a:t>consumers</a:t>
            </a:r>
            <a:r>
              <a:rPr lang="hr-HR" dirty="0"/>
              <a:t>)“.</a:t>
            </a:r>
          </a:p>
          <a:p>
            <a:r>
              <a:rPr lang="hr-HR" dirty="0"/>
              <a:t>Uloge se raspodjeljuju u skladu s odabranim procesom implementacije.</a:t>
            </a:r>
          </a:p>
          <a:p>
            <a:r>
              <a:rPr lang="hr-HR" b="1" dirty="0"/>
              <a:t>Rezultat:</a:t>
            </a:r>
            <a:r>
              <a:rPr lang="hr-HR" dirty="0"/>
              <a:t> Jasno je definirano kako želite raditi i upravljati svojim sustavom dizajna.</a:t>
            </a:r>
          </a:p>
        </p:txBody>
      </p:sp>
    </p:spTree>
    <p:extLst>
      <p:ext uri="{BB962C8B-B14F-4D97-AF65-F5344CB8AC3E}">
        <p14:creationId xmlns:p14="http://schemas.microsoft.com/office/powerpoint/2010/main" val="4180591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E7DD-6E87-8CDF-636C-6EB92CAD2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43B5E-1136-78A8-EA4C-6A24E42E388F}"/>
              </a:ext>
            </a:extLst>
          </p:cNvPr>
          <p:cNvSpPr>
            <a:spLocks noGrp="1"/>
          </p:cNvSpPr>
          <p:nvPr>
            <p:ph type="title"/>
          </p:nvPr>
        </p:nvSpPr>
        <p:spPr/>
        <p:txBody>
          <a:bodyPr/>
          <a:lstStyle/>
          <a:p>
            <a:pPr marL="742950" indent="-742950">
              <a:buAutoNum type="arabicPeriod"/>
            </a:pPr>
            <a:r>
              <a:rPr lang="hr-HR" dirty="0">
                <a:latin typeface="Bahnschrift SemiBold"/>
              </a:rPr>
              <a:t>Usklađivanje (</a:t>
            </a:r>
            <a:r>
              <a:rPr lang="hr-HR" dirty="0" err="1">
                <a:latin typeface="Bahnschrift SemiBold"/>
              </a:rPr>
              <a:t>alignment</a:t>
            </a:r>
            <a:r>
              <a:rPr lang="hr-HR" dirty="0">
                <a:latin typeface="Bahnschrift SemiBold"/>
              </a:rPr>
              <a:t>)</a:t>
            </a:r>
            <a:endParaRPr lang="en-US" dirty="0">
              <a:latin typeface="Bahnschrift SemiBold"/>
            </a:endParaRPr>
          </a:p>
        </p:txBody>
      </p:sp>
      <p:sp>
        <p:nvSpPr>
          <p:cNvPr id="3" name="Content Placeholder 2">
            <a:extLst>
              <a:ext uri="{FF2B5EF4-FFF2-40B4-BE49-F238E27FC236}">
                <a16:creationId xmlns:a16="http://schemas.microsoft.com/office/drawing/2014/main" id="{CF0ED84B-5995-2890-753A-FB02A2ECDB97}"/>
              </a:ext>
            </a:extLst>
          </p:cNvPr>
          <p:cNvSpPr>
            <a:spLocks noGrp="1"/>
          </p:cNvSpPr>
          <p:nvPr>
            <p:ph idx="1"/>
          </p:nvPr>
        </p:nvSpPr>
        <p:spPr/>
        <p:txBody>
          <a:bodyPr vert="horz" lIns="91440" tIns="45720" rIns="91440" bIns="45720" rtlCol="0" anchor="t">
            <a:normAutofit/>
          </a:bodyPr>
          <a:lstStyle/>
          <a:p>
            <a:pPr marL="0" indent="0">
              <a:buNone/>
            </a:pPr>
            <a:r>
              <a:rPr lang="hr-HR" b="1" dirty="0" err="1"/>
              <a:t>Prioritizacija</a:t>
            </a:r>
            <a:r>
              <a:rPr lang="hr-HR" b="1" dirty="0"/>
              <a:t> komponenti</a:t>
            </a:r>
            <a:endParaRPr lang="hr-HR" dirty="0"/>
          </a:p>
          <a:p>
            <a:r>
              <a:rPr lang="hr-HR" dirty="0" err="1"/>
              <a:t>Prioritizirajte</a:t>
            </a:r>
            <a:r>
              <a:rPr lang="hr-HR" dirty="0"/>
              <a:t> komponente prema njihovoj vrijednosti (najčešće korištene i najlakše za razvoj) kako biste formirali </a:t>
            </a:r>
            <a:r>
              <a:rPr lang="hr-HR" dirty="0" err="1"/>
              <a:t>product</a:t>
            </a:r>
            <a:r>
              <a:rPr lang="hr-HR" dirty="0"/>
              <a:t> </a:t>
            </a:r>
            <a:r>
              <a:rPr lang="hr-HR" dirty="0" err="1"/>
              <a:t>backlog</a:t>
            </a:r>
            <a:r>
              <a:rPr lang="hr-HR" dirty="0"/>
              <a:t> i odredili redoslijed elemenata koji će biti dokumentirani u sustavu dizajna.</a:t>
            </a:r>
          </a:p>
          <a:p>
            <a:r>
              <a:rPr lang="hr-HR" dirty="0"/>
              <a:t>Neke postojeće komponente možete ponovno upotrijebiti i prilagoditi, dok će druge biti potrebno razviti od početka — posebno one ključne za izgradnju MVP-a (Minimum </a:t>
            </a:r>
            <a:r>
              <a:rPr lang="hr-HR" dirty="0" err="1"/>
              <a:t>Viable</a:t>
            </a:r>
            <a:r>
              <a:rPr lang="hr-HR" dirty="0"/>
              <a:t> </a:t>
            </a:r>
            <a:r>
              <a:rPr lang="hr-HR" dirty="0" err="1"/>
              <a:t>Product</a:t>
            </a:r>
            <a:r>
              <a:rPr lang="hr-HR" dirty="0"/>
              <a:t>) sustava dizajna.</a:t>
            </a:r>
          </a:p>
        </p:txBody>
      </p:sp>
    </p:spTree>
    <p:extLst>
      <p:ext uri="{BB962C8B-B14F-4D97-AF65-F5344CB8AC3E}">
        <p14:creationId xmlns:p14="http://schemas.microsoft.com/office/powerpoint/2010/main" val="3995079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E3636-09FC-169C-602F-CDBACFDB4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E1F92-6E45-A526-5B2E-6D0F87DC95BD}"/>
              </a:ext>
            </a:extLst>
          </p:cNvPr>
          <p:cNvSpPr>
            <a:spLocks noGrp="1"/>
          </p:cNvSpPr>
          <p:nvPr>
            <p:ph type="title"/>
          </p:nvPr>
        </p:nvSpPr>
        <p:spPr/>
        <p:txBody>
          <a:bodyPr/>
          <a:lstStyle/>
          <a:p>
            <a:pPr marL="742950" indent="-742950">
              <a:buAutoNum type="arabicPeriod"/>
            </a:pPr>
            <a:r>
              <a:rPr lang="hr-HR" dirty="0">
                <a:latin typeface="Bahnschrift SemiBold"/>
              </a:rPr>
              <a:t>Usklađivanje (</a:t>
            </a:r>
            <a:r>
              <a:rPr lang="hr-HR" dirty="0" err="1">
                <a:latin typeface="Bahnschrift SemiBold"/>
              </a:rPr>
              <a:t>alignment</a:t>
            </a:r>
            <a:r>
              <a:rPr lang="hr-HR" dirty="0">
                <a:latin typeface="Bahnschrift SemiBold"/>
              </a:rPr>
              <a:t>)</a:t>
            </a:r>
            <a:endParaRPr lang="en-US" dirty="0">
              <a:latin typeface="Bahnschrift SemiBold"/>
            </a:endParaRPr>
          </a:p>
        </p:txBody>
      </p:sp>
      <p:sp>
        <p:nvSpPr>
          <p:cNvPr id="3" name="Content Placeholder 2">
            <a:extLst>
              <a:ext uri="{FF2B5EF4-FFF2-40B4-BE49-F238E27FC236}">
                <a16:creationId xmlns:a16="http://schemas.microsoft.com/office/drawing/2014/main" id="{82399BE4-7428-B3D4-492C-908094F9DE35}"/>
              </a:ext>
            </a:extLst>
          </p:cNvPr>
          <p:cNvSpPr>
            <a:spLocks noGrp="1"/>
          </p:cNvSpPr>
          <p:nvPr>
            <p:ph idx="1"/>
          </p:nvPr>
        </p:nvSpPr>
        <p:spPr/>
        <p:txBody>
          <a:bodyPr vert="horz" lIns="91440" tIns="45720" rIns="91440" bIns="45720" rtlCol="0" anchor="t">
            <a:normAutofit/>
          </a:bodyPr>
          <a:lstStyle/>
          <a:p>
            <a:pPr marL="0" indent="0">
              <a:buNone/>
            </a:pPr>
            <a:r>
              <a:rPr lang="hr-HR" b="1" dirty="0"/>
              <a:t>Kako mjeriti uspjeh?</a:t>
            </a:r>
            <a:endParaRPr lang="hr-HR" dirty="0"/>
          </a:p>
          <a:p>
            <a:r>
              <a:rPr lang="hr-HR" dirty="0"/>
              <a:t>Definirajte glavne ciljeve sustava dizajna, bilo da su interni (npr. učinkovitost timova) ili eksterni (npr. poboljšano korisničko iskustvo), te ih povežite s preciznim pokazateljima mjerenja.</a:t>
            </a:r>
          </a:p>
          <a:p>
            <a:r>
              <a:rPr lang="hr-HR" dirty="0"/>
              <a:t>Definiranje ključnih faktora uspjeha sustava dizajna od presudne je važnosti. Upravo vam to omogućuje da kasnije mjerite vrijednost i uspješnost sustava pomoću odgovarajućih pokazatelja (KPI-</a:t>
            </a:r>
            <a:r>
              <a:rPr lang="hr-HR" dirty="0" err="1"/>
              <a:t>jeva</a:t>
            </a:r>
            <a:r>
              <a:rPr lang="hr-HR" dirty="0"/>
              <a:t>).</a:t>
            </a:r>
          </a:p>
        </p:txBody>
      </p:sp>
    </p:spTree>
    <p:extLst>
      <p:ext uri="{BB962C8B-B14F-4D97-AF65-F5344CB8AC3E}">
        <p14:creationId xmlns:p14="http://schemas.microsoft.com/office/powerpoint/2010/main" val="3194167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D0A0-C496-E238-C8AF-3EC8BF32DF7C}"/>
              </a:ext>
            </a:extLst>
          </p:cNvPr>
          <p:cNvSpPr>
            <a:spLocks noGrp="1"/>
          </p:cNvSpPr>
          <p:nvPr>
            <p:ph type="title"/>
          </p:nvPr>
        </p:nvSpPr>
        <p:spPr/>
        <p:txBody>
          <a:bodyPr/>
          <a:lstStyle/>
          <a:p>
            <a:r>
              <a:rPr lang="en-US" dirty="0">
                <a:latin typeface="Bahnschrift SemiBold"/>
              </a:rPr>
              <a:t>2. </a:t>
            </a:r>
            <a:r>
              <a:rPr lang="en-US" dirty="0" err="1">
                <a:latin typeface="Bahnschrift SemiBold"/>
              </a:rPr>
              <a:t>Inven</a:t>
            </a:r>
            <a:r>
              <a:rPr lang="hr-HR" dirty="0">
                <a:latin typeface="Bahnschrift SemiBold"/>
              </a:rPr>
              <a:t>tar i struktura datoteka</a:t>
            </a:r>
            <a:r>
              <a:rPr lang="en-US" dirty="0">
                <a:latin typeface="Bahnschrift SemiBold"/>
              </a:rPr>
              <a:t> </a:t>
            </a:r>
          </a:p>
        </p:txBody>
      </p:sp>
      <p:sp>
        <p:nvSpPr>
          <p:cNvPr id="3" name="Content Placeholder 2">
            <a:extLst>
              <a:ext uri="{FF2B5EF4-FFF2-40B4-BE49-F238E27FC236}">
                <a16:creationId xmlns:a16="http://schemas.microsoft.com/office/drawing/2014/main" id="{78F40500-5CDB-BC9B-9400-A9007827B4B2}"/>
              </a:ext>
            </a:extLst>
          </p:cNvPr>
          <p:cNvSpPr>
            <a:spLocks noGrp="1"/>
          </p:cNvSpPr>
          <p:nvPr>
            <p:ph sz="half" idx="1"/>
          </p:nvPr>
        </p:nvSpPr>
        <p:spPr/>
        <p:txBody>
          <a:bodyPr vert="horz" lIns="91440" tIns="45720" rIns="91440" bIns="45720" rtlCol="0" anchor="t">
            <a:normAutofit/>
          </a:bodyPr>
          <a:lstStyle/>
          <a:p>
            <a:pPr marL="0" indent="0">
              <a:buNone/>
            </a:pPr>
            <a:r>
              <a:rPr lang="hr-HR" b="1" dirty="0"/>
              <a:t>Inventar</a:t>
            </a:r>
            <a:endParaRPr lang="hr-HR" dirty="0"/>
          </a:p>
          <a:p>
            <a:r>
              <a:rPr lang="hr-HR" dirty="0"/>
              <a:t>Izrada sveobuhvatnih popisa elemenata sučelja.</a:t>
            </a:r>
          </a:p>
          <a:p>
            <a:r>
              <a:rPr lang="hr-HR" dirty="0"/>
              <a:t>Razlaganje postojećih i budućih sučelja na manje dijelove (komponente).</a:t>
            </a:r>
          </a:p>
          <a:p>
            <a:r>
              <a:rPr lang="hr-HR" dirty="0"/>
              <a:t>Provjera dosljednosti elemenata sučelja i stilova.</a:t>
            </a:r>
          </a:p>
          <a:p>
            <a:pPr>
              <a:buNone/>
            </a:pPr>
            <a:endParaRPr lang="en-US" dirty="0"/>
          </a:p>
        </p:txBody>
      </p:sp>
      <p:pic>
        <p:nvPicPr>
          <p:cNvPr id="6" name="Base / Left-Right" descr="preencoded.png">
            <a:extLst>
              <a:ext uri="{FF2B5EF4-FFF2-40B4-BE49-F238E27FC236}">
                <a16:creationId xmlns:a16="http://schemas.microsoft.com/office/drawing/2014/main" id="{4914ED6B-FCB3-84EC-F81A-E236228B2F8A}"/>
              </a:ext>
            </a:extLst>
          </p:cNvPr>
          <p:cNvPicPr>
            <a:picLocks noChangeAspect="1"/>
          </p:cNvPicPr>
          <p:nvPr/>
        </p:nvPicPr>
        <p:blipFill>
          <a:blip r:embed="rId2"/>
          <a:srcRect l="49801" t="26071" r="4302" b="22187"/>
          <a:stretch/>
        </p:blipFill>
        <p:spPr>
          <a:xfrm>
            <a:off x="6096000" y="2227581"/>
            <a:ext cx="5595763" cy="3548509"/>
          </a:xfrm>
          <a:prstGeom prst="rect">
            <a:avLst/>
          </a:prstGeom>
        </p:spPr>
      </p:pic>
      <p:sp>
        <p:nvSpPr>
          <p:cNvPr id="5" name="TextBox 4">
            <a:extLst>
              <a:ext uri="{FF2B5EF4-FFF2-40B4-BE49-F238E27FC236}">
                <a16:creationId xmlns:a16="http://schemas.microsoft.com/office/drawing/2014/main" id="{3160751C-77EC-03B9-1EE2-2B4FBC2D78ED}"/>
              </a:ext>
            </a:extLst>
          </p:cNvPr>
          <p:cNvSpPr txBox="1"/>
          <p:nvPr/>
        </p:nvSpPr>
        <p:spPr>
          <a:xfrm>
            <a:off x="7885103" y="5545257"/>
            <a:ext cx="6093372" cy="646331"/>
          </a:xfrm>
          <a:prstGeom prst="rect">
            <a:avLst/>
          </a:prstGeom>
          <a:noFill/>
        </p:spPr>
        <p:txBody>
          <a:bodyPr wrap="square">
            <a:spAutoFit/>
          </a:bodyPr>
          <a:lstStyle/>
          <a:p>
            <a:pPr marL="0" indent="0">
              <a:buNone/>
            </a:pPr>
            <a:r>
              <a:rPr lang="en-US" sz="1200" dirty="0">
                <a:latin typeface="Bahnschrift SemiLight"/>
              </a:rPr>
              <a:t>Source: </a:t>
            </a:r>
          </a:p>
          <a:p>
            <a:pPr marL="0" indent="0">
              <a:buNone/>
            </a:pPr>
            <a:r>
              <a:rPr lang="en-US" sz="1200" dirty="0">
                <a:latin typeface="Bahnschrift SemiLight"/>
              </a:rPr>
              <a:t>https://bradfrost.com/blog/post/interface-inventory/  </a:t>
            </a:r>
          </a:p>
          <a:p>
            <a:pPr marL="0" indent="0">
              <a:buNone/>
            </a:pPr>
            <a:endParaRPr lang="en-US" sz="1200" dirty="0">
              <a:latin typeface="Bahnschrift SemiLight"/>
            </a:endParaRPr>
          </a:p>
        </p:txBody>
      </p:sp>
    </p:spTree>
    <p:extLst>
      <p:ext uri="{BB962C8B-B14F-4D97-AF65-F5344CB8AC3E}">
        <p14:creationId xmlns:p14="http://schemas.microsoft.com/office/powerpoint/2010/main" val="157787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6475-CDA0-4A07-186F-50BE5B50B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0B8A2-5724-C938-CEBE-56CD8FB45896}"/>
              </a:ext>
            </a:extLst>
          </p:cNvPr>
          <p:cNvSpPr>
            <a:spLocks noGrp="1"/>
          </p:cNvSpPr>
          <p:nvPr>
            <p:ph type="title"/>
          </p:nvPr>
        </p:nvSpPr>
        <p:spPr/>
        <p:txBody>
          <a:bodyPr/>
          <a:lstStyle/>
          <a:p>
            <a:r>
              <a:rPr lang="en-US" dirty="0">
                <a:latin typeface="Bahnschrift SemiBold"/>
              </a:rPr>
              <a:t>2. </a:t>
            </a:r>
            <a:r>
              <a:rPr lang="en-US" dirty="0" err="1">
                <a:latin typeface="Bahnschrift SemiBold"/>
              </a:rPr>
              <a:t>Inven</a:t>
            </a:r>
            <a:r>
              <a:rPr lang="hr-HR" dirty="0">
                <a:latin typeface="Bahnschrift SemiBold"/>
              </a:rPr>
              <a:t>tar i struktura datoteka</a:t>
            </a:r>
            <a:r>
              <a:rPr lang="en-US" dirty="0">
                <a:latin typeface="Bahnschrift SemiBold"/>
              </a:rPr>
              <a:t> </a:t>
            </a:r>
          </a:p>
        </p:txBody>
      </p:sp>
      <p:sp>
        <p:nvSpPr>
          <p:cNvPr id="3" name="Content Placeholder 2">
            <a:extLst>
              <a:ext uri="{FF2B5EF4-FFF2-40B4-BE49-F238E27FC236}">
                <a16:creationId xmlns:a16="http://schemas.microsoft.com/office/drawing/2014/main" id="{EF5846EF-DAA3-E75C-F2D6-09DF18AE96F9}"/>
              </a:ext>
            </a:extLst>
          </p:cNvPr>
          <p:cNvSpPr>
            <a:spLocks noGrp="1"/>
          </p:cNvSpPr>
          <p:nvPr>
            <p:ph idx="1"/>
          </p:nvPr>
        </p:nvSpPr>
        <p:spPr>
          <a:xfrm>
            <a:off x="585951" y="2506662"/>
            <a:ext cx="10515600" cy="4351338"/>
          </a:xfrm>
        </p:spPr>
        <p:txBody>
          <a:bodyPr vert="horz" lIns="91440" tIns="45720" rIns="91440" bIns="45720" rtlCol="0" anchor="t">
            <a:normAutofit/>
          </a:bodyPr>
          <a:lstStyle/>
          <a:p>
            <a:pPr>
              <a:buNone/>
            </a:pPr>
            <a:r>
              <a:rPr lang="hr-HR" dirty="0"/>
              <a:t>Pripremite praznu datoteku (u bilo kojem alatu u koji možete umetati snimke zaslona).</a:t>
            </a:r>
          </a:p>
          <a:p>
            <a:pPr>
              <a:buNone/>
            </a:pPr>
            <a:r>
              <a:rPr lang="hr-HR" dirty="0"/>
              <a:t>Po zaslonu ili funkcionalnosti napravite snimke zaslona elemenata sučelja.</a:t>
            </a:r>
          </a:p>
          <a:p>
            <a:pPr>
              <a:buNone/>
            </a:pPr>
            <a:r>
              <a:rPr lang="hr-HR" dirty="0"/>
              <a:t>Kategorizirajte snimke zaslona (npr. gumbi, elementi obrasca, zaglavlja…).</a:t>
            </a:r>
          </a:p>
          <a:p>
            <a:pPr>
              <a:buNone/>
            </a:pPr>
            <a:endParaRPr lang="en-US" dirty="0"/>
          </a:p>
          <a:p>
            <a:pPr marL="0" indent="0">
              <a:buNone/>
            </a:pPr>
            <a:r>
              <a:rPr lang="en-US" dirty="0">
                <a:latin typeface="Bahnschrift SemiLight"/>
              </a:rPr>
              <a:t>https://bradfrost.com/blog/post/interface-inventory/ </a:t>
            </a:r>
            <a:endParaRPr lang="en-US" dirty="0"/>
          </a:p>
        </p:txBody>
      </p:sp>
    </p:spTree>
    <p:extLst>
      <p:ext uri="{BB962C8B-B14F-4D97-AF65-F5344CB8AC3E}">
        <p14:creationId xmlns:p14="http://schemas.microsoft.com/office/powerpoint/2010/main" val="2396971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72FF5-4CB3-4A44-E3EB-C48D529C6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D9068-00ED-ECB4-A99A-6655B6BBB66A}"/>
              </a:ext>
            </a:extLst>
          </p:cNvPr>
          <p:cNvSpPr>
            <a:spLocks noGrp="1"/>
          </p:cNvSpPr>
          <p:nvPr>
            <p:ph type="title"/>
          </p:nvPr>
        </p:nvSpPr>
        <p:spPr/>
        <p:txBody>
          <a:bodyPr/>
          <a:lstStyle/>
          <a:p>
            <a:r>
              <a:rPr lang="en-US" dirty="0">
                <a:latin typeface="Bahnschrift SemiBold"/>
              </a:rPr>
              <a:t>2. </a:t>
            </a:r>
            <a:r>
              <a:rPr lang="en-US" dirty="0" err="1">
                <a:latin typeface="Bahnschrift SemiBold"/>
              </a:rPr>
              <a:t>Inven</a:t>
            </a:r>
            <a:r>
              <a:rPr lang="hr-HR" dirty="0">
                <a:latin typeface="Bahnschrift SemiBold"/>
              </a:rPr>
              <a:t>tar i struktura datoteka</a:t>
            </a:r>
            <a:r>
              <a:rPr lang="en-US" dirty="0">
                <a:latin typeface="Bahnschrift SemiBold"/>
              </a:rPr>
              <a:t> </a:t>
            </a:r>
          </a:p>
        </p:txBody>
      </p:sp>
      <p:sp>
        <p:nvSpPr>
          <p:cNvPr id="3" name="Content Placeholder 2">
            <a:extLst>
              <a:ext uri="{FF2B5EF4-FFF2-40B4-BE49-F238E27FC236}">
                <a16:creationId xmlns:a16="http://schemas.microsoft.com/office/drawing/2014/main" id="{54B1D141-2746-C5CD-4203-29E1A6BB6AB9}"/>
              </a:ext>
            </a:extLst>
          </p:cNvPr>
          <p:cNvSpPr>
            <a:spLocks noGrp="1"/>
          </p:cNvSpPr>
          <p:nvPr>
            <p:ph idx="1"/>
          </p:nvPr>
        </p:nvSpPr>
        <p:spPr/>
        <p:txBody>
          <a:bodyPr vert="horz" lIns="91440" tIns="45720" rIns="91440" bIns="45720" rtlCol="0" anchor="t">
            <a:normAutofit/>
          </a:bodyPr>
          <a:lstStyle/>
          <a:p>
            <a:pPr>
              <a:buNone/>
            </a:pPr>
            <a:r>
              <a:rPr lang="hr-HR" b="1" dirty="0">
                <a:latin typeface="Bahnschrift SemiLight"/>
              </a:rPr>
              <a:t>Razlaganje sučelja</a:t>
            </a:r>
            <a:endParaRPr lang="en-US" b="1" dirty="0">
              <a:latin typeface="Bahnschrift SemiLight"/>
            </a:endParaRPr>
          </a:p>
          <a:p>
            <a:pPr>
              <a:buNone/>
            </a:pPr>
            <a:endParaRPr lang="en-US" dirty="0"/>
          </a:p>
        </p:txBody>
      </p:sp>
      <p:pic>
        <p:nvPicPr>
          <p:cNvPr id="5" name="Base / Left-Right" descr="preencoded.png">
            <a:extLst>
              <a:ext uri="{FF2B5EF4-FFF2-40B4-BE49-F238E27FC236}">
                <a16:creationId xmlns:a16="http://schemas.microsoft.com/office/drawing/2014/main" id="{9019CA21-7BBD-B9A1-AD78-24E66AC26915}"/>
              </a:ext>
            </a:extLst>
          </p:cNvPr>
          <p:cNvPicPr>
            <a:picLocks noChangeAspect="1"/>
          </p:cNvPicPr>
          <p:nvPr/>
        </p:nvPicPr>
        <p:blipFill>
          <a:blip r:embed="rId2"/>
          <a:srcRect l="48074" t="30814" r="-945" b="31718"/>
          <a:stretch/>
        </p:blipFill>
        <p:spPr>
          <a:xfrm>
            <a:off x="2725113" y="2597216"/>
            <a:ext cx="6445996" cy="2569542"/>
          </a:xfrm>
          <a:prstGeom prst="rect">
            <a:avLst/>
          </a:prstGeom>
        </p:spPr>
      </p:pic>
      <p:sp>
        <p:nvSpPr>
          <p:cNvPr id="6" name="TextBox 5">
            <a:extLst>
              <a:ext uri="{FF2B5EF4-FFF2-40B4-BE49-F238E27FC236}">
                <a16:creationId xmlns:a16="http://schemas.microsoft.com/office/drawing/2014/main" id="{9D91145F-C75E-BD17-C4E5-624B42314224}"/>
              </a:ext>
            </a:extLst>
          </p:cNvPr>
          <p:cNvSpPr txBox="1"/>
          <p:nvPr/>
        </p:nvSpPr>
        <p:spPr>
          <a:xfrm>
            <a:off x="5260428" y="5166758"/>
            <a:ext cx="6093372" cy="276999"/>
          </a:xfrm>
          <a:prstGeom prst="rect">
            <a:avLst/>
          </a:prstGeom>
          <a:noFill/>
        </p:spPr>
        <p:txBody>
          <a:bodyPr wrap="square">
            <a:spAutoFit/>
          </a:bodyPr>
          <a:lstStyle/>
          <a:p>
            <a:pPr>
              <a:buNone/>
            </a:pPr>
            <a:r>
              <a:rPr lang="en-US" sz="1200" dirty="0">
                <a:latin typeface="Bahnschrift SemiLight"/>
              </a:rPr>
              <a:t>https://bradfrost.com/blog/post/atomic-web-design/ </a:t>
            </a:r>
          </a:p>
        </p:txBody>
      </p:sp>
    </p:spTree>
    <p:extLst>
      <p:ext uri="{BB962C8B-B14F-4D97-AF65-F5344CB8AC3E}">
        <p14:creationId xmlns:p14="http://schemas.microsoft.com/office/powerpoint/2010/main" val="978455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70260-4DC3-8B48-A9CE-E22CF856857A}"/>
              </a:ext>
            </a:extLst>
          </p:cNvPr>
          <p:cNvSpPr>
            <a:spLocks noGrp="1"/>
          </p:cNvSpPr>
          <p:nvPr>
            <p:ph type="title"/>
          </p:nvPr>
        </p:nvSpPr>
        <p:spPr/>
        <p:txBody>
          <a:bodyPr/>
          <a:lstStyle/>
          <a:p>
            <a:r>
              <a:rPr lang="hr-HR" dirty="0">
                <a:latin typeface="Bahnschrift SemiBold"/>
              </a:rPr>
              <a:t>VJEŽBA</a:t>
            </a:r>
            <a:endParaRPr lang="en-US" dirty="0"/>
          </a:p>
        </p:txBody>
      </p:sp>
      <p:sp>
        <p:nvSpPr>
          <p:cNvPr id="3" name="Content Placeholder 2">
            <a:extLst>
              <a:ext uri="{FF2B5EF4-FFF2-40B4-BE49-F238E27FC236}">
                <a16:creationId xmlns:a16="http://schemas.microsoft.com/office/drawing/2014/main" id="{2E140B3A-2562-98CD-0F50-04F977856F42}"/>
              </a:ext>
            </a:extLst>
          </p:cNvPr>
          <p:cNvSpPr>
            <a:spLocks noGrp="1"/>
          </p:cNvSpPr>
          <p:nvPr>
            <p:ph idx="1"/>
          </p:nvPr>
        </p:nvSpPr>
        <p:spPr/>
        <p:txBody>
          <a:bodyPr vert="horz" lIns="91440" tIns="45720" rIns="91440" bIns="45720" rtlCol="0" anchor="t">
            <a:normAutofit/>
          </a:bodyPr>
          <a:lstStyle/>
          <a:p>
            <a:r>
              <a:rPr lang="hr-HR" dirty="0">
                <a:latin typeface="Bahnschrift SemiLight"/>
              </a:rPr>
              <a:t>Napravite inventar početne stranice web stranice</a:t>
            </a:r>
            <a:br>
              <a:rPr lang="en-US" dirty="0">
                <a:latin typeface="Bahnschrift SemiLight"/>
              </a:rPr>
            </a:br>
            <a:endParaRPr lang="en-US" dirty="0">
              <a:latin typeface="Bahnschrift SemiLight"/>
            </a:endParaRPr>
          </a:p>
        </p:txBody>
      </p:sp>
    </p:spTree>
    <p:extLst>
      <p:ext uri="{BB962C8B-B14F-4D97-AF65-F5344CB8AC3E}">
        <p14:creationId xmlns:p14="http://schemas.microsoft.com/office/powerpoint/2010/main" val="1252570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6" name="Atomic-step/Organisms"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5284818" y="1691257"/>
            <a:ext cx="1631950" cy="2260600"/>
          </a:xfrm>
          <a:prstGeom prst="rect">
            <a:avLst/>
          </a:prstGeom>
        </p:spPr>
      </p:pic>
      <p:sp>
        <p:nvSpPr>
          <p:cNvPr id="9" name="Organismes"/>
          <p:cNvSpPr/>
          <p:nvPr/>
        </p:nvSpPr>
        <p:spPr>
          <a:xfrm>
            <a:off x="5268942" y="2679700"/>
            <a:ext cx="1871333" cy="379562"/>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err="1">
                <a:solidFill>
                  <a:srgbClr val="222222"/>
                </a:solidFill>
                <a:latin typeface="Satoshi Bold" pitchFamily="34" charset="0"/>
                <a:ea typeface="Satoshi Bold" pitchFamily="34" charset="-122"/>
                <a:cs typeface="Satoshi Bold" pitchFamily="34" charset="-120"/>
              </a:rPr>
              <a:t>Organiz</a:t>
            </a:r>
            <a:r>
              <a:rPr lang="hr-HR" sz="2000" b="1" dirty="0" err="1">
                <a:solidFill>
                  <a:srgbClr val="222222"/>
                </a:solidFill>
                <a:latin typeface="Satoshi Bold" pitchFamily="34" charset="0"/>
                <a:ea typeface="Satoshi Bold" pitchFamily="34" charset="-122"/>
                <a:cs typeface="Satoshi Bold" pitchFamily="34" charset="-120"/>
              </a:rPr>
              <a:t>acije</a:t>
            </a:r>
            <a:endParaRPr lang="en-US" sz="2000" dirty="0"/>
          </a:p>
        </p:txBody>
      </p:sp>
      <p:sp>
        <p:nvSpPr>
          <p:cNvPr id="10" name="Modules Fonctionnalits"/>
          <p:cNvSpPr/>
          <p:nvPr/>
        </p:nvSpPr>
        <p:spPr>
          <a:xfrm>
            <a:off x="4653113" y="3049676"/>
            <a:ext cx="2895359" cy="557124"/>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en-US" sz="1600" dirty="0">
                <a:solidFill>
                  <a:srgbClr val="222222"/>
                </a:solidFill>
                <a:latin typeface="Satoshi Regular" pitchFamily="34" charset="0"/>
                <a:ea typeface="Satoshi Regular" pitchFamily="34" charset="-122"/>
                <a:cs typeface="Satoshi Regular" pitchFamily="34" charset="-120"/>
              </a:rPr>
              <a:t>Modul</a:t>
            </a:r>
            <a:r>
              <a:rPr lang="hr-HR" sz="1600" dirty="0">
                <a:solidFill>
                  <a:srgbClr val="222222"/>
                </a:solidFill>
                <a:latin typeface="Satoshi Regular" pitchFamily="34" charset="0"/>
                <a:ea typeface="Satoshi Regular" pitchFamily="34" charset="-122"/>
                <a:cs typeface="Satoshi Regular" pitchFamily="34" charset="-120"/>
              </a:rPr>
              <a:t>i</a:t>
            </a:r>
            <a:r>
              <a:rPr lang="en-US" sz="1600" dirty="0">
                <a:solidFill>
                  <a:srgbClr val="222222"/>
                </a:solidFill>
                <a:latin typeface="Satoshi Regular" pitchFamily="34" charset="0"/>
                <a:ea typeface="Satoshi Regular" pitchFamily="34" charset="-122"/>
                <a:cs typeface="Satoshi Regular" pitchFamily="34" charset="-120"/>
              </a:rPr>
              <a:t> /
 </a:t>
            </a:r>
            <a:r>
              <a:rPr lang="hr-HR" sz="1600" dirty="0">
                <a:solidFill>
                  <a:srgbClr val="222222"/>
                </a:solidFill>
                <a:latin typeface="Satoshi Regular" pitchFamily="34" charset="0"/>
                <a:ea typeface="Satoshi Regular" pitchFamily="34" charset="-122"/>
                <a:cs typeface="Satoshi Regular" pitchFamily="34" charset="-120"/>
              </a:rPr>
              <a:t>Značajke</a:t>
            </a:r>
            <a:endParaRPr lang="en-US" sz="1600" dirty="0"/>
          </a:p>
        </p:txBody>
      </p:sp>
      <p:sp>
        <p:nvSpPr>
          <p:cNvPr id="11" name="Title 10">
            <a:extLst>
              <a:ext uri="{FF2B5EF4-FFF2-40B4-BE49-F238E27FC236}">
                <a16:creationId xmlns:a16="http://schemas.microsoft.com/office/drawing/2014/main" id="{BD1BD07C-54AD-A95D-C8A3-75827E2C8D0E}"/>
              </a:ext>
            </a:extLst>
          </p:cNvPr>
          <p:cNvSpPr>
            <a:spLocks noGrp="1"/>
          </p:cNvSpPr>
          <p:nvPr>
            <p:ph type="title"/>
          </p:nvPr>
        </p:nvSpPr>
        <p:spPr/>
        <p:txBody>
          <a:bodyPr/>
          <a:lstStyle/>
          <a:p>
            <a:r>
              <a:rPr lang="hr-HR" dirty="0">
                <a:latin typeface="Bahnschrift SemiBold"/>
              </a:rPr>
              <a:t>Primjer</a:t>
            </a:r>
            <a:r>
              <a:rPr lang="en-US" dirty="0">
                <a:latin typeface="Bahnschrift SemiBold"/>
              </a:rPr>
              <a:t>: </a:t>
            </a:r>
            <a:r>
              <a:rPr lang="hr-HR" dirty="0">
                <a:latin typeface="Bahnschrift SemiBold"/>
              </a:rPr>
              <a:t>Z</a:t>
            </a:r>
            <a:r>
              <a:rPr lang="en-US" dirty="0" err="1">
                <a:latin typeface="Bahnschrift SemiBold"/>
              </a:rPr>
              <a:t>alando</a:t>
            </a:r>
            <a:endParaRPr lang="en-US" dirty="0"/>
          </a:p>
        </p:txBody>
      </p:sp>
      <p:pic>
        <p:nvPicPr>
          <p:cNvPr id="12" name="Picture 11">
            <a:extLst>
              <a:ext uri="{FF2B5EF4-FFF2-40B4-BE49-F238E27FC236}">
                <a16:creationId xmlns:a16="http://schemas.microsoft.com/office/drawing/2014/main" id="{6FFD0C0A-A99C-E6EE-87CD-FDB1D87723E9}"/>
              </a:ext>
            </a:extLst>
          </p:cNvPr>
          <p:cNvPicPr>
            <a:picLocks noChangeAspect="1"/>
          </p:cNvPicPr>
          <p:nvPr/>
        </p:nvPicPr>
        <p:blipFill>
          <a:blip r:embed="rId4"/>
          <a:stretch>
            <a:fillRect/>
          </a:stretch>
        </p:blipFill>
        <p:spPr>
          <a:xfrm>
            <a:off x="346842" y="4686706"/>
            <a:ext cx="12192000" cy="960073"/>
          </a:xfrm>
          <a:prstGeom prst="rect">
            <a:avLst/>
          </a:prstGeom>
        </p:spPr>
      </p:pic>
      <p:pic>
        <p:nvPicPr>
          <p:cNvPr id="5" name="Rectangle 150" descr="preencoded.png"/>
          <p:cNvPicPr>
            <a:picLocks noChangeAspect="1"/>
          </p:cNvPicPr>
          <p:nvPr/>
        </p:nvPicPr>
        <p:blipFill>
          <a:blip>
            <a:extLst>
              <a:ext uri="{96DAC541-7B7A-43D3-8B79-37D633B846F1}">
                <asvg:svgBlip xmlns:asvg="http://schemas.microsoft.com/office/drawing/2016/SVG/main" r:embed="rId5"/>
              </a:ext>
            </a:extLst>
          </a:blip>
          <a:srcRect/>
          <a:stretch/>
        </p:blipFill>
        <p:spPr>
          <a:xfrm>
            <a:off x="173419" y="5166741"/>
            <a:ext cx="12018581" cy="480037"/>
          </a:xfrm>
          <a:prstGeom prst="rect">
            <a:avLst/>
          </a:prstGeom>
        </p:spPr>
      </p:pic>
      <p:sp>
        <p:nvSpPr>
          <p:cNvPr id="14" name="TextBox 13">
            <a:extLst>
              <a:ext uri="{FF2B5EF4-FFF2-40B4-BE49-F238E27FC236}">
                <a16:creationId xmlns:a16="http://schemas.microsoft.com/office/drawing/2014/main" id="{C567E8BE-90FB-747F-EEF2-FB27F21EE9E2}"/>
              </a:ext>
            </a:extLst>
          </p:cNvPr>
          <p:cNvSpPr txBox="1"/>
          <p:nvPr/>
        </p:nvSpPr>
        <p:spPr>
          <a:xfrm>
            <a:off x="9405446" y="5665148"/>
            <a:ext cx="6266792" cy="461665"/>
          </a:xfrm>
          <a:prstGeom prst="rect">
            <a:avLst/>
          </a:prstGeom>
          <a:noFill/>
        </p:spPr>
        <p:txBody>
          <a:bodyPr wrap="square">
            <a:spAutoFit/>
          </a:bodyPr>
          <a:lstStyle/>
          <a:p>
            <a:r>
              <a:rPr lang="fr-BE" sz="1200" dirty="0"/>
              <a:t>Source: </a:t>
            </a:r>
            <a:r>
              <a:rPr lang="fr-BE" sz="1200" dirty="0">
                <a:hlinkClick r:id="rId6"/>
              </a:rPr>
              <a:t>https://www.zalando.be/?_rfl=nl</a:t>
            </a:r>
            <a:endParaRPr lang="fr-BE" sz="1200" dirty="0"/>
          </a:p>
          <a:p>
            <a:endParaRPr lang="fr-BE" sz="1200" dirty="0"/>
          </a:p>
        </p:txBody>
      </p:sp>
    </p:spTree>
    <p:extLst>
      <p:ext uri="{BB962C8B-B14F-4D97-AF65-F5344CB8AC3E}">
        <p14:creationId xmlns:p14="http://schemas.microsoft.com/office/powerpoint/2010/main" val="2782895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196DFE-23B2-B58A-BFBE-1E2EDE64EC5A}"/>
            </a:ext>
          </a:extLst>
        </p:cNvPr>
        <p:cNvGrpSpPr/>
        <p:nvPr/>
      </p:nvGrpSpPr>
      <p:grpSpPr>
        <a:xfrm>
          <a:off x="0" y="0"/>
          <a:ext cx="0" cy="0"/>
          <a:chOff x="0" y="0"/>
          <a:chExt cx="0" cy="0"/>
        </a:xfrm>
      </p:grpSpPr>
      <p:pic>
        <p:nvPicPr>
          <p:cNvPr id="6" name="Atomic-step/Organisms" descr="preencoded.png">
            <a:extLst>
              <a:ext uri="{FF2B5EF4-FFF2-40B4-BE49-F238E27FC236}">
                <a16:creationId xmlns:a16="http://schemas.microsoft.com/office/drawing/2014/main" id="{D2DB8016-031F-456C-BD28-14233B77A05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284818" y="1691257"/>
            <a:ext cx="1631950" cy="2260600"/>
          </a:xfrm>
          <a:prstGeom prst="rect">
            <a:avLst/>
          </a:prstGeom>
        </p:spPr>
      </p:pic>
      <p:sp>
        <p:nvSpPr>
          <p:cNvPr id="9" name="Organismes">
            <a:extLst>
              <a:ext uri="{FF2B5EF4-FFF2-40B4-BE49-F238E27FC236}">
                <a16:creationId xmlns:a16="http://schemas.microsoft.com/office/drawing/2014/main" id="{A6549C55-F640-0247-41FB-0F807A396AC3}"/>
              </a:ext>
            </a:extLst>
          </p:cNvPr>
          <p:cNvSpPr/>
          <p:nvPr/>
        </p:nvSpPr>
        <p:spPr>
          <a:xfrm>
            <a:off x="5268942" y="2679700"/>
            <a:ext cx="1871333" cy="379562"/>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err="1">
                <a:solidFill>
                  <a:srgbClr val="222222"/>
                </a:solidFill>
                <a:latin typeface="Satoshi Bold" pitchFamily="34" charset="0"/>
                <a:ea typeface="Satoshi Bold" pitchFamily="34" charset="-122"/>
                <a:cs typeface="Satoshi Bold" pitchFamily="34" charset="-120"/>
              </a:rPr>
              <a:t>Organiza</a:t>
            </a:r>
            <a:r>
              <a:rPr lang="hr-HR" sz="2000" b="1" dirty="0" err="1">
                <a:solidFill>
                  <a:srgbClr val="222222"/>
                </a:solidFill>
                <a:latin typeface="Satoshi Bold" pitchFamily="34" charset="0"/>
                <a:ea typeface="Satoshi Bold" pitchFamily="34" charset="-122"/>
                <a:cs typeface="Satoshi Bold" pitchFamily="34" charset="-120"/>
              </a:rPr>
              <a:t>cije</a:t>
            </a:r>
            <a:endParaRPr lang="en-US" sz="2000" dirty="0"/>
          </a:p>
        </p:txBody>
      </p:sp>
      <p:sp>
        <p:nvSpPr>
          <p:cNvPr id="10" name="Modules Fonctionnalits">
            <a:extLst>
              <a:ext uri="{FF2B5EF4-FFF2-40B4-BE49-F238E27FC236}">
                <a16:creationId xmlns:a16="http://schemas.microsoft.com/office/drawing/2014/main" id="{F5B72D56-9FD0-0CAE-D988-360CCFFD3237}"/>
              </a:ext>
            </a:extLst>
          </p:cNvPr>
          <p:cNvSpPr/>
          <p:nvPr/>
        </p:nvSpPr>
        <p:spPr>
          <a:xfrm>
            <a:off x="4653113" y="3049676"/>
            <a:ext cx="2895359" cy="557124"/>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en-US" sz="1600" dirty="0">
                <a:solidFill>
                  <a:srgbClr val="222222"/>
                </a:solidFill>
                <a:latin typeface="Satoshi Regular" pitchFamily="34" charset="0"/>
                <a:ea typeface="Satoshi Regular" pitchFamily="34" charset="-122"/>
                <a:cs typeface="Satoshi Regular" pitchFamily="34" charset="-120"/>
              </a:rPr>
              <a:t>Modul</a:t>
            </a:r>
            <a:r>
              <a:rPr lang="hr-HR" sz="1600" dirty="0">
                <a:solidFill>
                  <a:srgbClr val="222222"/>
                </a:solidFill>
                <a:latin typeface="Satoshi Regular" pitchFamily="34" charset="0"/>
                <a:ea typeface="Satoshi Regular" pitchFamily="34" charset="-122"/>
                <a:cs typeface="Satoshi Regular" pitchFamily="34" charset="-120"/>
              </a:rPr>
              <a:t>i</a:t>
            </a:r>
            <a:r>
              <a:rPr lang="en-US" sz="1600" dirty="0">
                <a:solidFill>
                  <a:srgbClr val="222222"/>
                </a:solidFill>
                <a:latin typeface="Satoshi Regular" pitchFamily="34" charset="0"/>
                <a:ea typeface="Satoshi Regular" pitchFamily="34" charset="-122"/>
                <a:cs typeface="Satoshi Regular" pitchFamily="34" charset="-120"/>
              </a:rPr>
              <a:t> /
 </a:t>
            </a:r>
            <a:r>
              <a:rPr lang="hr-HR" sz="1600" dirty="0">
                <a:solidFill>
                  <a:srgbClr val="222222"/>
                </a:solidFill>
                <a:latin typeface="Satoshi Regular" pitchFamily="34" charset="0"/>
                <a:ea typeface="Satoshi Regular" pitchFamily="34" charset="-122"/>
                <a:cs typeface="Satoshi Regular" pitchFamily="34" charset="-120"/>
              </a:rPr>
              <a:t>Značajke</a:t>
            </a:r>
            <a:endParaRPr lang="en-US" sz="1600" dirty="0"/>
          </a:p>
        </p:txBody>
      </p:sp>
      <p:sp>
        <p:nvSpPr>
          <p:cNvPr id="11" name="Title 10">
            <a:extLst>
              <a:ext uri="{FF2B5EF4-FFF2-40B4-BE49-F238E27FC236}">
                <a16:creationId xmlns:a16="http://schemas.microsoft.com/office/drawing/2014/main" id="{12F2285D-884A-E470-2973-78342BAAD2C5}"/>
              </a:ext>
            </a:extLst>
          </p:cNvPr>
          <p:cNvSpPr>
            <a:spLocks noGrp="1"/>
          </p:cNvSpPr>
          <p:nvPr>
            <p:ph type="title"/>
          </p:nvPr>
        </p:nvSpPr>
        <p:spPr/>
        <p:txBody>
          <a:bodyPr/>
          <a:lstStyle/>
          <a:p>
            <a:r>
              <a:rPr lang="hr-HR" dirty="0">
                <a:latin typeface="Bahnschrift SemiBold"/>
              </a:rPr>
              <a:t>Primjer</a:t>
            </a:r>
            <a:r>
              <a:rPr lang="en-US" dirty="0">
                <a:latin typeface="Bahnschrift SemiBold"/>
              </a:rPr>
              <a:t>: </a:t>
            </a:r>
            <a:r>
              <a:rPr lang="hr-HR" dirty="0">
                <a:latin typeface="Bahnschrift SemiBold"/>
              </a:rPr>
              <a:t>Z</a:t>
            </a:r>
            <a:r>
              <a:rPr lang="en-US" dirty="0" err="1">
                <a:latin typeface="Bahnschrift SemiBold"/>
              </a:rPr>
              <a:t>alando</a:t>
            </a:r>
            <a:endParaRPr lang="en-US" dirty="0"/>
          </a:p>
        </p:txBody>
      </p:sp>
      <p:pic>
        <p:nvPicPr>
          <p:cNvPr id="12" name="Picture 11">
            <a:extLst>
              <a:ext uri="{FF2B5EF4-FFF2-40B4-BE49-F238E27FC236}">
                <a16:creationId xmlns:a16="http://schemas.microsoft.com/office/drawing/2014/main" id="{30D4FB80-15F3-4A79-5BC4-F5B114EE5AEF}"/>
              </a:ext>
            </a:extLst>
          </p:cNvPr>
          <p:cNvPicPr>
            <a:picLocks noChangeAspect="1"/>
          </p:cNvPicPr>
          <p:nvPr/>
        </p:nvPicPr>
        <p:blipFill>
          <a:blip r:embed="rId4"/>
          <a:stretch>
            <a:fillRect/>
          </a:stretch>
        </p:blipFill>
        <p:spPr>
          <a:xfrm>
            <a:off x="346842" y="4686706"/>
            <a:ext cx="11845158" cy="960073"/>
          </a:xfrm>
          <a:prstGeom prst="rect">
            <a:avLst/>
          </a:prstGeom>
        </p:spPr>
      </p:pic>
      <p:pic>
        <p:nvPicPr>
          <p:cNvPr id="5" name="Rectangle 150" descr="preencoded.png">
            <a:extLst>
              <a:ext uri="{FF2B5EF4-FFF2-40B4-BE49-F238E27FC236}">
                <a16:creationId xmlns:a16="http://schemas.microsoft.com/office/drawing/2014/main" id="{EA13EF22-3CB1-7DE9-91B7-B596F03FCC4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828690" y="5166741"/>
            <a:ext cx="2525110" cy="480037"/>
          </a:xfrm>
          <a:prstGeom prst="rect">
            <a:avLst/>
          </a:prstGeom>
        </p:spPr>
      </p:pic>
      <p:sp>
        <p:nvSpPr>
          <p:cNvPr id="14" name="TextBox 13">
            <a:extLst>
              <a:ext uri="{FF2B5EF4-FFF2-40B4-BE49-F238E27FC236}">
                <a16:creationId xmlns:a16="http://schemas.microsoft.com/office/drawing/2014/main" id="{CD6A0DE8-1E3A-3DAD-3305-2D10B9FF1978}"/>
              </a:ext>
            </a:extLst>
          </p:cNvPr>
          <p:cNvSpPr txBox="1"/>
          <p:nvPr/>
        </p:nvSpPr>
        <p:spPr>
          <a:xfrm>
            <a:off x="9765424" y="5646778"/>
            <a:ext cx="6266792" cy="461665"/>
          </a:xfrm>
          <a:prstGeom prst="rect">
            <a:avLst/>
          </a:prstGeom>
          <a:noFill/>
        </p:spPr>
        <p:txBody>
          <a:bodyPr wrap="square">
            <a:spAutoFit/>
          </a:bodyPr>
          <a:lstStyle/>
          <a:p>
            <a:r>
              <a:rPr lang="fr-BE" sz="1200" dirty="0"/>
              <a:t>Source: </a:t>
            </a:r>
            <a:r>
              <a:rPr lang="fr-BE" sz="1200" dirty="0">
                <a:hlinkClick r:id="rId6"/>
              </a:rPr>
              <a:t>https://www.zalando.be/?_rfl=nl</a:t>
            </a:r>
            <a:endParaRPr lang="fr-BE" sz="1200" dirty="0"/>
          </a:p>
          <a:p>
            <a:endParaRPr lang="fr-BE" sz="1200" dirty="0"/>
          </a:p>
        </p:txBody>
      </p:sp>
    </p:spTree>
    <p:extLst>
      <p:ext uri="{BB962C8B-B14F-4D97-AF65-F5344CB8AC3E}">
        <p14:creationId xmlns:p14="http://schemas.microsoft.com/office/powerpoint/2010/main" val="3485811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3" name="image 19" descr="preencoded.png"/>
          <p:cNvPicPr>
            <a:picLocks noChangeAspect="1"/>
          </p:cNvPicPr>
          <p:nvPr/>
        </p:nvPicPr>
        <p:blipFill>
          <a:blip r:embed="rId3"/>
          <a:srcRect/>
          <a:stretch/>
        </p:blipFill>
        <p:spPr>
          <a:xfrm>
            <a:off x="2616200" y="4994335"/>
            <a:ext cx="7207250" cy="2127250"/>
          </a:xfrm>
          <a:prstGeom prst="rect">
            <a:avLst/>
          </a:prstGeom>
        </p:spPr>
      </p:pic>
      <p:pic>
        <p:nvPicPr>
          <p:cNvPr id="4" name="Line 3" descr="preencoded.png"/>
          <p:cNvPicPr>
            <a:picLocks noChangeAspect="1"/>
          </p:cNvPicPr>
          <p:nvPr/>
        </p:nvPicPr>
        <p:blipFill>
          <a:blip r:embed="rId4"/>
          <a:srcRect/>
          <a:stretch/>
        </p:blipFill>
        <p:spPr>
          <a:xfrm>
            <a:off x="3594671" y="4664135"/>
            <a:ext cx="233809" cy="476250"/>
          </a:xfrm>
          <a:prstGeom prst="rect">
            <a:avLst/>
          </a:prstGeom>
        </p:spPr>
      </p:pic>
      <p:pic>
        <p:nvPicPr>
          <p:cNvPr id="5" name="Line 4" descr="preencoded.png"/>
          <p:cNvPicPr>
            <a:picLocks noChangeAspect="1"/>
          </p:cNvPicPr>
          <p:nvPr/>
        </p:nvPicPr>
        <p:blipFill>
          <a:blip r:embed="rId4"/>
          <a:srcRect/>
          <a:stretch/>
        </p:blipFill>
        <p:spPr>
          <a:xfrm>
            <a:off x="4420171" y="4664135"/>
            <a:ext cx="233809" cy="476250"/>
          </a:xfrm>
          <a:prstGeom prst="rect">
            <a:avLst/>
          </a:prstGeom>
        </p:spPr>
      </p:pic>
      <p:pic>
        <p:nvPicPr>
          <p:cNvPr id="6" name="Line 5" descr="preencoded.png"/>
          <p:cNvPicPr>
            <a:picLocks noChangeAspect="1"/>
          </p:cNvPicPr>
          <p:nvPr/>
        </p:nvPicPr>
        <p:blipFill>
          <a:blip r:embed="rId5"/>
          <a:srcRect/>
          <a:stretch/>
        </p:blipFill>
        <p:spPr>
          <a:xfrm>
            <a:off x="5680646" y="4664135"/>
            <a:ext cx="233809" cy="476250"/>
          </a:xfrm>
          <a:prstGeom prst="rect">
            <a:avLst/>
          </a:prstGeom>
        </p:spPr>
      </p:pic>
      <p:pic>
        <p:nvPicPr>
          <p:cNvPr id="7" name="Line 7" descr="preencoded.png"/>
          <p:cNvPicPr>
            <a:picLocks noChangeAspect="1"/>
          </p:cNvPicPr>
          <p:nvPr/>
        </p:nvPicPr>
        <p:blipFill>
          <a:blip r:embed="rId6"/>
          <a:srcRect/>
          <a:stretch/>
        </p:blipFill>
        <p:spPr>
          <a:xfrm>
            <a:off x="5994971" y="4664135"/>
            <a:ext cx="233809" cy="1181100"/>
          </a:xfrm>
          <a:prstGeom prst="rect">
            <a:avLst/>
          </a:prstGeom>
        </p:spPr>
      </p:pic>
      <p:pic>
        <p:nvPicPr>
          <p:cNvPr id="8" name="Line 6" descr="preencoded.png"/>
          <p:cNvPicPr>
            <a:picLocks noChangeAspect="1"/>
          </p:cNvPicPr>
          <p:nvPr/>
        </p:nvPicPr>
        <p:blipFill>
          <a:blip r:embed="rId7"/>
          <a:srcRect/>
          <a:stretch/>
        </p:blipFill>
        <p:spPr>
          <a:xfrm>
            <a:off x="5385371" y="4664135"/>
            <a:ext cx="233809" cy="685800"/>
          </a:xfrm>
          <a:prstGeom prst="rect">
            <a:avLst/>
          </a:prstGeom>
        </p:spPr>
      </p:pic>
      <p:pic>
        <p:nvPicPr>
          <p:cNvPr id="9" name="Atomic-step/Ions" descr="preencoded.png"/>
          <p:cNvPicPr>
            <a:picLocks noChangeAspect="1"/>
          </p:cNvPicPr>
          <p:nvPr/>
        </p:nvPicPr>
        <p:blipFill>
          <a:blip>
            <a:extLst>
              <a:ext uri="{96DAC541-7B7A-43D3-8B79-37D633B846F1}">
                <asvg:svgBlip xmlns:asvg="http://schemas.microsoft.com/office/drawing/2016/SVG/main" r:embed="rId8"/>
              </a:ext>
            </a:extLst>
          </a:blip>
          <a:srcRect/>
          <a:stretch/>
        </p:blipFill>
        <p:spPr>
          <a:xfrm>
            <a:off x="3587750" y="1863785"/>
            <a:ext cx="1587500" cy="1974850"/>
          </a:xfrm>
          <a:prstGeom prst="rect">
            <a:avLst/>
          </a:prstGeom>
        </p:spPr>
      </p:pic>
      <p:pic>
        <p:nvPicPr>
          <p:cNvPr id="10" name="Atomic-step/Atoms" descr="preencoded.png"/>
          <p:cNvPicPr>
            <a:picLocks noChangeAspect="1"/>
          </p:cNvPicPr>
          <p:nvPr/>
        </p:nvPicPr>
        <p:blipFill>
          <a:blip>
            <a:extLst>
              <a:ext uri="{96DAC541-7B7A-43D3-8B79-37D633B846F1}">
                <asvg:svgBlip xmlns:asvg="http://schemas.microsoft.com/office/drawing/2016/SVG/main" r:embed="rId9"/>
              </a:ext>
            </a:extLst>
          </a:blip>
          <a:srcRect/>
          <a:stretch/>
        </p:blipFill>
        <p:spPr>
          <a:xfrm>
            <a:off x="5302250" y="1863785"/>
            <a:ext cx="1587500" cy="1974850"/>
          </a:xfrm>
          <a:prstGeom prst="rect">
            <a:avLst/>
          </a:prstGeom>
        </p:spPr>
      </p:pic>
      <p:pic>
        <p:nvPicPr>
          <p:cNvPr id="11" name="Atomic-step/Molecules" descr="preencoded.png"/>
          <p:cNvPicPr>
            <a:picLocks noChangeAspect="1"/>
          </p:cNvPicPr>
          <p:nvPr/>
        </p:nvPicPr>
        <p:blipFill>
          <a:blip>
            <a:extLst>
              <a:ext uri="{96DAC541-7B7A-43D3-8B79-37D633B846F1}">
                <asvg:svgBlip xmlns:asvg="http://schemas.microsoft.com/office/drawing/2016/SVG/main" r:embed="rId10"/>
              </a:ext>
            </a:extLst>
          </a:blip>
          <a:srcRect/>
          <a:stretch/>
        </p:blipFill>
        <p:spPr>
          <a:xfrm>
            <a:off x="7016750" y="1863785"/>
            <a:ext cx="1587500" cy="1974850"/>
          </a:xfrm>
          <a:prstGeom prst="rect">
            <a:avLst/>
          </a:prstGeom>
        </p:spPr>
      </p:pic>
      <p:sp>
        <p:nvSpPr>
          <p:cNvPr id="14" name="Icon"/>
          <p:cNvSpPr/>
          <p:nvPr/>
        </p:nvSpPr>
        <p:spPr>
          <a:xfrm>
            <a:off x="3302000" y="4270435"/>
            <a:ext cx="5207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222222"/>
                </a:solidFill>
                <a:latin typeface="Satoshi Bold" pitchFamily="34" charset="0"/>
                <a:ea typeface="Satoshi Bold" pitchFamily="34" charset="-122"/>
                <a:cs typeface="Satoshi Bold" pitchFamily="34" charset="-120"/>
              </a:rPr>
              <a:t>Icon</a:t>
            </a:r>
            <a:endParaRPr lang="en-US" sz="2000"/>
          </a:p>
        </p:txBody>
      </p:sp>
      <p:sp>
        <p:nvSpPr>
          <p:cNvPr id="15" name="Text"/>
          <p:cNvSpPr/>
          <p:nvPr/>
        </p:nvSpPr>
        <p:spPr>
          <a:xfrm>
            <a:off x="4181296" y="4270435"/>
            <a:ext cx="667827" cy="365184"/>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err="1">
                <a:solidFill>
                  <a:srgbClr val="222222"/>
                </a:solidFill>
                <a:latin typeface="Satoshi Bold" pitchFamily="34" charset="0"/>
                <a:ea typeface="Satoshi Bold" pitchFamily="34" charset="-122"/>
                <a:cs typeface="Satoshi Bold" pitchFamily="34" charset="-120"/>
              </a:rPr>
              <a:t>Te</a:t>
            </a:r>
            <a:r>
              <a:rPr lang="hr-HR" sz="2000" b="1" dirty="0" err="1">
                <a:solidFill>
                  <a:srgbClr val="222222"/>
                </a:solidFill>
                <a:latin typeface="Satoshi Bold" pitchFamily="34" charset="0"/>
                <a:ea typeface="Satoshi Bold" pitchFamily="34" charset="-122"/>
                <a:cs typeface="Satoshi Bold" pitchFamily="34" charset="-120"/>
              </a:rPr>
              <a:t>ks</a:t>
            </a:r>
            <a:r>
              <a:rPr lang="en-US" sz="2000" b="1" dirty="0">
                <a:solidFill>
                  <a:srgbClr val="222222"/>
                </a:solidFill>
                <a:latin typeface="Satoshi Bold" pitchFamily="34" charset="0"/>
                <a:ea typeface="Satoshi Bold" pitchFamily="34" charset="-122"/>
                <a:cs typeface="Satoshi Bold" pitchFamily="34" charset="-120"/>
              </a:rPr>
              <a:t>t</a:t>
            </a:r>
            <a:endParaRPr lang="en-US" sz="2000" dirty="0"/>
          </a:p>
        </p:txBody>
      </p:sp>
      <p:sp>
        <p:nvSpPr>
          <p:cNvPr id="16" name="Colors"/>
          <p:cNvSpPr/>
          <p:nvPr/>
        </p:nvSpPr>
        <p:spPr>
          <a:xfrm>
            <a:off x="5092700" y="4270435"/>
            <a:ext cx="7937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222222"/>
                </a:solidFill>
                <a:latin typeface="Satoshi Bold" pitchFamily="34" charset="0"/>
                <a:ea typeface="Satoshi Bold" pitchFamily="34" charset="-122"/>
                <a:cs typeface="Satoshi Bold" pitchFamily="34" charset="-120"/>
              </a:rPr>
              <a:t>Boje</a:t>
            </a:r>
            <a:endParaRPr lang="en-US" sz="2000" dirty="0"/>
          </a:p>
        </p:txBody>
      </p:sp>
      <p:sp>
        <p:nvSpPr>
          <p:cNvPr id="17" name="Ions"/>
          <p:cNvSpPr/>
          <p:nvPr/>
        </p:nvSpPr>
        <p:spPr>
          <a:xfrm>
            <a:off x="4153019" y="3197285"/>
            <a:ext cx="611877" cy="365184"/>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a:solidFill>
                  <a:srgbClr val="222222"/>
                </a:solidFill>
                <a:latin typeface="Satoshi Bold" pitchFamily="34" charset="0"/>
                <a:ea typeface="Satoshi Bold" pitchFamily="34" charset="-122"/>
                <a:cs typeface="Satoshi Bold" pitchFamily="34" charset="-120"/>
              </a:rPr>
              <a:t>Ion</a:t>
            </a:r>
            <a:r>
              <a:rPr lang="hr-HR" sz="2000" b="1" dirty="0">
                <a:solidFill>
                  <a:srgbClr val="222222"/>
                </a:solidFill>
                <a:latin typeface="Satoshi Bold" pitchFamily="34" charset="0"/>
                <a:ea typeface="Satoshi Bold" pitchFamily="34" charset="-122"/>
                <a:cs typeface="Satoshi Bold" pitchFamily="34" charset="-120"/>
              </a:rPr>
              <a:t>i</a:t>
            </a:r>
            <a:endParaRPr lang="en-US" sz="2000" dirty="0"/>
          </a:p>
        </p:txBody>
      </p:sp>
      <p:sp>
        <p:nvSpPr>
          <p:cNvPr id="18" name="Designs tokens"/>
          <p:cNvSpPr/>
          <p:nvPr/>
        </p:nvSpPr>
        <p:spPr>
          <a:xfrm>
            <a:off x="3752850" y="3552885"/>
            <a:ext cx="12636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en-US" sz="1600" dirty="0">
                <a:solidFill>
                  <a:srgbClr val="222222"/>
                </a:solidFill>
                <a:latin typeface="Satoshi Regular" pitchFamily="34" charset="0"/>
                <a:ea typeface="Satoshi Regular" pitchFamily="34" charset="-122"/>
                <a:cs typeface="Satoshi Regular" pitchFamily="34" charset="-120"/>
              </a:rPr>
              <a:t>Design token</a:t>
            </a:r>
            <a:r>
              <a:rPr lang="hr-HR" sz="1600" dirty="0">
                <a:solidFill>
                  <a:srgbClr val="222222"/>
                </a:solidFill>
                <a:latin typeface="Satoshi Regular" pitchFamily="34" charset="0"/>
                <a:ea typeface="Satoshi Regular" pitchFamily="34" charset="-122"/>
                <a:cs typeface="Satoshi Regular" pitchFamily="34" charset="-120"/>
              </a:rPr>
              <a:t>i</a:t>
            </a:r>
            <a:endParaRPr lang="en-US" sz="1600" dirty="0"/>
          </a:p>
        </p:txBody>
      </p:sp>
      <p:sp>
        <p:nvSpPr>
          <p:cNvPr id="19" name="Atomes"/>
          <p:cNvSpPr/>
          <p:nvPr/>
        </p:nvSpPr>
        <p:spPr>
          <a:xfrm>
            <a:off x="5700623" y="3197285"/>
            <a:ext cx="969632" cy="379562"/>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hr-HR" sz="2000" b="1" dirty="0">
                <a:solidFill>
                  <a:srgbClr val="222222"/>
                </a:solidFill>
                <a:latin typeface="Satoshi Bold" pitchFamily="34" charset="0"/>
                <a:ea typeface="Satoshi Bold" pitchFamily="34" charset="-122"/>
                <a:cs typeface="Satoshi Bold" pitchFamily="34" charset="-120"/>
              </a:rPr>
              <a:t>Atomi</a:t>
            </a:r>
            <a:endParaRPr lang="en-US" sz="2000" dirty="0"/>
          </a:p>
        </p:txBody>
      </p:sp>
      <p:sp>
        <p:nvSpPr>
          <p:cNvPr id="20" name="Composants"/>
          <p:cNvSpPr/>
          <p:nvPr/>
        </p:nvSpPr>
        <p:spPr>
          <a:xfrm>
            <a:off x="5511800" y="3552885"/>
            <a:ext cx="13779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hr-HR" sz="1600" dirty="0"/>
              <a:t>Komponente</a:t>
            </a:r>
            <a:endParaRPr lang="en-US" sz="1600" dirty="0"/>
          </a:p>
        </p:txBody>
      </p:sp>
      <p:sp>
        <p:nvSpPr>
          <p:cNvPr id="21" name="Molcules"/>
          <p:cNvSpPr/>
          <p:nvPr/>
        </p:nvSpPr>
        <p:spPr>
          <a:xfrm>
            <a:off x="7200900" y="3197285"/>
            <a:ext cx="1391728" cy="36997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a:solidFill>
                  <a:srgbClr val="222222"/>
                </a:solidFill>
                <a:latin typeface="Satoshi Bold" pitchFamily="34" charset="0"/>
                <a:ea typeface="Satoshi Bold" pitchFamily="34" charset="-122"/>
                <a:cs typeface="Satoshi Bold" pitchFamily="34" charset="-120"/>
              </a:rPr>
              <a:t>Mole</a:t>
            </a:r>
            <a:r>
              <a:rPr lang="hr-HR" sz="2000" b="1" dirty="0">
                <a:solidFill>
                  <a:srgbClr val="222222"/>
                </a:solidFill>
                <a:latin typeface="Satoshi Bold" pitchFamily="34" charset="0"/>
                <a:ea typeface="Satoshi Bold" pitchFamily="34" charset="-122"/>
                <a:cs typeface="Satoshi Bold" pitchFamily="34" charset="-120"/>
              </a:rPr>
              <a:t>kule</a:t>
            </a:r>
            <a:endParaRPr lang="en-US" sz="2000" dirty="0"/>
          </a:p>
        </p:txBody>
      </p:sp>
      <p:sp>
        <p:nvSpPr>
          <p:cNvPr id="22" name="Patterns"/>
          <p:cNvSpPr/>
          <p:nvPr/>
        </p:nvSpPr>
        <p:spPr>
          <a:xfrm>
            <a:off x="7442200" y="3557677"/>
            <a:ext cx="880373" cy="29533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hr-HR" sz="1600" dirty="0">
                <a:solidFill>
                  <a:srgbClr val="222222"/>
                </a:solidFill>
                <a:latin typeface="Satoshi Regular" pitchFamily="34" charset="0"/>
                <a:ea typeface="Satoshi Regular" pitchFamily="34" charset="-122"/>
                <a:cs typeface="Satoshi Regular" pitchFamily="34" charset="-120"/>
              </a:rPr>
              <a:t>Uzorci</a:t>
            </a:r>
            <a:endParaRPr lang="en-US" sz="1600" dirty="0"/>
          </a:p>
        </p:txBody>
      </p:sp>
      <p:sp>
        <p:nvSpPr>
          <p:cNvPr id="23" name="Title 22">
            <a:extLst>
              <a:ext uri="{FF2B5EF4-FFF2-40B4-BE49-F238E27FC236}">
                <a16:creationId xmlns:a16="http://schemas.microsoft.com/office/drawing/2014/main" id="{FAD47F82-84AB-EC63-415A-945E27475CE3}"/>
              </a:ext>
            </a:extLst>
          </p:cNvPr>
          <p:cNvSpPr>
            <a:spLocks noGrp="1"/>
          </p:cNvSpPr>
          <p:nvPr>
            <p:ph type="title"/>
          </p:nvPr>
        </p:nvSpPr>
        <p:spPr/>
        <p:txBody>
          <a:bodyPr/>
          <a:lstStyle/>
          <a:p>
            <a:r>
              <a:rPr lang="hr-HR" dirty="0"/>
              <a:t>Primjer</a:t>
            </a:r>
            <a:r>
              <a:rPr lang="en-US" dirty="0"/>
              <a:t>: </a:t>
            </a:r>
            <a:r>
              <a:rPr lang="hr-HR" dirty="0"/>
              <a:t>Z</a:t>
            </a:r>
            <a:r>
              <a:rPr lang="en-US" dirty="0" err="1"/>
              <a:t>alando</a:t>
            </a:r>
            <a:r>
              <a:rPr lang="en-US" dirty="0"/>
              <a:t> </a:t>
            </a:r>
          </a:p>
        </p:txBody>
      </p:sp>
      <p:sp>
        <p:nvSpPr>
          <p:cNvPr id="13" name="TextBox 12">
            <a:extLst>
              <a:ext uri="{FF2B5EF4-FFF2-40B4-BE49-F238E27FC236}">
                <a16:creationId xmlns:a16="http://schemas.microsoft.com/office/drawing/2014/main" id="{E6A1C845-F479-FFA3-B4F8-0DBF781C94CB}"/>
              </a:ext>
            </a:extLst>
          </p:cNvPr>
          <p:cNvSpPr txBox="1"/>
          <p:nvPr/>
        </p:nvSpPr>
        <p:spPr>
          <a:xfrm>
            <a:off x="7200900" y="6262042"/>
            <a:ext cx="6266792" cy="461665"/>
          </a:xfrm>
          <a:prstGeom prst="rect">
            <a:avLst/>
          </a:prstGeom>
          <a:noFill/>
        </p:spPr>
        <p:txBody>
          <a:bodyPr wrap="square">
            <a:spAutoFit/>
          </a:bodyPr>
          <a:lstStyle/>
          <a:p>
            <a:r>
              <a:rPr lang="fr-BE" sz="1200" dirty="0"/>
              <a:t>Source:</a:t>
            </a:r>
            <a:r>
              <a:rPr lang="fr-BE" sz="1200" dirty="0">
                <a:hlinkClick r:id="rId11"/>
              </a:rPr>
              <a:t> https://www.zalando.be/?_rfl=nl</a:t>
            </a:r>
            <a:endParaRPr lang="fr-BE" sz="1200" dirty="0"/>
          </a:p>
          <a:p>
            <a:endParaRPr lang="fr-BE" sz="1200" dirty="0"/>
          </a:p>
        </p:txBody>
      </p:sp>
    </p:spTree>
    <p:extLst>
      <p:ext uri="{BB962C8B-B14F-4D97-AF65-F5344CB8AC3E}">
        <p14:creationId xmlns:p14="http://schemas.microsoft.com/office/powerpoint/2010/main" val="1555955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3" name="Frame 297"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1016000" y="2489200"/>
            <a:ext cx="10160000" cy="2260600"/>
          </a:xfrm>
          <a:prstGeom prst="rect">
            <a:avLst/>
          </a:prstGeom>
        </p:spPr>
      </p:pic>
      <p:sp>
        <p:nvSpPr>
          <p:cNvPr id="6" name="Ions"/>
          <p:cNvSpPr/>
          <p:nvPr/>
        </p:nvSpPr>
        <p:spPr>
          <a:xfrm>
            <a:off x="1562100" y="3822700"/>
            <a:ext cx="607083"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a:solidFill>
                  <a:srgbClr val="222222"/>
                </a:solidFill>
                <a:latin typeface="Satoshi Bold" pitchFamily="34" charset="0"/>
                <a:ea typeface="Satoshi Bold" pitchFamily="34" charset="-122"/>
                <a:cs typeface="Satoshi Bold" pitchFamily="34" charset="-120"/>
              </a:rPr>
              <a:t>Ion</a:t>
            </a:r>
            <a:r>
              <a:rPr lang="hr-HR" sz="2000" b="1" dirty="0">
                <a:solidFill>
                  <a:srgbClr val="222222"/>
                </a:solidFill>
                <a:latin typeface="Satoshi Bold" pitchFamily="34" charset="0"/>
                <a:ea typeface="Satoshi Bold" pitchFamily="34" charset="-122"/>
                <a:cs typeface="Satoshi Bold" pitchFamily="34" charset="-120"/>
              </a:rPr>
              <a:t>i</a:t>
            </a:r>
            <a:endParaRPr lang="en-US" sz="2000" dirty="0"/>
          </a:p>
        </p:txBody>
      </p:sp>
      <p:sp>
        <p:nvSpPr>
          <p:cNvPr id="7" name="Designs tokens"/>
          <p:cNvSpPr/>
          <p:nvPr/>
        </p:nvSpPr>
        <p:spPr>
          <a:xfrm>
            <a:off x="1181100" y="4178300"/>
            <a:ext cx="126365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en-US" sz="1600" dirty="0">
                <a:solidFill>
                  <a:srgbClr val="222222"/>
                </a:solidFill>
                <a:latin typeface="Satoshi Regular" pitchFamily="34" charset="0"/>
                <a:ea typeface="Satoshi Regular" pitchFamily="34" charset="-122"/>
                <a:cs typeface="Satoshi Regular" pitchFamily="34" charset="-120"/>
              </a:rPr>
              <a:t>Design token</a:t>
            </a:r>
            <a:r>
              <a:rPr lang="hr-HR" sz="1600" dirty="0">
                <a:solidFill>
                  <a:srgbClr val="222222"/>
                </a:solidFill>
                <a:latin typeface="Satoshi Regular" pitchFamily="34" charset="0"/>
                <a:ea typeface="Satoshi Regular" pitchFamily="34" charset="-122"/>
                <a:cs typeface="Satoshi Regular" pitchFamily="34" charset="-120"/>
              </a:rPr>
              <a:t>i</a:t>
            </a:r>
            <a:endParaRPr lang="en-US" sz="1600" dirty="0"/>
          </a:p>
        </p:txBody>
      </p:sp>
      <p:sp>
        <p:nvSpPr>
          <p:cNvPr id="8" name="Atomes"/>
          <p:cNvSpPr/>
          <p:nvPr/>
        </p:nvSpPr>
        <p:spPr>
          <a:xfrm>
            <a:off x="3143250" y="3822700"/>
            <a:ext cx="96484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a:solidFill>
                  <a:srgbClr val="222222"/>
                </a:solidFill>
                <a:latin typeface="Satoshi Bold" pitchFamily="34" charset="0"/>
                <a:ea typeface="Satoshi Bold" pitchFamily="34" charset="-122"/>
                <a:cs typeface="Satoshi Bold" pitchFamily="34" charset="-120"/>
              </a:rPr>
              <a:t>Atom</a:t>
            </a:r>
            <a:r>
              <a:rPr lang="hr-HR" sz="2000" b="1" dirty="0">
                <a:solidFill>
                  <a:srgbClr val="222222"/>
                </a:solidFill>
                <a:latin typeface="Satoshi Bold" pitchFamily="34" charset="0"/>
                <a:ea typeface="Satoshi Bold" pitchFamily="34" charset="-122"/>
                <a:cs typeface="Satoshi Bold" pitchFamily="34" charset="-120"/>
              </a:rPr>
              <a:t>i</a:t>
            </a:r>
            <a:endParaRPr lang="en-US" sz="2000" dirty="0"/>
          </a:p>
        </p:txBody>
      </p:sp>
      <p:sp>
        <p:nvSpPr>
          <p:cNvPr id="9" name="Composants"/>
          <p:cNvSpPr/>
          <p:nvPr/>
        </p:nvSpPr>
        <p:spPr>
          <a:xfrm>
            <a:off x="2940050" y="4178300"/>
            <a:ext cx="1210694"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hr-HR" sz="1600" dirty="0">
                <a:solidFill>
                  <a:srgbClr val="222222"/>
                </a:solidFill>
                <a:latin typeface="Satoshi Regular" pitchFamily="34" charset="0"/>
                <a:ea typeface="Satoshi Regular" pitchFamily="34" charset="-122"/>
                <a:cs typeface="Satoshi Regular" pitchFamily="34" charset="-120"/>
              </a:rPr>
              <a:t>Komponente</a:t>
            </a:r>
            <a:endParaRPr lang="en-US" sz="1600" dirty="0"/>
          </a:p>
        </p:txBody>
      </p:sp>
      <p:sp>
        <p:nvSpPr>
          <p:cNvPr id="10" name="Molcules"/>
          <p:cNvSpPr/>
          <p:nvPr/>
        </p:nvSpPr>
        <p:spPr>
          <a:xfrm>
            <a:off x="4629150" y="3822700"/>
            <a:ext cx="1362973"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a:solidFill>
                  <a:srgbClr val="222222"/>
                </a:solidFill>
                <a:latin typeface="Satoshi Bold" pitchFamily="34" charset="0"/>
                <a:ea typeface="Satoshi Bold" pitchFamily="34" charset="-122"/>
                <a:cs typeface="Satoshi Bold" pitchFamily="34" charset="-120"/>
              </a:rPr>
              <a:t>Mole</a:t>
            </a:r>
            <a:r>
              <a:rPr lang="hr-HR" sz="2000" b="1" dirty="0">
                <a:solidFill>
                  <a:srgbClr val="222222"/>
                </a:solidFill>
                <a:latin typeface="Satoshi Bold" pitchFamily="34" charset="0"/>
                <a:ea typeface="Satoshi Bold" pitchFamily="34" charset="-122"/>
                <a:cs typeface="Satoshi Bold" pitchFamily="34" charset="-120"/>
              </a:rPr>
              <a:t>kule</a:t>
            </a:r>
            <a:endParaRPr lang="en-US" sz="2000" dirty="0"/>
          </a:p>
        </p:txBody>
      </p:sp>
      <p:sp>
        <p:nvSpPr>
          <p:cNvPr id="11" name="Patterns"/>
          <p:cNvSpPr/>
          <p:nvPr/>
        </p:nvSpPr>
        <p:spPr>
          <a:xfrm>
            <a:off x="4896809" y="4178300"/>
            <a:ext cx="901699"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hr-HR" sz="1600" dirty="0">
                <a:solidFill>
                  <a:srgbClr val="222222"/>
                </a:solidFill>
                <a:latin typeface="Satoshi Regular" pitchFamily="34" charset="0"/>
                <a:ea typeface="Satoshi Regular" pitchFamily="34" charset="-122"/>
                <a:cs typeface="Satoshi Regular" pitchFamily="34" charset="-120"/>
              </a:rPr>
              <a:t>Uzorci</a:t>
            </a:r>
            <a:endParaRPr lang="en-US" sz="1600" dirty="0"/>
          </a:p>
        </p:txBody>
      </p:sp>
      <p:sp>
        <p:nvSpPr>
          <p:cNvPr id="12" name="Organismes"/>
          <p:cNvSpPr/>
          <p:nvPr/>
        </p:nvSpPr>
        <p:spPr>
          <a:xfrm>
            <a:off x="6111816" y="3822700"/>
            <a:ext cx="177069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en-US" sz="2000" b="1" dirty="0" err="1">
                <a:solidFill>
                  <a:srgbClr val="222222"/>
                </a:solidFill>
                <a:latin typeface="Satoshi Bold" pitchFamily="34" charset="0"/>
                <a:ea typeface="Satoshi Bold" pitchFamily="34" charset="-122"/>
                <a:cs typeface="Satoshi Bold" pitchFamily="34" charset="-120"/>
              </a:rPr>
              <a:t>Organiza</a:t>
            </a:r>
            <a:r>
              <a:rPr lang="hr-HR" sz="2000" b="1" dirty="0" err="1">
                <a:solidFill>
                  <a:srgbClr val="222222"/>
                </a:solidFill>
                <a:latin typeface="Satoshi Bold" pitchFamily="34" charset="0"/>
                <a:ea typeface="Satoshi Bold" pitchFamily="34" charset="-122"/>
                <a:cs typeface="Satoshi Bold" pitchFamily="34" charset="-120"/>
              </a:rPr>
              <a:t>cije</a:t>
            </a:r>
            <a:endParaRPr lang="en-US" sz="2000" dirty="0"/>
          </a:p>
        </p:txBody>
      </p:sp>
      <p:sp>
        <p:nvSpPr>
          <p:cNvPr id="13" name="Modules Fonctionnalits"/>
          <p:cNvSpPr/>
          <p:nvPr/>
        </p:nvSpPr>
        <p:spPr>
          <a:xfrm>
            <a:off x="6502400" y="4178300"/>
            <a:ext cx="90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240"/>
              </a:lnSpc>
              <a:buNone/>
            </a:pPr>
            <a:r>
              <a:rPr lang="en-US" sz="1600" dirty="0">
                <a:solidFill>
                  <a:srgbClr val="222222"/>
                </a:solidFill>
                <a:latin typeface="Satoshi Regular" pitchFamily="34" charset="0"/>
                <a:ea typeface="Satoshi Regular" pitchFamily="34" charset="-122"/>
                <a:cs typeface="Satoshi Regular" pitchFamily="34" charset="-120"/>
              </a:rPr>
              <a:t>Modul</a:t>
            </a:r>
            <a:r>
              <a:rPr lang="hr-HR" sz="1600" dirty="0">
                <a:solidFill>
                  <a:srgbClr val="222222"/>
                </a:solidFill>
                <a:latin typeface="Satoshi Regular" pitchFamily="34" charset="0"/>
                <a:ea typeface="Satoshi Regular" pitchFamily="34" charset="-122"/>
                <a:cs typeface="Satoshi Regular" pitchFamily="34" charset="-120"/>
              </a:rPr>
              <a:t>i</a:t>
            </a:r>
            <a:r>
              <a:rPr lang="en-US" sz="1600" dirty="0">
                <a:solidFill>
                  <a:srgbClr val="222222"/>
                </a:solidFill>
                <a:latin typeface="Satoshi Regular" pitchFamily="34" charset="0"/>
                <a:ea typeface="Satoshi Regular" pitchFamily="34" charset="-122"/>
                <a:cs typeface="Satoshi Regular" pitchFamily="34" charset="-120"/>
              </a:rPr>
              <a:t> 
 </a:t>
            </a:r>
            <a:r>
              <a:rPr lang="hr-HR" sz="1600" dirty="0">
                <a:solidFill>
                  <a:srgbClr val="222222"/>
                </a:solidFill>
                <a:latin typeface="Satoshi Regular" pitchFamily="34" charset="0"/>
                <a:ea typeface="Satoshi Regular" pitchFamily="34" charset="-122"/>
                <a:cs typeface="Satoshi Regular" pitchFamily="34" charset="-120"/>
              </a:rPr>
              <a:t>Značajke</a:t>
            </a:r>
            <a:endParaRPr lang="en-US" sz="1600" dirty="0"/>
          </a:p>
        </p:txBody>
      </p:sp>
      <p:sp>
        <p:nvSpPr>
          <p:cNvPr id="14" name="Templates"/>
          <p:cNvSpPr/>
          <p:nvPr/>
        </p:nvSpPr>
        <p:spPr>
          <a:xfrm>
            <a:off x="8058150" y="3822700"/>
            <a:ext cx="1316606"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hr-HR" sz="2000" b="1" dirty="0">
                <a:solidFill>
                  <a:srgbClr val="222222"/>
                </a:solidFill>
                <a:latin typeface="Satoshi Bold" pitchFamily="34" charset="0"/>
                <a:ea typeface="Satoshi Bold" pitchFamily="34" charset="-122"/>
                <a:cs typeface="Satoshi Bold" pitchFamily="34" charset="-120"/>
              </a:rPr>
              <a:t>Predlošci</a:t>
            </a:r>
            <a:endParaRPr lang="en-US" sz="2000" dirty="0"/>
          </a:p>
        </p:txBody>
      </p:sp>
      <p:sp>
        <p:nvSpPr>
          <p:cNvPr id="15" name="Pages  Produits"/>
          <p:cNvSpPr/>
          <p:nvPr/>
        </p:nvSpPr>
        <p:spPr>
          <a:xfrm>
            <a:off x="9810750" y="3789153"/>
            <a:ext cx="1345840" cy="72078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2800"/>
              </a:lnSpc>
              <a:buNone/>
            </a:pPr>
            <a:r>
              <a:rPr lang="hr-HR" sz="2000" b="1" dirty="0">
                <a:solidFill>
                  <a:srgbClr val="222222"/>
                </a:solidFill>
                <a:latin typeface="Satoshi Bold" pitchFamily="34" charset="0"/>
                <a:ea typeface="Satoshi Bold" pitchFamily="34" charset="-122"/>
                <a:cs typeface="Satoshi Bold" pitchFamily="34" charset="-120"/>
              </a:rPr>
              <a:t>Stranice</a:t>
            </a:r>
            <a:r>
              <a:rPr lang="en-US" sz="2000" b="1" dirty="0">
                <a:solidFill>
                  <a:srgbClr val="222222"/>
                </a:solidFill>
                <a:latin typeface="Satoshi Bold" pitchFamily="34" charset="0"/>
                <a:ea typeface="Satoshi Bold" pitchFamily="34" charset="-122"/>
                <a:cs typeface="Satoshi Bold" pitchFamily="34" charset="-120"/>
              </a:rPr>
              <a:t> /
 Pro</a:t>
            </a:r>
            <a:r>
              <a:rPr lang="hr-HR" sz="2000" b="1" dirty="0">
                <a:solidFill>
                  <a:srgbClr val="222222"/>
                </a:solidFill>
                <a:latin typeface="Satoshi Bold" pitchFamily="34" charset="0"/>
                <a:ea typeface="Satoshi Bold" pitchFamily="34" charset="-122"/>
                <a:cs typeface="Satoshi Bold" pitchFamily="34" charset="-120"/>
              </a:rPr>
              <a:t>izvodi</a:t>
            </a:r>
            <a:endParaRPr lang="en-US" sz="2000" dirty="0"/>
          </a:p>
        </p:txBody>
      </p:sp>
      <p:sp>
        <p:nvSpPr>
          <p:cNvPr id="16" name="Title 15">
            <a:extLst>
              <a:ext uri="{FF2B5EF4-FFF2-40B4-BE49-F238E27FC236}">
                <a16:creationId xmlns:a16="http://schemas.microsoft.com/office/drawing/2014/main" id="{F70DF4E5-1509-195A-DCD3-53AC7CAA09ED}"/>
              </a:ext>
            </a:extLst>
          </p:cNvPr>
          <p:cNvSpPr>
            <a:spLocks noGrp="1"/>
          </p:cNvSpPr>
          <p:nvPr>
            <p:ph type="title"/>
          </p:nvPr>
        </p:nvSpPr>
        <p:spPr/>
        <p:txBody>
          <a:bodyPr/>
          <a:lstStyle/>
          <a:p>
            <a:r>
              <a:rPr lang="en-US" dirty="0">
                <a:latin typeface="Bahnschrift SemiBold"/>
              </a:rPr>
              <a:t>Hi</a:t>
            </a:r>
            <a:r>
              <a:rPr lang="hr-HR" dirty="0" err="1">
                <a:latin typeface="Bahnschrift SemiBold"/>
              </a:rPr>
              <a:t>jerarhija</a:t>
            </a:r>
            <a:endParaRPr lang="en-US" dirty="0"/>
          </a:p>
        </p:txBody>
      </p:sp>
      <p:sp>
        <p:nvSpPr>
          <p:cNvPr id="4" name="ZoneTexte 2">
            <a:extLst>
              <a:ext uri="{FF2B5EF4-FFF2-40B4-BE49-F238E27FC236}">
                <a16:creationId xmlns:a16="http://schemas.microsoft.com/office/drawing/2014/main" id="{669EADEE-2ED7-2BAC-12B4-B5B25D9E2ADD}"/>
              </a:ext>
            </a:extLst>
          </p:cNvPr>
          <p:cNvSpPr txBox="1"/>
          <p:nvPr/>
        </p:nvSpPr>
        <p:spPr>
          <a:xfrm>
            <a:off x="9929533" y="4638899"/>
            <a:ext cx="2449792"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Bahnschrift"/>
                <a:ea typeface="Calibri"/>
                <a:cs typeface="Calibri"/>
              </a:rPr>
              <a:t>Source : JEMS</a:t>
            </a:r>
          </a:p>
          <a:p>
            <a:endParaRPr lang="fr-FR" sz="1200" dirty="0">
              <a:latin typeface="Bahnschrift"/>
            </a:endParaRPr>
          </a:p>
        </p:txBody>
      </p:sp>
    </p:spTree>
    <p:extLst>
      <p:ext uri="{BB962C8B-B14F-4D97-AF65-F5344CB8AC3E}">
        <p14:creationId xmlns:p14="http://schemas.microsoft.com/office/powerpoint/2010/main" val="13900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AB19-ADCB-1668-6DA4-92C73251406A}"/>
              </a:ext>
            </a:extLst>
          </p:cNvPr>
          <p:cNvSpPr>
            <a:spLocks noGrp="1"/>
          </p:cNvSpPr>
          <p:nvPr>
            <p:ph type="title"/>
          </p:nvPr>
        </p:nvSpPr>
        <p:spPr/>
        <p:txBody>
          <a:bodyPr/>
          <a:lstStyle/>
          <a:p>
            <a:r>
              <a:rPr lang="hr-HR" dirty="0"/>
              <a:t>Struktura datoteka vašeg sustava dizajna</a:t>
            </a:r>
            <a:endParaRPr lang="en-US" dirty="0"/>
          </a:p>
        </p:txBody>
      </p:sp>
      <p:pic>
        <p:nvPicPr>
          <p:cNvPr id="5" name="Frame 304" descr="preencoded.png">
            <a:extLst>
              <a:ext uri="{FF2B5EF4-FFF2-40B4-BE49-F238E27FC236}">
                <a16:creationId xmlns:a16="http://schemas.microsoft.com/office/drawing/2014/main" id="{62736F4A-1E81-965A-1DCC-3CF99DF1D2A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498850" y="1854200"/>
            <a:ext cx="5194300" cy="3149600"/>
          </a:xfrm>
          <a:prstGeom prst="rect">
            <a:avLst/>
          </a:prstGeom>
        </p:spPr>
      </p:pic>
      <p:sp>
        <p:nvSpPr>
          <p:cNvPr id="7" name="Styles texts colors effects">
            <a:extLst>
              <a:ext uri="{FF2B5EF4-FFF2-40B4-BE49-F238E27FC236}">
                <a16:creationId xmlns:a16="http://schemas.microsoft.com/office/drawing/2014/main" id="{ED2CA4CB-DC82-CB32-F611-96DD109400E7}"/>
              </a:ext>
            </a:extLst>
          </p:cNvPr>
          <p:cNvSpPr/>
          <p:nvPr/>
        </p:nvSpPr>
        <p:spPr>
          <a:xfrm>
            <a:off x="3689350" y="2044700"/>
            <a:ext cx="3625406" cy="382181"/>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Bahnschrift" panose="020B0502040204020203" pitchFamily="34" charset="0"/>
                <a:ea typeface="Satoshi Bold" pitchFamily="34" charset="-122"/>
                <a:cs typeface="Satoshi Bold" pitchFamily="34" charset="-120"/>
              </a:rPr>
              <a:t>St</a:t>
            </a:r>
            <a:r>
              <a:rPr lang="hr-HR" sz="2000" b="1" dirty="0" err="1">
                <a:solidFill>
                  <a:srgbClr val="FFFFFF"/>
                </a:solidFill>
                <a:latin typeface="Bahnschrift" panose="020B0502040204020203" pitchFamily="34" charset="0"/>
                <a:ea typeface="Satoshi Bold" pitchFamily="34" charset="-122"/>
                <a:cs typeface="Satoshi Bold" pitchFamily="34" charset="-120"/>
              </a:rPr>
              <a:t>ilovi</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en-US" sz="2000" b="1" dirty="0" err="1">
                <a:solidFill>
                  <a:srgbClr val="FFFFFF"/>
                </a:solidFill>
                <a:latin typeface="Bahnschrift" panose="020B0502040204020203" pitchFamily="34" charset="0"/>
                <a:ea typeface="Satoshi Bold" pitchFamily="34" charset="-122"/>
                <a:cs typeface="Satoshi Bold" pitchFamily="34" charset="-120"/>
              </a:rPr>
              <a:t>te</a:t>
            </a:r>
            <a:r>
              <a:rPr lang="hr-HR" sz="2000" b="1" dirty="0" err="1">
                <a:solidFill>
                  <a:srgbClr val="FFFFFF"/>
                </a:solidFill>
                <a:latin typeface="Bahnschrift" panose="020B0502040204020203" pitchFamily="34" charset="0"/>
                <a:ea typeface="Satoshi Bold" pitchFamily="34" charset="-122"/>
                <a:cs typeface="Satoshi Bold" pitchFamily="34" charset="-120"/>
              </a:rPr>
              <a:t>kst</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hr-HR" sz="2000" b="1" dirty="0">
                <a:solidFill>
                  <a:srgbClr val="FFFFFF"/>
                </a:solidFill>
                <a:latin typeface="Bahnschrift" panose="020B0502040204020203" pitchFamily="34" charset="0"/>
                <a:ea typeface="Satoshi Bold" pitchFamily="34" charset="-122"/>
                <a:cs typeface="Satoshi Bold" pitchFamily="34" charset="-120"/>
              </a:rPr>
              <a:t>boje</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hr-HR" sz="2000" b="1" dirty="0">
                <a:solidFill>
                  <a:srgbClr val="FFFFFF"/>
                </a:solidFill>
                <a:latin typeface="Bahnschrift" panose="020B0502040204020203" pitchFamily="34" charset="0"/>
                <a:ea typeface="Satoshi Bold" pitchFamily="34" charset="-122"/>
                <a:cs typeface="Satoshi Bold" pitchFamily="34" charset="-120"/>
              </a:rPr>
              <a:t>efekti</a:t>
            </a:r>
            <a:r>
              <a:rPr lang="en-US" sz="2000" b="1" dirty="0">
                <a:solidFill>
                  <a:srgbClr val="FFFFFF"/>
                </a:solidFill>
                <a:latin typeface="Bahnschrift" panose="020B0502040204020203" pitchFamily="34" charset="0"/>
                <a:ea typeface="Satoshi Bold" pitchFamily="34" charset="-122"/>
                <a:cs typeface="Satoshi Bold" pitchFamily="34" charset="-120"/>
              </a:rPr>
              <a:t>)</a:t>
            </a:r>
            <a:endParaRPr lang="en-US" sz="2000" dirty="0">
              <a:latin typeface="Bahnschrift" panose="020B0502040204020203" pitchFamily="34" charset="0"/>
            </a:endParaRPr>
          </a:p>
        </p:txBody>
      </p:sp>
      <p:sp>
        <p:nvSpPr>
          <p:cNvPr id="9" name="Ions">
            <a:extLst>
              <a:ext uri="{FF2B5EF4-FFF2-40B4-BE49-F238E27FC236}">
                <a16:creationId xmlns:a16="http://schemas.microsoft.com/office/drawing/2014/main" id="{65C67ADC-BEA0-9029-6D17-B44CA429DF62}"/>
              </a:ext>
            </a:extLst>
          </p:cNvPr>
          <p:cNvSpPr/>
          <p:nvPr/>
        </p:nvSpPr>
        <p:spPr>
          <a:xfrm>
            <a:off x="3689350" y="2400300"/>
            <a:ext cx="4826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Ion</a:t>
            </a:r>
            <a:r>
              <a:rPr lang="hr-HR" sz="2000" dirty="0">
                <a:solidFill>
                  <a:srgbClr val="FFFFFF"/>
                </a:solidFill>
                <a:latin typeface="Bahnschrift" panose="020B0502040204020203" pitchFamily="34" charset="0"/>
                <a:ea typeface="Satoshi Regular" pitchFamily="34" charset="-122"/>
                <a:cs typeface="Satoshi Regular" pitchFamily="34" charset="-120"/>
              </a:rPr>
              <a:t>i</a:t>
            </a:r>
            <a:endParaRPr lang="en-US" sz="2000" dirty="0">
              <a:latin typeface="Bahnschrift" panose="020B0502040204020203" pitchFamily="34" charset="0"/>
            </a:endParaRPr>
          </a:p>
        </p:txBody>
      </p:sp>
      <p:sp>
        <p:nvSpPr>
          <p:cNvPr id="11" name="Components">
            <a:extLst>
              <a:ext uri="{FF2B5EF4-FFF2-40B4-BE49-F238E27FC236}">
                <a16:creationId xmlns:a16="http://schemas.microsoft.com/office/drawing/2014/main" id="{36938143-BB07-3DA6-CF40-9AE37D0DB926}"/>
              </a:ext>
            </a:extLst>
          </p:cNvPr>
          <p:cNvSpPr/>
          <p:nvPr/>
        </p:nvSpPr>
        <p:spPr>
          <a:xfrm>
            <a:off x="3689350" y="3073400"/>
            <a:ext cx="15557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Bahnschrift" panose="020B0502040204020203" pitchFamily="34" charset="0"/>
                <a:ea typeface="Satoshi Bold" pitchFamily="34" charset="-122"/>
                <a:cs typeface="Satoshi Bold" pitchFamily="34" charset="-120"/>
              </a:rPr>
              <a:t>Komponente</a:t>
            </a:r>
            <a:endParaRPr lang="en-US" sz="2000" dirty="0">
              <a:latin typeface="Bahnschrift" panose="020B0502040204020203" pitchFamily="34" charset="0"/>
            </a:endParaRPr>
          </a:p>
        </p:txBody>
      </p:sp>
      <p:sp>
        <p:nvSpPr>
          <p:cNvPr id="13" name="Atoms molecules">
            <a:extLst>
              <a:ext uri="{FF2B5EF4-FFF2-40B4-BE49-F238E27FC236}">
                <a16:creationId xmlns:a16="http://schemas.microsoft.com/office/drawing/2014/main" id="{6FD2FFB9-F6CF-2A0C-2C92-59D4E0C194DC}"/>
              </a:ext>
            </a:extLst>
          </p:cNvPr>
          <p:cNvSpPr/>
          <p:nvPr/>
        </p:nvSpPr>
        <p:spPr>
          <a:xfrm>
            <a:off x="3689350" y="3429000"/>
            <a:ext cx="3088758" cy="395472"/>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Atom</a:t>
            </a:r>
            <a:r>
              <a:rPr lang="hr-HR" sz="2000" dirty="0">
                <a:solidFill>
                  <a:srgbClr val="FFFFFF"/>
                </a:solidFill>
                <a:latin typeface="Bahnschrift" panose="020B0502040204020203" pitchFamily="34" charset="0"/>
                <a:ea typeface="Satoshi Regular" pitchFamily="34" charset="-122"/>
                <a:cs typeface="Satoshi Regular" pitchFamily="34" charset="-120"/>
              </a:rPr>
              <a:t>i</a:t>
            </a:r>
            <a:r>
              <a:rPr lang="en-US" sz="2000" dirty="0">
                <a:solidFill>
                  <a:srgbClr val="FFFFFF"/>
                </a:solidFill>
                <a:latin typeface="Bahnschrift" panose="020B0502040204020203" pitchFamily="34" charset="0"/>
                <a:ea typeface="Satoshi Regular" pitchFamily="34" charset="-122"/>
                <a:cs typeface="Satoshi Regular" pitchFamily="34" charset="-120"/>
              </a:rPr>
              <a:t>, mole</a:t>
            </a:r>
            <a:r>
              <a:rPr lang="hr-HR" sz="2000" dirty="0">
                <a:solidFill>
                  <a:srgbClr val="FFFFFF"/>
                </a:solidFill>
                <a:latin typeface="Bahnschrift" panose="020B0502040204020203" pitchFamily="34" charset="0"/>
                <a:ea typeface="Satoshi Regular" pitchFamily="34" charset="-122"/>
                <a:cs typeface="Satoshi Regular" pitchFamily="34" charset="-120"/>
              </a:rPr>
              <a:t>kule</a:t>
            </a:r>
            <a:endParaRPr lang="en-US" sz="2000" dirty="0">
              <a:latin typeface="Bahnschrift" panose="020B0502040204020203" pitchFamily="34" charset="0"/>
            </a:endParaRPr>
          </a:p>
        </p:txBody>
      </p:sp>
      <p:sp>
        <p:nvSpPr>
          <p:cNvPr id="15" name="Complex components  modules">
            <a:extLst>
              <a:ext uri="{FF2B5EF4-FFF2-40B4-BE49-F238E27FC236}">
                <a16:creationId xmlns:a16="http://schemas.microsoft.com/office/drawing/2014/main" id="{AE984289-A968-7FF7-8E24-C2B701CCCA03}"/>
              </a:ext>
            </a:extLst>
          </p:cNvPr>
          <p:cNvSpPr/>
          <p:nvPr/>
        </p:nvSpPr>
        <p:spPr>
          <a:xfrm>
            <a:off x="3689349" y="4102100"/>
            <a:ext cx="4429039"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Bahnschrift" panose="020B0502040204020203" pitchFamily="34" charset="0"/>
                <a:ea typeface="Satoshi Bold" pitchFamily="34" charset="-122"/>
                <a:cs typeface="Satoshi Bold" pitchFamily="34" charset="-120"/>
              </a:rPr>
              <a:t>Comple</a:t>
            </a:r>
            <a:r>
              <a:rPr lang="hr-HR" sz="2000" b="1" dirty="0" err="1">
                <a:solidFill>
                  <a:srgbClr val="FFFFFF"/>
                </a:solidFill>
                <a:latin typeface="Bahnschrift" panose="020B0502040204020203" pitchFamily="34" charset="0"/>
                <a:ea typeface="Satoshi Bold" pitchFamily="34" charset="-122"/>
                <a:cs typeface="Satoshi Bold" pitchFamily="34" charset="-120"/>
              </a:rPr>
              <a:t>ksne</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hr-HR" sz="2000" b="1" dirty="0">
                <a:solidFill>
                  <a:srgbClr val="FFFFFF"/>
                </a:solidFill>
                <a:latin typeface="Bahnschrift" panose="020B0502040204020203" pitchFamily="34" charset="0"/>
                <a:ea typeface="Satoshi Bold" pitchFamily="34" charset="-122"/>
                <a:cs typeface="Satoshi Bold" pitchFamily="34" charset="-120"/>
              </a:rPr>
              <a:t>komponente</a:t>
            </a:r>
            <a:r>
              <a:rPr lang="en-US" sz="2000" b="1" dirty="0">
                <a:solidFill>
                  <a:srgbClr val="FFFFFF"/>
                </a:solidFill>
                <a:latin typeface="Bahnschrift" panose="020B0502040204020203" pitchFamily="34" charset="0"/>
                <a:ea typeface="Satoshi Bold" pitchFamily="34" charset="-122"/>
                <a:cs typeface="Satoshi Bold" pitchFamily="34" charset="-120"/>
              </a:rPr>
              <a:t> / </a:t>
            </a:r>
            <a:r>
              <a:rPr lang="en-US" sz="2000" b="1" dirty="0" err="1">
                <a:solidFill>
                  <a:srgbClr val="FFFFFF"/>
                </a:solidFill>
                <a:latin typeface="Bahnschrift" panose="020B0502040204020203" pitchFamily="34" charset="0"/>
                <a:ea typeface="Satoshi Bold" pitchFamily="34" charset="-122"/>
                <a:cs typeface="Satoshi Bold" pitchFamily="34" charset="-120"/>
              </a:rPr>
              <a:t>modul</a:t>
            </a:r>
            <a:r>
              <a:rPr lang="hr-HR" sz="2000" b="1" dirty="0">
                <a:solidFill>
                  <a:srgbClr val="FFFFFF"/>
                </a:solidFill>
                <a:latin typeface="Bahnschrift" panose="020B0502040204020203" pitchFamily="34" charset="0"/>
                <a:ea typeface="Satoshi Bold" pitchFamily="34" charset="-122"/>
                <a:cs typeface="Satoshi Bold" pitchFamily="34" charset="-120"/>
              </a:rPr>
              <a:t>i</a:t>
            </a:r>
            <a:endParaRPr lang="en-US" sz="2000" dirty="0">
              <a:latin typeface="Bahnschrift" panose="020B0502040204020203" pitchFamily="34" charset="0"/>
            </a:endParaRPr>
          </a:p>
        </p:txBody>
      </p:sp>
      <p:sp>
        <p:nvSpPr>
          <p:cNvPr id="17" name="Organizations">
            <a:extLst>
              <a:ext uri="{FF2B5EF4-FFF2-40B4-BE49-F238E27FC236}">
                <a16:creationId xmlns:a16="http://schemas.microsoft.com/office/drawing/2014/main" id="{FD86F59F-9063-1275-DF4D-11FE9A62FD8C}"/>
              </a:ext>
            </a:extLst>
          </p:cNvPr>
          <p:cNvSpPr/>
          <p:nvPr/>
        </p:nvSpPr>
        <p:spPr>
          <a:xfrm>
            <a:off x="3689350" y="4457700"/>
            <a:ext cx="2415805" cy="315728"/>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err="1">
                <a:solidFill>
                  <a:srgbClr val="FFFFFF"/>
                </a:solidFill>
                <a:latin typeface="Bahnschrift" panose="020B0502040204020203" pitchFamily="34" charset="0"/>
                <a:ea typeface="Satoshi Regular" pitchFamily="34" charset="-122"/>
                <a:cs typeface="Satoshi Regular" pitchFamily="34" charset="-120"/>
              </a:rPr>
              <a:t>Organiza</a:t>
            </a:r>
            <a:r>
              <a:rPr lang="hr-HR" sz="2000" dirty="0" err="1">
                <a:solidFill>
                  <a:srgbClr val="FFFFFF"/>
                </a:solidFill>
                <a:latin typeface="Bahnschrift" panose="020B0502040204020203" pitchFamily="34" charset="0"/>
                <a:ea typeface="Satoshi Regular" pitchFamily="34" charset="-122"/>
                <a:cs typeface="Satoshi Regular" pitchFamily="34" charset="-120"/>
              </a:rPr>
              <a:t>cije</a:t>
            </a:r>
            <a:endParaRPr lang="en-US" sz="2000" dirty="0">
              <a:latin typeface="Bahnschrift" panose="020B0502040204020203" pitchFamily="34" charset="0"/>
            </a:endParaRPr>
          </a:p>
        </p:txBody>
      </p:sp>
    </p:spTree>
    <p:extLst>
      <p:ext uri="{BB962C8B-B14F-4D97-AF65-F5344CB8AC3E}">
        <p14:creationId xmlns:p14="http://schemas.microsoft.com/office/powerpoint/2010/main" val="3871840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7405A-03C4-963C-1E0E-84FC336CD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2B2F9-6043-E4B0-007E-AC2898BE936F}"/>
              </a:ext>
            </a:extLst>
          </p:cNvPr>
          <p:cNvSpPr>
            <a:spLocks noGrp="1"/>
          </p:cNvSpPr>
          <p:nvPr>
            <p:ph type="title"/>
          </p:nvPr>
        </p:nvSpPr>
        <p:spPr/>
        <p:txBody>
          <a:bodyPr/>
          <a:lstStyle/>
          <a:p>
            <a:r>
              <a:rPr lang="hr-HR" dirty="0"/>
              <a:t>Struktura datoteka vašeg sustava dizajna</a:t>
            </a:r>
            <a:endParaRPr lang="en-US" dirty="0"/>
          </a:p>
        </p:txBody>
      </p:sp>
      <p:sp>
        <p:nvSpPr>
          <p:cNvPr id="7" name="Styles texts colors effects">
            <a:extLst>
              <a:ext uri="{FF2B5EF4-FFF2-40B4-BE49-F238E27FC236}">
                <a16:creationId xmlns:a16="http://schemas.microsoft.com/office/drawing/2014/main" id="{B24D40A1-0B91-98B7-92F2-2BBF50D861F6}"/>
              </a:ext>
            </a:extLst>
          </p:cNvPr>
          <p:cNvSpPr/>
          <p:nvPr/>
        </p:nvSpPr>
        <p:spPr>
          <a:xfrm>
            <a:off x="3689350" y="2044700"/>
            <a:ext cx="3625406" cy="382181"/>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FFFFFF"/>
                </a:solidFill>
                <a:latin typeface="Satoshi Bold" pitchFamily="34" charset="0"/>
                <a:ea typeface="Satoshi Bold" pitchFamily="34" charset="-122"/>
                <a:cs typeface="Satoshi Bold" pitchFamily="34" charset="-120"/>
              </a:rPr>
              <a:t>Styles (texts, colors, effects)</a:t>
            </a:r>
            <a:endParaRPr lang="en-US" sz="2000"/>
          </a:p>
        </p:txBody>
      </p:sp>
      <p:pic>
        <p:nvPicPr>
          <p:cNvPr id="4" name="Frame 304" descr="preencoded.png">
            <a:extLst>
              <a:ext uri="{FF2B5EF4-FFF2-40B4-BE49-F238E27FC236}">
                <a16:creationId xmlns:a16="http://schemas.microsoft.com/office/drawing/2014/main" id="{D40E1759-9AA3-F95E-066D-B560CB516F5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263650" y="2882900"/>
            <a:ext cx="4514850" cy="1092200"/>
          </a:xfrm>
          <a:prstGeom prst="rect">
            <a:avLst/>
          </a:prstGeom>
        </p:spPr>
      </p:pic>
      <p:pic>
        <p:nvPicPr>
          <p:cNvPr id="8" name="Frame 305" descr="preencoded.png">
            <a:extLst>
              <a:ext uri="{FF2B5EF4-FFF2-40B4-BE49-F238E27FC236}">
                <a16:creationId xmlns:a16="http://schemas.microsoft.com/office/drawing/2014/main" id="{B9651FC6-7F12-3315-6CAE-FE07AB6B58E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13500" y="2368550"/>
            <a:ext cx="4514850" cy="2120900"/>
          </a:xfrm>
          <a:prstGeom prst="rect">
            <a:avLst/>
          </a:prstGeom>
        </p:spPr>
      </p:pic>
      <p:pic>
        <p:nvPicPr>
          <p:cNvPr id="12" name="Line 8" descr="preencoded.png">
            <a:extLst>
              <a:ext uri="{FF2B5EF4-FFF2-40B4-BE49-F238E27FC236}">
                <a16:creationId xmlns:a16="http://schemas.microsoft.com/office/drawing/2014/main" id="{E842B242-06A4-4DA4-6BD4-49FBA962323D}"/>
              </a:ext>
            </a:extLst>
          </p:cNvPr>
          <p:cNvPicPr>
            <a:picLocks noChangeAspect="1"/>
          </p:cNvPicPr>
          <p:nvPr/>
        </p:nvPicPr>
        <p:blipFill>
          <a:blip r:embed="rId4"/>
          <a:srcRect/>
          <a:stretch/>
        </p:blipFill>
        <p:spPr>
          <a:xfrm>
            <a:off x="5873751" y="3308923"/>
            <a:ext cx="460375" cy="233803"/>
          </a:xfrm>
          <a:prstGeom prst="rect">
            <a:avLst/>
          </a:prstGeom>
        </p:spPr>
      </p:pic>
      <p:sp>
        <p:nvSpPr>
          <p:cNvPr id="16" name="Styles texts colors effects">
            <a:extLst>
              <a:ext uri="{FF2B5EF4-FFF2-40B4-BE49-F238E27FC236}">
                <a16:creationId xmlns:a16="http://schemas.microsoft.com/office/drawing/2014/main" id="{58323076-A69F-4629-3C20-4EC383B6F7F9}"/>
              </a:ext>
            </a:extLst>
          </p:cNvPr>
          <p:cNvSpPr/>
          <p:nvPr/>
        </p:nvSpPr>
        <p:spPr>
          <a:xfrm>
            <a:off x="1454150" y="3073400"/>
            <a:ext cx="33020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Bahnschrift" panose="020B0502040204020203" pitchFamily="34" charset="0"/>
                <a:ea typeface="Satoshi Bold" pitchFamily="34" charset="-122"/>
                <a:cs typeface="Satoshi Bold" pitchFamily="34" charset="-120"/>
              </a:rPr>
              <a:t>St</a:t>
            </a:r>
            <a:r>
              <a:rPr lang="hr-HR" sz="2000" b="1" dirty="0" err="1">
                <a:solidFill>
                  <a:srgbClr val="FFFFFF"/>
                </a:solidFill>
                <a:latin typeface="Bahnschrift" panose="020B0502040204020203" pitchFamily="34" charset="0"/>
                <a:ea typeface="Satoshi Bold" pitchFamily="34" charset="-122"/>
                <a:cs typeface="Satoshi Bold" pitchFamily="34" charset="-120"/>
              </a:rPr>
              <a:t>ilovi</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en-US" sz="2000" b="1" dirty="0" err="1">
                <a:solidFill>
                  <a:srgbClr val="FFFFFF"/>
                </a:solidFill>
                <a:latin typeface="Bahnschrift" panose="020B0502040204020203" pitchFamily="34" charset="0"/>
                <a:ea typeface="Satoshi Bold" pitchFamily="34" charset="-122"/>
                <a:cs typeface="Satoshi Bold" pitchFamily="34" charset="-120"/>
              </a:rPr>
              <a:t>te</a:t>
            </a:r>
            <a:r>
              <a:rPr lang="hr-HR" sz="2000" b="1" dirty="0" err="1">
                <a:solidFill>
                  <a:srgbClr val="FFFFFF"/>
                </a:solidFill>
                <a:latin typeface="Bahnschrift" panose="020B0502040204020203" pitchFamily="34" charset="0"/>
                <a:ea typeface="Satoshi Bold" pitchFamily="34" charset="-122"/>
                <a:cs typeface="Satoshi Bold" pitchFamily="34" charset="-120"/>
              </a:rPr>
              <a:t>kst</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hr-HR" sz="2000" b="1" dirty="0">
                <a:solidFill>
                  <a:srgbClr val="FFFFFF"/>
                </a:solidFill>
                <a:latin typeface="Bahnschrift" panose="020B0502040204020203" pitchFamily="34" charset="0"/>
                <a:ea typeface="Satoshi Bold" pitchFamily="34" charset="-122"/>
                <a:cs typeface="Satoshi Bold" pitchFamily="34" charset="-120"/>
              </a:rPr>
              <a:t>boje</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en-US" sz="2000" b="1" dirty="0" err="1">
                <a:solidFill>
                  <a:srgbClr val="FFFFFF"/>
                </a:solidFill>
                <a:latin typeface="Bahnschrift" panose="020B0502040204020203" pitchFamily="34" charset="0"/>
                <a:ea typeface="Satoshi Bold" pitchFamily="34" charset="-122"/>
                <a:cs typeface="Satoshi Bold" pitchFamily="34" charset="-120"/>
              </a:rPr>
              <a:t>ef</a:t>
            </a:r>
            <a:r>
              <a:rPr lang="hr-HR" sz="2000" b="1" dirty="0" err="1">
                <a:solidFill>
                  <a:srgbClr val="FFFFFF"/>
                </a:solidFill>
                <a:latin typeface="Bahnschrift" panose="020B0502040204020203" pitchFamily="34" charset="0"/>
                <a:ea typeface="Satoshi Bold" pitchFamily="34" charset="-122"/>
                <a:cs typeface="Satoshi Bold" pitchFamily="34" charset="-120"/>
              </a:rPr>
              <a:t>ekti</a:t>
            </a:r>
            <a:r>
              <a:rPr lang="en-US" sz="2000" b="1" dirty="0">
                <a:solidFill>
                  <a:srgbClr val="FFFFFF"/>
                </a:solidFill>
                <a:latin typeface="Bahnschrift" panose="020B0502040204020203" pitchFamily="34" charset="0"/>
                <a:ea typeface="Satoshi Bold" pitchFamily="34" charset="-122"/>
                <a:cs typeface="Satoshi Bold" pitchFamily="34" charset="-120"/>
              </a:rPr>
              <a:t>)</a:t>
            </a:r>
            <a:endParaRPr lang="en-US" sz="2000" dirty="0">
              <a:latin typeface="Bahnschrift" panose="020B0502040204020203" pitchFamily="34" charset="0"/>
            </a:endParaRPr>
          </a:p>
        </p:txBody>
      </p:sp>
      <p:sp>
        <p:nvSpPr>
          <p:cNvPr id="19" name="Ions">
            <a:extLst>
              <a:ext uri="{FF2B5EF4-FFF2-40B4-BE49-F238E27FC236}">
                <a16:creationId xmlns:a16="http://schemas.microsoft.com/office/drawing/2014/main" id="{9EA2B162-1C2F-B755-24D3-5041EEF21202}"/>
              </a:ext>
            </a:extLst>
          </p:cNvPr>
          <p:cNvSpPr/>
          <p:nvPr/>
        </p:nvSpPr>
        <p:spPr>
          <a:xfrm>
            <a:off x="5095801" y="3544186"/>
            <a:ext cx="2480634" cy="519518"/>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a:solidFill>
                  <a:srgbClr val="FFFFFF"/>
                </a:solidFill>
                <a:latin typeface="Satoshi Regular" pitchFamily="34" charset="0"/>
                <a:ea typeface="Satoshi Regular" pitchFamily="34" charset="-122"/>
                <a:cs typeface="Satoshi Regular" pitchFamily="34" charset="-120"/>
              </a:rPr>
              <a:t>Ions</a:t>
            </a:r>
            <a:endParaRPr lang="en-US" sz="2000"/>
          </a:p>
        </p:txBody>
      </p:sp>
      <p:sp>
        <p:nvSpPr>
          <p:cNvPr id="21" name="Components">
            <a:extLst>
              <a:ext uri="{FF2B5EF4-FFF2-40B4-BE49-F238E27FC236}">
                <a16:creationId xmlns:a16="http://schemas.microsoft.com/office/drawing/2014/main" id="{4F53C5B9-2841-6140-2FA4-F782029D1A96}"/>
              </a:ext>
            </a:extLst>
          </p:cNvPr>
          <p:cNvSpPr/>
          <p:nvPr/>
        </p:nvSpPr>
        <p:spPr>
          <a:xfrm>
            <a:off x="6604000" y="2559050"/>
            <a:ext cx="15557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Bahnschrift" panose="020B0502040204020203" pitchFamily="34" charset="0"/>
                <a:ea typeface="Satoshi Bold" pitchFamily="34" charset="-122"/>
              </a:rPr>
              <a:t>Komponente</a:t>
            </a:r>
            <a:endParaRPr lang="en-US" sz="2000" dirty="0">
              <a:latin typeface="Bahnschrift" panose="020B0502040204020203" pitchFamily="34" charset="0"/>
            </a:endParaRPr>
          </a:p>
        </p:txBody>
      </p:sp>
      <p:sp>
        <p:nvSpPr>
          <p:cNvPr id="23" name="Atoms molecules">
            <a:extLst>
              <a:ext uri="{FF2B5EF4-FFF2-40B4-BE49-F238E27FC236}">
                <a16:creationId xmlns:a16="http://schemas.microsoft.com/office/drawing/2014/main" id="{7921E0F6-8294-29F8-CF84-1508DD5B555A}"/>
              </a:ext>
            </a:extLst>
          </p:cNvPr>
          <p:cNvSpPr/>
          <p:nvPr/>
        </p:nvSpPr>
        <p:spPr>
          <a:xfrm>
            <a:off x="8615326" y="2958953"/>
            <a:ext cx="2743200" cy="35117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Atom</a:t>
            </a:r>
            <a:r>
              <a:rPr lang="hr-HR" sz="2000" dirty="0">
                <a:solidFill>
                  <a:srgbClr val="FFFFFF"/>
                </a:solidFill>
                <a:latin typeface="Bahnschrift" panose="020B0502040204020203" pitchFamily="34" charset="0"/>
                <a:ea typeface="Satoshi Regular" pitchFamily="34" charset="-122"/>
                <a:cs typeface="Satoshi Regular" pitchFamily="34" charset="-120"/>
              </a:rPr>
              <a:t>i</a:t>
            </a:r>
            <a:r>
              <a:rPr lang="en-US" sz="2000" dirty="0">
                <a:solidFill>
                  <a:srgbClr val="FFFFFF"/>
                </a:solidFill>
                <a:latin typeface="Bahnschrift" panose="020B0502040204020203" pitchFamily="34" charset="0"/>
                <a:ea typeface="Satoshi Regular" pitchFamily="34" charset="-122"/>
                <a:cs typeface="Satoshi Regular" pitchFamily="34" charset="-120"/>
              </a:rPr>
              <a:t>, mole</a:t>
            </a:r>
            <a:r>
              <a:rPr lang="hr-HR" sz="2000" dirty="0">
                <a:solidFill>
                  <a:srgbClr val="FFFFFF"/>
                </a:solidFill>
                <a:latin typeface="Bahnschrift" panose="020B0502040204020203" pitchFamily="34" charset="0"/>
                <a:ea typeface="Satoshi Regular" pitchFamily="34" charset="-122"/>
                <a:cs typeface="Satoshi Regular" pitchFamily="34" charset="-120"/>
              </a:rPr>
              <a:t>kule</a:t>
            </a:r>
            <a:endParaRPr lang="en-US" sz="2000" dirty="0">
              <a:latin typeface="Bahnschrift" panose="020B0502040204020203" pitchFamily="34" charset="0"/>
            </a:endParaRPr>
          </a:p>
        </p:txBody>
      </p:sp>
      <p:sp>
        <p:nvSpPr>
          <p:cNvPr id="25" name="Complex components  modules">
            <a:extLst>
              <a:ext uri="{FF2B5EF4-FFF2-40B4-BE49-F238E27FC236}">
                <a16:creationId xmlns:a16="http://schemas.microsoft.com/office/drawing/2014/main" id="{E7D8470C-0B0D-3D9B-460A-0AF0F56916C0}"/>
              </a:ext>
            </a:extLst>
          </p:cNvPr>
          <p:cNvSpPr/>
          <p:nvPr/>
        </p:nvSpPr>
        <p:spPr>
          <a:xfrm>
            <a:off x="6603999" y="3587750"/>
            <a:ext cx="4121665"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Bahnschrift" panose="020B0502040204020203" pitchFamily="34" charset="0"/>
                <a:ea typeface="Satoshi Bold" pitchFamily="34" charset="-122"/>
                <a:cs typeface="Satoshi Bold" pitchFamily="34" charset="-120"/>
              </a:rPr>
              <a:t>Comple</a:t>
            </a:r>
            <a:r>
              <a:rPr lang="hr-HR" sz="2000" b="1" dirty="0" err="1">
                <a:solidFill>
                  <a:srgbClr val="FFFFFF"/>
                </a:solidFill>
                <a:latin typeface="Bahnschrift" panose="020B0502040204020203" pitchFamily="34" charset="0"/>
                <a:ea typeface="Satoshi Bold" pitchFamily="34" charset="-122"/>
                <a:cs typeface="Satoshi Bold" pitchFamily="34" charset="-120"/>
              </a:rPr>
              <a:t>ksne</a:t>
            </a:r>
            <a:r>
              <a:rPr lang="en-US" sz="2000" b="1" dirty="0">
                <a:solidFill>
                  <a:srgbClr val="FFFFFF"/>
                </a:solidFill>
                <a:latin typeface="Bahnschrift" panose="020B0502040204020203" pitchFamily="34" charset="0"/>
                <a:ea typeface="Satoshi Bold" pitchFamily="34" charset="-122"/>
                <a:cs typeface="Satoshi Bold" pitchFamily="34" charset="-120"/>
              </a:rPr>
              <a:t> </a:t>
            </a:r>
            <a:r>
              <a:rPr lang="hr-HR" sz="2000" b="1" dirty="0">
                <a:solidFill>
                  <a:srgbClr val="FFFFFF"/>
                </a:solidFill>
                <a:latin typeface="Bahnschrift" panose="020B0502040204020203" pitchFamily="34" charset="0"/>
                <a:ea typeface="Satoshi Bold" pitchFamily="34" charset="-122"/>
                <a:cs typeface="Satoshi Bold" pitchFamily="34" charset="-120"/>
              </a:rPr>
              <a:t>k</a:t>
            </a:r>
            <a:r>
              <a:rPr lang="en-US" sz="2000" b="1" dirty="0" err="1">
                <a:solidFill>
                  <a:srgbClr val="FFFFFF"/>
                </a:solidFill>
                <a:latin typeface="Bahnschrift" panose="020B0502040204020203" pitchFamily="34" charset="0"/>
                <a:ea typeface="Satoshi Bold" pitchFamily="34" charset="-122"/>
                <a:cs typeface="Satoshi Bold" pitchFamily="34" charset="-120"/>
              </a:rPr>
              <a:t>omponent</a:t>
            </a:r>
            <a:r>
              <a:rPr lang="hr-HR" sz="2000" b="1" dirty="0">
                <a:solidFill>
                  <a:srgbClr val="FFFFFF"/>
                </a:solidFill>
                <a:latin typeface="Bahnschrift" panose="020B0502040204020203" pitchFamily="34" charset="0"/>
                <a:ea typeface="Satoshi Bold" pitchFamily="34" charset="-122"/>
                <a:cs typeface="Satoshi Bold" pitchFamily="34" charset="-120"/>
              </a:rPr>
              <a:t>e</a:t>
            </a:r>
            <a:r>
              <a:rPr lang="en-US" sz="2000" b="1" dirty="0">
                <a:solidFill>
                  <a:srgbClr val="FFFFFF"/>
                </a:solidFill>
                <a:latin typeface="Bahnschrift" panose="020B0502040204020203" pitchFamily="34" charset="0"/>
                <a:ea typeface="Satoshi Bold" pitchFamily="34" charset="-122"/>
                <a:cs typeface="Satoshi Bold" pitchFamily="34" charset="-120"/>
              </a:rPr>
              <a:t> / </a:t>
            </a:r>
            <a:r>
              <a:rPr lang="en-US" sz="2000" b="1" dirty="0" err="1">
                <a:solidFill>
                  <a:srgbClr val="FFFFFF"/>
                </a:solidFill>
                <a:latin typeface="Bahnschrift" panose="020B0502040204020203" pitchFamily="34" charset="0"/>
                <a:ea typeface="Satoshi Bold" pitchFamily="34" charset="-122"/>
                <a:cs typeface="Satoshi Bold" pitchFamily="34" charset="-120"/>
              </a:rPr>
              <a:t>modul</a:t>
            </a:r>
            <a:r>
              <a:rPr lang="hr-HR" sz="2000" b="1" dirty="0">
                <a:solidFill>
                  <a:srgbClr val="FFFFFF"/>
                </a:solidFill>
                <a:latin typeface="Bahnschrift" panose="020B0502040204020203" pitchFamily="34" charset="0"/>
                <a:ea typeface="Satoshi Bold" pitchFamily="34" charset="-122"/>
                <a:cs typeface="Satoshi Bold" pitchFamily="34" charset="-120"/>
              </a:rPr>
              <a:t>i</a:t>
            </a:r>
            <a:endParaRPr lang="en-US" sz="2000" dirty="0">
              <a:latin typeface="Bahnschrift" panose="020B0502040204020203" pitchFamily="34" charset="0"/>
            </a:endParaRPr>
          </a:p>
        </p:txBody>
      </p:sp>
      <p:sp>
        <p:nvSpPr>
          <p:cNvPr id="27" name="Organizations">
            <a:extLst>
              <a:ext uri="{FF2B5EF4-FFF2-40B4-BE49-F238E27FC236}">
                <a16:creationId xmlns:a16="http://schemas.microsoft.com/office/drawing/2014/main" id="{AC702D57-7961-7536-F45F-6782F670CF01}"/>
              </a:ext>
            </a:extLst>
          </p:cNvPr>
          <p:cNvSpPr/>
          <p:nvPr/>
        </p:nvSpPr>
        <p:spPr>
          <a:xfrm>
            <a:off x="8925442" y="3943350"/>
            <a:ext cx="2433526" cy="293578"/>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err="1">
                <a:solidFill>
                  <a:srgbClr val="FFFFFF"/>
                </a:solidFill>
                <a:latin typeface="Bahnschrift" panose="020B0502040204020203" pitchFamily="34" charset="0"/>
                <a:ea typeface="Satoshi Regular" pitchFamily="34" charset="-122"/>
                <a:cs typeface="Satoshi Regular" pitchFamily="34" charset="-120"/>
              </a:rPr>
              <a:t>Organiza</a:t>
            </a:r>
            <a:r>
              <a:rPr lang="hr-HR" sz="2000" dirty="0" err="1">
                <a:solidFill>
                  <a:srgbClr val="FFFFFF"/>
                </a:solidFill>
                <a:latin typeface="Bahnschrift" panose="020B0502040204020203" pitchFamily="34" charset="0"/>
                <a:ea typeface="Satoshi Regular" pitchFamily="34" charset="-122"/>
                <a:cs typeface="Satoshi Regular" pitchFamily="34" charset="-120"/>
              </a:rPr>
              <a:t>cije</a:t>
            </a:r>
            <a:endParaRPr lang="en-US" sz="2000" dirty="0">
              <a:latin typeface="Bahnschrift" panose="020B0502040204020203" pitchFamily="34" charset="0"/>
            </a:endParaRPr>
          </a:p>
        </p:txBody>
      </p:sp>
    </p:spTree>
    <p:extLst>
      <p:ext uri="{BB962C8B-B14F-4D97-AF65-F5344CB8AC3E}">
        <p14:creationId xmlns:p14="http://schemas.microsoft.com/office/powerpoint/2010/main" val="1402232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C9B13-F16E-4EA3-766F-D2A4DF711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DC537-E33D-231A-BA0F-5A7DB43AC546}"/>
              </a:ext>
            </a:extLst>
          </p:cNvPr>
          <p:cNvSpPr>
            <a:spLocks noGrp="1"/>
          </p:cNvSpPr>
          <p:nvPr>
            <p:ph type="title"/>
          </p:nvPr>
        </p:nvSpPr>
        <p:spPr/>
        <p:txBody>
          <a:bodyPr/>
          <a:lstStyle/>
          <a:p>
            <a:r>
              <a:rPr lang="hr-HR" dirty="0"/>
              <a:t>Struktura datoteka vašeg sustava dizajna</a:t>
            </a:r>
            <a:endParaRPr lang="en-US" dirty="0"/>
          </a:p>
        </p:txBody>
      </p:sp>
      <p:pic>
        <p:nvPicPr>
          <p:cNvPr id="5" name="Frame 304" descr="preencoded.png">
            <a:extLst>
              <a:ext uri="{FF2B5EF4-FFF2-40B4-BE49-F238E27FC236}">
                <a16:creationId xmlns:a16="http://schemas.microsoft.com/office/drawing/2014/main" id="{97C3F1FF-AD5C-FA1F-9897-F11E13D4F89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263650" y="2882900"/>
            <a:ext cx="4514850" cy="1092200"/>
          </a:xfrm>
          <a:prstGeom prst="rect">
            <a:avLst/>
          </a:prstGeom>
        </p:spPr>
      </p:pic>
      <p:pic>
        <p:nvPicPr>
          <p:cNvPr id="9" name="Frame 306" descr="preencoded.png">
            <a:extLst>
              <a:ext uri="{FF2B5EF4-FFF2-40B4-BE49-F238E27FC236}">
                <a16:creationId xmlns:a16="http://schemas.microsoft.com/office/drawing/2014/main" id="{0F1FE4A8-3D62-990E-D7F8-739A530CD1F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250950" y="4597400"/>
            <a:ext cx="4540250" cy="1117600"/>
          </a:xfrm>
          <a:prstGeom prst="rect">
            <a:avLst/>
          </a:prstGeom>
        </p:spPr>
      </p:pic>
      <p:pic>
        <p:nvPicPr>
          <p:cNvPr id="11" name="Frame 305" descr="preencoded.png">
            <a:extLst>
              <a:ext uri="{FF2B5EF4-FFF2-40B4-BE49-F238E27FC236}">
                <a16:creationId xmlns:a16="http://schemas.microsoft.com/office/drawing/2014/main" id="{AEB21BEE-B27D-3F30-5D88-60ABF4220C3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413500" y="2368550"/>
            <a:ext cx="4514850" cy="2120900"/>
          </a:xfrm>
          <a:prstGeom prst="rect">
            <a:avLst/>
          </a:prstGeom>
        </p:spPr>
      </p:pic>
      <p:pic>
        <p:nvPicPr>
          <p:cNvPr id="14" name="Line 8" descr="preencoded.png">
            <a:extLst>
              <a:ext uri="{FF2B5EF4-FFF2-40B4-BE49-F238E27FC236}">
                <a16:creationId xmlns:a16="http://schemas.microsoft.com/office/drawing/2014/main" id="{78969344-0E53-7CD2-BFC0-34A3B0EE84E7}"/>
              </a:ext>
            </a:extLst>
          </p:cNvPr>
          <p:cNvPicPr>
            <a:picLocks noChangeAspect="1"/>
          </p:cNvPicPr>
          <p:nvPr/>
        </p:nvPicPr>
        <p:blipFill>
          <a:blip r:embed="rId5"/>
          <a:srcRect/>
          <a:stretch/>
        </p:blipFill>
        <p:spPr>
          <a:xfrm>
            <a:off x="5873751" y="3308923"/>
            <a:ext cx="460375" cy="233803"/>
          </a:xfrm>
          <a:prstGeom prst="rect">
            <a:avLst/>
          </a:prstGeom>
        </p:spPr>
      </p:pic>
      <p:pic>
        <p:nvPicPr>
          <p:cNvPr id="17" name="Line 9" descr="preencoded.png">
            <a:extLst>
              <a:ext uri="{FF2B5EF4-FFF2-40B4-BE49-F238E27FC236}">
                <a16:creationId xmlns:a16="http://schemas.microsoft.com/office/drawing/2014/main" id="{2CC19BB5-0977-A23B-69DB-14475183712F}"/>
              </a:ext>
            </a:extLst>
          </p:cNvPr>
          <p:cNvPicPr>
            <a:picLocks noChangeAspect="1"/>
          </p:cNvPicPr>
          <p:nvPr/>
        </p:nvPicPr>
        <p:blipFill>
          <a:blip r:embed="rId6"/>
          <a:srcRect/>
          <a:stretch/>
        </p:blipFill>
        <p:spPr>
          <a:xfrm>
            <a:off x="1527746" y="4054476"/>
            <a:ext cx="233809" cy="460375"/>
          </a:xfrm>
          <a:prstGeom prst="rect">
            <a:avLst/>
          </a:prstGeom>
        </p:spPr>
      </p:pic>
      <p:pic>
        <p:nvPicPr>
          <p:cNvPr id="20" name="Line 10" descr="preencoded.png">
            <a:extLst>
              <a:ext uri="{FF2B5EF4-FFF2-40B4-BE49-F238E27FC236}">
                <a16:creationId xmlns:a16="http://schemas.microsoft.com/office/drawing/2014/main" id="{24D87C9F-9DB8-566D-8C3C-0351CE145890}"/>
              </a:ext>
            </a:extLst>
          </p:cNvPr>
          <p:cNvPicPr>
            <a:picLocks noChangeAspect="1"/>
          </p:cNvPicPr>
          <p:nvPr/>
        </p:nvPicPr>
        <p:blipFill>
          <a:blip r:embed="rId7"/>
          <a:srcRect/>
          <a:stretch/>
        </p:blipFill>
        <p:spPr>
          <a:xfrm>
            <a:off x="1775396" y="4070351"/>
            <a:ext cx="233809" cy="460375"/>
          </a:xfrm>
          <a:prstGeom prst="rect">
            <a:avLst/>
          </a:prstGeom>
        </p:spPr>
      </p:pic>
      <p:sp>
        <p:nvSpPr>
          <p:cNvPr id="24" name="Light Styles">
            <a:extLst>
              <a:ext uri="{FF2B5EF4-FFF2-40B4-BE49-F238E27FC236}">
                <a16:creationId xmlns:a16="http://schemas.microsoft.com/office/drawing/2014/main" id="{5314090D-9BCC-90AD-6E8F-F0EA590F5FDC}"/>
              </a:ext>
            </a:extLst>
          </p:cNvPr>
          <p:cNvSpPr/>
          <p:nvPr/>
        </p:nvSpPr>
        <p:spPr>
          <a:xfrm>
            <a:off x="1463734" y="3087777"/>
            <a:ext cx="2085556" cy="341223"/>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err="1">
                <a:solidFill>
                  <a:srgbClr val="FFFFFF"/>
                </a:solidFill>
                <a:latin typeface="Bahnschrift" panose="020B0502040204020203" pitchFamily="34" charset="0"/>
                <a:ea typeface="Satoshi Bold" pitchFamily="34" charset="-122"/>
                <a:cs typeface="Satoshi Bold" pitchFamily="34" charset="-120"/>
              </a:rPr>
              <a:t>Svjetli</a:t>
            </a:r>
            <a:r>
              <a:rPr lang="hr-HR" sz="2000" b="1" dirty="0">
                <a:solidFill>
                  <a:srgbClr val="FFFFFF"/>
                </a:solidFill>
                <a:latin typeface="Bahnschrift" panose="020B0502040204020203" pitchFamily="34" charset="0"/>
                <a:ea typeface="Satoshi Bold" pitchFamily="34" charset="-122"/>
                <a:cs typeface="Satoshi Bold" pitchFamily="34" charset="-120"/>
              </a:rPr>
              <a:t> stilovi</a:t>
            </a:r>
            <a:endParaRPr lang="en-US" sz="2000" dirty="0">
              <a:latin typeface="Bahnschrift" panose="020B0502040204020203" pitchFamily="34" charset="0"/>
            </a:endParaRPr>
          </a:p>
        </p:txBody>
      </p:sp>
      <p:sp>
        <p:nvSpPr>
          <p:cNvPr id="28" name="Ions">
            <a:extLst>
              <a:ext uri="{FF2B5EF4-FFF2-40B4-BE49-F238E27FC236}">
                <a16:creationId xmlns:a16="http://schemas.microsoft.com/office/drawing/2014/main" id="{1B5B59A6-FCE9-722D-3C9B-882261B21A6F}"/>
              </a:ext>
            </a:extLst>
          </p:cNvPr>
          <p:cNvSpPr/>
          <p:nvPr/>
        </p:nvSpPr>
        <p:spPr>
          <a:xfrm>
            <a:off x="1454150" y="3429000"/>
            <a:ext cx="4826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Ion</a:t>
            </a:r>
            <a:r>
              <a:rPr lang="hr-HR" sz="2000" dirty="0">
                <a:solidFill>
                  <a:srgbClr val="FFFFFF"/>
                </a:solidFill>
                <a:latin typeface="Bahnschrift" panose="020B0502040204020203" pitchFamily="34" charset="0"/>
                <a:ea typeface="Satoshi Regular" pitchFamily="34" charset="-122"/>
                <a:cs typeface="Satoshi Regular" pitchFamily="34" charset="-120"/>
              </a:rPr>
              <a:t>i</a:t>
            </a:r>
            <a:endParaRPr lang="en-US" sz="2000" dirty="0">
              <a:latin typeface="Bahnschrift" panose="020B0502040204020203" pitchFamily="34" charset="0"/>
            </a:endParaRPr>
          </a:p>
        </p:txBody>
      </p:sp>
      <p:sp>
        <p:nvSpPr>
          <p:cNvPr id="30" name="Dark Styles">
            <a:extLst>
              <a:ext uri="{FF2B5EF4-FFF2-40B4-BE49-F238E27FC236}">
                <a16:creationId xmlns:a16="http://schemas.microsoft.com/office/drawing/2014/main" id="{7953FE2A-70EB-9976-C84E-69A5AD9C7BDD}"/>
              </a:ext>
            </a:extLst>
          </p:cNvPr>
          <p:cNvSpPr/>
          <p:nvPr/>
        </p:nvSpPr>
        <p:spPr>
          <a:xfrm>
            <a:off x="1482904" y="4800600"/>
            <a:ext cx="2017024" cy="36997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Bahnschrift" panose="020B0502040204020203" pitchFamily="34" charset="0"/>
                <a:ea typeface="Satoshi Bold" pitchFamily="34" charset="-122"/>
                <a:cs typeface="Satoshi Bold" pitchFamily="34" charset="-120"/>
              </a:rPr>
              <a:t>Tamni stilovi</a:t>
            </a:r>
            <a:endParaRPr lang="en-US" sz="2000" dirty="0"/>
          </a:p>
        </p:txBody>
      </p:sp>
      <p:sp>
        <p:nvSpPr>
          <p:cNvPr id="32" name="Ions">
            <a:extLst>
              <a:ext uri="{FF2B5EF4-FFF2-40B4-BE49-F238E27FC236}">
                <a16:creationId xmlns:a16="http://schemas.microsoft.com/office/drawing/2014/main" id="{474B494E-BB6F-5D25-679E-753D17DFA65F}"/>
              </a:ext>
            </a:extLst>
          </p:cNvPr>
          <p:cNvSpPr/>
          <p:nvPr/>
        </p:nvSpPr>
        <p:spPr>
          <a:xfrm>
            <a:off x="1454150" y="5156200"/>
            <a:ext cx="4826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Ion</a:t>
            </a:r>
            <a:r>
              <a:rPr lang="hr-HR" sz="2000" dirty="0">
                <a:solidFill>
                  <a:srgbClr val="FFFFFF"/>
                </a:solidFill>
                <a:latin typeface="Bahnschrift" panose="020B0502040204020203" pitchFamily="34" charset="0"/>
                <a:ea typeface="Satoshi Regular" pitchFamily="34" charset="-122"/>
                <a:cs typeface="Satoshi Regular" pitchFamily="34" charset="-120"/>
              </a:rPr>
              <a:t>i</a:t>
            </a:r>
            <a:endParaRPr lang="en-US" sz="2000" dirty="0">
              <a:latin typeface="Bahnschrift" panose="020B0502040204020203" pitchFamily="34" charset="0"/>
            </a:endParaRPr>
          </a:p>
        </p:txBody>
      </p:sp>
      <p:sp>
        <p:nvSpPr>
          <p:cNvPr id="34" name="Components">
            <a:extLst>
              <a:ext uri="{FF2B5EF4-FFF2-40B4-BE49-F238E27FC236}">
                <a16:creationId xmlns:a16="http://schemas.microsoft.com/office/drawing/2014/main" id="{7D11D5EF-CF88-D0A7-66D0-D495917D244D}"/>
              </a:ext>
            </a:extLst>
          </p:cNvPr>
          <p:cNvSpPr/>
          <p:nvPr/>
        </p:nvSpPr>
        <p:spPr>
          <a:xfrm>
            <a:off x="6604000" y="2559050"/>
            <a:ext cx="15557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ea typeface="Satoshi Bold" pitchFamily="34" charset="-122"/>
              </a:rPr>
              <a:t>Komponente</a:t>
            </a:r>
            <a:endParaRPr lang="en-US" sz="2000" dirty="0"/>
          </a:p>
        </p:txBody>
      </p:sp>
      <p:sp>
        <p:nvSpPr>
          <p:cNvPr id="36" name="Atoms molecules">
            <a:extLst>
              <a:ext uri="{FF2B5EF4-FFF2-40B4-BE49-F238E27FC236}">
                <a16:creationId xmlns:a16="http://schemas.microsoft.com/office/drawing/2014/main" id="{35C49B1B-F4E4-DC88-4D68-0BDD54BE8A71}"/>
              </a:ext>
            </a:extLst>
          </p:cNvPr>
          <p:cNvSpPr/>
          <p:nvPr/>
        </p:nvSpPr>
        <p:spPr>
          <a:xfrm>
            <a:off x="8669547" y="2919442"/>
            <a:ext cx="2652143" cy="38914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Atom</a:t>
            </a:r>
            <a:r>
              <a:rPr lang="hr-HR" sz="2000" dirty="0">
                <a:solidFill>
                  <a:srgbClr val="FFFFFF"/>
                </a:solidFill>
                <a:latin typeface="Bahnschrift" panose="020B0502040204020203" pitchFamily="34" charset="0"/>
                <a:ea typeface="Satoshi Regular" pitchFamily="34" charset="-122"/>
                <a:cs typeface="Satoshi Regular" pitchFamily="34" charset="-120"/>
              </a:rPr>
              <a:t>i</a:t>
            </a:r>
            <a:r>
              <a:rPr lang="en-US" sz="2000" dirty="0">
                <a:solidFill>
                  <a:srgbClr val="FFFFFF"/>
                </a:solidFill>
                <a:latin typeface="Bahnschrift" panose="020B0502040204020203" pitchFamily="34" charset="0"/>
                <a:ea typeface="Satoshi Regular" pitchFamily="34" charset="-122"/>
                <a:cs typeface="Satoshi Regular" pitchFamily="34" charset="-120"/>
              </a:rPr>
              <a:t>, mole</a:t>
            </a:r>
            <a:r>
              <a:rPr lang="hr-HR" sz="2000" dirty="0">
                <a:solidFill>
                  <a:srgbClr val="FFFFFF"/>
                </a:solidFill>
                <a:latin typeface="Bahnschrift" panose="020B0502040204020203" pitchFamily="34" charset="0"/>
                <a:ea typeface="Satoshi Regular" pitchFamily="34" charset="-122"/>
                <a:cs typeface="Satoshi Regular" pitchFamily="34" charset="-120"/>
              </a:rPr>
              <a:t>kule</a:t>
            </a:r>
            <a:endParaRPr lang="en-US" sz="2000" dirty="0">
              <a:latin typeface="Bahnschrift" panose="020B0502040204020203" pitchFamily="34" charset="0"/>
            </a:endParaRPr>
          </a:p>
        </p:txBody>
      </p:sp>
      <p:sp>
        <p:nvSpPr>
          <p:cNvPr id="38" name="Complex components  modules">
            <a:extLst>
              <a:ext uri="{FF2B5EF4-FFF2-40B4-BE49-F238E27FC236}">
                <a16:creationId xmlns:a16="http://schemas.microsoft.com/office/drawing/2014/main" id="{36CEBC64-0E9E-E486-54B3-857C85A2BAC1}"/>
              </a:ext>
            </a:extLst>
          </p:cNvPr>
          <p:cNvSpPr/>
          <p:nvPr/>
        </p:nvSpPr>
        <p:spPr>
          <a:xfrm>
            <a:off x="6604000" y="3587750"/>
            <a:ext cx="3924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Bahnschrift" panose="020B0502040204020203" pitchFamily="34" charset="0"/>
                <a:ea typeface="Satoshi Bold" pitchFamily="34" charset="-122"/>
                <a:cs typeface="Satoshi Bold" pitchFamily="34" charset="-120"/>
              </a:rPr>
              <a:t>Complex components / modules</a:t>
            </a:r>
            <a:endParaRPr lang="en-US" sz="2000" dirty="0">
              <a:latin typeface="Bahnschrift" panose="020B0502040204020203" pitchFamily="34" charset="0"/>
            </a:endParaRPr>
          </a:p>
        </p:txBody>
      </p:sp>
      <p:sp>
        <p:nvSpPr>
          <p:cNvPr id="40" name="Organizations">
            <a:extLst>
              <a:ext uri="{FF2B5EF4-FFF2-40B4-BE49-F238E27FC236}">
                <a16:creationId xmlns:a16="http://schemas.microsoft.com/office/drawing/2014/main" id="{32F4CE6D-BBDD-6D8B-48E2-49F5B383CA02}"/>
              </a:ext>
            </a:extLst>
          </p:cNvPr>
          <p:cNvSpPr/>
          <p:nvPr/>
        </p:nvSpPr>
        <p:spPr>
          <a:xfrm>
            <a:off x="9009811" y="3952934"/>
            <a:ext cx="1964785" cy="331639"/>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Organizations</a:t>
            </a:r>
            <a:endParaRPr lang="en-US" sz="2000" dirty="0">
              <a:latin typeface="Bahnschrift" panose="020B0502040204020203" pitchFamily="34" charset="0"/>
            </a:endParaRPr>
          </a:p>
        </p:txBody>
      </p:sp>
      <p:sp>
        <p:nvSpPr>
          <p:cNvPr id="42" name="Swap bookstores">
            <a:extLst>
              <a:ext uri="{FF2B5EF4-FFF2-40B4-BE49-F238E27FC236}">
                <a16:creationId xmlns:a16="http://schemas.microsoft.com/office/drawing/2014/main" id="{2DB0FA37-00A3-8D04-D9DB-7FEF3B16FE2A}"/>
              </a:ext>
            </a:extLst>
          </p:cNvPr>
          <p:cNvSpPr/>
          <p:nvPr/>
        </p:nvSpPr>
        <p:spPr>
          <a:xfrm>
            <a:off x="2122337" y="4009125"/>
            <a:ext cx="2078959" cy="275447"/>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Satoshi Bold" pitchFamily="34" charset="0"/>
                <a:ea typeface="Satoshi Bold" pitchFamily="34" charset="-122"/>
                <a:cs typeface="Satoshi Bold" pitchFamily="34" charset="-120"/>
              </a:rPr>
              <a:t>Knjižare za razmjenu</a:t>
            </a:r>
            <a:endParaRPr lang="en-US" sz="1800" dirty="0"/>
          </a:p>
        </p:txBody>
      </p:sp>
    </p:spTree>
    <p:extLst>
      <p:ext uri="{BB962C8B-B14F-4D97-AF65-F5344CB8AC3E}">
        <p14:creationId xmlns:p14="http://schemas.microsoft.com/office/powerpoint/2010/main" val="3536862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62B5-BB28-B857-037C-7279C8110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33F17-2B9B-012F-0EC3-7A13A9FA5AF3}"/>
              </a:ext>
            </a:extLst>
          </p:cNvPr>
          <p:cNvSpPr>
            <a:spLocks noGrp="1"/>
          </p:cNvSpPr>
          <p:nvPr>
            <p:ph type="title"/>
          </p:nvPr>
        </p:nvSpPr>
        <p:spPr/>
        <p:txBody>
          <a:bodyPr/>
          <a:lstStyle/>
          <a:p>
            <a:r>
              <a:rPr lang="hr-HR" dirty="0"/>
              <a:t>Struktura datoteka vašeg sustava dizajna</a:t>
            </a:r>
            <a:endParaRPr lang="en-US" dirty="0"/>
          </a:p>
        </p:txBody>
      </p:sp>
      <p:pic>
        <p:nvPicPr>
          <p:cNvPr id="4" name="Frame 304" descr="preencoded.png">
            <a:extLst>
              <a:ext uri="{FF2B5EF4-FFF2-40B4-BE49-F238E27FC236}">
                <a16:creationId xmlns:a16="http://schemas.microsoft.com/office/drawing/2014/main" id="{46ACFC79-6C88-A20E-19A6-75EF21C8CF1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13499" y="4143315"/>
            <a:ext cx="4514850" cy="1092200"/>
          </a:xfrm>
          <a:prstGeom prst="rect">
            <a:avLst/>
          </a:prstGeom>
        </p:spPr>
      </p:pic>
      <p:pic>
        <p:nvPicPr>
          <p:cNvPr id="7" name="Frame 305" descr="preencoded.png">
            <a:extLst>
              <a:ext uri="{FF2B5EF4-FFF2-40B4-BE49-F238E27FC236}">
                <a16:creationId xmlns:a16="http://schemas.microsoft.com/office/drawing/2014/main" id="{0D296C6D-3D7A-C2AD-BC05-73419D65688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763349" y="3444815"/>
            <a:ext cx="4514850" cy="736600"/>
          </a:xfrm>
          <a:prstGeom prst="rect">
            <a:avLst/>
          </a:prstGeom>
        </p:spPr>
      </p:pic>
      <p:pic>
        <p:nvPicPr>
          <p:cNvPr id="10" name="Frame 306" descr="preencoded.png">
            <a:extLst>
              <a:ext uri="{FF2B5EF4-FFF2-40B4-BE49-F238E27FC236}">
                <a16:creationId xmlns:a16="http://schemas.microsoft.com/office/drawing/2014/main" id="{EDDC5B6C-51CC-EE3B-32F9-62650B95607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763349" y="2581215"/>
            <a:ext cx="4514850" cy="736600"/>
          </a:xfrm>
          <a:prstGeom prst="rect">
            <a:avLst/>
          </a:prstGeom>
        </p:spPr>
      </p:pic>
      <p:pic>
        <p:nvPicPr>
          <p:cNvPr id="13" name="Frame 311" descr="preencoded.png">
            <a:extLst>
              <a:ext uri="{FF2B5EF4-FFF2-40B4-BE49-F238E27FC236}">
                <a16:creationId xmlns:a16="http://schemas.microsoft.com/office/drawing/2014/main" id="{F437065C-9149-ED98-6759-688226843A3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763349" y="1717615"/>
            <a:ext cx="4514850" cy="736600"/>
          </a:xfrm>
          <a:prstGeom prst="rect">
            <a:avLst/>
          </a:prstGeom>
        </p:spPr>
      </p:pic>
      <p:pic>
        <p:nvPicPr>
          <p:cNvPr id="16" name="Frame 307" descr="preencoded.png">
            <a:extLst>
              <a:ext uri="{FF2B5EF4-FFF2-40B4-BE49-F238E27FC236}">
                <a16:creationId xmlns:a16="http://schemas.microsoft.com/office/drawing/2014/main" id="{C9068E32-6CC8-E88C-1D7B-74EDDBC3CE2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763349" y="4308415"/>
            <a:ext cx="4514850" cy="736600"/>
          </a:xfrm>
          <a:prstGeom prst="rect">
            <a:avLst/>
          </a:prstGeom>
        </p:spPr>
      </p:pic>
      <p:pic>
        <p:nvPicPr>
          <p:cNvPr id="19" name="Frame 308" descr="preencoded.png">
            <a:extLst>
              <a:ext uri="{FF2B5EF4-FFF2-40B4-BE49-F238E27FC236}">
                <a16:creationId xmlns:a16="http://schemas.microsoft.com/office/drawing/2014/main" id="{B9891BBA-897A-F6BE-3B09-98BAE9DC7B7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763349" y="5172015"/>
            <a:ext cx="4514850" cy="736600"/>
          </a:xfrm>
          <a:prstGeom prst="rect">
            <a:avLst/>
          </a:prstGeom>
        </p:spPr>
      </p:pic>
      <p:pic>
        <p:nvPicPr>
          <p:cNvPr id="22" name="Frame 309" descr="preencoded.png">
            <a:extLst>
              <a:ext uri="{FF2B5EF4-FFF2-40B4-BE49-F238E27FC236}">
                <a16:creationId xmlns:a16="http://schemas.microsoft.com/office/drawing/2014/main" id="{0F319528-002A-C271-DAA1-E0972CA5D88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763349" y="6035615"/>
            <a:ext cx="4514850" cy="736600"/>
          </a:xfrm>
          <a:prstGeom prst="rect">
            <a:avLst/>
          </a:prstGeom>
        </p:spPr>
      </p:pic>
      <p:pic>
        <p:nvPicPr>
          <p:cNvPr id="25" name="Frame 310" descr="preencoded.png">
            <a:extLst>
              <a:ext uri="{FF2B5EF4-FFF2-40B4-BE49-F238E27FC236}">
                <a16:creationId xmlns:a16="http://schemas.microsoft.com/office/drawing/2014/main" id="{9E5B1CBA-C66B-3ED0-12FA-54E57C79447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763349" y="6899215"/>
            <a:ext cx="4514850" cy="736600"/>
          </a:xfrm>
          <a:prstGeom prst="rect">
            <a:avLst/>
          </a:prstGeom>
        </p:spPr>
      </p:pic>
      <p:pic>
        <p:nvPicPr>
          <p:cNvPr id="27" name="Line 8" descr="preencoded.png">
            <a:extLst>
              <a:ext uri="{FF2B5EF4-FFF2-40B4-BE49-F238E27FC236}">
                <a16:creationId xmlns:a16="http://schemas.microsoft.com/office/drawing/2014/main" id="{D6A79202-4E08-66FE-58BF-4FEDE84D88E6}"/>
              </a:ext>
            </a:extLst>
          </p:cNvPr>
          <p:cNvPicPr>
            <a:picLocks noChangeAspect="1"/>
          </p:cNvPicPr>
          <p:nvPr/>
        </p:nvPicPr>
        <p:blipFill>
          <a:blip r:embed="rId7"/>
          <a:srcRect/>
          <a:stretch/>
        </p:blipFill>
        <p:spPr>
          <a:xfrm>
            <a:off x="6223600" y="4569338"/>
            <a:ext cx="460375" cy="233803"/>
          </a:xfrm>
          <a:prstGeom prst="rect">
            <a:avLst/>
          </a:prstGeom>
        </p:spPr>
      </p:pic>
      <p:pic>
        <p:nvPicPr>
          <p:cNvPr id="31" name="Line 9" descr="preencoded.png">
            <a:extLst>
              <a:ext uri="{FF2B5EF4-FFF2-40B4-BE49-F238E27FC236}">
                <a16:creationId xmlns:a16="http://schemas.microsoft.com/office/drawing/2014/main" id="{8650A186-4E39-D936-2767-4035B93284D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223600" y="1972188"/>
            <a:ext cx="460375" cy="2729927"/>
          </a:xfrm>
          <a:prstGeom prst="rect">
            <a:avLst/>
          </a:prstGeom>
        </p:spPr>
      </p:pic>
      <p:pic>
        <p:nvPicPr>
          <p:cNvPr id="35" name="Line 10" descr="preencoded.png">
            <a:extLst>
              <a:ext uri="{FF2B5EF4-FFF2-40B4-BE49-F238E27FC236}">
                <a16:creationId xmlns:a16="http://schemas.microsoft.com/office/drawing/2014/main" id="{E156DF3D-C4B9-6092-96FB-120F376A711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223600" y="2873888"/>
            <a:ext cx="460375" cy="1828227"/>
          </a:xfrm>
          <a:prstGeom prst="rect">
            <a:avLst/>
          </a:prstGeom>
        </p:spPr>
      </p:pic>
      <p:pic>
        <p:nvPicPr>
          <p:cNvPr id="39" name="Line 11" descr="preencoded.png">
            <a:extLst>
              <a:ext uri="{FF2B5EF4-FFF2-40B4-BE49-F238E27FC236}">
                <a16:creationId xmlns:a16="http://schemas.microsoft.com/office/drawing/2014/main" id="{7A068AB3-B0EB-A475-0256-A3CF747D7C2E}"/>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223600" y="3712088"/>
            <a:ext cx="460375" cy="990027"/>
          </a:xfrm>
          <a:prstGeom prst="rect">
            <a:avLst/>
          </a:prstGeom>
        </p:spPr>
      </p:pic>
      <p:pic>
        <p:nvPicPr>
          <p:cNvPr id="43" name="Line 12" descr="preencoded.png">
            <a:extLst>
              <a:ext uri="{FF2B5EF4-FFF2-40B4-BE49-F238E27FC236}">
                <a16:creationId xmlns:a16="http://schemas.microsoft.com/office/drawing/2014/main" id="{AEB7D5AA-DC33-F9F0-E9E3-2AACBDBE1DC8}"/>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6223600" y="4670366"/>
            <a:ext cx="460375" cy="999551"/>
          </a:xfrm>
          <a:prstGeom prst="rect">
            <a:avLst/>
          </a:prstGeom>
        </p:spPr>
      </p:pic>
      <p:pic>
        <p:nvPicPr>
          <p:cNvPr id="45" name="Line 13" descr="preencoded.png">
            <a:extLst>
              <a:ext uri="{FF2B5EF4-FFF2-40B4-BE49-F238E27FC236}">
                <a16:creationId xmlns:a16="http://schemas.microsoft.com/office/drawing/2014/main" id="{563CDF0F-2A96-3FC6-B27D-ACEE76AD0B50}"/>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223600" y="4670365"/>
            <a:ext cx="460375" cy="1859977"/>
          </a:xfrm>
          <a:prstGeom prst="rect">
            <a:avLst/>
          </a:prstGeom>
        </p:spPr>
      </p:pic>
      <p:pic>
        <p:nvPicPr>
          <p:cNvPr id="47" name="Line 14" descr="preencoded.png">
            <a:extLst>
              <a:ext uri="{FF2B5EF4-FFF2-40B4-BE49-F238E27FC236}">
                <a16:creationId xmlns:a16="http://schemas.microsoft.com/office/drawing/2014/main" id="{17FBDCC1-E609-B6E7-B539-947F3124C312}"/>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223600" y="4670366"/>
            <a:ext cx="460375" cy="2726751"/>
          </a:xfrm>
          <a:prstGeom prst="rect">
            <a:avLst/>
          </a:prstGeom>
        </p:spPr>
      </p:pic>
      <p:sp>
        <p:nvSpPr>
          <p:cNvPr id="49" name="Styles texts colors effects">
            <a:extLst>
              <a:ext uri="{FF2B5EF4-FFF2-40B4-BE49-F238E27FC236}">
                <a16:creationId xmlns:a16="http://schemas.microsoft.com/office/drawing/2014/main" id="{C6D3E4CC-085D-B81D-788A-839EE8627E53}"/>
              </a:ext>
            </a:extLst>
          </p:cNvPr>
          <p:cNvSpPr/>
          <p:nvPr/>
        </p:nvSpPr>
        <p:spPr>
          <a:xfrm>
            <a:off x="1803999" y="4324231"/>
            <a:ext cx="4011283" cy="379561"/>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dirty="0">
                <a:solidFill>
                  <a:srgbClr val="FFFFFF"/>
                </a:solidFill>
                <a:latin typeface="Satoshi Bold" pitchFamily="34" charset="0"/>
                <a:ea typeface="Satoshi Bold" pitchFamily="34" charset="-122"/>
                <a:cs typeface="Satoshi Bold" pitchFamily="34" charset="-120"/>
              </a:rPr>
              <a:t>St</a:t>
            </a:r>
            <a:r>
              <a:rPr lang="hr-HR" sz="2000" b="1" dirty="0" err="1">
                <a:solidFill>
                  <a:srgbClr val="FFFFFF"/>
                </a:solidFill>
                <a:latin typeface="Satoshi Bold" pitchFamily="34" charset="0"/>
                <a:ea typeface="Satoshi Bold" pitchFamily="34" charset="-122"/>
                <a:cs typeface="Satoshi Bold" pitchFamily="34" charset="-120"/>
              </a:rPr>
              <a:t>ilovi</a:t>
            </a:r>
            <a:r>
              <a:rPr lang="en-US" sz="2000" b="1" dirty="0">
                <a:solidFill>
                  <a:srgbClr val="FFFFFF"/>
                </a:solidFill>
                <a:latin typeface="Satoshi Bold" pitchFamily="34" charset="0"/>
                <a:ea typeface="Satoshi Bold" pitchFamily="34" charset="-122"/>
                <a:cs typeface="Satoshi Bold" pitchFamily="34" charset="-120"/>
              </a:rPr>
              <a:t> (</a:t>
            </a:r>
            <a:r>
              <a:rPr lang="en-US" sz="2000" b="1" dirty="0" err="1">
                <a:solidFill>
                  <a:srgbClr val="FFFFFF"/>
                </a:solidFill>
                <a:latin typeface="Satoshi Bold" pitchFamily="34" charset="0"/>
                <a:ea typeface="Satoshi Bold" pitchFamily="34" charset="-122"/>
                <a:cs typeface="Satoshi Bold" pitchFamily="34" charset="-120"/>
              </a:rPr>
              <a:t>te</a:t>
            </a:r>
            <a:r>
              <a:rPr lang="hr-HR" sz="2000" b="1" dirty="0" err="1">
                <a:solidFill>
                  <a:srgbClr val="FFFFFF"/>
                </a:solidFill>
                <a:latin typeface="Satoshi Bold" pitchFamily="34" charset="0"/>
                <a:ea typeface="Satoshi Bold" pitchFamily="34" charset="-122"/>
                <a:cs typeface="Satoshi Bold" pitchFamily="34" charset="-120"/>
              </a:rPr>
              <a:t>kst</a:t>
            </a:r>
            <a:r>
              <a:rPr lang="en-US" sz="2000" b="1" dirty="0">
                <a:solidFill>
                  <a:srgbClr val="FFFFFF"/>
                </a:solidFill>
                <a:latin typeface="Satoshi Bold" pitchFamily="34" charset="0"/>
                <a:ea typeface="Satoshi Bold" pitchFamily="34" charset="-122"/>
                <a:cs typeface="Satoshi Bold" pitchFamily="34" charset="-120"/>
              </a:rPr>
              <a:t>, </a:t>
            </a:r>
            <a:r>
              <a:rPr lang="hr-HR" sz="2000" b="1" dirty="0">
                <a:solidFill>
                  <a:srgbClr val="FFFFFF"/>
                </a:solidFill>
                <a:latin typeface="Satoshi Bold" pitchFamily="34" charset="0"/>
                <a:ea typeface="Satoshi Bold" pitchFamily="34" charset="-122"/>
                <a:cs typeface="Satoshi Bold" pitchFamily="34" charset="-120"/>
              </a:rPr>
              <a:t>boje</a:t>
            </a:r>
            <a:r>
              <a:rPr lang="en-US" sz="2000" b="1" dirty="0">
                <a:solidFill>
                  <a:srgbClr val="FFFFFF"/>
                </a:solidFill>
                <a:latin typeface="Satoshi Bold" pitchFamily="34" charset="0"/>
                <a:ea typeface="Satoshi Bold" pitchFamily="34" charset="-122"/>
                <a:cs typeface="Satoshi Bold" pitchFamily="34" charset="-120"/>
              </a:rPr>
              <a:t>, </a:t>
            </a:r>
            <a:r>
              <a:rPr lang="en-US" sz="2000" b="1" dirty="0" err="1">
                <a:solidFill>
                  <a:srgbClr val="FFFFFF"/>
                </a:solidFill>
                <a:latin typeface="Satoshi Bold" pitchFamily="34" charset="0"/>
                <a:ea typeface="Satoshi Bold" pitchFamily="34" charset="-122"/>
                <a:cs typeface="Satoshi Bold" pitchFamily="34" charset="-120"/>
              </a:rPr>
              <a:t>ef</a:t>
            </a:r>
            <a:r>
              <a:rPr lang="hr-HR" sz="2000" b="1" dirty="0" err="1">
                <a:solidFill>
                  <a:srgbClr val="FFFFFF"/>
                </a:solidFill>
                <a:latin typeface="Satoshi Bold" pitchFamily="34" charset="0"/>
                <a:ea typeface="Satoshi Bold" pitchFamily="34" charset="-122"/>
                <a:cs typeface="Satoshi Bold" pitchFamily="34" charset="-120"/>
              </a:rPr>
              <a:t>ekti</a:t>
            </a:r>
            <a:r>
              <a:rPr lang="en-US" sz="2000" b="1" dirty="0">
                <a:solidFill>
                  <a:srgbClr val="FFFFFF"/>
                </a:solidFill>
                <a:latin typeface="Satoshi Bold" pitchFamily="34" charset="0"/>
                <a:ea typeface="Satoshi Bold" pitchFamily="34" charset="-122"/>
                <a:cs typeface="Satoshi Bold" pitchFamily="34" charset="-120"/>
              </a:rPr>
              <a:t>)</a:t>
            </a:r>
            <a:endParaRPr lang="en-US" sz="2000" dirty="0"/>
          </a:p>
        </p:txBody>
      </p:sp>
      <p:sp>
        <p:nvSpPr>
          <p:cNvPr id="51" name="Ions">
            <a:extLst>
              <a:ext uri="{FF2B5EF4-FFF2-40B4-BE49-F238E27FC236}">
                <a16:creationId xmlns:a16="http://schemas.microsoft.com/office/drawing/2014/main" id="{D797B08E-67FE-9113-A673-0AE07AEF1076}"/>
              </a:ext>
            </a:extLst>
          </p:cNvPr>
          <p:cNvSpPr/>
          <p:nvPr/>
        </p:nvSpPr>
        <p:spPr>
          <a:xfrm>
            <a:off x="1803999" y="4689415"/>
            <a:ext cx="630282"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dirty="0">
                <a:solidFill>
                  <a:srgbClr val="FFFFFF"/>
                </a:solidFill>
                <a:latin typeface="Bahnschrift" panose="020B0502040204020203" pitchFamily="34" charset="0"/>
                <a:ea typeface="Satoshi Regular" pitchFamily="34" charset="-122"/>
                <a:cs typeface="Satoshi Regular" pitchFamily="34" charset="-120"/>
              </a:rPr>
              <a:t>Ion</a:t>
            </a:r>
            <a:r>
              <a:rPr lang="hr-HR" sz="2000" dirty="0">
                <a:solidFill>
                  <a:srgbClr val="FFFFFF"/>
                </a:solidFill>
                <a:latin typeface="Bahnschrift" panose="020B0502040204020203" pitchFamily="34" charset="0"/>
                <a:ea typeface="Satoshi Regular" pitchFamily="34" charset="-122"/>
                <a:cs typeface="Satoshi Regular" pitchFamily="34" charset="-120"/>
              </a:rPr>
              <a:t>i</a:t>
            </a:r>
            <a:endParaRPr lang="en-US" sz="2000" dirty="0">
              <a:latin typeface="Bahnschrift" panose="020B0502040204020203" pitchFamily="34" charset="0"/>
            </a:endParaRPr>
          </a:p>
        </p:txBody>
      </p:sp>
      <p:sp>
        <p:nvSpPr>
          <p:cNvPr id="53" name="Component">
            <a:extLst>
              <a:ext uri="{FF2B5EF4-FFF2-40B4-BE49-F238E27FC236}">
                <a16:creationId xmlns:a16="http://schemas.microsoft.com/office/drawing/2014/main" id="{7B07BA25-FF07-648C-EE96-852BB0303621}"/>
              </a:ext>
            </a:extLst>
          </p:cNvPr>
          <p:cNvSpPr/>
          <p:nvPr/>
        </p:nvSpPr>
        <p:spPr>
          <a:xfrm>
            <a:off x="6953849" y="36353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Satoshi Bold" pitchFamily="34" charset="0"/>
                <a:ea typeface="Satoshi Bold" pitchFamily="34" charset="-122"/>
                <a:cs typeface="Satoshi Bold" pitchFamily="34" charset="-120"/>
              </a:rPr>
              <a:t>Komponenta</a:t>
            </a:r>
            <a:endParaRPr lang="en-US" sz="2000" dirty="0"/>
          </a:p>
        </p:txBody>
      </p:sp>
      <p:sp>
        <p:nvSpPr>
          <p:cNvPr id="55" name="Component">
            <a:extLst>
              <a:ext uri="{FF2B5EF4-FFF2-40B4-BE49-F238E27FC236}">
                <a16:creationId xmlns:a16="http://schemas.microsoft.com/office/drawing/2014/main" id="{F8F62BA2-306B-DA27-0974-A44E57EABC3B}"/>
              </a:ext>
            </a:extLst>
          </p:cNvPr>
          <p:cNvSpPr/>
          <p:nvPr/>
        </p:nvSpPr>
        <p:spPr>
          <a:xfrm>
            <a:off x="6953849" y="27717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Satoshi Bold" pitchFamily="34" charset="0"/>
                <a:ea typeface="Satoshi Bold" pitchFamily="34" charset="-122"/>
                <a:cs typeface="Satoshi Bold" pitchFamily="34" charset="-120"/>
              </a:rPr>
              <a:t>Komponenta</a:t>
            </a:r>
            <a:endParaRPr lang="en-US" sz="2000" dirty="0"/>
          </a:p>
        </p:txBody>
      </p:sp>
      <p:sp>
        <p:nvSpPr>
          <p:cNvPr id="57" name="Component">
            <a:extLst>
              <a:ext uri="{FF2B5EF4-FFF2-40B4-BE49-F238E27FC236}">
                <a16:creationId xmlns:a16="http://schemas.microsoft.com/office/drawing/2014/main" id="{2BD4DD21-E537-341F-65C2-B12EB5CCFAC4}"/>
              </a:ext>
            </a:extLst>
          </p:cNvPr>
          <p:cNvSpPr/>
          <p:nvPr/>
        </p:nvSpPr>
        <p:spPr>
          <a:xfrm>
            <a:off x="6953849" y="19081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ea typeface="Satoshi Bold" pitchFamily="34" charset="-122"/>
              </a:rPr>
              <a:t>Komponenta</a:t>
            </a:r>
            <a:endParaRPr lang="en-US" sz="2000" b="1" dirty="0">
              <a:solidFill>
                <a:srgbClr val="FFFFFF"/>
              </a:solidFill>
              <a:latin typeface="Satoshi Bold" pitchFamily="34" charset="0"/>
              <a:ea typeface="Satoshi Bold" pitchFamily="34" charset="-122"/>
            </a:endParaRPr>
          </a:p>
        </p:txBody>
      </p:sp>
      <p:sp>
        <p:nvSpPr>
          <p:cNvPr id="59" name="Component">
            <a:extLst>
              <a:ext uri="{FF2B5EF4-FFF2-40B4-BE49-F238E27FC236}">
                <a16:creationId xmlns:a16="http://schemas.microsoft.com/office/drawing/2014/main" id="{10D0D810-58CE-688E-B98E-096A5879910E}"/>
              </a:ext>
            </a:extLst>
          </p:cNvPr>
          <p:cNvSpPr/>
          <p:nvPr/>
        </p:nvSpPr>
        <p:spPr>
          <a:xfrm>
            <a:off x="6953849" y="44989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Satoshi Bold" pitchFamily="34" charset="0"/>
                <a:ea typeface="Satoshi Bold" pitchFamily="34" charset="-122"/>
                <a:cs typeface="Satoshi Bold" pitchFamily="34" charset="-120"/>
              </a:rPr>
              <a:t>K</a:t>
            </a:r>
            <a:r>
              <a:rPr lang="en-US" sz="2000" b="1" dirty="0" err="1">
                <a:solidFill>
                  <a:srgbClr val="FFFFFF"/>
                </a:solidFill>
                <a:latin typeface="Satoshi Bold" pitchFamily="34" charset="0"/>
                <a:ea typeface="Satoshi Bold" pitchFamily="34" charset="-122"/>
                <a:cs typeface="Satoshi Bold" pitchFamily="34" charset="-120"/>
              </a:rPr>
              <a:t>omponent</a:t>
            </a:r>
            <a:r>
              <a:rPr lang="hr-HR" sz="2000" b="1" dirty="0">
                <a:solidFill>
                  <a:srgbClr val="FFFFFF"/>
                </a:solidFill>
                <a:latin typeface="Satoshi Bold" pitchFamily="34" charset="0"/>
                <a:ea typeface="Satoshi Bold" pitchFamily="34" charset="-122"/>
                <a:cs typeface="Satoshi Bold" pitchFamily="34" charset="-120"/>
              </a:rPr>
              <a:t>a</a:t>
            </a:r>
            <a:endParaRPr lang="en-US" sz="2000" dirty="0"/>
          </a:p>
        </p:txBody>
      </p:sp>
      <p:sp>
        <p:nvSpPr>
          <p:cNvPr id="61" name="Component">
            <a:extLst>
              <a:ext uri="{FF2B5EF4-FFF2-40B4-BE49-F238E27FC236}">
                <a16:creationId xmlns:a16="http://schemas.microsoft.com/office/drawing/2014/main" id="{FA1062F3-5317-FC23-ECCA-44BA4F6C9FA7}"/>
              </a:ext>
            </a:extLst>
          </p:cNvPr>
          <p:cNvSpPr/>
          <p:nvPr/>
        </p:nvSpPr>
        <p:spPr>
          <a:xfrm>
            <a:off x="6953849" y="53625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Satoshi Bold" pitchFamily="34" charset="0"/>
                <a:ea typeface="Satoshi Bold" pitchFamily="34" charset="-122"/>
                <a:cs typeface="Satoshi Bold" pitchFamily="34" charset="-120"/>
              </a:rPr>
              <a:t>K</a:t>
            </a:r>
            <a:r>
              <a:rPr lang="en-US" sz="2000" b="1" dirty="0" err="1">
                <a:solidFill>
                  <a:srgbClr val="FFFFFF"/>
                </a:solidFill>
                <a:latin typeface="Satoshi Bold" pitchFamily="34" charset="0"/>
                <a:ea typeface="Satoshi Bold" pitchFamily="34" charset="-122"/>
                <a:cs typeface="Satoshi Bold" pitchFamily="34" charset="-120"/>
              </a:rPr>
              <a:t>omponent</a:t>
            </a:r>
            <a:r>
              <a:rPr lang="hr-HR" sz="2000" b="1" dirty="0">
                <a:solidFill>
                  <a:srgbClr val="FFFFFF"/>
                </a:solidFill>
                <a:latin typeface="Satoshi Bold" pitchFamily="34" charset="0"/>
                <a:ea typeface="Satoshi Bold" pitchFamily="34" charset="-122"/>
                <a:cs typeface="Satoshi Bold" pitchFamily="34" charset="-120"/>
              </a:rPr>
              <a:t>a</a:t>
            </a:r>
            <a:endParaRPr lang="en-US" sz="2000" dirty="0"/>
          </a:p>
        </p:txBody>
      </p:sp>
      <p:sp>
        <p:nvSpPr>
          <p:cNvPr id="63" name="Component">
            <a:extLst>
              <a:ext uri="{FF2B5EF4-FFF2-40B4-BE49-F238E27FC236}">
                <a16:creationId xmlns:a16="http://schemas.microsoft.com/office/drawing/2014/main" id="{5EA1C811-CC30-0CCA-AAB1-5FDDD2AA1B92}"/>
              </a:ext>
            </a:extLst>
          </p:cNvPr>
          <p:cNvSpPr/>
          <p:nvPr/>
        </p:nvSpPr>
        <p:spPr>
          <a:xfrm>
            <a:off x="6953849" y="62261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hr-HR" sz="2000" b="1" dirty="0">
                <a:solidFill>
                  <a:srgbClr val="FFFFFF"/>
                </a:solidFill>
                <a:latin typeface="Satoshi Bold" pitchFamily="34" charset="0"/>
                <a:ea typeface="Satoshi Bold" pitchFamily="34" charset="-122"/>
                <a:cs typeface="Satoshi Bold" pitchFamily="34" charset="-120"/>
              </a:rPr>
              <a:t>K</a:t>
            </a:r>
            <a:r>
              <a:rPr lang="en-US" sz="2000" b="1" dirty="0" err="1">
                <a:solidFill>
                  <a:srgbClr val="FFFFFF"/>
                </a:solidFill>
                <a:latin typeface="Satoshi Bold" pitchFamily="34" charset="0"/>
                <a:ea typeface="Satoshi Bold" pitchFamily="34" charset="-122"/>
                <a:cs typeface="Satoshi Bold" pitchFamily="34" charset="-120"/>
              </a:rPr>
              <a:t>omponent</a:t>
            </a:r>
            <a:r>
              <a:rPr lang="hr-HR" sz="2000" b="1" dirty="0">
                <a:solidFill>
                  <a:srgbClr val="FFFFFF"/>
                </a:solidFill>
                <a:latin typeface="Satoshi Bold" pitchFamily="34" charset="0"/>
                <a:ea typeface="Satoshi Bold" pitchFamily="34" charset="-122"/>
                <a:cs typeface="Satoshi Bold" pitchFamily="34" charset="-120"/>
              </a:rPr>
              <a:t>a</a:t>
            </a:r>
            <a:endParaRPr lang="en-US" sz="2000" dirty="0"/>
          </a:p>
        </p:txBody>
      </p:sp>
      <p:sp>
        <p:nvSpPr>
          <p:cNvPr id="65" name="Component">
            <a:extLst>
              <a:ext uri="{FF2B5EF4-FFF2-40B4-BE49-F238E27FC236}">
                <a16:creationId xmlns:a16="http://schemas.microsoft.com/office/drawing/2014/main" id="{26D70FB0-B865-E9EB-F242-CB53B196E824}"/>
              </a:ext>
            </a:extLst>
          </p:cNvPr>
          <p:cNvSpPr/>
          <p:nvPr/>
        </p:nvSpPr>
        <p:spPr>
          <a:xfrm>
            <a:off x="6953849" y="7089715"/>
            <a:ext cx="14351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a:solidFill>
                  <a:srgbClr val="FFFFFF"/>
                </a:solidFill>
                <a:latin typeface="Satoshi Bold" pitchFamily="34" charset="0"/>
                <a:ea typeface="Satoshi Bold" pitchFamily="34" charset="-122"/>
                <a:cs typeface="Satoshi Bold" pitchFamily="34" charset="-120"/>
              </a:rPr>
              <a:t>Component</a:t>
            </a:r>
            <a:endParaRPr lang="en-US" sz="2000"/>
          </a:p>
        </p:txBody>
      </p:sp>
    </p:spTree>
    <p:extLst>
      <p:ext uri="{BB962C8B-B14F-4D97-AF65-F5344CB8AC3E}">
        <p14:creationId xmlns:p14="http://schemas.microsoft.com/office/powerpoint/2010/main" val="1822009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4924-8633-3889-507D-832873AEC650}"/>
              </a:ext>
            </a:extLst>
          </p:cNvPr>
          <p:cNvSpPr>
            <a:spLocks noGrp="1"/>
          </p:cNvSpPr>
          <p:nvPr>
            <p:ph type="title"/>
          </p:nvPr>
        </p:nvSpPr>
        <p:spPr/>
        <p:txBody>
          <a:bodyPr/>
          <a:lstStyle/>
          <a:p>
            <a:r>
              <a:rPr lang="hr-HR" dirty="0"/>
              <a:t>Struktura datoteka vašeg sustava dizajna</a:t>
            </a:r>
            <a:endParaRPr lang="en-US" dirty="0">
              <a:latin typeface="Bahnschrift SemiBold"/>
            </a:endParaRPr>
          </a:p>
        </p:txBody>
      </p:sp>
      <p:sp>
        <p:nvSpPr>
          <p:cNvPr id="3" name="Content Placeholder 2">
            <a:extLst>
              <a:ext uri="{FF2B5EF4-FFF2-40B4-BE49-F238E27FC236}">
                <a16:creationId xmlns:a16="http://schemas.microsoft.com/office/drawing/2014/main" id="{07CBE5BE-9A52-96DC-DF76-35DC411BD883}"/>
              </a:ext>
            </a:extLst>
          </p:cNvPr>
          <p:cNvSpPr>
            <a:spLocks noGrp="1"/>
          </p:cNvSpPr>
          <p:nvPr>
            <p:ph idx="1"/>
          </p:nvPr>
        </p:nvSpPr>
        <p:spPr>
          <a:xfrm>
            <a:off x="838200" y="1800911"/>
            <a:ext cx="10515600" cy="4351338"/>
          </a:xfrm>
        </p:spPr>
        <p:txBody>
          <a:bodyPr vert="horz" lIns="91440" tIns="45720" rIns="91440" bIns="45720" rtlCol="0" anchor="t">
            <a:normAutofit fontScale="55000" lnSpcReduction="20000"/>
          </a:bodyPr>
          <a:lstStyle/>
          <a:p>
            <a:pPr marL="0" indent="0">
              <a:buNone/>
            </a:pPr>
            <a:r>
              <a:rPr lang="hr-HR" b="1" dirty="0"/>
              <a:t>1 datoteka:</a:t>
            </a:r>
            <a:r>
              <a:rPr lang="hr-HR" dirty="0"/>
              <a:t> Jednostavna navigacija u </a:t>
            </a:r>
            <a:r>
              <a:rPr lang="hr-HR" dirty="0" err="1"/>
              <a:t>Figmi</a:t>
            </a:r>
            <a:endParaRPr lang="hr-HR" dirty="0"/>
          </a:p>
          <a:p>
            <a:r>
              <a:rPr lang="hr-HR" dirty="0"/>
              <a:t>Samo jedna datoteka za pregled</a:t>
            </a:r>
          </a:p>
          <a:p>
            <a:r>
              <a:rPr lang="hr-HR" dirty="0"/>
              <a:t>Sve na jednom mjestu</a:t>
            </a:r>
          </a:p>
          <a:p>
            <a:r>
              <a:rPr lang="hr-HR" dirty="0"/>
              <a:t>Prikladno za male do srednje projekte</a:t>
            </a:r>
          </a:p>
          <a:p>
            <a:pPr marL="0" indent="0">
              <a:buNone/>
            </a:pPr>
            <a:r>
              <a:rPr lang="hr-HR" b="1" dirty="0"/>
              <a:t>1 </a:t>
            </a:r>
            <a:r>
              <a:rPr lang="hr-HR" b="1" dirty="0" err="1"/>
              <a:t>style</a:t>
            </a:r>
            <a:r>
              <a:rPr lang="hr-HR" b="1" dirty="0"/>
              <a:t> datoteka + 1 datoteka s komponentama</a:t>
            </a:r>
            <a:endParaRPr lang="hr-HR" dirty="0"/>
          </a:p>
          <a:p>
            <a:r>
              <a:rPr lang="hr-HR" dirty="0"/>
              <a:t>Mogućnost „zamjene biblioteka” stilova (</a:t>
            </a:r>
            <a:r>
              <a:rPr lang="hr-HR" dirty="0" err="1"/>
              <a:t>brending</a:t>
            </a:r>
            <a:r>
              <a:rPr lang="hr-HR" dirty="0"/>
              <a:t> / </a:t>
            </a:r>
            <a:r>
              <a:rPr lang="hr-HR" dirty="0" err="1"/>
              <a:t>light</a:t>
            </a:r>
            <a:r>
              <a:rPr lang="hr-HR" dirty="0"/>
              <a:t> &amp; </a:t>
            </a:r>
            <a:r>
              <a:rPr lang="hr-HR" dirty="0" err="1"/>
              <a:t>dark</a:t>
            </a:r>
            <a:r>
              <a:rPr lang="hr-HR" dirty="0"/>
              <a:t> mode itd.)</a:t>
            </a:r>
          </a:p>
          <a:p>
            <a:r>
              <a:rPr lang="hr-HR" dirty="0"/>
              <a:t>Jasnoća zahvaljujući odvojenim datotekama</a:t>
            </a:r>
          </a:p>
          <a:p>
            <a:r>
              <a:rPr lang="hr-HR" dirty="0"/>
              <a:t>Prikladno za male do srednje projekte</a:t>
            </a:r>
          </a:p>
          <a:p>
            <a:pPr marL="0" indent="0">
              <a:buNone/>
            </a:pPr>
            <a:r>
              <a:rPr lang="hr-HR" b="1" dirty="0"/>
              <a:t>1 </a:t>
            </a:r>
            <a:r>
              <a:rPr lang="hr-HR" b="1" dirty="0" err="1"/>
              <a:t>style</a:t>
            </a:r>
            <a:r>
              <a:rPr lang="hr-HR" b="1" dirty="0"/>
              <a:t> datoteka + 1 datoteka po komponenti</a:t>
            </a:r>
            <a:endParaRPr lang="hr-HR" dirty="0"/>
          </a:p>
          <a:p>
            <a:r>
              <a:rPr lang="hr-HR" dirty="0"/>
              <a:t>Manji rizik prilikom uvođenja promjena</a:t>
            </a:r>
          </a:p>
          <a:p>
            <a:r>
              <a:rPr lang="hr-HR" dirty="0"/>
              <a:t>Fokus na jednu stvar odjednom</a:t>
            </a:r>
          </a:p>
          <a:p>
            <a:r>
              <a:rPr lang="hr-HR" dirty="0"/>
              <a:t>Lakše </a:t>
            </a:r>
            <a:r>
              <a:rPr lang="hr-HR" dirty="0" err="1"/>
              <a:t>verzioniranje</a:t>
            </a:r>
            <a:endParaRPr lang="hr-HR" dirty="0"/>
          </a:p>
          <a:p>
            <a:r>
              <a:rPr lang="hr-HR" dirty="0"/>
              <a:t>Najbolje performanse</a:t>
            </a:r>
          </a:p>
          <a:p>
            <a:r>
              <a:rPr lang="hr-HR" dirty="0"/>
              <a:t>Prikladno za velike projekte</a:t>
            </a:r>
          </a:p>
        </p:txBody>
      </p:sp>
    </p:spTree>
    <p:extLst>
      <p:ext uri="{BB962C8B-B14F-4D97-AF65-F5344CB8AC3E}">
        <p14:creationId xmlns:p14="http://schemas.microsoft.com/office/powerpoint/2010/main" val="2623634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CFC3-520F-170E-E25A-3617084ABF4D}"/>
              </a:ext>
            </a:extLst>
          </p:cNvPr>
          <p:cNvSpPr>
            <a:spLocks noGrp="1"/>
          </p:cNvSpPr>
          <p:nvPr>
            <p:ph type="title"/>
          </p:nvPr>
        </p:nvSpPr>
        <p:spPr/>
        <p:txBody>
          <a:bodyPr/>
          <a:lstStyle/>
          <a:p>
            <a:r>
              <a:rPr lang="en-US" dirty="0">
                <a:latin typeface="Bahnschrift SemiBold"/>
              </a:rPr>
              <a:t>Nomen</a:t>
            </a:r>
            <a:r>
              <a:rPr lang="hr-HR" dirty="0" err="1">
                <a:latin typeface="Bahnschrift SemiBold"/>
              </a:rPr>
              <a:t>klatura</a:t>
            </a:r>
            <a:endParaRPr lang="en-US" dirty="0"/>
          </a:p>
        </p:txBody>
      </p:sp>
      <p:sp>
        <p:nvSpPr>
          <p:cNvPr id="3" name="Content Placeholder 2">
            <a:extLst>
              <a:ext uri="{FF2B5EF4-FFF2-40B4-BE49-F238E27FC236}">
                <a16:creationId xmlns:a16="http://schemas.microsoft.com/office/drawing/2014/main" id="{ADBCA129-02BE-7730-0DEF-131530F3D537}"/>
              </a:ext>
            </a:extLst>
          </p:cNvPr>
          <p:cNvSpPr>
            <a:spLocks noGrp="1"/>
          </p:cNvSpPr>
          <p:nvPr>
            <p:ph idx="1"/>
          </p:nvPr>
        </p:nvSpPr>
        <p:spPr/>
        <p:txBody>
          <a:bodyPr vert="horz" lIns="91440" tIns="45720" rIns="91440" bIns="45720" rtlCol="0" anchor="t">
            <a:normAutofit/>
          </a:bodyPr>
          <a:lstStyle/>
          <a:p>
            <a:pPr marL="0" indent="0">
              <a:buNone/>
            </a:pPr>
            <a:r>
              <a:rPr lang="en-US" dirty="0">
                <a:latin typeface="Bahnschrift SemiLight"/>
              </a:rPr>
              <a:t>"</a:t>
            </a:r>
            <a:r>
              <a:rPr lang="hr-HR" dirty="0"/>
              <a:t> Postoje samo dvije teške stvari u računarstvu: poništavanje </a:t>
            </a:r>
            <a:r>
              <a:rPr lang="hr-HR" dirty="0" err="1"/>
              <a:t>predmemorije</a:t>
            </a:r>
            <a:r>
              <a:rPr lang="hr-HR" dirty="0"/>
              <a:t> (</a:t>
            </a:r>
            <a:r>
              <a:rPr lang="hr-HR" dirty="0" err="1"/>
              <a:t>cache</a:t>
            </a:r>
            <a:r>
              <a:rPr lang="hr-HR" dirty="0"/>
              <a:t> </a:t>
            </a:r>
            <a:r>
              <a:rPr lang="hr-HR" dirty="0" err="1"/>
              <a:t>invalidation</a:t>
            </a:r>
            <a:r>
              <a:rPr lang="hr-HR" dirty="0"/>
              <a:t>) i imenovanje stvari. </a:t>
            </a:r>
            <a:r>
              <a:rPr lang="en-US" dirty="0">
                <a:latin typeface="Bahnschrift SemiLight"/>
              </a:rPr>
              <a:t>" (Phil Karlton )</a:t>
            </a:r>
            <a:endParaRPr lang="en-US" dirty="0"/>
          </a:p>
        </p:txBody>
      </p:sp>
    </p:spTree>
    <p:extLst>
      <p:ext uri="{BB962C8B-B14F-4D97-AF65-F5344CB8AC3E}">
        <p14:creationId xmlns:p14="http://schemas.microsoft.com/office/powerpoint/2010/main" val="1678721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070D-A814-F12B-5452-04853600018C}"/>
              </a:ext>
            </a:extLst>
          </p:cNvPr>
          <p:cNvSpPr>
            <a:spLocks noGrp="1"/>
          </p:cNvSpPr>
          <p:nvPr>
            <p:ph type="title"/>
          </p:nvPr>
        </p:nvSpPr>
        <p:spPr/>
        <p:txBody>
          <a:bodyPr/>
          <a:lstStyle/>
          <a:p>
            <a:r>
              <a:rPr lang="hr-HR" dirty="0"/>
              <a:t>Primjeri</a:t>
            </a:r>
            <a:r>
              <a:rPr lang="en-US" dirty="0"/>
              <a:t> / Link</a:t>
            </a:r>
            <a:r>
              <a:rPr lang="hr-HR" dirty="0"/>
              <a:t>ovi</a:t>
            </a:r>
            <a:r>
              <a:rPr lang="en-US" dirty="0"/>
              <a:t> </a:t>
            </a:r>
          </a:p>
        </p:txBody>
      </p:sp>
      <p:sp>
        <p:nvSpPr>
          <p:cNvPr id="3" name="Content Placeholder 2">
            <a:extLst>
              <a:ext uri="{FF2B5EF4-FFF2-40B4-BE49-F238E27FC236}">
                <a16:creationId xmlns:a16="http://schemas.microsoft.com/office/drawing/2014/main" id="{14CDAECA-9F54-7146-8E71-F562EE83E289}"/>
              </a:ext>
            </a:extLst>
          </p:cNvPr>
          <p:cNvSpPr>
            <a:spLocks noGrp="1"/>
          </p:cNvSpPr>
          <p:nvPr>
            <p:ph idx="1"/>
          </p:nvPr>
        </p:nvSpPr>
        <p:spPr/>
        <p:txBody>
          <a:bodyPr vert="horz" lIns="91440" tIns="45720" rIns="91440" bIns="45720" rtlCol="0" anchor="t">
            <a:normAutofit/>
          </a:bodyPr>
          <a:lstStyle/>
          <a:p>
            <a:r>
              <a:rPr lang="en-US" dirty="0">
                <a:latin typeface="Bahnschrift SemiLight"/>
              </a:rPr>
              <a:t>Decathlon </a:t>
            </a:r>
            <a:r>
              <a:rPr lang="en-US" dirty="0">
                <a:latin typeface="Bahnschrift SemiLight"/>
                <a:hlinkClick r:id="rId2"/>
              </a:rPr>
              <a:t>https://www.decathlon.be/nl/splashpage/</a:t>
            </a:r>
            <a:r>
              <a:rPr lang="en-US" dirty="0">
                <a:latin typeface="Bahnschrift SemiLight"/>
              </a:rPr>
              <a:t> </a:t>
            </a:r>
          </a:p>
          <a:p>
            <a:r>
              <a:rPr lang="en-US" dirty="0">
                <a:latin typeface="Bahnschrift SemiLight"/>
              </a:rPr>
              <a:t>Gov.uk </a:t>
            </a:r>
            <a:r>
              <a:rPr lang="en-US" dirty="0">
                <a:latin typeface="Bahnschrift SemiLight"/>
                <a:hlinkClick r:id="rId3"/>
              </a:rPr>
              <a:t>https://www.gov.uk/</a:t>
            </a:r>
            <a:r>
              <a:rPr lang="en-US" dirty="0">
                <a:latin typeface="Bahnschrift SemiLight"/>
              </a:rPr>
              <a:t> </a:t>
            </a:r>
          </a:p>
          <a:p>
            <a:r>
              <a:rPr lang="en-US" dirty="0">
                <a:latin typeface="Bahnschrift SemiLight"/>
              </a:rPr>
              <a:t>Material Design </a:t>
            </a:r>
            <a:r>
              <a:rPr lang="en-US" dirty="0">
                <a:latin typeface="Bahnschrift SemiLight"/>
                <a:hlinkClick r:id="rId4"/>
              </a:rPr>
              <a:t>https://m3.material.io/</a:t>
            </a:r>
            <a:r>
              <a:rPr lang="en-US" dirty="0">
                <a:latin typeface="Bahnschrift SemiLight"/>
              </a:rPr>
              <a:t> </a:t>
            </a:r>
          </a:p>
          <a:p>
            <a:r>
              <a:rPr lang="hr-HR" dirty="0"/>
              <a:t>Postoji </a:t>
            </a:r>
            <a:r>
              <a:rPr lang="hr-HR" dirty="0" err="1"/>
              <a:t>Figma</a:t>
            </a:r>
            <a:r>
              <a:rPr lang="hr-HR" dirty="0"/>
              <a:t> </a:t>
            </a:r>
            <a:r>
              <a:rPr lang="hr-HR" dirty="0" err="1"/>
              <a:t>plugin</a:t>
            </a:r>
            <a:r>
              <a:rPr lang="hr-HR" dirty="0"/>
              <a:t> za generiranje palete boja na temelju njihovih principa</a:t>
            </a:r>
          </a:p>
          <a:p>
            <a:r>
              <a:rPr lang="en-US" dirty="0" err="1">
                <a:latin typeface="Bahnschrift SemiLight"/>
              </a:rPr>
              <a:t>Proxyclick</a:t>
            </a:r>
            <a:r>
              <a:rPr lang="en-US" dirty="0">
                <a:latin typeface="Bahnschrift SemiLight"/>
              </a:rPr>
              <a:t> </a:t>
            </a:r>
          </a:p>
          <a:p>
            <a:r>
              <a:rPr lang="en-US" dirty="0">
                <a:latin typeface="Bahnschrift SemiLight"/>
              </a:rPr>
              <a:t>Luis </a:t>
            </a:r>
            <a:r>
              <a:rPr lang="hr-HR" dirty="0">
                <a:latin typeface="Bahnschrift SemiLight"/>
              </a:rPr>
              <a:t>o tokenima boja</a:t>
            </a:r>
            <a:r>
              <a:rPr lang="en-US" dirty="0">
                <a:latin typeface="Bahnschrift SemiLight"/>
              </a:rPr>
              <a:t> </a:t>
            </a:r>
            <a:r>
              <a:rPr lang="en-US" dirty="0">
                <a:latin typeface="Bahnschrift SemiLight"/>
                <a:hlinkClick r:id="rId5"/>
              </a:rPr>
              <a:t>https://youtu.be/uiCGvhI7Vwo?si=yrelRecf0K1BrTh-</a:t>
            </a:r>
            <a:endParaRPr lang="en-US" dirty="0">
              <a:latin typeface="Bahnschrift SemiLight"/>
            </a:endParaRPr>
          </a:p>
          <a:p>
            <a:r>
              <a:rPr lang="en-US" dirty="0">
                <a:latin typeface="Bahnschrift SemiLight"/>
              </a:rPr>
              <a:t>THE Druids </a:t>
            </a:r>
            <a:r>
              <a:rPr lang="hr-HR" dirty="0">
                <a:latin typeface="Bahnschrift SemiLight"/>
              </a:rPr>
              <a:t>boje koje (subjektivno) nude </a:t>
            </a:r>
            <a:r>
              <a:rPr lang="hr-HR">
                <a:latin typeface="Bahnschrift SemiLight"/>
              </a:rPr>
              <a:t>dobar balans</a:t>
            </a:r>
            <a:endParaRPr lang="en-US" dirty="0">
              <a:latin typeface="Bahnschrift SemiLight"/>
            </a:endParaRPr>
          </a:p>
        </p:txBody>
      </p:sp>
    </p:spTree>
    <p:extLst>
      <p:ext uri="{BB962C8B-B14F-4D97-AF65-F5344CB8AC3E}">
        <p14:creationId xmlns:p14="http://schemas.microsoft.com/office/powerpoint/2010/main" val="3337451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4" name="Lorem ipsum dolor sit amet consectetur adipiscing elit Nullam et lacus interdum viverra dui in posuere lorem Donec tincidunt tempus justo eu luctus In eu malesuada nulla ac sollicitudin orci Nam non nisl id justo egestas malesuada eu vel ligula"/>
          <p:cNvSpPr/>
          <p:nvPr/>
        </p:nvSpPr>
        <p:spPr>
          <a:xfrm>
            <a:off x="635000" y="2651125"/>
            <a:ext cx="10998200" cy="24892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42900" indent="-342900">
              <a:buFont typeface="Arial" panose="020B0604020202020204" pitchFamily="34" charset="0"/>
              <a:buChar char="•"/>
            </a:pPr>
            <a:r>
              <a:rPr lang="hr-HR" sz="2400" dirty="0"/>
              <a:t>Nije nužno staviti sve ikone u varijante.</a:t>
            </a:r>
          </a:p>
          <a:p>
            <a:pPr marL="342900" indent="-342900">
              <a:buFont typeface="Arial" panose="020B0604020202020204" pitchFamily="34" charset="0"/>
              <a:buChar char="•"/>
            </a:pPr>
            <a:r>
              <a:rPr lang="hr-HR" sz="2400" dirty="0"/>
              <a:t>Neke ikone imaju više funkcionalnog značenja od drugih i potrebno ih je lakše mijenjati (primjer: </a:t>
            </a:r>
            <a:r>
              <a:rPr lang="hr-HR" sz="2400" b="1" dirty="0" err="1"/>
              <a:t>chevron</a:t>
            </a:r>
            <a:r>
              <a:rPr lang="hr-HR" sz="2400" b="1" dirty="0"/>
              <a:t> gore / dolje</a:t>
            </a:r>
            <a:r>
              <a:rPr lang="hr-HR" sz="2400" dirty="0"/>
              <a:t>).</a:t>
            </a:r>
          </a:p>
          <a:p>
            <a:pPr marL="342900" indent="-342900">
              <a:buFont typeface="Arial" panose="020B0604020202020204" pitchFamily="34" charset="0"/>
              <a:buChar char="•"/>
            </a:pPr>
            <a:r>
              <a:rPr lang="hr-HR" sz="2400" dirty="0"/>
              <a:t>Kako bi se olakšala </a:t>
            </a:r>
            <a:r>
              <a:rPr lang="hr-HR" sz="2400" b="1" dirty="0"/>
              <a:t>zamjena komponenti (</a:t>
            </a:r>
            <a:r>
              <a:rPr lang="hr-HR" sz="2400" b="1" dirty="0" err="1"/>
              <a:t>component</a:t>
            </a:r>
            <a:r>
              <a:rPr lang="hr-HR" sz="2400" b="1" dirty="0"/>
              <a:t> </a:t>
            </a:r>
            <a:r>
              <a:rPr lang="hr-HR" sz="2400" b="1" dirty="0" err="1"/>
              <a:t>swap</a:t>
            </a:r>
            <a:r>
              <a:rPr lang="hr-HR" sz="2400" b="1" dirty="0"/>
              <a:t>)</a:t>
            </a:r>
            <a:r>
              <a:rPr lang="hr-HR" sz="2400" dirty="0"/>
              <a:t>, potrebno je osigurati da su slojevi komponenti identični (uz jednu iznimku: jedan vektorski sloj koji ima isto ime za svaku ikonu).</a:t>
            </a:r>
          </a:p>
          <a:p>
            <a:pPr marL="342900" indent="-342900">
              <a:buFont typeface="Arial" panose="020B0604020202020204" pitchFamily="34" charset="0"/>
              <a:buChar char="•"/>
            </a:pPr>
            <a:r>
              <a:rPr lang="hr-HR" sz="2400" dirty="0"/>
              <a:t>Također je moguće osigurati </a:t>
            </a:r>
            <a:r>
              <a:rPr lang="hr-HR" sz="2400" b="1" dirty="0"/>
              <a:t>varijacije veličine ikona</a:t>
            </a:r>
            <a:r>
              <a:rPr lang="hr-HR" sz="2400" dirty="0"/>
              <a:t> za strožu i precizniju upotrebu.</a:t>
            </a:r>
          </a:p>
          <a:p>
            <a:pPr marL="342900" indent="-342900">
              <a:buFont typeface="Arial" panose="020B0604020202020204" pitchFamily="34" charset="0"/>
              <a:buChar char="•"/>
            </a:pPr>
            <a:r>
              <a:rPr lang="hr-HR" sz="2400" dirty="0"/>
              <a:t>To se može upravljati pomoću </a:t>
            </a:r>
            <a:r>
              <a:rPr lang="hr-HR" sz="2400" b="1" dirty="0"/>
              <a:t>bazne komponente (base </a:t>
            </a:r>
            <a:r>
              <a:rPr lang="hr-HR" sz="2400" b="1" dirty="0" err="1"/>
              <a:t>component</a:t>
            </a:r>
            <a:r>
              <a:rPr lang="hr-HR" sz="2400" b="1" dirty="0"/>
              <a:t>)</a:t>
            </a:r>
            <a:r>
              <a:rPr lang="hr-HR" sz="2400" dirty="0"/>
              <a:t>, ali to svejedno zahtijeva dodatno održavanje.</a:t>
            </a:r>
          </a:p>
        </p:txBody>
      </p:sp>
      <p:sp>
        <p:nvSpPr>
          <p:cNvPr id="7" name="Title 6">
            <a:extLst>
              <a:ext uri="{FF2B5EF4-FFF2-40B4-BE49-F238E27FC236}">
                <a16:creationId xmlns:a16="http://schemas.microsoft.com/office/drawing/2014/main" id="{FB9FB600-F940-8796-ED27-59872987BF02}"/>
              </a:ext>
            </a:extLst>
          </p:cNvPr>
          <p:cNvSpPr>
            <a:spLocks noGrp="1"/>
          </p:cNvSpPr>
          <p:nvPr>
            <p:ph type="title"/>
          </p:nvPr>
        </p:nvSpPr>
        <p:spPr/>
        <p:txBody>
          <a:bodyPr/>
          <a:lstStyle/>
          <a:p>
            <a:r>
              <a:rPr lang="hr-HR" dirty="0"/>
              <a:t>Ikone</a:t>
            </a:r>
            <a:endParaRPr lang="en-US" dirty="0"/>
          </a:p>
        </p:txBody>
      </p:sp>
    </p:spTree>
    <p:extLst>
      <p:ext uri="{BB962C8B-B14F-4D97-AF65-F5344CB8AC3E}">
        <p14:creationId xmlns:p14="http://schemas.microsoft.com/office/powerpoint/2010/main" val="299842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4" name="Lorem ipsum dolor sit amet consectetur adipiscing elit Nullam et lacus interdum viverra dui in posuere lorem Donec tincidunt tempus justo eu luctus In eu malesuada nulla ac sollicitudin orci Nam non nisl id justo egestas malesuada eu vel ligula"/>
          <p:cNvSpPr/>
          <p:nvPr/>
        </p:nvSpPr>
        <p:spPr>
          <a:xfrm>
            <a:off x="198740" y="3537798"/>
            <a:ext cx="10998200" cy="28448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54000" indent="-254000" algn="l">
              <a:lnSpc>
                <a:spcPts val="2800"/>
              </a:lnSpc>
              <a:buSzPct val="100000"/>
              <a:buChar char="•"/>
            </a:pPr>
            <a:endParaRPr lang="en-US" sz="2000" dirty="0">
              <a:solidFill>
                <a:srgbClr val="49313B"/>
              </a:solidFill>
              <a:latin typeface="Satoshi Regular"/>
            </a:endParaRPr>
          </a:p>
        </p:txBody>
      </p:sp>
      <p:sp>
        <p:nvSpPr>
          <p:cNvPr id="7" name="Title 6">
            <a:extLst>
              <a:ext uri="{FF2B5EF4-FFF2-40B4-BE49-F238E27FC236}">
                <a16:creationId xmlns:a16="http://schemas.microsoft.com/office/drawing/2014/main" id="{840E946E-767A-32B5-68D2-2C58148F284F}"/>
              </a:ext>
            </a:extLst>
          </p:cNvPr>
          <p:cNvSpPr>
            <a:spLocks noGrp="1"/>
          </p:cNvSpPr>
          <p:nvPr>
            <p:ph type="title"/>
          </p:nvPr>
        </p:nvSpPr>
        <p:spPr/>
        <p:txBody>
          <a:bodyPr/>
          <a:lstStyle/>
          <a:p>
            <a:r>
              <a:rPr lang="hr-HR" dirty="0">
                <a:latin typeface="Bahnschrift SemiBold"/>
              </a:rPr>
              <a:t>Komponente</a:t>
            </a:r>
            <a:endParaRPr lang="en-US" dirty="0"/>
          </a:p>
        </p:txBody>
      </p:sp>
      <p:sp>
        <p:nvSpPr>
          <p:cNvPr id="8" name="Content Placeholder 7">
            <a:extLst>
              <a:ext uri="{FF2B5EF4-FFF2-40B4-BE49-F238E27FC236}">
                <a16:creationId xmlns:a16="http://schemas.microsoft.com/office/drawing/2014/main" id="{3CB3358C-EE90-ED71-3B01-56E8F5697077}"/>
              </a:ext>
            </a:extLst>
          </p:cNvPr>
          <p:cNvSpPr>
            <a:spLocks noGrp="1"/>
          </p:cNvSpPr>
          <p:nvPr>
            <p:ph idx="1"/>
          </p:nvPr>
        </p:nvSpPr>
        <p:spPr/>
        <p:txBody>
          <a:bodyPr vert="horz" lIns="91440" tIns="45720" rIns="91440" bIns="45720" rtlCol="0" anchor="t">
            <a:normAutofit fontScale="70000" lnSpcReduction="20000"/>
          </a:bodyPr>
          <a:lstStyle/>
          <a:p>
            <a:r>
              <a:rPr lang="hr-HR" dirty="0"/>
              <a:t>Previše </a:t>
            </a:r>
            <a:r>
              <a:rPr lang="hr-HR" b="1" dirty="0"/>
              <a:t>varijanti/svojstava (</a:t>
            </a:r>
            <a:r>
              <a:rPr lang="hr-HR" b="1" dirty="0" err="1"/>
              <a:t>variants</a:t>
            </a:r>
            <a:r>
              <a:rPr lang="hr-HR" b="1" dirty="0"/>
              <a:t>/</a:t>
            </a:r>
            <a:r>
              <a:rPr lang="hr-HR" b="1" dirty="0" err="1"/>
              <a:t>properties</a:t>
            </a:r>
            <a:r>
              <a:rPr lang="hr-HR" b="1" dirty="0"/>
              <a:t>)</a:t>
            </a:r>
            <a:r>
              <a:rPr lang="hr-HR" dirty="0"/>
              <a:t> može naštetiti upotrebljivosti </a:t>
            </a:r>
            <a:r>
              <a:rPr lang="hr-HR" b="1" dirty="0"/>
              <a:t>design sustava (DS)</a:t>
            </a:r>
            <a:r>
              <a:rPr lang="hr-HR" dirty="0"/>
              <a:t>.</a:t>
            </a:r>
          </a:p>
          <a:p>
            <a:r>
              <a:rPr lang="hr-HR" dirty="0"/>
              <a:t>Mogu biti teže za korištenje i pronalaženje.</a:t>
            </a:r>
          </a:p>
          <a:p>
            <a:r>
              <a:rPr lang="hr-HR" b="1" dirty="0"/>
              <a:t>Primjer:</a:t>
            </a:r>
            <a:r>
              <a:rPr lang="hr-HR" dirty="0"/>
              <a:t> Ako su svi inputi u varijantama, to ne bi omogućilo brzo pretraživanje i korištenje </a:t>
            </a:r>
            <a:r>
              <a:rPr lang="hr-HR" b="1" dirty="0"/>
              <a:t>date inputa</a:t>
            </a:r>
            <a:r>
              <a:rPr lang="hr-HR" dirty="0"/>
              <a:t>.</a:t>
            </a:r>
          </a:p>
          <a:p>
            <a:r>
              <a:rPr lang="hr-HR" dirty="0"/>
              <a:t>Razdvajati prema </a:t>
            </a:r>
            <a:r>
              <a:rPr lang="hr-HR" b="1" dirty="0"/>
              <a:t>namjeni/korištenju</a:t>
            </a:r>
            <a:r>
              <a:rPr lang="hr-HR" dirty="0"/>
              <a:t>.</a:t>
            </a:r>
            <a:br>
              <a:rPr lang="hr-HR" dirty="0"/>
            </a:br>
            <a:r>
              <a:rPr lang="hr-HR" b="1" dirty="0"/>
              <a:t>Primjer:</a:t>
            </a:r>
            <a:r>
              <a:rPr lang="hr-HR" dirty="0"/>
              <a:t> ako se </a:t>
            </a:r>
            <a:r>
              <a:rPr lang="hr-HR" b="1" dirty="0" err="1"/>
              <a:t>badge</a:t>
            </a:r>
            <a:r>
              <a:rPr lang="hr-HR" b="1" dirty="0"/>
              <a:t> s ikonom</a:t>
            </a:r>
            <a:r>
              <a:rPr lang="hr-HR" dirty="0"/>
              <a:t> uvijek koristi u slučaju A, a </a:t>
            </a:r>
            <a:r>
              <a:rPr lang="hr-HR" b="1" dirty="0" err="1"/>
              <a:t>badge</a:t>
            </a:r>
            <a:r>
              <a:rPr lang="hr-HR" b="1" dirty="0"/>
              <a:t> bez ikone</a:t>
            </a:r>
            <a:r>
              <a:rPr lang="hr-HR" dirty="0"/>
              <a:t> u slučaju B, onda su to dvije različite komponente.</a:t>
            </a:r>
          </a:p>
          <a:p>
            <a:r>
              <a:rPr lang="hr-HR" dirty="0"/>
              <a:t>Manje svojstava = više konzistentnosti.</a:t>
            </a:r>
          </a:p>
          <a:p>
            <a:r>
              <a:rPr lang="hr-HR" b="1" dirty="0"/>
              <a:t>“Base komponente”</a:t>
            </a:r>
            <a:r>
              <a:rPr lang="hr-HR" dirty="0"/>
              <a:t> mogu biti korisne za upravljanje velikim brojem varijanti/komponenti.</a:t>
            </a:r>
          </a:p>
          <a:p>
            <a:r>
              <a:rPr lang="hr-HR" dirty="0"/>
              <a:t>Koristite </a:t>
            </a:r>
            <a:r>
              <a:rPr lang="hr-HR" b="1" dirty="0"/>
              <a:t>“neobjavljene komponente” (</a:t>
            </a:r>
            <a:r>
              <a:rPr lang="hr-HR" b="1" dirty="0" err="1"/>
              <a:t>unpublished</a:t>
            </a:r>
            <a:r>
              <a:rPr lang="hr-HR" b="1" dirty="0"/>
              <a:t> </a:t>
            </a:r>
            <a:r>
              <a:rPr lang="hr-HR" b="1" dirty="0" err="1"/>
              <a:t>components</a:t>
            </a:r>
            <a:r>
              <a:rPr lang="hr-HR" b="1" dirty="0"/>
              <a:t>)</a:t>
            </a:r>
            <a:r>
              <a:rPr lang="hr-HR" dirty="0"/>
              <a:t> kako biste olakšali održavanje bez zatrpavanja korisničkih opcija.</a:t>
            </a:r>
          </a:p>
          <a:p>
            <a:r>
              <a:rPr lang="hr-HR" b="1" dirty="0"/>
              <a:t>Otkrivanje komponenti (</a:t>
            </a:r>
            <a:r>
              <a:rPr lang="hr-HR" b="1" dirty="0" err="1"/>
              <a:t>component</a:t>
            </a:r>
            <a:r>
              <a:rPr lang="hr-HR" b="1" dirty="0"/>
              <a:t> </a:t>
            </a:r>
            <a:r>
              <a:rPr lang="hr-HR" b="1" dirty="0" err="1"/>
              <a:t>discoverability</a:t>
            </a:r>
            <a:r>
              <a:rPr lang="hr-HR" b="1" dirty="0"/>
              <a:t>):</a:t>
            </a:r>
            <a:r>
              <a:rPr lang="hr-HR" dirty="0"/>
              <a:t> Luis – </a:t>
            </a:r>
            <a:r>
              <a:rPr lang="hr-HR" i="1" dirty="0"/>
              <a:t>“Je li ovo komponenta?”</a:t>
            </a:r>
            <a:endParaRPr lang="hr-HR" dirty="0"/>
          </a:p>
          <a:p>
            <a:r>
              <a:rPr lang="hr-HR" b="1" dirty="0"/>
              <a:t>Primjer:</a:t>
            </a:r>
            <a:r>
              <a:rPr lang="hr-HR" dirty="0"/>
              <a:t> </a:t>
            </a:r>
            <a:r>
              <a:rPr lang="hr-HR" dirty="0" err="1"/>
              <a:t>tabovi</a:t>
            </a:r>
            <a:r>
              <a:rPr lang="hr-HR" dirty="0"/>
              <a:t> koji su možda previše kompleksni?</a:t>
            </a:r>
          </a:p>
        </p:txBody>
      </p:sp>
    </p:spTree>
    <p:extLst>
      <p:ext uri="{BB962C8B-B14F-4D97-AF65-F5344CB8AC3E}">
        <p14:creationId xmlns:p14="http://schemas.microsoft.com/office/powerpoint/2010/main" val="1270028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3689-5E63-9E5D-AB3D-11A4EBB09FC0}"/>
              </a:ext>
            </a:extLst>
          </p:cNvPr>
          <p:cNvSpPr>
            <a:spLocks noGrp="1"/>
          </p:cNvSpPr>
          <p:nvPr>
            <p:ph type="title"/>
          </p:nvPr>
        </p:nvSpPr>
        <p:spPr/>
        <p:txBody>
          <a:bodyPr/>
          <a:lstStyle/>
          <a:p>
            <a:r>
              <a:rPr lang="en-US" dirty="0">
                <a:latin typeface="Bahnschrift SemiBold"/>
              </a:rPr>
              <a:t>Do</a:t>
            </a:r>
            <a:r>
              <a:rPr lang="hr-HR" dirty="0" err="1">
                <a:latin typeface="Bahnschrift SemiBold"/>
              </a:rPr>
              <a:t>kumentacija</a:t>
            </a:r>
            <a:r>
              <a:rPr lang="en-US" dirty="0">
                <a:latin typeface="Bahnschrift SemiBold"/>
              </a:rPr>
              <a:t>: </a:t>
            </a:r>
            <a:r>
              <a:rPr lang="hr-HR" dirty="0">
                <a:latin typeface="Bahnschrift SemiBold"/>
              </a:rPr>
              <a:t>pristupačnost</a:t>
            </a:r>
            <a:endParaRPr lang="en-US" dirty="0"/>
          </a:p>
        </p:txBody>
      </p:sp>
      <p:sp>
        <p:nvSpPr>
          <p:cNvPr id="3" name="Content Placeholder 2">
            <a:extLst>
              <a:ext uri="{FF2B5EF4-FFF2-40B4-BE49-F238E27FC236}">
                <a16:creationId xmlns:a16="http://schemas.microsoft.com/office/drawing/2014/main" id="{05E2220A-DA21-5AB5-CB24-27365AEE5AD1}"/>
              </a:ext>
            </a:extLst>
          </p:cNvPr>
          <p:cNvSpPr>
            <a:spLocks noGrp="1"/>
          </p:cNvSpPr>
          <p:nvPr>
            <p:ph sz="half" idx="1"/>
          </p:nvPr>
        </p:nvSpPr>
        <p:spPr/>
        <p:txBody>
          <a:bodyPr vert="horz" lIns="91440" tIns="45720" rIns="91440" bIns="45720" rtlCol="0" anchor="t">
            <a:normAutofit fontScale="77500" lnSpcReduction="20000"/>
          </a:bodyPr>
          <a:lstStyle/>
          <a:p>
            <a:pPr marL="0" indent="0">
              <a:buNone/>
            </a:pPr>
            <a:r>
              <a:rPr lang="hr-HR" dirty="0"/>
              <a:t>Kao i svi drugi koncepti, </a:t>
            </a:r>
            <a:r>
              <a:rPr lang="hr-HR" b="1" dirty="0"/>
              <a:t>Design System</a:t>
            </a:r>
            <a:r>
              <a:rPr lang="hr-HR" dirty="0"/>
              <a:t> također nam omogućuje da (djelomično) </a:t>
            </a:r>
            <a:r>
              <a:rPr lang="hr-HR" b="1" dirty="0"/>
              <a:t>centraliziramo pristupačnost (</a:t>
            </a:r>
            <a:r>
              <a:rPr lang="hr-HR" b="1" dirty="0" err="1"/>
              <a:t>accessibility</a:t>
            </a:r>
            <a:r>
              <a:rPr lang="hr-HR" b="1" dirty="0"/>
              <a:t>)</a:t>
            </a:r>
            <a:r>
              <a:rPr lang="hr-HR" dirty="0"/>
              <a:t>.</a:t>
            </a:r>
          </a:p>
          <a:p>
            <a:r>
              <a:rPr lang="hr-HR" b="1" dirty="0"/>
              <a:t>Kontrast boja</a:t>
            </a:r>
            <a:endParaRPr lang="hr-HR" dirty="0"/>
          </a:p>
          <a:p>
            <a:r>
              <a:rPr lang="hr-HR" b="1" dirty="0"/>
              <a:t>Veličina cilja (</a:t>
            </a:r>
            <a:r>
              <a:rPr lang="hr-HR" b="1" dirty="0" err="1"/>
              <a:t>target</a:t>
            </a:r>
            <a:r>
              <a:rPr lang="hr-HR" b="1" dirty="0"/>
              <a:t> </a:t>
            </a:r>
            <a:r>
              <a:rPr lang="hr-HR" b="1" dirty="0" err="1"/>
              <a:t>size</a:t>
            </a:r>
            <a:r>
              <a:rPr lang="hr-HR" b="1" dirty="0"/>
              <a:t>)</a:t>
            </a:r>
            <a:endParaRPr lang="hr-HR" dirty="0"/>
          </a:p>
          <a:p>
            <a:r>
              <a:rPr lang="hr-HR" b="1" dirty="0"/>
              <a:t>Veličina teksta</a:t>
            </a:r>
            <a:endParaRPr lang="hr-HR" dirty="0"/>
          </a:p>
          <a:p>
            <a:r>
              <a:rPr lang="hr-HR" b="1" dirty="0"/>
              <a:t>Nemojte se oslanjati samo na boje</a:t>
            </a:r>
            <a:endParaRPr lang="hr-HR" dirty="0"/>
          </a:p>
          <a:p>
            <a:r>
              <a:rPr lang="hr-HR" b="1" dirty="0"/>
              <a:t>Specifična ponašanja (</a:t>
            </a:r>
            <a:r>
              <a:rPr lang="hr-HR" b="1" dirty="0" err="1"/>
              <a:t>behaviors</a:t>
            </a:r>
            <a:r>
              <a:rPr lang="hr-HR" b="1" dirty="0"/>
              <a:t>)</a:t>
            </a:r>
            <a:endParaRPr lang="hr-HR" dirty="0"/>
          </a:p>
          <a:p>
            <a:r>
              <a:rPr lang="hr-HR" b="1" dirty="0" err="1"/>
              <a:t>Tab</a:t>
            </a:r>
            <a:r>
              <a:rPr lang="hr-HR" b="1" dirty="0"/>
              <a:t>-index</a:t>
            </a:r>
            <a:endParaRPr lang="hr-HR" dirty="0"/>
          </a:p>
          <a:p>
            <a:r>
              <a:rPr lang="hr-HR" b="1" dirty="0"/>
              <a:t>Način povećanog kontrasta (</a:t>
            </a:r>
            <a:r>
              <a:rPr lang="hr-HR" b="1" dirty="0" err="1"/>
              <a:t>increased</a:t>
            </a:r>
            <a:r>
              <a:rPr lang="hr-HR" b="1" dirty="0"/>
              <a:t> </a:t>
            </a:r>
            <a:r>
              <a:rPr lang="hr-HR" b="1" dirty="0" err="1"/>
              <a:t>contrast</a:t>
            </a:r>
            <a:r>
              <a:rPr lang="hr-HR" b="1" dirty="0"/>
              <a:t> mode)</a:t>
            </a:r>
            <a:endParaRPr lang="hr-HR" dirty="0"/>
          </a:p>
          <a:p>
            <a:r>
              <a:rPr lang="hr-HR" dirty="0"/>
              <a:t>…</a:t>
            </a:r>
          </a:p>
        </p:txBody>
      </p:sp>
      <p:pic>
        <p:nvPicPr>
          <p:cNvPr id="6" name="Base / Left-Right" descr="preencoded.png">
            <a:extLst>
              <a:ext uri="{FF2B5EF4-FFF2-40B4-BE49-F238E27FC236}">
                <a16:creationId xmlns:a16="http://schemas.microsoft.com/office/drawing/2014/main" id="{11AE9128-7D52-AFEB-9F1B-8C8062BC9085}"/>
              </a:ext>
            </a:extLst>
          </p:cNvPr>
          <p:cNvPicPr>
            <a:picLocks noChangeAspect="1"/>
          </p:cNvPicPr>
          <p:nvPr/>
        </p:nvPicPr>
        <p:blipFill>
          <a:blip r:embed="rId2"/>
          <a:srcRect l="49017" t="12788" r="3577" b="15793"/>
          <a:stretch/>
        </p:blipFill>
        <p:spPr>
          <a:xfrm>
            <a:off x="6206561" y="1825089"/>
            <a:ext cx="5779715" cy="4897896"/>
          </a:xfrm>
          <a:prstGeom prst="rect">
            <a:avLst/>
          </a:prstGeom>
        </p:spPr>
      </p:pic>
      <p:sp>
        <p:nvSpPr>
          <p:cNvPr id="5" name="TextBox 4">
            <a:extLst>
              <a:ext uri="{FF2B5EF4-FFF2-40B4-BE49-F238E27FC236}">
                <a16:creationId xmlns:a16="http://schemas.microsoft.com/office/drawing/2014/main" id="{A9D67AB0-7F11-5754-1394-0E25A94BCC96}"/>
              </a:ext>
            </a:extLst>
          </p:cNvPr>
          <p:cNvSpPr txBox="1"/>
          <p:nvPr/>
        </p:nvSpPr>
        <p:spPr>
          <a:xfrm>
            <a:off x="9882316" y="6353653"/>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3965371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A42D-FD0F-A465-28D5-0DFD7E549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19D36-4E80-0E9B-93E7-83C29FCC1F18}"/>
              </a:ext>
            </a:extLst>
          </p:cNvPr>
          <p:cNvSpPr>
            <a:spLocks noGrp="1"/>
          </p:cNvSpPr>
          <p:nvPr>
            <p:ph type="title"/>
          </p:nvPr>
        </p:nvSpPr>
        <p:spPr/>
        <p:txBody>
          <a:bodyPr/>
          <a:lstStyle/>
          <a:p>
            <a:r>
              <a:rPr lang="en-US" dirty="0">
                <a:latin typeface="Bahnschrift SemiBold"/>
              </a:rPr>
              <a:t>Do</a:t>
            </a:r>
            <a:r>
              <a:rPr lang="hr-HR" dirty="0" err="1">
                <a:latin typeface="Bahnschrift SemiBold"/>
              </a:rPr>
              <a:t>kumentacija</a:t>
            </a:r>
            <a:r>
              <a:rPr lang="en-US" dirty="0">
                <a:latin typeface="Bahnschrift SemiBold"/>
              </a:rPr>
              <a:t>: </a:t>
            </a:r>
            <a:r>
              <a:rPr lang="hr-HR" dirty="0">
                <a:latin typeface="Bahnschrift SemiBold"/>
              </a:rPr>
              <a:t>pristupačnost</a:t>
            </a:r>
            <a:endParaRPr lang="en-US" dirty="0"/>
          </a:p>
        </p:txBody>
      </p:sp>
      <p:sp>
        <p:nvSpPr>
          <p:cNvPr id="3" name="Content Placeholder 2">
            <a:extLst>
              <a:ext uri="{FF2B5EF4-FFF2-40B4-BE49-F238E27FC236}">
                <a16:creationId xmlns:a16="http://schemas.microsoft.com/office/drawing/2014/main" id="{09383DF6-13A0-44E4-7556-4EE25C9B443B}"/>
              </a:ext>
            </a:extLst>
          </p:cNvPr>
          <p:cNvSpPr>
            <a:spLocks noGrp="1"/>
          </p:cNvSpPr>
          <p:nvPr>
            <p:ph sz="half" idx="1"/>
          </p:nvPr>
        </p:nvSpPr>
        <p:spPr/>
        <p:txBody>
          <a:bodyPr vert="horz" lIns="91440" tIns="45720" rIns="91440" bIns="45720" rtlCol="0" anchor="t">
            <a:normAutofit/>
          </a:bodyPr>
          <a:lstStyle/>
          <a:p>
            <a:pPr marL="0" indent="0">
              <a:buNone/>
            </a:pPr>
            <a:r>
              <a:rPr lang="en-US" dirty="0">
                <a:latin typeface="Bahnschrift SemiLight"/>
              </a:rPr>
              <a:t>Plugins </a:t>
            </a:r>
          </a:p>
          <a:p>
            <a:r>
              <a:rPr lang="en-US" dirty="0">
                <a:latin typeface="Bahnschrift SemiLight"/>
              </a:rPr>
              <a:t>Contrast</a:t>
            </a:r>
            <a:endParaRPr lang="en-US" dirty="0"/>
          </a:p>
          <a:p>
            <a:pPr lvl="1">
              <a:buFont typeface="Courier New" panose="020B0604020202020204" pitchFamily="34" charset="0"/>
              <a:buChar char="o"/>
            </a:pPr>
            <a:r>
              <a:rPr lang="hr-HR" dirty="0"/>
              <a:t>Provjera kontrasta – oprez, nije toliko pouzdan kao korištenje “pravih alata za provjeru kontrasta”</a:t>
            </a:r>
          </a:p>
          <a:p>
            <a:pPr>
              <a:buFont typeface="Courier New" panose="020B0604020202020204" pitchFamily="34" charset="0"/>
              <a:buChar char="o"/>
            </a:pPr>
            <a:r>
              <a:rPr lang="en-US" dirty="0">
                <a:latin typeface="Bahnschrift SemiLight"/>
              </a:rPr>
              <a:t>Adee </a:t>
            </a:r>
            <a:endParaRPr lang="en-US" dirty="0"/>
          </a:p>
          <a:p>
            <a:pPr lvl="1"/>
            <a:r>
              <a:rPr lang="hr-HR" dirty="0"/>
              <a:t>Paket alata za pristupačnost (kontrast, veličina cilja, simulacija sljepoće za boje, itd.).</a:t>
            </a:r>
          </a:p>
        </p:txBody>
      </p:sp>
      <p:pic>
        <p:nvPicPr>
          <p:cNvPr id="5" name="Base / Left-Right" descr="preencoded.png">
            <a:extLst>
              <a:ext uri="{FF2B5EF4-FFF2-40B4-BE49-F238E27FC236}">
                <a16:creationId xmlns:a16="http://schemas.microsoft.com/office/drawing/2014/main" id="{5BFB39EC-1913-EABB-E9B0-4D9681DE7E42}"/>
              </a:ext>
            </a:extLst>
          </p:cNvPr>
          <p:cNvPicPr>
            <a:picLocks noChangeAspect="1"/>
          </p:cNvPicPr>
          <p:nvPr/>
        </p:nvPicPr>
        <p:blipFill>
          <a:blip r:embed="rId2"/>
          <a:srcRect l="48074" t="19357" r="2634" b="12928"/>
          <a:stretch/>
        </p:blipFill>
        <p:spPr>
          <a:xfrm>
            <a:off x="6020658" y="1823695"/>
            <a:ext cx="6009755" cy="4643895"/>
          </a:xfrm>
          <a:prstGeom prst="rect">
            <a:avLst/>
          </a:prstGeom>
        </p:spPr>
      </p:pic>
      <p:sp>
        <p:nvSpPr>
          <p:cNvPr id="6" name="TextBox 5">
            <a:extLst>
              <a:ext uri="{FF2B5EF4-FFF2-40B4-BE49-F238E27FC236}">
                <a16:creationId xmlns:a16="http://schemas.microsoft.com/office/drawing/2014/main" id="{F947E4C8-2A51-5FD0-DC62-D12BE7EBBC85}"/>
              </a:ext>
            </a:extLst>
          </p:cNvPr>
          <p:cNvSpPr txBox="1"/>
          <p:nvPr/>
        </p:nvSpPr>
        <p:spPr>
          <a:xfrm>
            <a:off x="9882316" y="6353653"/>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4082101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316B8-D3F8-5AE4-8EF2-1FCA83B12416}"/>
              </a:ext>
            </a:extLst>
          </p:cNvPr>
          <p:cNvSpPr>
            <a:spLocks noGrp="1"/>
          </p:cNvSpPr>
          <p:nvPr>
            <p:ph type="title"/>
          </p:nvPr>
        </p:nvSpPr>
        <p:spPr/>
        <p:txBody>
          <a:bodyPr/>
          <a:lstStyle/>
          <a:p>
            <a:r>
              <a:rPr lang="hr-HR" dirty="0">
                <a:latin typeface="Bahnschrift SemiBold"/>
              </a:rPr>
              <a:t>Dokumentacijski alati</a:t>
            </a:r>
            <a:endParaRPr lang="en-US" dirty="0"/>
          </a:p>
        </p:txBody>
      </p:sp>
      <p:pic>
        <p:nvPicPr>
          <p:cNvPr id="5" name="Frame" descr="preencoded.png">
            <a:extLst>
              <a:ext uri="{FF2B5EF4-FFF2-40B4-BE49-F238E27FC236}">
                <a16:creationId xmlns:a16="http://schemas.microsoft.com/office/drawing/2014/main" id="{4F246007-E705-3D6E-A42A-A17322AF403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111500" y="3789198"/>
            <a:ext cx="5969000" cy="1193800"/>
          </a:xfrm>
          <a:prstGeom prst="rect">
            <a:avLst/>
          </a:prstGeom>
        </p:spPr>
      </p:pic>
      <p:pic>
        <p:nvPicPr>
          <p:cNvPr id="7" name="Frame" descr="preencoded.png">
            <a:extLst>
              <a:ext uri="{FF2B5EF4-FFF2-40B4-BE49-F238E27FC236}">
                <a16:creationId xmlns:a16="http://schemas.microsoft.com/office/drawing/2014/main" id="{642EA0B0-E804-BC0A-CC57-D7C7EE41BC1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270251" y="1752600"/>
            <a:ext cx="5654675" cy="990600"/>
          </a:xfrm>
          <a:prstGeom prst="rect">
            <a:avLst/>
          </a:prstGeom>
        </p:spPr>
      </p:pic>
      <p:sp>
        <p:nvSpPr>
          <p:cNvPr id="9" name="Your own platform">
            <a:extLst>
              <a:ext uri="{FF2B5EF4-FFF2-40B4-BE49-F238E27FC236}">
                <a16:creationId xmlns:a16="http://schemas.microsoft.com/office/drawing/2014/main" id="{EAAD0CAC-EEE7-2FBF-1490-9898308F800D}"/>
              </a:ext>
            </a:extLst>
          </p:cNvPr>
          <p:cNvSpPr/>
          <p:nvPr/>
        </p:nvSpPr>
        <p:spPr>
          <a:xfrm>
            <a:off x="4333328" y="4939830"/>
            <a:ext cx="3816350" cy="4889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ctr">
              <a:lnSpc>
                <a:spcPts val="3840"/>
              </a:lnSpc>
              <a:buNone/>
            </a:pPr>
            <a:r>
              <a:rPr lang="en-US" sz="3200" b="1" dirty="0">
                <a:solidFill>
                  <a:srgbClr val="222222"/>
                </a:solidFill>
                <a:latin typeface="Satoshi Bold" pitchFamily="34" charset="0"/>
                <a:ea typeface="Satoshi Bold" pitchFamily="34" charset="-122"/>
                <a:cs typeface="Satoshi Bold" pitchFamily="34" charset="-120"/>
              </a:rPr>
              <a:t>Your own platform?</a:t>
            </a:r>
            <a:endParaRPr lang="en-US" sz="3200" dirty="0"/>
          </a:p>
        </p:txBody>
      </p:sp>
      <p:sp>
        <p:nvSpPr>
          <p:cNvPr id="4" name="TextBox 3">
            <a:extLst>
              <a:ext uri="{FF2B5EF4-FFF2-40B4-BE49-F238E27FC236}">
                <a16:creationId xmlns:a16="http://schemas.microsoft.com/office/drawing/2014/main" id="{0A5C8912-9A44-0D71-AB7D-B159958AAE2F}"/>
              </a:ext>
            </a:extLst>
          </p:cNvPr>
          <p:cNvSpPr txBox="1"/>
          <p:nvPr/>
        </p:nvSpPr>
        <p:spPr>
          <a:xfrm>
            <a:off x="7091200" y="2700033"/>
            <a:ext cx="6093372" cy="276999"/>
          </a:xfrm>
          <a:prstGeom prst="rect">
            <a:avLst/>
          </a:prstGeom>
          <a:noFill/>
        </p:spPr>
        <p:txBody>
          <a:bodyPr wrap="square">
            <a:spAutoFit/>
          </a:bodyPr>
          <a:lstStyle/>
          <a:p>
            <a:r>
              <a:rPr lang="fr-BE" sz="1200" dirty="0"/>
              <a:t>Source: </a:t>
            </a:r>
            <a:r>
              <a:rPr lang="fr-BE" sz="1200" dirty="0">
                <a:hlinkClick r:id="rId4"/>
              </a:rPr>
              <a:t>https://zeroheight.com/login</a:t>
            </a:r>
            <a:r>
              <a:rPr lang="fr-BE" sz="1200" dirty="0"/>
              <a:t> </a:t>
            </a:r>
          </a:p>
        </p:txBody>
      </p:sp>
      <p:sp>
        <p:nvSpPr>
          <p:cNvPr id="8" name="TextBox 7">
            <a:extLst>
              <a:ext uri="{FF2B5EF4-FFF2-40B4-BE49-F238E27FC236}">
                <a16:creationId xmlns:a16="http://schemas.microsoft.com/office/drawing/2014/main" id="{80853BB8-7276-D15E-DF5F-9D1F830FD0BB}"/>
              </a:ext>
            </a:extLst>
          </p:cNvPr>
          <p:cNvSpPr txBox="1"/>
          <p:nvPr/>
        </p:nvSpPr>
        <p:spPr>
          <a:xfrm>
            <a:off x="7489280" y="5662612"/>
            <a:ext cx="5990896" cy="276999"/>
          </a:xfrm>
          <a:prstGeom prst="rect">
            <a:avLst/>
          </a:prstGeom>
          <a:noFill/>
        </p:spPr>
        <p:txBody>
          <a:bodyPr wrap="square">
            <a:spAutoFit/>
          </a:bodyPr>
          <a:lstStyle/>
          <a:p>
            <a:r>
              <a:rPr lang="fr-BE" sz="1200" dirty="0"/>
              <a:t>Source: </a:t>
            </a:r>
            <a:r>
              <a:rPr lang="fr-BE" sz="1200" dirty="0">
                <a:hlinkClick r:id="rId5"/>
              </a:rPr>
              <a:t>https://storybook.js.org/</a:t>
            </a:r>
            <a:r>
              <a:rPr lang="fr-BE" sz="1200" dirty="0"/>
              <a:t> </a:t>
            </a:r>
          </a:p>
        </p:txBody>
      </p:sp>
    </p:spTree>
    <p:extLst>
      <p:ext uri="{BB962C8B-B14F-4D97-AF65-F5344CB8AC3E}">
        <p14:creationId xmlns:p14="http://schemas.microsoft.com/office/powerpoint/2010/main" val="3601350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8B593-FE16-80EB-9744-5455D6C4D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DE5C3-44B8-D59C-7D8D-860E5B1E8AA8}"/>
              </a:ext>
            </a:extLst>
          </p:cNvPr>
          <p:cNvSpPr>
            <a:spLocks noGrp="1"/>
          </p:cNvSpPr>
          <p:nvPr>
            <p:ph type="ctrTitle"/>
          </p:nvPr>
        </p:nvSpPr>
        <p:spPr/>
        <p:txBody>
          <a:bodyPr/>
          <a:lstStyle/>
          <a:p>
            <a:r>
              <a:rPr lang="hr-HR" dirty="0">
                <a:latin typeface="Bahnschrift"/>
              </a:rPr>
              <a:t>Savjeti i trikovi</a:t>
            </a:r>
            <a:endParaRPr lang="en-US" dirty="0"/>
          </a:p>
        </p:txBody>
      </p:sp>
    </p:spTree>
    <p:extLst>
      <p:ext uri="{BB962C8B-B14F-4D97-AF65-F5344CB8AC3E}">
        <p14:creationId xmlns:p14="http://schemas.microsoft.com/office/powerpoint/2010/main" val="4250435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E5A1BF-C50C-B92A-A53C-F336AC01F454}"/>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en-US" dirty="0" err="1">
                <a:latin typeface="Bahnschrift SemiBold"/>
              </a:rPr>
              <a:t>st</a:t>
            </a:r>
            <a:r>
              <a:rPr lang="hr-HR" dirty="0" err="1">
                <a:latin typeface="Bahnschrift SemiBold"/>
              </a:rPr>
              <a:t>ilovi</a:t>
            </a:r>
            <a:endParaRPr lang="en-US" dirty="0"/>
          </a:p>
        </p:txBody>
      </p:sp>
      <p:sp>
        <p:nvSpPr>
          <p:cNvPr id="8" name="Content Placeholder 7">
            <a:extLst>
              <a:ext uri="{FF2B5EF4-FFF2-40B4-BE49-F238E27FC236}">
                <a16:creationId xmlns:a16="http://schemas.microsoft.com/office/drawing/2014/main" id="{7D1456FB-4B36-9841-9792-DC892502F51D}"/>
              </a:ext>
            </a:extLst>
          </p:cNvPr>
          <p:cNvSpPr>
            <a:spLocks noGrp="1"/>
          </p:cNvSpPr>
          <p:nvPr>
            <p:ph idx="1"/>
          </p:nvPr>
        </p:nvSpPr>
        <p:spPr/>
        <p:txBody>
          <a:bodyPr vert="horz" lIns="91440" tIns="45720" rIns="91440" bIns="45720" rtlCol="0" anchor="t">
            <a:normAutofit/>
          </a:bodyPr>
          <a:lstStyle/>
          <a:p>
            <a:r>
              <a:rPr lang="hr-HR" dirty="0">
                <a:latin typeface="Bahnschrift SemiLight"/>
              </a:rPr>
              <a:t>Nemojte stvarati previše nepotrebnih stilova</a:t>
            </a:r>
            <a:endParaRPr lang="en-US" dirty="0"/>
          </a:p>
          <a:p>
            <a:r>
              <a:rPr lang="hr-HR" dirty="0">
                <a:latin typeface="Bahnschrift SemiLight"/>
              </a:rPr>
              <a:t>Ako stilovi postoje, ali se nikada ne koriste, samo zatrpavaju DS</a:t>
            </a:r>
            <a:endParaRPr lang="en-US" dirty="0"/>
          </a:p>
          <a:p>
            <a:r>
              <a:rPr lang="hr-HR" dirty="0">
                <a:latin typeface="Bahnschrift SemiLight"/>
              </a:rPr>
              <a:t>Odaberite dosljednu nomenklaturu</a:t>
            </a:r>
            <a:endParaRPr lang="en-US" dirty="0"/>
          </a:p>
          <a:p>
            <a:r>
              <a:rPr lang="hr-HR" dirty="0"/>
              <a:t>kako bi ih bilo lakše pronaći i koristiti</a:t>
            </a:r>
          </a:p>
          <a:p>
            <a:r>
              <a:rPr lang="hr-HR" b="1" dirty="0"/>
              <a:t>Koristite opise (</a:t>
            </a:r>
            <a:r>
              <a:rPr lang="hr-HR" b="1" dirty="0" err="1"/>
              <a:t>descriptions</a:t>
            </a:r>
            <a:r>
              <a:rPr lang="hr-HR" b="1" dirty="0"/>
              <a:t>)</a:t>
            </a:r>
            <a:r>
              <a:rPr lang="hr-HR" dirty="0"/>
              <a:t> kako biste olakšali njihovu upotrebu.</a:t>
            </a:r>
          </a:p>
          <a:p>
            <a:r>
              <a:rPr lang="hr-HR" dirty="0"/>
              <a:t>Grupirajte ih na koherentan i logičan način.</a:t>
            </a:r>
            <a:endParaRPr lang="en-US" dirty="0"/>
          </a:p>
        </p:txBody>
      </p:sp>
    </p:spTree>
    <p:extLst>
      <p:ext uri="{BB962C8B-B14F-4D97-AF65-F5344CB8AC3E}">
        <p14:creationId xmlns:p14="http://schemas.microsoft.com/office/powerpoint/2010/main" val="2742356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2A970D-D002-3D1B-C3DA-CEBA25835D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847D830-C311-B519-6817-ECDD9DA36F73}"/>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nomen</a:t>
            </a:r>
            <a:r>
              <a:rPr lang="hr-HR" dirty="0" err="1">
                <a:latin typeface="Bahnschrift SemiBold"/>
              </a:rPr>
              <a:t>klatura</a:t>
            </a:r>
            <a:endParaRPr lang="en-US" dirty="0"/>
          </a:p>
        </p:txBody>
      </p:sp>
      <p:sp>
        <p:nvSpPr>
          <p:cNvPr id="8" name="Content Placeholder 7">
            <a:extLst>
              <a:ext uri="{FF2B5EF4-FFF2-40B4-BE49-F238E27FC236}">
                <a16:creationId xmlns:a16="http://schemas.microsoft.com/office/drawing/2014/main" id="{8DB8024F-0A96-A3FE-8C77-E519EBF38F04}"/>
              </a:ext>
            </a:extLst>
          </p:cNvPr>
          <p:cNvSpPr>
            <a:spLocks noGrp="1"/>
          </p:cNvSpPr>
          <p:nvPr>
            <p:ph idx="1"/>
          </p:nvPr>
        </p:nvSpPr>
        <p:spPr/>
        <p:txBody>
          <a:bodyPr vert="horz" lIns="91440" tIns="45720" rIns="91440" bIns="45720" rtlCol="0" anchor="t">
            <a:normAutofit lnSpcReduction="10000"/>
          </a:bodyPr>
          <a:lstStyle/>
          <a:p>
            <a:r>
              <a:rPr lang="hr-HR" dirty="0"/>
              <a:t>Sve ovisi o </a:t>
            </a:r>
            <a:r>
              <a:rPr lang="hr-HR" b="1" dirty="0"/>
              <a:t>kontekstu</a:t>
            </a:r>
            <a:r>
              <a:rPr lang="hr-HR" dirty="0"/>
              <a:t>, tko koristi </a:t>
            </a:r>
            <a:r>
              <a:rPr lang="hr-HR" b="1" dirty="0"/>
              <a:t>design sustav (DS)</a:t>
            </a:r>
            <a:r>
              <a:rPr lang="hr-HR" dirty="0"/>
              <a:t> i na koji način.</a:t>
            </a:r>
          </a:p>
          <a:p>
            <a:r>
              <a:rPr lang="hr-HR" dirty="0"/>
              <a:t>Ako nije potrebno, </a:t>
            </a:r>
            <a:r>
              <a:rPr lang="hr-HR" b="1" dirty="0"/>
              <a:t>nemojte dodatno komplicirati</a:t>
            </a:r>
            <a:r>
              <a:rPr lang="hr-HR" dirty="0"/>
              <a:t>.</a:t>
            </a:r>
          </a:p>
          <a:p>
            <a:r>
              <a:rPr lang="hr-HR" b="1" dirty="0"/>
              <a:t>Približite se načinu na koji je nešto definirano u kodu.</a:t>
            </a:r>
            <a:endParaRPr lang="hr-HR" dirty="0"/>
          </a:p>
          <a:p>
            <a:r>
              <a:rPr lang="hr-HR" dirty="0"/>
              <a:t>Koristite </a:t>
            </a:r>
            <a:r>
              <a:rPr lang="hr-HR" b="1" dirty="0"/>
              <a:t>nazive razumljive ljudima (human-</a:t>
            </a:r>
            <a:r>
              <a:rPr lang="hr-HR" b="1" dirty="0" err="1"/>
              <a:t>readable</a:t>
            </a:r>
            <a:r>
              <a:rPr lang="hr-HR" b="1" dirty="0"/>
              <a:t> </a:t>
            </a:r>
            <a:r>
              <a:rPr lang="hr-HR" b="1" dirty="0" err="1"/>
              <a:t>names</a:t>
            </a:r>
            <a:r>
              <a:rPr lang="hr-HR" b="1" dirty="0"/>
              <a:t>)</a:t>
            </a:r>
            <a:r>
              <a:rPr lang="hr-HR" dirty="0"/>
              <a:t>.</a:t>
            </a:r>
          </a:p>
          <a:p>
            <a:r>
              <a:rPr lang="hr-HR" dirty="0"/>
              <a:t>Koristite </a:t>
            </a:r>
            <a:r>
              <a:rPr lang="hr-HR" b="1" dirty="0"/>
              <a:t>semantičke nazive</a:t>
            </a:r>
            <a:r>
              <a:rPr lang="hr-HR" dirty="0"/>
              <a:t> (umjesto generičkih).</a:t>
            </a:r>
          </a:p>
          <a:p>
            <a:r>
              <a:rPr lang="hr-HR" b="1" dirty="0"/>
              <a:t>Grupirajte srodne elemente zajedno.</a:t>
            </a:r>
            <a:endParaRPr lang="hr-HR" dirty="0"/>
          </a:p>
          <a:p>
            <a:r>
              <a:rPr lang="hr-HR" dirty="0"/>
              <a:t>Koristite </a:t>
            </a:r>
            <a:r>
              <a:rPr lang="hr-HR" b="1" dirty="0"/>
              <a:t>opise (</a:t>
            </a:r>
            <a:r>
              <a:rPr lang="hr-HR" b="1" dirty="0" err="1"/>
              <a:t>descriptions</a:t>
            </a:r>
            <a:r>
              <a:rPr lang="hr-HR" b="1" dirty="0"/>
              <a:t>)</a:t>
            </a:r>
            <a:r>
              <a:rPr lang="hr-HR" dirty="0"/>
              <a:t> kako biste nadopunili ono što se ne može izraziti u samom nazivu</a:t>
            </a:r>
            <a:br>
              <a:rPr lang="hr-HR" dirty="0"/>
            </a:br>
            <a:r>
              <a:rPr lang="hr-HR" i="1" dirty="0"/>
              <a:t>(vidi dio o dokumentaciji).</a:t>
            </a:r>
            <a:endParaRPr lang="hr-HR" dirty="0"/>
          </a:p>
        </p:txBody>
      </p:sp>
    </p:spTree>
    <p:extLst>
      <p:ext uri="{BB962C8B-B14F-4D97-AF65-F5344CB8AC3E}">
        <p14:creationId xmlns:p14="http://schemas.microsoft.com/office/powerpoint/2010/main" val="2688475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70008-DEFE-2005-F42F-A1567378E986}"/>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hr-HR" dirty="0">
                <a:latin typeface="Bahnschrift SemiBold"/>
              </a:rPr>
              <a:t>promjene</a:t>
            </a:r>
            <a:endParaRPr lang="en-US" dirty="0">
              <a:latin typeface="Bahnschrift SemiBold"/>
            </a:endParaRPr>
          </a:p>
        </p:txBody>
      </p:sp>
      <p:sp>
        <p:nvSpPr>
          <p:cNvPr id="3" name="Content Placeholder 2">
            <a:extLst>
              <a:ext uri="{FF2B5EF4-FFF2-40B4-BE49-F238E27FC236}">
                <a16:creationId xmlns:a16="http://schemas.microsoft.com/office/drawing/2014/main" id="{26AC5CDA-D528-C69F-DCC4-F3B8AC9741A7}"/>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hr-HR" b="1" dirty="0">
                <a:latin typeface="Bahnschrift SemiLight"/>
                <a:cs typeface="Arial"/>
              </a:rPr>
              <a:t>Napravite promjenu</a:t>
            </a:r>
            <a:endParaRPr lang="en-US" b="1" dirty="0"/>
          </a:p>
          <a:p>
            <a:r>
              <a:rPr lang="hr-HR" dirty="0"/>
              <a:t>Savjet: postavite </a:t>
            </a:r>
            <a:r>
              <a:rPr lang="hr-HR" b="1" dirty="0"/>
              <a:t>instancu komponente s različitim </a:t>
            </a:r>
            <a:r>
              <a:rPr lang="hr-HR" b="1" dirty="0" err="1"/>
              <a:t>overrideovima</a:t>
            </a:r>
            <a:r>
              <a:rPr lang="hr-HR" dirty="0"/>
              <a:t> pokraj glavne komponente kako biste uživo vidjeli hoće li se nešto pokvariti.</a:t>
            </a:r>
          </a:p>
          <a:p>
            <a:endParaRPr lang="en-US" dirty="0">
              <a:latin typeface="Bahnschrift SemiLight"/>
              <a:cs typeface="Arial"/>
            </a:endParaRPr>
          </a:p>
          <a:p>
            <a:pPr marL="0" indent="0">
              <a:buNone/>
            </a:pPr>
            <a:r>
              <a:rPr lang="hr-HR" b="1" dirty="0">
                <a:latin typeface="Bahnschrift SemiLight"/>
                <a:cs typeface="Arial"/>
              </a:rPr>
              <a:t>Objavite promjenu(e) (</a:t>
            </a:r>
            <a:r>
              <a:rPr lang="hr-HR" b="1" dirty="0" err="1">
                <a:latin typeface="Bahnschrift SemiLight"/>
                <a:cs typeface="Arial"/>
              </a:rPr>
              <a:t>push</a:t>
            </a:r>
            <a:r>
              <a:rPr lang="hr-HR" b="1" dirty="0">
                <a:latin typeface="Bahnschrift SemiLight"/>
                <a:cs typeface="Arial"/>
              </a:rPr>
              <a:t> </a:t>
            </a:r>
            <a:r>
              <a:rPr lang="hr-HR" b="1" dirty="0" err="1">
                <a:latin typeface="Bahnschrift SemiLight"/>
                <a:cs typeface="Arial"/>
              </a:rPr>
              <a:t>changes</a:t>
            </a:r>
            <a:r>
              <a:rPr lang="hr-HR" b="1" dirty="0">
                <a:latin typeface="Bahnschrift SemiLight"/>
                <a:cs typeface="Arial"/>
              </a:rPr>
              <a:t>)</a:t>
            </a:r>
          </a:p>
          <a:p>
            <a:r>
              <a:rPr lang="hr-HR" dirty="0">
                <a:latin typeface="Bahnschrift SemiLight"/>
                <a:cs typeface="Arial"/>
              </a:rPr>
              <a:t>Odabirom relevantne komponente</a:t>
            </a:r>
            <a:endParaRPr lang="en-US" dirty="0"/>
          </a:p>
          <a:p>
            <a:r>
              <a:rPr lang="hr-HR" dirty="0">
                <a:latin typeface="Bahnschrift SemiLight"/>
                <a:cs typeface="Arial"/>
              </a:rPr>
              <a:t>Putem</a:t>
            </a:r>
            <a:r>
              <a:rPr lang="en-US" dirty="0">
                <a:latin typeface="Bahnschrift SemiLight"/>
                <a:cs typeface="Arial"/>
              </a:rPr>
              <a:t> asset / library </a:t>
            </a:r>
            <a:endParaRPr lang="en-US" dirty="0"/>
          </a:p>
          <a:p>
            <a:r>
              <a:rPr lang="hr-HR" dirty="0">
                <a:latin typeface="Bahnschrift SemiLight"/>
                <a:cs typeface="Arial"/>
              </a:rPr>
              <a:t>Dodajte komentar uz svoj </a:t>
            </a:r>
            <a:r>
              <a:rPr lang="en-US" dirty="0">
                <a:latin typeface="Bahnschrift SemiLight"/>
                <a:cs typeface="Arial"/>
              </a:rPr>
              <a:t>“push” </a:t>
            </a:r>
            <a:endParaRPr lang="en-US" dirty="0"/>
          </a:p>
          <a:p>
            <a:endParaRPr lang="en-US" dirty="0"/>
          </a:p>
          <a:p>
            <a:pPr marL="0" indent="0">
              <a:buNone/>
            </a:pPr>
            <a:r>
              <a:rPr lang="hr-HR" b="1" dirty="0">
                <a:latin typeface="Bahnschrift SemiLight"/>
                <a:cs typeface="Arial"/>
              </a:rPr>
              <a:t>Prihvatite promjenu</a:t>
            </a:r>
            <a:r>
              <a:rPr lang="en-US" b="1" dirty="0">
                <a:latin typeface="Bahnschrift SemiLight"/>
                <a:cs typeface="Arial"/>
              </a:rPr>
              <a:t>(</a:t>
            </a:r>
            <a:r>
              <a:rPr lang="hr-HR" b="1" dirty="0">
                <a:latin typeface="Bahnschrift SemiLight"/>
                <a:cs typeface="Arial"/>
              </a:rPr>
              <a:t>e</a:t>
            </a:r>
            <a:r>
              <a:rPr lang="en-US" b="1" dirty="0">
                <a:latin typeface="Bahnschrift SemiLight"/>
                <a:cs typeface="Arial"/>
              </a:rPr>
              <a:t>) </a:t>
            </a:r>
            <a:endParaRPr lang="en-US" b="1" dirty="0"/>
          </a:p>
          <a:p>
            <a:r>
              <a:rPr lang="hr-HR" dirty="0"/>
              <a:t>Prihvatite sve ili samo neke komponente</a:t>
            </a:r>
          </a:p>
          <a:p>
            <a:r>
              <a:rPr lang="hr-HR" dirty="0"/>
              <a:t>Provjerite jesu li promjene </a:t>
            </a:r>
            <a:r>
              <a:rPr lang="hr-HR" b="1" dirty="0"/>
              <a:t>sigurne i ispravne</a:t>
            </a:r>
            <a:r>
              <a:rPr lang="hr-HR" dirty="0"/>
              <a:t>.</a:t>
            </a:r>
          </a:p>
        </p:txBody>
      </p:sp>
    </p:spTree>
    <p:extLst>
      <p:ext uri="{BB962C8B-B14F-4D97-AF65-F5344CB8AC3E}">
        <p14:creationId xmlns:p14="http://schemas.microsoft.com/office/powerpoint/2010/main" val="3885713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2D5D-51C5-C28A-1D79-9602185EF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119F0-55BE-0C3C-0153-FBD0E2D38C91}"/>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hr-HR" dirty="0">
                <a:latin typeface="Bahnschrift SemiBold"/>
              </a:rPr>
              <a:t>bilješka (anotacija)</a:t>
            </a:r>
            <a:endParaRPr lang="en-US" dirty="0">
              <a:latin typeface="Bahnschrift SemiBold"/>
            </a:endParaRPr>
          </a:p>
        </p:txBody>
      </p:sp>
      <p:sp>
        <p:nvSpPr>
          <p:cNvPr id="3" name="Content Placeholder 2">
            <a:extLst>
              <a:ext uri="{FF2B5EF4-FFF2-40B4-BE49-F238E27FC236}">
                <a16:creationId xmlns:a16="http://schemas.microsoft.com/office/drawing/2014/main" id="{28492292-2FBE-0EC3-29B5-0853451444F9}"/>
              </a:ext>
            </a:extLst>
          </p:cNvPr>
          <p:cNvSpPr>
            <a:spLocks noGrp="1"/>
          </p:cNvSpPr>
          <p:nvPr>
            <p:ph idx="1"/>
          </p:nvPr>
        </p:nvSpPr>
        <p:spPr/>
        <p:txBody>
          <a:bodyPr vert="horz" lIns="91440" tIns="45720" rIns="91440" bIns="45720" rtlCol="0" anchor="t">
            <a:normAutofit/>
          </a:bodyPr>
          <a:lstStyle/>
          <a:p>
            <a:r>
              <a:rPr lang="hr-HR" dirty="0">
                <a:latin typeface="Bahnschrift SemiLight"/>
                <a:cs typeface="Arial"/>
              </a:rPr>
              <a:t>Koristite opise (olakšavaju pretraživanje i razumijevanje)</a:t>
            </a:r>
            <a:r>
              <a:rPr lang="en-US" dirty="0">
                <a:latin typeface="Bahnschrift SemiLight"/>
                <a:cs typeface="Arial"/>
              </a:rPr>
              <a:t> </a:t>
            </a:r>
            <a:endParaRPr lang="en-US" dirty="0"/>
          </a:p>
          <a:p>
            <a:r>
              <a:rPr lang="hr-HR" dirty="0">
                <a:latin typeface="Bahnschrift SemiLight"/>
              </a:rPr>
              <a:t>Dodajte anotacije kada je potrebno</a:t>
            </a:r>
            <a:endParaRPr lang="en-US" dirty="0"/>
          </a:p>
        </p:txBody>
      </p:sp>
    </p:spTree>
    <p:extLst>
      <p:ext uri="{BB962C8B-B14F-4D97-AF65-F5344CB8AC3E}">
        <p14:creationId xmlns:p14="http://schemas.microsoft.com/office/powerpoint/2010/main" val="2598407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4ABFD-DB61-A900-3CE7-B59EE45D8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C2651-3732-9EDC-7825-0053BA55F203}"/>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hr-HR" dirty="0">
                <a:latin typeface="Bahnschrift SemiBold"/>
              </a:rPr>
              <a:t>sustav grana</a:t>
            </a:r>
            <a:endParaRPr lang="en-US" dirty="0">
              <a:latin typeface="Bahnschrift SemiBold"/>
            </a:endParaRPr>
          </a:p>
        </p:txBody>
      </p:sp>
      <p:sp>
        <p:nvSpPr>
          <p:cNvPr id="3" name="Content Placeholder 2">
            <a:extLst>
              <a:ext uri="{FF2B5EF4-FFF2-40B4-BE49-F238E27FC236}">
                <a16:creationId xmlns:a16="http://schemas.microsoft.com/office/drawing/2014/main" id="{DA91114F-AA09-5C2C-C245-D63E648273C0}"/>
              </a:ext>
            </a:extLst>
          </p:cNvPr>
          <p:cNvSpPr>
            <a:spLocks noGrp="1"/>
          </p:cNvSpPr>
          <p:nvPr>
            <p:ph idx="1"/>
          </p:nvPr>
        </p:nvSpPr>
        <p:spPr/>
        <p:txBody>
          <a:bodyPr vert="horz" lIns="91440" tIns="45720" rIns="91440" bIns="45720" rtlCol="0" anchor="t">
            <a:normAutofit/>
          </a:bodyPr>
          <a:lstStyle/>
          <a:p>
            <a:r>
              <a:rPr lang="hr-HR" dirty="0"/>
              <a:t>Kao i u razvoju (i drugim disciplinama), moguće je </a:t>
            </a:r>
            <a:r>
              <a:rPr lang="hr-HR" b="1" dirty="0"/>
              <a:t>kreirati grane (</a:t>
            </a:r>
            <a:r>
              <a:rPr lang="hr-HR" b="1" dirty="0" err="1"/>
              <a:t>branches</a:t>
            </a:r>
            <a:r>
              <a:rPr lang="hr-HR" b="1" dirty="0"/>
              <a:t>)</a:t>
            </a:r>
            <a:r>
              <a:rPr lang="hr-HR" dirty="0"/>
              <a:t>.</a:t>
            </a:r>
          </a:p>
          <a:p>
            <a:r>
              <a:rPr lang="hr-HR" dirty="0"/>
              <a:t>Grane omogućuju </a:t>
            </a:r>
            <a:r>
              <a:rPr lang="hr-HR" b="1" dirty="0"/>
              <a:t>testiranje promjena</a:t>
            </a:r>
            <a:r>
              <a:rPr lang="hr-HR" dirty="0"/>
              <a:t> (čisto vizualnih ili funkcionalnih) na vlastitoj verziji, bez uključivanja velikih ili opsežnih izmjena u glavnom sustavu.</a:t>
            </a:r>
          </a:p>
          <a:p>
            <a:r>
              <a:rPr lang="en-US" dirty="0">
                <a:latin typeface="Bahnschrift SemiLight"/>
                <a:hlinkClick r:id="rId2"/>
              </a:rPr>
              <a:t>https://www.figma.com/best-practices/branching-in-figma/</a:t>
            </a:r>
            <a:r>
              <a:rPr lang="en-US" dirty="0">
                <a:latin typeface="Bahnschrift SemiLight"/>
              </a:rPr>
              <a:t>  </a:t>
            </a:r>
          </a:p>
        </p:txBody>
      </p:sp>
    </p:spTree>
    <p:extLst>
      <p:ext uri="{BB962C8B-B14F-4D97-AF65-F5344CB8AC3E}">
        <p14:creationId xmlns:p14="http://schemas.microsoft.com/office/powerpoint/2010/main" val="3670836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B0AF-9BB4-016B-208D-4E45AAA87664}"/>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hr-HR" dirty="0">
                <a:latin typeface="Bahnschrift SemiBold"/>
              </a:rPr>
              <a:t>premještanje stilova</a:t>
            </a:r>
            <a:endParaRPr lang="en-US" dirty="0"/>
          </a:p>
        </p:txBody>
      </p:sp>
      <p:sp>
        <p:nvSpPr>
          <p:cNvPr id="4" name="Content Placeholder 3">
            <a:extLst>
              <a:ext uri="{FF2B5EF4-FFF2-40B4-BE49-F238E27FC236}">
                <a16:creationId xmlns:a16="http://schemas.microsoft.com/office/drawing/2014/main" id="{54FFAE28-2C9A-23D8-02FC-B2F23F6FECEE}"/>
              </a:ext>
            </a:extLst>
          </p:cNvPr>
          <p:cNvSpPr>
            <a:spLocks noGrp="1"/>
          </p:cNvSpPr>
          <p:nvPr>
            <p:ph idx="1"/>
          </p:nvPr>
        </p:nvSpPr>
        <p:spPr/>
        <p:txBody>
          <a:bodyPr vert="horz" lIns="91440" tIns="45720" rIns="91440" bIns="45720" rtlCol="0" anchor="t">
            <a:normAutofit/>
          </a:bodyPr>
          <a:lstStyle/>
          <a:p>
            <a:r>
              <a:rPr lang="hr-HR" dirty="0"/>
              <a:t>Ponekad je potrebno </a:t>
            </a:r>
            <a:r>
              <a:rPr lang="hr-HR" b="1" dirty="0"/>
              <a:t>stvoriti stil izvan design sustava</a:t>
            </a:r>
            <a:r>
              <a:rPr lang="hr-HR" dirty="0"/>
              <a:t> (ponekad je lakše kreirati stil u njegovom stvarnom kontekstu). Nakon toga ga je potrebno </a:t>
            </a:r>
            <a:r>
              <a:rPr lang="hr-HR" b="1" dirty="0"/>
              <a:t>premjestiti u design sustav</a:t>
            </a:r>
            <a:r>
              <a:rPr lang="hr-HR" dirty="0"/>
              <a:t> kako bi se stilovi i dalje </a:t>
            </a:r>
            <a:r>
              <a:rPr lang="hr-HR" b="1" dirty="0"/>
              <a:t>centralizirali na jednom mjestu</a:t>
            </a:r>
            <a:r>
              <a:rPr lang="hr-HR" dirty="0"/>
              <a:t>.</a:t>
            </a:r>
          </a:p>
          <a:p>
            <a:pPr marL="0" indent="0">
              <a:buNone/>
            </a:pPr>
            <a:endParaRPr lang="en-US" dirty="0"/>
          </a:p>
          <a:p>
            <a:r>
              <a:rPr lang="en-US" dirty="0">
                <a:latin typeface="Bahnschrift SemiLight"/>
                <a:hlinkClick r:id="rId2"/>
              </a:rPr>
              <a:t>https://help.figma.com/hc/en-us/articles/360039820134-Manage-and-share-styles#Move_styles</a:t>
            </a:r>
            <a:r>
              <a:rPr lang="en-US" dirty="0">
                <a:latin typeface="Bahnschrift SemiLight"/>
              </a:rPr>
              <a:t>   </a:t>
            </a:r>
          </a:p>
        </p:txBody>
      </p:sp>
    </p:spTree>
    <p:extLst>
      <p:ext uri="{BB962C8B-B14F-4D97-AF65-F5344CB8AC3E}">
        <p14:creationId xmlns:p14="http://schemas.microsoft.com/office/powerpoint/2010/main" val="3988170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42FC8-4C3F-5F01-4E90-492D96509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97895-1DF3-0F21-4D55-6EE501F324D0}"/>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a:t>
            </a:r>
            <a:r>
              <a:rPr lang="hr-HR" dirty="0">
                <a:latin typeface="Bahnschrift SemiBold"/>
              </a:rPr>
              <a:t>premještanje komponenata</a:t>
            </a:r>
            <a:endParaRPr lang="en-US" dirty="0"/>
          </a:p>
        </p:txBody>
      </p:sp>
      <p:sp>
        <p:nvSpPr>
          <p:cNvPr id="4" name="Content Placeholder 3">
            <a:extLst>
              <a:ext uri="{FF2B5EF4-FFF2-40B4-BE49-F238E27FC236}">
                <a16:creationId xmlns:a16="http://schemas.microsoft.com/office/drawing/2014/main" id="{780E58C0-5A28-DE2E-1928-F20525F7FB63}"/>
              </a:ext>
            </a:extLst>
          </p:cNvPr>
          <p:cNvSpPr>
            <a:spLocks noGrp="1"/>
          </p:cNvSpPr>
          <p:nvPr>
            <p:ph idx="1"/>
          </p:nvPr>
        </p:nvSpPr>
        <p:spPr/>
        <p:txBody>
          <a:bodyPr vert="horz" lIns="91440" tIns="45720" rIns="91440" bIns="45720" rtlCol="0" anchor="t">
            <a:normAutofit/>
          </a:bodyPr>
          <a:lstStyle/>
          <a:p>
            <a:r>
              <a:rPr lang="hr-HR" dirty="0"/>
              <a:t>Još češće nego kod stilova, ponekad je lakše </a:t>
            </a:r>
            <a:r>
              <a:rPr lang="hr-HR" b="1" dirty="0"/>
              <a:t>kreirati komponentu u njezinom stvarnom kontekstu</a:t>
            </a:r>
            <a:r>
              <a:rPr lang="hr-HR" dirty="0"/>
              <a:t>.</a:t>
            </a:r>
          </a:p>
          <a:p>
            <a:r>
              <a:rPr lang="hr-HR" dirty="0"/>
              <a:t>Može biti korisno </a:t>
            </a:r>
            <a:r>
              <a:rPr lang="hr-HR" b="1" dirty="0"/>
              <a:t>zadržati komponentu lokalno</a:t>
            </a:r>
            <a:r>
              <a:rPr lang="hr-HR" dirty="0"/>
              <a:t> ako je specifična za određenu funkcionalnost. U drugim slučajevima potrebno ju je </a:t>
            </a:r>
            <a:r>
              <a:rPr lang="hr-HR" b="1" dirty="0"/>
              <a:t>vratiti u DS</a:t>
            </a:r>
            <a:r>
              <a:rPr lang="hr-HR" dirty="0"/>
              <a:t>.</a:t>
            </a:r>
          </a:p>
          <a:p>
            <a:r>
              <a:rPr lang="en-US" dirty="0">
                <a:latin typeface="Bahnschrift SemiLight"/>
                <a:hlinkClick r:id="rId2"/>
              </a:rPr>
              <a:t>https://help.figma.com/hc/en-us/articles/4404848314647-Move-published-components</a:t>
            </a:r>
            <a:r>
              <a:rPr lang="hr-HR" dirty="0">
                <a:latin typeface="Bahnschrift SemiLight"/>
              </a:rPr>
              <a:t> </a:t>
            </a:r>
            <a:r>
              <a:rPr lang="en-US" dirty="0">
                <a:latin typeface="Bahnschrift SemiLight"/>
              </a:rPr>
              <a:t> </a:t>
            </a:r>
            <a:endParaRPr lang="en-US" dirty="0"/>
          </a:p>
        </p:txBody>
      </p:sp>
    </p:spTree>
    <p:extLst>
      <p:ext uri="{BB962C8B-B14F-4D97-AF65-F5344CB8AC3E}">
        <p14:creationId xmlns:p14="http://schemas.microsoft.com/office/powerpoint/2010/main" val="4081306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DD1F-7FEE-B70A-45B4-D659638AD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22718-8878-4C6B-12FF-4D2F731D76D3}"/>
              </a:ext>
            </a:extLst>
          </p:cNvPr>
          <p:cNvSpPr>
            <a:spLocks noGrp="1"/>
          </p:cNvSpPr>
          <p:nvPr>
            <p:ph type="title"/>
          </p:nvPr>
        </p:nvSpPr>
        <p:spPr/>
        <p:txBody>
          <a:bodyPr/>
          <a:lstStyle/>
          <a:p>
            <a:r>
              <a:rPr lang="hr-HR" dirty="0">
                <a:latin typeface="Bahnschrift SemiBold"/>
              </a:rPr>
              <a:t>Savjeti i trikovi</a:t>
            </a:r>
            <a:r>
              <a:rPr lang="en-US" dirty="0">
                <a:latin typeface="Bahnschrift SemiBold"/>
              </a:rPr>
              <a:t>: slot </a:t>
            </a:r>
            <a:r>
              <a:rPr lang="hr-HR" dirty="0">
                <a:latin typeface="Bahnschrift SemiBold"/>
              </a:rPr>
              <a:t>komponente</a:t>
            </a:r>
            <a:r>
              <a:rPr lang="en-US" dirty="0">
                <a:latin typeface="Bahnschrift SemiBold"/>
              </a:rPr>
              <a:t> </a:t>
            </a:r>
            <a:endParaRPr lang="en-US" dirty="0"/>
          </a:p>
        </p:txBody>
      </p:sp>
      <p:sp>
        <p:nvSpPr>
          <p:cNvPr id="4" name="Content Placeholder 3">
            <a:extLst>
              <a:ext uri="{FF2B5EF4-FFF2-40B4-BE49-F238E27FC236}">
                <a16:creationId xmlns:a16="http://schemas.microsoft.com/office/drawing/2014/main" id="{D98565D4-7C6A-0FB4-12C2-B045688C9C9F}"/>
              </a:ext>
            </a:extLst>
          </p:cNvPr>
          <p:cNvSpPr>
            <a:spLocks noGrp="1"/>
          </p:cNvSpPr>
          <p:nvPr>
            <p:ph idx="1"/>
          </p:nvPr>
        </p:nvSpPr>
        <p:spPr/>
        <p:txBody>
          <a:bodyPr vert="horz" lIns="91440" tIns="45720" rIns="91440" bIns="45720" rtlCol="0" anchor="t">
            <a:normAutofit/>
          </a:bodyPr>
          <a:lstStyle/>
          <a:p>
            <a:r>
              <a:rPr lang="hr-HR" dirty="0"/>
              <a:t>U nekim slučajevima, posebno kada se prati </a:t>
            </a:r>
            <a:r>
              <a:rPr lang="hr-HR" b="1" dirty="0"/>
              <a:t>Atomic Design metoda</a:t>
            </a:r>
            <a:r>
              <a:rPr lang="hr-HR" dirty="0"/>
              <a:t>, javlja se potreba za </a:t>
            </a:r>
            <a:r>
              <a:rPr lang="hr-HR" b="1" dirty="0"/>
              <a:t>fleksibilnim komponentama</a:t>
            </a:r>
            <a:r>
              <a:rPr lang="hr-HR" dirty="0"/>
              <a:t> koje mogu sadržavati više različitih tipova komponenti</a:t>
            </a:r>
            <a:endParaRPr lang="en-US" dirty="0"/>
          </a:p>
        </p:txBody>
      </p:sp>
    </p:spTree>
    <p:extLst>
      <p:ext uri="{BB962C8B-B14F-4D97-AF65-F5344CB8AC3E}">
        <p14:creationId xmlns:p14="http://schemas.microsoft.com/office/powerpoint/2010/main" val="281785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FC0F-53B7-86AC-8407-C4E57C9157E0}"/>
              </a:ext>
            </a:extLst>
          </p:cNvPr>
          <p:cNvSpPr>
            <a:spLocks noGrp="1"/>
          </p:cNvSpPr>
          <p:nvPr>
            <p:ph type="ctrTitle"/>
          </p:nvPr>
        </p:nvSpPr>
        <p:spPr/>
        <p:txBody>
          <a:bodyPr/>
          <a:lstStyle/>
          <a:p>
            <a:r>
              <a:rPr lang="hr-HR" dirty="0">
                <a:latin typeface="Bahnschrift"/>
              </a:rPr>
              <a:t>Različiti tipovi </a:t>
            </a:r>
            <a:r>
              <a:rPr lang="en-US" dirty="0">
                <a:latin typeface="Bahnschrift"/>
              </a:rPr>
              <a:t>UI</a:t>
            </a:r>
            <a:endParaRPr lang="en-US" dirty="0"/>
          </a:p>
        </p:txBody>
      </p:sp>
    </p:spTree>
    <p:extLst>
      <p:ext uri="{BB962C8B-B14F-4D97-AF65-F5344CB8AC3E}">
        <p14:creationId xmlns:p14="http://schemas.microsoft.com/office/powerpoint/2010/main" val="6735589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C0A8-E7F6-9EF4-19A8-4C2E805E16B5}"/>
              </a:ext>
            </a:extLst>
          </p:cNvPr>
          <p:cNvSpPr>
            <a:spLocks noGrp="1"/>
          </p:cNvSpPr>
          <p:nvPr>
            <p:ph type="title"/>
          </p:nvPr>
        </p:nvSpPr>
        <p:spPr/>
        <p:txBody>
          <a:bodyPr/>
          <a:lstStyle/>
          <a:p>
            <a:r>
              <a:rPr lang="hr-HR" dirty="0">
                <a:latin typeface="Bahnschrift SemiBold"/>
              </a:rPr>
              <a:t>RASPRAVA</a:t>
            </a:r>
            <a:endParaRPr lang="en-US" dirty="0"/>
          </a:p>
        </p:txBody>
      </p:sp>
      <p:sp>
        <p:nvSpPr>
          <p:cNvPr id="3" name="Content Placeholder 2">
            <a:extLst>
              <a:ext uri="{FF2B5EF4-FFF2-40B4-BE49-F238E27FC236}">
                <a16:creationId xmlns:a16="http://schemas.microsoft.com/office/drawing/2014/main" id="{302A7A70-F88E-AECE-6851-9BB95CC690B9}"/>
              </a:ext>
            </a:extLst>
          </p:cNvPr>
          <p:cNvSpPr>
            <a:spLocks noGrp="1"/>
          </p:cNvSpPr>
          <p:nvPr>
            <p:ph idx="1"/>
          </p:nvPr>
        </p:nvSpPr>
        <p:spPr/>
        <p:txBody>
          <a:bodyPr vert="horz" lIns="91440" tIns="45720" rIns="91440" bIns="45720" rtlCol="0" anchor="t">
            <a:normAutofit/>
          </a:bodyPr>
          <a:lstStyle/>
          <a:p>
            <a:r>
              <a:rPr lang="hr-HR" dirty="0">
                <a:latin typeface="Bahnschrift SemiLight"/>
              </a:rPr>
              <a:t>Koje tipove </a:t>
            </a:r>
            <a:r>
              <a:rPr lang="en-US" dirty="0">
                <a:latin typeface="Bahnschrift SemiLight"/>
              </a:rPr>
              <a:t>UI </a:t>
            </a:r>
            <a:r>
              <a:rPr lang="hr-HR" dirty="0">
                <a:latin typeface="Bahnschrift SemiLight"/>
              </a:rPr>
              <a:t>poznajete</a:t>
            </a:r>
            <a:r>
              <a:rPr lang="en-US" dirty="0">
                <a:latin typeface="Bahnschrift SemiLight"/>
              </a:rPr>
              <a:t>?</a:t>
            </a:r>
          </a:p>
          <a:p>
            <a:r>
              <a:rPr lang="hr-HR" dirty="0"/>
              <a:t>Koji tip se koristi u kojim okolnostima?</a:t>
            </a:r>
            <a:endParaRPr lang="en-US" dirty="0"/>
          </a:p>
        </p:txBody>
      </p:sp>
    </p:spTree>
    <p:extLst>
      <p:ext uri="{BB962C8B-B14F-4D97-AF65-F5344CB8AC3E}">
        <p14:creationId xmlns:p14="http://schemas.microsoft.com/office/powerpoint/2010/main" val="2363835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65D1CF-B20B-6329-9CA8-DB7398CD48CE}"/>
              </a:ext>
            </a:extLst>
          </p:cNvPr>
          <p:cNvSpPr>
            <a:spLocks noGrp="1"/>
          </p:cNvSpPr>
          <p:nvPr>
            <p:ph type="title"/>
          </p:nvPr>
        </p:nvSpPr>
        <p:spPr/>
        <p:txBody>
          <a:bodyPr/>
          <a:lstStyle/>
          <a:p>
            <a:r>
              <a:rPr lang="fr-FR" dirty="0" err="1"/>
              <a:t>Zoni</a:t>
            </a:r>
            <a:r>
              <a:rPr lang="hr-HR" dirty="0" err="1"/>
              <a:t>ranje</a:t>
            </a:r>
            <a:endParaRPr lang="en-US" dirty="0"/>
          </a:p>
        </p:txBody>
      </p:sp>
      <p:sp>
        <p:nvSpPr>
          <p:cNvPr id="3" name="Espace réservé du contenu 2">
            <a:extLst>
              <a:ext uri="{FF2B5EF4-FFF2-40B4-BE49-F238E27FC236}">
                <a16:creationId xmlns:a16="http://schemas.microsoft.com/office/drawing/2014/main" id="{3710EA56-7003-D841-7DD0-87293D83F574}"/>
              </a:ext>
            </a:extLst>
          </p:cNvPr>
          <p:cNvSpPr>
            <a:spLocks noGrp="1"/>
          </p:cNvSpPr>
          <p:nvPr>
            <p:ph sz="half" idx="1"/>
          </p:nvPr>
        </p:nvSpPr>
        <p:spPr/>
        <p:txBody>
          <a:bodyPr vert="horz" lIns="91440" tIns="45720" rIns="91440" bIns="45720" rtlCol="0" anchor="t">
            <a:normAutofit/>
          </a:bodyPr>
          <a:lstStyle/>
          <a:p>
            <a:r>
              <a:rPr lang="hr-HR" b="1" dirty="0"/>
              <a:t>Prostorna </a:t>
            </a:r>
            <a:r>
              <a:rPr lang="hr-HR" b="1" dirty="0" err="1"/>
              <a:t>shematizacija</a:t>
            </a:r>
            <a:r>
              <a:rPr lang="hr-HR" b="1" dirty="0"/>
              <a:t> sučelja</a:t>
            </a:r>
            <a:endParaRPr lang="hr-HR" dirty="0"/>
          </a:p>
          <a:p>
            <a:r>
              <a:rPr lang="hr-HR" b="1" dirty="0"/>
              <a:t>Fokus:</a:t>
            </a:r>
            <a:r>
              <a:rPr lang="hr-HR" dirty="0"/>
              <a:t> redoslijed elemenata, zauzimanje prostora/formata, struktura.</a:t>
            </a:r>
          </a:p>
          <a:p>
            <a:r>
              <a:rPr lang="hr-HR" b="1" dirty="0"/>
              <a:t>Preporučeni alati:</a:t>
            </a:r>
            <a:r>
              <a:rPr lang="hr-HR" dirty="0"/>
              <a:t> papir, ploča (</a:t>
            </a:r>
            <a:r>
              <a:rPr lang="hr-HR" dirty="0" err="1"/>
              <a:t>board</a:t>
            </a:r>
            <a:r>
              <a:rPr lang="hr-HR" dirty="0"/>
              <a:t>), post-</a:t>
            </a:r>
            <a:r>
              <a:rPr lang="hr-HR" dirty="0" err="1"/>
              <a:t>it</a:t>
            </a:r>
            <a:r>
              <a:rPr lang="hr-HR" dirty="0"/>
              <a:t> papirići.</a:t>
            </a:r>
          </a:p>
          <a:p>
            <a:r>
              <a:rPr lang="hr-HR" b="1" dirty="0"/>
              <a:t>Interakcija:</a:t>
            </a:r>
            <a:r>
              <a:rPr lang="hr-HR" dirty="0"/>
              <a:t> statična.</a:t>
            </a:r>
          </a:p>
        </p:txBody>
      </p:sp>
      <p:pic>
        <p:nvPicPr>
          <p:cNvPr id="6" name="Base / Left-Right" descr="preencoded.png">
            <a:extLst>
              <a:ext uri="{FF2B5EF4-FFF2-40B4-BE49-F238E27FC236}">
                <a16:creationId xmlns:a16="http://schemas.microsoft.com/office/drawing/2014/main" id="{E91081AF-AC36-DEE1-4470-6B996E96F127}"/>
              </a:ext>
            </a:extLst>
          </p:cNvPr>
          <p:cNvPicPr>
            <a:picLocks noChangeAspect="1"/>
          </p:cNvPicPr>
          <p:nvPr/>
        </p:nvPicPr>
        <p:blipFill>
          <a:blip r:embed="rId2"/>
          <a:srcRect l="50825" b="1887"/>
          <a:stretch/>
        </p:blipFill>
        <p:spPr>
          <a:xfrm>
            <a:off x="7342550" y="2239466"/>
            <a:ext cx="4011842" cy="4500778"/>
          </a:xfrm>
          <a:prstGeom prst="rect">
            <a:avLst/>
          </a:prstGeom>
        </p:spPr>
      </p:pic>
      <p:sp>
        <p:nvSpPr>
          <p:cNvPr id="5" name="TextBox 4">
            <a:extLst>
              <a:ext uri="{FF2B5EF4-FFF2-40B4-BE49-F238E27FC236}">
                <a16:creationId xmlns:a16="http://schemas.microsoft.com/office/drawing/2014/main" id="{77F3FBF5-F81B-F481-8D4C-4424F76B9B38}"/>
              </a:ext>
            </a:extLst>
          </p:cNvPr>
          <p:cNvSpPr txBox="1"/>
          <p:nvPr/>
        </p:nvSpPr>
        <p:spPr>
          <a:xfrm>
            <a:off x="9882316" y="6353653"/>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3761455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9C082-EEBF-9F3B-F734-791B9407C1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514963-F20F-9FC1-64A4-866F69069DE0}"/>
              </a:ext>
            </a:extLst>
          </p:cNvPr>
          <p:cNvSpPr>
            <a:spLocks noGrp="1"/>
          </p:cNvSpPr>
          <p:nvPr>
            <p:ph type="title"/>
          </p:nvPr>
        </p:nvSpPr>
        <p:spPr/>
        <p:txBody>
          <a:bodyPr/>
          <a:lstStyle/>
          <a:p>
            <a:r>
              <a:rPr lang="fr-FR" dirty="0" err="1"/>
              <a:t>Zoni</a:t>
            </a:r>
            <a:r>
              <a:rPr lang="hr-HR" dirty="0" err="1"/>
              <a:t>ranje</a:t>
            </a:r>
            <a:endParaRPr lang="en-US" dirty="0"/>
          </a:p>
        </p:txBody>
      </p:sp>
      <p:sp>
        <p:nvSpPr>
          <p:cNvPr id="8" name="Avantages">
            <a:extLst>
              <a:ext uri="{FF2B5EF4-FFF2-40B4-BE49-F238E27FC236}">
                <a16:creationId xmlns:a16="http://schemas.microsoft.com/office/drawing/2014/main" id="{E20D0D89-21CF-90C5-E671-85CDA1D97B35}"/>
              </a:ext>
            </a:extLst>
          </p:cNvPr>
          <p:cNvSpPr/>
          <p:nvPr/>
        </p:nvSpPr>
        <p:spPr>
          <a:xfrm>
            <a:off x="8255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Prednosti</a:t>
            </a:r>
            <a:endParaRPr lang="en-US" sz="1800" dirty="0">
              <a:latin typeface="Bahnschrift SemiLight" panose="020B0502040204020203" pitchFamily="34" charset="0"/>
            </a:endParaRPr>
          </a:p>
        </p:txBody>
      </p:sp>
      <p:sp>
        <p:nvSpPr>
          <p:cNvPr id="10" name="Avantage Avantage Avantage Avantage Avantage">
            <a:extLst>
              <a:ext uri="{FF2B5EF4-FFF2-40B4-BE49-F238E27FC236}">
                <a16:creationId xmlns:a16="http://schemas.microsoft.com/office/drawing/2014/main" id="{2994B197-3702-7C14-B712-00DD1D0AF752}"/>
              </a:ext>
            </a:extLst>
          </p:cNvPr>
          <p:cNvSpPr/>
          <p:nvPr/>
        </p:nvSpPr>
        <p:spPr>
          <a:xfrm>
            <a:off x="825500" y="2927350"/>
            <a:ext cx="5143500" cy="263525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560"/>
              </a:lnSpc>
              <a:buSzPct val="100000"/>
              <a:buChar char="•"/>
            </a:pPr>
            <a:r>
              <a:rPr lang="en-US" sz="1600" dirty="0">
                <a:solidFill>
                  <a:srgbClr val="000000"/>
                </a:solidFill>
                <a:latin typeface="Bahnschrift SemiLight" panose="020B0502040204020203" pitchFamily="34" charset="0"/>
                <a:ea typeface="Satoshi Regular"/>
                <a:cs typeface="Satoshi Regular" pitchFamily="34" charset="-120"/>
              </a:rPr>
              <a:t>E</a:t>
            </a:r>
            <a:r>
              <a:rPr lang="hr-HR" sz="1600" dirty="0" err="1">
                <a:solidFill>
                  <a:srgbClr val="000000"/>
                </a:solidFill>
                <a:latin typeface="Bahnschrift SemiLight" panose="020B0502040204020203" pitchFamily="34" charset="0"/>
                <a:ea typeface="Satoshi Regular"/>
                <a:cs typeface="Satoshi Regular" pitchFamily="34" charset="-120"/>
              </a:rPr>
              <a:t>konomičnost</a:t>
            </a:r>
            <a:r>
              <a:rPr lang="en-US" sz="1600" dirty="0">
                <a:solidFill>
                  <a:srgbClr val="000000"/>
                </a:solidFill>
                <a:latin typeface="Bahnschrift SemiLight" panose="020B0502040204020203" pitchFamily="34" charset="0"/>
                <a:ea typeface="Satoshi Regular"/>
                <a:cs typeface="Satoshi Regular" pitchFamily="34" charset="-120"/>
              </a:rPr>
              <a:t> ++
 </a:t>
            </a:r>
            <a:r>
              <a:rPr lang="hr-HR" sz="1600" dirty="0">
                <a:solidFill>
                  <a:srgbClr val="000000"/>
                </a:solidFill>
                <a:latin typeface="Bahnschrift SemiLight" panose="020B0502040204020203" pitchFamily="34" charset="0"/>
                <a:ea typeface="Satoshi Regular"/>
                <a:cs typeface="Satoshi Regular" pitchFamily="34" charset="-120"/>
              </a:rPr>
              <a:t>Brzina</a:t>
            </a:r>
            <a:r>
              <a:rPr lang="en-US" sz="1600" dirty="0">
                <a:solidFill>
                  <a:srgbClr val="000000"/>
                </a:solidFill>
                <a:latin typeface="Bahnschrift SemiLight" panose="020B0502040204020203" pitchFamily="34" charset="0"/>
                <a:ea typeface="Satoshi Regular"/>
                <a:cs typeface="Satoshi Regular" pitchFamily="34" charset="-120"/>
              </a:rPr>
              <a:t> ++ (pr</a:t>
            </a:r>
            <a:r>
              <a:rPr lang="hr-HR" sz="1600" dirty="0" err="1">
                <a:solidFill>
                  <a:srgbClr val="000000"/>
                </a:solidFill>
                <a:latin typeface="Bahnschrift SemiLight" panose="020B0502040204020203" pitchFamily="34" charset="0"/>
                <a:ea typeface="Satoshi Regular"/>
                <a:cs typeface="Satoshi Regular" pitchFamily="34" charset="-120"/>
              </a:rPr>
              <a:t>iprema</a:t>
            </a:r>
            <a:r>
              <a:rPr lang="en-US" sz="1600" dirty="0">
                <a:solidFill>
                  <a:srgbClr val="000000"/>
                </a:solidFill>
                <a:latin typeface="Bahnschrift SemiLight" panose="020B0502040204020203" pitchFamily="34" charset="0"/>
                <a:ea typeface="Satoshi Regular"/>
                <a:cs typeface="Satoshi Regular" pitchFamily="34" charset="-120"/>
              </a:rPr>
              <a:t> / </a:t>
            </a:r>
            <a:r>
              <a:rPr lang="hr-HR" sz="1600" dirty="0">
                <a:solidFill>
                  <a:srgbClr val="000000"/>
                </a:solidFill>
                <a:latin typeface="Bahnschrift SemiLight" panose="020B0502040204020203" pitchFamily="34" charset="0"/>
                <a:ea typeface="Satoshi Regular"/>
                <a:cs typeface="Satoshi Regular" pitchFamily="34" charset="-120"/>
              </a:rPr>
              <a:t>izrada</a:t>
            </a:r>
            <a:r>
              <a:rPr lang="en-US" sz="1600" dirty="0">
                <a:solidFill>
                  <a:srgbClr val="000000"/>
                </a:solidFill>
                <a:latin typeface="Bahnschrift SemiLight" panose="020B0502040204020203" pitchFamily="34" charset="0"/>
                <a:ea typeface="Satoshi Regular"/>
                <a:cs typeface="Satoshi Regular" pitchFamily="34" charset="-120"/>
              </a:rPr>
              <a:t> / </a:t>
            </a:r>
            <a:r>
              <a:rPr lang="hr-HR" sz="1600" dirty="0">
                <a:solidFill>
                  <a:srgbClr val="000000"/>
                </a:solidFill>
                <a:latin typeface="Bahnschrift SemiLight" panose="020B0502040204020203" pitchFamily="34" charset="0"/>
                <a:ea typeface="Satoshi Regular"/>
                <a:cs typeface="Satoshi Regular" pitchFamily="34" charset="-120"/>
              </a:rPr>
              <a:t>izmjena</a:t>
            </a:r>
            <a:r>
              <a:rPr lang="en-US" sz="1600" dirty="0">
                <a:solidFill>
                  <a:srgbClr val="000000"/>
                </a:solidFill>
                <a:latin typeface="Bahnschrift SemiLight" panose="020B0502040204020203" pitchFamily="34" charset="0"/>
                <a:ea typeface="Satoshi Regular"/>
                <a:cs typeface="Satoshi Regular" pitchFamily="34" charset="-120"/>
              </a:rPr>
              <a:t>)
 D</a:t>
            </a:r>
            <a:r>
              <a:rPr lang="hr-HR" sz="1600" dirty="0" err="1">
                <a:solidFill>
                  <a:srgbClr val="000000"/>
                </a:solidFill>
                <a:latin typeface="Bahnschrift SemiLight" panose="020B0502040204020203" pitchFamily="34" charset="0"/>
                <a:ea typeface="Satoshi Regular"/>
                <a:cs typeface="Satoshi Regular" pitchFamily="34" charset="-120"/>
              </a:rPr>
              <a:t>izajner</a:t>
            </a:r>
            <a:r>
              <a:rPr lang="hr-HR" sz="1600" dirty="0">
                <a:solidFill>
                  <a:srgbClr val="000000"/>
                </a:solidFill>
                <a:latin typeface="Bahnschrift SemiLight" panose="020B0502040204020203" pitchFamily="34" charset="0"/>
                <a:ea typeface="Satoshi Regular"/>
                <a:cs typeface="Satoshi Regular" pitchFamily="34" charset="-120"/>
              </a:rPr>
              <a:t> je spremniji na promjene</a:t>
            </a:r>
            <a:r>
              <a:rPr lang="en-US" sz="1600" dirty="0">
                <a:solidFill>
                  <a:srgbClr val="000000"/>
                </a:solidFill>
                <a:latin typeface="Bahnschrift SemiLight" panose="020B0502040204020203" pitchFamily="34" charset="0"/>
                <a:ea typeface="Satoshi Regular"/>
                <a:cs typeface="Satoshi Regular" pitchFamily="34" charset="-120"/>
              </a:rPr>
              <a:t> ++
 </a:t>
            </a:r>
            <a:r>
              <a:rPr lang="pl-PL" sz="1600" dirty="0">
                <a:solidFill>
                  <a:srgbClr val="000000"/>
                </a:solidFill>
                <a:latin typeface="Bahnschrift SemiLight" panose="020B0502040204020203" pitchFamily="34" charset="0"/>
                <a:ea typeface="Satoshi Regular"/>
                <a:cs typeface="Satoshi Regular" pitchFamily="34" charset="-120"/>
              </a:rPr>
              <a:t>Lik u razvoju koji je usvojen/prihvaćen od strane dionika.</a:t>
            </a:r>
            <a:r>
              <a:rPr lang="en-US" sz="1600" dirty="0">
                <a:solidFill>
                  <a:srgbClr val="000000"/>
                </a:solidFill>
                <a:latin typeface="Bahnschrift SemiLight" panose="020B0502040204020203" pitchFamily="34" charset="0"/>
                <a:ea typeface="Satoshi Regular"/>
                <a:cs typeface="Satoshi Regular" pitchFamily="34" charset="-120"/>
              </a:rPr>
              <a:t>
 </a:t>
            </a:r>
            <a:r>
              <a:rPr lang="hr-HR" sz="1600" dirty="0">
                <a:solidFill>
                  <a:srgbClr val="000000"/>
                </a:solidFill>
                <a:latin typeface="Bahnschrift SemiLight" panose="020B0502040204020203" pitchFamily="34" charset="0"/>
                <a:ea typeface="Satoshi Regular"/>
                <a:cs typeface="Satoshi Regular" pitchFamily="34" charset="-120"/>
              </a:rPr>
              <a:t>Idealan za zajedničko dizajniranje</a:t>
            </a:r>
            <a:endParaRPr lang="en-US" sz="1600" dirty="0">
              <a:latin typeface="Bahnschrift SemiLight" panose="020B0502040204020203" pitchFamily="34" charset="0"/>
              <a:ea typeface="Satoshi Regular"/>
            </a:endParaRPr>
          </a:p>
        </p:txBody>
      </p:sp>
      <p:sp>
        <p:nvSpPr>
          <p:cNvPr id="12" name="Dsavantages">
            <a:extLst>
              <a:ext uri="{FF2B5EF4-FFF2-40B4-BE49-F238E27FC236}">
                <a16:creationId xmlns:a16="http://schemas.microsoft.com/office/drawing/2014/main" id="{8FE7B01B-891D-6530-8A91-6D83BCDD3CB5}"/>
              </a:ext>
            </a:extLst>
          </p:cNvPr>
          <p:cNvSpPr/>
          <p:nvPr/>
        </p:nvSpPr>
        <p:spPr>
          <a:xfrm>
            <a:off x="63373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Nedostaci</a:t>
            </a:r>
            <a:endParaRPr lang="en-US" sz="1800" dirty="0">
              <a:latin typeface="Bahnschrift SemiLight" panose="020B0502040204020203" pitchFamily="34" charset="0"/>
            </a:endParaRPr>
          </a:p>
        </p:txBody>
      </p:sp>
      <p:sp>
        <p:nvSpPr>
          <p:cNvPr id="14" name="Dsavantage Dsavantage Dsavantage Dsavantage Dsavantage">
            <a:extLst>
              <a:ext uri="{FF2B5EF4-FFF2-40B4-BE49-F238E27FC236}">
                <a16:creationId xmlns:a16="http://schemas.microsoft.com/office/drawing/2014/main" id="{D6B082EE-8F72-9B5D-229E-2FC672D44AD9}"/>
              </a:ext>
            </a:extLst>
          </p:cNvPr>
          <p:cNvSpPr/>
          <p:nvPr/>
        </p:nvSpPr>
        <p:spPr>
          <a:xfrm>
            <a:off x="6337300" y="2927350"/>
            <a:ext cx="5143500" cy="205740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00" indent="-20320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Nije dovoljno samo po sebi</a:t>
            </a:r>
          </a:p>
          <a:p>
            <a:pPr marL="203200" indent="-20320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Rasprave se i dalje u velikoj mjeri oslanjaju na maštu</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Povratne informacije nije uvijek lako integrirati (nisu realistične)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Budite spremni koristiti olovku (osloniti se na skiciranje)</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22156248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4BEE-96E0-4650-F23C-CC4105DC3C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D5BF98-D994-7AC7-116E-59C7E1C1C109}"/>
              </a:ext>
            </a:extLst>
          </p:cNvPr>
          <p:cNvSpPr>
            <a:spLocks noGrp="1"/>
          </p:cNvSpPr>
          <p:nvPr>
            <p:ph type="title"/>
          </p:nvPr>
        </p:nvSpPr>
        <p:spPr/>
        <p:txBody>
          <a:bodyPr/>
          <a:lstStyle/>
          <a:p>
            <a:r>
              <a:rPr lang="fr-FR" dirty="0">
                <a:latin typeface="Bahnschrift SemiBold"/>
              </a:rPr>
              <a:t>Low-fi wireframe </a:t>
            </a:r>
            <a:endParaRPr lang="en-US" dirty="0"/>
          </a:p>
        </p:txBody>
      </p:sp>
      <p:sp>
        <p:nvSpPr>
          <p:cNvPr id="3" name="Espace réservé du contenu 2">
            <a:extLst>
              <a:ext uri="{FF2B5EF4-FFF2-40B4-BE49-F238E27FC236}">
                <a16:creationId xmlns:a16="http://schemas.microsoft.com/office/drawing/2014/main" id="{06DF572E-E49C-7136-5C5C-441912CCE9E1}"/>
              </a:ext>
            </a:extLst>
          </p:cNvPr>
          <p:cNvSpPr>
            <a:spLocks noGrp="1"/>
          </p:cNvSpPr>
          <p:nvPr>
            <p:ph sz="half" idx="1"/>
          </p:nvPr>
        </p:nvSpPr>
        <p:spPr/>
        <p:txBody>
          <a:bodyPr vert="horz" lIns="91440" tIns="45720" rIns="91440" bIns="45720" rtlCol="0" anchor="t">
            <a:normAutofit/>
          </a:bodyPr>
          <a:lstStyle/>
          <a:p>
            <a:r>
              <a:rPr lang="hr-HR" dirty="0"/>
              <a:t>Crno-bijeli model koji uzima u obzir funkcionalni opseg.</a:t>
            </a:r>
          </a:p>
          <a:p>
            <a:r>
              <a:rPr lang="hr-HR" dirty="0"/>
              <a:t>Fokus: uloga zona, proporcije, vizualna hijerarhija, količina sadržaja, cjelovitost.</a:t>
            </a:r>
          </a:p>
          <a:p>
            <a:r>
              <a:rPr lang="hr-HR" dirty="0"/>
              <a:t>Preporučeni alati: papir, softver za izradu </a:t>
            </a:r>
            <a:r>
              <a:rPr lang="hr-HR" dirty="0" err="1"/>
              <a:t>wireframeova</a:t>
            </a:r>
            <a:r>
              <a:rPr lang="hr-HR" dirty="0"/>
              <a:t>.</a:t>
            </a:r>
          </a:p>
          <a:p>
            <a:r>
              <a:rPr lang="hr-HR" dirty="0"/>
              <a:t>Interakcija: statična ili sekvencijalna.</a:t>
            </a:r>
          </a:p>
        </p:txBody>
      </p:sp>
      <p:pic>
        <p:nvPicPr>
          <p:cNvPr id="5" name="Base / Left-Right" descr="preencoded.png">
            <a:extLst>
              <a:ext uri="{FF2B5EF4-FFF2-40B4-BE49-F238E27FC236}">
                <a16:creationId xmlns:a16="http://schemas.microsoft.com/office/drawing/2014/main" id="{782339C5-9DC6-635A-461D-87B8DAAF3CF5}"/>
              </a:ext>
            </a:extLst>
          </p:cNvPr>
          <p:cNvPicPr>
            <a:picLocks noChangeAspect="1"/>
          </p:cNvPicPr>
          <p:nvPr/>
        </p:nvPicPr>
        <p:blipFill>
          <a:blip r:embed="rId2"/>
          <a:srcRect l="51336" t="-132"/>
          <a:stretch/>
        </p:blipFill>
        <p:spPr>
          <a:xfrm>
            <a:off x="7366000" y="1826481"/>
            <a:ext cx="3987331" cy="4614580"/>
          </a:xfrm>
          <a:prstGeom prst="rect">
            <a:avLst/>
          </a:prstGeom>
        </p:spPr>
      </p:pic>
      <p:sp>
        <p:nvSpPr>
          <p:cNvPr id="4" name="TextBox 3">
            <a:extLst>
              <a:ext uri="{FF2B5EF4-FFF2-40B4-BE49-F238E27FC236}">
                <a16:creationId xmlns:a16="http://schemas.microsoft.com/office/drawing/2014/main" id="{62665D8C-322A-847C-E413-EE55335394C4}"/>
              </a:ext>
            </a:extLst>
          </p:cNvPr>
          <p:cNvSpPr txBox="1"/>
          <p:nvPr/>
        </p:nvSpPr>
        <p:spPr>
          <a:xfrm>
            <a:off x="10178878" y="6364830"/>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37784689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5EE0-3439-0FDA-D65A-891838F212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CB8D96-8AD1-DFBE-B466-98322CEAF4BF}"/>
              </a:ext>
            </a:extLst>
          </p:cNvPr>
          <p:cNvSpPr>
            <a:spLocks noGrp="1"/>
          </p:cNvSpPr>
          <p:nvPr>
            <p:ph type="title"/>
          </p:nvPr>
        </p:nvSpPr>
        <p:spPr/>
        <p:txBody>
          <a:bodyPr/>
          <a:lstStyle/>
          <a:p>
            <a:r>
              <a:rPr lang="fr-FR" dirty="0">
                <a:latin typeface="Bahnschrift SemiBold"/>
              </a:rPr>
              <a:t>Low-fi wireframe </a:t>
            </a:r>
            <a:endParaRPr lang="en-US" dirty="0"/>
          </a:p>
        </p:txBody>
      </p:sp>
      <p:sp>
        <p:nvSpPr>
          <p:cNvPr id="4" name="Avantages">
            <a:extLst>
              <a:ext uri="{FF2B5EF4-FFF2-40B4-BE49-F238E27FC236}">
                <a16:creationId xmlns:a16="http://schemas.microsoft.com/office/drawing/2014/main" id="{00106D25-D495-5532-DDA8-BE5796E9AE25}"/>
              </a:ext>
            </a:extLst>
          </p:cNvPr>
          <p:cNvSpPr/>
          <p:nvPr/>
        </p:nvSpPr>
        <p:spPr>
          <a:xfrm>
            <a:off x="8255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Prednosti</a:t>
            </a:r>
            <a:endParaRPr lang="en-US" sz="1800" dirty="0">
              <a:latin typeface="Bahnschrift SemiLight" panose="020B0502040204020203" pitchFamily="34" charset="0"/>
            </a:endParaRPr>
          </a:p>
        </p:txBody>
      </p:sp>
      <p:sp>
        <p:nvSpPr>
          <p:cNvPr id="6" name="Avantage Avantage Avantage Avantage Avantage">
            <a:extLst>
              <a:ext uri="{FF2B5EF4-FFF2-40B4-BE49-F238E27FC236}">
                <a16:creationId xmlns:a16="http://schemas.microsoft.com/office/drawing/2014/main" id="{294A3816-0A3F-7647-A1DF-01DA64E3A108}"/>
              </a:ext>
            </a:extLst>
          </p:cNvPr>
          <p:cNvSpPr/>
          <p:nvPr/>
        </p:nvSpPr>
        <p:spPr>
          <a:xfrm>
            <a:off x="825500" y="2927350"/>
            <a:ext cx="5143500" cy="205740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nSpc>
                <a:spcPts val="2560"/>
              </a:lnSpc>
              <a:buSzPct val="100000"/>
              <a:buChar char="•"/>
            </a:pPr>
            <a:r>
              <a:rPr lang="en-US" sz="1600" dirty="0">
                <a:solidFill>
                  <a:srgbClr val="000000"/>
                </a:solidFill>
                <a:latin typeface="Bahnschrift SemiLight" panose="020B0502040204020203" pitchFamily="34" charset="0"/>
                <a:ea typeface="Satoshi Regular" pitchFamily="34" charset="-122"/>
                <a:cs typeface="Satoshi Regular" pitchFamily="34" charset="-120"/>
              </a:rPr>
              <a:t>E</a:t>
            </a:r>
            <a:r>
              <a:rPr lang="hr-HR" sz="1600" dirty="0" err="1">
                <a:solidFill>
                  <a:srgbClr val="000000"/>
                </a:solidFill>
                <a:latin typeface="Bahnschrift SemiLight" panose="020B0502040204020203" pitchFamily="34" charset="0"/>
                <a:ea typeface="Satoshi Regular" pitchFamily="34" charset="-122"/>
                <a:cs typeface="Satoshi Regular" pitchFamily="34" charset="-120"/>
              </a:rPr>
              <a:t>konomičnost</a:t>
            </a:r>
            <a:r>
              <a:rPr lang="en-US" sz="1600" dirty="0">
                <a:solidFill>
                  <a:srgbClr val="000000"/>
                </a:solidFill>
                <a:latin typeface="Bahnschrift SemiLight" panose="020B0502040204020203" pitchFamily="34" charset="0"/>
                <a:ea typeface="Satoshi Regular" pitchFamily="34" charset="-122"/>
                <a:cs typeface="Satoshi Regular" pitchFamily="34" charset="-120"/>
              </a:rPr>
              <a:t> +
 </a:t>
            </a:r>
            <a:r>
              <a:rPr lang="hr-HR" sz="1600" dirty="0">
                <a:solidFill>
                  <a:srgbClr val="000000"/>
                </a:solidFill>
                <a:latin typeface="Bahnschrift SemiLight" panose="020B0502040204020203" pitchFamily="34" charset="0"/>
                <a:ea typeface="Satoshi Regular" pitchFamily="34" charset="-122"/>
                <a:cs typeface="Satoshi Regular" pitchFamily="34" charset="-120"/>
              </a:rPr>
              <a:t>Brzina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 (</a:t>
            </a:r>
            <a:r>
              <a:rPr lang="hr-HR" sz="1600" dirty="0">
                <a:solidFill>
                  <a:srgbClr val="000000"/>
                </a:solidFill>
                <a:latin typeface="Bahnschrift SemiLight" panose="020B0502040204020203" pitchFamily="34" charset="0"/>
                <a:ea typeface="Satoshi Regular" pitchFamily="34" charset="-122"/>
                <a:cs typeface="Satoshi Regular" pitchFamily="34" charset="-120"/>
              </a:rPr>
              <a:t>uređivanje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Manje pritiska na onima koji testiraju</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a:solidFill>
                  <a:srgbClr val="000000"/>
                </a:solidFill>
                <a:latin typeface="Bahnschrift SemiLight" panose="020B0502040204020203" pitchFamily="34" charset="0"/>
                <a:ea typeface="Satoshi Regular"/>
                <a:cs typeface="Satoshi Regular" pitchFamily="34" charset="-120"/>
              </a:rPr>
              <a:t>D</a:t>
            </a:r>
            <a:r>
              <a:rPr lang="hr-HR" sz="1600" dirty="0" err="1">
                <a:solidFill>
                  <a:srgbClr val="000000"/>
                </a:solidFill>
                <a:latin typeface="Bahnschrift SemiLight" panose="020B0502040204020203" pitchFamily="34" charset="0"/>
                <a:ea typeface="Satoshi Regular"/>
                <a:cs typeface="Satoshi Regular" pitchFamily="34" charset="-120"/>
              </a:rPr>
              <a:t>izajner</a:t>
            </a:r>
            <a:r>
              <a:rPr lang="hr-HR" sz="1600" dirty="0">
                <a:solidFill>
                  <a:srgbClr val="000000"/>
                </a:solidFill>
                <a:latin typeface="Bahnschrift SemiLight" panose="020B0502040204020203" pitchFamily="34" charset="0"/>
                <a:ea typeface="Satoshi Regular"/>
                <a:cs typeface="Satoshi Regular" pitchFamily="34" charset="-120"/>
              </a:rPr>
              <a:t> je spremniji na promjene</a:t>
            </a:r>
            <a:r>
              <a:rPr lang="en-US" sz="1600" dirty="0">
                <a:solidFill>
                  <a:srgbClr val="000000"/>
                </a:solidFill>
                <a:latin typeface="Bahnschrift SemiLight" panose="020B0502040204020203" pitchFamily="34" charset="0"/>
                <a:ea typeface="Satoshi Regular"/>
                <a:cs typeface="Satoshi Regular" pitchFamily="34" charset="-120"/>
              </a:rPr>
              <a:t> </a:t>
            </a:r>
            <a:r>
              <a:rPr lang="en-US" sz="1600" dirty="0">
                <a:solidFill>
                  <a:srgbClr val="000000"/>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
        <p:nvSpPr>
          <p:cNvPr id="9" name="Dsavantages">
            <a:extLst>
              <a:ext uri="{FF2B5EF4-FFF2-40B4-BE49-F238E27FC236}">
                <a16:creationId xmlns:a16="http://schemas.microsoft.com/office/drawing/2014/main" id="{B8A48605-FC9F-F8D2-13BC-4A75CA85C52C}"/>
              </a:ext>
            </a:extLst>
          </p:cNvPr>
          <p:cNvSpPr/>
          <p:nvPr/>
        </p:nvSpPr>
        <p:spPr>
          <a:xfrm>
            <a:off x="63373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Nedostaci</a:t>
            </a:r>
            <a:endParaRPr lang="en-US" sz="1800" dirty="0">
              <a:latin typeface="Bahnschrift SemiLight" panose="020B0502040204020203" pitchFamily="34" charset="0"/>
            </a:endParaRPr>
          </a:p>
        </p:txBody>
      </p:sp>
      <p:sp>
        <p:nvSpPr>
          <p:cNvPr id="13" name="Dsavantage Dsavantage Dsavantage Dsavantage Dsavantage">
            <a:extLst>
              <a:ext uri="{FF2B5EF4-FFF2-40B4-BE49-F238E27FC236}">
                <a16:creationId xmlns:a16="http://schemas.microsoft.com/office/drawing/2014/main" id="{11871A8F-9A89-BFA7-53A3-219993F25F07}"/>
              </a:ext>
            </a:extLst>
          </p:cNvPr>
          <p:cNvSpPr/>
          <p:nvPr/>
        </p:nvSpPr>
        <p:spPr>
          <a:xfrm>
            <a:off x="6337300" y="2927350"/>
            <a:ext cx="5143500" cy="147955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Povratne informacije nije uvijek lako integrirati (nisu realistične)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Dionici mogu misliti da je ovo konačan </a:t>
            </a:r>
            <a:r>
              <a:rPr lang="hr-HR" sz="1600" dirty="0" err="1">
                <a:solidFill>
                  <a:srgbClr val="000000"/>
                </a:solidFill>
                <a:latin typeface="Bahnschrift SemiLight" panose="020B0502040204020203" pitchFamily="34" charset="0"/>
                <a:ea typeface="Satoshi Regular" pitchFamily="34" charset="-122"/>
                <a:cs typeface="Satoshi Regular" pitchFamily="34" charset="-120"/>
              </a:rPr>
              <a:t>isporučivi</a:t>
            </a:r>
            <a:r>
              <a:rPr lang="hr-HR" sz="1600" dirty="0">
                <a:solidFill>
                  <a:srgbClr val="000000"/>
                </a:solidFill>
                <a:latin typeface="Bahnschrift SemiLight" panose="020B0502040204020203" pitchFamily="34" charset="0"/>
                <a:ea typeface="Satoshi Regular" pitchFamily="34" charset="-122"/>
                <a:cs typeface="Satoshi Regular" pitchFamily="34" charset="-120"/>
              </a:rPr>
              <a:t> rezultat</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Važnost prezentiranja testiranja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2661626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6DAC4-963E-53C6-1C51-B663F9EF5D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EF04A6-E160-2086-E29D-314A0AED3FB4}"/>
              </a:ext>
            </a:extLst>
          </p:cNvPr>
          <p:cNvSpPr>
            <a:spLocks noGrp="1"/>
          </p:cNvSpPr>
          <p:nvPr>
            <p:ph type="title"/>
          </p:nvPr>
        </p:nvSpPr>
        <p:spPr/>
        <p:txBody>
          <a:bodyPr/>
          <a:lstStyle/>
          <a:p>
            <a:r>
              <a:rPr lang="fr-FR" dirty="0">
                <a:latin typeface="Bahnschrift SemiBold"/>
              </a:rPr>
              <a:t>Low-fi wireframe </a:t>
            </a:r>
            <a:endParaRPr lang="en-US" dirty="0"/>
          </a:p>
        </p:txBody>
      </p:sp>
      <p:sp>
        <p:nvSpPr>
          <p:cNvPr id="3" name="Espace réservé du contenu 2">
            <a:extLst>
              <a:ext uri="{FF2B5EF4-FFF2-40B4-BE49-F238E27FC236}">
                <a16:creationId xmlns:a16="http://schemas.microsoft.com/office/drawing/2014/main" id="{2BAB65C0-555B-CE24-EE4E-CE298B6C15D6}"/>
              </a:ext>
            </a:extLst>
          </p:cNvPr>
          <p:cNvSpPr>
            <a:spLocks noGrp="1"/>
          </p:cNvSpPr>
          <p:nvPr>
            <p:ph sz="half" idx="1"/>
          </p:nvPr>
        </p:nvSpPr>
        <p:spPr/>
        <p:txBody>
          <a:bodyPr vert="horz" lIns="91440" tIns="45720" rIns="91440" bIns="45720" rtlCol="0" anchor="t">
            <a:normAutofit/>
          </a:bodyPr>
          <a:lstStyle/>
          <a:p>
            <a:r>
              <a:rPr lang="hr-HR" dirty="0"/>
              <a:t>Detaljan model vrlo blizak konačnom vizualnom prikazu.</a:t>
            </a:r>
          </a:p>
          <a:p>
            <a:r>
              <a:rPr lang="hr-HR" dirty="0"/>
              <a:t>Fokus: razumijevanje sadržaja, usklađenost s brendom, vizualna hijerarhija.</a:t>
            </a:r>
          </a:p>
          <a:p>
            <a:r>
              <a:rPr lang="hr-HR" dirty="0"/>
              <a:t>Preporučeni alati: softver za izradu </a:t>
            </a:r>
            <a:r>
              <a:rPr lang="hr-HR" dirty="0" err="1"/>
              <a:t>wireframeova</a:t>
            </a:r>
            <a:r>
              <a:rPr lang="hr-HR" dirty="0"/>
              <a:t>.</a:t>
            </a:r>
          </a:p>
          <a:p>
            <a:r>
              <a:rPr lang="hr-HR" dirty="0"/>
              <a:t>Interakcija: statična, sekvencijalna ili animirana.</a:t>
            </a:r>
          </a:p>
        </p:txBody>
      </p:sp>
      <p:pic>
        <p:nvPicPr>
          <p:cNvPr id="6" name="Base / Left-Right" descr="preencoded.png">
            <a:extLst>
              <a:ext uri="{FF2B5EF4-FFF2-40B4-BE49-F238E27FC236}">
                <a16:creationId xmlns:a16="http://schemas.microsoft.com/office/drawing/2014/main" id="{7A8D5335-1566-549B-3667-9771D8DED658}"/>
              </a:ext>
            </a:extLst>
          </p:cNvPr>
          <p:cNvPicPr>
            <a:picLocks noChangeAspect="1"/>
          </p:cNvPicPr>
          <p:nvPr/>
        </p:nvPicPr>
        <p:blipFill>
          <a:blip r:embed="rId2"/>
          <a:srcRect l="51572" t="1328"/>
          <a:stretch/>
        </p:blipFill>
        <p:spPr>
          <a:xfrm>
            <a:off x="7150340" y="1869057"/>
            <a:ext cx="3733325" cy="4308419"/>
          </a:xfrm>
          <a:prstGeom prst="rect">
            <a:avLst/>
          </a:prstGeom>
        </p:spPr>
      </p:pic>
      <p:sp>
        <p:nvSpPr>
          <p:cNvPr id="4" name="TextBox 3">
            <a:extLst>
              <a:ext uri="{FF2B5EF4-FFF2-40B4-BE49-F238E27FC236}">
                <a16:creationId xmlns:a16="http://schemas.microsoft.com/office/drawing/2014/main" id="{0F40B2BF-FD87-1248-6B85-769496C622F0}"/>
              </a:ext>
            </a:extLst>
          </p:cNvPr>
          <p:cNvSpPr txBox="1"/>
          <p:nvPr/>
        </p:nvSpPr>
        <p:spPr>
          <a:xfrm>
            <a:off x="9857603" y="6215876"/>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2677666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A5B6-AA3F-A317-EB5F-FB343A59B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16DBE-D405-31E9-2132-D9D58834C4F8}"/>
              </a:ext>
            </a:extLst>
          </p:cNvPr>
          <p:cNvSpPr>
            <a:spLocks noGrp="1"/>
          </p:cNvSpPr>
          <p:nvPr>
            <p:ph type="title"/>
          </p:nvPr>
        </p:nvSpPr>
        <p:spPr/>
        <p:txBody>
          <a:bodyPr/>
          <a:lstStyle/>
          <a:p>
            <a:r>
              <a:rPr lang="en-US">
                <a:latin typeface="Bahnschrift SemiBold"/>
              </a:rPr>
              <a:t>High-fi wireframe </a:t>
            </a:r>
            <a:endParaRPr lang="en-US"/>
          </a:p>
        </p:txBody>
      </p:sp>
      <p:sp>
        <p:nvSpPr>
          <p:cNvPr id="4" name="Avantages">
            <a:extLst>
              <a:ext uri="{FF2B5EF4-FFF2-40B4-BE49-F238E27FC236}">
                <a16:creationId xmlns:a16="http://schemas.microsoft.com/office/drawing/2014/main" id="{059DC701-D51C-A5F8-0A66-632502CF8CCF}"/>
              </a:ext>
            </a:extLst>
          </p:cNvPr>
          <p:cNvSpPr/>
          <p:nvPr/>
        </p:nvSpPr>
        <p:spPr>
          <a:xfrm>
            <a:off x="8255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Prednosti</a:t>
            </a:r>
            <a:endParaRPr lang="en-US" sz="1800" dirty="0">
              <a:latin typeface="Bahnschrift SemiLight" panose="020B0502040204020203" pitchFamily="34" charset="0"/>
            </a:endParaRPr>
          </a:p>
        </p:txBody>
      </p:sp>
      <p:sp>
        <p:nvSpPr>
          <p:cNvPr id="6" name="Avantage Avantage Avantage Avantage Avantage">
            <a:extLst>
              <a:ext uri="{FF2B5EF4-FFF2-40B4-BE49-F238E27FC236}">
                <a16:creationId xmlns:a16="http://schemas.microsoft.com/office/drawing/2014/main" id="{7ECD05EC-A4D1-2371-BC20-C46BF28D3A23}"/>
              </a:ext>
            </a:extLst>
          </p:cNvPr>
          <p:cNvSpPr/>
          <p:nvPr/>
        </p:nvSpPr>
        <p:spPr>
          <a:xfrm>
            <a:off x="825500" y="2927350"/>
            <a:ext cx="5143500" cy="238125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Pouzdani rezultati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Integracija u korisnički tijek (</a:t>
            </a:r>
            <a:r>
              <a:rPr lang="hr-HR" sz="1600" dirty="0" err="1">
                <a:solidFill>
                  <a:srgbClr val="000000"/>
                </a:solidFill>
                <a:latin typeface="Bahnschrift SemiLight" panose="020B0502040204020203" pitchFamily="34" charset="0"/>
                <a:ea typeface="Satoshi Regular" pitchFamily="34" charset="-122"/>
                <a:cs typeface="Satoshi Regular" pitchFamily="34" charset="-120"/>
              </a:rPr>
              <a:t>flow</a:t>
            </a:r>
            <a:r>
              <a:rPr lang="hr-HR"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Realističnije ponašanje testnih korisnika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Faza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dorade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dizajner</a:t>
            </a:r>
            <a:r>
              <a:rPr lang="en-US" sz="1600" dirty="0">
                <a:solidFill>
                  <a:srgbClr val="000000"/>
                </a:solidFill>
                <a:latin typeface="Bahnschrift SemiLight" panose="020B0502040204020203" pitchFamily="34" charset="0"/>
                <a:ea typeface="Satoshi Regular" pitchFamily="34" charset="-122"/>
                <a:cs typeface="Satoshi Regular" pitchFamily="34" charset="-120"/>
              </a:rPr>
              <a:t> se ne mora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brinuti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o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tehničkoj</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izvedbi</a:t>
            </a:r>
            <a:r>
              <a:rPr lang="en-US" sz="1600" dirty="0">
                <a:solidFill>
                  <a:srgbClr val="000000"/>
                </a:solidFill>
                <a:latin typeface="Bahnschrift SemiLight" panose="020B0502040204020203" pitchFamily="34" charset="0"/>
                <a:ea typeface="Satoshi Regular" pitchFamily="34" charset="-122"/>
                <a:cs typeface="Satoshi Regular" pitchFamily="34" charset="-120"/>
              </a:rPr>
              <a:t>/</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realizaciji</a:t>
            </a:r>
            <a:endParaRPr lang="en-US" sz="1600" dirty="0">
              <a:latin typeface="Bahnschrift SemiLight" panose="020B0502040204020203" pitchFamily="34" charset="0"/>
            </a:endParaRPr>
          </a:p>
        </p:txBody>
      </p:sp>
      <p:sp>
        <p:nvSpPr>
          <p:cNvPr id="10" name="Dsavantages">
            <a:extLst>
              <a:ext uri="{FF2B5EF4-FFF2-40B4-BE49-F238E27FC236}">
                <a16:creationId xmlns:a16="http://schemas.microsoft.com/office/drawing/2014/main" id="{9D09D522-5AD4-FFE9-9121-104F8C323982}"/>
              </a:ext>
            </a:extLst>
          </p:cNvPr>
          <p:cNvSpPr/>
          <p:nvPr/>
        </p:nvSpPr>
        <p:spPr>
          <a:xfrm>
            <a:off x="63373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Nedostaci</a:t>
            </a:r>
            <a:endParaRPr lang="en-US" sz="1800" dirty="0">
              <a:latin typeface="Bahnschrift SemiLight" panose="020B0502040204020203" pitchFamily="34" charset="0"/>
            </a:endParaRPr>
          </a:p>
        </p:txBody>
      </p:sp>
      <p:sp>
        <p:nvSpPr>
          <p:cNvPr id="14" name="Dsavantage Dsavantage Dsavantage Dsavantage Dsavantage">
            <a:extLst>
              <a:ext uri="{FF2B5EF4-FFF2-40B4-BE49-F238E27FC236}">
                <a16:creationId xmlns:a16="http://schemas.microsoft.com/office/drawing/2014/main" id="{FC176AF1-9733-2159-D27B-CB4387865017}"/>
              </a:ext>
            </a:extLst>
          </p:cNvPr>
          <p:cNvSpPr/>
          <p:nvPr/>
        </p:nvSpPr>
        <p:spPr>
          <a:xfrm>
            <a:off x="6337300" y="2927350"/>
            <a:ext cx="5143500" cy="205740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Dizajner nije sklon izmjenama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Priprema materijala za testiranje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Približna simulacija interakcija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Važnost prezentiranja testiranja </a:t>
            </a:r>
            <a:r>
              <a:rPr lang="en-US" sz="1600" dirty="0">
                <a:solidFill>
                  <a:srgbClr val="000000"/>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66961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AB4F-BE3A-8C60-0381-86935CF40F3C}"/>
              </a:ext>
            </a:extLst>
          </p:cNvPr>
          <p:cNvSpPr>
            <a:spLocks noGrp="1"/>
          </p:cNvSpPr>
          <p:nvPr>
            <p:ph type="title"/>
          </p:nvPr>
        </p:nvSpPr>
        <p:spPr/>
        <p:txBody>
          <a:bodyPr/>
          <a:lstStyle/>
          <a:p>
            <a:r>
              <a:rPr lang="hr-HR" dirty="0"/>
              <a:t>Interaktivno </a:t>
            </a:r>
            <a:r>
              <a:rPr lang="hr-HR" dirty="0" err="1"/>
              <a:t>prototipiranje</a:t>
            </a:r>
            <a:endParaRPr lang="en-US" dirty="0"/>
          </a:p>
        </p:txBody>
      </p:sp>
      <p:sp>
        <p:nvSpPr>
          <p:cNvPr id="3" name="Content Placeholder 2">
            <a:extLst>
              <a:ext uri="{FF2B5EF4-FFF2-40B4-BE49-F238E27FC236}">
                <a16:creationId xmlns:a16="http://schemas.microsoft.com/office/drawing/2014/main" id="{5311893D-BA22-24C5-D080-82B74B944A0F}"/>
              </a:ext>
            </a:extLst>
          </p:cNvPr>
          <p:cNvSpPr>
            <a:spLocks noGrp="1"/>
          </p:cNvSpPr>
          <p:nvPr>
            <p:ph sz="half" idx="1"/>
          </p:nvPr>
        </p:nvSpPr>
        <p:spPr/>
        <p:txBody>
          <a:bodyPr vert="horz" lIns="91440" tIns="45720" rIns="91440" bIns="45720" rtlCol="0" anchor="t">
            <a:normAutofit fontScale="85000" lnSpcReduction="20000"/>
          </a:bodyPr>
          <a:lstStyle/>
          <a:p>
            <a:r>
              <a:rPr lang="hr-HR" dirty="0"/>
              <a:t>Model koji je više ili manje blizak konačnom vizualnom i funkcionalnom prikazu.</a:t>
            </a:r>
          </a:p>
          <a:p>
            <a:endParaRPr lang="hr-HR" dirty="0"/>
          </a:p>
          <a:p>
            <a:r>
              <a:rPr lang="hr-HR" dirty="0"/>
              <a:t>Fokus: razumijevanje korisničkog toka (</a:t>
            </a:r>
            <a:r>
              <a:rPr lang="hr-HR" dirty="0" err="1"/>
              <a:t>flow</a:t>
            </a:r>
            <a:r>
              <a:rPr lang="hr-HR" dirty="0"/>
              <a:t>), interakcija, </a:t>
            </a:r>
            <a:r>
              <a:rPr lang="hr-HR" dirty="0" err="1"/>
              <a:t>affordancea</a:t>
            </a:r>
            <a:r>
              <a:rPr lang="hr-HR" dirty="0"/>
              <a:t> i validacija scenarija.</a:t>
            </a:r>
          </a:p>
          <a:p>
            <a:endParaRPr lang="hr-HR" dirty="0"/>
          </a:p>
          <a:p>
            <a:r>
              <a:rPr lang="hr-HR" dirty="0"/>
              <a:t>Preporučeni alati: softver za </a:t>
            </a:r>
            <a:r>
              <a:rPr lang="hr-HR" dirty="0" err="1"/>
              <a:t>prototipiranje</a:t>
            </a:r>
            <a:r>
              <a:rPr lang="hr-HR" dirty="0"/>
              <a:t>, HTML.</a:t>
            </a:r>
          </a:p>
          <a:p>
            <a:endParaRPr lang="hr-HR" dirty="0"/>
          </a:p>
          <a:p>
            <a:r>
              <a:rPr lang="hr-HR" dirty="0"/>
              <a:t>Interakcija: sekvencijalna i/ili animirana.</a:t>
            </a:r>
          </a:p>
        </p:txBody>
      </p:sp>
      <p:sp>
        <p:nvSpPr>
          <p:cNvPr id="4" name="Content Placeholder 3">
            <a:extLst>
              <a:ext uri="{FF2B5EF4-FFF2-40B4-BE49-F238E27FC236}">
                <a16:creationId xmlns:a16="http://schemas.microsoft.com/office/drawing/2014/main" id="{EF45372E-BF5F-827A-C413-5B1F72D02A56}"/>
              </a:ext>
            </a:extLst>
          </p:cNvPr>
          <p:cNvSpPr>
            <a:spLocks noGrp="1"/>
          </p:cNvSpPr>
          <p:nvPr>
            <p:ph sz="half" idx="2"/>
          </p:nvPr>
        </p:nvSpPr>
        <p:spPr/>
        <p:txBody>
          <a:bodyPr>
            <a:normAutofit fontScale="85000" lnSpcReduction="20000"/>
          </a:bodyPr>
          <a:lstStyle/>
          <a:p>
            <a:endParaRPr lang="en-US"/>
          </a:p>
        </p:txBody>
      </p:sp>
      <p:pic>
        <p:nvPicPr>
          <p:cNvPr id="6" name="Base / Left-Right" descr="preencoded.png">
            <a:extLst>
              <a:ext uri="{FF2B5EF4-FFF2-40B4-BE49-F238E27FC236}">
                <a16:creationId xmlns:a16="http://schemas.microsoft.com/office/drawing/2014/main" id="{475FE0E1-E3F8-9DE8-B77F-56E125A90370}"/>
              </a:ext>
            </a:extLst>
          </p:cNvPr>
          <p:cNvPicPr>
            <a:picLocks noChangeAspect="1"/>
          </p:cNvPicPr>
          <p:nvPr/>
        </p:nvPicPr>
        <p:blipFill>
          <a:blip r:embed="rId2"/>
          <a:srcRect l="50776" b="-77"/>
          <a:stretch/>
        </p:blipFill>
        <p:spPr>
          <a:xfrm>
            <a:off x="6148552" y="1823545"/>
            <a:ext cx="3846795" cy="4356543"/>
          </a:xfrm>
          <a:prstGeom prst="rect">
            <a:avLst/>
          </a:prstGeom>
        </p:spPr>
      </p:pic>
      <p:sp>
        <p:nvSpPr>
          <p:cNvPr id="5" name="TextBox 4">
            <a:extLst>
              <a:ext uri="{FF2B5EF4-FFF2-40B4-BE49-F238E27FC236}">
                <a16:creationId xmlns:a16="http://schemas.microsoft.com/office/drawing/2014/main" id="{2E9170EA-9C66-A4C1-426E-F9734DC03DD8}"/>
              </a:ext>
            </a:extLst>
          </p:cNvPr>
          <p:cNvSpPr txBox="1"/>
          <p:nvPr/>
        </p:nvSpPr>
        <p:spPr>
          <a:xfrm>
            <a:off x="9857603" y="6215876"/>
            <a:ext cx="1349976" cy="276999"/>
          </a:xfrm>
          <a:prstGeom prst="rect">
            <a:avLst/>
          </a:prstGeom>
          <a:noFill/>
        </p:spPr>
        <p:txBody>
          <a:bodyPr wrap="square">
            <a:spAutoFit/>
          </a:bodyPr>
          <a:lstStyle/>
          <a:p>
            <a:r>
              <a:rPr lang="fr-FR" sz="1200" dirty="0">
                <a:latin typeface="Bahnschrift"/>
                <a:ea typeface="Calibri"/>
                <a:cs typeface="Calibri"/>
              </a:rPr>
              <a:t>Source : JEMS</a:t>
            </a:r>
          </a:p>
        </p:txBody>
      </p:sp>
    </p:spTree>
    <p:extLst>
      <p:ext uri="{BB962C8B-B14F-4D97-AF65-F5344CB8AC3E}">
        <p14:creationId xmlns:p14="http://schemas.microsoft.com/office/powerpoint/2010/main" val="2516545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A59B7-99F2-96E0-8F36-811CE3E625B1}"/>
              </a:ext>
            </a:extLst>
          </p:cNvPr>
          <p:cNvSpPr>
            <a:spLocks noGrp="1"/>
          </p:cNvSpPr>
          <p:nvPr>
            <p:ph type="title"/>
          </p:nvPr>
        </p:nvSpPr>
        <p:spPr/>
        <p:txBody>
          <a:bodyPr/>
          <a:lstStyle/>
          <a:p>
            <a:r>
              <a:rPr lang="hr-HR" dirty="0"/>
              <a:t>Interaktivno </a:t>
            </a:r>
            <a:r>
              <a:rPr lang="hr-HR" dirty="0" err="1"/>
              <a:t>prototipiranje</a:t>
            </a:r>
            <a:endParaRPr lang="en-US" dirty="0">
              <a:latin typeface="Bahnschrift SemiBold"/>
            </a:endParaRPr>
          </a:p>
        </p:txBody>
      </p:sp>
      <p:sp>
        <p:nvSpPr>
          <p:cNvPr id="7" name="Avantages">
            <a:extLst>
              <a:ext uri="{FF2B5EF4-FFF2-40B4-BE49-F238E27FC236}">
                <a16:creationId xmlns:a16="http://schemas.microsoft.com/office/drawing/2014/main" id="{1698B64F-5D98-89D4-38F6-E7E7BAD0A714}"/>
              </a:ext>
            </a:extLst>
          </p:cNvPr>
          <p:cNvSpPr/>
          <p:nvPr/>
        </p:nvSpPr>
        <p:spPr>
          <a:xfrm>
            <a:off x="768351"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rPr>
              <a:t>Prednosti</a:t>
            </a:r>
            <a:endParaRPr lang="en-US" sz="1800" dirty="0">
              <a:latin typeface="Bahnschrift SemiLight" panose="020B0502040204020203" pitchFamily="34" charset="0"/>
            </a:endParaRPr>
          </a:p>
        </p:txBody>
      </p:sp>
      <p:sp>
        <p:nvSpPr>
          <p:cNvPr id="9" name="Avantage Avantage Avantage Avantage Avantage">
            <a:extLst>
              <a:ext uri="{FF2B5EF4-FFF2-40B4-BE49-F238E27FC236}">
                <a16:creationId xmlns:a16="http://schemas.microsoft.com/office/drawing/2014/main" id="{13B36C60-BCCD-C67E-2C7D-E8FA22DE29AF}"/>
              </a:ext>
            </a:extLst>
          </p:cNvPr>
          <p:cNvSpPr/>
          <p:nvPr/>
        </p:nvSpPr>
        <p:spPr>
          <a:xfrm>
            <a:off x="825500" y="2927350"/>
            <a:ext cx="5143500" cy="180340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Pouzdani rezultati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Lagano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kontekstualiziranje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testiranja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ako</a:t>
            </a:r>
            <a:r>
              <a:rPr lang="en-US" sz="1600" dirty="0">
                <a:solidFill>
                  <a:srgbClr val="000000"/>
                </a:solidFill>
                <a:latin typeface="Bahnschrift SemiLight" panose="020B0502040204020203" pitchFamily="34" charset="0"/>
                <a:ea typeface="Satoshi Regular" pitchFamily="34" charset="-122"/>
                <a:cs typeface="Satoshi Regular" pitchFamily="34" charset="-120"/>
              </a:rPr>
              <a:t> je High-Fidelity)</a:t>
            </a:r>
            <a:r>
              <a:rPr lang="hr-HR"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Faza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dorade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dizajner</a:t>
            </a:r>
            <a:r>
              <a:rPr lang="en-US" sz="1600" dirty="0">
                <a:solidFill>
                  <a:srgbClr val="000000"/>
                </a:solidFill>
                <a:latin typeface="Bahnschrift SemiLight" panose="020B0502040204020203" pitchFamily="34" charset="0"/>
                <a:ea typeface="Satoshi Regular" pitchFamily="34" charset="-122"/>
                <a:cs typeface="Satoshi Regular" pitchFamily="34" charset="-120"/>
              </a:rPr>
              <a:t> se ne mora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brinuti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o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tehničkoj</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realizaciji</a:t>
            </a:r>
            <a:r>
              <a:rPr lang="en-US" sz="1600" dirty="0">
                <a:solidFill>
                  <a:srgbClr val="000000"/>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
        <p:nvSpPr>
          <p:cNvPr id="11" name="Dsavantages">
            <a:extLst>
              <a:ext uri="{FF2B5EF4-FFF2-40B4-BE49-F238E27FC236}">
                <a16:creationId xmlns:a16="http://schemas.microsoft.com/office/drawing/2014/main" id="{E5FC1D6B-B6C2-7FBF-B5C1-13A344F33C0A}"/>
              </a:ext>
            </a:extLst>
          </p:cNvPr>
          <p:cNvSpPr/>
          <p:nvPr/>
        </p:nvSpPr>
        <p:spPr>
          <a:xfrm>
            <a:off x="6337300" y="2228850"/>
            <a:ext cx="5086350" cy="27305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160"/>
              </a:lnSpc>
              <a:buNone/>
            </a:pPr>
            <a:r>
              <a:rPr lang="hr-HR" sz="1800" b="1" dirty="0">
                <a:solidFill>
                  <a:srgbClr val="222222"/>
                </a:solidFill>
                <a:latin typeface="Bahnschrift SemiLight" panose="020B0502040204020203" pitchFamily="34" charset="0"/>
                <a:ea typeface="Satoshi Bold" pitchFamily="34" charset="-122"/>
                <a:cs typeface="Satoshi Bold" pitchFamily="34" charset="-120"/>
              </a:rPr>
              <a:t>Nedostaci</a:t>
            </a:r>
            <a:endParaRPr lang="en-US" sz="1800" dirty="0">
              <a:latin typeface="Bahnschrift SemiLight" panose="020B0502040204020203" pitchFamily="34" charset="0"/>
            </a:endParaRPr>
          </a:p>
        </p:txBody>
      </p:sp>
      <p:sp>
        <p:nvSpPr>
          <p:cNvPr id="13" name="Dsavantage Dsavantage Dsavantage Dsavantage Dsavantage">
            <a:extLst>
              <a:ext uri="{FF2B5EF4-FFF2-40B4-BE49-F238E27FC236}">
                <a16:creationId xmlns:a16="http://schemas.microsoft.com/office/drawing/2014/main" id="{93BD6D4B-DEBE-3F4C-C32F-E30774F0766F}"/>
              </a:ext>
            </a:extLst>
          </p:cNvPr>
          <p:cNvSpPr/>
          <p:nvPr/>
        </p:nvSpPr>
        <p:spPr>
          <a:xfrm>
            <a:off x="6337300" y="2927350"/>
            <a:ext cx="5143500" cy="2381250"/>
          </a:xfrm>
          <a:prstGeom prst="rect">
            <a:avLst/>
          </a:prstGeom>
          <a:noFill/>
          <a:ln/>
        </p:spPr>
        <p:txBody>
          <a:bodyPr wrap="square" lIns="254000" tIns="254000" rIns="254000" bIns="25400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03210" indent="-203210" algn="l">
              <a:lnSpc>
                <a:spcPts val="2560"/>
              </a:lnSpc>
              <a:buSzPct val="100000"/>
              <a:buChar char="•"/>
            </a:pPr>
            <a:r>
              <a:rPr lang="hr-HR" sz="1600" dirty="0">
                <a:solidFill>
                  <a:srgbClr val="000000"/>
                </a:solidFill>
                <a:latin typeface="Bahnschrift SemiLight" panose="020B0502040204020203" pitchFamily="34" charset="0"/>
                <a:ea typeface="Satoshi Regular" pitchFamily="34" charset="-122"/>
                <a:cs typeface="Satoshi Regular" pitchFamily="34" charset="-120"/>
              </a:rPr>
              <a:t>Dizajner nije sklon izmjenama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Potrebni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su</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resursi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(development) za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simulaciju</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interakcija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ako</a:t>
            </a:r>
            <a:r>
              <a:rPr lang="en-US" sz="1600" dirty="0">
                <a:solidFill>
                  <a:srgbClr val="000000"/>
                </a:solidFill>
                <a:latin typeface="Bahnschrift SemiLight" panose="020B0502040204020203" pitchFamily="34" charset="0"/>
                <a:ea typeface="Satoshi Regular" pitchFamily="34" charset="-122"/>
                <a:cs typeface="Satoshi Regular" pitchFamily="34" charset="-120"/>
              </a:rPr>
              <a:t> se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želi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ići</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en-US" sz="1600" dirty="0" err="1">
                <a:solidFill>
                  <a:srgbClr val="000000"/>
                </a:solidFill>
                <a:latin typeface="Bahnschrift SemiLight" panose="020B0502040204020203" pitchFamily="34" charset="0"/>
                <a:ea typeface="Satoshi Regular" pitchFamily="34" charset="-122"/>
                <a:cs typeface="Satoshi Regular" pitchFamily="34" charset="-120"/>
              </a:rPr>
              <a:t>dalje</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Rizik od </a:t>
            </a:r>
            <a:r>
              <a:rPr lang="hr-HR" sz="1600" dirty="0" err="1">
                <a:solidFill>
                  <a:srgbClr val="000000"/>
                </a:solidFill>
                <a:latin typeface="Bahnschrift SemiLight" panose="020B0502040204020203" pitchFamily="34" charset="0"/>
                <a:ea typeface="Satoshi Regular" pitchFamily="34" charset="-122"/>
                <a:cs typeface="Satoshi Regular" pitchFamily="34" charset="-120"/>
              </a:rPr>
              <a:t>bugova</a:t>
            </a:r>
            <a:r>
              <a:rPr lang="en-US" sz="1600" dirty="0">
                <a:solidFill>
                  <a:srgbClr val="000000"/>
                </a:solidFill>
                <a:latin typeface="Bahnschrift SemiLight" panose="020B0502040204020203" pitchFamily="34" charset="0"/>
                <a:ea typeface="Satoshi Regular" pitchFamily="34" charset="-122"/>
                <a:cs typeface="Satoshi Regular" pitchFamily="34" charset="-120"/>
              </a:rPr>
              <a:t>
 </a:t>
            </a:r>
            <a:r>
              <a:rPr lang="hr-HR" sz="1600" dirty="0">
                <a:solidFill>
                  <a:srgbClr val="000000"/>
                </a:solidFill>
                <a:latin typeface="Bahnschrift SemiLight" panose="020B0502040204020203" pitchFamily="34" charset="0"/>
                <a:ea typeface="Satoshi Regular" pitchFamily="34" charset="-122"/>
                <a:cs typeface="Satoshi Regular" pitchFamily="34" charset="-120"/>
              </a:rPr>
              <a:t>Prezentacija/validacija važnih testiranja </a:t>
            </a:r>
            <a:r>
              <a:rPr lang="en-US" sz="1600" dirty="0">
                <a:solidFill>
                  <a:srgbClr val="000000"/>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24876714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BDA3-B61B-F9D0-F569-B9D4BC389E84}"/>
              </a:ext>
            </a:extLst>
          </p:cNvPr>
          <p:cNvSpPr>
            <a:spLocks noGrp="1"/>
          </p:cNvSpPr>
          <p:nvPr>
            <p:ph type="title"/>
          </p:nvPr>
        </p:nvSpPr>
        <p:spPr/>
        <p:txBody>
          <a:bodyPr/>
          <a:lstStyle/>
          <a:p>
            <a:r>
              <a:rPr lang="hr-HR" dirty="0"/>
              <a:t>Što</a:t>
            </a:r>
            <a:r>
              <a:rPr lang="en-US" dirty="0"/>
              <a:t> ? </a:t>
            </a:r>
            <a:r>
              <a:rPr lang="hr-HR" dirty="0"/>
              <a:t>Kada</a:t>
            </a:r>
            <a:r>
              <a:rPr lang="en-US" dirty="0"/>
              <a:t> ? </a:t>
            </a:r>
          </a:p>
        </p:txBody>
      </p:sp>
      <p:sp>
        <p:nvSpPr>
          <p:cNvPr id="3" name="Content Placeholder 2">
            <a:extLst>
              <a:ext uri="{FF2B5EF4-FFF2-40B4-BE49-F238E27FC236}">
                <a16:creationId xmlns:a16="http://schemas.microsoft.com/office/drawing/2014/main" id="{8FC82FDC-DF7B-AE19-4DB5-43186FAF4602}"/>
              </a:ext>
            </a:extLst>
          </p:cNvPr>
          <p:cNvSpPr>
            <a:spLocks noGrp="1"/>
          </p:cNvSpPr>
          <p:nvPr>
            <p:ph sz="half" idx="1"/>
          </p:nvPr>
        </p:nvSpPr>
        <p:spPr/>
        <p:txBody>
          <a:bodyPr vert="horz" lIns="91440" tIns="45720" rIns="91440" bIns="45720" rtlCol="0" anchor="t">
            <a:normAutofit/>
          </a:bodyPr>
          <a:lstStyle/>
          <a:p>
            <a:pPr marL="0" indent="0">
              <a:buNone/>
            </a:pPr>
            <a:r>
              <a:rPr lang="hr-HR" sz="2000" b="1" dirty="0">
                <a:latin typeface="Bahnschrift SemiLight"/>
              </a:rPr>
              <a:t>Uzmite u obzir</a:t>
            </a:r>
            <a:br>
              <a:rPr lang="en-US" sz="2000" dirty="0">
                <a:latin typeface="Bahnschrift SemiLight"/>
              </a:rPr>
            </a:br>
            <a:endParaRPr lang="en-US" sz="2000" dirty="0">
              <a:latin typeface="Bahnschrift SemiLight"/>
            </a:endParaRPr>
          </a:p>
          <a:p>
            <a:r>
              <a:rPr lang="hr-HR" sz="2000" dirty="0"/>
              <a:t>Subjekt kojeg testirate</a:t>
            </a:r>
            <a:endParaRPr lang="en-US" sz="2000" dirty="0"/>
          </a:p>
          <a:p>
            <a:r>
              <a:rPr lang="hr-HR" sz="2000" dirty="0"/>
              <a:t>Radni kontekst</a:t>
            </a:r>
            <a:endParaRPr lang="en-US" sz="2000" dirty="0"/>
          </a:p>
          <a:p>
            <a:r>
              <a:rPr lang="hr-HR" sz="2000" dirty="0"/>
              <a:t>Osobne vještine subjekta</a:t>
            </a:r>
            <a:endParaRPr lang="en-US" sz="2000" dirty="0"/>
          </a:p>
          <a:p>
            <a:r>
              <a:rPr lang="hr-HR" sz="2000" dirty="0"/>
              <a:t>Osobne sklonosti</a:t>
            </a:r>
            <a:endParaRPr lang="en-US" sz="2000" dirty="0"/>
          </a:p>
          <a:p>
            <a:endParaRPr lang="en-US" sz="2000" dirty="0"/>
          </a:p>
        </p:txBody>
      </p:sp>
      <p:sp>
        <p:nvSpPr>
          <p:cNvPr id="4" name="Content Placeholder 3">
            <a:extLst>
              <a:ext uri="{FF2B5EF4-FFF2-40B4-BE49-F238E27FC236}">
                <a16:creationId xmlns:a16="http://schemas.microsoft.com/office/drawing/2014/main" id="{A7D01447-5B64-C120-AA8E-F31B013437EA}"/>
              </a:ext>
            </a:extLst>
          </p:cNvPr>
          <p:cNvSpPr>
            <a:spLocks noGrp="1"/>
          </p:cNvSpPr>
          <p:nvPr>
            <p:ph sz="half" idx="2"/>
          </p:nvPr>
        </p:nvSpPr>
        <p:spPr/>
        <p:txBody>
          <a:bodyPr vert="horz" lIns="91440" tIns="45720" rIns="91440" bIns="45720" rtlCol="0" anchor="t">
            <a:normAutofit/>
          </a:bodyPr>
          <a:lstStyle/>
          <a:p>
            <a:r>
              <a:rPr lang="hr-HR" sz="2000" b="1" dirty="0">
                <a:latin typeface="Bahnschrift SemiLight" panose="020B0502040204020203" pitchFamily="34" charset="0"/>
                <a:ea typeface="Calibri"/>
                <a:cs typeface="Calibri"/>
              </a:rPr>
              <a:t>Uzmite u obzir</a:t>
            </a:r>
            <a:br>
              <a:rPr lang="en-US" sz="2000" b="1" dirty="0">
                <a:latin typeface="Bahnschrift SemiLight" panose="020B0502040204020203" pitchFamily="34" charset="0"/>
                <a:ea typeface="Calibri"/>
                <a:cs typeface="Calibri"/>
              </a:rPr>
            </a:br>
            <a:endParaRPr lang="en-US" sz="2000" b="1" dirty="0">
              <a:latin typeface="Bahnschrift SemiLight" panose="020B0502040204020203" pitchFamily="34" charset="0"/>
              <a:ea typeface="Calibri"/>
              <a:cs typeface="Calibri"/>
            </a:endParaRPr>
          </a:p>
          <a:p>
            <a:pPr marL="514350" indent="-514350">
              <a:buChar char="•"/>
            </a:pPr>
            <a:r>
              <a:rPr lang="en-US" sz="2000" dirty="0">
                <a:latin typeface="Bahnschrift SemiLight" panose="020B0502040204020203" pitchFamily="34" charset="0"/>
                <a:ea typeface="+mn-lt"/>
                <a:cs typeface="+mn-lt"/>
              </a:rPr>
              <a:t>Lo-Fidelity </a:t>
            </a:r>
            <a:r>
              <a:rPr lang="en-US" sz="2000" dirty="0" err="1">
                <a:latin typeface="Bahnschrift SemiLight" panose="020B0502040204020203" pitchFamily="34" charset="0"/>
                <a:ea typeface="+mn-lt"/>
                <a:cs typeface="+mn-lt"/>
              </a:rPr>
              <a:t>Intera</a:t>
            </a:r>
            <a:r>
              <a:rPr lang="hr-HR" sz="2000" dirty="0" err="1">
                <a:latin typeface="Bahnschrift SemiLight" panose="020B0502040204020203" pitchFamily="34" charset="0"/>
                <a:ea typeface="+mn-lt"/>
                <a:cs typeface="+mn-lt"/>
              </a:rPr>
              <a:t>ktivni</a:t>
            </a:r>
            <a:r>
              <a:rPr lang="hr-HR" sz="2000" dirty="0">
                <a:latin typeface="Bahnschrift SemiLight" panose="020B0502040204020203" pitchFamily="34" charset="0"/>
                <a:ea typeface="+mn-lt"/>
                <a:cs typeface="+mn-lt"/>
              </a:rPr>
              <a:t> prototip</a:t>
            </a:r>
            <a:r>
              <a:rPr lang="en-US" sz="2000" dirty="0">
                <a:latin typeface="Bahnschrift SemiLight" panose="020B0502040204020203" pitchFamily="34" charset="0"/>
                <a:ea typeface="+mn-lt"/>
                <a:cs typeface="+mn-lt"/>
              </a:rPr>
              <a:t> : </a:t>
            </a:r>
            <a:r>
              <a:rPr lang="hr-HR" sz="2000" dirty="0">
                <a:latin typeface="Bahnschrift SemiLight" panose="020B0502040204020203" pitchFamily="34" charset="0"/>
                <a:ea typeface="+mn-lt"/>
                <a:cs typeface="+mn-lt"/>
              </a:rPr>
              <a:t>ključan i jeftin korak</a:t>
            </a:r>
            <a:endParaRPr lang="en-US" sz="2000" dirty="0">
              <a:latin typeface="Bahnschrift SemiLight" panose="020B0502040204020203" pitchFamily="34" charset="0"/>
              <a:ea typeface="Calibri"/>
              <a:cs typeface="Calibri"/>
            </a:endParaRPr>
          </a:p>
          <a:p>
            <a:pPr marL="457200" indent="-457200">
              <a:buChar char="•"/>
            </a:pPr>
            <a:r>
              <a:rPr lang="en-US" sz="2000" dirty="0" err="1">
                <a:latin typeface="Bahnschrift SemiLight" panose="020B0502040204020203" pitchFamily="34" charset="0"/>
                <a:ea typeface="+mn-lt"/>
                <a:cs typeface="+mn-lt"/>
              </a:rPr>
              <a:t>Interaktivni</a:t>
            </a:r>
            <a:r>
              <a:rPr lang="en-US" sz="2000" dirty="0">
                <a:latin typeface="Bahnschrift SemiLight" panose="020B0502040204020203" pitchFamily="34" charset="0"/>
                <a:ea typeface="+mn-lt"/>
                <a:cs typeface="+mn-lt"/>
              </a:rPr>
              <a:t> high-fidelity </a:t>
            </a:r>
            <a:r>
              <a:rPr lang="en-US" sz="2000" dirty="0" err="1">
                <a:latin typeface="Bahnschrift SemiLight" panose="020B0502040204020203" pitchFamily="34" charset="0"/>
                <a:ea typeface="+mn-lt"/>
                <a:cs typeface="+mn-lt"/>
              </a:rPr>
              <a:t>prototip</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nužan</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kod</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velikih</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projekata</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prije</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početka</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razvoja</a:t>
            </a:r>
            <a:r>
              <a:rPr lang="en-US" sz="2000" dirty="0">
                <a:latin typeface="Bahnschrift SemiLight" panose="020B0502040204020203" pitchFamily="34" charset="0"/>
                <a:ea typeface="+mn-lt"/>
                <a:cs typeface="+mn-lt"/>
              </a:rPr>
              <a:t>.</a:t>
            </a:r>
            <a:endParaRPr lang="en-US" sz="2000" dirty="0">
              <a:latin typeface="Bahnschrift SemiLight" panose="020B0502040204020203" pitchFamily="34" charset="0"/>
            </a:endParaRPr>
          </a:p>
          <a:p>
            <a:r>
              <a:rPr lang="en-US" sz="2000" dirty="0" err="1">
                <a:latin typeface="Bahnschrift SemiLight" panose="020B0502040204020203" pitchFamily="34" charset="0"/>
                <a:ea typeface="+mn-lt"/>
                <a:cs typeface="+mn-lt"/>
              </a:rPr>
              <a:t>Napomena</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nije</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obavezno</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kombinirati</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sve</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vrste</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prototipova</a:t>
            </a:r>
            <a:r>
              <a:rPr lang="en-US" sz="2000" dirty="0">
                <a:latin typeface="Bahnschrift SemiLight" panose="020B0502040204020203" pitchFamily="34" charset="0"/>
                <a:ea typeface="+mn-lt"/>
                <a:cs typeface="+mn-lt"/>
              </a:rPr>
              <a:t> u </a:t>
            </a:r>
            <a:r>
              <a:rPr lang="en-US" sz="2000" dirty="0" err="1">
                <a:latin typeface="Bahnschrift SemiLight" panose="020B0502040204020203" pitchFamily="34" charset="0"/>
                <a:ea typeface="+mn-lt"/>
                <a:cs typeface="+mn-lt"/>
              </a:rPr>
              <a:t>istom</a:t>
            </a:r>
            <a:r>
              <a:rPr lang="en-US" sz="2000" dirty="0">
                <a:latin typeface="Bahnschrift SemiLight" panose="020B0502040204020203" pitchFamily="34" charset="0"/>
                <a:ea typeface="+mn-lt"/>
                <a:cs typeface="+mn-lt"/>
              </a:rPr>
              <a:t> </a:t>
            </a:r>
            <a:r>
              <a:rPr lang="en-US" sz="2000" dirty="0" err="1">
                <a:latin typeface="Bahnschrift SemiLight" panose="020B0502040204020203" pitchFamily="34" charset="0"/>
                <a:ea typeface="+mn-lt"/>
                <a:cs typeface="+mn-lt"/>
              </a:rPr>
              <a:t>projektu</a:t>
            </a:r>
            <a:r>
              <a:rPr lang="en-US" sz="2000" dirty="0">
                <a:latin typeface="Bahnschrift SemiLight" panose="020B0502040204020203" pitchFamily="34" charset="0"/>
                <a:ea typeface="+mn-lt"/>
                <a:cs typeface="+mn-lt"/>
              </a:rPr>
              <a:t>.</a:t>
            </a:r>
            <a:endParaRPr lang="en-US" sz="2000" dirty="0">
              <a:latin typeface="Bahnschrift SemiLight" panose="020B0502040204020203" pitchFamily="34" charset="0"/>
            </a:endParaRPr>
          </a:p>
        </p:txBody>
      </p:sp>
    </p:spTree>
    <p:extLst>
      <p:ext uri="{BB962C8B-B14F-4D97-AF65-F5344CB8AC3E}">
        <p14:creationId xmlns:p14="http://schemas.microsoft.com/office/powerpoint/2010/main" val="11871876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C04A9-4876-49BF-AF2E-9EB6C4827A24}"/>
              </a:ext>
            </a:extLst>
          </p:cNvPr>
          <p:cNvSpPr>
            <a:spLocks noGrp="1"/>
          </p:cNvSpPr>
          <p:nvPr>
            <p:ph type="title"/>
          </p:nvPr>
        </p:nvSpPr>
        <p:spPr/>
        <p:txBody>
          <a:bodyPr/>
          <a:lstStyle/>
          <a:p>
            <a:r>
              <a:rPr lang="hr-HR" dirty="0">
                <a:latin typeface="Bahnschrift SemiBold"/>
              </a:rPr>
              <a:t>Vježba</a:t>
            </a:r>
            <a:endParaRPr lang="en-US" dirty="0"/>
          </a:p>
        </p:txBody>
      </p:sp>
      <p:sp>
        <p:nvSpPr>
          <p:cNvPr id="3" name="Content Placeholder 2">
            <a:extLst>
              <a:ext uri="{FF2B5EF4-FFF2-40B4-BE49-F238E27FC236}">
                <a16:creationId xmlns:a16="http://schemas.microsoft.com/office/drawing/2014/main" id="{DB924B93-CC9B-B968-1C43-48B4E63BDBED}"/>
              </a:ext>
            </a:extLst>
          </p:cNvPr>
          <p:cNvSpPr>
            <a:spLocks noGrp="1"/>
          </p:cNvSpPr>
          <p:nvPr>
            <p:ph idx="1"/>
          </p:nvPr>
        </p:nvSpPr>
        <p:spPr/>
        <p:txBody>
          <a:bodyPr vert="horz" lIns="91440" tIns="45720" rIns="91440" bIns="45720" rtlCol="0" anchor="t">
            <a:normAutofit/>
          </a:bodyPr>
          <a:lstStyle/>
          <a:p>
            <a:r>
              <a:rPr lang="hr-HR" dirty="0">
                <a:latin typeface="Bahnschrift SemiLight"/>
              </a:rPr>
              <a:t>Idite u dokument </a:t>
            </a:r>
            <a:r>
              <a:rPr lang="en-US" dirty="0" err="1">
                <a:latin typeface="Bahnschrift SemiLight"/>
              </a:rPr>
              <a:t>figma</a:t>
            </a:r>
            <a:r>
              <a:rPr lang="hr-HR" dirty="0">
                <a:latin typeface="Bahnschrift SemiLight"/>
              </a:rPr>
              <a:t> i vježbajte u </a:t>
            </a:r>
            <a:r>
              <a:rPr lang="hr-HR" dirty="0" err="1">
                <a:latin typeface="Bahnschrift SemiLight"/>
              </a:rPr>
              <a:t>Figmi</a:t>
            </a:r>
            <a:endParaRPr lang="en-US" dirty="0"/>
          </a:p>
        </p:txBody>
      </p:sp>
    </p:spTree>
    <p:extLst>
      <p:ext uri="{BB962C8B-B14F-4D97-AF65-F5344CB8AC3E}">
        <p14:creationId xmlns:p14="http://schemas.microsoft.com/office/powerpoint/2010/main" val="28687438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0177-B953-40CD-352C-1886B9DF8FA2}"/>
              </a:ext>
            </a:extLst>
          </p:cNvPr>
          <p:cNvSpPr>
            <a:spLocks noGrp="1"/>
          </p:cNvSpPr>
          <p:nvPr>
            <p:ph type="title"/>
          </p:nvPr>
        </p:nvSpPr>
        <p:spPr/>
        <p:txBody>
          <a:bodyPr/>
          <a:lstStyle/>
          <a:p>
            <a:r>
              <a:rPr lang="hr-HR" sz="3600" dirty="0">
                <a:latin typeface="Bahnschrift SemiBold"/>
              </a:rPr>
              <a:t>Sažetak</a:t>
            </a:r>
            <a:endParaRPr lang="fr-BE" sz="3600" dirty="0">
              <a:latin typeface="Bahnschrift SemiBold"/>
            </a:endParaRPr>
          </a:p>
        </p:txBody>
      </p:sp>
      <p:sp>
        <p:nvSpPr>
          <p:cNvPr id="4" name="TextBox 3">
            <a:extLst>
              <a:ext uri="{FF2B5EF4-FFF2-40B4-BE49-F238E27FC236}">
                <a16:creationId xmlns:a16="http://schemas.microsoft.com/office/drawing/2014/main" id="{09008594-8ECA-0466-27B4-44C981137F8C}"/>
              </a:ext>
            </a:extLst>
          </p:cNvPr>
          <p:cNvSpPr txBox="1"/>
          <p:nvPr/>
        </p:nvSpPr>
        <p:spPr>
          <a:xfrm>
            <a:off x="838200" y="1937551"/>
            <a:ext cx="9651274" cy="3970318"/>
          </a:xfrm>
          <a:prstGeom prst="rect">
            <a:avLst/>
          </a:prstGeom>
          <a:noFill/>
        </p:spPr>
        <p:txBody>
          <a:bodyPr wrap="square">
            <a:spAutoFit/>
          </a:bodyPr>
          <a:lstStyle/>
          <a:p>
            <a:pPr>
              <a:buNone/>
            </a:pPr>
            <a:r>
              <a:rPr lang="en-US" dirty="0">
                <a:solidFill>
                  <a:srgbClr val="000000"/>
                </a:solidFill>
                <a:latin typeface="Bahnschrift SemiLight"/>
                <a:ea typeface="Satoshi Regular"/>
              </a:rPr>
              <a:t>Kako </a:t>
            </a:r>
            <a:r>
              <a:rPr lang="en-US" dirty="0" err="1">
                <a:solidFill>
                  <a:srgbClr val="000000"/>
                </a:solidFill>
                <a:latin typeface="Bahnschrift SemiLight"/>
                <a:ea typeface="Satoshi Regular"/>
              </a:rPr>
              <a:t>privodimo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kraju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ovaj</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modul</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želim</a:t>
            </a:r>
            <a:r>
              <a:rPr lang="en-US" dirty="0">
                <a:solidFill>
                  <a:srgbClr val="000000"/>
                </a:solidFill>
                <a:latin typeface="Bahnschrift SemiLight"/>
                <a:ea typeface="Satoshi Regular"/>
              </a:rPr>
              <a:t> da </a:t>
            </a:r>
            <a:r>
              <a:rPr lang="en-US" dirty="0" err="1">
                <a:solidFill>
                  <a:srgbClr val="000000"/>
                </a:solidFill>
                <a:latin typeface="Bahnschrift SemiLight"/>
                <a:ea typeface="Satoshi Regular"/>
              </a:rPr>
              <a:t>zastanete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na</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trenutak</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osvijestite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koliko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napredovali</a:t>
            </a:r>
            <a:r>
              <a:rPr lang="en-US" dirty="0">
                <a:solidFill>
                  <a:srgbClr val="000000"/>
                </a:solidFill>
                <a:latin typeface="Bahnschrift SemiLight"/>
                <a:ea typeface="Satoshi Regular"/>
              </a:rPr>
              <a:t>.</a:t>
            </a:r>
            <a:endParaRPr lang="hr-HR" dirty="0">
              <a:solidFill>
                <a:srgbClr val="000000"/>
              </a:solidFill>
              <a:latin typeface="Bahnschrift SemiLight"/>
              <a:ea typeface="Satoshi Regular"/>
            </a:endParaRPr>
          </a:p>
          <a:p>
            <a:pPr marL="285750" indent="-285750">
              <a:buFont typeface="Arial" panose="020B0604020202020204" pitchFamily="34" charset="0"/>
              <a:buChar char="•"/>
            </a:pPr>
            <a:r>
              <a:rPr lang="en-US" dirty="0">
                <a:solidFill>
                  <a:srgbClr val="000000"/>
                </a:solidFill>
                <a:latin typeface="Bahnschrift SemiLight"/>
                <a:ea typeface="Satoshi Regular"/>
              </a:rPr>
              <a:t>U </a:t>
            </a:r>
            <a:r>
              <a:rPr lang="en-US" dirty="0" err="1">
                <a:solidFill>
                  <a:srgbClr val="000000"/>
                </a:solidFill>
                <a:latin typeface="Bahnschrift SemiLight"/>
                <a:ea typeface="Satoshi Regular"/>
              </a:rPr>
              <a:t>dijelu</a:t>
            </a:r>
            <a:r>
              <a:rPr lang="en-US" dirty="0">
                <a:solidFill>
                  <a:srgbClr val="000000"/>
                </a:solidFill>
                <a:latin typeface="Bahnschrift SemiLight"/>
                <a:ea typeface="Satoshi Regular"/>
              </a:rPr>
              <a:t> o Design Systems </a:t>
            </a:r>
            <a:r>
              <a:rPr lang="en-US" dirty="0" err="1">
                <a:solidFill>
                  <a:srgbClr val="000000"/>
                </a:solidFill>
                <a:latin typeface="Bahnschrift SemiLight"/>
                <a:ea typeface="Satoshi Regular"/>
              </a:rPr>
              <a:t>naučili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kako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stvoriti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dosljednost</a:t>
            </a:r>
            <a:r>
              <a:rPr lang="en-US" dirty="0">
                <a:solidFill>
                  <a:srgbClr val="000000"/>
                </a:solidFill>
                <a:latin typeface="Bahnschrift SemiLight"/>
                <a:ea typeface="Satoshi Regular"/>
              </a:rPr>
              <a:t> u </a:t>
            </a:r>
            <a:r>
              <a:rPr lang="en-US" dirty="0" err="1">
                <a:solidFill>
                  <a:srgbClr val="000000"/>
                </a:solidFill>
                <a:latin typeface="Bahnschrift SemiLight"/>
                <a:ea typeface="Satoshi Regular"/>
              </a:rPr>
              <a:t>proizvodu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kroz</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izradu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ponovljivo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upotrebljivih</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komponenti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postavljanje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jasnih</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vizualnih</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smjernica</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održavanje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koherentnosti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dizajna</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Takvi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sustavi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nisu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samo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pitanje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estetike</a:t>
            </a:r>
            <a:r>
              <a:rPr lang="en-US" dirty="0">
                <a:solidFill>
                  <a:srgbClr val="000000"/>
                </a:solidFill>
                <a:latin typeface="Bahnschrift SemiLight"/>
                <a:ea typeface="Satoshi Regular"/>
              </a:rPr>
              <a:t> — oni </a:t>
            </a:r>
            <a:r>
              <a:rPr lang="en-US" dirty="0" err="1">
                <a:solidFill>
                  <a:srgbClr val="000000"/>
                </a:solidFill>
                <a:latin typeface="Bahnschrift SemiLight"/>
                <a:ea typeface="Satoshi Regular"/>
              </a:rPr>
              <a:t>olakšavaju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suradnju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čine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dizajnerski</a:t>
            </a:r>
            <a:r>
              <a:rPr lang="en-US" dirty="0">
                <a:solidFill>
                  <a:srgbClr val="000000"/>
                </a:solidFill>
                <a:latin typeface="Bahnschrift SemiLight"/>
                <a:ea typeface="Satoshi Regular"/>
              </a:rPr>
              <a:t> rad </a:t>
            </a:r>
            <a:r>
              <a:rPr lang="en-US" dirty="0" err="1">
                <a:solidFill>
                  <a:srgbClr val="000000"/>
                </a:solidFill>
                <a:latin typeface="Bahnschrift SemiLight"/>
                <a:ea typeface="Satoshi Regular"/>
              </a:rPr>
              <a:t>učinkovitijim</a:t>
            </a:r>
            <a:r>
              <a:rPr lang="en-US" dirty="0">
                <a:solidFill>
                  <a:srgbClr val="000000"/>
                </a:solidFill>
                <a:latin typeface="Bahnschrift SemiLight"/>
                <a:ea typeface="Satoshi Regular"/>
              </a:rPr>
              <a:t>.</a:t>
            </a:r>
            <a:endParaRPr lang="hr-HR" dirty="0">
              <a:solidFill>
                <a:srgbClr val="000000"/>
              </a:solidFill>
              <a:latin typeface="Bahnschrift SemiLight"/>
              <a:ea typeface="Satoshi Regular"/>
            </a:endParaRPr>
          </a:p>
          <a:p>
            <a:pPr marL="285750" indent="-285750">
              <a:buFont typeface="Arial" panose="020B0604020202020204" pitchFamily="34" charset="0"/>
              <a:buChar char="•"/>
            </a:pPr>
            <a:r>
              <a:rPr lang="en-US" dirty="0">
                <a:solidFill>
                  <a:srgbClr val="000000"/>
                </a:solidFill>
                <a:latin typeface="Bahnschrift SemiLight"/>
                <a:ea typeface="Satoshi Regular"/>
              </a:rPr>
              <a:t>U </a:t>
            </a:r>
            <a:r>
              <a:rPr lang="en-US" dirty="0" err="1">
                <a:solidFill>
                  <a:srgbClr val="000000"/>
                </a:solidFill>
                <a:latin typeface="Bahnschrift SemiLight"/>
                <a:ea typeface="Satoshi Regular"/>
              </a:rPr>
              <a:t>dijelu</a:t>
            </a:r>
            <a:r>
              <a:rPr lang="en-US" dirty="0">
                <a:solidFill>
                  <a:srgbClr val="000000"/>
                </a:solidFill>
                <a:latin typeface="Bahnschrift SemiLight"/>
                <a:ea typeface="Satoshi Regular"/>
              </a:rPr>
              <a:t> o </a:t>
            </a:r>
            <a:r>
              <a:rPr lang="en-US" dirty="0" err="1">
                <a:solidFill>
                  <a:srgbClr val="000000"/>
                </a:solidFill>
                <a:latin typeface="Bahnschrift SemiLight"/>
                <a:ea typeface="Satoshi Regular"/>
              </a:rPr>
              <a:t>prototipiranju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istražili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kako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oživjeti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svoje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ideje</a:t>
            </a:r>
            <a:r>
              <a:rPr lang="en-US" dirty="0">
                <a:solidFill>
                  <a:srgbClr val="000000"/>
                </a:solidFill>
                <a:latin typeface="Bahnschrift SemiLight"/>
                <a:ea typeface="Satoshi Regular"/>
              </a:rPr>
              <a:t>. Od </a:t>
            </a:r>
            <a:r>
              <a:rPr lang="en-US" dirty="0" err="1">
                <a:solidFill>
                  <a:srgbClr val="000000"/>
                </a:solidFill>
                <a:latin typeface="Bahnschrift SemiLight"/>
                <a:ea typeface="Satoshi Regular"/>
              </a:rPr>
              <a:t>wireframeova</a:t>
            </a:r>
            <a:r>
              <a:rPr lang="en-US" dirty="0">
                <a:solidFill>
                  <a:srgbClr val="000000"/>
                </a:solidFill>
                <a:latin typeface="Bahnschrift SemiLight"/>
                <a:ea typeface="Satoshi Regular"/>
              </a:rPr>
              <a:t> do high-fidelity </a:t>
            </a:r>
            <a:r>
              <a:rPr lang="en-US" dirty="0" err="1">
                <a:solidFill>
                  <a:srgbClr val="000000"/>
                </a:solidFill>
                <a:latin typeface="Bahnschrift SemiLight"/>
                <a:ea typeface="Satoshi Regular"/>
              </a:rPr>
              <a:t>prototipova</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vježbali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kako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testirati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validirati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dizajn</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prije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nego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što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dođe</a:t>
            </a:r>
            <a:r>
              <a:rPr lang="en-US" dirty="0">
                <a:solidFill>
                  <a:srgbClr val="000000"/>
                </a:solidFill>
                <a:latin typeface="Bahnschrift SemiLight"/>
                <a:ea typeface="Satoshi Regular"/>
              </a:rPr>
              <a:t> do faze </a:t>
            </a:r>
            <a:r>
              <a:rPr lang="en-US" dirty="0" err="1">
                <a:solidFill>
                  <a:srgbClr val="000000"/>
                </a:solidFill>
                <a:latin typeface="Bahnschrift SemiLight"/>
                <a:ea typeface="Satoshi Regular"/>
              </a:rPr>
              <a:t>razvoja</a:t>
            </a:r>
            <a:r>
              <a:rPr lang="en-US" dirty="0">
                <a:solidFill>
                  <a:srgbClr val="000000"/>
                </a:solidFill>
                <a:latin typeface="Bahnschrift SemiLight"/>
                <a:ea typeface="Satoshi Regular"/>
              </a:rPr>
              <a:t>.</a:t>
            </a:r>
            <a:endParaRPr lang="hr-HR" dirty="0">
              <a:solidFill>
                <a:srgbClr val="000000"/>
              </a:solidFill>
              <a:latin typeface="Bahnschrift SemiLight"/>
              <a:ea typeface="Satoshi Regular"/>
            </a:endParaRPr>
          </a:p>
          <a:p>
            <a:r>
              <a:rPr lang="en-US" dirty="0" err="1">
                <a:solidFill>
                  <a:srgbClr val="000000"/>
                </a:solidFill>
                <a:latin typeface="Bahnschrift SemiLight"/>
                <a:ea typeface="Satoshi Regular"/>
              </a:rPr>
              <a:t>Naučili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kako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komunicirati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korisničke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tokove</a:t>
            </a:r>
            <a:r>
              <a:rPr lang="en-US" dirty="0">
                <a:solidFill>
                  <a:srgbClr val="000000"/>
                </a:solidFill>
                <a:latin typeface="Bahnschrift SemiLight"/>
                <a:ea typeface="Satoshi Regular"/>
              </a:rPr>
              <a:t> (user flows), </a:t>
            </a:r>
            <a:r>
              <a:rPr lang="en-US" dirty="0" err="1">
                <a:solidFill>
                  <a:srgbClr val="000000"/>
                </a:solidFill>
                <a:latin typeface="Bahnschrift SemiLight"/>
                <a:ea typeface="Satoshi Regular"/>
              </a:rPr>
              <a:t>prikupljati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povratne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informacije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brzo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iterirati</a:t>
            </a:r>
            <a:r>
              <a:rPr lang="en-US" dirty="0">
                <a:solidFill>
                  <a:srgbClr val="000000"/>
                </a:solidFill>
                <a:latin typeface="Bahnschrift SemiLight"/>
                <a:ea typeface="Satoshi Regular"/>
              </a:rPr>
              <a:t>.</a:t>
            </a:r>
            <a:endParaRPr lang="hr-HR" dirty="0">
              <a:solidFill>
                <a:srgbClr val="000000"/>
              </a:solidFill>
              <a:latin typeface="Bahnschrift SemiLight"/>
              <a:ea typeface="Satoshi Regular"/>
            </a:endParaRPr>
          </a:p>
          <a:p>
            <a:r>
              <a:rPr lang="en-US" dirty="0" err="1">
                <a:solidFill>
                  <a:srgbClr val="000000"/>
                </a:solidFill>
                <a:latin typeface="Bahnschrift SemiLight"/>
                <a:ea typeface="Satoshi Regular"/>
              </a:rPr>
              <a:t>Zajedno</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ove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vještine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su</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moćni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alati</a:t>
            </a:r>
            <a:r>
              <a:rPr lang="en-US" dirty="0">
                <a:solidFill>
                  <a:srgbClr val="000000"/>
                </a:solidFill>
                <a:latin typeface="Bahnschrift SemiLight"/>
                <a:ea typeface="Satoshi Regular"/>
              </a:rPr>
              <a:t> koji </a:t>
            </a:r>
            <a:r>
              <a:rPr lang="en-US" dirty="0" err="1">
                <a:solidFill>
                  <a:srgbClr val="000000"/>
                </a:solidFill>
                <a:latin typeface="Bahnschrift SemiLight"/>
                <a:ea typeface="Satoshi Regular"/>
              </a:rPr>
              <a:t>će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vam</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pomoći</a:t>
            </a:r>
            <a:r>
              <a:rPr lang="en-US" dirty="0">
                <a:solidFill>
                  <a:srgbClr val="000000"/>
                </a:solidFill>
                <a:latin typeface="Bahnschrift SemiLight"/>
                <a:ea typeface="Satoshi Regular"/>
              </a:rPr>
              <a:t> da </a:t>
            </a:r>
            <a:r>
              <a:rPr lang="en-US" dirty="0" err="1">
                <a:solidFill>
                  <a:srgbClr val="000000"/>
                </a:solidFill>
                <a:latin typeface="Bahnschrift SemiLight"/>
                <a:ea typeface="Satoshi Regular"/>
              </a:rPr>
              <a:t>pametnije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dizajnirate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bolje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komunicirate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gradite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proizvode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koje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će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korisnici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voljeti</a:t>
            </a:r>
            <a:r>
              <a:rPr lang="en-US" dirty="0">
                <a:solidFill>
                  <a:srgbClr val="000000"/>
                </a:solidFill>
                <a:latin typeface="Bahnschrift SemiLight"/>
                <a:ea typeface="Satoshi Regular"/>
              </a:rPr>
              <a:t>.</a:t>
            </a:r>
            <a:endParaRPr lang="hr-HR" dirty="0">
              <a:solidFill>
                <a:srgbClr val="000000"/>
              </a:solidFill>
              <a:latin typeface="Bahnschrift SemiLight"/>
              <a:ea typeface="Satoshi Regular"/>
            </a:endParaRPr>
          </a:p>
          <a:p>
            <a:r>
              <a:rPr lang="en-US" dirty="0" err="1">
                <a:solidFill>
                  <a:srgbClr val="000000"/>
                </a:solidFill>
                <a:latin typeface="Bahnschrift SemiLight"/>
                <a:ea typeface="Satoshi Regular"/>
              </a:rPr>
              <a:t>Nastavite</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vježbati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testirati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i</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uvijek</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dizajnirati</a:t>
            </a:r>
            <a:r>
              <a:rPr lang="en-US" dirty="0">
                <a:solidFill>
                  <a:srgbClr val="000000"/>
                </a:solidFill>
                <a:latin typeface="Bahnschrift SemiLight"/>
                <a:ea typeface="Satoshi Regular"/>
              </a:rPr>
              <a:t> s </a:t>
            </a:r>
            <a:r>
              <a:rPr lang="en-US" dirty="0" err="1">
                <a:solidFill>
                  <a:srgbClr val="000000"/>
                </a:solidFill>
                <a:latin typeface="Bahnschrift SemiLight"/>
                <a:ea typeface="Satoshi Regular"/>
              </a:rPr>
              <a:t>jasnom</a:t>
            </a:r>
            <a:r>
              <a:rPr lang="en-US" dirty="0">
                <a:solidFill>
                  <a:srgbClr val="000000"/>
                </a:solidFill>
                <a:latin typeface="Bahnschrift SemiLight"/>
                <a:ea typeface="Satoshi Regular"/>
              </a:rPr>
              <a:t> </a:t>
            </a:r>
            <a:r>
              <a:rPr lang="en-US" dirty="0" err="1">
                <a:solidFill>
                  <a:srgbClr val="000000"/>
                </a:solidFill>
                <a:latin typeface="Bahnschrift SemiLight"/>
                <a:ea typeface="Satoshi Regular"/>
              </a:rPr>
              <a:t>svrhom</a:t>
            </a:r>
            <a:r>
              <a:rPr lang="en-US" dirty="0">
                <a:solidFill>
                  <a:srgbClr val="000000"/>
                </a:solidFill>
                <a:latin typeface="Bahnschrift SemiLight"/>
                <a:ea typeface="Satoshi Regular"/>
              </a:rPr>
              <a:t>!</a:t>
            </a:r>
          </a:p>
        </p:txBody>
      </p:sp>
    </p:spTree>
    <p:extLst>
      <p:ext uri="{BB962C8B-B14F-4D97-AF65-F5344CB8AC3E}">
        <p14:creationId xmlns:p14="http://schemas.microsoft.com/office/powerpoint/2010/main" val="10450377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E788-6C03-9BB0-5662-D5F8EC725158}"/>
              </a:ext>
            </a:extLst>
          </p:cNvPr>
          <p:cNvSpPr>
            <a:spLocks noGrp="1"/>
          </p:cNvSpPr>
          <p:nvPr>
            <p:ph type="title"/>
          </p:nvPr>
        </p:nvSpPr>
        <p:spPr/>
        <p:txBody>
          <a:bodyPr/>
          <a:lstStyle/>
          <a:p>
            <a:r>
              <a:rPr lang="hr-HR" dirty="0">
                <a:latin typeface="Bahnschrift SemiBold"/>
              </a:rPr>
              <a:t>IZVORI</a:t>
            </a:r>
            <a:endParaRPr lang="en-US" dirty="0"/>
          </a:p>
        </p:txBody>
      </p:sp>
      <p:sp>
        <p:nvSpPr>
          <p:cNvPr id="5" name="Titre">
            <a:extLst>
              <a:ext uri="{FF2B5EF4-FFF2-40B4-BE49-F238E27FC236}">
                <a16:creationId xmlns:a16="http://schemas.microsoft.com/office/drawing/2014/main" id="{C7326079-9CAD-EABC-5426-234A392AD65C}"/>
              </a:ext>
            </a:extLst>
          </p:cNvPr>
          <p:cNvSpPr/>
          <p:nvPr/>
        </p:nvSpPr>
        <p:spPr>
          <a:xfrm>
            <a:off x="648291" y="31291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2">
                  <a:extLst>
                    <a:ext uri="{A12FA001-AC4F-418D-AE19-62706E023703}">
                      <ahyp:hlinkClr xmlns:ahyp="http://schemas.microsoft.com/office/drawing/2018/hyperlinkcolor" val="tx"/>
                    </a:ext>
                  </a:extLst>
                </a:hlinkClick>
              </a:rPr>
              <a:t>Wise</a:t>
            </a:r>
            <a:endParaRPr lang="en-US" sz="2000" dirty="0">
              <a:latin typeface="Bahnschrift SemiLight" panose="020B0502040204020203" pitchFamily="34" charset="0"/>
            </a:endParaRPr>
          </a:p>
        </p:txBody>
      </p:sp>
      <p:sp>
        <p:nvSpPr>
          <p:cNvPr id="7" name="Paragraphe">
            <a:extLst>
              <a:ext uri="{FF2B5EF4-FFF2-40B4-BE49-F238E27FC236}">
                <a16:creationId xmlns:a16="http://schemas.microsoft.com/office/drawing/2014/main" id="{276EE04F-D620-8BB2-486A-1E6AE826688A}"/>
              </a:ext>
            </a:extLst>
          </p:cNvPr>
          <p:cNvSpPr/>
          <p:nvPr/>
        </p:nvSpPr>
        <p:spPr>
          <a:xfrm>
            <a:off x="648291" y="354824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err="1">
                <a:solidFill>
                  <a:srgbClr val="49313B"/>
                </a:solidFill>
                <a:latin typeface="Bahnschrift SemiLight" panose="020B0502040204020203" pitchFamily="34" charset="0"/>
                <a:ea typeface="Satoshi Regular" pitchFamily="34" charset="-122"/>
                <a:cs typeface="Satoshi Regular" pitchFamily="34" charset="-120"/>
              </a:rPr>
              <a:t>Branding</a:t>
            </a:r>
            <a:r>
              <a:rPr lang="hr-HR" sz="1600" dirty="0">
                <a:solidFill>
                  <a:srgbClr val="49313B"/>
                </a:solidFill>
                <a:latin typeface="Bahnschrift SemiLight" panose="020B0502040204020203" pitchFamily="34" charset="0"/>
                <a:ea typeface="Satoshi Regular" pitchFamily="34" charset="-122"/>
                <a:cs typeface="Satoshi Regular" pitchFamily="34" charset="-120"/>
              </a:rPr>
              <a:t> s fokusom na pristupačnost i članci dizajnerskog tima</a:t>
            </a:r>
            <a:endParaRPr lang="en-US" sz="1600" dirty="0">
              <a:latin typeface="Bahnschrift SemiLight" panose="020B0502040204020203" pitchFamily="34" charset="0"/>
            </a:endParaRPr>
          </a:p>
        </p:txBody>
      </p:sp>
      <p:sp>
        <p:nvSpPr>
          <p:cNvPr id="9" name="Titre">
            <a:extLst>
              <a:ext uri="{FF2B5EF4-FFF2-40B4-BE49-F238E27FC236}">
                <a16:creationId xmlns:a16="http://schemas.microsoft.com/office/drawing/2014/main" id="{8288D579-4EBE-24F0-8841-022D73DE0F3A}"/>
              </a:ext>
            </a:extLst>
          </p:cNvPr>
          <p:cNvSpPr/>
          <p:nvPr/>
        </p:nvSpPr>
        <p:spPr>
          <a:xfrm>
            <a:off x="4394791" y="31291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Liferay</a:t>
            </a:r>
            <a:endParaRPr lang="en-US" sz="2000" dirty="0">
              <a:latin typeface="Bahnschrift SemiLight" panose="020B0502040204020203" pitchFamily="34" charset="0"/>
            </a:endParaRPr>
          </a:p>
        </p:txBody>
      </p:sp>
      <p:sp>
        <p:nvSpPr>
          <p:cNvPr id="11" name="Paragraphe">
            <a:extLst>
              <a:ext uri="{FF2B5EF4-FFF2-40B4-BE49-F238E27FC236}">
                <a16:creationId xmlns:a16="http://schemas.microsoft.com/office/drawing/2014/main" id="{29D8357C-CFDA-5ED0-EA2D-F331E1886933}"/>
              </a:ext>
            </a:extLst>
          </p:cNvPr>
          <p:cNvSpPr/>
          <p:nvPr/>
        </p:nvSpPr>
        <p:spPr>
          <a:xfrm>
            <a:off x="4394791" y="354824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Također sadrži članke dizajnerskog tima.</a:t>
            </a:r>
            <a:endParaRPr lang="en-US" sz="1600" dirty="0">
              <a:latin typeface="Bahnschrift SemiLight" panose="020B0502040204020203" pitchFamily="34" charset="0"/>
            </a:endParaRPr>
          </a:p>
        </p:txBody>
      </p:sp>
      <p:sp>
        <p:nvSpPr>
          <p:cNvPr id="13" name="Titre">
            <a:extLst>
              <a:ext uri="{FF2B5EF4-FFF2-40B4-BE49-F238E27FC236}">
                <a16:creationId xmlns:a16="http://schemas.microsoft.com/office/drawing/2014/main" id="{778BFAB7-E347-973F-D49D-1E2923A75251}"/>
              </a:ext>
            </a:extLst>
          </p:cNvPr>
          <p:cNvSpPr/>
          <p:nvPr/>
        </p:nvSpPr>
        <p:spPr>
          <a:xfrm>
            <a:off x="8141291" y="31291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4">
                  <a:extLst>
                    <a:ext uri="{A12FA001-AC4F-418D-AE19-62706E023703}">
                      <ahyp:hlinkClr xmlns:ahyp="http://schemas.microsoft.com/office/drawing/2018/hyperlinkcolor" val="tx"/>
                    </a:ext>
                  </a:extLst>
                </a:hlinkClick>
              </a:rPr>
              <a:t>GEL - Westpac group</a:t>
            </a:r>
            <a:endParaRPr lang="en-US" sz="2000" dirty="0">
              <a:latin typeface="Bahnschrift SemiLight" panose="020B0502040204020203" pitchFamily="34" charset="0"/>
            </a:endParaRPr>
          </a:p>
        </p:txBody>
      </p:sp>
      <p:sp>
        <p:nvSpPr>
          <p:cNvPr id="15" name="Paragraphe">
            <a:extLst>
              <a:ext uri="{FF2B5EF4-FFF2-40B4-BE49-F238E27FC236}">
                <a16:creationId xmlns:a16="http://schemas.microsoft.com/office/drawing/2014/main" id="{ABBD47E4-450F-0659-2921-8F3D17D4845E}"/>
              </a:ext>
            </a:extLst>
          </p:cNvPr>
          <p:cNvSpPr/>
          <p:nvPr/>
        </p:nvSpPr>
        <p:spPr>
          <a:xfrm>
            <a:off x="8141291" y="354824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49313B"/>
                </a:solidFill>
                <a:latin typeface="Bahnschrift SemiLight" panose="020B0502040204020203" pitchFamily="34" charset="0"/>
                <a:ea typeface="Satoshi Regular" pitchFamily="34" charset="-122"/>
                <a:cs typeface="Satoshi Regular" pitchFamily="34" charset="-120"/>
              </a:rPr>
              <a:t>DS </a:t>
            </a:r>
            <a:r>
              <a:rPr lang="hr-HR" sz="1600" dirty="0">
                <a:solidFill>
                  <a:srgbClr val="49313B"/>
                </a:solidFill>
                <a:latin typeface="Bahnschrift SemiLight" panose="020B0502040204020203" pitchFamily="34" charset="0"/>
                <a:ea typeface="Satoshi Regular" pitchFamily="34" charset="-122"/>
                <a:cs typeface="Satoshi Regular" pitchFamily="34" charset="-120"/>
              </a:rPr>
              <a:t>koji uključuje više brandova</a:t>
            </a:r>
            <a:endParaRPr lang="en-US" sz="1600" dirty="0">
              <a:latin typeface="Bahnschrift SemiLight" panose="020B0502040204020203" pitchFamily="34" charset="0"/>
            </a:endParaRPr>
          </a:p>
        </p:txBody>
      </p:sp>
      <p:sp>
        <p:nvSpPr>
          <p:cNvPr id="17" name="Titre">
            <a:extLst>
              <a:ext uri="{FF2B5EF4-FFF2-40B4-BE49-F238E27FC236}">
                <a16:creationId xmlns:a16="http://schemas.microsoft.com/office/drawing/2014/main" id="{8A397F22-843F-5A72-F727-5EF6BB05FF53}"/>
              </a:ext>
            </a:extLst>
          </p:cNvPr>
          <p:cNvSpPr/>
          <p:nvPr/>
        </p:nvSpPr>
        <p:spPr>
          <a:xfrm>
            <a:off x="648291" y="44372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5">
                  <a:extLst>
                    <a:ext uri="{A12FA001-AC4F-418D-AE19-62706E023703}">
                      <ahyp:hlinkClr xmlns:ahyp="http://schemas.microsoft.com/office/drawing/2018/hyperlinkcolor" val="tx"/>
                    </a:ext>
                  </a:extLst>
                </a:hlinkClick>
              </a:rPr>
              <a:t>Luna</a:t>
            </a:r>
            <a:endParaRPr lang="en-US" sz="2000" dirty="0">
              <a:latin typeface="Bahnschrift SemiLight" panose="020B0502040204020203" pitchFamily="34" charset="0"/>
            </a:endParaRPr>
          </a:p>
        </p:txBody>
      </p:sp>
      <p:sp>
        <p:nvSpPr>
          <p:cNvPr id="19" name="Paragraphe">
            <a:extLst>
              <a:ext uri="{FF2B5EF4-FFF2-40B4-BE49-F238E27FC236}">
                <a16:creationId xmlns:a16="http://schemas.microsoft.com/office/drawing/2014/main" id="{B99182CC-69E6-1736-1CB7-DB647652AE3A}"/>
              </a:ext>
            </a:extLst>
          </p:cNvPr>
          <p:cNvSpPr/>
          <p:nvPr/>
        </p:nvSpPr>
        <p:spPr>
          <a:xfrm>
            <a:off x="648291" y="4856348"/>
            <a:ext cx="3441700" cy="8572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Još jedan</a:t>
            </a:r>
            <a:r>
              <a:rPr lang="en-US" sz="1600" dirty="0">
                <a:solidFill>
                  <a:srgbClr val="49313B"/>
                </a:solidFill>
                <a:latin typeface="Bahnschrift SemiLight" panose="020B0502040204020203" pitchFamily="34" charset="0"/>
                <a:ea typeface="Satoshi Regular" pitchFamily="34" charset="-122"/>
                <a:cs typeface="Satoshi Regular" pitchFamily="34" charset="-120"/>
              </a:rPr>
              <a:t> DS</a:t>
            </a:r>
            <a:r>
              <a:rPr lang="hr-HR" sz="1600" dirty="0">
                <a:solidFill>
                  <a:srgbClr val="49313B"/>
                </a:solidFill>
                <a:latin typeface="Bahnschrift SemiLight" panose="020B0502040204020203" pitchFamily="34" charset="0"/>
                <a:ea typeface="Satoshi Regular" pitchFamily="34" charset="-122"/>
                <a:cs typeface="Satoshi Regular" pitchFamily="34" charset="-120"/>
              </a:rPr>
              <a:t> koji uključuje nekoliko brandova. Mogućnost mijenjanja teme (branda) u realnom vremenu.</a:t>
            </a:r>
            <a:endParaRPr lang="en-US" sz="1600" dirty="0">
              <a:latin typeface="Bahnschrift SemiLight" panose="020B0502040204020203" pitchFamily="34" charset="0"/>
            </a:endParaRPr>
          </a:p>
        </p:txBody>
      </p:sp>
      <p:sp>
        <p:nvSpPr>
          <p:cNvPr id="21" name="Titre">
            <a:extLst>
              <a:ext uri="{FF2B5EF4-FFF2-40B4-BE49-F238E27FC236}">
                <a16:creationId xmlns:a16="http://schemas.microsoft.com/office/drawing/2014/main" id="{C1CCA848-08DE-9584-89A5-CB942826171F}"/>
              </a:ext>
            </a:extLst>
          </p:cNvPr>
          <p:cNvSpPr/>
          <p:nvPr/>
        </p:nvSpPr>
        <p:spPr>
          <a:xfrm>
            <a:off x="4394791" y="44372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err="1">
                <a:solidFill>
                  <a:srgbClr val="49313B"/>
                </a:solidFill>
                <a:latin typeface="Bahnschrift SemiLight" panose="020B0502040204020203" pitchFamily="34" charset="0"/>
                <a:ea typeface="Satoshi Bold" pitchFamily="34" charset="-122"/>
                <a:cs typeface="Satoshi Bold" pitchFamily="34" charset="-120"/>
                <a:hlinkClick r:id="rId6">
                  <a:extLst>
                    <a:ext uri="{A12FA001-AC4F-418D-AE19-62706E023703}">
                      <ahyp:hlinkClr xmlns:ahyp="http://schemas.microsoft.com/office/drawing/2018/hyperlinkcolor" val="tx"/>
                    </a:ext>
                  </a:extLst>
                </a:hlinkClick>
              </a:rPr>
              <a:t>OpenBridge</a:t>
            </a:r>
            <a:endParaRPr lang="en-US" sz="2000" dirty="0">
              <a:latin typeface="Bahnschrift SemiLight" panose="020B0502040204020203" pitchFamily="34" charset="0"/>
            </a:endParaRPr>
          </a:p>
        </p:txBody>
      </p:sp>
      <p:sp>
        <p:nvSpPr>
          <p:cNvPr id="23" name="Paragraphe">
            <a:extLst>
              <a:ext uri="{FF2B5EF4-FFF2-40B4-BE49-F238E27FC236}">
                <a16:creationId xmlns:a16="http://schemas.microsoft.com/office/drawing/2014/main" id="{FA61F8F3-E7A3-DDE6-A63D-61389EA9A7B6}"/>
              </a:ext>
            </a:extLst>
          </p:cNvPr>
          <p:cNvSpPr/>
          <p:nvPr/>
        </p:nvSpPr>
        <p:spPr>
          <a:xfrm>
            <a:off x="4394791" y="4856348"/>
            <a:ext cx="3441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Specifični DS za pomorska sučelja</a:t>
            </a:r>
            <a:endParaRPr lang="en-US" sz="1600" dirty="0">
              <a:latin typeface="Bahnschrift SemiLight" panose="020B0502040204020203" pitchFamily="34" charset="0"/>
            </a:endParaRPr>
          </a:p>
        </p:txBody>
      </p:sp>
      <p:sp>
        <p:nvSpPr>
          <p:cNvPr id="25" name="Titre">
            <a:extLst>
              <a:ext uri="{FF2B5EF4-FFF2-40B4-BE49-F238E27FC236}">
                <a16:creationId xmlns:a16="http://schemas.microsoft.com/office/drawing/2014/main" id="{843F99B1-3B17-A52F-66C1-5DBA10C26D06}"/>
              </a:ext>
            </a:extLst>
          </p:cNvPr>
          <p:cNvSpPr/>
          <p:nvPr/>
        </p:nvSpPr>
        <p:spPr>
          <a:xfrm>
            <a:off x="8141291" y="443724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7">
                  <a:extLst>
                    <a:ext uri="{A12FA001-AC4F-418D-AE19-62706E023703}">
                      <ahyp:hlinkClr xmlns:ahyp="http://schemas.microsoft.com/office/drawing/2018/hyperlinkcolor" val="tx"/>
                    </a:ext>
                  </a:extLst>
                </a:hlinkClick>
              </a:rPr>
              <a:t>Wanda</a:t>
            </a:r>
            <a:endParaRPr lang="en-US" sz="2000" dirty="0">
              <a:latin typeface="Bahnschrift SemiLight" panose="020B0502040204020203" pitchFamily="34" charset="0"/>
            </a:endParaRPr>
          </a:p>
        </p:txBody>
      </p:sp>
      <p:sp>
        <p:nvSpPr>
          <p:cNvPr id="27" name="Paragraphe">
            <a:extLst>
              <a:ext uri="{FF2B5EF4-FFF2-40B4-BE49-F238E27FC236}">
                <a16:creationId xmlns:a16="http://schemas.microsoft.com/office/drawing/2014/main" id="{F2572B1B-401C-5EBD-62ED-E306085FB030}"/>
              </a:ext>
            </a:extLst>
          </p:cNvPr>
          <p:cNvSpPr/>
          <p:nvPr/>
        </p:nvSpPr>
        <p:spPr>
          <a:xfrm>
            <a:off x="8141291" y="4856348"/>
            <a:ext cx="3441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49313B"/>
                </a:solidFill>
                <a:latin typeface="Bahnschrift SemiLight" panose="020B0502040204020203" pitchFamily="34" charset="0"/>
                <a:ea typeface="Satoshi Regular" pitchFamily="34" charset="-122"/>
                <a:cs typeface="Satoshi Regular" pitchFamily="34" charset="-120"/>
              </a:rPr>
              <a:t>Wonderflow.ai DS</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31003429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E21E-83B7-BA11-53CD-BBBF24D42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DF538-46AF-0023-DB61-01FA69426745}"/>
              </a:ext>
            </a:extLst>
          </p:cNvPr>
          <p:cNvSpPr>
            <a:spLocks noGrp="1"/>
          </p:cNvSpPr>
          <p:nvPr>
            <p:ph type="title"/>
          </p:nvPr>
        </p:nvSpPr>
        <p:spPr/>
        <p:txBody>
          <a:bodyPr/>
          <a:lstStyle/>
          <a:p>
            <a:r>
              <a:rPr lang="hr-HR" dirty="0">
                <a:latin typeface="Bahnschrift SemiBold"/>
              </a:rPr>
              <a:t>IZVORI</a:t>
            </a:r>
            <a:endParaRPr lang="en-US" dirty="0"/>
          </a:p>
        </p:txBody>
      </p:sp>
      <p:sp>
        <p:nvSpPr>
          <p:cNvPr id="64" name="Titre">
            <a:extLst>
              <a:ext uri="{FF2B5EF4-FFF2-40B4-BE49-F238E27FC236}">
                <a16:creationId xmlns:a16="http://schemas.microsoft.com/office/drawing/2014/main" id="{AC02CD0A-C078-0528-2E10-8E08E60C5C04}"/>
              </a:ext>
            </a:extLst>
          </p:cNvPr>
          <p:cNvSpPr/>
          <p:nvPr/>
        </p:nvSpPr>
        <p:spPr>
          <a:xfrm>
            <a:off x="546395" y="31701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2">
                  <a:extLst>
                    <a:ext uri="{A12FA001-AC4F-418D-AE19-62706E023703}">
                      <ahyp:hlinkClr xmlns:ahyp="http://schemas.microsoft.com/office/drawing/2018/hyperlinkcolor" val="tx"/>
                    </a:ext>
                  </a:extLst>
                </a:hlinkClick>
              </a:rPr>
              <a:t>Similar layer</a:t>
            </a:r>
            <a:endParaRPr lang="en-US" sz="2000" dirty="0">
              <a:latin typeface="Bahnschrift SemiLight" panose="020B0502040204020203" pitchFamily="34" charset="0"/>
            </a:endParaRPr>
          </a:p>
        </p:txBody>
      </p:sp>
      <p:sp>
        <p:nvSpPr>
          <p:cNvPr id="66" name="Paragraphe">
            <a:extLst>
              <a:ext uri="{FF2B5EF4-FFF2-40B4-BE49-F238E27FC236}">
                <a16:creationId xmlns:a16="http://schemas.microsoft.com/office/drawing/2014/main" id="{23BE4BF9-8074-7A0B-3451-01CF645D9D34}"/>
              </a:ext>
            </a:extLst>
          </p:cNvPr>
          <p:cNvSpPr/>
          <p:nvPr/>
        </p:nvSpPr>
        <p:spPr>
          <a:xfrm>
            <a:off x="546395" y="358922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Omogućava odabir slojeva prema zajedničkom kriteriju</a:t>
            </a:r>
            <a:endParaRPr lang="en-US" sz="1600" dirty="0">
              <a:latin typeface="Bahnschrift SemiLight" panose="020B0502040204020203" pitchFamily="34" charset="0"/>
            </a:endParaRPr>
          </a:p>
        </p:txBody>
      </p:sp>
      <p:sp>
        <p:nvSpPr>
          <p:cNvPr id="68" name="Titre">
            <a:extLst>
              <a:ext uri="{FF2B5EF4-FFF2-40B4-BE49-F238E27FC236}">
                <a16:creationId xmlns:a16="http://schemas.microsoft.com/office/drawing/2014/main" id="{647F2C28-1E75-4C81-A48A-AC34387C7587}"/>
              </a:ext>
            </a:extLst>
          </p:cNvPr>
          <p:cNvSpPr/>
          <p:nvPr/>
        </p:nvSpPr>
        <p:spPr>
          <a:xfrm>
            <a:off x="4292895" y="31701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Styler</a:t>
            </a:r>
            <a:endParaRPr lang="en-US" sz="2000" dirty="0">
              <a:latin typeface="Bahnschrift SemiLight" panose="020B0502040204020203" pitchFamily="34" charset="0"/>
            </a:endParaRPr>
          </a:p>
        </p:txBody>
      </p:sp>
      <p:sp>
        <p:nvSpPr>
          <p:cNvPr id="70" name="Paragraphe">
            <a:extLst>
              <a:ext uri="{FF2B5EF4-FFF2-40B4-BE49-F238E27FC236}">
                <a16:creationId xmlns:a16="http://schemas.microsoft.com/office/drawing/2014/main" id="{949E515A-86CC-C1B7-E59D-0DFBE1F61100}"/>
              </a:ext>
            </a:extLst>
          </p:cNvPr>
          <p:cNvSpPr/>
          <p:nvPr/>
        </p:nvSpPr>
        <p:spPr>
          <a:xfrm>
            <a:off x="4292895" y="3589227"/>
            <a:ext cx="3441700" cy="28575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Stvarajte, odvajajte i primjenjujte stilove u grupama.</a:t>
            </a:r>
            <a:endParaRPr lang="en-US" sz="1600" dirty="0">
              <a:latin typeface="Bahnschrift SemiLight" panose="020B0502040204020203" pitchFamily="34" charset="0"/>
            </a:endParaRPr>
          </a:p>
        </p:txBody>
      </p:sp>
      <p:sp>
        <p:nvSpPr>
          <p:cNvPr id="72" name="Titre">
            <a:extLst>
              <a:ext uri="{FF2B5EF4-FFF2-40B4-BE49-F238E27FC236}">
                <a16:creationId xmlns:a16="http://schemas.microsoft.com/office/drawing/2014/main" id="{E4B8746A-F3AD-5C8D-46A3-0C24583514B0}"/>
              </a:ext>
            </a:extLst>
          </p:cNvPr>
          <p:cNvSpPr/>
          <p:nvPr/>
        </p:nvSpPr>
        <p:spPr>
          <a:xfrm>
            <a:off x="8039395" y="31701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4">
                  <a:extLst>
                    <a:ext uri="{A12FA001-AC4F-418D-AE19-62706E023703}">
                      <ahyp:hlinkClr xmlns:ahyp="http://schemas.microsoft.com/office/drawing/2018/hyperlinkcolor" val="tx"/>
                    </a:ext>
                  </a:extLst>
                </a:hlinkClick>
              </a:rPr>
              <a:t>Batch Styler</a:t>
            </a:r>
            <a:endParaRPr lang="en-US" sz="2000" dirty="0">
              <a:latin typeface="Bahnschrift SemiLight" panose="020B0502040204020203" pitchFamily="34" charset="0"/>
            </a:endParaRPr>
          </a:p>
        </p:txBody>
      </p:sp>
      <p:sp>
        <p:nvSpPr>
          <p:cNvPr id="74" name="Paragraphe">
            <a:extLst>
              <a:ext uri="{FF2B5EF4-FFF2-40B4-BE49-F238E27FC236}">
                <a16:creationId xmlns:a16="http://schemas.microsoft.com/office/drawing/2014/main" id="{A6449028-C919-2D58-6EC6-4B3BE9E08111}"/>
              </a:ext>
            </a:extLst>
          </p:cNvPr>
          <p:cNvSpPr/>
          <p:nvPr/>
        </p:nvSpPr>
        <p:spPr>
          <a:xfrm>
            <a:off x="8039395" y="358922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Modificiranje stilova (promjena boje, fontova, itd.)</a:t>
            </a:r>
            <a:endParaRPr lang="en-US" sz="1600" dirty="0">
              <a:latin typeface="Bahnschrift SemiLight" panose="020B0502040204020203" pitchFamily="34" charset="0"/>
            </a:endParaRPr>
          </a:p>
        </p:txBody>
      </p:sp>
      <p:sp>
        <p:nvSpPr>
          <p:cNvPr id="76" name="Titre">
            <a:extLst>
              <a:ext uri="{FF2B5EF4-FFF2-40B4-BE49-F238E27FC236}">
                <a16:creationId xmlns:a16="http://schemas.microsoft.com/office/drawing/2014/main" id="{A09693CA-65D9-795D-401D-A6EB9C57E468}"/>
              </a:ext>
            </a:extLst>
          </p:cNvPr>
          <p:cNvSpPr/>
          <p:nvPr/>
        </p:nvSpPr>
        <p:spPr>
          <a:xfrm>
            <a:off x="546395" y="44782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err="1">
                <a:solidFill>
                  <a:srgbClr val="49313B"/>
                </a:solidFill>
                <a:latin typeface="Bahnschrift SemiLight" panose="020B0502040204020203" pitchFamily="34" charset="0"/>
                <a:ea typeface="Satoshi Bold" pitchFamily="34" charset="-122"/>
                <a:cs typeface="Satoshi Bold" pitchFamily="34" charset="-120"/>
                <a:hlinkClick r:id="rId5">
                  <a:extLst>
                    <a:ext uri="{A12FA001-AC4F-418D-AE19-62706E023703}">
                      <ahyp:hlinkClr xmlns:ahyp="http://schemas.microsoft.com/office/drawing/2018/hyperlinkcolor" val="tx"/>
                    </a:ext>
                  </a:extLst>
                </a:hlinkClick>
              </a:rPr>
              <a:t>Typescales</a:t>
            </a:r>
            <a:endParaRPr lang="en-US" sz="2000" dirty="0">
              <a:latin typeface="Bahnschrift SemiLight" panose="020B0502040204020203" pitchFamily="34" charset="0"/>
            </a:endParaRPr>
          </a:p>
        </p:txBody>
      </p:sp>
      <p:sp>
        <p:nvSpPr>
          <p:cNvPr id="78" name="Paragraphe">
            <a:extLst>
              <a:ext uri="{FF2B5EF4-FFF2-40B4-BE49-F238E27FC236}">
                <a16:creationId xmlns:a16="http://schemas.microsoft.com/office/drawing/2014/main" id="{EC702C87-AADF-E76C-D128-D27354004DAD}"/>
              </a:ext>
            </a:extLst>
          </p:cNvPr>
          <p:cNvSpPr/>
          <p:nvPr/>
        </p:nvSpPr>
        <p:spPr>
          <a:xfrm>
            <a:off x="546395" y="489732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err="1">
                <a:solidFill>
                  <a:srgbClr val="49313B"/>
                </a:solidFill>
                <a:latin typeface="Bahnschrift SemiLight" panose="020B0502040204020203" pitchFamily="34" charset="0"/>
                <a:ea typeface="Satoshi Regular" pitchFamily="34" charset="-122"/>
                <a:cs typeface="Satoshi Regular" pitchFamily="34" charset="-120"/>
              </a:rPr>
              <a:t>Generirajte</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tekstualne</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skale</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na</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temelju</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nekoliko</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unosa</a:t>
            </a:r>
            <a:r>
              <a:rPr lang="en-US" sz="1600" dirty="0">
                <a:solidFill>
                  <a:srgbClr val="49313B"/>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
        <p:nvSpPr>
          <p:cNvPr id="80" name="Titre">
            <a:extLst>
              <a:ext uri="{FF2B5EF4-FFF2-40B4-BE49-F238E27FC236}">
                <a16:creationId xmlns:a16="http://schemas.microsoft.com/office/drawing/2014/main" id="{6F3B8F84-DBBB-56F8-F315-6DC320D8DE4D}"/>
              </a:ext>
            </a:extLst>
          </p:cNvPr>
          <p:cNvSpPr/>
          <p:nvPr/>
        </p:nvSpPr>
        <p:spPr>
          <a:xfrm>
            <a:off x="4292895" y="44782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6">
                  <a:extLst>
                    <a:ext uri="{A12FA001-AC4F-418D-AE19-62706E023703}">
                      <ahyp:hlinkClr xmlns:ahyp="http://schemas.microsoft.com/office/drawing/2018/hyperlinkcolor" val="tx"/>
                    </a:ext>
                  </a:extLst>
                </a:hlinkClick>
              </a:rPr>
              <a:t>Tailwind color generator</a:t>
            </a:r>
            <a:endParaRPr lang="en-US" sz="2000" dirty="0">
              <a:latin typeface="Bahnschrift SemiLight" panose="020B0502040204020203" pitchFamily="34" charset="0"/>
            </a:endParaRPr>
          </a:p>
        </p:txBody>
      </p:sp>
      <p:sp>
        <p:nvSpPr>
          <p:cNvPr id="82" name="Paragraphe">
            <a:extLst>
              <a:ext uri="{FF2B5EF4-FFF2-40B4-BE49-F238E27FC236}">
                <a16:creationId xmlns:a16="http://schemas.microsoft.com/office/drawing/2014/main" id="{D2791413-9562-89CD-DC36-275264C75E0F}"/>
              </a:ext>
            </a:extLst>
          </p:cNvPr>
          <p:cNvSpPr/>
          <p:nvPr/>
        </p:nvSpPr>
        <p:spPr>
          <a:xfrm>
            <a:off x="4292895" y="489732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Generiranje paleta boja na temelju osnovne boje</a:t>
            </a:r>
            <a:endParaRPr lang="en-US" sz="1600" dirty="0">
              <a:latin typeface="Bahnschrift SemiLight" panose="020B0502040204020203" pitchFamily="34" charset="0"/>
            </a:endParaRPr>
          </a:p>
        </p:txBody>
      </p:sp>
      <p:sp>
        <p:nvSpPr>
          <p:cNvPr id="84" name="Titre">
            <a:extLst>
              <a:ext uri="{FF2B5EF4-FFF2-40B4-BE49-F238E27FC236}">
                <a16:creationId xmlns:a16="http://schemas.microsoft.com/office/drawing/2014/main" id="{C3E7C2F7-5545-2D7F-6D42-4861042F3CCD}"/>
              </a:ext>
            </a:extLst>
          </p:cNvPr>
          <p:cNvSpPr/>
          <p:nvPr/>
        </p:nvSpPr>
        <p:spPr>
          <a:xfrm>
            <a:off x="8039395" y="4478227"/>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7">
                  <a:extLst>
                    <a:ext uri="{A12FA001-AC4F-418D-AE19-62706E023703}">
                      <ahyp:hlinkClr xmlns:ahyp="http://schemas.microsoft.com/office/drawing/2018/hyperlinkcolor" val="tx"/>
                    </a:ext>
                  </a:extLst>
                </a:hlinkClick>
              </a:rPr>
              <a:t>Design lint</a:t>
            </a:r>
            <a:endParaRPr lang="en-US" sz="2000" dirty="0">
              <a:latin typeface="Bahnschrift SemiLight" panose="020B0502040204020203" pitchFamily="34" charset="0"/>
            </a:endParaRPr>
          </a:p>
        </p:txBody>
      </p:sp>
      <p:sp>
        <p:nvSpPr>
          <p:cNvPr id="86" name="Paragraphe">
            <a:extLst>
              <a:ext uri="{FF2B5EF4-FFF2-40B4-BE49-F238E27FC236}">
                <a16:creationId xmlns:a16="http://schemas.microsoft.com/office/drawing/2014/main" id="{983E92A2-BE26-2B57-87FB-B234249ACABC}"/>
              </a:ext>
            </a:extLst>
          </p:cNvPr>
          <p:cNvSpPr/>
          <p:nvPr/>
        </p:nvSpPr>
        <p:spPr>
          <a:xfrm>
            <a:off x="8039395" y="4897327"/>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Definiranje i provjera pravila koje dizani moraju poštivati</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25064263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5C8D-D82C-E2F9-2A67-C07B13C47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7AF0A-CB85-A1B0-90E7-3EC1DD2D8D7C}"/>
              </a:ext>
            </a:extLst>
          </p:cNvPr>
          <p:cNvSpPr>
            <a:spLocks noGrp="1"/>
          </p:cNvSpPr>
          <p:nvPr>
            <p:ph type="title"/>
          </p:nvPr>
        </p:nvSpPr>
        <p:spPr/>
        <p:txBody>
          <a:bodyPr/>
          <a:lstStyle/>
          <a:p>
            <a:r>
              <a:rPr lang="hr-HR" dirty="0">
                <a:latin typeface="Bahnschrift SemiBold"/>
              </a:rPr>
              <a:t>IZVORI</a:t>
            </a:r>
            <a:endParaRPr lang="en-US" dirty="0"/>
          </a:p>
        </p:txBody>
      </p:sp>
      <p:sp>
        <p:nvSpPr>
          <p:cNvPr id="4" name="Titre">
            <a:extLst>
              <a:ext uri="{FF2B5EF4-FFF2-40B4-BE49-F238E27FC236}">
                <a16:creationId xmlns:a16="http://schemas.microsoft.com/office/drawing/2014/main" id="{482181B0-332C-4420-EAA8-FF06BF9CF5C2}"/>
              </a:ext>
            </a:extLst>
          </p:cNvPr>
          <p:cNvSpPr/>
          <p:nvPr/>
        </p:nvSpPr>
        <p:spPr>
          <a:xfrm>
            <a:off x="635000" y="293370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2">
                  <a:extLst>
                    <a:ext uri="{A12FA001-AC4F-418D-AE19-62706E023703}">
                      <ahyp:hlinkClr xmlns:ahyp="http://schemas.microsoft.com/office/drawing/2018/hyperlinkcolor" val="tx"/>
                    </a:ext>
                  </a:extLst>
                </a:hlinkClick>
              </a:rPr>
              <a:t>Self documentation</a:t>
            </a:r>
            <a:endParaRPr lang="en-US" sz="2000" dirty="0">
              <a:latin typeface="Bahnschrift SemiLight" panose="020B0502040204020203" pitchFamily="34" charset="0"/>
            </a:endParaRPr>
          </a:p>
        </p:txBody>
      </p:sp>
      <p:sp>
        <p:nvSpPr>
          <p:cNvPr id="6" name="Paragraphe">
            <a:extLst>
              <a:ext uri="{FF2B5EF4-FFF2-40B4-BE49-F238E27FC236}">
                <a16:creationId xmlns:a16="http://schemas.microsoft.com/office/drawing/2014/main" id="{FB53EC53-7293-BC84-B518-C933EA0B5BC6}"/>
              </a:ext>
            </a:extLst>
          </p:cNvPr>
          <p:cNvSpPr/>
          <p:nvPr/>
        </p:nvSpPr>
        <p:spPr>
          <a:xfrm>
            <a:off x="635000" y="335280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Automatsko generiranje komponenata dokumentacije</a:t>
            </a:r>
            <a:endParaRPr lang="en-US" sz="1600" dirty="0">
              <a:latin typeface="Bahnschrift SemiLight" panose="020B0502040204020203" pitchFamily="34" charset="0"/>
            </a:endParaRPr>
          </a:p>
        </p:txBody>
      </p:sp>
      <p:sp>
        <p:nvSpPr>
          <p:cNvPr id="8" name="Titre">
            <a:extLst>
              <a:ext uri="{FF2B5EF4-FFF2-40B4-BE49-F238E27FC236}">
                <a16:creationId xmlns:a16="http://schemas.microsoft.com/office/drawing/2014/main" id="{30F64F01-879E-6785-13D4-2A42E6BC4827}"/>
              </a:ext>
            </a:extLst>
          </p:cNvPr>
          <p:cNvSpPr/>
          <p:nvPr/>
        </p:nvSpPr>
        <p:spPr>
          <a:xfrm>
            <a:off x="4381500" y="293370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err="1">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EightShapes</a:t>
            </a: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 Specs</a:t>
            </a:r>
            <a:endParaRPr lang="en-US" sz="2000" dirty="0">
              <a:latin typeface="Bahnschrift SemiLight" panose="020B0502040204020203" pitchFamily="34" charset="0"/>
            </a:endParaRPr>
          </a:p>
        </p:txBody>
      </p:sp>
      <p:sp>
        <p:nvSpPr>
          <p:cNvPr id="10" name="Paragraphe">
            <a:extLst>
              <a:ext uri="{FF2B5EF4-FFF2-40B4-BE49-F238E27FC236}">
                <a16:creationId xmlns:a16="http://schemas.microsoft.com/office/drawing/2014/main" id="{5252840D-46C7-4484-839D-5B580B285613}"/>
              </a:ext>
            </a:extLst>
          </p:cNvPr>
          <p:cNvSpPr/>
          <p:nvPr/>
        </p:nvSpPr>
        <p:spPr>
          <a:xfrm>
            <a:off x="4381500" y="335280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Automatski izrađuje specifikacije na temelju primjera</a:t>
            </a:r>
            <a:endParaRPr lang="en-US" sz="1600" dirty="0">
              <a:latin typeface="Bahnschrift SemiLight" panose="020B0502040204020203" pitchFamily="34" charset="0"/>
            </a:endParaRPr>
          </a:p>
        </p:txBody>
      </p:sp>
      <p:sp>
        <p:nvSpPr>
          <p:cNvPr id="12" name="Titre">
            <a:extLst>
              <a:ext uri="{FF2B5EF4-FFF2-40B4-BE49-F238E27FC236}">
                <a16:creationId xmlns:a16="http://schemas.microsoft.com/office/drawing/2014/main" id="{9392BFF5-04E3-EA39-B192-C73507072D37}"/>
              </a:ext>
            </a:extLst>
          </p:cNvPr>
          <p:cNvSpPr/>
          <p:nvPr/>
        </p:nvSpPr>
        <p:spPr>
          <a:xfrm>
            <a:off x="8128000" y="293370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err="1">
                <a:solidFill>
                  <a:srgbClr val="49313B"/>
                </a:solidFill>
                <a:latin typeface="Bahnschrift SemiLight" panose="020B0502040204020203" pitchFamily="34" charset="0"/>
                <a:ea typeface="Satoshi Bold" pitchFamily="34" charset="-122"/>
                <a:cs typeface="Satoshi Bold" pitchFamily="34" charset="-120"/>
                <a:hlinkClick r:id="rId4">
                  <a:extLst>
                    <a:ext uri="{A12FA001-AC4F-418D-AE19-62706E023703}">
                      <ahyp:hlinkClr xmlns:ahyp="http://schemas.microsoft.com/office/drawing/2018/hyperlinkcolor" val="tx"/>
                    </a:ext>
                  </a:extLst>
                </a:hlinkClick>
              </a:rPr>
              <a:t>Propstar</a:t>
            </a:r>
            <a:endParaRPr lang="en-US" sz="2000" dirty="0">
              <a:latin typeface="Bahnschrift SemiLight" panose="020B0502040204020203" pitchFamily="34" charset="0"/>
            </a:endParaRPr>
          </a:p>
        </p:txBody>
      </p:sp>
      <p:sp>
        <p:nvSpPr>
          <p:cNvPr id="14" name="Paragraphe">
            <a:extLst>
              <a:ext uri="{FF2B5EF4-FFF2-40B4-BE49-F238E27FC236}">
                <a16:creationId xmlns:a16="http://schemas.microsoft.com/office/drawing/2014/main" id="{76A1C3DE-6902-FA5E-D9BE-D7FF1AE1F650}"/>
              </a:ext>
            </a:extLst>
          </p:cNvPr>
          <p:cNvSpPr/>
          <p:nvPr/>
        </p:nvSpPr>
        <p:spPr>
          <a:xfrm>
            <a:off x="8128000" y="335280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Generira i prikazuje sve moguće varijante komponente.</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6772940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C32C1-BF99-B814-56BB-3CA1D1452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C687D-25EA-F3FC-6309-41E70A9603E4}"/>
              </a:ext>
            </a:extLst>
          </p:cNvPr>
          <p:cNvSpPr>
            <a:spLocks noGrp="1"/>
          </p:cNvSpPr>
          <p:nvPr>
            <p:ph type="title"/>
          </p:nvPr>
        </p:nvSpPr>
        <p:spPr/>
        <p:txBody>
          <a:bodyPr/>
          <a:lstStyle/>
          <a:p>
            <a:r>
              <a:rPr lang="hr-HR" dirty="0">
                <a:latin typeface="Bahnschrift SemiBold"/>
              </a:rPr>
              <a:t>IZVORI</a:t>
            </a:r>
            <a:endParaRPr lang="en-US" dirty="0"/>
          </a:p>
        </p:txBody>
      </p:sp>
      <p:sp>
        <p:nvSpPr>
          <p:cNvPr id="5" name="Titre">
            <a:extLst>
              <a:ext uri="{FF2B5EF4-FFF2-40B4-BE49-F238E27FC236}">
                <a16:creationId xmlns:a16="http://schemas.microsoft.com/office/drawing/2014/main" id="{1579403C-B3A5-6D7B-F832-7DD1AB7C5E34}"/>
              </a:ext>
            </a:extLst>
          </p:cNvPr>
          <p:cNvSpPr/>
          <p:nvPr/>
        </p:nvSpPr>
        <p:spPr>
          <a:xfrm>
            <a:off x="648291" y="30505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2">
                  <a:extLst>
                    <a:ext uri="{A12FA001-AC4F-418D-AE19-62706E023703}">
                      <ahyp:hlinkClr xmlns:ahyp="http://schemas.microsoft.com/office/drawing/2018/hyperlinkcolor" val="tx"/>
                    </a:ext>
                  </a:extLst>
                </a:hlinkClick>
              </a:rPr>
              <a:t>Design Systems</a:t>
            </a:r>
            <a:endParaRPr lang="en-US" sz="2000" dirty="0">
              <a:latin typeface="Bahnschrift SemiLight" panose="020B0502040204020203" pitchFamily="34" charset="0"/>
            </a:endParaRPr>
          </a:p>
        </p:txBody>
      </p:sp>
      <p:sp>
        <p:nvSpPr>
          <p:cNvPr id="9" name="Paragraphe">
            <a:extLst>
              <a:ext uri="{FF2B5EF4-FFF2-40B4-BE49-F238E27FC236}">
                <a16:creationId xmlns:a16="http://schemas.microsoft.com/office/drawing/2014/main" id="{E8FAACD0-B537-2914-1108-F25AE1D33AE2}"/>
              </a:ext>
            </a:extLst>
          </p:cNvPr>
          <p:cNvSpPr/>
          <p:nvPr/>
        </p:nvSpPr>
        <p:spPr>
          <a:xfrm>
            <a:off x="648291" y="34696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Članci, primjeri dobre prakse i popis otvorenih dizajnerskih sustava</a:t>
            </a:r>
            <a:endParaRPr lang="en-US" sz="1600" dirty="0">
              <a:latin typeface="Bahnschrift SemiLight" panose="020B0502040204020203" pitchFamily="34" charset="0"/>
            </a:endParaRPr>
          </a:p>
        </p:txBody>
      </p:sp>
      <p:sp>
        <p:nvSpPr>
          <p:cNvPr id="13" name="Titre">
            <a:extLst>
              <a:ext uri="{FF2B5EF4-FFF2-40B4-BE49-F238E27FC236}">
                <a16:creationId xmlns:a16="http://schemas.microsoft.com/office/drawing/2014/main" id="{CC0EABDE-EB70-C578-C679-7C97AEB938B9}"/>
              </a:ext>
            </a:extLst>
          </p:cNvPr>
          <p:cNvSpPr/>
          <p:nvPr/>
        </p:nvSpPr>
        <p:spPr>
          <a:xfrm>
            <a:off x="4394791" y="30505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The component gallery</a:t>
            </a:r>
            <a:endParaRPr lang="en-US" sz="2000" dirty="0">
              <a:latin typeface="Bahnschrift SemiLight" panose="020B0502040204020203" pitchFamily="34" charset="0"/>
            </a:endParaRPr>
          </a:p>
        </p:txBody>
      </p:sp>
      <p:sp>
        <p:nvSpPr>
          <p:cNvPr id="16" name="Paragraphe">
            <a:extLst>
              <a:ext uri="{FF2B5EF4-FFF2-40B4-BE49-F238E27FC236}">
                <a16:creationId xmlns:a16="http://schemas.microsoft.com/office/drawing/2014/main" id="{D7A7142C-E78B-BC2B-C646-C13C24537C27}"/>
              </a:ext>
            </a:extLst>
          </p:cNvPr>
          <p:cNvSpPr/>
          <p:nvPr/>
        </p:nvSpPr>
        <p:spPr>
          <a:xfrm>
            <a:off x="4394791" y="34696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Popis komponenti i načina na koji ih neki </a:t>
            </a:r>
            <a:r>
              <a:rPr lang="hr-HR" sz="1600" dirty="0" err="1">
                <a:solidFill>
                  <a:srgbClr val="49313B"/>
                </a:solidFill>
                <a:latin typeface="Bahnschrift SemiLight" panose="020B0502040204020203" pitchFamily="34" charset="0"/>
                <a:ea typeface="Satoshi Regular" pitchFamily="34" charset="-122"/>
                <a:cs typeface="Satoshi Regular" pitchFamily="34" charset="-120"/>
              </a:rPr>
              <a:t>Dsovi</a:t>
            </a:r>
            <a:r>
              <a:rPr lang="hr-HR" sz="1600" dirty="0">
                <a:solidFill>
                  <a:srgbClr val="49313B"/>
                </a:solidFill>
                <a:latin typeface="Bahnschrift SemiLight" panose="020B0502040204020203" pitchFamily="34" charset="0"/>
                <a:ea typeface="Satoshi Regular" pitchFamily="34" charset="-122"/>
                <a:cs typeface="Satoshi Regular" pitchFamily="34" charset="-120"/>
              </a:rPr>
              <a:t> rješavaju</a:t>
            </a:r>
            <a:endParaRPr lang="en-US" sz="1600" dirty="0">
              <a:latin typeface="Bahnschrift SemiLight" panose="020B0502040204020203" pitchFamily="34" charset="0"/>
            </a:endParaRPr>
          </a:p>
        </p:txBody>
      </p:sp>
      <p:sp>
        <p:nvSpPr>
          <p:cNvPr id="18" name="Titre">
            <a:extLst>
              <a:ext uri="{FF2B5EF4-FFF2-40B4-BE49-F238E27FC236}">
                <a16:creationId xmlns:a16="http://schemas.microsoft.com/office/drawing/2014/main" id="{9CDD603B-6731-2DB5-3921-033A64539A97}"/>
              </a:ext>
            </a:extLst>
          </p:cNvPr>
          <p:cNvSpPr/>
          <p:nvPr/>
        </p:nvSpPr>
        <p:spPr>
          <a:xfrm>
            <a:off x="8141291" y="30505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4">
                  <a:extLst>
                    <a:ext uri="{A12FA001-AC4F-418D-AE19-62706E023703}">
                      <ahyp:hlinkClr xmlns:ahyp="http://schemas.microsoft.com/office/drawing/2018/hyperlinkcolor" val="tx"/>
                    </a:ext>
                  </a:extLst>
                </a:hlinkClick>
              </a:rPr>
              <a:t>Luis (Figma)</a:t>
            </a:r>
            <a:endParaRPr lang="en-US" sz="2000" dirty="0">
              <a:latin typeface="Bahnschrift SemiLight" panose="020B0502040204020203" pitchFamily="34" charset="0"/>
            </a:endParaRPr>
          </a:p>
        </p:txBody>
      </p:sp>
      <p:sp>
        <p:nvSpPr>
          <p:cNvPr id="20" name="Paragraphe">
            <a:extLst>
              <a:ext uri="{FF2B5EF4-FFF2-40B4-BE49-F238E27FC236}">
                <a16:creationId xmlns:a16="http://schemas.microsoft.com/office/drawing/2014/main" id="{0F4861CC-B041-F0E0-6C6F-BF6D379D2A05}"/>
              </a:ext>
            </a:extLst>
          </p:cNvPr>
          <p:cNvSpPr/>
          <p:nvPr/>
        </p:nvSpPr>
        <p:spPr>
          <a:xfrm>
            <a:off x="8141291" y="34696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Često </a:t>
            </a:r>
            <a:r>
              <a:rPr lang="hr-HR" sz="1600" dirty="0" err="1">
                <a:solidFill>
                  <a:srgbClr val="49313B"/>
                </a:solidFill>
                <a:latin typeface="Bahnschrift SemiLight" panose="020B0502040204020203" pitchFamily="34" charset="0"/>
                <a:ea typeface="Satoshi Regular" pitchFamily="34" charset="-122"/>
                <a:cs typeface="Satoshi Regular" pitchFamily="34" charset="-120"/>
              </a:rPr>
              <a:t>tweeta</a:t>
            </a:r>
            <a:r>
              <a:rPr lang="hr-HR" sz="1600" dirty="0">
                <a:solidFill>
                  <a:srgbClr val="49313B"/>
                </a:solidFill>
                <a:latin typeface="Bahnschrift SemiLight" panose="020B0502040204020203" pitchFamily="34" charset="0"/>
                <a:ea typeface="Satoshi Regular" pitchFamily="34" charset="-122"/>
                <a:cs typeface="Satoshi Regular" pitchFamily="34" charset="-120"/>
              </a:rPr>
              <a:t> o </a:t>
            </a:r>
            <a:r>
              <a:rPr lang="hr-HR" sz="1600" dirty="0" err="1">
                <a:solidFill>
                  <a:srgbClr val="49313B"/>
                </a:solidFill>
                <a:latin typeface="Bahnschrift SemiLight" panose="020B0502040204020203" pitchFamily="34" charset="0"/>
                <a:ea typeface="Satoshi Regular" pitchFamily="34" charset="-122"/>
                <a:cs typeface="Satoshi Regular" pitchFamily="34" charset="-120"/>
              </a:rPr>
              <a:t>Dsovima</a:t>
            </a:r>
            <a:r>
              <a:rPr lang="hr-HR" sz="1600" dirty="0">
                <a:solidFill>
                  <a:srgbClr val="49313B"/>
                </a:solidFill>
                <a:latin typeface="Bahnschrift SemiLight" panose="020B0502040204020203" pitchFamily="34" charset="0"/>
                <a:ea typeface="Satoshi Regular" pitchFamily="34" charset="-122"/>
                <a:cs typeface="Satoshi Regular" pitchFamily="34" charset="-120"/>
              </a:rPr>
              <a:t>, primjerima dobre prakse, organizaciji, …</a:t>
            </a:r>
            <a:endParaRPr lang="en-US" sz="1600" dirty="0">
              <a:latin typeface="Bahnschrift SemiLight" panose="020B0502040204020203" pitchFamily="34" charset="0"/>
            </a:endParaRPr>
          </a:p>
        </p:txBody>
      </p:sp>
      <p:sp>
        <p:nvSpPr>
          <p:cNvPr id="22" name="Titre">
            <a:extLst>
              <a:ext uri="{FF2B5EF4-FFF2-40B4-BE49-F238E27FC236}">
                <a16:creationId xmlns:a16="http://schemas.microsoft.com/office/drawing/2014/main" id="{74272E15-EC13-CCCE-650A-AEF6AAE73421}"/>
              </a:ext>
            </a:extLst>
          </p:cNvPr>
          <p:cNvSpPr/>
          <p:nvPr/>
        </p:nvSpPr>
        <p:spPr>
          <a:xfrm>
            <a:off x="648291" y="43586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5">
                  <a:extLst>
                    <a:ext uri="{A12FA001-AC4F-418D-AE19-62706E023703}">
                      <ahyp:hlinkClr xmlns:ahyp="http://schemas.microsoft.com/office/drawing/2018/hyperlinkcolor" val="tx"/>
                    </a:ext>
                  </a:extLst>
                </a:hlinkClick>
              </a:rPr>
              <a:t>Molly Hellmuth</a:t>
            </a:r>
            <a:endParaRPr lang="en-US" sz="2000" dirty="0">
              <a:latin typeface="Bahnschrift SemiLight" panose="020B0502040204020203" pitchFamily="34" charset="0"/>
            </a:endParaRPr>
          </a:p>
        </p:txBody>
      </p:sp>
      <p:sp>
        <p:nvSpPr>
          <p:cNvPr id="24" name="Paragraphe">
            <a:extLst>
              <a:ext uri="{FF2B5EF4-FFF2-40B4-BE49-F238E27FC236}">
                <a16:creationId xmlns:a16="http://schemas.microsoft.com/office/drawing/2014/main" id="{C8CDA85D-40BD-63E8-695D-D9C00DDA22AC}"/>
              </a:ext>
            </a:extLst>
          </p:cNvPr>
          <p:cNvSpPr/>
          <p:nvPr/>
        </p:nvSpPr>
        <p:spPr>
          <a:xfrm>
            <a:off x="648291" y="47777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hr-HR" sz="1600" dirty="0">
                <a:solidFill>
                  <a:srgbClr val="49313B"/>
                </a:solidFill>
                <a:latin typeface="Bahnschrift SemiLight" panose="020B0502040204020203" pitchFamily="34" charset="0"/>
                <a:ea typeface="Satoshi Regular" pitchFamily="34" charset="-122"/>
                <a:cs typeface="Satoshi Regular" pitchFamily="34" charset="-120"/>
              </a:rPr>
              <a:t>„Poučavam ono što znam o </a:t>
            </a:r>
            <a:r>
              <a:rPr lang="hr-HR" sz="1600" dirty="0" err="1">
                <a:solidFill>
                  <a:srgbClr val="49313B"/>
                </a:solidFill>
                <a:latin typeface="Bahnschrift SemiLight" panose="020B0502040204020203" pitchFamily="34" charset="0"/>
                <a:ea typeface="Satoshi Regular" pitchFamily="34" charset="-122"/>
                <a:cs typeface="Satoshi Regular" pitchFamily="34" charset="-120"/>
              </a:rPr>
              <a:t>Figmi</a:t>
            </a:r>
            <a:r>
              <a:rPr lang="hr-HR" sz="1600" dirty="0">
                <a:solidFill>
                  <a:srgbClr val="49313B"/>
                </a:solidFill>
                <a:latin typeface="Bahnschrift SemiLight" panose="020B0502040204020203" pitchFamily="34" charset="0"/>
                <a:ea typeface="Satoshi Regular" pitchFamily="34" charset="-122"/>
                <a:cs typeface="Satoshi Regular" pitchFamily="34" charset="-120"/>
              </a:rPr>
              <a:t> i Dizajnerskim sustavima”</a:t>
            </a:r>
            <a:endParaRPr lang="en-US" sz="1600" dirty="0">
              <a:latin typeface="Bahnschrift SemiLight" panose="020B0502040204020203" pitchFamily="34" charset="0"/>
            </a:endParaRPr>
          </a:p>
        </p:txBody>
      </p:sp>
      <p:sp>
        <p:nvSpPr>
          <p:cNvPr id="26" name="Titre">
            <a:extLst>
              <a:ext uri="{FF2B5EF4-FFF2-40B4-BE49-F238E27FC236}">
                <a16:creationId xmlns:a16="http://schemas.microsoft.com/office/drawing/2014/main" id="{B2D7C4CF-E00D-E4DC-13C7-F725E631128B}"/>
              </a:ext>
            </a:extLst>
          </p:cNvPr>
          <p:cNvSpPr/>
          <p:nvPr/>
        </p:nvSpPr>
        <p:spPr>
          <a:xfrm>
            <a:off x="4394791" y="43586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6">
                  <a:extLst>
                    <a:ext uri="{A12FA001-AC4F-418D-AE19-62706E023703}">
                      <ahyp:hlinkClr xmlns:ahyp="http://schemas.microsoft.com/office/drawing/2018/hyperlinkcolor" val="tx"/>
                    </a:ext>
                  </a:extLst>
                </a:hlinkClick>
              </a:rPr>
              <a:t>Design System Checklist</a:t>
            </a:r>
            <a:endParaRPr lang="en-US" sz="2000" dirty="0">
              <a:latin typeface="Bahnschrift SemiLight" panose="020B0502040204020203" pitchFamily="34" charset="0"/>
            </a:endParaRPr>
          </a:p>
        </p:txBody>
      </p:sp>
      <p:sp>
        <p:nvSpPr>
          <p:cNvPr id="28" name="Paragraphe">
            <a:extLst>
              <a:ext uri="{FF2B5EF4-FFF2-40B4-BE49-F238E27FC236}">
                <a16:creationId xmlns:a16="http://schemas.microsoft.com/office/drawing/2014/main" id="{AF75018C-258E-4F72-3D2C-20B538CC9AD8}"/>
              </a:ext>
            </a:extLst>
          </p:cNvPr>
          <p:cNvSpPr/>
          <p:nvPr/>
        </p:nvSpPr>
        <p:spPr>
          <a:xfrm>
            <a:off x="4394791" y="47777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pl-PL" sz="1600" dirty="0">
                <a:solidFill>
                  <a:srgbClr val="49313B"/>
                </a:solidFill>
                <a:latin typeface="Bahnschrift SemiLight" panose="020B0502040204020203" pitchFamily="34" charset="0"/>
                <a:ea typeface="Satoshi Regular" pitchFamily="34" charset="-122"/>
                <a:cs typeface="Satoshi Regular" pitchFamily="34" charset="-120"/>
              </a:rPr>
              <a:t>Kontrolni popis zadataka za izradu design sustava.</a:t>
            </a:r>
            <a:endParaRPr lang="en-US" sz="1600" dirty="0">
              <a:latin typeface="Bahnschrift SemiLight" panose="020B0502040204020203" pitchFamily="34" charset="0"/>
            </a:endParaRPr>
          </a:p>
        </p:txBody>
      </p:sp>
      <p:sp>
        <p:nvSpPr>
          <p:cNvPr id="30" name="Titre">
            <a:extLst>
              <a:ext uri="{FF2B5EF4-FFF2-40B4-BE49-F238E27FC236}">
                <a16:creationId xmlns:a16="http://schemas.microsoft.com/office/drawing/2014/main" id="{F46165FB-33B5-949A-175E-E372EE6E7D26}"/>
              </a:ext>
            </a:extLst>
          </p:cNvPr>
          <p:cNvSpPr/>
          <p:nvPr/>
        </p:nvSpPr>
        <p:spPr>
          <a:xfrm>
            <a:off x="8141291" y="4358610"/>
            <a:ext cx="344805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7">
                  <a:extLst>
                    <a:ext uri="{A12FA001-AC4F-418D-AE19-62706E023703}">
                      <ahyp:hlinkClr xmlns:ahyp="http://schemas.microsoft.com/office/drawing/2018/hyperlinkcolor" val="tx"/>
                    </a:ext>
                  </a:extLst>
                </a:hlinkClick>
              </a:rPr>
              <a:t>DS</a:t>
            </a:r>
            <a:r>
              <a:rPr lang="en-US" sz="2000" b="1" u="sng" dirty="0">
                <a:solidFill>
                  <a:srgbClr val="49313B"/>
                </a:solidFill>
                <a:latin typeface="Satoshi Bold" pitchFamily="34" charset="0"/>
                <a:ea typeface="Satoshi Bold" pitchFamily="34" charset="-122"/>
                <a:cs typeface="Satoshi Bold" pitchFamily="34" charset="-120"/>
                <a:hlinkClick r:id="rId7">
                  <a:extLst>
                    <a:ext uri="{A12FA001-AC4F-418D-AE19-62706E023703}">
                      <ahyp:hlinkClr xmlns:ahyp="http://schemas.microsoft.com/office/drawing/2018/hyperlinkcolor" val="tx"/>
                    </a:ext>
                  </a:extLst>
                </a:hlinkClick>
              </a:rPr>
              <a:t> List</a:t>
            </a:r>
            <a:endParaRPr lang="en-US" sz="2000" dirty="0"/>
          </a:p>
        </p:txBody>
      </p:sp>
      <p:sp>
        <p:nvSpPr>
          <p:cNvPr id="32" name="Paragraphe">
            <a:extLst>
              <a:ext uri="{FF2B5EF4-FFF2-40B4-BE49-F238E27FC236}">
                <a16:creationId xmlns:a16="http://schemas.microsoft.com/office/drawing/2014/main" id="{EB00E7A1-83B6-5514-BC62-A2C6D40201B8}"/>
              </a:ext>
            </a:extLst>
          </p:cNvPr>
          <p:cNvSpPr/>
          <p:nvPr/>
        </p:nvSpPr>
        <p:spPr>
          <a:xfrm>
            <a:off x="8141291" y="4777710"/>
            <a:ext cx="344170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err="1">
                <a:solidFill>
                  <a:srgbClr val="49313B"/>
                </a:solidFill>
                <a:latin typeface="Bahnschrift SemiLight" panose="020B0502040204020203" pitchFamily="34" charset="0"/>
                <a:ea typeface="Satoshi Regular" pitchFamily="34" charset="-122"/>
                <a:cs typeface="Satoshi Regular" pitchFamily="34" charset="-120"/>
              </a:rPr>
              <a:t>Popis</a:t>
            </a:r>
            <a:r>
              <a:rPr lang="en-US" sz="1600" dirty="0">
                <a:solidFill>
                  <a:srgbClr val="49313B"/>
                </a:solidFill>
                <a:latin typeface="Bahnschrift SemiLight" panose="020B0502040204020203" pitchFamily="34" charset="0"/>
                <a:ea typeface="Satoshi Regular" pitchFamily="34" charset="-122"/>
                <a:cs typeface="Satoshi Regular" pitchFamily="34" charset="-120"/>
              </a:rPr>
              <a:t> design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sustava</a:t>
            </a:r>
            <a:r>
              <a:rPr lang="en-US" sz="1600" dirty="0">
                <a:solidFill>
                  <a:srgbClr val="49313B"/>
                </a:solidFill>
                <a:latin typeface="Bahnschrift SemiLight" panose="020B0502040204020203" pitchFamily="34" charset="0"/>
                <a:ea typeface="Satoshi Regular" pitchFamily="34" charset="-122"/>
                <a:cs typeface="Satoshi Regular" pitchFamily="34" charset="-120"/>
              </a:rPr>
              <a:t> po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državama</a:t>
            </a:r>
            <a:r>
              <a:rPr lang="en-US" sz="1600" dirty="0">
                <a:solidFill>
                  <a:srgbClr val="49313B"/>
                </a:solidFill>
                <a:latin typeface="Bahnschrift SemiLight" panose="020B0502040204020203" pitchFamily="34" charset="0"/>
                <a:ea typeface="Satoshi Regular" pitchFamily="34" charset="-122"/>
                <a:cs typeface="Satoshi Regular" pitchFamily="34" charset="-120"/>
              </a:rPr>
              <a:t> koji je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sastavio</a:t>
            </a:r>
            <a:r>
              <a:rPr lang="en-US" sz="1600" dirty="0">
                <a:solidFill>
                  <a:srgbClr val="49313B"/>
                </a:solidFill>
                <a:latin typeface="Bahnschrift SemiLight" panose="020B0502040204020203" pitchFamily="34" charset="0"/>
                <a:ea typeface="Satoshi Regular" pitchFamily="34" charset="-122"/>
                <a:cs typeface="Satoshi Regular" pitchFamily="34" charset="-120"/>
              </a:rPr>
              <a:t> Vitaly Friedman.</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15982661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5E72-0163-F026-C2AD-076FB0AB4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6C7C4-50AB-0D61-20C8-0EF00506A92E}"/>
              </a:ext>
            </a:extLst>
          </p:cNvPr>
          <p:cNvSpPr>
            <a:spLocks noGrp="1"/>
          </p:cNvSpPr>
          <p:nvPr>
            <p:ph type="title"/>
          </p:nvPr>
        </p:nvSpPr>
        <p:spPr/>
        <p:txBody>
          <a:bodyPr/>
          <a:lstStyle/>
          <a:p>
            <a:r>
              <a:rPr lang="hr-HR" dirty="0">
                <a:latin typeface="Bahnschrift SemiBold"/>
              </a:rPr>
              <a:t>IZVORI</a:t>
            </a:r>
            <a:endParaRPr lang="en-US" dirty="0"/>
          </a:p>
        </p:txBody>
      </p:sp>
      <p:sp>
        <p:nvSpPr>
          <p:cNvPr id="4" name="Titre">
            <a:extLst>
              <a:ext uri="{FF2B5EF4-FFF2-40B4-BE49-F238E27FC236}">
                <a16:creationId xmlns:a16="http://schemas.microsoft.com/office/drawing/2014/main" id="{E2ADBD6D-FF1D-F145-D398-CE10914A4EB8}"/>
              </a:ext>
            </a:extLst>
          </p:cNvPr>
          <p:cNvSpPr/>
          <p:nvPr/>
        </p:nvSpPr>
        <p:spPr>
          <a:xfrm>
            <a:off x="635000" y="293370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2">
                  <a:extLst>
                    <a:ext uri="{A12FA001-AC4F-418D-AE19-62706E023703}">
                      <ahyp:hlinkClr xmlns:ahyp="http://schemas.microsoft.com/office/drawing/2018/hyperlinkcolor" val="tx"/>
                    </a:ext>
                  </a:extLst>
                </a:hlinkClick>
              </a:rPr>
              <a:t>Design System ROI Calculator</a:t>
            </a:r>
            <a:endParaRPr lang="en-US" sz="2000" dirty="0">
              <a:latin typeface="Bahnschrift SemiLight" panose="020B0502040204020203" pitchFamily="34" charset="0"/>
            </a:endParaRPr>
          </a:p>
        </p:txBody>
      </p:sp>
      <p:sp>
        <p:nvSpPr>
          <p:cNvPr id="7" name="Paragraphe">
            <a:extLst>
              <a:ext uri="{FF2B5EF4-FFF2-40B4-BE49-F238E27FC236}">
                <a16:creationId xmlns:a16="http://schemas.microsoft.com/office/drawing/2014/main" id="{6F34D0F9-1F7E-B785-0FB7-63FA7F8B736B}"/>
              </a:ext>
            </a:extLst>
          </p:cNvPr>
          <p:cNvSpPr/>
          <p:nvPr/>
        </p:nvSpPr>
        <p:spPr>
          <a:xfrm>
            <a:off x="635000" y="3352800"/>
            <a:ext cx="531495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49313B"/>
                </a:solidFill>
                <a:latin typeface="Bahnschrift SemiLight" panose="020B0502040204020203" pitchFamily="34" charset="0"/>
                <a:ea typeface="Satoshi Regular" pitchFamily="34" charset="-122"/>
                <a:cs typeface="Satoshi Regular" pitchFamily="34" charset="-120"/>
              </a:rPr>
              <a:t>Alat za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izračun</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povrata</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ulaganja</a:t>
            </a:r>
            <a:r>
              <a:rPr lang="en-US" sz="1600" dirty="0">
                <a:solidFill>
                  <a:srgbClr val="49313B"/>
                </a:solidFill>
                <a:latin typeface="Bahnschrift SemiLight" panose="020B0502040204020203" pitchFamily="34" charset="0"/>
                <a:ea typeface="Satoshi Regular" pitchFamily="34" charset="-122"/>
                <a:cs typeface="Satoshi Regular" pitchFamily="34" charset="-120"/>
              </a:rPr>
              <a:t> (ROI) koji design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sustav</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može</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donijeti</a:t>
            </a:r>
            <a:r>
              <a:rPr lang="en-US" sz="1600" dirty="0">
                <a:solidFill>
                  <a:srgbClr val="49313B"/>
                </a:solidFill>
                <a:latin typeface="Bahnschrift SemiLight" panose="020B0502040204020203" pitchFamily="34" charset="0"/>
                <a:ea typeface="Satoshi Regular" pitchFamily="34" charset="-122"/>
                <a:cs typeface="Satoshi Regular" pitchFamily="34" charset="-120"/>
              </a:rPr>
              <a:t>.</a:t>
            </a:r>
            <a:endParaRPr lang="en-US" sz="1600" dirty="0">
              <a:latin typeface="Bahnschrift SemiLight" panose="020B0502040204020203" pitchFamily="34" charset="0"/>
            </a:endParaRPr>
          </a:p>
        </p:txBody>
      </p:sp>
      <p:sp>
        <p:nvSpPr>
          <p:cNvPr id="10" name="Titre">
            <a:extLst>
              <a:ext uri="{FF2B5EF4-FFF2-40B4-BE49-F238E27FC236}">
                <a16:creationId xmlns:a16="http://schemas.microsoft.com/office/drawing/2014/main" id="{685AE479-E7BE-1CD8-0B1B-8329CC1A523B}"/>
              </a:ext>
            </a:extLst>
          </p:cNvPr>
          <p:cNvSpPr/>
          <p:nvPr/>
        </p:nvSpPr>
        <p:spPr>
          <a:xfrm>
            <a:off x="6254750" y="2933700"/>
            <a:ext cx="5321300" cy="3556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800"/>
              </a:lnSpc>
              <a:buNone/>
            </a:pPr>
            <a:r>
              <a:rPr lang="en-US" sz="2000" b="1" u="sng" dirty="0">
                <a:solidFill>
                  <a:srgbClr val="49313B"/>
                </a:solidFill>
                <a:latin typeface="Bahnschrift SemiLight" panose="020B0502040204020203" pitchFamily="34" charset="0"/>
                <a:ea typeface="Satoshi Bold" pitchFamily="34" charset="-122"/>
                <a:cs typeface="Satoshi Bold" pitchFamily="34" charset="-120"/>
                <a:hlinkClick r:id="rId3">
                  <a:extLst>
                    <a:ext uri="{A12FA001-AC4F-418D-AE19-62706E023703}">
                      <ahyp:hlinkClr xmlns:ahyp="http://schemas.microsoft.com/office/drawing/2018/hyperlinkcolor" val="tx"/>
                    </a:ext>
                  </a:extLst>
                </a:hlinkClick>
              </a:rPr>
              <a:t>Building a Cross-Platform DS</a:t>
            </a:r>
            <a:endParaRPr lang="en-US" sz="2000" dirty="0">
              <a:latin typeface="Bahnschrift SemiLight" panose="020B0502040204020203" pitchFamily="34" charset="0"/>
            </a:endParaRPr>
          </a:p>
        </p:txBody>
      </p:sp>
      <p:sp>
        <p:nvSpPr>
          <p:cNvPr id="12" name="Paragraphe">
            <a:extLst>
              <a:ext uri="{FF2B5EF4-FFF2-40B4-BE49-F238E27FC236}">
                <a16:creationId xmlns:a16="http://schemas.microsoft.com/office/drawing/2014/main" id="{25BD737E-2DA3-C589-0984-46EDEE605AAF}"/>
              </a:ext>
            </a:extLst>
          </p:cNvPr>
          <p:cNvSpPr/>
          <p:nvPr/>
        </p:nvSpPr>
        <p:spPr>
          <a:xfrm>
            <a:off x="6254750" y="3352800"/>
            <a:ext cx="5314950" cy="5715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ts val="2240"/>
              </a:lnSpc>
              <a:buNone/>
            </a:pPr>
            <a:r>
              <a:rPr lang="en-US" sz="1600" dirty="0">
                <a:solidFill>
                  <a:srgbClr val="49313B"/>
                </a:solidFill>
                <a:latin typeface="Bahnschrift SemiLight" panose="020B0502040204020203" pitchFamily="34" charset="0"/>
                <a:ea typeface="Satoshi Regular" pitchFamily="34" charset="-122"/>
                <a:cs typeface="Satoshi Regular" pitchFamily="34" charset="-120"/>
              </a:rPr>
              <a:t>Kako je Booking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izgradio</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svoj</a:t>
            </a:r>
            <a:r>
              <a:rPr lang="en-US" sz="1600" dirty="0">
                <a:solidFill>
                  <a:srgbClr val="49313B"/>
                </a:solidFill>
                <a:latin typeface="Bahnschrift SemiLight" panose="020B0502040204020203" pitchFamily="34" charset="0"/>
                <a:ea typeface="Satoshi Regular" pitchFamily="34" charset="-122"/>
                <a:cs typeface="Satoshi Regular" pitchFamily="34" charset="-120"/>
              </a:rPr>
              <a:t>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višestruki</a:t>
            </a:r>
            <a:r>
              <a:rPr lang="en-US" sz="1600" dirty="0">
                <a:solidFill>
                  <a:srgbClr val="49313B"/>
                </a:solidFill>
                <a:latin typeface="Bahnschrift SemiLight" panose="020B0502040204020203" pitchFamily="34" charset="0"/>
                <a:ea typeface="Satoshi Regular" pitchFamily="34" charset="-122"/>
                <a:cs typeface="Satoshi Regular" pitchFamily="34" charset="-120"/>
              </a:rPr>
              <a:t> (multi-platform) design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sustav</a:t>
            </a:r>
            <a:r>
              <a:rPr lang="en-US" sz="1600" dirty="0">
                <a:solidFill>
                  <a:srgbClr val="49313B"/>
                </a:solidFill>
                <a:latin typeface="Bahnschrift SemiLight" panose="020B0502040204020203" pitchFamily="34" charset="0"/>
                <a:ea typeface="Satoshi Regular" pitchFamily="34" charset="-122"/>
                <a:cs typeface="Satoshi Regular" pitchFamily="34" charset="-120"/>
              </a:rPr>
              <a:t>(design language,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tokeni</a:t>
            </a:r>
            <a:r>
              <a:rPr lang="en-US" sz="1600" dirty="0">
                <a:solidFill>
                  <a:srgbClr val="49313B"/>
                </a:solidFill>
                <a:latin typeface="Bahnschrift SemiLight" panose="020B0502040204020203" pitchFamily="34" charset="0"/>
                <a:ea typeface="Satoshi Regular" pitchFamily="34" charset="-122"/>
                <a:cs typeface="Satoshi Regular" pitchFamily="34" charset="-120"/>
              </a:rPr>
              <a:t>, “design API” </a:t>
            </a:r>
            <a:r>
              <a:rPr lang="en-US" sz="1600" dirty="0" err="1">
                <a:solidFill>
                  <a:srgbClr val="49313B"/>
                </a:solidFill>
                <a:latin typeface="Bahnschrift SemiLight" panose="020B0502040204020203" pitchFamily="34" charset="0"/>
                <a:ea typeface="Satoshi Regular" pitchFamily="34" charset="-122"/>
                <a:cs typeface="Satoshi Regular" pitchFamily="34" charset="-120"/>
              </a:rPr>
              <a:t>i</a:t>
            </a:r>
            <a:r>
              <a:rPr lang="en-US" sz="1600" dirty="0">
                <a:solidFill>
                  <a:srgbClr val="49313B"/>
                </a:solidFill>
                <a:latin typeface="Bahnschrift SemiLight" panose="020B0502040204020203" pitchFamily="34" charset="0"/>
                <a:ea typeface="Satoshi Regular" pitchFamily="34" charset="-122"/>
                <a:cs typeface="Satoshi Regular" pitchFamily="34" charset="-120"/>
              </a:rPr>
              <a:t> dr.)</a:t>
            </a:r>
            <a:endParaRPr lang="en-US" sz="1600" dirty="0">
              <a:latin typeface="Bahnschrift SemiLight" panose="020B0502040204020203" pitchFamily="34" charset="0"/>
            </a:endParaRPr>
          </a:p>
        </p:txBody>
      </p:sp>
    </p:spTree>
    <p:extLst>
      <p:ext uri="{BB962C8B-B14F-4D97-AF65-F5344CB8AC3E}">
        <p14:creationId xmlns:p14="http://schemas.microsoft.com/office/powerpoint/2010/main" val="35738498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4A37-57FA-C318-D8BD-7CD55BF3120E}"/>
              </a:ext>
            </a:extLst>
          </p:cNvPr>
          <p:cNvSpPr>
            <a:spLocks noGrp="1"/>
          </p:cNvSpPr>
          <p:nvPr>
            <p:ph type="title"/>
          </p:nvPr>
        </p:nvSpPr>
        <p:spPr/>
        <p:txBody>
          <a:bodyPr/>
          <a:lstStyle/>
          <a:p>
            <a:r>
              <a:rPr lang="hr-HR">
                <a:latin typeface="Bahnschrift SemiBold"/>
              </a:rPr>
              <a:t>DODATNA LITERATURA</a:t>
            </a:r>
            <a:endParaRPr lang="fr-BE" dirty="0"/>
          </a:p>
        </p:txBody>
      </p:sp>
      <p:sp>
        <p:nvSpPr>
          <p:cNvPr id="3" name="Content Placeholder 2">
            <a:extLst>
              <a:ext uri="{FF2B5EF4-FFF2-40B4-BE49-F238E27FC236}">
                <a16:creationId xmlns:a16="http://schemas.microsoft.com/office/drawing/2014/main" id="{AF9481A4-C57C-1D90-58CC-37BF8F757BD6}"/>
              </a:ext>
            </a:extLst>
          </p:cNvPr>
          <p:cNvSpPr>
            <a:spLocks noGrp="1"/>
          </p:cNvSpPr>
          <p:nvPr>
            <p:ph idx="1"/>
          </p:nvPr>
        </p:nvSpPr>
        <p:spPr/>
        <p:txBody>
          <a:bodyPr/>
          <a:lstStyle/>
          <a:p>
            <a:r>
              <a:rPr lang="en-US" dirty="0">
                <a:ea typeface="Calibri"/>
                <a:cs typeface="Calibri"/>
                <a:hlinkClick r:id="rId3"/>
              </a:rPr>
              <a:t>https://www.designsystems.com/</a:t>
            </a:r>
            <a:endParaRPr lang="en-US" dirty="0">
              <a:ea typeface="Calibri"/>
              <a:cs typeface="Calibri"/>
            </a:endParaRPr>
          </a:p>
          <a:p>
            <a:r>
              <a:rPr lang="en-US" dirty="0">
                <a:hlinkClick r:id="rId4"/>
              </a:rPr>
              <a:t>Atomic Design by Brad Frost</a:t>
            </a:r>
            <a:r>
              <a:rPr lang="en-US" dirty="0"/>
              <a:t> </a:t>
            </a:r>
            <a:r>
              <a:rPr lang="en-US" dirty="0">
                <a:hlinkClick r:id="rId4"/>
              </a:rPr>
              <a:t>https://bradfrost.com/blog/post/atomic-web-design/</a:t>
            </a:r>
            <a:endParaRPr lang="en-US" dirty="0"/>
          </a:p>
          <a:p>
            <a:r>
              <a:rPr lang="en-US" dirty="0">
                <a:latin typeface="Bahnschrift SemiLight"/>
                <a:hlinkClick r:id="rId5"/>
              </a:rPr>
              <a:t>https://www.figma.com/best-practices/branching-in-figma/</a:t>
            </a:r>
            <a:r>
              <a:rPr lang="en-US" dirty="0">
                <a:latin typeface="Bahnschrift SemiLight"/>
              </a:rPr>
              <a:t>  </a:t>
            </a:r>
          </a:p>
          <a:p>
            <a:r>
              <a:rPr lang="en-US" dirty="0"/>
              <a:t> </a:t>
            </a:r>
            <a:r>
              <a:rPr lang="en-US" dirty="0">
                <a:latin typeface="Bahnschrift SemiLight"/>
                <a:hlinkClick r:id="rId6"/>
              </a:rPr>
              <a:t>https://help.figma.com/hc/en-us/articles/360039820134-Manage-and-share-styles#Move_styles</a:t>
            </a:r>
            <a:r>
              <a:rPr lang="en-US" dirty="0">
                <a:latin typeface="Bahnschrift SemiLight"/>
              </a:rPr>
              <a:t>   </a:t>
            </a:r>
          </a:p>
          <a:p>
            <a:endParaRPr lang="en-US" dirty="0">
              <a:ea typeface="Calibri"/>
              <a:cs typeface="Calibri"/>
            </a:endParaRPr>
          </a:p>
          <a:p>
            <a:endParaRPr lang="fr-BE" dirty="0"/>
          </a:p>
        </p:txBody>
      </p:sp>
    </p:spTree>
    <p:extLst>
      <p:ext uri="{BB962C8B-B14F-4D97-AF65-F5344CB8AC3E}">
        <p14:creationId xmlns:p14="http://schemas.microsoft.com/office/powerpoint/2010/main" val="3426289101"/>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1140c4-3360-46ff-98f6-a26ac4f9e7c6">
      <Terms xmlns="http://schemas.microsoft.com/office/infopath/2007/PartnerControls"/>
    </lcf76f155ced4ddcb4097134ff3c332f>
    <TaxCatchAll xmlns="bf2580ef-a796-40e3-be8d-6830ba55d2d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8504FBE6F52C04FB2A4B7EA498E9F89" ma:contentTypeVersion="18" ma:contentTypeDescription="Crée un document." ma:contentTypeScope="" ma:versionID="c4dbb55318fc8e39eb2fe2d406416e6f">
  <xsd:schema xmlns:xsd="http://www.w3.org/2001/XMLSchema" xmlns:xs="http://www.w3.org/2001/XMLSchema" xmlns:p="http://schemas.microsoft.com/office/2006/metadata/properties" xmlns:ns2="131140c4-3360-46ff-98f6-a26ac4f9e7c6" xmlns:ns3="bf2580ef-a796-40e3-be8d-6830ba55d2d8" targetNamespace="http://schemas.microsoft.com/office/2006/metadata/properties" ma:root="true" ma:fieldsID="d3b5e8672349ee810ad0bac57695497d" ns2:_="" ns3:_="">
    <xsd:import namespace="131140c4-3360-46ff-98f6-a26ac4f9e7c6"/>
    <xsd:import namespace="bf2580ef-a796-40e3-be8d-6830ba55d2d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140c4-3360-46ff-98f6-a26ac4f9e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907250d-aa00-4f19-8a1b-ff6a91677b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2580ef-a796-40e3-be8d-6830ba55d2d8"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eb8aacb9-cb6a-4872-9b78-6276c0f03934}" ma:internalName="TaxCatchAll" ma:showField="CatchAllData" ma:web="bf2580ef-a796-40e3-be8d-6830ba55d2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28DCC9-3A7C-46E0-AF69-E90CB586C306}">
  <ds:schemaRefs>
    <ds:schemaRef ds:uri="http://schemas.microsoft.com/sharepoint/v3/contenttype/forms"/>
  </ds:schemaRefs>
</ds:datastoreItem>
</file>

<file path=customXml/itemProps2.xml><?xml version="1.0" encoding="utf-8"?>
<ds:datastoreItem xmlns:ds="http://schemas.openxmlformats.org/officeDocument/2006/customXml" ds:itemID="{39444DCB-F353-45D1-89E5-844BE481A4DD}">
  <ds:schemaRefs>
    <ds:schemaRef ds:uri="http://purl.org/dc/terms/"/>
    <ds:schemaRef ds:uri="http://schemas.microsoft.com/office/2006/documentManagement/types"/>
    <ds:schemaRef ds:uri="http://schemas.microsoft.com/office/2006/metadata/properties"/>
    <ds:schemaRef ds:uri="d1e65d10-a41e-4ab0-a082-e2a72231be5f"/>
    <ds:schemaRef ds:uri="http://schemas.microsoft.com/office/infopath/2007/PartnerControls"/>
    <ds:schemaRef ds:uri="http://purl.org/dc/elements/1.1/"/>
    <ds:schemaRef ds:uri="http://purl.org/dc/dcmitype/"/>
    <ds:schemaRef ds:uri="http://schemas.openxmlformats.org/package/2006/metadata/core-properties"/>
    <ds:schemaRef ds:uri="http://www.w3.org/XML/1998/namespace"/>
    <ds:schemaRef ds:uri="131140c4-3360-46ff-98f6-a26ac4f9e7c6"/>
    <ds:schemaRef ds:uri="bf2580ef-a796-40e3-be8d-6830ba55d2d8"/>
  </ds:schemaRefs>
</ds:datastoreItem>
</file>

<file path=customXml/itemProps3.xml><?xml version="1.0" encoding="utf-8"?>
<ds:datastoreItem xmlns:ds="http://schemas.openxmlformats.org/officeDocument/2006/customXml" ds:itemID="{B4F65205-4A92-4143-942A-C1BF4D0398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140c4-3360-46ff-98f6-a26ac4f9e7c6"/>
    <ds:schemaRef ds:uri="bf2580ef-a796-40e3-be8d-6830ba55d2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6036</TotalTime>
  <Words>4256</Words>
  <Application>Microsoft Macintosh PowerPoint</Application>
  <PresentationFormat>Widescreen</PresentationFormat>
  <Paragraphs>538</Paragraphs>
  <Slides>67</Slides>
  <Notes>24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67</vt:i4>
      </vt:variant>
    </vt:vector>
  </HeadingPairs>
  <TitlesOfParts>
    <vt:vector size="83" baseType="lpstr">
      <vt:lpstr>Arial</vt:lpstr>
      <vt:lpstr>Bahnschrift</vt:lpstr>
      <vt:lpstr>Bahnschrift SemiBold</vt:lpstr>
      <vt:lpstr>Bahnschrift SemiLight</vt:lpstr>
      <vt:lpstr>Calibri</vt:lpstr>
      <vt:lpstr>Calibri Light</vt:lpstr>
      <vt:lpstr>Courier New</vt:lpstr>
      <vt:lpstr>Helvetica Neue</vt:lpstr>
      <vt:lpstr>Montserrat</vt:lpstr>
      <vt:lpstr>Nunito</vt:lpstr>
      <vt:lpstr>Roboto</vt:lpstr>
      <vt:lpstr>Roboto Black</vt:lpstr>
      <vt:lpstr>Roboto Medium</vt:lpstr>
      <vt:lpstr>Satoshi Bold</vt:lpstr>
      <vt:lpstr>Satoshi Regular</vt:lpstr>
      <vt:lpstr>Tema sustava Office</vt:lpstr>
      <vt:lpstr>SHIFT4IT</vt:lpstr>
      <vt:lpstr>Sustav dizajna i prototipiranje</vt:lpstr>
      <vt:lpstr>Sustav dizajna i prototipiranje</vt:lpstr>
      <vt:lpstr>Uvod u sustav dizajna</vt:lpstr>
      <vt:lpstr>Što je sustav dizajna?</vt:lpstr>
      <vt:lpstr>Prednosti sustava dizajna</vt:lpstr>
      <vt:lpstr>Primjeri</vt:lpstr>
      <vt:lpstr>Primjeri</vt:lpstr>
      <vt:lpstr>Primjeri</vt:lpstr>
      <vt:lpstr>Primjeri</vt:lpstr>
      <vt:lpstr>Neki principi sustava dizajna</vt:lpstr>
      <vt:lpstr>Uloge i odgovornosti</vt:lpstr>
      <vt:lpstr>Tko bi trebao biti dio osnovnog (core) tima sustava dizajna? </vt:lpstr>
      <vt:lpstr>Provedba projekata sustava dizajna</vt:lpstr>
      <vt:lpstr>Usklađivanje (alignment)</vt:lpstr>
      <vt:lpstr>Usklađivanje (alignment)</vt:lpstr>
      <vt:lpstr>Usklađivanje (alignment)</vt:lpstr>
      <vt:lpstr>Usklađivanje (alignment)</vt:lpstr>
      <vt:lpstr>Usklađivanje (alignment)</vt:lpstr>
      <vt:lpstr>2. Inventar i struktura datoteka </vt:lpstr>
      <vt:lpstr>2. Inventar i struktura datoteka </vt:lpstr>
      <vt:lpstr>2. Inventar i struktura datoteka </vt:lpstr>
      <vt:lpstr>VJEŽBA</vt:lpstr>
      <vt:lpstr>Primjer: Zalando</vt:lpstr>
      <vt:lpstr>Primjer: Zalando</vt:lpstr>
      <vt:lpstr>Primjer: Zalando </vt:lpstr>
      <vt:lpstr>Hijerarhija</vt:lpstr>
      <vt:lpstr>Struktura datoteka vašeg sustava dizajna</vt:lpstr>
      <vt:lpstr>Struktura datoteka vašeg sustava dizajna</vt:lpstr>
      <vt:lpstr>Struktura datoteka vašeg sustava dizajna</vt:lpstr>
      <vt:lpstr>Struktura datoteka vašeg sustava dizajna</vt:lpstr>
      <vt:lpstr>Struktura datoteka vašeg sustava dizajna</vt:lpstr>
      <vt:lpstr>Nomenklatura</vt:lpstr>
      <vt:lpstr>Primjeri / Linkovi </vt:lpstr>
      <vt:lpstr>Ikone</vt:lpstr>
      <vt:lpstr>Komponente</vt:lpstr>
      <vt:lpstr>Dokumentacija: pristupačnost</vt:lpstr>
      <vt:lpstr>Dokumentacija: pristupačnost</vt:lpstr>
      <vt:lpstr>Dokumentacijski alati</vt:lpstr>
      <vt:lpstr>Savjeti i trikovi</vt:lpstr>
      <vt:lpstr>Savjeti i trikovi: stilovi</vt:lpstr>
      <vt:lpstr>Savjeti i trikovi: nomenklatura</vt:lpstr>
      <vt:lpstr>Savjeti i trikovi: promjene</vt:lpstr>
      <vt:lpstr>Savjeti i trikovi: bilješka (anotacija)</vt:lpstr>
      <vt:lpstr>Savjeti i trikovi: sustav grana</vt:lpstr>
      <vt:lpstr>Savjeti i trikovi: premještanje stilova</vt:lpstr>
      <vt:lpstr>Savjeti i trikovi: premještanje komponenata</vt:lpstr>
      <vt:lpstr>Savjeti i trikovi: slot komponente </vt:lpstr>
      <vt:lpstr>Različiti tipovi UI</vt:lpstr>
      <vt:lpstr>RASPRAVA</vt:lpstr>
      <vt:lpstr>Zoniranje</vt:lpstr>
      <vt:lpstr>Zoniranje</vt:lpstr>
      <vt:lpstr>Low-fi wireframe </vt:lpstr>
      <vt:lpstr>Low-fi wireframe </vt:lpstr>
      <vt:lpstr>Low-fi wireframe </vt:lpstr>
      <vt:lpstr>High-fi wireframe </vt:lpstr>
      <vt:lpstr>Interaktivno prototipiranje</vt:lpstr>
      <vt:lpstr>Interaktivno prototipiranje</vt:lpstr>
      <vt:lpstr>Što ? Kada ? </vt:lpstr>
      <vt:lpstr>Vježba</vt:lpstr>
      <vt:lpstr>Sažetak</vt:lpstr>
      <vt:lpstr>IZVORI</vt:lpstr>
      <vt:lpstr>IZVORI</vt:lpstr>
      <vt:lpstr>IZVORI</vt:lpstr>
      <vt:lpstr>IZVORI</vt:lpstr>
      <vt:lpstr>IZVORI</vt:lpstr>
      <vt:lpstr>DODATNA LITERATURA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Dino Duvnjak</cp:lastModifiedBy>
  <cp:revision>336</cp:revision>
  <dcterms:created xsi:type="dcterms:W3CDTF">2024-02-12T13:35:47Z</dcterms:created>
  <dcterms:modified xsi:type="dcterms:W3CDTF">2026-04-13T09:09:49Z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0x01010048504FBE6F52C04FB2A4B7EA498E9F89</vt:lpwstr>
  </property>
  <property fmtid="{D5CDD505-2E9C-101B-9397-08002B2CF9AE}" pid="3" name="MediaServiceImageTags">
    <vt:lpwstr/>
  </property>
</Properties>
</file>
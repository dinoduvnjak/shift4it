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325" r:id="rId2"/>
    <p:sldId id="256" r:id="rId3"/>
    <p:sldId id="257" r:id="rId4"/>
    <p:sldId id="313" r:id="rId5"/>
    <p:sldId id="320" r:id="rId6"/>
    <p:sldId id="319" r:id="rId7"/>
    <p:sldId id="258" r:id="rId8"/>
    <p:sldId id="305" r:id="rId9"/>
    <p:sldId id="306" r:id="rId10"/>
    <p:sldId id="261" r:id="rId11"/>
    <p:sldId id="263" r:id="rId12"/>
    <p:sldId id="307" r:id="rId13"/>
    <p:sldId id="308" r:id="rId14"/>
    <p:sldId id="309" r:id="rId15"/>
    <p:sldId id="265" r:id="rId16"/>
    <p:sldId id="264" r:id="rId17"/>
    <p:sldId id="259" r:id="rId18"/>
    <p:sldId id="273" r:id="rId19"/>
    <p:sldId id="276" r:id="rId20"/>
    <p:sldId id="274" r:id="rId21"/>
    <p:sldId id="279" r:id="rId22"/>
    <p:sldId id="283" r:id="rId23"/>
    <p:sldId id="284" r:id="rId24"/>
    <p:sldId id="285" r:id="rId25"/>
    <p:sldId id="286" r:id="rId26"/>
    <p:sldId id="288" r:id="rId27"/>
    <p:sldId id="260" r:id="rId28"/>
    <p:sldId id="289" r:id="rId29"/>
    <p:sldId id="290" r:id="rId30"/>
    <p:sldId id="291" r:id="rId31"/>
    <p:sldId id="295" r:id="rId32"/>
    <p:sldId id="296" r:id="rId33"/>
    <p:sldId id="297" r:id="rId34"/>
    <p:sldId id="299" r:id="rId35"/>
    <p:sldId id="300" r:id="rId36"/>
    <p:sldId id="301" r:id="rId37"/>
    <p:sldId id="302" r:id="rId38"/>
    <p:sldId id="303" r:id="rId39"/>
    <p:sldId id="262" r:id="rId40"/>
    <p:sldId id="311" r:id="rId41"/>
    <p:sldId id="312" r:id="rId42"/>
    <p:sldId id="316" r:id="rId43"/>
    <p:sldId id="318" r:id="rId44"/>
    <p:sldId id="317" r:id="rId45"/>
    <p:sldId id="315" r:id="rId46"/>
    <p:sldId id="321" r:id="rId47"/>
    <p:sldId id="323" r:id="rId48"/>
    <p:sldId id="322" r:id="rId49"/>
    <p:sldId id="324" r:id="rId50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56F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94" autoAdjust="0"/>
    <p:restoredTop sz="58031" autoAdjust="0"/>
  </p:normalViewPr>
  <p:slideViewPr>
    <p:cSldViewPr snapToGrid="0">
      <p:cViewPr varScale="1">
        <p:scale>
          <a:sx n="102" d="100"/>
          <a:sy n="102" d="100"/>
        </p:scale>
        <p:origin x="20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6390A9-51F9-42DE-A6C8-0BB1C1D478EC}" type="datetimeFigureOut">
              <a:rPr lang="en-GB" smtClean="0"/>
              <a:t>01/04/2026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12C23-299B-480E-9F57-DFF7B13B3D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757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agile/scrum/backlogs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sana.com/resources/product-backlog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ual-paradigm.com/scrum/theme-epic-user-story-task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agile/scrum/backlogs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omanpichler.medium.com/seven-product-backlog-mistakes-to-avoid-44a667707021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nifest.ly/blog/resource-breakdown-structure-rbs-definition-examples-and-templates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nsislearning.com/blog/resource-breakdown-structure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gilemania.com/epic-vs-feature-vs-user-story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viom.com/blog/resource-breakdown-structure-its-significance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tesizelearning.co.uk/resources/moscow-prioritisation-model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ctivecollab.com/blog/project-management/moscow-method" TargetMode="Externa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twproject.com/blog/how-to-create-an-effective-project-backlo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jectmanagertemplate.com/post/understanding-agile-user-story-cards-a-guide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power-ups/5b7ae739fad82e45988016cf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07hjhKTeV1M" TargetMode="Externa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mstock.com/blog/capacity-plannin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atlassian.com/work-management/project-management/resource-planning/capacity-planning" TargetMode="Externa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ductplan.com/learn/80-20-rule-agile/#:~:text=The%20Pareto%20Principle%2C%20commonly%20referred,for%2080%25%20of%20your%20results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braintrustgroup.com/blog/pareto-knows-agile" TargetMode="Externa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co/blog/agile-release-planning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miro.com/project-management/what-is-a-release-plan/" TargetMode="External"/><Relationship Id="rId4" Type="http://schemas.openxmlformats.org/officeDocument/2006/relationships/hyperlink" Target="https://www.geeksforgeeks.org/software-engineering/what-is-agile-release-planning/" TargetMode="Externa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resources.scrumalliance.org/Article/agile-forecasting-focus-factor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dinburghagile.com/agile-encyclopedia/agile-estimating/" TargetMode="Externa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762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endParaRPr lang="hr-HR" dirty="0"/>
          </a:p>
          <a:p>
            <a:r>
              <a:rPr lang="hr-HR" dirty="0"/>
              <a:t>Predstavite 3. cjelinu i objasnite da je fokus na „praktičnom </a:t>
            </a:r>
            <a:r>
              <a:rPr lang="hr-HR" dirty="0" err="1"/>
              <a:t>Agile</a:t>
            </a:r>
            <a:r>
              <a:rPr lang="hr-HR" dirty="0"/>
              <a:t> planiranju”: pretvaranju potreba u radne stavke, njihovom jasnom strukturiranju i usklađivanju sa stvarnim kapacitetom tima.</a:t>
            </a:r>
          </a:p>
          <a:p>
            <a:r>
              <a:rPr lang="hr-HR" dirty="0"/>
              <a:t>Prođite kroz dijelove (</a:t>
            </a:r>
            <a:r>
              <a:rPr lang="hr-HR" dirty="0" err="1"/>
              <a:t>backlog</a:t>
            </a:r>
            <a:r>
              <a:rPr lang="hr-HR" dirty="0"/>
              <a:t> → </a:t>
            </a:r>
            <a:r>
              <a:rPr lang="hr-HR" dirty="0" err="1"/>
              <a:t>granularnost</a:t>
            </a:r>
            <a:r>
              <a:rPr lang="hr-HR" dirty="0"/>
              <a:t> → planiranje kapaciteta → radionica). Naglasite da je logika postupna: prvo definiramo što treba napraviti, zatim koliki bi svaki zadatak trebao biti, a potom koliko toga možemo realno isporučiti.</a:t>
            </a:r>
          </a:p>
          <a:p>
            <a:r>
              <a:rPr lang="hr-HR" dirty="0"/>
              <a:t>Ključne poruke koje treba naglasiti:</a:t>
            </a:r>
            <a:br>
              <a:rPr lang="hr-HR" dirty="0"/>
            </a:br>
            <a:r>
              <a:rPr lang="hr-HR" dirty="0" err="1"/>
              <a:t>Agile</a:t>
            </a:r>
            <a:r>
              <a:rPr lang="hr-HR" dirty="0"/>
              <a:t> planiranje je kontinuiran proces, a ne jednokratni plan.</a:t>
            </a:r>
            <a:br>
              <a:rPr lang="hr-HR" dirty="0"/>
            </a:br>
            <a:r>
              <a:rPr lang="hr-HR" dirty="0"/>
              <a:t>Dobro planiranje smanjuje preopterećenje i povećava predvidljivost.</a:t>
            </a:r>
            <a:br>
              <a:rPr lang="hr-HR" dirty="0"/>
            </a:br>
            <a:r>
              <a:rPr lang="hr-HR" dirty="0"/>
              <a:t>Cilj je održiva isporuka (kvaliteta + tempo).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375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endParaRPr lang="hr-HR" dirty="0"/>
          </a:p>
          <a:p>
            <a:r>
              <a:rPr lang="hr-HR" dirty="0"/>
              <a:t>Postavite očekivanja: ova cjelina je praktična i usmjerena na razvoj konkretnih vještina.</a:t>
            </a:r>
          </a:p>
          <a:p>
            <a:r>
              <a:rPr lang="hr-HR" dirty="0"/>
              <a:t>Parafrazirajte sadržaj kao kratku priču: „Naučit ćemo kako potrebe pretvoriti u </a:t>
            </a:r>
            <a:r>
              <a:rPr lang="hr-HR" dirty="0" err="1"/>
              <a:t>prioritetizirani</a:t>
            </a:r>
            <a:r>
              <a:rPr lang="hr-HR" dirty="0"/>
              <a:t> </a:t>
            </a:r>
            <a:r>
              <a:rPr lang="hr-HR" dirty="0" err="1"/>
              <a:t>backlog</a:t>
            </a:r>
            <a:r>
              <a:rPr lang="hr-HR" dirty="0"/>
              <a:t>, kako zapisati radne stavke na odgovarajućoj razini detalja i kako planirati isporuku na temelju onoga što tim zaista može napraviti.”</a:t>
            </a:r>
          </a:p>
          <a:p>
            <a:r>
              <a:rPr lang="hr-HR" dirty="0"/>
              <a:t>Imajte na umu: polaznici mogu zamijeniti pojam „</a:t>
            </a:r>
            <a:r>
              <a:rPr lang="hr-HR" dirty="0" err="1"/>
              <a:t>backlog</a:t>
            </a:r>
            <a:r>
              <a:rPr lang="hr-HR" dirty="0"/>
              <a:t>” s običnom to-do listom. Pojasnite da je </a:t>
            </a:r>
            <a:r>
              <a:rPr lang="hr-HR" dirty="0" err="1"/>
              <a:t>backlog</a:t>
            </a:r>
            <a:r>
              <a:rPr lang="hr-HR" dirty="0"/>
              <a:t> </a:t>
            </a:r>
            <a:r>
              <a:rPr lang="hr-HR" b="1" dirty="0" err="1"/>
              <a:t>prioritetiziran</a:t>
            </a:r>
            <a:r>
              <a:rPr lang="hr-HR" b="1" dirty="0"/>
              <a:t> i stalno se razvija</a:t>
            </a:r>
            <a:r>
              <a:rPr lang="hr-HR" dirty="0"/>
              <a:t> te predstavlja popis vrijednosti i rada koji se kontinuirano ažurira.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502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025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73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Predstavite fokus ovog dijela: izrada i održavanje </a:t>
            </a:r>
            <a:r>
              <a:rPr lang="hr-HR" dirty="0" err="1"/>
              <a:t>backloga</a:t>
            </a:r>
            <a:r>
              <a:rPr lang="hr-HR" dirty="0"/>
              <a:t>.</a:t>
            </a:r>
          </a:p>
          <a:p>
            <a:r>
              <a:rPr lang="hr-HR" dirty="0"/>
              <a:t>Objasnite da je </a:t>
            </a:r>
            <a:r>
              <a:rPr lang="hr-HR" dirty="0" err="1"/>
              <a:t>backlog</a:t>
            </a:r>
            <a:r>
              <a:rPr lang="hr-HR" dirty="0"/>
              <a:t> most između potreba i isporuke.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228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endParaRPr lang="hr-HR" dirty="0"/>
          </a:p>
          <a:p>
            <a:r>
              <a:rPr lang="hr-HR" dirty="0"/>
              <a:t>Definirajte </a:t>
            </a:r>
            <a:r>
              <a:rPr lang="hr-HR" dirty="0" err="1"/>
              <a:t>backlog</a:t>
            </a:r>
            <a:r>
              <a:rPr lang="hr-HR" dirty="0"/>
              <a:t> kao dinamičan, </a:t>
            </a:r>
            <a:r>
              <a:rPr lang="hr-HR" dirty="0" err="1"/>
              <a:t>prioritetiziran</a:t>
            </a:r>
            <a:r>
              <a:rPr lang="hr-HR" dirty="0"/>
              <a:t> popis i pojasnite vlasništvo.</a:t>
            </a:r>
          </a:p>
          <a:p>
            <a:r>
              <a:rPr lang="hr-HR" dirty="0"/>
              <a:t>Naglasite sljedeće točke:</a:t>
            </a:r>
            <a:br>
              <a:rPr lang="hr-HR" dirty="0"/>
            </a:br>
            <a:r>
              <a:rPr lang="hr-HR" dirty="0" err="1"/>
              <a:t>Backlog</a:t>
            </a:r>
            <a:r>
              <a:rPr lang="hr-HR" dirty="0"/>
              <a:t> = jedinstveni izvor istine o onome što bi se moglo izgraditi, popraviti ili unaprijediti.</a:t>
            </a:r>
            <a:br>
              <a:rPr lang="hr-HR" dirty="0"/>
            </a:br>
            <a:r>
              <a:rPr lang="hr-HR" dirty="0"/>
              <a:t>Kontinuirano se razvija kako učimo i dobivamo nove informacije.</a:t>
            </a:r>
            <a:br>
              <a:rPr lang="hr-HR" dirty="0"/>
            </a:br>
            <a:r>
              <a:rPr lang="hr-HR" dirty="0"/>
              <a:t>U vlasništvu je / uređuje ga </a:t>
            </a:r>
            <a:r>
              <a:rPr lang="hr-HR" dirty="0" err="1"/>
              <a:t>Product</a:t>
            </a:r>
            <a:r>
              <a:rPr lang="hr-HR" dirty="0"/>
              <a:t> </a:t>
            </a:r>
            <a:r>
              <a:rPr lang="hr-HR" dirty="0" err="1"/>
              <a:t>Owner</a:t>
            </a:r>
            <a:r>
              <a:rPr lang="hr-HR" dirty="0"/>
              <a:t> (ili osoba odgovorna za odluke o vrijednosti).</a:t>
            </a:r>
          </a:p>
          <a:p>
            <a:r>
              <a:rPr lang="hr-HR" dirty="0" err="1"/>
              <a:t>Backlog</a:t>
            </a:r>
            <a:r>
              <a:rPr lang="hr-HR" dirty="0"/>
              <a:t> nije jamstvo niti ugovor. To je transparentan red mogućih stavki poredanih prema vrijednosti.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https://www.atlassian.com/agile/scrum/backlogs</a:t>
            </a:r>
            <a:br>
              <a:rPr lang="hr-HR" dirty="0"/>
            </a:br>
            <a:r>
              <a:rPr lang="hr-HR" dirty="0">
                <a:hlinkClick r:id="rId4"/>
              </a:rPr>
              <a:t>https://asana.com/resources/product-backlog</a:t>
            </a:r>
            <a:endParaRPr lang="hr-HR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693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Prođite kroz svaku sastavnicu i dajte jednostavan primjer:</a:t>
            </a:r>
            <a:br>
              <a:rPr lang="hr-HR" dirty="0"/>
            </a:br>
            <a:r>
              <a:rPr lang="hr-HR" dirty="0"/>
              <a:t>Naslov: kratka oznaka</a:t>
            </a:r>
            <a:br>
              <a:rPr lang="hr-HR" dirty="0"/>
            </a:br>
            <a:r>
              <a:rPr lang="hr-HR" dirty="0"/>
              <a:t>Opis: što i zašto</a:t>
            </a:r>
            <a:br>
              <a:rPr lang="hr-HR" dirty="0"/>
            </a:br>
            <a:r>
              <a:rPr lang="hr-HR" dirty="0"/>
              <a:t>Kriteriji prihvaćanja: što znači da je nešto „dovršeno” (mjerljivo/</a:t>
            </a:r>
            <a:r>
              <a:rPr lang="hr-HR" dirty="0" err="1"/>
              <a:t>testabilno</a:t>
            </a:r>
            <a:r>
              <a:rPr lang="hr-HR" dirty="0"/>
              <a:t>)</a:t>
            </a:r>
            <a:br>
              <a:rPr lang="hr-HR" dirty="0"/>
            </a:br>
            <a:r>
              <a:rPr lang="hr-HR" dirty="0"/>
              <a:t>Prioritet: vrijednost / hitnost</a:t>
            </a:r>
            <a:br>
              <a:rPr lang="hr-HR" dirty="0"/>
            </a:br>
            <a:r>
              <a:rPr lang="hr-HR" dirty="0"/>
              <a:t>Procjena: trud / veličina zadatka</a:t>
            </a:r>
          </a:p>
          <a:p>
            <a:r>
              <a:rPr lang="hr-HR" dirty="0"/>
              <a:t>Posebno naglasite kriterije prihvaćanja kao najčešće izostavljeni element; oni sprječavaju nesporazume i potrebu za ponovnim radom.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952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Pokažite da timovi mogu sami odabrati </a:t>
            </a:r>
            <a:r>
              <a:rPr lang="hr-HR" dirty="0" err="1"/>
              <a:t>granularnost</a:t>
            </a:r>
            <a:r>
              <a:rPr lang="hr-HR" dirty="0"/>
              <a:t> kartica i prikažite konkretan primjer razrade.</a:t>
            </a:r>
          </a:p>
          <a:p>
            <a:r>
              <a:rPr lang="hr-HR" dirty="0"/>
              <a:t>Objasnite hijerarhiju (opseg/vizija → epici → </a:t>
            </a:r>
            <a:r>
              <a:rPr lang="hr-HR" dirty="0" err="1"/>
              <a:t>storyji</a:t>
            </a:r>
            <a:r>
              <a:rPr lang="hr-HR" dirty="0"/>
              <a:t> → zadaci). Iskoristite primjer natječaja kako biste pokazali kako se jedan „opseg” pretvara u organiziran rad.</a:t>
            </a:r>
          </a:p>
          <a:p>
            <a:r>
              <a:rPr lang="hr-HR" dirty="0"/>
              <a:t>Ključna poruka: </a:t>
            </a:r>
            <a:r>
              <a:rPr lang="hr-HR" dirty="0" err="1"/>
              <a:t>granularnost</a:t>
            </a:r>
            <a:r>
              <a:rPr lang="hr-HR" dirty="0"/>
              <a:t> je stvar izbora — odgovarajuća razina ovisi o vidljivosti, upravljivosti i potrebama za učenjem.</a:t>
            </a:r>
          </a:p>
          <a:p>
            <a:r>
              <a:rPr lang="hr-HR" dirty="0"/>
              <a:t>Imajte na umu: izbjegavajte preuranjeno pretjerano strukturiranje; krenite s većim cjelinama i dijelite ih kako stječete nova saznanja.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653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endParaRPr lang="hr-HR" dirty="0"/>
          </a:p>
          <a:p>
            <a:r>
              <a:rPr lang="hr-HR" dirty="0"/>
              <a:t>Ovaj dijagram prikazuje kako se rad u </a:t>
            </a:r>
            <a:r>
              <a:rPr lang="hr-HR" dirty="0" err="1"/>
              <a:t>Agile</a:t>
            </a:r>
            <a:r>
              <a:rPr lang="hr-HR" dirty="0"/>
              <a:t> projektima razlaže — od velikih ideja do malih zadataka. Veliki ciljevi dijele se na sve manje dijelove dok ne postanu konkretne aktivnosti koje se mogu provesti.</a:t>
            </a:r>
          </a:p>
          <a:p>
            <a:r>
              <a:rPr lang="hr-HR" dirty="0"/>
              <a:t>Pomozite polaznicima da protumače sadržaj i povežu ga s praksom.</a:t>
            </a:r>
          </a:p>
          <a:p>
            <a:r>
              <a:rPr lang="hr-HR" dirty="0"/>
              <a:t>Naglasite hijerarhiju: vizija → vrijednost → akcija.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https://www.visual-paradigm.com/scrum/theme-epic-user-story-task/</a:t>
            </a:r>
            <a:endParaRPr lang="hr-H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90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Dajte jednostavnu, korak-po-korak metodu za izradu i održavanje </a:t>
            </a:r>
            <a:r>
              <a:rPr lang="hr-HR" dirty="0" err="1"/>
              <a:t>backloga</a:t>
            </a:r>
            <a:r>
              <a:rPr lang="hr-HR" dirty="0"/>
              <a:t>.</a:t>
            </a:r>
          </a:p>
          <a:p>
            <a:r>
              <a:rPr lang="hr-HR" dirty="0"/>
              <a:t>Pretvorite navedene točke u jasnu rutinu:</a:t>
            </a:r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Definirajte ciljeve / problem.</a:t>
            </a:r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Napišite </a:t>
            </a:r>
            <a:r>
              <a:rPr lang="hr-HR" dirty="0" err="1"/>
              <a:t>user</a:t>
            </a:r>
            <a:r>
              <a:rPr lang="hr-HR" dirty="0"/>
              <a:t> </a:t>
            </a:r>
            <a:r>
              <a:rPr lang="hr-HR" dirty="0" err="1"/>
              <a:t>storyje</a:t>
            </a:r>
            <a:r>
              <a:rPr lang="hr-H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Razlomite </a:t>
            </a:r>
            <a:r>
              <a:rPr lang="hr-HR" dirty="0" err="1"/>
              <a:t>epice</a:t>
            </a:r>
            <a:r>
              <a:rPr lang="hr-HR" dirty="0"/>
              <a:t> na </a:t>
            </a:r>
            <a:r>
              <a:rPr lang="hr-HR" dirty="0" err="1"/>
              <a:t>storyje</a:t>
            </a:r>
            <a:r>
              <a:rPr lang="hr-HR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Odredite prioritete.</a:t>
            </a:r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Procijenite napor zajedno s timom.</a:t>
            </a:r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Redovito doradite </a:t>
            </a:r>
            <a:r>
              <a:rPr lang="hr-HR" dirty="0" err="1"/>
              <a:t>backlog</a:t>
            </a:r>
            <a:r>
              <a:rPr lang="hr-HR" dirty="0"/>
              <a:t>.</a:t>
            </a:r>
          </a:p>
          <a:p>
            <a:r>
              <a:rPr lang="hr-HR" dirty="0"/>
              <a:t>Predstavite </a:t>
            </a:r>
            <a:r>
              <a:rPr lang="hr-HR" dirty="0" err="1"/>
              <a:t>refinement</a:t>
            </a:r>
            <a:r>
              <a:rPr lang="hr-HR" dirty="0"/>
              <a:t> kao ponavljajuću naviku, a ne kao zasebnu fazu. Pojasnite da </a:t>
            </a:r>
            <a:r>
              <a:rPr lang="hr-HR" dirty="0" err="1"/>
              <a:t>refinement</a:t>
            </a:r>
            <a:r>
              <a:rPr lang="hr-HR" dirty="0"/>
              <a:t> nije sastanak samo za </a:t>
            </a:r>
            <a:r>
              <a:rPr lang="hr-HR" dirty="0" err="1"/>
              <a:t>Product</a:t>
            </a:r>
            <a:r>
              <a:rPr lang="hr-HR" dirty="0"/>
              <a:t> </a:t>
            </a:r>
            <a:r>
              <a:rPr lang="hr-HR" dirty="0" err="1"/>
              <a:t>Ownera</a:t>
            </a:r>
            <a:r>
              <a:rPr lang="hr-HR" dirty="0"/>
              <a:t> — developeri i stručnjaci trebaju sudjelovati kako bi procjene i rizici bili realni.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https://www.atlassian.com/agile/scrum/backlogs</a:t>
            </a:r>
            <a:endParaRPr lang="hr-H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474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endParaRPr lang="hr-HR" dirty="0"/>
          </a:p>
          <a:p>
            <a:r>
              <a:rPr lang="hr-HR" dirty="0"/>
              <a:t>Upozorite polaznike na tipične anti-obrasce u radu s </a:t>
            </a:r>
            <a:r>
              <a:rPr lang="hr-HR" dirty="0" err="1"/>
              <a:t>backlogom</a:t>
            </a:r>
            <a:r>
              <a:rPr lang="hr-HR" dirty="0"/>
              <a:t> koji mogu narušiti </a:t>
            </a:r>
            <a:r>
              <a:rPr lang="hr-HR" dirty="0" err="1"/>
              <a:t>Agile</a:t>
            </a:r>
            <a:r>
              <a:rPr lang="hr-HR" dirty="0"/>
              <a:t> isporuku.</a:t>
            </a:r>
          </a:p>
          <a:p>
            <a:r>
              <a:rPr lang="hr-HR" dirty="0"/>
              <a:t>Za svaku pogrešku dodajte kratko „što učiniti umjesto toga”:</a:t>
            </a:r>
          </a:p>
          <a:p>
            <a:r>
              <a:rPr lang="hr-HR" dirty="0"/>
              <a:t>Nejasni </a:t>
            </a:r>
            <a:r>
              <a:rPr lang="hr-HR" dirty="0" err="1"/>
              <a:t>storyji</a:t>
            </a:r>
            <a:r>
              <a:rPr lang="hr-HR" dirty="0"/>
              <a:t> → dodajte kriterije prihvaćanja i primjere.</a:t>
            </a:r>
            <a:br>
              <a:rPr lang="hr-HR" dirty="0"/>
            </a:br>
            <a:r>
              <a:rPr lang="hr-HR" dirty="0"/>
              <a:t>Previše detalja prerano → ostavite osnovne stavke i razrađujte ih u pravom trenutku (</a:t>
            </a:r>
            <a:r>
              <a:rPr lang="hr-HR" dirty="0" err="1"/>
              <a:t>just</a:t>
            </a:r>
            <a:r>
              <a:rPr lang="hr-HR" dirty="0"/>
              <a:t>-</a:t>
            </a:r>
            <a:r>
              <a:rPr lang="hr-HR" dirty="0" err="1"/>
              <a:t>in</a:t>
            </a:r>
            <a:r>
              <a:rPr lang="hr-HR" dirty="0"/>
              <a:t>-time).</a:t>
            </a:r>
            <a:br>
              <a:rPr lang="hr-HR" dirty="0"/>
            </a:br>
            <a:r>
              <a:rPr lang="hr-HR" dirty="0"/>
              <a:t>Bez uključenosti tima → organizirajte redovite sastanke za </a:t>
            </a:r>
            <a:r>
              <a:rPr lang="hr-HR" dirty="0" err="1"/>
              <a:t>refinement</a:t>
            </a:r>
            <a:r>
              <a:rPr lang="hr-HR" dirty="0"/>
              <a:t> s timom.</a:t>
            </a:r>
            <a:br>
              <a:rPr lang="hr-HR" dirty="0"/>
            </a:br>
            <a:r>
              <a:rPr lang="hr-HR" dirty="0"/>
              <a:t>Ignoriranje tehničkog duga i </a:t>
            </a:r>
            <a:r>
              <a:rPr lang="hr-HR" dirty="0" err="1"/>
              <a:t>bugova</a:t>
            </a:r>
            <a:r>
              <a:rPr lang="hr-HR" dirty="0"/>
              <a:t> → tretirajte ih kao stavke </a:t>
            </a:r>
            <a:r>
              <a:rPr lang="hr-HR" dirty="0" err="1"/>
              <a:t>backloga</a:t>
            </a:r>
            <a:r>
              <a:rPr lang="hr-HR" dirty="0"/>
              <a:t> s jasno definiranim rizikom i vrijednošću.</a:t>
            </a:r>
            <a:br>
              <a:rPr lang="hr-HR" dirty="0"/>
            </a:br>
            <a:r>
              <a:rPr lang="hr-HR" dirty="0" err="1"/>
              <a:t>Backlog</a:t>
            </a:r>
            <a:r>
              <a:rPr lang="hr-HR" dirty="0"/>
              <a:t> stalno raste → redovito ga čistite, arhivirajte zastarjele stavke ili ponovno odredite prioritete.</a:t>
            </a:r>
          </a:p>
          <a:p>
            <a:endParaRPr lang="hr-HR" dirty="0"/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https://romanpichler.medium.com/seven-product-backlog-mistakes-to-avoid-44a667707021</a:t>
            </a:r>
            <a:endParaRPr lang="hr-H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724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b="1" dirty="0"/>
              <a:t>Vrijeme:</a:t>
            </a:r>
            <a:r>
              <a:rPr lang="hr-HR" dirty="0"/>
              <a:t> 15–20 minuta.</a:t>
            </a:r>
          </a:p>
          <a:p>
            <a:r>
              <a:rPr lang="hr-HR" dirty="0"/>
              <a:t>Prijeđite s teorije na praksu: polaznici generiraju stavke </a:t>
            </a:r>
            <a:r>
              <a:rPr lang="hr-HR" dirty="0" err="1"/>
              <a:t>backloga</a:t>
            </a:r>
            <a:r>
              <a:rPr lang="hr-HR" dirty="0"/>
              <a:t> na temelju zadanog scenarija.</a:t>
            </a:r>
          </a:p>
          <a:p>
            <a:r>
              <a:rPr lang="hr-HR" dirty="0"/>
              <a:t>Postavite jasna očekivanja: ovo je </a:t>
            </a:r>
            <a:r>
              <a:rPr lang="hr-HR" b="1" dirty="0"/>
              <a:t>prva verzija </a:t>
            </a:r>
            <a:r>
              <a:rPr lang="hr-HR" b="1" dirty="0" err="1"/>
              <a:t>backloga</a:t>
            </a:r>
            <a:r>
              <a:rPr lang="hr-HR" dirty="0"/>
              <a:t>, a ne savršeno rješenje. Cilj je uvježbati pisanje </a:t>
            </a:r>
            <a:r>
              <a:rPr lang="hr-HR" dirty="0" err="1"/>
              <a:t>user</a:t>
            </a:r>
            <a:r>
              <a:rPr lang="hr-HR" dirty="0"/>
              <a:t> </a:t>
            </a:r>
            <a:r>
              <a:rPr lang="hr-HR" dirty="0" err="1"/>
              <a:t>storyja</a:t>
            </a:r>
            <a:r>
              <a:rPr lang="hr-HR" dirty="0"/>
              <a:t> i određivanje prioriteta.</a:t>
            </a:r>
          </a:p>
          <a:p>
            <a:r>
              <a:rPr lang="hr-HR" b="1" dirty="0"/>
              <a:t>Koraci facilitacije:</a:t>
            </a:r>
            <a:endParaRPr lang="hr-HR" dirty="0"/>
          </a:p>
          <a:p>
            <a:r>
              <a:rPr lang="hr-HR" dirty="0"/>
              <a:t>Ukratko ponovite scenarij.</a:t>
            </a:r>
          </a:p>
          <a:p>
            <a:r>
              <a:rPr lang="hr-HR" dirty="0"/>
              <a:t>Dodijelite uloge u grupi (zapisničar, osoba koja prati vrijeme, prezenter).</a:t>
            </a:r>
          </a:p>
          <a:p>
            <a:r>
              <a:rPr lang="hr-HR" dirty="0"/>
              <a:t>Podsjetite ih da se fokusiraju na vrijednost za korisnika.</a:t>
            </a:r>
          </a:p>
          <a:p>
            <a:r>
              <a:rPr lang="hr-HR" dirty="0"/>
              <a:t>Potaknite grupe da razmišljaju o različitim korisničkim ulogama (korisnik platforme, zaposlenik, administrator), čak i ako nisu sve izričito navedene u zadatku.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781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268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endParaRPr lang="hr-HR" dirty="0"/>
          </a:p>
          <a:p>
            <a:r>
              <a:rPr lang="hr-HR" dirty="0"/>
              <a:t>Naglasite da je pisanje </a:t>
            </a:r>
            <a:r>
              <a:rPr lang="hr-HR" dirty="0" err="1"/>
              <a:t>backloga</a:t>
            </a:r>
            <a:r>
              <a:rPr lang="hr-HR" dirty="0"/>
              <a:t> na početku teško i uvedite praktično pravilo za procjenu veličine zadataka.</a:t>
            </a:r>
          </a:p>
          <a:p>
            <a:r>
              <a:rPr lang="hr-HR" dirty="0"/>
              <a:t>Objasnite opažanja:</a:t>
            </a:r>
            <a:br>
              <a:rPr lang="hr-HR" dirty="0"/>
            </a:br>
            <a:r>
              <a:rPr lang="hr-HR" dirty="0"/>
              <a:t>Ako kartica predugo ostaje u statusu „U tijeku”, vjerojatno je prevelika.</a:t>
            </a:r>
            <a:br>
              <a:rPr lang="hr-HR" dirty="0"/>
            </a:br>
            <a:r>
              <a:rPr lang="hr-HR" dirty="0"/>
              <a:t>Ako prođe kroz ploču prebrzo, možda je premala ili previše usitnjena.</a:t>
            </a:r>
          </a:p>
          <a:p>
            <a:r>
              <a:rPr lang="hr-HR" dirty="0"/>
              <a:t>Ključna poruka: kartice trebaju biti odgovarajuće veličine kako bi se održali tok rada i motivacija. Pravilo „≤ 4 sata” koristite kao smjernicu za vježbu (timovi kasnije mogu prilagoditi prag).</a:t>
            </a:r>
          </a:p>
          <a:p>
            <a:r>
              <a:rPr lang="hr-HR" dirty="0"/>
              <a:t>Pitajte polaznike: „Iz vašeg iskustva, koji vam signali govore da je neka stavka prevelika ili premala?”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786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Predstavite koncept </a:t>
            </a:r>
            <a:r>
              <a:rPr lang="hr-HR" dirty="0" err="1"/>
              <a:t>granularnosti</a:t>
            </a:r>
            <a:r>
              <a:rPr lang="hr-HR" dirty="0"/>
              <a:t> kartica: odabir odgovarajuće veličine odnosno razine detalja za radne stavke.</a:t>
            </a:r>
          </a:p>
          <a:p>
            <a:r>
              <a:rPr lang="hr-HR" dirty="0"/>
              <a:t>Objasnite zašto je to važno: </a:t>
            </a:r>
            <a:r>
              <a:rPr lang="hr-HR" dirty="0" err="1"/>
              <a:t>granularnost</a:t>
            </a:r>
            <a:r>
              <a:rPr lang="hr-HR" dirty="0"/>
              <a:t> utječe na vidljivost rada, predvidljivost i motivaciju tima.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9555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Usporedite razradu vođenu planom (WBS) s razradom vođenom vrijednošću / zahtjevima (RBS) koja se koristi u </a:t>
            </a:r>
            <a:r>
              <a:rPr lang="hr-HR" dirty="0" err="1"/>
              <a:t>Agileu</a:t>
            </a:r>
            <a:r>
              <a:rPr lang="hr-HR" dirty="0"/>
              <a:t>.</a:t>
            </a:r>
          </a:p>
          <a:p>
            <a:r>
              <a:rPr lang="hr-HR" dirty="0"/>
              <a:t>Sažetak:</a:t>
            </a:r>
            <a:br>
              <a:rPr lang="hr-HR" dirty="0"/>
            </a:br>
            <a:r>
              <a:rPr lang="hr-HR" b="1" dirty="0"/>
              <a:t>WBS:</a:t>
            </a:r>
            <a:r>
              <a:rPr lang="hr-HR" dirty="0"/>
              <a:t> organizacija prema fazama rada / aktivnostima. „Usmjereno na posao”.</a:t>
            </a:r>
            <a:br>
              <a:rPr lang="hr-HR" dirty="0"/>
            </a:br>
            <a:r>
              <a:rPr lang="hr-HR" b="1" dirty="0"/>
              <a:t>RBS:</a:t>
            </a:r>
            <a:r>
              <a:rPr lang="hr-HR" dirty="0"/>
              <a:t> organizacija prema funkcionalnostima / zahtjevima / vrijednosti. „Usmjereno na vrijednost”.</a:t>
            </a:r>
          </a:p>
          <a:p>
            <a:r>
              <a:rPr lang="hr-HR" dirty="0"/>
              <a:t>Ključna poruka: RBS olakšava određivanje prioriteta prema vrijednosti za korisnika i jasniju komunikaciju s dionicima.</a:t>
            </a:r>
          </a:p>
          <a:p>
            <a:r>
              <a:rPr lang="hr-HR" dirty="0"/>
              <a:t>Pitajte polaznike: „Koju je razradu klijentima lakše razumjeti – aktivnosti ili funkcionalnosti? Zašto?”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https://www.manifest.ly/blog/resource-breakdown-structure-rbs-definition-examples-and-templates/</a:t>
            </a:r>
            <a:endParaRPr lang="hr-H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5133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Usporedite razradu vođenu planom (</a:t>
            </a:r>
            <a:r>
              <a:rPr lang="hr-HR" b="1" dirty="0"/>
              <a:t>WBS</a:t>
            </a:r>
            <a:r>
              <a:rPr lang="hr-HR" dirty="0"/>
              <a:t>) s razradom vođenom vrijednošću / zahtjevima (</a:t>
            </a:r>
            <a:r>
              <a:rPr lang="hr-HR" b="1" dirty="0"/>
              <a:t>RBS</a:t>
            </a:r>
            <a:r>
              <a:rPr lang="hr-HR" dirty="0"/>
              <a:t>) koja se koristi u </a:t>
            </a:r>
            <a:r>
              <a:rPr lang="hr-HR" dirty="0" err="1"/>
              <a:t>Agileu</a:t>
            </a:r>
            <a:r>
              <a:rPr lang="hr-HR" dirty="0"/>
              <a:t>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https://www.invensislearning.com/blog/resource-breakdown-structure/</a:t>
            </a:r>
            <a:endParaRPr lang="hr-HR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011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Pojasnite dva pojma koja polaznici često brkaju.</a:t>
            </a:r>
          </a:p>
          <a:p>
            <a:r>
              <a:rPr lang="hr-HR" dirty="0"/>
              <a:t>Objasnite:</a:t>
            </a:r>
            <a:br>
              <a:rPr lang="hr-HR" dirty="0"/>
            </a:br>
            <a:r>
              <a:rPr lang="hr-HR" b="1" dirty="0" err="1"/>
              <a:t>Feature</a:t>
            </a:r>
            <a:r>
              <a:rPr lang="hr-HR" b="1" dirty="0"/>
              <a:t> (funkcionalnost)</a:t>
            </a:r>
            <a:r>
              <a:rPr lang="hr-HR" dirty="0"/>
              <a:t> → sposobnost ili rješenje koje odgovara na određeni zahtjev.</a:t>
            </a:r>
            <a:br>
              <a:rPr lang="hr-HR" dirty="0"/>
            </a:br>
            <a:r>
              <a:rPr lang="hr-HR" b="1" dirty="0" err="1"/>
              <a:t>Epic</a:t>
            </a:r>
            <a:r>
              <a:rPr lang="hr-HR" dirty="0"/>
              <a:t> → velika cjelina posla koja obično sadrži više </a:t>
            </a:r>
            <a:r>
              <a:rPr lang="hr-HR" dirty="0" err="1"/>
              <a:t>user</a:t>
            </a:r>
            <a:r>
              <a:rPr lang="hr-HR" dirty="0"/>
              <a:t> </a:t>
            </a:r>
            <a:r>
              <a:rPr lang="hr-HR" dirty="0" err="1"/>
              <a:t>storyja</a:t>
            </a:r>
            <a:r>
              <a:rPr lang="hr-HR" dirty="0"/>
              <a:t> (može uključivati jednu ili više funkcionalnosti).</a:t>
            </a:r>
          </a:p>
          <a:p>
            <a:r>
              <a:rPr lang="hr-HR" dirty="0"/>
              <a:t>Naglasite da funkcionalnosti odgovaraju na zahtjeve, dok su epici „kontejneri” za rad, a ne sami po sebi </a:t>
            </a:r>
            <a:r>
              <a:rPr lang="hr-HR" dirty="0" err="1"/>
              <a:t>isporučivi</a:t>
            </a:r>
            <a:r>
              <a:rPr lang="hr-HR" dirty="0"/>
              <a:t> rezultati.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https://agilemania.com/epic-vs-feature-vs-user-story</a:t>
            </a:r>
            <a:endParaRPr lang="hr-H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226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Pomozite polaznicima prepoznati kada nešto treba biti </a:t>
            </a:r>
            <a:r>
              <a:rPr lang="hr-HR" b="1" dirty="0" err="1"/>
              <a:t>epic</a:t>
            </a:r>
            <a:r>
              <a:rPr lang="hr-HR" dirty="0"/>
              <a:t>, a kada </a:t>
            </a:r>
            <a:r>
              <a:rPr lang="hr-HR" b="1" dirty="0"/>
              <a:t>story</a:t>
            </a:r>
            <a:r>
              <a:rPr lang="hr-HR" dirty="0"/>
              <a:t>.</a:t>
            </a:r>
          </a:p>
          <a:p>
            <a:r>
              <a:rPr lang="hr-HR" dirty="0"/>
              <a:t>Objasnite da epici grupiraju povezanu vrijednost, dok bi </a:t>
            </a:r>
            <a:r>
              <a:rPr lang="hr-HR" dirty="0" err="1"/>
              <a:t>storyji</a:t>
            </a:r>
            <a:r>
              <a:rPr lang="hr-HR" dirty="0"/>
              <a:t> trebali biti dovoljno mali da se mogu dovršiti unutar jednog sprinta i isporučiti </a:t>
            </a:r>
            <a:r>
              <a:rPr lang="hr-HR" dirty="0" err="1"/>
              <a:t>testabilan</a:t>
            </a:r>
            <a:r>
              <a:rPr lang="hr-HR" dirty="0"/>
              <a:t> dio vrijednosti.</a:t>
            </a:r>
          </a:p>
          <a:p>
            <a:r>
              <a:rPr lang="hr-HR" dirty="0"/>
              <a:t>Pitajte polaznike: „Ako nešto ne možemo dovršiti u jednom sprintu, što trebamo učiniti?” → razlomiti </a:t>
            </a:r>
            <a:r>
              <a:rPr lang="hr-HR" dirty="0" err="1"/>
              <a:t>epic</a:t>
            </a:r>
            <a:r>
              <a:rPr lang="hr-HR" dirty="0"/>
              <a:t> na manje </a:t>
            </a:r>
            <a:r>
              <a:rPr lang="hr-HR" dirty="0" err="1"/>
              <a:t>storyje</a:t>
            </a:r>
            <a:r>
              <a:rPr lang="hr-HR" dirty="0"/>
              <a:t>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2326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Razradite svaki razlog uz konkretan primjer:</a:t>
            </a:r>
            <a:br>
              <a:rPr lang="hr-HR" dirty="0"/>
            </a:br>
            <a:r>
              <a:rPr lang="hr-HR" dirty="0"/>
              <a:t>Zajednički jezik: dionici komuniciraju kroz funkcionalnosti.</a:t>
            </a:r>
            <a:br>
              <a:rPr lang="hr-HR" dirty="0"/>
            </a:br>
            <a:r>
              <a:rPr lang="hr-HR" dirty="0" err="1"/>
              <a:t>Prioritizacija</a:t>
            </a:r>
            <a:r>
              <a:rPr lang="hr-HR" dirty="0"/>
              <a:t> prema vrijednosti: najvrjednije funkcionalnosti isporučuju se prve.</a:t>
            </a:r>
            <a:br>
              <a:rPr lang="hr-HR" dirty="0"/>
            </a:br>
            <a:r>
              <a:rPr lang="hr-HR" dirty="0"/>
              <a:t>Praćenje vrijednosti: napredak se povezuje s isporučenim, upotrebljivim rezultatima, a ne samo s dovršenim aktivnostima.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https://www.saviom.com/blog/resource-breakdown-structure-its-significance/</a:t>
            </a:r>
            <a:endParaRPr lang="hr-HR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277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Predstavite jednostavnu tehniku određivanja prioriteta (</a:t>
            </a:r>
            <a:r>
              <a:rPr lang="hr-HR" b="1" dirty="0"/>
              <a:t>Must / </a:t>
            </a:r>
            <a:r>
              <a:rPr lang="hr-HR" b="1" dirty="0" err="1"/>
              <a:t>Should</a:t>
            </a:r>
            <a:r>
              <a:rPr lang="hr-HR" b="1" dirty="0"/>
              <a:t> / </a:t>
            </a:r>
            <a:r>
              <a:rPr lang="hr-HR" b="1" dirty="0" err="1"/>
              <a:t>Could</a:t>
            </a:r>
            <a:r>
              <a:rPr lang="hr-HR" b="1" dirty="0"/>
              <a:t> / </a:t>
            </a:r>
            <a:r>
              <a:rPr lang="hr-HR" b="1" dirty="0" err="1"/>
              <a:t>Won’t</a:t>
            </a:r>
            <a:r>
              <a:rPr lang="hr-HR" dirty="0"/>
              <a:t>). </a:t>
            </a:r>
            <a:r>
              <a:rPr lang="hr-HR" dirty="0" err="1"/>
              <a:t>MoSCoW</a:t>
            </a:r>
            <a:r>
              <a:rPr lang="hr-HR" dirty="0"/>
              <a:t> je pomoć pri donošenju odluka, a ne strogo pravilo.</a:t>
            </a:r>
          </a:p>
          <a:p>
            <a:r>
              <a:rPr lang="hr-HR" dirty="0"/>
              <a:t>Objasnite kategorije i naglasite da je </a:t>
            </a:r>
            <a:r>
              <a:rPr lang="hr-HR" b="1" dirty="0"/>
              <a:t>„</a:t>
            </a:r>
            <a:r>
              <a:rPr lang="hr-HR" b="1" dirty="0" err="1"/>
              <a:t>Won’t</a:t>
            </a:r>
            <a:r>
              <a:rPr lang="hr-HR" b="1" dirty="0"/>
              <a:t> (za sada)”</a:t>
            </a:r>
            <a:r>
              <a:rPr lang="hr-HR" dirty="0"/>
              <a:t> valjana odluka koja pomaže zaštititi fokus.</a:t>
            </a:r>
          </a:p>
          <a:p>
            <a:r>
              <a:rPr lang="hr-HR" dirty="0"/>
              <a:t>Zamolite polaznike da kategoriziraju 4 primjerene funkcionalnosti iz scenarija </a:t>
            </a:r>
            <a:r>
              <a:rPr lang="hr-HR" dirty="0" err="1"/>
              <a:t>CraftEase</a:t>
            </a:r>
            <a:r>
              <a:rPr lang="hr-HR" dirty="0"/>
              <a:t>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https://www.bitesizelearning.co.uk/resources/moscow-prioritisation-model</a:t>
            </a:r>
            <a:br>
              <a:rPr lang="hr-HR" dirty="0"/>
            </a:br>
            <a:r>
              <a:rPr lang="hr-HR" dirty="0">
                <a:hlinkClick r:id="rId4"/>
              </a:rPr>
              <a:t>https://activecollab.com/blog/project-management/moscow-method</a:t>
            </a:r>
            <a:endParaRPr lang="hr-H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111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Započnite s većim cjelinama, a zatim ih razdvajajte kako se približava isporuka.</a:t>
            </a:r>
          </a:p>
          <a:p>
            <a:r>
              <a:rPr lang="hr-HR" dirty="0"/>
              <a:t>Objasnite zašto: tako se izbjegava trošenje vremena na detaljno razrađivanje stavki niskog prioriteta i planiranje ostaje usklađeno s trenutačnim znanjem.</a:t>
            </a:r>
          </a:p>
          <a:p>
            <a:r>
              <a:rPr lang="hr-HR" dirty="0"/>
              <a:t>Ključna poruka: razrađujte ono što slijedi, a ne sve odjednom.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https://twproject.com/blog/how-to-create-an-effective-project-backlog/</a:t>
            </a:r>
            <a:endParaRPr lang="hr-H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4631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Objasnite </a:t>
            </a:r>
            <a:r>
              <a:rPr lang="hr-HR" b="1" dirty="0"/>
              <a:t>oznake (</a:t>
            </a:r>
            <a:r>
              <a:rPr lang="hr-HR" b="1" dirty="0" err="1"/>
              <a:t>labels</a:t>
            </a:r>
            <a:r>
              <a:rPr lang="hr-HR" b="1" dirty="0"/>
              <a:t>)</a:t>
            </a:r>
            <a:r>
              <a:rPr lang="hr-HR" dirty="0"/>
              <a:t> kao jednostavno, „</a:t>
            </a:r>
            <a:r>
              <a:rPr lang="hr-HR" dirty="0" err="1"/>
              <a:t>low-tech</a:t>
            </a:r>
            <a:r>
              <a:rPr lang="hr-HR" dirty="0"/>
              <a:t>” rješenje koje funkcionira u gotovo svakom alatu. Zatim spomenite </a:t>
            </a:r>
            <a:r>
              <a:rPr lang="hr-HR" b="1" dirty="0"/>
              <a:t>dodatke (</a:t>
            </a:r>
            <a:r>
              <a:rPr lang="hr-HR" b="1" dirty="0" err="1"/>
              <a:t>power-ups</a:t>
            </a:r>
            <a:r>
              <a:rPr lang="hr-HR" b="1" dirty="0"/>
              <a:t>)</a:t>
            </a:r>
            <a:r>
              <a:rPr lang="hr-HR" dirty="0"/>
              <a:t> poput </a:t>
            </a:r>
            <a:r>
              <a:rPr lang="hr-HR" dirty="0" err="1"/>
              <a:t>Screenfula</a:t>
            </a:r>
            <a:r>
              <a:rPr lang="hr-HR" dirty="0"/>
              <a:t> u </a:t>
            </a:r>
            <a:r>
              <a:rPr lang="hr-HR" dirty="0" err="1"/>
              <a:t>Trellu</a:t>
            </a:r>
            <a:r>
              <a:rPr lang="hr-HR" dirty="0"/>
              <a:t> kao opcionalna poboljšanja.</a:t>
            </a:r>
          </a:p>
          <a:p>
            <a:r>
              <a:rPr lang="hr-HR" dirty="0"/>
              <a:t>Imajte na umu: alati mogu pomoći, ali ključ su </a:t>
            </a:r>
            <a:r>
              <a:rPr lang="hr-HR" b="1" dirty="0"/>
              <a:t>dosljedna i zajednički dogovorena pravila korištenja</a:t>
            </a:r>
            <a:r>
              <a:rPr lang="hr-HR" dirty="0"/>
              <a:t>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https://www.projectmanagertemplate.com/post/understanding-agile-user-story-cards-a-guide</a:t>
            </a:r>
            <a:endParaRPr lang="hr-H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225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Demonstrirajte kako alat može podržati praćenje </a:t>
            </a:r>
            <a:r>
              <a:rPr lang="hr-HR" dirty="0" err="1"/>
              <a:t>epica</a:t>
            </a:r>
            <a:r>
              <a:rPr lang="hr-HR" dirty="0"/>
              <a:t> i nadzor napretka.</a:t>
            </a:r>
          </a:p>
          <a:p>
            <a:r>
              <a:rPr lang="hr-HR" dirty="0"/>
              <a:t>Usredotočite se na ono što je konceptualno važno:</a:t>
            </a:r>
          </a:p>
          <a:p>
            <a:r>
              <a:rPr lang="hr-HR" dirty="0"/>
              <a:t>definirati gdje se epici nalaze</a:t>
            </a:r>
          </a:p>
          <a:p>
            <a:r>
              <a:rPr lang="hr-HR" dirty="0"/>
              <a:t>povezati zadatke s epicima</a:t>
            </a:r>
          </a:p>
          <a:p>
            <a:r>
              <a:rPr lang="hr-HR" dirty="0"/>
              <a:t>dobiti sažeti pregled napretka po </a:t>
            </a:r>
            <a:r>
              <a:rPr lang="hr-HR" dirty="0" err="1"/>
              <a:t>epicu</a:t>
            </a:r>
            <a:endParaRPr lang="hr-HR" dirty="0"/>
          </a:p>
          <a:p>
            <a:r>
              <a:rPr lang="hr-HR" dirty="0"/>
              <a:t>Čak i ako polaznici ne koriste </a:t>
            </a:r>
            <a:r>
              <a:rPr lang="hr-HR" dirty="0" err="1"/>
              <a:t>Trello</a:t>
            </a:r>
            <a:r>
              <a:rPr lang="hr-HR" dirty="0"/>
              <a:t>, prevedite to na ideju </a:t>
            </a:r>
            <a:r>
              <a:rPr lang="hr-HR" b="1" dirty="0"/>
              <a:t>grupiranja po epicima</a:t>
            </a:r>
            <a:r>
              <a:rPr lang="hr-HR" dirty="0"/>
              <a:t> koja postoji u većini alata (</a:t>
            </a:r>
            <a:r>
              <a:rPr lang="hr-HR" dirty="0" err="1"/>
              <a:t>Jira</a:t>
            </a:r>
            <a:r>
              <a:rPr lang="hr-HR" dirty="0"/>
              <a:t>, Azure </a:t>
            </a:r>
            <a:r>
              <a:rPr lang="hr-HR" dirty="0" err="1"/>
              <a:t>DevOps</a:t>
            </a:r>
            <a:r>
              <a:rPr lang="hr-HR" dirty="0"/>
              <a:t> itd.).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https://trello.com/power-ups/5b7ae739fad82e45988016cf</a:t>
            </a:r>
            <a:br>
              <a:rPr lang="hr-HR" dirty="0"/>
            </a:br>
            <a:r>
              <a:rPr lang="hr-HR" dirty="0">
                <a:hlinkClick r:id="rId4"/>
              </a:rPr>
              <a:t>https://www.youtube.com/watch?v=07hjhKTeV1M</a:t>
            </a:r>
            <a:endParaRPr lang="hr-H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835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Predstavite 3. cjelinu i objasnite da je fokus na </a:t>
            </a:r>
            <a:r>
              <a:rPr lang="hr-HR" b="1" dirty="0"/>
              <a:t>praktičnom </a:t>
            </a:r>
            <a:r>
              <a:rPr lang="hr-HR" b="1" dirty="0" err="1"/>
              <a:t>Agile</a:t>
            </a:r>
            <a:r>
              <a:rPr lang="hr-HR" b="1" dirty="0"/>
              <a:t> planiranju</a:t>
            </a:r>
            <a:r>
              <a:rPr lang="hr-HR" dirty="0"/>
              <a:t>: pretvaranju potreba u radne stavke, njihovom dobrom strukturiranju i usklađivanju sa </a:t>
            </a:r>
            <a:r>
              <a:rPr lang="hr-HR" b="1" dirty="0"/>
              <a:t>stvarnim kapacitetom tima</a:t>
            </a:r>
            <a:r>
              <a:rPr lang="hr-HR" dirty="0"/>
              <a:t>.</a:t>
            </a:r>
          </a:p>
          <a:p>
            <a:r>
              <a:rPr lang="hr-HR" dirty="0"/>
              <a:t>Prije početka zamolite polaznike da podijele </a:t>
            </a:r>
            <a:r>
              <a:rPr lang="hr-HR" b="1" dirty="0"/>
              <a:t>jedan čest problem u planiranju</a:t>
            </a:r>
            <a:r>
              <a:rPr lang="hr-HR" dirty="0"/>
              <a:t> (npr. promjene opsega, nejasni zadaci, preopterećenje tima itd.).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4905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Prođite kroz dijelove (</a:t>
            </a:r>
            <a:r>
              <a:rPr lang="hr-HR" dirty="0" err="1"/>
              <a:t>backlog</a:t>
            </a:r>
            <a:r>
              <a:rPr lang="hr-HR" dirty="0"/>
              <a:t> → </a:t>
            </a:r>
            <a:r>
              <a:rPr lang="hr-HR" dirty="0" err="1"/>
              <a:t>granularnost</a:t>
            </a:r>
            <a:r>
              <a:rPr lang="hr-HR" dirty="0"/>
              <a:t> → planiranje kapaciteta → radionica). Naglasite da je logika postupna: prvo definiramo </a:t>
            </a:r>
            <a:r>
              <a:rPr lang="hr-HR" b="1" dirty="0"/>
              <a:t>što</a:t>
            </a:r>
            <a:r>
              <a:rPr lang="hr-HR" dirty="0"/>
              <a:t> treba napraviti, zatim </a:t>
            </a:r>
            <a:r>
              <a:rPr lang="hr-HR" b="1" dirty="0"/>
              <a:t>koliki</a:t>
            </a:r>
            <a:r>
              <a:rPr lang="hr-HR" dirty="0"/>
              <a:t> bi svaki zadatak trebao biti, a potom </a:t>
            </a:r>
            <a:r>
              <a:rPr lang="hr-HR" b="1" dirty="0"/>
              <a:t>koliko</a:t>
            </a:r>
            <a:r>
              <a:rPr lang="hr-HR" dirty="0"/>
              <a:t> toga možemo realno isporučiti.</a:t>
            </a:r>
          </a:p>
          <a:p>
            <a:r>
              <a:rPr lang="hr-HR" b="1" dirty="0"/>
              <a:t>Ključne poruke koje treba naglasiti:</a:t>
            </a:r>
            <a:endParaRPr lang="hr-HR" dirty="0"/>
          </a:p>
          <a:p>
            <a:r>
              <a:rPr lang="hr-HR" dirty="0" err="1"/>
              <a:t>Agile</a:t>
            </a:r>
            <a:r>
              <a:rPr lang="hr-HR" dirty="0"/>
              <a:t> planiranje je </a:t>
            </a:r>
            <a:r>
              <a:rPr lang="hr-HR" b="1" dirty="0"/>
              <a:t>kontinuiran proces</a:t>
            </a:r>
            <a:r>
              <a:rPr lang="hr-HR" dirty="0"/>
              <a:t>, a ne jednokratni plan.</a:t>
            </a:r>
          </a:p>
          <a:p>
            <a:r>
              <a:rPr lang="hr-HR" dirty="0"/>
              <a:t>Dobro planiranje </a:t>
            </a:r>
            <a:r>
              <a:rPr lang="hr-HR" b="1" dirty="0"/>
              <a:t>smanjuje preopterećenje</a:t>
            </a:r>
            <a:r>
              <a:rPr lang="hr-HR" dirty="0"/>
              <a:t> i povećava </a:t>
            </a:r>
            <a:r>
              <a:rPr lang="hr-HR" b="1" dirty="0"/>
              <a:t>predvidljivost</a:t>
            </a:r>
            <a:r>
              <a:rPr lang="hr-HR" dirty="0"/>
              <a:t>.</a:t>
            </a:r>
          </a:p>
          <a:p>
            <a:r>
              <a:rPr lang="hr-HR" dirty="0"/>
              <a:t>Cilj je </a:t>
            </a:r>
            <a:r>
              <a:rPr lang="hr-HR" b="1" dirty="0"/>
              <a:t>održiva isporuka</a:t>
            </a:r>
            <a:r>
              <a:rPr lang="hr-HR" dirty="0"/>
              <a:t> (kvaliteta + tempo).</a:t>
            </a:r>
          </a:p>
          <a:p>
            <a:r>
              <a:rPr lang="hr-HR" b="1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https://www.slimstock.com/blog/capacity-planning/</a:t>
            </a:r>
            <a:br>
              <a:rPr lang="hr-HR" dirty="0"/>
            </a:br>
            <a:r>
              <a:rPr lang="hr-HR" dirty="0">
                <a:hlinkClick r:id="rId4"/>
              </a:rPr>
              <a:t>https://www.atlassian.com/work-management/project-management/resource-planning/capacity-planning</a:t>
            </a:r>
            <a:endParaRPr lang="hr-HR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4581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1259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Poučite </a:t>
            </a:r>
            <a:r>
              <a:rPr lang="hr-HR" b="1" dirty="0" err="1"/>
              <a:t>prioritizaciju</a:t>
            </a:r>
            <a:r>
              <a:rPr lang="hr-HR" b="1" dirty="0"/>
              <a:t> temeljenu na vrijednosti</a:t>
            </a:r>
            <a:r>
              <a:rPr lang="hr-HR" dirty="0"/>
              <a:t>: uspoređivanje funkcionalnosti prema njihovom doprinosu željenim ishodima.</a:t>
            </a:r>
          </a:p>
          <a:p>
            <a:r>
              <a:rPr lang="hr-HR" dirty="0"/>
              <a:t>Naglasite </a:t>
            </a:r>
            <a:r>
              <a:rPr lang="hr-HR" b="1" dirty="0"/>
              <a:t>zajedničko procjenjivanje</a:t>
            </a:r>
            <a:r>
              <a:rPr lang="hr-HR" dirty="0"/>
              <a:t> i izbjegavajte procjene „odozgo prema dolje”.</a:t>
            </a:r>
          </a:p>
          <a:p>
            <a:r>
              <a:rPr lang="hr-HR" dirty="0"/>
              <a:t>Objasnite zašto bi </a:t>
            </a:r>
            <a:r>
              <a:rPr lang="hr-HR" b="1" dirty="0"/>
              <a:t>tim trebao procjenjivati</a:t>
            </a:r>
            <a:r>
              <a:rPr lang="hr-HR" dirty="0"/>
              <a:t>: oni najbolje razumiju složenost i rizike. Dionici definiraju vrijednost, a tim procjenjuje veličinu posla.</a:t>
            </a:r>
          </a:p>
          <a:p>
            <a:r>
              <a:rPr lang="hr-HR" dirty="0"/>
              <a:t>Kapacitet nije samo </a:t>
            </a:r>
            <a:r>
              <a:rPr lang="hr-HR" b="1" dirty="0"/>
              <a:t>broj ljudi × broj sati</a:t>
            </a:r>
            <a:r>
              <a:rPr lang="hr-HR" dirty="0"/>
              <a:t>. Pitajte polaznike što u stvarnosti smanjuje kapacitet (sastanci, podrška korisnicima, prekidi u radu, uvođenje novih članova, ovisnosti itd.).</a:t>
            </a:r>
          </a:p>
          <a:p>
            <a:r>
              <a:rPr lang="hr-HR" dirty="0"/>
              <a:t>Predstavite </a:t>
            </a:r>
            <a:r>
              <a:rPr lang="hr-HR" b="1" dirty="0" err="1"/>
              <a:t>Pareto</a:t>
            </a:r>
            <a:r>
              <a:rPr lang="hr-HR" b="1" dirty="0"/>
              <a:t> razmišljanje</a:t>
            </a:r>
            <a:r>
              <a:rPr lang="hr-HR" dirty="0"/>
              <a:t>: mali broj funkcionalnosti često donosi većinu vrijednosti. Objasnite pravilo </a:t>
            </a:r>
            <a:r>
              <a:rPr lang="hr-HR" b="1" dirty="0"/>
              <a:t>80/20</a:t>
            </a:r>
            <a:r>
              <a:rPr lang="hr-HR" dirty="0"/>
              <a:t> kao heuristiku: prioritet dajte nekolicini stavki s najvećim utjecajem.</a:t>
            </a:r>
          </a:p>
          <a:p>
            <a:r>
              <a:rPr lang="hr-HR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https://www.productplan.com/learn/80-20-rule-agile/#:~:text=The%20Pareto%20Principle%2C%20commonly%20referred,for%2080%25%20of%20your%20results</a:t>
            </a:r>
            <a:r>
              <a:rPr lang="hr-HR" dirty="0"/>
              <a:t>.</a:t>
            </a:r>
            <a:br>
              <a:rPr lang="hr-HR" dirty="0"/>
            </a:br>
            <a:r>
              <a:rPr lang="hr-HR" dirty="0">
                <a:hlinkClick r:id="rId4"/>
              </a:rPr>
              <a:t>https://www.braintrustgroup.com/blog/pareto-knows-agile</a:t>
            </a:r>
            <a:endParaRPr lang="hr-HR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1018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Definirajte </a:t>
            </a:r>
            <a:r>
              <a:rPr lang="hr-HR" b="1" dirty="0"/>
              <a:t>plan izdanja (</a:t>
            </a:r>
            <a:r>
              <a:rPr lang="hr-HR" b="1" dirty="0" err="1"/>
              <a:t>release</a:t>
            </a:r>
            <a:r>
              <a:rPr lang="hr-HR" b="1" dirty="0"/>
              <a:t> plan)</a:t>
            </a:r>
            <a:r>
              <a:rPr lang="hr-HR" dirty="0"/>
              <a:t> i povežite ga s </a:t>
            </a:r>
            <a:r>
              <a:rPr lang="hr-HR" b="1" dirty="0"/>
              <a:t>planiranjem kapaciteta</a:t>
            </a:r>
            <a:r>
              <a:rPr lang="hr-HR" dirty="0"/>
              <a:t>.</a:t>
            </a:r>
          </a:p>
          <a:p>
            <a:r>
              <a:rPr lang="hr-HR" dirty="0"/>
              <a:t>Objasnite da planiranje izdanja znači </a:t>
            </a:r>
            <a:r>
              <a:rPr lang="hr-HR" b="1" dirty="0"/>
              <a:t>određivanje redoslijeda i vremena isporuke</a:t>
            </a:r>
            <a:r>
              <a:rPr lang="hr-HR" dirty="0"/>
              <a:t>: što će se isporučiti i kada, uzimajući u obzir kapacitet i prioritete.</a:t>
            </a:r>
          </a:p>
          <a:p>
            <a:r>
              <a:rPr lang="hr-HR" b="1" dirty="0"/>
              <a:t>Ključne poruke koje treba naglasiti:</a:t>
            </a:r>
            <a:endParaRPr lang="hr-HR" dirty="0"/>
          </a:p>
          <a:p>
            <a:r>
              <a:rPr lang="hr-HR" dirty="0"/>
              <a:t>Plan izdanja povezuje prioritete iz </a:t>
            </a:r>
            <a:r>
              <a:rPr lang="hr-HR" dirty="0" err="1"/>
              <a:t>backloga</a:t>
            </a:r>
            <a:r>
              <a:rPr lang="hr-HR" dirty="0"/>
              <a:t> s vremenom.</a:t>
            </a:r>
          </a:p>
          <a:p>
            <a:r>
              <a:rPr lang="hr-HR" dirty="0"/>
              <a:t>Planiranje kapaciteta pomaže izbjeći prekomjerno preuzimanje obveza.</a:t>
            </a:r>
          </a:p>
          <a:p>
            <a:r>
              <a:rPr lang="hr-HR" b="1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https://lucid.co/blog/agile-release-planning</a:t>
            </a:r>
            <a:br>
              <a:rPr lang="hr-HR" dirty="0"/>
            </a:br>
            <a:r>
              <a:rPr lang="hr-HR" dirty="0">
                <a:hlinkClick r:id="rId4"/>
              </a:rPr>
              <a:t>https://www.geeksforgeeks.org/software-engineering/what-is-agile-release-planning/</a:t>
            </a:r>
            <a:br>
              <a:rPr lang="hr-HR" dirty="0"/>
            </a:br>
            <a:r>
              <a:rPr lang="hr-HR" dirty="0">
                <a:hlinkClick r:id="rId5"/>
              </a:rPr>
              <a:t>https://miro.com/project-management/what-is-a-release-plan/</a:t>
            </a:r>
            <a:endParaRPr lang="hr-H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7142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8462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04460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i="1" u="none" dirty="0"/>
              <a:t>Bilješke za voditelja radionice</a:t>
            </a:r>
            <a:endParaRPr lang="en-GB" b="1" i="1" u="none" dirty="0"/>
          </a:p>
          <a:p>
            <a:endParaRPr lang="en-GB" dirty="0"/>
          </a:p>
          <a:p>
            <a:r>
              <a:rPr lang="hr-HR" u="sng" dirty="0"/>
              <a:t>Dodatni izvori</a:t>
            </a:r>
            <a:endParaRPr lang="en-GB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https://premieragile.com/how-to-do-agile-capacity-planning/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https://amoeboids.com/blog/10-steps-to-create-an-effective-release-plan/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9999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b="1" dirty="0"/>
              <a:t>Svrha:</a:t>
            </a:r>
            <a:r>
              <a:rPr lang="hr-HR" dirty="0"/>
              <a:t> ponuditi konkretne načine odgovora na ograničenja kapaciteta.</a:t>
            </a:r>
          </a:p>
          <a:p>
            <a:r>
              <a:rPr lang="hr-HR" dirty="0"/>
              <a:t>Objasnite ključne poluge:</a:t>
            </a:r>
          </a:p>
          <a:p>
            <a:r>
              <a:rPr lang="hr-HR" dirty="0"/>
              <a:t>definirati sastav tima</a:t>
            </a:r>
          </a:p>
          <a:p>
            <a:r>
              <a:rPr lang="hr-HR" dirty="0"/>
              <a:t>ograničiti broj otvorenih konteksta</a:t>
            </a:r>
          </a:p>
          <a:p>
            <a:r>
              <a:rPr lang="hr-HR" dirty="0"/>
              <a:t>planirati vrijeme za validaciju</a:t>
            </a:r>
          </a:p>
          <a:p>
            <a:r>
              <a:rPr lang="hr-HR" dirty="0"/>
              <a:t>koristiti </a:t>
            </a:r>
            <a:r>
              <a:rPr lang="hr-HR" b="1" dirty="0" err="1"/>
              <a:t>Focus</a:t>
            </a:r>
            <a:r>
              <a:rPr lang="hr-HR" b="1" dirty="0"/>
              <a:t> </a:t>
            </a:r>
            <a:r>
              <a:rPr lang="hr-HR" b="1" dirty="0" err="1"/>
              <a:t>Factor</a:t>
            </a:r>
            <a:r>
              <a:rPr lang="hr-HR" dirty="0"/>
              <a:t> za prilagodbu očekivanja</a:t>
            </a:r>
          </a:p>
          <a:p>
            <a:r>
              <a:rPr lang="hr-HR" b="1" dirty="0"/>
              <a:t>Ključna poruka:</a:t>
            </a:r>
            <a:r>
              <a:rPr lang="hr-HR" dirty="0"/>
              <a:t> cilj je </a:t>
            </a:r>
            <a:r>
              <a:rPr lang="hr-HR" b="1" dirty="0"/>
              <a:t>održivo planiranje</a:t>
            </a:r>
            <a:r>
              <a:rPr lang="hr-HR" dirty="0"/>
              <a:t>, a ne dodatno opterećivanje ljudi.</a:t>
            </a:r>
          </a:p>
          <a:p>
            <a:r>
              <a:rPr lang="hr-HR" b="1" dirty="0"/>
              <a:t>Dodatni resursi</a:t>
            </a:r>
            <a:br>
              <a:rPr lang="hr-HR" dirty="0"/>
            </a:br>
            <a:r>
              <a:rPr lang="hr-HR" dirty="0">
                <a:hlinkClick r:id="rId3"/>
              </a:rPr>
              <a:t>https://resources.scrumalliance.org/Article/agile-forecasting-focus-factor</a:t>
            </a:r>
            <a:br>
              <a:rPr lang="hr-HR" dirty="0"/>
            </a:br>
            <a:r>
              <a:rPr lang="hr-HR" dirty="0">
                <a:hlinkClick r:id="rId4"/>
              </a:rPr>
              <a:t>https://edinburghagile.com/agile-encyclopedia/agile-estimating/</a:t>
            </a:r>
            <a:endParaRPr lang="hr-H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6545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798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b="1" dirty="0"/>
              <a:t>Rješenje</a:t>
            </a:r>
            <a:endParaRPr lang="hr-HR" dirty="0"/>
          </a:p>
          <a:p>
            <a:r>
              <a:rPr lang="hr-HR" b="1" dirty="0"/>
              <a:t>Korak 1</a:t>
            </a:r>
            <a:br>
              <a:rPr lang="hr-HR" dirty="0"/>
            </a:br>
            <a:r>
              <a:rPr lang="hr-HR" dirty="0"/>
              <a:t>Trajanje sprinta = 5 dana</a:t>
            </a:r>
            <a:br>
              <a:rPr lang="hr-HR" dirty="0"/>
            </a:br>
            <a:r>
              <a:rPr lang="hr-HR" dirty="0"/>
              <a:t>Radni dan = 8 sati</a:t>
            </a:r>
            <a:br>
              <a:rPr lang="hr-HR" dirty="0"/>
            </a:br>
            <a:r>
              <a:rPr lang="hr-HR" dirty="0"/>
              <a:t>Veličina tima = 6 osoba</a:t>
            </a:r>
          </a:p>
          <a:p>
            <a:r>
              <a:rPr lang="hr-HR" dirty="0"/>
              <a:t>Tim teoretski ima </a:t>
            </a:r>
            <a:r>
              <a:rPr lang="hr-HR" b="1" dirty="0"/>
              <a:t>240 sati</a:t>
            </a:r>
            <a:r>
              <a:rPr lang="hr-HR" dirty="0"/>
              <a:t> na raspolaganju (5 × 8 × 6 = 240 sati).</a:t>
            </a:r>
          </a:p>
          <a:p>
            <a:r>
              <a:rPr lang="hr-HR" b="1" dirty="0"/>
              <a:t>Korak 2</a:t>
            </a:r>
            <a:br>
              <a:rPr lang="hr-HR" dirty="0"/>
            </a:br>
            <a:r>
              <a:rPr lang="hr-HR" dirty="0"/>
              <a:t>Primijeniti </a:t>
            </a:r>
            <a:r>
              <a:rPr lang="hr-HR" b="1" dirty="0"/>
              <a:t>faktor fokusa (0,7)</a:t>
            </a:r>
            <a:r>
              <a:rPr lang="hr-HR" dirty="0"/>
              <a:t>.</a:t>
            </a:r>
            <a:br>
              <a:rPr lang="hr-HR" dirty="0"/>
            </a:br>
            <a:r>
              <a:rPr lang="hr-HR" dirty="0"/>
              <a:t>Faktor fokusa znači da je tim produktivan samo </a:t>
            </a:r>
            <a:r>
              <a:rPr lang="hr-HR" b="1" dirty="0"/>
              <a:t>70 % vremena</a:t>
            </a:r>
            <a:r>
              <a:rPr lang="hr-HR" dirty="0"/>
              <a:t> (zbog sastanaka, prekida, podrške itd.).</a:t>
            </a:r>
          </a:p>
          <a:p>
            <a:r>
              <a:rPr lang="hr-HR" dirty="0"/>
              <a:t>240 sati × 0,7 = </a:t>
            </a:r>
            <a:r>
              <a:rPr lang="hr-HR" b="1" dirty="0"/>
              <a:t>168 sati</a:t>
            </a:r>
            <a:endParaRPr lang="hr-HR" dirty="0"/>
          </a:p>
          <a:p>
            <a:r>
              <a:rPr lang="hr-HR" b="1" dirty="0"/>
              <a:t>Efektivni radni kapacitet = 168 sati</a:t>
            </a:r>
            <a:endParaRPr lang="hr-HR" dirty="0"/>
          </a:p>
          <a:p>
            <a:r>
              <a:rPr lang="hr-HR" dirty="0"/>
              <a:t>Tim bi trebao planirati oko </a:t>
            </a:r>
            <a:r>
              <a:rPr lang="hr-HR" b="1" dirty="0"/>
              <a:t>168 sati stvarnog rada</a:t>
            </a:r>
            <a:r>
              <a:rPr lang="hr-HR" dirty="0"/>
              <a:t>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7360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21864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Predstavite praktičnu aktivnost u kojoj polaznici izrađuju ploču, pišu kartice i planiraju isporuku.</a:t>
            </a:r>
          </a:p>
          <a:p>
            <a:r>
              <a:rPr lang="hr-HR" dirty="0"/>
              <a:t>Pojasnite da je cilj uvježbati </a:t>
            </a:r>
            <a:r>
              <a:rPr lang="hr-HR" b="1" dirty="0"/>
              <a:t>cijeli proces</a:t>
            </a:r>
            <a:r>
              <a:rPr lang="hr-HR" dirty="0"/>
              <a:t>: epici → </a:t>
            </a:r>
            <a:r>
              <a:rPr lang="hr-HR" dirty="0" err="1"/>
              <a:t>storyji</a:t>
            </a:r>
            <a:r>
              <a:rPr lang="hr-HR" dirty="0"/>
              <a:t> → zadaci, uz određivanje prioriteta i procjena.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6758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Pažljivo pročitajte scenarij.</a:t>
            </a:r>
            <a:br>
              <a:rPr lang="hr-HR" dirty="0"/>
            </a:br>
            <a:r>
              <a:rPr lang="hr-HR" dirty="0"/>
              <a:t>Provjerite da svi razumiju ograničenja i uloge.</a:t>
            </a:r>
            <a:br>
              <a:rPr lang="hr-HR" dirty="0"/>
            </a:br>
            <a:r>
              <a:rPr lang="hr-HR" dirty="0"/>
              <a:t>Naglasite da u ovoj aktivnosti polaznici djeluju kao </a:t>
            </a:r>
            <a:r>
              <a:rPr lang="hr-HR" b="1" dirty="0"/>
              <a:t>voditelji projekta</a:t>
            </a:r>
            <a:r>
              <a:rPr lang="hr-HR" dirty="0"/>
              <a:t>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3943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7102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8714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9124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2020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Bilješke za voditelja radionice</a:t>
            </a:r>
          </a:p>
          <a:p>
            <a:r>
              <a:rPr lang="hr-HR" dirty="0"/>
              <a:t>Vizualizirajte hijerarhiju radnih stavki i pokažite gdje se pojedine stavke nalaze na ploči odnosno u </a:t>
            </a:r>
            <a:r>
              <a:rPr lang="hr-HR" dirty="0" err="1"/>
              <a:t>backlogu</a:t>
            </a:r>
            <a:r>
              <a:rPr lang="hr-HR" dirty="0"/>
              <a:t>.</a:t>
            </a:r>
          </a:p>
          <a:p>
            <a:r>
              <a:rPr lang="hr-HR" dirty="0"/>
              <a:t>Objasnite svaku razinu:</a:t>
            </a:r>
            <a:br>
              <a:rPr lang="hr-HR" dirty="0"/>
            </a:br>
            <a:r>
              <a:rPr lang="hr-HR" b="1" dirty="0"/>
              <a:t>Opseg / vizija</a:t>
            </a:r>
            <a:r>
              <a:rPr lang="hr-HR" dirty="0"/>
              <a:t> – široki cilj.</a:t>
            </a:r>
            <a:br>
              <a:rPr lang="hr-HR" dirty="0"/>
            </a:br>
            <a:r>
              <a:rPr lang="hr-HR" b="1" dirty="0" err="1"/>
              <a:t>Epic</a:t>
            </a:r>
            <a:r>
              <a:rPr lang="hr-HR" dirty="0"/>
              <a:t> – velika cjelina vrijednosti.</a:t>
            </a:r>
            <a:br>
              <a:rPr lang="hr-HR" dirty="0"/>
            </a:br>
            <a:r>
              <a:rPr lang="hr-HR" b="1" dirty="0" err="1"/>
              <a:t>User</a:t>
            </a:r>
            <a:r>
              <a:rPr lang="hr-HR" b="1" dirty="0"/>
              <a:t> Story</a:t>
            </a:r>
            <a:r>
              <a:rPr lang="hr-HR" dirty="0"/>
              <a:t> – manja, na korisnika usmjerena vrijednost.</a:t>
            </a:r>
            <a:br>
              <a:rPr lang="hr-HR" dirty="0"/>
            </a:br>
            <a:r>
              <a:rPr lang="hr-HR" b="1" dirty="0" err="1"/>
              <a:t>Task</a:t>
            </a:r>
            <a:r>
              <a:rPr lang="hr-HR" dirty="0"/>
              <a:t> – koraci provedbe potrebni za realizaciju jednog </a:t>
            </a:r>
            <a:r>
              <a:rPr lang="hr-HR" dirty="0" err="1"/>
              <a:t>storyja</a:t>
            </a:r>
            <a:r>
              <a:rPr lang="hr-HR" dirty="0"/>
              <a:t>.</a:t>
            </a:r>
          </a:p>
          <a:p>
            <a:r>
              <a:rPr lang="hr-HR" dirty="0"/>
              <a:t>Imajte na umu: </a:t>
            </a:r>
            <a:r>
              <a:rPr lang="hr-HR" dirty="0" err="1"/>
              <a:t>backlog</a:t>
            </a:r>
            <a:r>
              <a:rPr lang="hr-HR" dirty="0"/>
              <a:t> obično sadrži </a:t>
            </a:r>
            <a:r>
              <a:rPr lang="hr-HR" dirty="0" err="1"/>
              <a:t>epice</a:t>
            </a:r>
            <a:r>
              <a:rPr lang="hr-HR" dirty="0"/>
              <a:t> i </a:t>
            </a:r>
            <a:r>
              <a:rPr lang="hr-HR" dirty="0" err="1"/>
              <a:t>storyje</a:t>
            </a:r>
            <a:r>
              <a:rPr lang="hr-HR" dirty="0"/>
              <a:t>, dok se zadaci mogu nalaziti u izvršavanju sprinta, ovisno o načinu rada tima.</a:t>
            </a:r>
          </a:p>
          <a:p>
            <a:r>
              <a:rPr lang="hr-HR" dirty="0"/>
              <a:t>Naglasite suradnju ispred savršenstva. Potaknite vidljive ploče i raspravu.</a:t>
            </a:r>
          </a:p>
          <a:p>
            <a:r>
              <a:rPr lang="hr-HR" dirty="0"/>
              <a:t>Krećite se među grupama, pitajte „zašto” i propitujte pretpostavke.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12C23-299B-480E-9F57-DFF7B13B3D51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41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ka 13">
            <a:extLst>
              <a:ext uri="{FF2B5EF4-FFF2-40B4-BE49-F238E27FC236}">
                <a16:creationId xmlns:a16="http://schemas.microsoft.com/office/drawing/2014/main" id="{8FBD081C-E6C2-807B-F622-45A52F57D6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2468084"/>
            <a:ext cx="9144000" cy="2387600"/>
          </a:xfrm>
        </p:spPr>
        <p:txBody>
          <a:bodyPr anchor="b"/>
          <a:lstStyle>
            <a:lvl1pPr algn="r">
              <a:defRPr sz="6000">
                <a:latin typeface="Montserrat" panose="00000500000000000000" pitchFamily="2" charset="-18"/>
              </a:defRPr>
            </a:lvl1pPr>
          </a:lstStyle>
          <a:p>
            <a:r>
              <a:rPr lang="hr-HR" dirty="0"/>
              <a:t>DOCUMENT TITLE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61E420-EBAD-A9E6-F448-076E17D0F2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55653" y="4947759"/>
            <a:ext cx="9144000" cy="1655762"/>
          </a:xfrm>
        </p:spPr>
        <p:txBody>
          <a:bodyPr/>
          <a:lstStyle>
            <a:lvl1pPr marL="0" indent="0" algn="r">
              <a:buNone/>
              <a:defRPr sz="2400">
                <a:latin typeface="Montserrat" panose="00000500000000000000" pitchFamily="2" charset="-1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16379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62662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ka 9" descr="Slika na kojoj se prikazuje crta, snimka zaslona, šarenilo, dizajn&#10;&#10;Opis je automatski generiran">
            <a:extLst>
              <a:ext uri="{FF2B5EF4-FFF2-40B4-BE49-F238E27FC236}">
                <a16:creationId xmlns:a16="http://schemas.microsoft.com/office/drawing/2014/main" id="{7D3E6235-77BD-81C2-1C4B-460BFF2AC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60127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ka 7" descr="Slika na kojoj se prikazuje crta, snimka zaslona, šarenilo, dizajn">
            <a:extLst>
              <a:ext uri="{FF2B5EF4-FFF2-40B4-BE49-F238E27FC236}">
                <a16:creationId xmlns:a16="http://schemas.microsoft.com/office/drawing/2014/main" id="{813DD7BB-6C45-D079-40C8-D9AAFA335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30842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>
            <a:extLst>
              <a:ext uri="{FF2B5EF4-FFF2-40B4-BE49-F238E27FC236}">
                <a16:creationId xmlns:a16="http://schemas.microsoft.com/office/drawing/2014/main" id="{5F67D23E-A28C-75D8-1345-0AB914675C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8"/>
            <a:ext cx="12192000" cy="6857142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00F290A5-665D-F2E4-352E-051E267BCC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55653" y="3382477"/>
            <a:ext cx="9144000" cy="2387600"/>
          </a:xfrm>
        </p:spPr>
        <p:txBody>
          <a:bodyPr anchor="b"/>
          <a:lstStyle>
            <a:lvl1pPr algn="r">
              <a:defRPr sz="4800">
                <a:latin typeface="Bahnschrift" panose="020B0502040204020203" pitchFamily="34" charset="0"/>
              </a:defRPr>
            </a:lvl1pPr>
          </a:lstStyle>
          <a:p>
            <a:r>
              <a:rPr lang="hr-HR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2525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35DF2062-AC53-CC06-3408-F03D9B95BB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2262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ljubičasto, Magenta, Jorgovan, ljubičica&#10;&#10;Opis je automatski generiran">
            <a:extLst>
              <a:ext uri="{FF2B5EF4-FFF2-40B4-BE49-F238E27FC236}">
                <a16:creationId xmlns:a16="http://schemas.microsoft.com/office/drawing/2014/main" id="{9FAA237F-8481-A276-5DC5-A3FC50F5B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E69C0126-D498-D7EF-F08C-471CA839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r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0915537-B2D1-B872-5BC6-E6A6498B8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</a:lstStyle>
          <a:p>
            <a:pPr lvl="0"/>
            <a:r>
              <a:rPr lang="hr-HR" dirty="0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E429AF7-3B52-7B21-C5E7-7BA86CDA8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83575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lagođeni izgl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:a16="http://schemas.microsoft.com/office/drawing/2014/main" id="{F0B43500-2B0D-6E1A-B9B4-812DA8D0A84E}"/>
              </a:ext>
            </a:extLst>
          </p:cNvPr>
          <p:cNvGrpSpPr/>
          <p:nvPr userDrawn="1"/>
        </p:nvGrpSpPr>
        <p:grpSpPr>
          <a:xfrm>
            <a:off x="0" y="428"/>
            <a:ext cx="12192000" cy="6857143"/>
            <a:chOff x="0" y="428"/>
            <a:chExt cx="12192000" cy="6857143"/>
          </a:xfrm>
        </p:grpSpPr>
        <p:pic>
          <p:nvPicPr>
            <p:cNvPr id="4" name="Slika 5" descr="Slika na kojoj se prikazuje ljubičasto, Magenta, Jorgovan, ljubičica&#10;&#10;Opis je automatski generiran">
              <a:extLst>
                <a:ext uri="{FF2B5EF4-FFF2-40B4-BE49-F238E27FC236}">
                  <a16:creationId xmlns:a16="http://schemas.microsoft.com/office/drawing/2014/main" id="{F699EAC5-D790-B1A3-57FC-41C24823EF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28"/>
              <a:ext cx="12192000" cy="6857143"/>
            </a:xfrm>
            <a:prstGeom prst="rect">
              <a:avLst/>
            </a:prstGeom>
          </p:spPr>
        </p:pic>
        <p:pic>
          <p:nvPicPr>
            <p:cNvPr id="8" name="Elemento grafico 7">
              <a:extLst>
                <a:ext uri="{FF2B5EF4-FFF2-40B4-BE49-F238E27FC236}">
                  <a16:creationId xmlns:a16="http://schemas.microsoft.com/office/drawing/2014/main" id="{DB5C4848-6547-71DA-CC8A-3F432396BA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33024" y="385764"/>
              <a:ext cx="1470025" cy="1938912"/>
            </a:xfrm>
            <a:prstGeom prst="rect">
              <a:avLst/>
            </a:prstGeom>
          </p:spPr>
        </p:pic>
      </p:grpSp>
      <p:sp>
        <p:nvSpPr>
          <p:cNvPr id="2" name="Naslov 1">
            <a:extLst>
              <a:ext uri="{FF2B5EF4-FFF2-40B4-BE49-F238E27FC236}">
                <a16:creationId xmlns:a16="http://schemas.microsoft.com/office/drawing/2014/main" id="{BF2A96D7-17D5-D8FA-1A2A-53ABEC2070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SUMMARY</a:t>
            </a:r>
          </a:p>
        </p:txBody>
      </p:sp>
      <p:sp>
        <p:nvSpPr>
          <p:cNvPr id="5" name="Rezervirano mjesto sadržaja 2">
            <a:extLst>
              <a:ext uri="{FF2B5EF4-FFF2-40B4-BE49-F238E27FC236}">
                <a16:creationId xmlns:a16="http://schemas.microsoft.com/office/drawing/2014/main" id="{BE5845F3-7D26-6133-1EB4-4FDBDC489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062753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7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DISCUSSION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37160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8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1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EXERCISE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597803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9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428"/>
            <a:ext cx="12191996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HOMEWORK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093361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40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ASSESSMENTS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588185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1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ADDITIONAL READING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3455389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_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E1102532-B18A-F116-ED3D-C3E4F6576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" y="428"/>
            <a:ext cx="12191993" cy="6857139"/>
          </a:xfrm>
          <a:prstGeom prst="rect">
            <a:avLst/>
          </a:prstGeom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476ACE7-458A-DB79-D9F2-688CE21D2D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3600">
                <a:latin typeface="Bahnschrift SemiBold" panose="020B0502040204020203" pitchFamily="34" charset="0"/>
              </a:defRPr>
            </a:lvl1pPr>
          </a:lstStyle>
          <a:p>
            <a:r>
              <a:rPr lang="hr-HR" dirty="0"/>
              <a:t>RESOURCES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8EC462E-02D9-044A-298B-A009977E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ahnschrift SemiLight" panose="020B0502040204020203" pitchFamily="34" charset="0"/>
              </a:defRPr>
            </a:lvl1pPr>
            <a:lvl2pPr>
              <a:defRPr>
                <a:latin typeface="Bahnschrift SemiLight" panose="020B0502040204020203" pitchFamily="34" charset="0"/>
              </a:defRPr>
            </a:lvl2pPr>
            <a:lvl3pPr>
              <a:defRPr>
                <a:latin typeface="Bahnschrift SemiLight" panose="020B0502040204020203" pitchFamily="34" charset="0"/>
              </a:defRPr>
            </a:lvl3pPr>
            <a:lvl4pPr>
              <a:defRPr>
                <a:latin typeface="Bahnschrift SemiLight" panose="020B0502040204020203" pitchFamily="34" charset="0"/>
              </a:defRPr>
            </a:lvl4pPr>
            <a:lvl5pPr>
              <a:defRPr>
                <a:latin typeface="Bahnschrift SemiLight" panose="020B0502040204020203" pitchFamily="34" charset="0"/>
              </a:defRPr>
            </a:lvl5pPr>
          </a:lstStyle>
          <a:p>
            <a:pPr lvl="0"/>
            <a:r>
              <a:rPr lang="hr-HR" dirty="0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1015765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Završ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ka 8">
            <a:extLst>
              <a:ext uri="{FF2B5EF4-FFF2-40B4-BE49-F238E27FC236}">
                <a16:creationId xmlns:a16="http://schemas.microsoft.com/office/drawing/2014/main" id="{1E9C26A1-6687-A87D-1AE0-CDCFC63DA5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28"/>
            <a:ext cx="12191998" cy="685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27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B650DF9-2458-1434-6EFF-3D965EDC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dirty="0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C6E5EE-2B8F-9019-690C-3AF0A69B8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470CF1CA-F427-A5AF-96AA-671002CD74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B997-549E-41F4-A1E4-B0CF42B49EF1}" type="datetimeFigureOut">
              <a:rPr lang="hr-HR" smtClean="0"/>
              <a:t>01.04.2026.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D829544-1FE5-4ED0-6A51-373B24568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33A67201-5F88-A086-59F5-4A06FA6BE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D723-16A0-42C8-A963-6C8D73A0AD4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751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9" r:id="rId4"/>
    <p:sldLayoutId id="2147483667" r:id="rId5"/>
    <p:sldLayoutId id="2147483653" r:id="rId6"/>
    <p:sldLayoutId id="2147483662" r:id="rId7"/>
    <p:sldLayoutId id="2147483688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6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visual-paradigm.com/scrum/theme-epic-user-story-task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gina.eu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gina.eu/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bitesizelearning.co.uk/resources/moscow-prioritisation-model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com/app/board/uXjVIJkWtGU=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agile/kanban/boards" TargetMode="External"/><Relationship Id="rId2" Type="http://schemas.openxmlformats.org/officeDocument/2006/relationships/hyperlink" Target="https://www.mountaingoatsoftware.com/agile/user-stories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resources.kanban.university/wp-content/uploads/2021/06/The-Official-Kanban-Guide_A4.pdf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ilealliance.org/glossary/user-story/" TargetMode="External"/><Relationship Id="rId2" Type="http://schemas.openxmlformats.org/officeDocument/2006/relationships/hyperlink" Target="https://scrumguides.org/scrum-guide.html" TargetMode="Externa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mountaingoatsoftware.com/blog/stories-epics-and-themes" TargetMode="External"/><Relationship Id="rId4" Type="http://schemas.openxmlformats.org/officeDocument/2006/relationships/hyperlink" Target="https://www.mountaingoatsoftware.com/agile/user-stories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agile/kanban/boards" TargetMode="External"/><Relationship Id="rId2" Type="http://schemas.openxmlformats.org/officeDocument/2006/relationships/hyperlink" Target="https://www.atlassian.com/agile/project-management/estimation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agilebusiness.org/dsdm-project-framework/moscow-prioritisa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C0ECC-2322-5D72-6352-53EB9F136B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SHIFT4IT</a:t>
            </a:r>
            <a:endParaRPr lang="en-GB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55F07BE-2BBA-6FA0-C5C7-36184C7AA5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Shifting the </a:t>
            </a:r>
            <a:r>
              <a:rPr lang="en-GB" dirty="0" err="1"/>
              <a:t>paradygm</a:t>
            </a:r>
            <a:r>
              <a:rPr lang="en-GB" dirty="0"/>
              <a:t> for women in IT sector​</a:t>
            </a:r>
          </a:p>
        </p:txBody>
      </p:sp>
    </p:spTree>
    <p:extLst>
      <p:ext uri="{BB962C8B-B14F-4D97-AF65-F5344CB8AC3E}">
        <p14:creationId xmlns:p14="http://schemas.microsoft.com/office/powerpoint/2010/main" val="1419635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4022C4E9-1E70-8866-3479-A24FD93D0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r-HR" dirty="0"/>
              <a:t>Planiranje aktivnosti uzimajući u obzir proizvodni kapacitet tima: izrada </a:t>
            </a:r>
            <a:r>
              <a:rPr lang="hr-HR" dirty="0" err="1"/>
              <a:t>backloga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95518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B3CC99-F7FF-14F0-2216-EAF8635F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Sažetak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99E147-BAC4-58B2-9AE7-BFA9814DA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3.1 </a:t>
            </a:r>
            <a:r>
              <a:rPr lang="hr-HR" dirty="0"/>
              <a:t>Kako izraditi </a:t>
            </a:r>
            <a:r>
              <a:rPr lang="en-GB" dirty="0"/>
              <a:t>backlog</a:t>
            </a:r>
          </a:p>
          <a:p>
            <a:pPr marL="0" indent="0">
              <a:buNone/>
            </a:pPr>
            <a:r>
              <a:rPr lang="en-GB" dirty="0"/>
              <a:t>3.2 </a:t>
            </a:r>
            <a:r>
              <a:rPr lang="hr-HR" dirty="0"/>
              <a:t>Kako upravljati </a:t>
            </a:r>
            <a:r>
              <a:rPr lang="hr-HR" dirty="0" err="1"/>
              <a:t>granularnošću</a:t>
            </a:r>
            <a:r>
              <a:rPr lang="hr-HR" dirty="0"/>
              <a:t> kartica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3.3 </a:t>
            </a:r>
            <a:r>
              <a:rPr lang="hr-HR" dirty="0"/>
              <a:t>Kako upravljati planiranjem kapaciteta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3.4 </a:t>
            </a:r>
            <a:r>
              <a:rPr lang="hr-HR" dirty="0"/>
              <a:t>Praktična radionica – uvođenje </a:t>
            </a:r>
            <a:r>
              <a:rPr lang="hr-HR" dirty="0" err="1"/>
              <a:t>Agilea</a:t>
            </a:r>
            <a:r>
              <a:rPr lang="hr-HR" dirty="0"/>
              <a:t>: izrada ploče i </a:t>
            </a:r>
            <a:r>
              <a:rPr lang="hr-HR"/>
              <a:t>pisanje kartica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936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DCEE9-24D7-FDEE-D64C-735274B0F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456EB0-F073-67EB-872A-FA736C060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Uvod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995E98-0DFF-A428-7A22-92F984C94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r-HR" dirty="0"/>
              <a:t>Ovaj modul usmjeren je na praktičnu stranu </a:t>
            </a:r>
            <a:r>
              <a:rPr lang="hr-HR" dirty="0" err="1"/>
              <a:t>Agile</a:t>
            </a:r>
            <a:r>
              <a:rPr lang="hr-HR" dirty="0"/>
              <a:t> planiranja projekata: kako potrebe pretvoriti u konkretne radne zadatke, pravilno ih strukturirati i uskladiti sa stvarnim proizvodnim kapacitetom tima.</a:t>
            </a:r>
          </a:p>
          <a:p>
            <a:pPr marL="0" indent="0">
              <a:buNone/>
            </a:pPr>
            <a:r>
              <a:rPr lang="hr-HR" dirty="0"/>
              <a:t>Najprije ćete naučiti kako kreirati i održavati </a:t>
            </a:r>
            <a:r>
              <a:rPr lang="hr-HR" dirty="0" err="1"/>
              <a:t>backlog</a:t>
            </a:r>
            <a:r>
              <a:rPr lang="hr-HR" dirty="0"/>
              <a:t> — dinamičan, </a:t>
            </a:r>
            <a:r>
              <a:rPr lang="hr-HR" dirty="0" err="1"/>
              <a:t>prioritetiziran</a:t>
            </a:r>
            <a:r>
              <a:rPr lang="hr-HR" dirty="0"/>
              <a:t> popis funkcionalnosti, poboljšanja, ispravaka i zadataka — te razumjeti njegovu svrhu, ključne sastavnice i najčešće pogreške.</a:t>
            </a:r>
          </a:p>
          <a:p>
            <a:pPr marL="0" indent="0">
              <a:buNone/>
            </a:pPr>
            <a:r>
              <a:rPr lang="hr-HR" dirty="0"/>
              <a:t>Modul se zatim bavi jednim od najčešćih izazova u </a:t>
            </a:r>
            <a:r>
              <a:rPr lang="hr-HR" dirty="0" err="1"/>
              <a:t>Agile</a:t>
            </a:r>
            <a:r>
              <a:rPr lang="hr-HR" dirty="0"/>
              <a:t> isporuci: </a:t>
            </a:r>
            <a:r>
              <a:rPr lang="hr-HR" dirty="0" err="1"/>
              <a:t>granularnošću</a:t>
            </a:r>
            <a:r>
              <a:rPr lang="hr-HR" dirty="0"/>
              <a:t> kartica. Istražit ćete kako prijeći od opće vizije do </a:t>
            </a:r>
            <a:r>
              <a:rPr lang="hr-HR" dirty="0" err="1"/>
              <a:t>epica</a:t>
            </a:r>
            <a:r>
              <a:rPr lang="hr-HR" dirty="0"/>
              <a:t>, </a:t>
            </a:r>
            <a:r>
              <a:rPr lang="hr-HR" dirty="0" err="1"/>
              <a:t>user</a:t>
            </a:r>
            <a:r>
              <a:rPr lang="hr-HR" dirty="0"/>
              <a:t> </a:t>
            </a:r>
            <a:r>
              <a:rPr lang="hr-HR" dirty="0" err="1"/>
              <a:t>storyja</a:t>
            </a:r>
            <a:r>
              <a:rPr lang="hr-HR" dirty="0"/>
              <a:t> i zadataka, odabirući odgovarajuću razinu detalja kako bi rad ostao upravljiv, vidljiv i motivirajući.</a:t>
            </a:r>
          </a:p>
        </p:txBody>
      </p:sp>
    </p:spTree>
    <p:extLst>
      <p:ext uri="{BB962C8B-B14F-4D97-AF65-F5344CB8AC3E}">
        <p14:creationId xmlns:p14="http://schemas.microsoft.com/office/powerpoint/2010/main" val="170971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464A-F7A2-58DF-5C15-9049332B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5EAE58-FA5C-4B12-0684-CCF985B5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Uvod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748CC1-DC89-0F2E-CC44-46EFFBA93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sz="2400" dirty="0"/>
              <a:t>Završni dio uvodi planiranje kapaciteta, pokazujući kako timovi mogu izbjeći preopterećenje zajedničkim procjenjivanjem rada, primjenom faktora fokusa i izradom koherentnog plana isporuke koji uravnotežuje očekivanja korisnika s održivim radom tima.</a:t>
            </a:r>
          </a:p>
          <a:p>
            <a:pPr marL="0" indent="0">
              <a:buNone/>
            </a:pPr>
            <a:endParaRPr lang="hr-HR" sz="2400" dirty="0"/>
          </a:p>
          <a:p>
            <a:pPr marL="0" indent="0">
              <a:buNone/>
            </a:pPr>
            <a:r>
              <a:rPr lang="hr-HR" sz="2400" dirty="0"/>
              <a:t>Modul završava praktičnom radionicom u kojoj sudionici postavljaju </a:t>
            </a:r>
            <a:r>
              <a:rPr lang="hr-HR" sz="2400" dirty="0" err="1"/>
              <a:t>Agile</a:t>
            </a:r>
            <a:r>
              <a:rPr lang="hr-HR" sz="2400" dirty="0"/>
              <a:t> ploču, definiraju tijek rada, pišu </a:t>
            </a:r>
            <a:r>
              <a:rPr lang="hr-HR" sz="2400" dirty="0" err="1"/>
              <a:t>user</a:t>
            </a:r>
            <a:r>
              <a:rPr lang="hr-HR" sz="2400" dirty="0"/>
              <a:t> </a:t>
            </a:r>
            <a:r>
              <a:rPr lang="hr-HR" sz="2400" dirty="0" err="1"/>
              <a:t>storyje</a:t>
            </a:r>
            <a:r>
              <a:rPr lang="hr-HR" sz="2400" dirty="0"/>
              <a:t> i zadatke te vježbaju upravljanje isporukom koristeći scenarij iz stvarnog svijeta.</a:t>
            </a:r>
          </a:p>
        </p:txBody>
      </p:sp>
    </p:spTree>
    <p:extLst>
      <p:ext uri="{BB962C8B-B14F-4D97-AF65-F5344CB8AC3E}">
        <p14:creationId xmlns:p14="http://schemas.microsoft.com/office/powerpoint/2010/main" val="490643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11D50-0C1D-BFC1-DA9F-DEABB9F2B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08D8EE-EEC0-669A-ACDB-5D3E8C36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Uvod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AA7B54-F7EC-31A6-6B9D-7DDD0C5D1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r-HR" dirty="0"/>
              <a:t>Na kraju ovog modula moći ćete:</a:t>
            </a:r>
          </a:p>
          <a:p>
            <a:r>
              <a:rPr lang="hr-HR" dirty="0"/>
              <a:t>Definirati </a:t>
            </a:r>
            <a:r>
              <a:rPr lang="hr-HR" dirty="0" err="1"/>
              <a:t>backlog</a:t>
            </a:r>
            <a:r>
              <a:rPr lang="hr-HR" dirty="0"/>
              <a:t> i razumjeti njegovu važnost u upravljanju projektima</a:t>
            </a:r>
          </a:p>
          <a:p>
            <a:r>
              <a:rPr lang="hr-HR" dirty="0"/>
              <a:t>Razlikovati </a:t>
            </a:r>
            <a:r>
              <a:rPr lang="hr-HR" dirty="0" err="1"/>
              <a:t>product</a:t>
            </a:r>
            <a:r>
              <a:rPr lang="hr-HR" dirty="0"/>
              <a:t> </a:t>
            </a:r>
            <a:r>
              <a:rPr lang="hr-HR" dirty="0" err="1"/>
              <a:t>backlog</a:t>
            </a:r>
            <a:r>
              <a:rPr lang="hr-HR" dirty="0"/>
              <a:t> i sprint </a:t>
            </a:r>
            <a:r>
              <a:rPr lang="hr-HR" dirty="0" err="1"/>
              <a:t>backlog</a:t>
            </a:r>
            <a:endParaRPr lang="hr-HR" dirty="0"/>
          </a:p>
          <a:p>
            <a:r>
              <a:rPr lang="hr-HR" dirty="0"/>
              <a:t>Razumjeti koncept </a:t>
            </a:r>
            <a:r>
              <a:rPr lang="hr-HR" dirty="0" err="1"/>
              <a:t>granularnosti</a:t>
            </a:r>
            <a:r>
              <a:rPr lang="hr-HR" dirty="0"/>
              <a:t> kartica u agilnim metodologijama</a:t>
            </a:r>
          </a:p>
          <a:p>
            <a:r>
              <a:rPr lang="hr-HR" dirty="0"/>
              <a:t>Razumjeti koncept planiranja kapaciteta u </a:t>
            </a:r>
            <a:r>
              <a:rPr lang="hr-HR" dirty="0" err="1"/>
              <a:t>Agile</a:t>
            </a:r>
            <a:r>
              <a:rPr lang="hr-HR" dirty="0"/>
              <a:t> okruženju</a:t>
            </a:r>
          </a:p>
          <a:p>
            <a:r>
              <a:rPr lang="hr-HR" dirty="0"/>
              <a:t>Primijeniti tehnike za učinkovito planiranje kapaciteta</a:t>
            </a:r>
          </a:p>
          <a:p>
            <a:r>
              <a:rPr lang="hr-HR" dirty="0"/>
              <a:t>Izraditi jednostavan </a:t>
            </a:r>
            <a:r>
              <a:rPr lang="hr-HR" dirty="0" err="1"/>
              <a:t>backlog</a:t>
            </a:r>
            <a:r>
              <a:rPr lang="hr-HR" dirty="0"/>
              <a:t> koristeći scenarij iz stvarnog svijeta</a:t>
            </a:r>
          </a:p>
          <a:p>
            <a:r>
              <a:rPr lang="hr-HR" dirty="0"/>
              <a:t>Postaviti </a:t>
            </a:r>
            <a:r>
              <a:rPr lang="hr-HR" dirty="0" err="1"/>
              <a:t>Agile</a:t>
            </a:r>
            <a:r>
              <a:rPr lang="hr-HR" dirty="0"/>
              <a:t> ploču</a:t>
            </a:r>
          </a:p>
        </p:txBody>
      </p:sp>
    </p:spTree>
    <p:extLst>
      <p:ext uri="{BB962C8B-B14F-4D97-AF65-F5344CB8AC3E}">
        <p14:creationId xmlns:p14="http://schemas.microsoft.com/office/powerpoint/2010/main" val="34729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099594-8575-6331-3922-4AC5011F5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Kako izraditi </a:t>
            </a:r>
            <a:r>
              <a:rPr lang="en-GB" dirty="0"/>
              <a:t>backlog</a:t>
            </a:r>
          </a:p>
        </p:txBody>
      </p:sp>
    </p:spTree>
    <p:extLst>
      <p:ext uri="{BB962C8B-B14F-4D97-AF65-F5344CB8AC3E}">
        <p14:creationId xmlns:p14="http://schemas.microsoft.com/office/powerpoint/2010/main" val="975342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10420-5106-6AA7-B7CD-07E39F5B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2338E7-F3F9-A07B-3B1F-1CF1991A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Što je </a:t>
            </a:r>
            <a:r>
              <a:rPr lang="en-GB" dirty="0"/>
              <a:t>backlog?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9621EEC-A6DC-2260-50C9-394B0F8E9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r-HR" dirty="0" err="1"/>
              <a:t>Prioritetizirani</a:t>
            </a:r>
            <a:r>
              <a:rPr lang="hr-HR" dirty="0"/>
              <a:t> popis funkcionalnosti, poboljšanja, ispravaka pogrešaka, zadataka itd.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r-HR" dirty="0"/>
              <a:t>U vlasništvu je i održava ga </a:t>
            </a:r>
            <a:r>
              <a:rPr lang="hr-HR" dirty="0" err="1"/>
              <a:t>Product</a:t>
            </a:r>
            <a:r>
              <a:rPr lang="hr-HR" dirty="0"/>
              <a:t> </a:t>
            </a:r>
            <a:r>
              <a:rPr lang="hr-HR" dirty="0" err="1"/>
              <a:t>Owner</a:t>
            </a:r>
            <a:endParaRPr lang="hr-HR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r-HR" dirty="0"/>
              <a:t>Razvijajući dokument – nikada nije potpuno dovršen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hr-HR" dirty="0"/>
              <a:t>Pruža jedinstveni izvor zahtjeva za sve promjene koje se trebaju napraviti na proizvodu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C0FA3F-3BE4-0FCE-3EFD-3CD07333C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103" y="207142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690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840FD-755E-1DD0-B0E5-6E90AD1E6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8E198B-513F-408C-EF60-5CAC12529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Sastavnice jedne stavke </a:t>
            </a:r>
            <a:r>
              <a:rPr lang="hr-HR" dirty="0" err="1"/>
              <a:t>backloga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8A274D-415C-7604-458F-D11BFC775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b="1" dirty="0"/>
              <a:t>Naslov</a:t>
            </a:r>
            <a:r>
              <a:rPr lang="hr-HR" dirty="0"/>
              <a:t> – kratak sažetak</a:t>
            </a:r>
          </a:p>
          <a:p>
            <a:r>
              <a:rPr lang="hr-HR" b="1" dirty="0"/>
              <a:t>Opis</a:t>
            </a:r>
            <a:r>
              <a:rPr lang="hr-HR" dirty="0"/>
              <a:t> – detaljno objašnjenje ili </a:t>
            </a:r>
            <a:r>
              <a:rPr lang="hr-HR" dirty="0" err="1"/>
              <a:t>user</a:t>
            </a:r>
            <a:r>
              <a:rPr lang="hr-HR" dirty="0"/>
              <a:t> story</a:t>
            </a:r>
          </a:p>
          <a:p>
            <a:r>
              <a:rPr lang="hr-HR" b="1" dirty="0"/>
              <a:t>Kriteriji prihvaćanja </a:t>
            </a:r>
            <a:r>
              <a:rPr lang="hr-HR" dirty="0"/>
              <a:t>– uvjeti koji moraju biti ispunjeni da bi se stavka smatrala „dovršenom”</a:t>
            </a:r>
          </a:p>
          <a:p>
            <a:r>
              <a:rPr lang="hr-HR" b="1" dirty="0"/>
              <a:t>Prioritet</a:t>
            </a:r>
            <a:r>
              <a:rPr lang="hr-HR" dirty="0"/>
              <a:t> – redoslijed važnosti</a:t>
            </a:r>
          </a:p>
          <a:p>
            <a:r>
              <a:rPr lang="hr-HR" b="1" dirty="0"/>
              <a:t>Procjena </a:t>
            </a:r>
            <a:r>
              <a:rPr lang="hr-HR" dirty="0"/>
              <a:t>– potrebni napor (npr. story </a:t>
            </a:r>
            <a:r>
              <a:rPr lang="hr-HR" dirty="0" err="1"/>
              <a:t>points</a:t>
            </a:r>
            <a:r>
              <a:rPr lang="hr-HR" dirty="0"/>
              <a:t>, sati)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6DA129-2076-4594-CC42-345250212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103" y="2071424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D6761B-84A3-709D-679D-6B89B3581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511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E23808-B544-CCB2-E4EC-44B2152E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Kako izraditi </a:t>
            </a:r>
            <a:r>
              <a:rPr lang="it-IT" dirty="0"/>
              <a:t>backlog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448B71-9695-7661-24AD-626D34FDD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b="1" dirty="0"/>
              <a:t>SAVJET:</a:t>
            </a:r>
            <a:r>
              <a:rPr lang="hr-HR" dirty="0"/>
              <a:t> Vi određujete </a:t>
            </a:r>
            <a:r>
              <a:rPr lang="hr-HR" dirty="0" err="1"/>
              <a:t>granularnost</a:t>
            </a:r>
            <a:r>
              <a:rPr lang="hr-HR" dirty="0"/>
              <a:t> kartica na svojoj ploči. Možete odlučiti što je „</a:t>
            </a:r>
            <a:r>
              <a:rPr lang="hr-HR" dirty="0" err="1"/>
              <a:t>Epic</a:t>
            </a:r>
            <a:r>
              <a:rPr lang="hr-HR" dirty="0"/>
              <a:t>”, a što „Story”.</a:t>
            </a:r>
          </a:p>
          <a:p>
            <a:pPr marL="0" indent="0">
              <a:buNone/>
            </a:pPr>
            <a:r>
              <a:rPr lang="hr-HR" b="1" dirty="0"/>
              <a:t>Primjer:</a:t>
            </a:r>
            <a:br>
              <a:rPr lang="hr-HR" dirty="0"/>
            </a:br>
            <a:r>
              <a:rPr lang="hr-HR" b="1" dirty="0"/>
              <a:t>OPSEG RADA:</a:t>
            </a:r>
            <a:r>
              <a:rPr lang="hr-HR" dirty="0"/>
              <a:t> natječaj</a:t>
            </a:r>
            <a:br>
              <a:rPr lang="hr-HR" dirty="0"/>
            </a:br>
            <a:r>
              <a:rPr lang="hr-HR" b="1" dirty="0"/>
              <a:t>EPIC:</a:t>
            </a:r>
            <a:r>
              <a:rPr lang="hr-HR" dirty="0"/>
              <a:t> Tehnička dokumentacija; Ekonomska dokumentacija; Administrativna dokumentacija</a:t>
            </a:r>
            <a:br>
              <a:rPr lang="hr-HR" dirty="0"/>
            </a:br>
            <a:r>
              <a:rPr lang="hr-HR" b="1" dirty="0"/>
              <a:t>STORY:</a:t>
            </a:r>
            <a:r>
              <a:rPr lang="hr-HR" dirty="0"/>
              <a:t> Dovršavanje dokumenata; Izrada procjena</a:t>
            </a:r>
            <a:br>
              <a:rPr lang="hr-HR" dirty="0"/>
            </a:br>
            <a:r>
              <a:rPr lang="hr-HR" b="1" dirty="0"/>
              <a:t>TASK:</a:t>
            </a:r>
            <a:r>
              <a:rPr lang="hr-HR" dirty="0"/>
              <a:t> Popunjavanje Priloga 1 i Priloga 2; Izrada datoteka za ekonomsku simulaciju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269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4687888"/>
            <a:ext cx="255587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rgbClr val="434343"/>
                </a:solidFill>
                <a:latin typeface="Trebuchet MS"/>
                <a:cs typeface="Trebuchet MS"/>
              </a:defRPr>
            </a:lvl1pPr>
          </a:lstStyle>
          <a:p>
            <a:pPr marL="83185">
              <a:spcBef>
                <a:spcPts val="20"/>
              </a:spcBef>
            </a:pPr>
            <a:fld id="{81D60167-4931-47E6-BA6A-407CBD079E47}" type="slidenum">
              <a:rPr lang="en-GB" spc="-25" smtClean="0"/>
              <a:pPr marL="83185">
                <a:spcBef>
                  <a:spcPts val="20"/>
                </a:spcBef>
              </a:pPr>
              <a:t>11</a:t>
            </a:fld>
            <a:endParaRPr spc="-33" dirty="0"/>
          </a:p>
        </p:txBody>
      </p:sp>
      <p:sp>
        <p:nvSpPr>
          <p:cNvPr id="22" name="Titolo 21">
            <a:extLst>
              <a:ext uri="{FF2B5EF4-FFF2-40B4-BE49-F238E27FC236}">
                <a16:creationId xmlns:a16="http://schemas.microsoft.com/office/drawing/2014/main" id="{B4E41332-E558-BB45-F702-B8DE10E4D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Kako izraditi </a:t>
            </a:r>
            <a:r>
              <a:rPr lang="it-IT" dirty="0"/>
              <a:t>backlog</a:t>
            </a:r>
            <a:endParaRPr lang="en-GB" dirty="0"/>
          </a:p>
        </p:txBody>
      </p:sp>
      <p:pic>
        <p:nvPicPr>
          <p:cNvPr id="1026" name="Picture 2" descr="Product backlog structure">
            <a:extLst>
              <a:ext uri="{FF2B5EF4-FFF2-40B4-BE49-F238E27FC236}">
                <a16:creationId xmlns:a16="http://schemas.microsoft.com/office/drawing/2014/main" id="{BEC37F7C-8FA5-D2CE-2C2A-E6D0987E6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1"/>
          <a:stretch>
            <a:fillRect/>
          </a:stretch>
        </p:blipFill>
        <p:spPr bwMode="auto">
          <a:xfrm>
            <a:off x="2363223" y="2118665"/>
            <a:ext cx="7465554" cy="357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40BC2BD-41F7-BE17-6C0D-E191FE74CD45}"/>
              </a:ext>
            </a:extLst>
          </p:cNvPr>
          <p:cNvSpPr txBox="1"/>
          <p:nvPr/>
        </p:nvSpPr>
        <p:spPr>
          <a:xfrm>
            <a:off x="8425543" y="1808524"/>
            <a:ext cx="3275045" cy="9050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362F886-ED11-867C-8939-EB6F681420B7}"/>
              </a:ext>
            </a:extLst>
          </p:cNvPr>
          <p:cNvSpPr txBox="1"/>
          <p:nvPr/>
        </p:nvSpPr>
        <p:spPr>
          <a:xfrm>
            <a:off x="2363223" y="5886397"/>
            <a:ext cx="57943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latin typeface="Bahnschrift SemiLight" panose="020B0502040204020203" pitchFamily="34" charset="0"/>
              </a:rPr>
              <a:t>Source: </a:t>
            </a:r>
            <a:r>
              <a:rPr lang="it-IT" sz="900" i="1" dirty="0">
                <a:latin typeface="Bahnschrift SemiLight" panose="020B0502040204020203" pitchFamily="34" charset="0"/>
              </a:rPr>
              <a:t>Visual </a:t>
            </a:r>
            <a:r>
              <a:rPr lang="it-IT" sz="900" i="1" dirty="0" err="1">
                <a:latin typeface="Bahnschrift SemiLight" panose="020B0502040204020203" pitchFamily="34" charset="0"/>
              </a:rPr>
              <a:t>Paradigm</a:t>
            </a:r>
            <a:r>
              <a:rPr lang="it-IT" sz="900" i="1" dirty="0">
                <a:latin typeface="Bahnschrift SemiLight" panose="020B0502040204020203" pitchFamily="34" charset="0"/>
              </a:rPr>
              <a:t> </a:t>
            </a:r>
            <a:r>
              <a:rPr lang="it-IT" sz="900" dirty="0">
                <a:latin typeface="Bahnschrift SemiLight" panose="020B0502040204020203" pitchFamily="34" charset="0"/>
              </a:rPr>
              <a:t>(</a:t>
            </a:r>
            <a:r>
              <a:rPr lang="it-IT" sz="900" dirty="0">
                <a:latin typeface="Bahnschrift SemiLight" panose="020B0502040204020203" pitchFamily="34" charset="0"/>
                <a:hlinkClick r:id="rId4"/>
              </a:rPr>
              <a:t>https://www.visual-paradigm.com/scrum/</a:t>
            </a:r>
            <a:r>
              <a:rPr lang="it-IT" sz="900" dirty="0" err="1">
                <a:latin typeface="Bahnschrift SemiLight" panose="020B0502040204020203" pitchFamily="34" charset="0"/>
                <a:hlinkClick r:id="rId4"/>
              </a:rPr>
              <a:t>theme</a:t>
            </a:r>
            <a:r>
              <a:rPr lang="it-IT" sz="900" dirty="0">
                <a:latin typeface="Bahnschrift SemiLight" panose="020B0502040204020203" pitchFamily="34" charset="0"/>
                <a:hlinkClick r:id="rId4"/>
              </a:rPr>
              <a:t>-</a:t>
            </a:r>
            <a:r>
              <a:rPr lang="it-IT" sz="900" dirty="0" err="1">
                <a:latin typeface="Bahnschrift SemiLight" panose="020B0502040204020203" pitchFamily="34" charset="0"/>
                <a:hlinkClick r:id="rId4"/>
              </a:rPr>
              <a:t>epic</a:t>
            </a:r>
            <a:r>
              <a:rPr lang="it-IT" sz="900" dirty="0">
                <a:latin typeface="Bahnschrift SemiLight" panose="020B0502040204020203" pitchFamily="34" charset="0"/>
                <a:hlinkClick r:id="rId4"/>
              </a:rPr>
              <a:t>-user-story-task/</a:t>
            </a:r>
            <a:r>
              <a:rPr lang="it-IT" sz="900" dirty="0">
                <a:latin typeface="Bahnschrift SemiLight" panose="020B0502040204020203" pitchFamily="34" charset="0"/>
              </a:rPr>
              <a:t>) </a:t>
            </a:r>
            <a:endParaRPr lang="en-GB" sz="900" dirty="0">
              <a:latin typeface="Bahnschrift SemiLight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00DA3-84C4-7756-DE2C-79B03406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A0FB86-BC8F-0C0F-08DD-16B47C6B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Kako izraditi </a:t>
            </a:r>
            <a:r>
              <a:rPr lang="it-IT" dirty="0"/>
              <a:t>backlog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C7D306-CE7C-4795-90A6-2402CA6C7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hr-HR" dirty="0"/>
              <a:t>Započnite s ciljevima visoke razine – koje probleme rješavamo?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Pišite </a:t>
            </a:r>
            <a:r>
              <a:rPr lang="hr-HR" dirty="0" err="1"/>
              <a:t>user</a:t>
            </a:r>
            <a:r>
              <a:rPr lang="hr-HR" dirty="0"/>
              <a:t> </a:t>
            </a:r>
            <a:r>
              <a:rPr lang="hr-HR" dirty="0" err="1"/>
              <a:t>storyje</a:t>
            </a:r>
            <a:r>
              <a:rPr lang="hr-HR" dirty="0"/>
              <a:t> – koristite format: „Kao [korisnik], želim [funkcionalnost] kako bih [korist].”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Razlomite </a:t>
            </a:r>
            <a:r>
              <a:rPr lang="hr-HR" dirty="0" err="1"/>
              <a:t>epice</a:t>
            </a:r>
            <a:r>
              <a:rPr lang="hr-HR" dirty="0"/>
              <a:t> na manje </a:t>
            </a:r>
            <a:r>
              <a:rPr lang="hr-HR" dirty="0" err="1"/>
              <a:t>storyje</a:t>
            </a:r>
            <a:r>
              <a:rPr lang="hr-H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Odredite prioritete prema poslovnoj vrijednosti i hitnosti.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Procijenite potrebni napor zajedno s timom.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Redovito pregledavajte i doradite </a:t>
            </a:r>
            <a:r>
              <a:rPr lang="hr-HR" dirty="0" err="1"/>
              <a:t>backlog</a:t>
            </a:r>
            <a:r>
              <a:rPr lang="hr-HR" dirty="0"/>
              <a:t> (</a:t>
            </a:r>
            <a:r>
              <a:rPr lang="hr-HR" dirty="0" err="1"/>
              <a:t>Backlog</a:t>
            </a:r>
            <a:r>
              <a:rPr lang="hr-HR" dirty="0"/>
              <a:t> </a:t>
            </a:r>
            <a:r>
              <a:rPr lang="hr-HR" dirty="0" err="1"/>
              <a:t>Grooming</a:t>
            </a:r>
            <a:r>
              <a:rPr lang="hr-HR" dirty="0"/>
              <a:t> / </a:t>
            </a:r>
            <a:r>
              <a:rPr lang="hr-HR" dirty="0" err="1"/>
              <a:t>Refinement</a:t>
            </a:r>
            <a:r>
              <a:rPr lang="hr-HR" dirty="0"/>
              <a:t>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764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8026-765A-97F2-433A-937282C5C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1DB7A8-1FD8-8749-8B2F-ABC61EC2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3200" dirty="0"/>
              <a:t>Kako izraditi </a:t>
            </a:r>
            <a:r>
              <a:rPr lang="hr-HR" sz="3200" dirty="0" err="1"/>
              <a:t>backlog</a:t>
            </a:r>
            <a:r>
              <a:rPr lang="hr-HR" sz="3200" dirty="0"/>
              <a:t> </a:t>
            </a:r>
            <a:r>
              <a:rPr lang="it-IT" sz="3200" dirty="0"/>
              <a:t>– </a:t>
            </a:r>
            <a:r>
              <a:rPr lang="hr-HR" sz="3200" dirty="0"/>
              <a:t>najčešće pogreške</a:t>
            </a:r>
            <a:endParaRPr lang="en-GB" sz="32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47B42B-39DE-5B96-40D8-2886FB6DD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Pisanje nejasnih ili pretjerano detaljnih </a:t>
            </a:r>
            <a:r>
              <a:rPr lang="hr-HR" dirty="0" err="1"/>
              <a:t>storyja</a:t>
            </a:r>
            <a:endParaRPr lang="hr-HR" dirty="0"/>
          </a:p>
          <a:p>
            <a:r>
              <a:rPr lang="hr-HR" dirty="0"/>
              <a:t>Neuključivanje tima u doradu (</a:t>
            </a:r>
            <a:r>
              <a:rPr lang="hr-HR" dirty="0" err="1"/>
              <a:t>refinement</a:t>
            </a:r>
            <a:r>
              <a:rPr lang="hr-HR" dirty="0"/>
              <a:t>) </a:t>
            </a:r>
            <a:r>
              <a:rPr lang="hr-HR" dirty="0" err="1"/>
              <a:t>backloga</a:t>
            </a:r>
            <a:endParaRPr lang="hr-HR" dirty="0"/>
          </a:p>
          <a:p>
            <a:r>
              <a:rPr lang="hr-HR" dirty="0"/>
              <a:t>Ignoriranje tehničkog duga ili </a:t>
            </a:r>
            <a:r>
              <a:rPr lang="hr-HR" dirty="0" err="1"/>
              <a:t>bugova</a:t>
            </a:r>
            <a:endParaRPr lang="hr-HR" dirty="0"/>
          </a:p>
          <a:p>
            <a:r>
              <a:rPr lang="hr-HR" dirty="0"/>
              <a:t>Dopuštanje da </a:t>
            </a:r>
            <a:r>
              <a:rPr lang="hr-HR" dirty="0" err="1"/>
              <a:t>backlog</a:t>
            </a:r>
            <a:r>
              <a:rPr lang="hr-HR" dirty="0"/>
              <a:t> raste bez redovitog čišćenja i uklanjanja zastarjelih stavki</a:t>
            </a:r>
          </a:p>
        </p:txBody>
      </p:sp>
    </p:spTree>
    <p:extLst>
      <p:ext uri="{BB962C8B-B14F-4D97-AF65-F5344CB8AC3E}">
        <p14:creationId xmlns:p14="http://schemas.microsoft.com/office/powerpoint/2010/main" val="3957061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8A2C-0206-346A-8AEB-40FEC2D7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3A2FA4-B50B-13D8-5F8B-D481E14A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2800" dirty="0"/>
              <a:t>Grupna vježba </a:t>
            </a:r>
            <a:r>
              <a:rPr lang="en-GB" sz="2800" dirty="0"/>
              <a:t>– </a:t>
            </a:r>
            <a:r>
              <a:rPr lang="hr-HR" sz="2800" dirty="0"/>
              <a:t>Izradite mini </a:t>
            </a:r>
            <a:r>
              <a:rPr lang="hr-HR" sz="2800" dirty="0" err="1"/>
              <a:t>product</a:t>
            </a:r>
            <a:r>
              <a:rPr lang="hr-HR" sz="2800" dirty="0"/>
              <a:t> </a:t>
            </a:r>
            <a:r>
              <a:rPr lang="hr-HR" sz="2800" dirty="0" err="1"/>
              <a:t>backlog</a:t>
            </a:r>
            <a:endParaRPr lang="en-GB" sz="2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40946D-2685-CAFC-2E96-9D63A99CE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757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2400" b="1" dirty="0" err="1"/>
              <a:t>CraftEase</a:t>
            </a:r>
            <a:r>
              <a:rPr lang="hr-HR" sz="2400" dirty="0"/>
              <a:t> je edukativna web platforma posvećena DIY (Do </a:t>
            </a:r>
            <a:r>
              <a:rPr lang="hr-HR" sz="2400" dirty="0" err="1"/>
              <a:t>It</a:t>
            </a:r>
            <a:r>
              <a:rPr lang="hr-HR" sz="2400" dirty="0"/>
              <a:t> </a:t>
            </a:r>
            <a:r>
              <a:rPr lang="hr-HR" sz="2400" dirty="0" err="1"/>
              <a:t>Yourself</a:t>
            </a:r>
            <a:r>
              <a:rPr lang="hr-HR" sz="2400" dirty="0"/>
              <a:t>) projektima, osmišljena kako bi korisnicima pomogla naučiti praktične vještine kroz korak-po-korak multimedijski sadržaj.</a:t>
            </a:r>
          </a:p>
          <a:p>
            <a:pPr marL="0" indent="0">
              <a:buNone/>
            </a:pPr>
            <a:r>
              <a:rPr lang="hr-HR" sz="2400" dirty="0"/>
              <a:t>Vi ste </a:t>
            </a:r>
            <a:r>
              <a:rPr lang="hr-HR" sz="2400" b="1" dirty="0"/>
              <a:t>voditelj projekta (PM)</a:t>
            </a:r>
            <a:r>
              <a:rPr lang="hr-HR" sz="2400" dirty="0"/>
              <a:t> u IT tvrtki koja razvija platformu za klijenta.</a:t>
            </a:r>
          </a:p>
          <a:p>
            <a:endParaRPr lang="hr-HR" sz="2400" b="1" dirty="0"/>
          </a:p>
          <a:p>
            <a:pPr marL="0" indent="0">
              <a:buNone/>
            </a:pPr>
            <a:r>
              <a:rPr lang="hr-HR" sz="2400" b="1" dirty="0"/>
              <a:t>Klijent</a:t>
            </a:r>
            <a:br>
              <a:rPr lang="hr-HR" sz="2400" dirty="0"/>
            </a:br>
            <a:r>
              <a:rPr lang="hr-HR" sz="2400" dirty="0"/>
              <a:t>Maloprodajna tvrtka koja prodaje DIY i građevinske materijale</a:t>
            </a:r>
            <a:br>
              <a:rPr lang="hr-HR" sz="2400" dirty="0"/>
            </a:br>
            <a:r>
              <a:rPr lang="hr-HR" sz="2400" dirty="0"/>
              <a:t>(npr. Bauhaus, Brico ili slično – trgovina električnim i građevinskim materijalom).</a:t>
            </a:r>
          </a:p>
        </p:txBody>
      </p:sp>
    </p:spTree>
    <p:extLst>
      <p:ext uri="{BB962C8B-B14F-4D97-AF65-F5344CB8AC3E}">
        <p14:creationId xmlns:p14="http://schemas.microsoft.com/office/powerpoint/2010/main" val="1883677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8165AA-7FE9-1F65-0905-72BDC6BB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2800" dirty="0"/>
              <a:t>Grupna vježba </a:t>
            </a:r>
            <a:r>
              <a:rPr lang="en-GB" sz="2800" dirty="0"/>
              <a:t>– </a:t>
            </a:r>
            <a:r>
              <a:rPr lang="hr-HR" sz="2800" dirty="0"/>
              <a:t>Izradite mini </a:t>
            </a:r>
            <a:r>
              <a:rPr lang="hr-HR" sz="2800" dirty="0" err="1"/>
              <a:t>product</a:t>
            </a:r>
            <a:r>
              <a:rPr lang="hr-HR" sz="2800" dirty="0"/>
              <a:t> </a:t>
            </a:r>
            <a:r>
              <a:rPr lang="hr-HR" sz="2800" dirty="0" err="1"/>
              <a:t>backlog</a:t>
            </a:r>
            <a:endParaRPr lang="en-GB" sz="2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E16C5A2-2F6F-A215-920E-4677C66E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28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r-HR" sz="2600" b="1" dirty="0"/>
              <a:t>Upute</a:t>
            </a:r>
            <a:r>
              <a:rPr lang="it-IT" sz="2600" b="1" dirty="0"/>
              <a:t>:</a:t>
            </a:r>
            <a:endParaRPr lang="en-GB" sz="2600" dirty="0"/>
          </a:p>
          <a:p>
            <a:pPr marL="0" indent="0">
              <a:buNone/>
            </a:pPr>
            <a:endParaRPr lang="en-GB" sz="2600" dirty="0"/>
          </a:p>
          <a:p>
            <a:r>
              <a:rPr lang="hr-HR" sz="2400" dirty="0"/>
              <a:t>Identificirajte </a:t>
            </a:r>
            <a:r>
              <a:rPr lang="hr-HR" sz="2400" b="1" dirty="0"/>
              <a:t>5 ključnih funkcionalnosti</a:t>
            </a:r>
            <a:r>
              <a:rPr lang="hr-HR" sz="2400" dirty="0"/>
              <a:t> potrebnih za platformu </a:t>
            </a:r>
            <a:r>
              <a:rPr lang="hr-HR" sz="2400" dirty="0" err="1"/>
              <a:t>CraftEase</a:t>
            </a:r>
            <a:r>
              <a:rPr lang="hr-HR" sz="2400" dirty="0"/>
              <a:t>.</a:t>
            </a:r>
          </a:p>
          <a:p>
            <a:r>
              <a:rPr lang="hr-HR" sz="2400" dirty="0"/>
              <a:t>Napišite </a:t>
            </a:r>
            <a:r>
              <a:rPr lang="hr-HR" sz="2400" b="1" dirty="0"/>
              <a:t>5 </a:t>
            </a:r>
            <a:r>
              <a:rPr lang="hr-HR" sz="2400" b="1" dirty="0" err="1"/>
              <a:t>user</a:t>
            </a:r>
            <a:r>
              <a:rPr lang="hr-HR" sz="2400" b="1" dirty="0"/>
              <a:t> </a:t>
            </a:r>
            <a:r>
              <a:rPr lang="hr-HR" sz="2400" b="1" dirty="0" err="1"/>
              <a:t>storyja</a:t>
            </a:r>
            <a:r>
              <a:rPr lang="hr-HR" sz="2400" dirty="0"/>
              <a:t> koristeći format:</a:t>
            </a:r>
            <a:br>
              <a:rPr lang="hr-HR" sz="2400" dirty="0"/>
            </a:br>
            <a:r>
              <a:rPr lang="hr-HR" sz="2400" i="1" dirty="0"/>
              <a:t>Kao [uloga korisnika], želim [funkcionalnost] kako bih [korist].</a:t>
            </a:r>
            <a:endParaRPr lang="hr-HR" sz="2400" dirty="0"/>
          </a:p>
          <a:p>
            <a:r>
              <a:rPr lang="hr-HR" sz="2400" dirty="0"/>
              <a:t>Dodijelite:</a:t>
            </a:r>
          </a:p>
          <a:p>
            <a:r>
              <a:rPr lang="hr-HR" sz="2400" b="1" dirty="0"/>
              <a:t>prioritet</a:t>
            </a:r>
            <a:r>
              <a:rPr lang="hr-HR" sz="2400" dirty="0"/>
              <a:t> (1 = najviši, 5 = najniži)</a:t>
            </a:r>
          </a:p>
          <a:p>
            <a:r>
              <a:rPr lang="hr-HR" sz="2400" b="1" dirty="0"/>
              <a:t>grubu procjenu</a:t>
            </a:r>
            <a:r>
              <a:rPr lang="hr-HR" sz="2400" dirty="0"/>
              <a:t> (npr. 1–3 bodova)</a:t>
            </a:r>
          </a:p>
          <a:p>
            <a:pPr marL="0" indent="0">
              <a:buNone/>
            </a:pPr>
            <a:endParaRPr lang="hr-HR" sz="2400" b="1" dirty="0"/>
          </a:p>
          <a:p>
            <a:pPr marL="0" indent="0">
              <a:buNone/>
            </a:pPr>
            <a:r>
              <a:rPr lang="hr-HR" sz="2400" b="1" dirty="0"/>
              <a:t>Rezultat:</a:t>
            </a:r>
            <a:br>
              <a:rPr lang="hr-HR" sz="2400" dirty="0"/>
            </a:br>
            <a:r>
              <a:rPr lang="hr-HR" sz="2400" dirty="0"/>
              <a:t>Kratak </a:t>
            </a:r>
            <a:r>
              <a:rPr lang="hr-HR" sz="2400" b="1" dirty="0"/>
              <a:t>mini </a:t>
            </a:r>
            <a:r>
              <a:rPr lang="hr-HR" sz="2400" b="1" dirty="0" err="1"/>
              <a:t>product</a:t>
            </a:r>
            <a:r>
              <a:rPr lang="hr-HR" sz="2400" b="1" dirty="0"/>
              <a:t> </a:t>
            </a:r>
            <a:r>
              <a:rPr lang="hr-HR" sz="2400" b="1" dirty="0" err="1"/>
              <a:t>backlog</a:t>
            </a:r>
            <a:r>
              <a:rPr lang="hr-HR" sz="2400" dirty="0"/>
              <a:t> spreman za raspravu s klijentom.</a:t>
            </a:r>
          </a:p>
          <a:p>
            <a:pPr marL="0" indent="0">
              <a:buNone/>
            </a:pPr>
            <a:endParaRPr lang="en-GB" sz="2200" b="1" dirty="0"/>
          </a:p>
        </p:txBody>
      </p:sp>
    </p:spTree>
    <p:extLst>
      <p:ext uri="{BB962C8B-B14F-4D97-AF65-F5344CB8AC3E}">
        <p14:creationId xmlns:p14="http://schemas.microsoft.com/office/powerpoint/2010/main" val="1092786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8F20CA-7646-733B-3822-1B3DEF94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Kako izraditi </a:t>
            </a:r>
            <a:r>
              <a:rPr lang="it-IT" dirty="0"/>
              <a:t>backlog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902D93-7F8E-3FD6-9B24-348F98312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dirty="0"/>
              <a:t>Na početku će izrada </a:t>
            </a:r>
            <a:r>
              <a:rPr lang="hr-HR" dirty="0" err="1"/>
              <a:t>backloga</a:t>
            </a:r>
            <a:r>
              <a:rPr lang="hr-HR" dirty="0"/>
              <a:t> biti vrlo zahtjevna!</a:t>
            </a:r>
          </a:p>
          <a:p>
            <a:pPr marL="0" indent="0">
              <a:buNone/>
            </a:pPr>
            <a:r>
              <a:rPr lang="hr-HR" dirty="0"/>
              <a:t>Ponekad ćete izraditi kartice koje su previše „velike” (to primijetite kada kartica predugo ostaje u statusu „U tijeku”)…</a:t>
            </a:r>
            <a:br>
              <a:rPr lang="hr-HR" dirty="0"/>
            </a:br>
            <a:r>
              <a:rPr lang="hr-HR" dirty="0"/>
              <a:t>…a ponekad ćete otići u previše detalja (to možete prepoznati ako kartica prebrzo prođe kroz ploču).</a:t>
            </a:r>
          </a:p>
          <a:p>
            <a:r>
              <a:rPr lang="hr-HR" b="1" dirty="0"/>
              <a:t>Savjet:</a:t>
            </a:r>
            <a:r>
              <a:rPr lang="hr-HR" dirty="0"/>
              <a:t> podijelite kartice tako da njihovo izvršavanje nikada ne traje dulje od 4 sata, odnosno pola radnog dana. Tako ćete pomicati više kartica i biti motiviraniji!</a:t>
            </a:r>
          </a:p>
          <a:p>
            <a:r>
              <a:rPr lang="hr-HR" dirty="0"/>
              <a:t>U kojoj mjeri bi sadržaj kartica trebao biti detaljan?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136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1245D-9EBE-B350-92D7-B202A046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C542B8-DFA1-87FF-9AE6-F4A99D93B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9272" y="3382477"/>
            <a:ext cx="10490381" cy="2387600"/>
          </a:xfrm>
        </p:spPr>
        <p:txBody>
          <a:bodyPr/>
          <a:lstStyle/>
          <a:p>
            <a:r>
              <a:rPr lang="hr-HR" dirty="0"/>
              <a:t>Kako upravljati </a:t>
            </a:r>
            <a:r>
              <a:rPr lang="hr-HR" dirty="0" err="1"/>
              <a:t>granularnošću</a:t>
            </a:r>
            <a:r>
              <a:rPr lang="hr-HR" dirty="0"/>
              <a:t> kartica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6721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D820C6-2FC9-31AB-DBF3-653DC62DE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WBS vs RBS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4814777-4205-5075-B7C7-B0477A04087F}"/>
              </a:ext>
            </a:extLst>
          </p:cNvPr>
          <p:cNvSpPr txBox="1"/>
          <p:nvPr/>
        </p:nvSpPr>
        <p:spPr>
          <a:xfrm>
            <a:off x="2039879" y="2523788"/>
            <a:ext cx="3127375" cy="1056508"/>
          </a:xfrm>
          <a:prstGeom prst="rect">
            <a:avLst/>
          </a:prstGeom>
          <a:solidFill>
            <a:srgbClr val="999999"/>
          </a:solidFill>
        </p:spPr>
        <p:txBody>
          <a:bodyPr vert="horz" wrap="square" lIns="0" tIns="196215" rIns="0" bIns="0" rtlCol="0">
            <a:spAutoFit/>
          </a:bodyPr>
          <a:lstStyle/>
          <a:p>
            <a:pPr algn="ctr">
              <a:lnSpc>
                <a:spcPts val="1664"/>
              </a:lnSpc>
              <a:spcBef>
                <a:spcPts val="1545"/>
              </a:spcBef>
            </a:pPr>
            <a:r>
              <a:rPr lang="hr-HR" sz="1400" b="1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STRUKTURA RAZRADE RADA - </a:t>
            </a:r>
            <a:r>
              <a:rPr sz="1400" b="1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WORK</a:t>
            </a:r>
            <a:r>
              <a:rPr sz="1400" b="1" spc="-60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BREAKDOWN</a:t>
            </a:r>
            <a:r>
              <a:rPr sz="1400" b="1" spc="-55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STRUCTURE</a:t>
            </a:r>
            <a:endParaRPr sz="1400" dirty="0">
              <a:latin typeface="Bahnschrift SemiLight" panose="020B0502040204020203" pitchFamily="34" charset="0"/>
              <a:cs typeface="Arial"/>
            </a:endParaRPr>
          </a:p>
          <a:p>
            <a:pPr algn="ctr">
              <a:lnSpc>
                <a:spcPts val="1664"/>
              </a:lnSpc>
            </a:pPr>
            <a:r>
              <a:rPr sz="1400" b="1" spc="-10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(Waterfall)</a:t>
            </a:r>
            <a:endParaRPr lang="it-IT" sz="1400" b="1" spc="-10" dirty="0">
              <a:solidFill>
                <a:srgbClr val="FFFFFF"/>
              </a:solidFill>
              <a:latin typeface="Bahnschrift SemiLight" panose="020B0502040204020203" pitchFamily="34" charset="0"/>
              <a:cs typeface="Arial"/>
            </a:endParaRPr>
          </a:p>
          <a:p>
            <a:pPr algn="ctr">
              <a:lnSpc>
                <a:spcPts val="1664"/>
              </a:lnSpc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F5640F00-2045-905F-0BA8-E88412A4D3CF}"/>
              </a:ext>
            </a:extLst>
          </p:cNvPr>
          <p:cNvSpPr txBox="1"/>
          <p:nvPr/>
        </p:nvSpPr>
        <p:spPr>
          <a:xfrm>
            <a:off x="6317295" y="2286543"/>
            <a:ext cx="3127375" cy="1511761"/>
          </a:xfrm>
          <a:prstGeom prst="rect">
            <a:avLst/>
          </a:prstGeom>
          <a:solidFill>
            <a:srgbClr val="DC56F5">
              <a:alpha val="40000"/>
            </a:srgbClr>
          </a:solidFill>
        </p:spPr>
        <p:txBody>
          <a:bodyPr vert="horz" wrap="square" lIns="0" tIns="19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"/>
              </a:spcBef>
            </a:pPr>
            <a:endParaRPr lang="en-GB" sz="1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92075" marR="85090" indent="267970" algn="ctr">
              <a:lnSpc>
                <a:spcPts val="1650"/>
              </a:lnSpc>
            </a:pPr>
            <a:r>
              <a:rPr lang="hr-HR"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STRUKTURA RAZRADE ZAHTJEVA/FUNKCIONALNOSTI - </a:t>
            </a:r>
            <a:r>
              <a:rPr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REQUIREMENTS</a:t>
            </a:r>
            <a:r>
              <a:rPr sz="1400" b="1" spc="-3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/</a:t>
            </a:r>
            <a:r>
              <a:rPr sz="1400" b="1" spc="-3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FEATURE BREAKDOWN</a:t>
            </a:r>
            <a:r>
              <a:rPr sz="1400" b="1" spc="-5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STRUCTURE</a:t>
            </a:r>
            <a:r>
              <a:rPr sz="1400" b="1" spc="-45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 </a:t>
            </a:r>
            <a:endParaRPr lang="it-IT" sz="1400" b="1" spc="-45" dirty="0">
              <a:solidFill>
                <a:schemeClr val="bg1"/>
              </a:solidFill>
              <a:latin typeface="Bahnschrift SemiLight" panose="020B0502040204020203" pitchFamily="34" charset="0"/>
              <a:cs typeface="Arial"/>
            </a:endParaRPr>
          </a:p>
          <a:p>
            <a:pPr marL="92075" marR="85090" indent="267970" algn="ctr">
              <a:lnSpc>
                <a:spcPts val="1650"/>
              </a:lnSpc>
            </a:pPr>
            <a:r>
              <a:rPr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(Agile)</a:t>
            </a:r>
            <a:endParaRPr lang="it-IT" sz="1400" b="1" spc="-10" dirty="0">
              <a:solidFill>
                <a:schemeClr val="bg1"/>
              </a:solidFill>
              <a:latin typeface="Bahnschrift SemiLight" panose="020B0502040204020203" pitchFamily="34" charset="0"/>
              <a:cs typeface="Arial"/>
            </a:endParaRPr>
          </a:p>
          <a:p>
            <a:pPr marL="92075" marR="85090" indent="267970" algn="ctr">
              <a:lnSpc>
                <a:spcPts val="1650"/>
              </a:lnSpc>
            </a:pPr>
            <a:endParaRPr sz="1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CBFC5B2-D95F-6D6C-133A-859A4B1F7055}"/>
              </a:ext>
            </a:extLst>
          </p:cNvPr>
          <p:cNvSpPr txBox="1"/>
          <p:nvPr/>
        </p:nvSpPr>
        <p:spPr>
          <a:xfrm>
            <a:off x="2032162" y="3518338"/>
            <a:ext cx="3127375" cy="1988108"/>
          </a:xfrm>
          <a:prstGeom prst="rect">
            <a:avLst/>
          </a:prstGeom>
          <a:ln w="9524"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97155" marR="90170" indent="240029" algn="ctr">
              <a:lnSpc>
                <a:spcPct val="113300"/>
              </a:lnSpc>
              <a:spcBef>
                <a:spcPts val="5"/>
              </a:spcBef>
            </a:pPr>
            <a:r>
              <a:rPr lang="pl-PL" sz="1600" dirty="0"/>
              <a:t>Razrada projekta prema POSLU koji treba obaviti</a:t>
            </a:r>
            <a:endParaRPr lang="en-GB" sz="1600" dirty="0">
              <a:solidFill>
                <a:srgbClr val="434343"/>
              </a:solidFill>
              <a:latin typeface="Bahnschrift SemiLight" panose="020B0502040204020203" pitchFamily="34" charset="0"/>
              <a:cs typeface="Arial MT"/>
            </a:endParaRPr>
          </a:p>
          <a:p>
            <a:pPr marL="97155" marR="90170" indent="240029">
              <a:lnSpc>
                <a:spcPct val="113300"/>
              </a:lnSpc>
              <a:spcBef>
                <a:spcPts val="5"/>
              </a:spcBef>
            </a:pPr>
            <a:endParaRPr lang="en-GB" sz="1600" dirty="0">
              <a:solidFill>
                <a:srgbClr val="434343"/>
              </a:solidFill>
              <a:latin typeface="Arial MT"/>
              <a:cs typeface="Arial MT"/>
            </a:endParaRPr>
          </a:p>
          <a:p>
            <a:pPr marL="97155" marR="90170" indent="240029">
              <a:lnSpc>
                <a:spcPct val="113300"/>
              </a:lnSpc>
              <a:spcBef>
                <a:spcPts val="5"/>
              </a:spcBef>
            </a:pPr>
            <a:endParaRPr lang="en-GB" sz="1600" dirty="0">
              <a:solidFill>
                <a:srgbClr val="434343"/>
              </a:solidFill>
              <a:latin typeface="Arial MT"/>
              <a:cs typeface="Arial MT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118745E-A1EE-C090-DFC1-2722E5DC1C74}"/>
              </a:ext>
            </a:extLst>
          </p:cNvPr>
          <p:cNvSpPr txBox="1"/>
          <p:nvPr/>
        </p:nvSpPr>
        <p:spPr>
          <a:xfrm>
            <a:off x="6317295" y="3518338"/>
            <a:ext cx="3127375" cy="1899174"/>
          </a:xfrm>
          <a:prstGeom prst="rect">
            <a:avLst/>
          </a:prstGeom>
          <a:ln w="9524">
            <a:solidFill>
              <a:schemeClr val="tx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37820" marR="330835" algn="ctr">
              <a:lnSpc>
                <a:spcPct val="113300"/>
              </a:lnSpc>
              <a:spcBef>
                <a:spcPts val="5"/>
              </a:spcBef>
            </a:pPr>
            <a:r>
              <a:rPr lang="hr-HR" sz="1600" dirty="0"/>
              <a:t>Razrada projekta na temelju ZAHTJEVA / FUNKCIONALNOSTI konačnog rezultata (OUTPUTA).</a:t>
            </a:r>
            <a:endParaRPr lang="en-GB" sz="1600" dirty="0">
              <a:solidFill>
                <a:srgbClr val="4BA173"/>
              </a:solidFill>
              <a:latin typeface="Arial MT"/>
              <a:cs typeface="Arial"/>
            </a:endParaRPr>
          </a:p>
          <a:p>
            <a:pPr marL="337820" marR="330835" algn="ctr">
              <a:lnSpc>
                <a:spcPct val="113300"/>
              </a:lnSpc>
              <a:spcBef>
                <a:spcPts val="5"/>
              </a:spcBef>
            </a:pPr>
            <a:endParaRPr lang="en-GB" sz="1600" dirty="0">
              <a:solidFill>
                <a:srgbClr val="4BA173"/>
              </a:solidFill>
              <a:latin typeface="Arial MT"/>
              <a:cs typeface="Arial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CEC1012-9EF3-6104-BD2C-710821887C05}"/>
              </a:ext>
            </a:extLst>
          </p:cNvPr>
          <p:cNvSpPr txBox="1"/>
          <p:nvPr/>
        </p:nvSpPr>
        <p:spPr>
          <a:xfrm>
            <a:off x="4338468" y="6081172"/>
            <a:ext cx="35150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latin typeface="Bahnschrift SemiLight" panose="020B0502040204020203" pitchFamily="34" charset="0"/>
              </a:rPr>
              <a:t>Source: Graphics </a:t>
            </a:r>
            <a:r>
              <a:rPr lang="it-IT" sz="900" dirty="0" err="1">
                <a:latin typeface="Bahnschrift SemiLight" panose="020B0502040204020203" pitchFamily="34" charset="0"/>
              </a:rPr>
              <a:t>produced</a:t>
            </a:r>
            <a:r>
              <a:rPr lang="it-IT" sz="900" dirty="0">
                <a:latin typeface="Bahnschrift SemiLight" panose="020B0502040204020203" pitchFamily="34" charset="0"/>
              </a:rPr>
              <a:t> by </a:t>
            </a:r>
            <a:r>
              <a:rPr lang="it-IT" sz="900" i="1" dirty="0" err="1">
                <a:latin typeface="Bahnschrift SemiLight" panose="020B0502040204020203" pitchFamily="34" charset="0"/>
              </a:rPr>
              <a:t>EGInA</a:t>
            </a:r>
            <a:r>
              <a:rPr lang="it-IT" sz="900" i="1" dirty="0">
                <a:latin typeface="Bahnschrift SemiLight" panose="020B0502040204020203" pitchFamily="34" charset="0"/>
              </a:rPr>
              <a:t> </a:t>
            </a:r>
            <a:r>
              <a:rPr lang="it-IT" sz="900" i="1" dirty="0" err="1">
                <a:latin typeface="Bahnschrift SemiLight" panose="020B0502040204020203" pitchFamily="34" charset="0"/>
              </a:rPr>
              <a:t>Srl</a:t>
            </a:r>
            <a:r>
              <a:rPr lang="it-IT" sz="900" i="1" dirty="0">
                <a:latin typeface="Bahnschrift SemiLight" panose="020B0502040204020203" pitchFamily="34" charset="0"/>
              </a:rPr>
              <a:t> (</a:t>
            </a:r>
            <a:r>
              <a:rPr lang="it-IT" sz="900" i="1" dirty="0">
                <a:latin typeface="Bahnschrift SemiLight" panose="020B0502040204020203" pitchFamily="34" charset="0"/>
                <a:hlinkClick r:id="rId3"/>
              </a:rPr>
              <a:t>https://www.egina.eu/</a:t>
            </a:r>
            <a:r>
              <a:rPr lang="it-IT" sz="900" i="1" dirty="0">
                <a:latin typeface="Bahnschrift SemiLight" panose="020B0502040204020203" pitchFamily="34" charset="0"/>
              </a:rPr>
              <a:t>) </a:t>
            </a:r>
            <a:endParaRPr lang="en-GB" sz="9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581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67228" y="4679832"/>
            <a:ext cx="387773" cy="489373"/>
            <a:chOff x="2825421" y="3509874"/>
            <a:chExt cx="290830" cy="367030"/>
          </a:xfrm>
        </p:grpSpPr>
        <p:sp>
          <p:nvSpPr>
            <p:cNvPr id="3" name="object 3"/>
            <p:cNvSpPr/>
            <p:nvPr/>
          </p:nvSpPr>
          <p:spPr>
            <a:xfrm>
              <a:off x="2830184" y="3514637"/>
              <a:ext cx="182880" cy="314960"/>
            </a:xfrm>
            <a:custGeom>
              <a:avLst/>
              <a:gdLst/>
              <a:ahLst/>
              <a:cxnLst/>
              <a:rect l="l" t="t" r="r" b="b"/>
              <a:pathLst>
                <a:path w="182880" h="314960">
                  <a:moveTo>
                    <a:pt x="0" y="0"/>
                  </a:moveTo>
                  <a:lnTo>
                    <a:pt x="91300" y="0"/>
                  </a:lnTo>
                  <a:lnTo>
                    <a:pt x="91300" y="314399"/>
                  </a:lnTo>
                  <a:lnTo>
                    <a:pt x="182699" y="314399"/>
                  </a:lnTo>
                </a:path>
                <a:path w="182880" h="314960">
                  <a:moveTo>
                    <a:pt x="0" y="0"/>
                  </a:moveTo>
                  <a:lnTo>
                    <a:pt x="91300" y="0"/>
                  </a:lnTo>
                  <a:lnTo>
                    <a:pt x="91300" y="85799"/>
                  </a:lnTo>
                  <a:lnTo>
                    <a:pt x="182699" y="85799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" name="object 4"/>
            <p:cNvSpPr/>
            <p:nvPr/>
          </p:nvSpPr>
          <p:spPr>
            <a:xfrm>
              <a:off x="3012787" y="3552768"/>
              <a:ext cx="103505" cy="95885"/>
            </a:xfrm>
            <a:custGeom>
              <a:avLst/>
              <a:gdLst/>
              <a:ahLst/>
              <a:cxnLst/>
              <a:rect l="l" t="t" r="r" b="b"/>
              <a:pathLst>
                <a:path w="103505" h="95885">
                  <a:moveTo>
                    <a:pt x="51547" y="95299"/>
                  </a:moveTo>
                  <a:lnTo>
                    <a:pt x="31483" y="91554"/>
                  </a:lnTo>
                  <a:lnTo>
                    <a:pt x="15097" y="81343"/>
                  </a:lnTo>
                  <a:lnTo>
                    <a:pt x="4050" y="66197"/>
                  </a:lnTo>
                  <a:lnTo>
                    <a:pt x="0" y="47649"/>
                  </a:lnTo>
                  <a:lnTo>
                    <a:pt x="4050" y="29102"/>
                  </a:lnTo>
                  <a:lnTo>
                    <a:pt x="15097" y="13956"/>
                  </a:lnTo>
                  <a:lnTo>
                    <a:pt x="31483" y="3744"/>
                  </a:lnTo>
                  <a:lnTo>
                    <a:pt x="51547" y="0"/>
                  </a:lnTo>
                  <a:lnTo>
                    <a:pt x="71612" y="3744"/>
                  </a:lnTo>
                  <a:lnTo>
                    <a:pt x="87997" y="13956"/>
                  </a:lnTo>
                  <a:lnTo>
                    <a:pt x="99044" y="29102"/>
                  </a:lnTo>
                  <a:lnTo>
                    <a:pt x="103095" y="47649"/>
                  </a:lnTo>
                  <a:lnTo>
                    <a:pt x="99044" y="66197"/>
                  </a:lnTo>
                  <a:lnTo>
                    <a:pt x="87997" y="81343"/>
                  </a:lnTo>
                  <a:lnTo>
                    <a:pt x="71612" y="91554"/>
                  </a:lnTo>
                  <a:lnTo>
                    <a:pt x="51547" y="952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2787" y="3781368"/>
              <a:ext cx="103095" cy="9529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7180862" y="4271599"/>
            <a:ext cx="441113" cy="1494367"/>
            <a:chOff x="5385646" y="3203699"/>
            <a:chExt cx="330835" cy="1120775"/>
          </a:xfrm>
        </p:grpSpPr>
        <p:sp>
          <p:nvSpPr>
            <p:cNvPr id="9" name="object 9"/>
            <p:cNvSpPr/>
            <p:nvPr/>
          </p:nvSpPr>
          <p:spPr>
            <a:xfrm>
              <a:off x="5504257" y="3251302"/>
              <a:ext cx="109220" cy="1025525"/>
            </a:xfrm>
            <a:custGeom>
              <a:avLst/>
              <a:gdLst/>
              <a:ahLst/>
              <a:cxnLst/>
              <a:rect l="l" t="t" r="r" b="b"/>
              <a:pathLst>
                <a:path w="109220" h="1025525">
                  <a:moveTo>
                    <a:pt x="0" y="512700"/>
                  </a:moveTo>
                  <a:lnTo>
                    <a:pt x="54290" y="512700"/>
                  </a:lnTo>
                  <a:lnTo>
                    <a:pt x="54290" y="1025400"/>
                  </a:lnTo>
                  <a:lnTo>
                    <a:pt x="108599" y="1025400"/>
                  </a:lnTo>
                </a:path>
                <a:path w="109220" h="1025525">
                  <a:moveTo>
                    <a:pt x="0" y="512700"/>
                  </a:moveTo>
                  <a:lnTo>
                    <a:pt x="54290" y="512700"/>
                  </a:lnTo>
                  <a:lnTo>
                    <a:pt x="54290" y="0"/>
                  </a:lnTo>
                  <a:lnTo>
                    <a:pt x="108599" y="0"/>
                  </a:lnTo>
                </a:path>
              </a:pathLst>
            </a:custGeom>
            <a:ln w="9524">
              <a:solidFill>
                <a:srgbClr val="063763"/>
              </a:solidFill>
            </a:ln>
          </p:spPr>
          <p:txBody>
            <a:bodyPr wrap="square" lIns="0" tIns="0" rIns="0" bIns="0" rtlCol="0"/>
            <a:lstStyle/>
            <a:p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2799" y="3203699"/>
              <a:ext cx="103094" cy="952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5646" y="3711590"/>
              <a:ext cx="123373" cy="1048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12799" y="4228993"/>
              <a:ext cx="103094" cy="9529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548861" y="3937742"/>
            <a:ext cx="226060" cy="784860"/>
            <a:chOff x="6411645" y="2953306"/>
            <a:chExt cx="169545" cy="588645"/>
          </a:xfrm>
        </p:grpSpPr>
        <p:sp>
          <p:nvSpPr>
            <p:cNvPr id="14" name="object 14"/>
            <p:cNvSpPr/>
            <p:nvPr/>
          </p:nvSpPr>
          <p:spPr>
            <a:xfrm>
              <a:off x="6416407" y="3000849"/>
              <a:ext cx="50800" cy="493395"/>
            </a:xfrm>
            <a:custGeom>
              <a:avLst/>
              <a:gdLst/>
              <a:ahLst/>
              <a:cxnLst/>
              <a:rect l="l" t="t" r="r" b="b"/>
              <a:pathLst>
                <a:path w="50800" h="493395">
                  <a:moveTo>
                    <a:pt x="0" y="250499"/>
                  </a:moveTo>
                  <a:lnTo>
                    <a:pt x="25184" y="250499"/>
                  </a:lnTo>
                  <a:lnTo>
                    <a:pt x="25184" y="0"/>
                  </a:lnTo>
                  <a:lnTo>
                    <a:pt x="50399" y="0"/>
                  </a:lnTo>
                </a:path>
                <a:path w="50800" h="493395">
                  <a:moveTo>
                    <a:pt x="0" y="250499"/>
                  </a:moveTo>
                  <a:lnTo>
                    <a:pt x="25184" y="250499"/>
                  </a:lnTo>
                  <a:lnTo>
                    <a:pt x="25184" y="492899"/>
                  </a:lnTo>
                  <a:lnTo>
                    <a:pt x="50399" y="492899"/>
                  </a:lnTo>
                </a:path>
              </a:pathLst>
            </a:custGeom>
            <a:ln w="9524">
              <a:solidFill>
                <a:srgbClr val="06376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6775" y="2953306"/>
              <a:ext cx="114387" cy="952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6775" y="3446072"/>
              <a:ext cx="114387" cy="95299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548861" y="5304801"/>
            <a:ext cx="226060" cy="795020"/>
            <a:chOff x="6411645" y="3978600"/>
            <a:chExt cx="169545" cy="596265"/>
          </a:xfrm>
        </p:grpSpPr>
        <p:sp>
          <p:nvSpPr>
            <p:cNvPr id="18" name="object 18"/>
            <p:cNvSpPr/>
            <p:nvPr/>
          </p:nvSpPr>
          <p:spPr>
            <a:xfrm>
              <a:off x="6416407" y="4026143"/>
              <a:ext cx="50800" cy="501015"/>
            </a:xfrm>
            <a:custGeom>
              <a:avLst/>
              <a:gdLst/>
              <a:ahLst/>
              <a:cxnLst/>
              <a:rect l="l" t="t" r="r" b="b"/>
              <a:pathLst>
                <a:path w="50800" h="501014">
                  <a:moveTo>
                    <a:pt x="0" y="250499"/>
                  </a:moveTo>
                  <a:lnTo>
                    <a:pt x="25184" y="250499"/>
                  </a:lnTo>
                  <a:lnTo>
                    <a:pt x="25184" y="0"/>
                  </a:lnTo>
                  <a:lnTo>
                    <a:pt x="50399" y="0"/>
                  </a:lnTo>
                </a:path>
                <a:path w="50800" h="501014">
                  <a:moveTo>
                    <a:pt x="0" y="250499"/>
                  </a:moveTo>
                  <a:lnTo>
                    <a:pt x="25184" y="250499"/>
                  </a:lnTo>
                  <a:lnTo>
                    <a:pt x="25184" y="500999"/>
                  </a:lnTo>
                  <a:lnTo>
                    <a:pt x="50399" y="500999"/>
                  </a:lnTo>
                </a:path>
              </a:pathLst>
            </a:custGeom>
            <a:ln w="9524">
              <a:solidFill>
                <a:srgbClr val="06376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6775" y="3978600"/>
              <a:ext cx="114387" cy="952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6775" y="4479417"/>
              <a:ext cx="114387" cy="9529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883630" y="3748291"/>
            <a:ext cx="901050" cy="683948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2299"/>
              </a:lnSpc>
              <a:spcBef>
                <a:spcPts val="93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Priča korisnika 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1.1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29938" y="4196448"/>
            <a:ext cx="53763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Epic</a:t>
            </a:r>
            <a:r>
              <a:rPr sz="1467" spc="-60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</a:t>
            </a:r>
            <a:r>
              <a:rPr sz="1467" spc="-6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1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82395" y="4651386"/>
            <a:ext cx="767927" cy="683948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 algn="ctr">
              <a:lnSpc>
                <a:spcPct val="102299"/>
              </a:lnSpc>
              <a:spcBef>
                <a:spcPts val="93"/>
              </a:spcBef>
            </a:pPr>
            <a:r>
              <a:rPr lang="hr-HR" sz="146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Obim rada </a:t>
            </a:r>
            <a:r>
              <a:rPr sz="1467" spc="-1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(vi</a:t>
            </a:r>
            <a:r>
              <a:rPr lang="hr-HR" sz="1467" spc="-1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zija</a:t>
            </a:r>
            <a:r>
              <a:rPr sz="1467" spc="-1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)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29938" y="5563507"/>
            <a:ext cx="53763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Epic</a:t>
            </a:r>
            <a:r>
              <a:rPr sz="1467" spc="-60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</a:t>
            </a:r>
            <a:r>
              <a:rPr sz="1467" spc="-6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2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83630" y="4416047"/>
            <a:ext cx="766233" cy="683948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2299"/>
              </a:lnSpc>
              <a:spcBef>
                <a:spcPts val="93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Priča korisnika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1.2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883630" y="5115350"/>
            <a:ext cx="766233" cy="683948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2299"/>
              </a:lnSpc>
              <a:spcBef>
                <a:spcPts val="93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Priča korisnika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2.1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83630" y="5783106"/>
            <a:ext cx="766233" cy="683948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2299"/>
              </a:lnSpc>
              <a:spcBef>
                <a:spcPts val="93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Priča korisnika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2.2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804859" y="3603851"/>
            <a:ext cx="240453" cy="784860"/>
            <a:chOff x="7353644" y="2702888"/>
            <a:chExt cx="180340" cy="588645"/>
          </a:xfrm>
        </p:grpSpPr>
        <p:sp>
          <p:nvSpPr>
            <p:cNvPr id="29" name="object 29"/>
            <p:cNvSpPr/>
            <p:nvPr/>
          </p:nvSpPr>
          <p:spPr>
            <a:xfrm>
              <a:off x="7358407" y="2750456"/>
              <a:ext cx="61594" cy="493395"/>
            </a:xfrm>
            <a:custGeom>
              <a:avLst/>
              <a:gdLst/>
              <a:ahLst/>
              <a:cxnLst/>
              <a:rect l="l" t="t" r="r" b="b"/>
              <a:pathLst>
                <a:path w="61595" h="493394">
                  <a:moveTo>
                    <a:pt x="0" y="250499"/>
                  </a:moveTo>
                  <a:lnTo>
                    <a:pt x="30605" y="250499"/>
                  </a:lnTo>
                  <a:lnTo>
                    <a:pt x="30605" y="0"/>
                  </a:lnTo>
                  <a:lnTo>
                    <a:pt x="61199" y="0"/>
                  </a:lnTo>
                </a:path>
                <a:path w="61595" h="493394">
                  <a:moveTo>
                    <a:pt x="0" y="250499"/>
                  </a:moveTo>
                  <a:lnTo>
                    <a:pt x="30605" y="250499"/>
                  </a:lnTo>
                  <a:lnTo>
                    <a:pt x="30605" y="492899"/>
                  </a:lnTo>
                  <a:lnTo>
                    <a:pt x="61199" y="492899"/>
                  </a:lnTo>
                </a:path>
              </a:pathLst>
            </a:custGeom>
            <a:ln w="9524">
              <a:solidFill>
                <a:srgbClr val="06376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9618" y="2702888"/>
              <a:ext cx="113847" cy="9529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419618" y="3195654"/>
              <a:ext cx="114300" cy="95885"/>
            </a:xfrm>
            <a:custGeom>
              <a:avLst/>
              <a:gdLst/>
              <a:ahLst/>
              <a:cxnLst/>
              <a:rect l="l" t="t" r="r" b="b"/>
              <a:pathLst>
                <a:path w="114300" h="95885">
                  <a:moveTo>
                    <a:pt x="56924" y="95299"/>
                  </a:moveTo>
                  <a:lnTo>
                    <a:pt x="34766" y="91555"/>
                  </a:lnTo>
                  <a:lnTo>
                    <a:pt x="16672" y="81343"/>
                  </a:lnTo>
                  <a:lnTo>
                    <a:pt x="4473" y="66197"/>
                  </a:lnTo>
                  <a:lnTo>
                    <a:pt x="0" y="47649"/>
                  </a:lnTo>
                  <a:lnTo>
                    <a:pt x="4473" y="29102"/>
                  </a:lnTo>
                  <a:lnTo>
                    <a:pt x="16672" y="13956"/>
                  </a:lnTo>
                  <a:lnTo>
                    <a:pt x="34766" y="3744"/>
                  </a:lnTo>
                  <a:lnTo>
                    <a:pt x="56924" y="0"/>
                  </a:lnTo>
                  <a:lnTo>
                    <a:pt x="79081" y="3744"/>
                  </a:lnTo>
                  <a:lnTo>
                    <a:pt x="97175" y="13956"/>
                  </a:lnTo>
                  <a:lnTo>
                    <a:pt x="109374" y="29102"/>
                  </a:lnTo>
                  <a:lnTo>
                    <a:pt x="113847" y="47649"/>
                  </a:lnTo>
                  <a:lnTo>
                    <a:pt x="109374" y="66197"/>
                  </a:lnTo>
                  <a:lnTo>
                    <a:pt x="97175" y="81343"/>
                  </a:lnTo>
                  <a:lnTo>
                    <a:pt x="79081" y="91555"/>
                  </a:lnTo>
                  <a:lnTo>
                    <a:pt x="56924" y="95299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0153368" y="3414401"/>
            <a:ext cx="615993" cy="453693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2299"/>
              </a:lnSpc>
              <a:spcBef>
                <a:spcPts val="93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Zadatak</a:t>
            </a:r>
            <a:r>
              <a:rPr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1.1.1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53368" y="4082157"/>
            <a:ext cx="698118" cy="453693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2299"/>
              </a:lnSpc>
              <a:spcBef>
                <a:spcPts val="93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Zadatak</a:t>
            </a:r>
            <a:r>
              <a:rPr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1.1.2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804859" y="5638667"/>
            <a:ext cx="240453" cy="795020"/>
            <a:chOff x="7353644" y="4229000"/>
            <a:chExt cx="180340" cy="596265"/>
          </a:xfrm>
        </p:grpSpPr>
        <p:sp>
          <p:nvSpPr>
            <p:cNvPr id="35" name="object 35"/>
            <p:cNvSpPr/>
            <p:nvPr/>
          </p:nvSpPr>
          <p:spPr>
            <a:xfrm>
              <a:off x="7358407" y="4527067"/>
              <a:ext cx="61594" cy="250825"/>
            </a:xfrm>
            <a:custGeom>
              <a:avLst/>
              <a:gdLst/>
              <a:ahLst/>
              <a:cxnLst/>
              <a:rect l="l" t="t" r="r" b="b"/>
              <a:pathLst>
                <a:path w="61595" h="250825">
                  <a:moveTo>
                    <a:pt x="0" y="0"/>
                  </a:moveTo>
                  <a:lnTo>
                    <a:pt x="30605" y="0"/>
                  </a:lnTo>
                  <a:lnTo>
                    <a:pt x="30605" y="250499"/>
                  </a:lnTo>
                  <a:lnTo>
                    <a:pt x="61199" y="250499"/>
                  </a:lnTo>
                </a:path>
              </a:pathLst>
            </a:custGeom>
            <a:ln w="9524">
              <a:solidFill>
                <a:srgbClr val="06376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9618" y="4729816"/>
              <a:ext cx="113847" cy="9529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19618" y="4229000"/>
              <a:ext cx="113847" cy="9529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358407" y="4276567"/>
              <a:ext cx="61594" cy="250825"/>
            </a:xfrm>
            <a:custGeom>
              <a:avLst/>
              <a:gdLst/>
              <a:ahLst/>
              <a:cxnLst/>
              <a:rect l="l" t="t" r="r" b="b"/>
              <a:pathLst>
                <a:path w="61595" h="250825">
                  <a:moveTo>
                    <a:pt x="0" y="250499"/>
                  </a:moveTo>
                  <a:lnTo>
                    <a:pt x="30605" y="250499"/>
                  </a:lnTo>
                  <a:lnTo>
                    <a:pt x="30605" y="0"/>
                  </a:lnTo>
                  <a:lnTo>
                    <a:pt x="61199" y="0"/>
                  </a:lnTo>
                </a:path>
              </a:pathLst>
            </a:custGeom>
            <a:ln w="9524">
              <a:solidFill>
                <a:srgbClr val="063763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0153368" y="6116971"/>
            <a:ext cx="615993" cy="453693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2299"/>
              </a:lnSpc>
              <a:spcBef>
                <a:spcPts val="93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</a:t>
            </a:r>
            <a:r>
              <a:rPr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k 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2.2.2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153368" y="5449215"/>
            <a:ext cx="649763" cy="453693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6933" marR="6773">
              <a:lnSpc>
                <a:spcPct val="102299"/>
              </a:lnSpc>
              <a:spcBef>
                <a:spcPts val="93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Zadatak</a:t>
            </a:r>
            <a:r>
              <a:rPr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2.2.1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538071" y="3634335"/>
            <a:ext cx="395608" cy="1826580"/>
            <a:chOff x="1903551" y="2725752"/>
            <a:chExt cx="296706" cy="1369935"/>
          </a:xfrm>
        </p:grpSpPr>
        <p:sp>
          <p:nvSpPr>
            <p:cNvPr id="42" name="object 42"/>
            <p:cNvSpPr/>
            <p:nvPr/>
          </p:nvSpPr>
          <p:spPr>
            <a:xfrm>
              <a:off x="1999057" y="2773402"/>
              <a:ext cx="109220" cy="208279"/>
            </a:xfrm>
            <a:custGeom>
              <a:avLst/>
              <a:gdLst/>
              <a:ahLst/>
              <a:cxnLst/>
              <a:rect l="l" t="t" r="r" b="b"/>
              <a:pathLst>
                <a:path w="109219" h="208280">
                  <a:moveTo>
                    <a:pt x="0" y="0"/>
                  </a:moveTo>
                  <a:lnTo>
                    <a:pt x="54244" y="0"/>
                  </a:lnTo>
                  <a:lnTo>
                    <a:pt x="54244" y="207899"/>
                  </a:lnTo>
                  <a:lnTo>
                    <a:pt x="108599" y="207899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1903551" y="2725752"/>
              <a:ext cx="95958" cy="95299"/>
            </a:xfrm>
            <a:custGeom>
              <a:avLst/>
              <a:gdLst/>
              <a:ahLst/>
              <a:cxnLst/>
              <a:rect l="l" t="t" r="r" b="b"/>
              <a:pathLst>
                <a:path w="114300" h="95885">
                  <a:moveTo>
                    <a:pt x="56923" y="95299"/>
                  </a:moveTo>
                  <a:lnTo>
                    <a:pt x="34766" y="91555"/>
                  </a:lnTo>
                  <a:lnTo>
                    <a:pt x="16672" y="81343"/>
                  </a:lnTo>
                  <a:lnTo>
                    <a:pt x="4473" y="66197"/>
                  </a:lnTo>
                  <a:lnTo>
                    <a:pt x="0" y="47649"/>
                  </a:lnTo>
                  <a:lnTo>
                    <a:pt x="4473" y="29102"/>
                  </a:lnTo>
                  <a:lnTo>
                    <a:pt x="16672" y="13956"/>
                  </a:lnTo>
                  <a:lnTo>
                    <a:pt x="34766" y="3744"/>
                  </a:lnTo>
                  <a:lnTo>
                    <a:pt x="56923" y="0"/>
                  </a:lnTo>
                  <a:lnTo>
                    <a:pt x="79081" y="3744"/>
                  </a:lnTo>
                  <a:lnTo>
                    <a:pt x="97175" y="13956"/>
                  </a:lnTo>
                  <a:lnTo>
                    <a:pt x="109374" y="29102"/>
                  </a:lnTo>
                  <a:lnTo>
                    <a:pt x="113848" y="47649"/>
                  </a:lnTo>
                  <a:lnTo>
                    <a:pt x="109374" y="66197"/>
                  </a:lnTo>
                  <a:lnTo>
                    <a:pt x="97175" y="81343"/>
                  </a:lnTo>
                  <a:lnTo>
                    <a:pt x="79081" y="91555"/>
                  </a:lnTo>
                  <a:lnTo>
                    <a:pt x="56923" y="95299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2107547" y="2933588"/>
              <a:ext cx="92710" cy="95885"/>
            </a:xfrm>
            <a:custGeom>
              <a:avLst/>
              <a:gdLst/>
              <a:ahLst/>
              <a:cxnLst/>
              <a:rect l="l" t="t" r="r" b="b"/>
              <a:pathLst>
                <a:path w="92710" h="95885">
                  <a:moveTo>
                    <a:pt x="46353" y="95299"/>
                  </a:moveTo>
                  <a:lnTo>
                    <a:pt x="28310" y="91555"/>
                  </a:lnTo>
                  <a:lnTo>
                    <a:pt x="13576" y="81343"/>
                  </a:lnTo>
                  <a:lnTo>
                    <a:pt x="3642" y="66197"/>
                  </a:lnTo>
                  <a:lnTo>
                    <a:pt x="0" y="47649"/>
                  </a:lnTo>
                  <a:lnTo>
                    <a:pt x="3581" y="29415"/>
                  </a:lnTo>
                  <a:lnTo>
                    <a:pt x="3642" y="29102"/>
                  </a:lnTo>
                  <a:lnTo>
                    <a:pt x="13576" y="13956"/>
                  </a:lnTo>
                  <a:lnTo>
                    <a:pt x="28480" y="3627"/>
                  </a:lnTo>
                  <a:lnTo>
                    <a:pt x="28876" y="3627"/>
                  </a:lnTo>
                  <a:lnTo>
                    <a:pt x="46353" y="0"/>
                  </a:lnTo>
                  <a:lnTo>
                    <a:pt x="84919" y="21213"/>
                  </a:lnTo>
                  <a:lnTo>
                    <a:pt x="92707" y="47649"/>
                  </a:lnTo>
                  <a:lnTo>
                    <a:pt x="89064" y="66197"/>
                  </a:lnTo>
                  <a:lnTo>
                    <a:pt x="79130" y="81343"/>
                  </a:lnTo>
                  <a:lnTo>
                    <a:pt x="64396" y="91555"/>
                  </a:lnTo>
                  <a:lnTo>
                    <a:pt x="46353" y="952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1999057" y="2773402"/>
              <a:ext cx="109220" cy="741680"/>
            </a:xfrm>
            <a:custGeom>
              <a:avLst/>
              <a:gdLst/>
              <a:ahLst/>
              <a:cxnLst/>
              <a:rect l="l" t="t" r="r" b="b"/>
              <a:pathLst>
                <a:path w="109219" h="741679">
                  <a:moveTo>
                    <a:pt x="0" y="0"/>
                  </a:moveTo>
                  <a:lnTo>
                    <a:pt x="54244" y="0"/>
                  </a:lnTo>
                  <a:lnTo>
                    <a:pt x="54244" y="741300"/>
                  </a:lnTo>
                  <a:lnTo>
                    <a:pt x="108599" y="741300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6" name="object 4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7547" y="3466988"/>
              <a:ext cx="92707" cy="9529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999057" y="2773402"/>
              <a:ext cx="109220" cy="1275080"/>
            </a:xfrm>
            <a:custGeom>
              <a:avLst/>
              <a:gdLst/>
              <a:ahLst/>
              <a:cxnLst/>
              <a:rect l="l" t="t" r="r" b="b"/>
              <a:pathLst>
                <a:path w="109219" h="1275079">
                  <a:moveTo>
                    <a:pt x="0" y="0"/>
                  </a:moveTo>
                  <a:lnTo>
                    <a:pt x="54244" y="0"/>
                  </a:lnTo>
                  <a:lnTo>
                    <a:pt x="54244" y="1274700"/>
                  </a:lnTo>
                  <a:lnTo>
                    <a:pt x="108599" y="1274700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7547" y="4000388"/>
              <a:ext cx="92707" cy="95299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608795" y="3444886"/>
            <a:ext cx="767927" cy="453693"/>
          </a:xfrm>
          <a:prstGeom prst="rect">
            <a:avLst/>
          </a:prstGeom>
        </p:spPr>
        <p:txBody>
          <a:bodyPr vert="horz" wrap="square" lIns="0" tIns="11853" rIns="0" bIns="0" rtlCol="0">
            <a:spAutoFit/>
          </a:bodyPr>
          <a:lstStyle/>
          <a:p>
            <a:pPr marL="182029" marR="6773" indent="-165943">
              <a:lnSpc>
                <a:spcPct val="102299"/>
              </a:lnSpc>
              <a:spcBef>
                <a:spcPts val="93"/>
              </a:spcBef>
            </a:pPr>
            <a:r>
              <a:rPr lang="hr-HR" sz="146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Obim rada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042419" y="3836300"/>
            <a:ext cx="663872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hr-HR" sz="1467" spc="-80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Faza</a:t>
            </a:r>
            <a:r>
              <a:rPr sz="1467" spc="-80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</a:t>
            </a:r>
            <a:r>
              <a:rPr sz="1467" spc="-6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1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42419" y="4547499"/>
            <a:ext cx="729329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hr-HR" sz="1467" spc="-80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Faza</a:t>
            </a:r>
            <a:r>
              <a:rPr sz="1467" spc="-80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</a:t>
            </a:r>
            <a:r>
              <a:rPr sz="1467" spc="-6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2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773578" y="3974984"/>
            <a:ext cx="381481" cy="482705"/>
            <a:chOff x="2830184" y="2981238"/>
            <a:chExt cx="286111" cy="362029"/>
          </a:xfrm>
        </p:grpSpPr>
        <p:sp>
          <p:nvSpPr>
            <p:cNvPr id="53" name="object 53"/>
            <p:cNvSpPr/>
            <p:nvPr/>
          </p:nvSpPr>
          <p:spPr>
            <a:xfrm>
              <a:off x="2830184" y="2981238"/>
              <a:ext cx="182880" cy="86360"/>
            </a:xfrm>
            <a:custGeom>
              <a:avLst/>
              <a:gdLst/>
              <a:ahLst/>
              <a:cxnLst/>
              <a:rect l="l" t="t" r="r" b="b"/>
              <a:pathLst>
                <a:path w="182880" h="86360">
                  <a:moveTo>
                    <a:pt x="0" y="0"/>
                  </a:moveTo>
                  <a:lnTo>
                    <a:pt x="91300" y="0"/>
                  </a:lnTo>
                  <a:lnTo>
                    <a:pt x="91300" y="85799"/>
                  </a:lnTo>
                  <a:lnTo>
                    <a:pt x="182699" y="85799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3012790" y="3019368"/>
              <a:ext cx="103505" cy="95885"/>
            </a:xfrm>
            <a:custGeom>
              <a:avLst/>
              <a:gdLst/>
              <a:ahLst/>
              <a:cxnLst/>
              <a:rect l="l" t="t" r="r" b="b"/>
              <a:pathLst>
                <a:path w="103505" h="95885">
                  <a:moveTo>
                    <a:pt x="51547" y="95299"/>
                  </a:moveTo>
                  <a:lnTo>
                    <a:pt x="31483" y="91555"/>
                  </a:lnTo>
                  <a:lnTo>
                    <a:pt x="15097" y="81343"/>
                  </a:lnTo>
                  <a:lnTo>
                    <a:pt x="4050" y="66197"/>
                  </a:lnTo>
                  <a:lnTo>
                    <a:pt x="0" y="47649"/>
                  </a:lnTo>
                  <a:lnTo>
                    <a:pt x="4050" y="29102"/>
                  </a:lnTo>
                  <a:lnTo>
                    <a:pt x="15097" y="13956"/>
                  </a:lnTo>
                  <a:lnTo>
                    <a:pt x="31483" y="3744"/>
                  </a:lnTo>
                  <a:lnTo>
                    <a:pt x="51547" y="0"/>
                  </a:lnTo>
                  <a:lnTo>
                    <a:pt x="71612" y="3744"/>
                  </a:lnTo>
                  <a:lnTo>
                    <a:pt x="87997" y="13956"/>
                  </a:lnTo>
                  <a:lnTo>
                    <a:pt x="99044" y="29102"/>
                  </a:lnTo>
                  <a:lnTo>
                    <a:pt x="103095" y="47649"/>
                  </a:lnTo>
                  <a:lnTo>
                    <a:pt x="99044" y="66197"/>
                  </a:lnTo>
                  <a:lnTo>
                    <a:pt x="87997" y="81343"/>
                  </a:lnTo>
                  <a:lnTo>
                    <a:pt x="71612" y="91555"/>
                  </a:lnTo>
                  <a:lnTo>
                    <a:pt x="51547" y="952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2830184" y="2981238"/>
              <a:ext cx="182880" cy="314960"/>
            </a:xfrm>
            <a:custGeom>
              <a:avLst/>
              <a:gdLst/>
              <a:ahLst/>
              <a:cxnLst/>
              <a:rect l="l" t="t" r="r" b="b"/>
              <a:pathLst>
                <a:path w="182880" h="314960">
                  <a:moveTo>
                    <a:pt x="0" y="0"/>
                  </a:moveTo>
                  <a:lnTo>
                    <a:pt x="91300" y="0"/>
                  </a:lnTo>
                  <a:lnTo>
                    <a:pt x="91300" y="314399"/>
                  </a:lnTo>
                  <a:lnTo>
                    <a:pt x="182699" y="314399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2787" y="3247968"/>
              <a:ext cx="103095" cy="95299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4263245" y="3869385"/>
            <a:ext cx="973471" cy="2043679"/>
          </a:xfrm>
          <a:prstGeom prst="rect">
            <a:avLst/>
          </a:prstGeom>
        </p:spPr>
        <p:txBody>
          <a:bodyPr vert="horz" wrap="square" lIns="0" tIns="98213" rIns="0" bIns="0" rtlCol="0">
            <a:spAutoFit/>
          </a:bodyPr>
          <a:lstStyle/>
          <a:p>
            <a:pPr marL="16933">
              <a:spcBef>
                <a:spcPts val="773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Zadatak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1.1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  <a:p>
            <a:pPr marL="16933">
              <a:spcBef>
                <a:spcPts val="640"/>
              </a:spcBef>
            </a:pPr>
            <a:r>
              <a:rPr lang="hr-HR"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Zadatak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1.2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  <a:p>
            <a:pPr marL="16933">
              <a:spcBef>
                <a:spcPts val="1440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Zadatak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2.1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  <a:p>
            <a:pPr marL="16933">
              <a:spcBef>
                <a:spcPts val="640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Zadatak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2.2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  <a:p>
            <a:pPr marL="16933">
              <a:spcBef>
                <a:spcPts val="1440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Zadatak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3.1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  <a:p>
            <a:pPr marL="16933">
              <a:spcBef>
                <a:spcPts val="640"/>
              </a:spcBef>
            </a:pPr>
            <a:r>
              <a:rPr lang="hr-HR" sz="1467" spc="-2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Zadatak</a:t>
            </a:r>
            <a:r>
              <a:rPr sz="1467" spc="-33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3.2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767228" y="5391032"/>
            <a:ext cx="387773" cy="489373"/>
            <a:chOff x="2825421" y="4043274"/>
            <a:chExt cx="290830" cy="367030"/>
          </a:xfrm>
        </p:grpSpPr>
        <p:sp>
          <p:nvSpPr>
            <p:cNvPr id="59" name="object 59"/>
            <p:cNvSpPr/>
            <p:nvPr/>
          </p:nvSpPr>
          <p:spPr>
            <a:xfrm>
              <a:off x="2830184" y="4048037"/>
              <a:ext cx="182880" cy="314960"/>
            </a:xfrm>
            <a:custGeom>
              <a:avLst/>
              <a:gdLst/>
              <a:ahLst/>
              <a:cxnLst/>
              <a:rect l="l" t="t" r="r" b="b"/>
              <a:pathLst>
                <a:path w="182880" h="314960">
                  <a:moveTo>
                    <a:pt x="0" y="0"/>
                  </a:moveTo>
                  <a:lnTo>
                    <a:pt x="91300" y="0"/>
                  </a:lnTo>
                  <a:lnTo>
                    <a:pt x="91300" y="314399"/>
                  </a:lnTo>
                  <a:lnTo>
                    <a:pt x="182699" y="314399"/>
                  </a:lnTo>
                </a:path>
                <a:path w="182880" h="314960">
                  <a:moveTo>
                    <a:pt x="0" y="0"/>
                  </a:moveTo>
                  <a:lnTo>
                    <a:pt x="91300" y="0"/>
                  </a:lnTo>
                  <a:lnTo>
                    <a:pt x="91300" y="85799"/>
                  </a:lnTo>
                  <a:lnTo>
                    <a:pt x="182699" y="85799"/>
                  </a:lnTo>
                </a:path>
              </a:pathLst>
            </a:custGeom>
            <a:ln w="9524">
              <a:solidFill>
                <a:srgbClr val="C1C1C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3012787" y="4086168"/>
              <a:ext cx="103505" cy="95885"/>
            </a:xfrm>
            <a:custGeom>
              <a:avLst/>
              <a:gdLst/>
              <a:ahLst/>
              <a:cxnLst/>
              <a:rect l="l" t="t" r="r" b="b"/>
              <a:pathLst>
                <a:path w="103505" h="95885">
                  <a:moveTo>
                    <a:pt x="51547" y="95299"/>
                  </a:moveTo>
                  <a:lnTo>
                    <a:pt x="31483" y="91554"/>
                  </a:lnTo>
                  <a:lnTo>
                    <a:pt x="15097" y="81343"/>
                  </a:lnTo>
                  <a:lnTo>
                    <a:pt x="4050" y="66197"/>
                  </a:lnTo>
                  <a:lnTo>
                    <a:pt x="0" y="47649"/>
                  </a:lnTo>
                  <a:lnTo>
                    <a:pt x="4050" y="29102"/>
                  </a:lnTo>
                  <a:lnTo>
                    <a:pt x="15097" y="13956"/>
                  </a:lnTo>
                  <a:lnTo>
                    <a:pt x="31483" y="3744"/>
                  </a:lnTo>
                  <a:lnTo>
                    <a:pt x="51547" y="0"/>
                  </a:lnTo>
                  <a:lnTo>
                    <a:pt x="71612" y="3744"/>
                  </a:lnTo>
                  <a:lnTo>
                    <a:pt x="87997" y="13956"/>
                  </a:lnTo>
                  <a:lnTo>
                    <a:pt x="99044" y="29102"/>
                  </a:lnTo>
                  <a:lnTo>
                    <a:pt x="103095" y="47649"/>
                  </a:lnTo>
                  <a:lnTo>
                    <a:pt x="99044" y="66197"/>
                  </a:lnTo>
                  <a:lnTo>
                    <a:pt x="87997" y="81343"/>
                  </a:lnTo>
                  <a:lnTo>
                    <a:pt x="71612" y="91554"/>
                  </a:lnTo>
                  <a:lnTo>
                    <a:pt x="51547" y="952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2787" y="4314768"/>
              <a:ext cx="103095" cy="95299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3042419" y="5258699"/>
            <a:ext cx="729329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hr-HR" sz="1467" spc="-80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Faza</a:t>
            </a:r>
            <a:r>
              <a:rPr sz="1467" spc="-80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 </a:t>
            </a:r>
            <a:r>
              <a:rPr sz="1467" spc="-67" dirty="0">
                <a:solidFill>
                  <a:srgbClr val="000000"/>
                </a:solidFill>
                <a:latin typeface="Bahnschrift SemiLight" panose="020B0502040204020203" pitchFamily="34" charset="0"/>
                <a:cs typeface="Roboto"/>
              </a:rPr>
              <a:t>3</a:t>
            </a:r>
            <a:endParaRPr sz="1467" dirty="0">
              <a:solidFill>
                <a:srgbClr val="000000"/>
              </a:solidFill>
              <a:latin typeface="Bahnschrift SemiLight" panose="020B0502040204020203" pitchFamily="34" charset="0"/>
              <a:cs typeface="Roboto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890123" y="6237894"/>
            <a:ext cx="19134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spc="-47" dirty="0">
                <a:solidFill>
                  <a:srgbClr val="434343"/>
                </a:solidFill>
                <a:latin typeface="Trebuchet MS"/>
                <a:cs typeface="Trebuchet MS"/>
              </a:rPr>
              <a:t>21</a:t>
            </a:r>
            <a:endParaRPr sz="1333">
              <a:latin typeface="Trebuchet MS"/>
              <a:cs typeface="Trebuchet MS"/>
            </a:endParaRPr>
          </a:p>
        </p:txBody>
      </p:sp>
      <p:sp>
        <p:nvSpPr>
          <p:cNvPr id="67" name="Titolo 66">
            <a:extLst>
              <a:ext uri="{FF2B5EF4-FFF2-40B4-BE49-F238E27FC236}">
                <a16:creationId xmlns:a16="http://schemas.microsoft.com/office/drawing/2014/main" id="{32EF3A9F-8FF3-B4EA-FE2F-B0A33664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WBS vs RBS</a:t>
            </a:r>
          </a:p>
        </p:txBody>
      </p:sp>
      <p:sp>
        <p:nvSpPr>
          <p:cNvPr id="68" name="object 4">
            <a:extLst>
              <a:ext uri="{FF2B5EF4-FFF2-40B4-BE49-F238E27FC236}">
                <a16:creationId xmlns:a16="http://schemas.microsoft.com/office/drawing/2014/main" id="{5F882348-31C3-E016-C5EE-2CCBA815543D}"/>
              </a:ext>
            </a:extLst>
          </p:cNvPr>
          <p:cNvSpPr txBox="1"/>
          <p:nvPr/>
        </p:nvSpPr>
        <p:spPr>
          <a:xfrm>
            <a:off x="2058698" y="2311048"/>
            <a:ext cx="3127375" cy="1056508"/>
          </a:xfrm>
          <a:prstGeom prst="rect">
            <a:avLst/>
          </a:prstGeom>
          <a:solidFill>
            <a:srgbClr val="999999"/>
          </a:solidFill>
        </p:spPr>
        <p:txBody>
          <a:bodyPr vert="horz" wrap="square" lIns="0" tIns="196215" rIns="0" bIns="0" rtlCol="0">
            <a:spAutoFit/>
          </a:bodyPr>
          <a:lstStyle/>
          <a:p>
            <a:pPr algn="ctr">
              <a:lnSpc>
                <a:spcPts val="1664"/>
              </a:lnSpc>
              <a:spcBef>
                <a:spcPts val="1545"/>
              </a:spcBef>
            </a:pPr>
            <a:r>
              <a:rPr lang="hr-HR" sz="1400" b="1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STRUKTURA RAZRADE RADA  - </a:t>
            </a:r>
            <a:r>
              <a:rPr sz="1400" b="1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WORK</a:t>
            </a:r>
            <a:r>
              <a:rPr sz="1400" b="1" spc="-60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BREAKDOWN</a:t>
            </a:r>
            <a:r>
              <a:rPr sz="1400" b="1" spc="-55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STRUCTURE</a:t>
            </a:r>
            <a:endParaRPr sz="1400" dirty="0">
              <a:latin typeface="Bahnschrift SemiLight" panose="020B0502040204020203" pitchFamily="34" charset="0"/>
              <a:cs typeface="Arial"/>
            </a:endParaRPr>
          </a:p>
          <a:p>
            <a:pPr algn="ctr">
              <a:lnSpc>
                <a:spcPts val="1664"/>
              </a:lnSpc>
            </a:pPr>
            <a:r>
              <a:rPr sz="1400" b="1" spc="-10" dirty="0">
                <a:solidFill>
                  <a:srgbClr val="FFFFFF"/>
                </a:solidFill>
                <a:latin typeface="Bahnschrift SemiLight" panose="020B0502040204020203" pitchFamily="34" charset="0"/>
                <a:cs typeface="Arial"/>
              </a:rPr>
              <a:t>(Waterfall)</a:t>
            </a:r>
            <a:endParaRPr lang="it-IT" sz="1400" b="1" spc="-10" dirty="0">
              <a:solidFill>
                <a:srgbClr val="FFFFFF"/>
              </a:solidFill>
              <a:latin typeface="Bahnschrift SemiLight" panose="020B0502040204020203" pitchFamily="34" charset="0"/>
              <a:cs typeface="Arial"/>
            </a:endParaRPr>
          </a:p>
          <a:p>
            <a:pPr algn="ctr">
              <a:lnSpc>
                <a:spcPts val="1664"/>
              </a:lnSpc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DB840890-2F20-1481-07AE-322F5D0C972C}"/>
              </a:ext>
            </a:extLst>
          </p:cNvPr>
          <p:cNvSpPr txBox="1"/>
          <p:nvPr/>
        </p:nvSpPr>
        <p:spPr>
          <a:xfrm>
            <a:off x="7021235" y="2093951"/>
            <a:ext cx="3127375" cy="1511761"/>
          </a:xfrm>
          <a:prstGeom prst="rect">
            <a:avLst/>
          </a:prstGeom>
          <a:solidFill>
            <a:srgbClr val="DC56F5">
              <a:alpha val="40000"/>
            </a:srgbClr>
          </a:solidFill>
        </p:spPr>
        <p:txBody>
          <a:bodyPr vert="horz" wrap="square" lIns="0" tIns="19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"/>
              </a:spcBef>
            </a:pPr>
            <a:endParaRPr lang="en-GB" sz="1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92075" marR="85090" indent="267970" algn="ctr">
              <a:lnSpc>
                <a:spcPts val="1650"/>
              </a:lnSpc>
            </a:pPr>
            <a:r>
              <a:rPr lang="hr-HR"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STRUKTURA RAZRADE ZAHTJEVA/FUNKCIONALNOSTI  - </a:t>
            </a:r>
            <a:r>
              <a:rPr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REQUIREMENTS</a:t>
            </a:r>
            <a:r>
              <a:rPr sz="1400" b="1" spc="-3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/</a:t>
            </a:r>
            <a:r>
              <a:rPr sz="1400" b="1" spc="-3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FEATURE BREAKDOWN</a:t>
            </a:r>
            <a:r>
              <a:rPr sz="1400" b="1" spc="-5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 </a:t>
            </a:r>
            <a:r>
              <a:rPr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STRUCTURE</a:t>
            </a:r>
            <a:r>
              <a:rPr sz="1400" b="1" spc="-45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 </a:t>
            </a:r>
            <a:endParaRPr lang="it-IT" sz="1400" b="1" spc="-45" dirty="0">
              <a:solidFill>
                <a:schemeClr val="bg1"/>
              </a:solidFill>
              <a:latin typeface="Bahnschrift SemiLight" panose="020B0502040204020203" pitchFamily="34" charset="0"/>
              <a:cs typeface="Arial"/>
            </a:endParaRPr>
          </a:p>
          <a:p>
            <a:pPr marL="92075" marR="85090" indent="267970" algn="ctr">
              <a:lnSpc>
                <a:spcPts val="1650"/>
              </a:lnSpc>
            </a:pPr>
            <a:r>
              <a:rPr sz="1400" b="1" spc="-10" dirty="0">
                <a:solidFill>
                  <a:schemeClr val="bg1"/>
                </a:solidFill>
                <a:latin typeface="Bahnschrift SemiLight" panose="020B0502040204020203" pitchFamily="34" charset="0"/>
                <a:cs typeface="Arial"/>
              </a:rPr>
              <a:t>(Agile)</a:t>
            </a:r>
            <a:endParaRPr lang="it-IT" sz="1400" b="1" spc="-10" dirty="0">
              <a:solidFill>
                <a:schemeClr val="bg1"/>
              </a:solidFill>
              <a:latin typeface="Bahnschrift SemiLight" panose="020B0502040204020203" pitchFamily="34" charset="0"/>
              <a:cs typeface="Arial"/>
            </a:endParaRPr>
          </a:p>
          <a:p>
            <a:pPr marL="92075" marR="85090" indent="267970" algn="ctr">
              <a:lnSpc>
                <a:spcPts val="1650"/>
              </a:lnSpc>
            </a:pPr>
            <a:endParaRPr sz="1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F836453-BD1C-12D3-254D-1F48AE672915}"/>
              </a:ext>
            </a:extLst>
          </p:cNvPr>
          <p:cNvSpPr txBox="1"/>
          <p:nvPr/>
        </p:nvSpPr>
        <p:spPr>
          <a:xfrm>
            <a:off x="4211166" y="6326911"/>
            <a:ext cx="351506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latin typeface="Bahnschrift SemiLight" panose="020B0502040204020203" pitchFamily="34" charset="0"/>
              </a:rPr>
              <a:t>Source: Graphics </a:t>
            </a:r>
            <a:r>
              <a:rPr lang="it-IT" sz="900" dirty="0" err="1">
                <a:latin typeface="Bahnschrift SemiLight" panose="020B0502040204020203" pitchFamily="34" charset="0"/>
              </a:rPr>
              <a:t>produced</a:t>
            </a:r>
            <a:r>
              <a:rPr lang="it-IT" sz="900" dirty="0">
                <a:latin typeface="Bahnschrift SemiLight" panose="020B0502040204020203" pitchFamily="34" charset="0"/>
              </a:rPr>
              <a:t> by </a:t>
            </a:r>
            <a:r>
              <a:rPr lang="it-IT" sz="900" i="1" dirty="0" err="1">
                <a:latin typeface="Bahnschrift SemiLight" panose="020B0502040204020203" pitchFamily="34" charset="0"/>
              </a:rPr>
              <a:t>EGInA</a:t>
            </a:r>
            <a:r>
              <a:rPr lang="it-IT" sz="900" i="1" dirty="0">
                <a:latin typeface="Bahnschrift SemiLight" panose="020B0502040204020203" pitchFamily="34" charset="0"/>
              </a:rPr>
              <a:t> </a:t>
            </a:r>
            <a:r>
              <a:rPr lang="it-IT" sz="900" i="1" dirty="0" err="1">
                <a:latin typeface="Bahnschrift SemiLight" panose="020B0502040204020203" pitchFamily="34" charset="0"/>
              </a:rPr>
              <a:t>Srl</a:t>
            </a:r>
            <a:r>
              <a:rPr lang="it-IT" sz="900" i="1" dirty="0">
                <a:latin typeface="Bahnschrift SemiLight" panose="020B0502040204020203" pitchFamily="34" charset="0"/>
              </a:rPr>
              <a:t> (</a:t>
            </a:r>
            <a:r>
              <a:rPr lang="it-IT" sz="900" i="1" dirty="0">
                <a:latin typeface="Bahnschrift SemiLight" panose="020B0502040204020203" pitchFamily="34" charset="0"/>
                <a:hlinkClick r:id="rId8"/>
              </a:rPr>
              <a:t>https://www.egina.eu/</a:t>
            </a:r>
            <a:r>
              <a:rPr lang="it-IT" sz="900" i="1" dirty="0">
                <a:latin typeface="Bahnschrift SemiLight" panose="020B0502040204020203" pitchFamily="34" charset="0"/>
              </a:rPr>
              <a:t>) </a:t>
            </a:r>
            <a:endParaRPr lang="en-GB" sz="900" dirty="0">
              <a:latin typeface="Bahnschrift SemiLight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B9A616-EB14-7C5B-5992-61172A57A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</a:t>
            </a:r>
            <a:r>
              <a:rPr lang="hr-HR" dirty="0" err="1"/>
              <a:t>unkcionalnost</a:t>
            </a:r>
            <a:r>
              <a:rPr lang="it-IT" dirty="0"/>
              <a:t> vs </a:t>
            </a:r>
            <a:r>
              <a:rPr lang="it-IT" dirty="0" err="1"/>
              <a:t>Epic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0E9299-E10F-A32E-2B2A-1C3B1ABDC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</a:t>
            </a:r>
            <a:r>
              <a:rPr lang="hr-HR" dirty="0" err="1"/>
              <a:t>unkcionalnost</a:t>
            </a:r>
            <a:r>
              <a:rPr lang="hr-HR" dirty="0"/>
              <a:t> (</a:t>
            </a:r>
            <a:r>
              <a:rPr lang="hr-HR" dirty="0" err="1"/>
              <a:t>Feature</a:t>
            </a:r>
            <a:r>
              <a:rPr lang="hr-HR" dirty="0"/>
              <a:t>)</a:t>
            </a:r>
            <a:r>
              <a:rPr lang="en-GB" dirty="0"/>
              <a:t>: </a:t>
            </a:r>
            <a:r>
              <a:rPr lang="pl-PL" dirty="0"/>
              <a:t>opisuje rješenje i/ili odgovor na određeni zahtjev</a:t>
            </a:r>
          </a:p>
          <a:p>
            <a:endParaRPr lang="en-GB" dirty="0"/>
          </a:p>
          <a:p>
            <a:r>
              <a:rPr lang="en-GB" dirty="0"/>
              <a:t>Epic: </a:t>
            </a:r>
            <a:r>
              <a:rPr lang="hr-HR" dirty="0"/>
              <a:t>velika cjelina posla koja se može razlomiti na niz manjih </a:t>
            </a:r>
            <a:r>
              <a:rPr lang="hr-HR" dirty="0" err="1"/>
              <a:t>user</a:t>
            </a:r>
            <a:r>
              <a:rPr lang="hr-HR" dirty="0"/>
              <a:t> </a:t>
            </a:r>
            <a:r>
              <a:rPr lang="hr-HR" dirty="0" err="1"/>
              <a:t>storyja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044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57F67-3849-3095-3C14-4D35B1E7D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D0A9C6-3350-516D-B3BF-5F70CDEE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Epic</a:t>
            </a:r>
            <a:r>
              <a:rPr lang="it-IT" dirty="0"/>
              <a:t> vs </a:t>
            </a:r>
            <a:r>
              <a:rPr lang="hr-HR" dirty="0"/>
              <a:t>Korisnička priča (</a:t>
            </a:r>
            <a:r>
              <a:rPr lang="it-IT" dirty="0"/>
              <a:t>User Story</a:t>
            </a:r>
            <a:r>
              <a:rPr lang="hr-HR" dirty="0"/>
              <a:t>)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FE859E-18C3-EF7E-8F9D-F90E070F2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Svaki </a:t>
            </a:r>
            <a:r>
              <a:rPr lang="hr-HR" b="1" dirty="0" err="1"/>
              <a:t>Epic</a:t>
            </a:r>
            <a:r>
              <a:rPr lang="hr-HR" dirty="0"/>
              <a:t> predstavlja izraz nekog zahtjeva i vrlo je sličan </a:t>
            </a:r>
            <a:r>
              <a:rPr lang="hr-HR" dirty="0" err="1"/>
              <a:t>storyju</a:t>
            </a:r>
            <a:r>
              <a:rPr lang="hr-HR" dirty="0"/>
              <a:t> (ali je veći i složeniji)…</a:t>
            </a:r>
            <a:br>
              <a:rPr lang="hr-HR" dirty="0"/>
            </a:br>
            <a:r>
              <a:rPr lang="hr-HR" dirty="0"/>
              <a:t>…te služi za strukturiranje i grupiranje zahtjeva kako bi se </a:t>
            </a:r>
            <a:r>
              <a:rPr lang="hr-HR" dirty="0" err="1"/>
              <a:t>backlogom</a:t>
            </a:r>
            <a:r>
              <a:rPr lang="hr-HR" dirty="0"/>
              <a:t> lakše upravljalo.</a:t>
            </a:r>
          </a:p>
          <a:p>
            <a:r>
              <a:rPr lang="hr-HR" b="1" dirty="0" err="1"/>
              <a:t>User</a:t>
            </a:r>
            <a:r>
              <a:rPr lang="hr-HR" b="1" dirty="0"/>
              <a:t> Story:</a:t>
            </a:r>
            <a:r>
              <a:rPr lang="hr-HR" dirty="0"/>
              <a:t> najučinkovitiji način definiranja očekivanja o novim funkcionalnostima i/ili poboljšanjima određenog proizvoda ili rezultata.</a:t>
            </a:r>
          </a:p>
          <a:p>
            <a:r>
              <a:rPr lang="hr-HR" b="1" dirty="0" err="1"/>
              <a:t>Task</a:t>
            </a:r>
            <a:r>
              <a:rPr lang="hr-HR" b="1" dirty="0"/>
              <a:t>:</a:t>
            </a:r>
            <a:r>
              <a:rPr lang="hr-HR" dirty="0"/>
              <a:t> jedinica rada potrebna za realizaciju jednog </a:t>
            </a:r>
            <a:r>
              <a:rPr lang="hr-HR" dirty="0" err="1"/>
              <a:t>user</a:t>
            </a:r>
            <a:r>
              <a:rPr lang="hr-HR" dirty="0"/>
              <a:t> </a:t>
            </a:r>
            <a:r>
              <a:rPr lang="hr-HR" dirty="0" err="1"/>
              <a:t>storyja</a:t>
            </a:r>
            <a:r>
              <a:rPr lang="hr-HR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6227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CCCB31-9083-4FC9-DD5F-5E99DDF26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Tri razloga zašto koristiti </a:t>
            </a:r>
            <a:r>
              <a:rPr lang="en-GB" dirty="0"/>
              <a:t>RBS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92CAE1-8602-2776-9641-8C4F423CD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hr-HR" dirty="0"/>
              <a:t>Omogućuje timu i klijentu komunikaciju koristeći međusobno razumljive pojmove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hr-HR" dirty="0"/>
              <a:t>Omogućuje određivanje prioriteta rada na temelju vrijednosti koju percipira korisnik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pl-PL" dirty="0"/>
              <a:t>Omogućuje praćenje rada u odnosu na stvarno proizvedenu vrijednost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8732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2F16-A171-8841-B6D9-9C7993A6E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97D3B4-A18C-8F1B-804C-D06093C5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</a:t>
            </a:r>
            <a:r>
              <a:rPr lang="hr-HR" dirty="0" err="1"/>
              <a:t>skovska</a:t>
            </a:r>
            <a:r>
              <a:rPr lang="en-GB" dirty="0"/>
              <a:t> </a:t>
            </a:r>
            <a:r>
              <a:rPr lang="hr-HR" dirty="0"/>
              <a:t>metoda (</a:t>
            </a:r>
            <a:r>
              <a:rPr lang="hr-HR" dirty="0" err="1"/>
              <a:t>Moscow</a:t>
            </a:r>
            <a:r>
              <a:rPr lang="hr-HR" dirty="0"/>
              <a:t> </a:t>
            </a:r>
            <a:r>
              <a:rPr lang="hr-HR" dirty="0" err="1"/>
              <a:t>Method</a:t>
            </a:r>
            <a:r>
              <a:rPr lang="hr-HR" dirty="0"/>
              <a:t>)</a:t>
            </a:r>
            <a:endParaRPr lang="en-GB" dirty="0"/>
          </a:p>
        </p:txBody>
      </p:sp>
      <p:pic>
        <p:nvPicPr>
          <p:cNvPr id="2050" name="Picture 2" descr="MoSCoW PrioritIsation Diagram - Must have, should have, could have, won't have">
            <a:extLst>
              <a:ext uri="{FF2B5EF4-FFF2-40B4-BE49-F238E27FC236}">
                <a16:creationId xmlns:a16="http://schemas.microsoft.com/office/drawing/2014/main" id="{EAE6F67D-FCFE-DAEB-56A3-17153D714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699" y="1818305"/>
            <a:ext cx="7606602" cy="426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384ABAF-4E5D-452A-939A-8122CCFCA6A3}"/>
              </a:ext>
            </a:extLst>
          </p:cNvPr>
          <p:cNvSpPr txBox="1"/>
          <p:nvPr/>
        </p:nvSpPr>
        <p:spPr>
          <a:xfrm>
            <a:off x="2421653" y="5872356"/>
            <a:ext cx="61897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 dirty="0">
                <a:latin typeface="Bahnschrift SemiLight" panose="020B0502040204020203" pitchFamily="34" charset="0"/>
              </a:rPr>
              <a:t>Source: </a:t>
            </a:r>
            <a:r>
              <a:rPr lang="it-IT" sz="900" dirty="0" err="1">
                <a:latin typeface="Bahnschrift SemiLight" panose="020B0502040204020203" pitchFamily="34" charset="0"/>
              </a:rPr>
              <a:t>BiteSize</a:t>
            </a:r>
            <a:r>
              <a:rPr lang="it-IT" sz="900" dirty="0">
                <a:latin typeface="Bahnschrift SemiLight" panose="020B0502040204020203" pitchFamily="34" charset="0"/>
              </a:rPr>
              <a:t> Learning (</a:t>
            </a:r>
            <a:r>
              <a:rPr lang="it-IT" sz="900" dirty="0">
                <a:latin typeface="Bahnschrift SemiLight" panose="020B0502040204020203" pitchFamily="34" charset="0"/>
                <a:hlinkClick r:id="rId4"/>
              </a:rPr>
              <a:t>https://www.bitesizelearning.co.uk/resources/</a:t>
            </a:r>
            <a:r>
              <a:rPr lang="it-IT" sz="900" dirty="0" err="1">
                <a:latin typeface="Bahnschrift SemiLight" panose="020B0502040204020203" pitchFamily="34" charset="0"/>
                <a:hlinkClick r:id="rId4"/>
              </a:rPr>
              <a:t>moscow</a:t>
            </a:r>
            <a:r>
              <a:rPr lang="it-IT" sz="900" dirty="0">
                <a:latin typeface="Bahnschrift SemiLight" panose="020B0502040204020203" pitchFamily="34" charset="0"/>
                <a:hlinkClick r:id="rId4"/>
              </a:rPr>
              <a:t>-</a:t>
            </a:r>
            <a:r>
              <a:rPr lang="it-IT" sz="900" dirty="0" err="1">
                <a:latin typeface="Bahnschrift SemiLight" panose="020B0502040204020203" pitchFamily="34" charset="0"/>
                <a:hlinkClick r:id="rId4"/>
              </a:rPr>
              <a:t>prioritisation</a:t>
            </a:r>
            <a:r>
              <a:rPr lang="it-IT" sz="900" dirty="0">
                <a:latin typeface="Bahnschrift SemiLight" panose="020B0502040204020203" pitchFamily="34" charset="0"/>
                <a:hlinkClick r:id="rId4"/>
              </a:rPr>
              <a:t>-model</a:t>
            </a:r>
            <a:r>
              <a:rPr lang="it-IT" sz="900" dirty="0">
                <a:latin typeface="Bahnschrift SemiLight" panose="020B0502040204020203" pitchFamily="34" charset="0"/>
              </a:rPr>
              <a:t>) </a:t>
            </a:r>
            <a:endParaRPr lang="en-GB" sz="9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309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F4723C-C1D1-69F0-F9A4-33F43F0D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Kako izraditi </a:t>
            </a:r>
            <a:r>
              <a:rPr lang="it-IT" dirty="0"/>
              <a:t>backlog - </a:t>
            </a:r>
            <a:r>
              <a:rPr lang="hr-HR" dirty="0"/>
              <a:t>savjeti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8AE334-F6DC-A065-C381-738F7E955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Prilikom izrade </a:t>
            </a:r>
            <a:r>
              <a:rPr lang="hr-HR" dirty="0" err="1"/>
              <a:t>backloga</a:t>
            </a:r>
            <a:r>
              <a:rPr lang="hr-HR" dirty="0"/>
              <a:t> započnite s najvećim funkcionalnostima, a zatim ih s vremenom razrađujte na manje dijelove.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dirty="0"/>
              <a:t>Na taj način klijent ne mora ulaziti u detalje dok to zaista ne postane potrebno.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5063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EE9F3-9E04-C01C-98BC-E2809944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7A97D2-0B23-51AC-AAF3-4C199816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Razlikovanje kartica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4CAE78-6906-9D70-0CA4-8BC7DA88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Najjednostavnija i najizravnija metoda je izraditi i koristiti </a:t>
            </a:r>
            <a:r>
              <a:rPr lang="hr-HR" b="1" dirty="0"/>
              <a:t>„oznake” (</a:t>
            </a:r>
            <a:r>
              <a:rPr lang="hr-HR" b="1" dirty="0" err="1"/>
              <a:t>labels</a:t>
            </a:r>
            <a:r>
              <a:rPr lang="hr-HR" b="1" dirty="0"/>
              <a:t>)</a:t>
            </a:r>
            <a:r>
              <a:rPr lang="hr-HR" dirty="0"/>
              <a:t> kako bi se kartice razlikovale već u fazi njihova stvaranja.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dirty="0"/>
              <a:t>Postoje i dodatne aplikacije (</a:t>
            </a:r>
            <a:r>
              <a:rPr lang="hr-HR" dirty="0" err="1"/>
              <a:t>power-apps</a:t>
            </a:r>
            <a:r>
              <a:rPr lang="hr-HR" dirty="0"/>
              <a:t>) koje su korisne za tu svrhu. Jedna od njih je </a:t>
            </a:r>
            <a:r>
              <a:rPr lang="hr-HR" b="1" dirty="0" err="1"/>
              <a:t>Screenful</a:t>
            </a:r>
            <a:r>
              <a:rPr lang="hr-HR" b="1" dirty="0"/>
              <a:t> za </a:t>
            </a:r>
            <a:r>
              <a:rPr lang="hr-HR" b="1" dirty="0" err="1"/>
              <a:t>Trello</a:t>
            </a:r>
            <a:r>
              <a:rPr lang="hr-HR" dirty="0"/>
              <a:t>. Kako funkcionira?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3395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EC9A6-70B4-7260-AD6B-0293BDE0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5DB105-AFD8-59EB-3A0E-C3FA6805C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Epic</a:t>
            </a:r>
            <a:r>
              <a:rPr lang="it-IT" dirty="0"/>
              <a:t> </a:t>
            </a:r>
            <a:r>
              <a:rPr lang="hr-HR" dirty="0"/>
              <a:t>karte (</a:t>
            </a:r>
            <a:r>
              <a:rPr lang="it-IT" dirty="0" err="1"/>
              <a:t>Screenful</a:t>
            </a:r>
            <a:r>
              <a:rPr lang="hr-HR" dirty="0"/>
              <a:t>)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BE2E94-BC5B-34FC-B995-BB0272644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0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b="1" dirty="0" err="1"/>
              <a:t>Screenfulov</a:t>
            </a:r>
            <a:r>
              <a:rPr lang="hr-HR" b="1" dirty="0"/>
              <a:t> </a:t>
            </a:r>
            <a:r>
              <a:rPr lang="hr-HR" b="1" dirty="0" err="1"/>
              <a:t>Epic</a:t>
            </a:r>
            <a:r>
              <a:rPr lang="hr-HR" dirty="0"/>
              <a:t> omogućuje:</a:t>
            </a:r>
          </a:p>
          <a:p>
            <a:pPr marL="0" indent="0">
              <a:buNone/>
            </a:pPr>
            <a:endParaRPr lang="hr-HR" b="1" dirty="0"/>
          </a:p>
          <a:p>
            <a:pPr marL="514350" indent="-514350">
              <a:buFont typeface="+mj-lt"/>
              <a:buAutoNum type="arabicPeriod"/>
            </a:pPr>
            <a:r>
              <a:rPr lang="hr-HR" b="1" dirty="0"/>
              <a:t>Označavanje lista koje sadrže </a:t>
            </a:r>
            <a:r>
              <a:rPr lang="hr-HR" b="1" dirty="0" err="1"/>
              <a:t>epice</a:t>
            </a:r>
            <a:br>
              <a:rPr lang="hr-HR" dirty="0"/>
            </a:br>
            <a:r>
              <a:rPr lang="hr-HR" dirty="0"/>
              <a:t>Npr. možemo odlučiti da u </a:t>
            </a:r>
            <a:r>
              <a:rPr lang="hr-HR" dirty="0" err="1"/>
              <a:t>backlog</a:t>
            </a:r>
            <a:r>
              <a:rPr lang="hr-HR" dirty="0"/>
              <a:t> stavljamo sve kartice tipa „</a:t>
            </a:r>
            <a:r>
              <a:rPr lang="hr-HR" dirty="0" err="1"/>
              <a:t>Epic</a:t>
            </a:r>
            <a:r>
              <a:rPr lang="hr-HR" dirty="0"/>
              <a:t>”.</a:t>
            </a:r>
          </a:p>
          <a:p>
            <a:pPr marL="514350" indent="-514350">
              <a:buFont typeface="+mj-lt"/>
              <a:buAutoNum type="arabicPeriod"/>
            </a:pPr>
            <a:r>
              <a:rPr lang="hr-HR" b="1" dirty="0"/>
              <a:t>Dodjeljivanje zadataka svakom </a:t>
            </a:r>
            <a:r>
              <a:rPr lang="hr-HR" b="1" dirty="0" err="1"/>
              <a:t>epicu</a:t>
            </a:r>
            <a:br>
              <a:rPr lang="hr-HR" dirty="0"/>
            </a:br>
            <a:r>
              <a:rPr lang="hr-HR" dirty="0"/>
              <a:t>Napomena: prvo je potrebno kreirati zadatak (npr. u „To Do”), a zatim ga povezati s </a:t>
            </a:r>
            <a:r>
              <a:rPr lang="hr-HR" dirty="0" err="1"/>
              <a:t>epicom</a:t>
            </a:r>
            <a:r>
              <a:rPr lang="hr-HR" dirty="0"/>
              <a:t> u </a:t>
            </a:r>
            <a:r>
              <a:rPr lang="hr-HR" dirty="0" err="1"/>
              <a:t>backlogu</a:t>
            </a:r>
            <a:r>
              <a:rPr lang="hr-HR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hr-HR" b="1" dirty="0"/>
              <a:t>Definiranje sintetičke verzije RBS-a</a:t>
            </a:r>
            <a:br>
              <a:rPr lang="hr-HR" dirty="0"/>
            </a:br>
            <a:r>
              <a:rPr lang="hr-HR" dirty="0"/>
              <a:t>Time je moguće pratiti broj zadataka po </a:t>
            </a:r>
            <a:r>
              <a:rPr lang="hr-HR" dirty="0" err="1"/>
              <a:t>epicu</a:t>
            </a:r>
            <a:r>
              <a:rPr lang="hr-HR" dirty="0"/>
              <a:t> (≈ RBS) i nadzirati napredak za svaki </a:t>
            </a:r>
            <a:r>
              <a:rPr lang="hr-HR" dirty="0" err="1"/>
              <a:t>epic</a:t>
            </a:r>
            <a:r>
              <a:rPr lang="hr-HR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9891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67C4-C490-FD17-5095-84864800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D2026-E321-DE8A-B0BB-0FD260A3E6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Kako upravljati planiranjem kapaciteta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522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6503DB-F846-CEEE-5CD0-FBD49484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Upravljanje planiranjem kapaciteta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22A638-B497-A7EA-765D-77645240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Naši uobičajeni klijenti traže </a:t>
            </a:r>
            <a:r>
              <a:rPr lang="hr-HR" b="1" dirty="0"/>
              <a:t>maksimum u najkraćem mogućem vremenu</a:t>
            </a:r>
            <a:r>
              <a:rPr lang="hr-HR" dirty="0"/>
              <a:t>, što često dovodi do dva rezultata:</a:t>
            </a:r>
          </a:p>
          <a:p>
            <a:r>
              <a:rPr lang="hr-HR" dirty="0"/>
              <a:t>zasićenosti kapaciteta</a:t>
            </a:r>
          </a:p>
          <a:p>
            <a:r>
              <a:rPr lang="hr-HR" dirty="0"/>
              <a:t>složenih izdanja (</a:t>
            </a:r>
            <a:r>
              <a:rPr lang="hr-HR" dirty="0" err="1"/>
              <a:t>releases</a:t>
            </a:r>
            <a:r>
              <a:rPr lang="hr-HR" dirty="0"/>
              <a:t>)</a:t>
            </a:r>
          </a:p>
          <a:p>
            <a:endParaRPr lang="hr-HR" dirty="0"/>
          </a:p>
          <a:p>
            <a:pPr marL="0" indent="0">
              <a:buNone/>
            </a:pPr>
            <a:r>
              <a:rPr lang="hr-HR" dirty="0"/>
              <a:t>Ti čimbenici vrlo često rezultiraju:</a:t>
            </a:r>
          </a:p>
          <a:p>
            <a:r>
              <a:rPr lang="hr-HR" dirty="0"/>
              <a:t>frustriranim timovima</a:t>
            </a:r>
          </a:p>
          <a:p>
            <a:r>
              <a:rPr lang="hr-HR" dirty="0"/>
              <a:t>produljenim vremenom izlaska na tržište (time to market).</a:t>
            </a:r>
          </a:p>
        </p:txBody>
      </p:sp>
    </p:spTree>
    <p:extLst>
      <p:ext uri="{BB962C8B-B14F-4D97-AF65-F5344CB8AC3E}">
        <p14:creationId xmlns:p14="http://schemas.microsoft.com/office/powerpoint/2010/main" val="4242989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695050-4EE7-3B87-B25A-43CC270E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Upravljanje planiranjem kapaciteta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6E5B02-1E21-F0D8-C2FD-5295A6105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I što učiniti?</a:t>
            </a:r>
          </a:p>
          <a:p>
            <a:r>
              <a:rPr lang="hr-HR" dirty="0"/>
              <a:t>Dati veću važnost ishodima</a:t>
            </a:r>
          </a:p>
          <a:p>
            <a:r>
              <a:rPr lang="hr-HR" dirty="0"/>
              <a:t>Definirati plan izdanja (</a:t>
            </a:r>
            <a:r>
              <a:rPr lang="hr-HR" dirty="0" err="1"/>
              <a:t>release</a:t>
            </a:r>
            <a:r>
              <a:rPr lang="hr-HR" dirty="0"/>
              <a:t> plan)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78729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01B49-C9BC-65D9-CAB0-8E7ADCD0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80E89E-B456-CD55-30DC-BD70DBAC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Davanje težine ishodima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3BA264-EC77-F981-93CA-495896132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0921"/>
            <a:ext cx="10515600" cy="4311954"/>
          </a:xfrm>
        </p:spPr>
        <p:txBody>
          <a:bodyPr>
            <a:normAutofit lnSpcReduction="10000"/>
          </a:bodyPr>
          <a:lstStyle/>
          <a:p>
            <a:r>
              <a:rPr lang="hr-HR" sz="3200" dirty="0"/>
              <a:t>Koliko su funkcionalnosti (KARTICE) međusobno važne?</a:t>
            </a:r>
          </a:p>
          <a:p>
            <a:r>
              <a:rPr lang="hr-HR" sz="3200" dirty="0"/>
              <a:t>Koje od njih će najvjerojatnije postići željenu vrijednost ISHODA?</a:t>
            </a:r>
          </a:p>
          <a:p>
            <a:r>
              <a:rPr lang="hr-HR" sz="3200" dirty="0"/>
              <a:t>Kolika je pojedinačna težina najvažnijih funkcionalnosti?</a:t>
            </a:r>
          </a:p>
          <a:p>
            <a:r>
              <a:rPr lang="hr-HR" sz="3200" dirty="0"/>
              <a:t>Koliki je stvarni raspoloživi proizvodni kapacitet? → </a:t>
            </a:r>
            <a:r>
              <a:rPr lang="hr-HR" sz="3200" dirty="0" err="1"/>
              <a:t>Pareto</a:t>
            </a:r>
            <a:r>
              <a:rPr lang="hr-HR" sz="3200" dirty="0"/>
              <a:t> i pravilo 80/20</a:t>
            </a:r>
          </a:p>
          <a:p>
            <a:r>
              <a:rPr lang="hr-HR" sz="3200" b="1" dirty="0"/>
              <a:t>Napomena:</a:t>
            </a:r>
            <a:r>
              <a:rPr lang="hr-HR" sz="3200" dirty="0"/>
              <a:t> neka procjene radi tim!</a:t>
            </a:r>
          </a:p>
          <a:p>
            <a:endParaRPr lang="it-IT" sz="36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848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3A1D-A63A-AE67-B05F-BF49957A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1334AA-6A3F-988D-9E71-A4DBF316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Definiranje plana izdanja (</a:t>
            </a:r>
            <a:r>
              <a:rPr lang="hr-HR" dirty="0" err="1"/>
              <a:t>release</a:t>
            </a:r>
            <a:r>
              <a:rPr lang="hr-HR" dirty="0"/>
              <a:t> plan)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11AB92-B6A0-4A47-B897-36CEAAD6D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b="1" dirty="0"/>
              <a:t>Plan izdanja (</a:t>
            </a:r>
            <a:r>
              <a:rPr lang="hr-HR" b="1" dirty="0" err="1"/>
              <a:t>Release</a:t>
            </a:r>
            <a:r>
              <a:rPr lang="hr-HR" b="1" dirty="0"/>
              <a:t> Plan):</a:t>
            </a:r>
            <a:r>
              <a:rPr lang="hr-HR" dirty="0"/>
              <a:t> skup aktivnosti usmjerenih na pretvaranje zahtjeva u testirane i funkcionalne rezultate.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dirty="0"/>
              <a:t>Kako uskladiti </a:t>
            </a:r>
            <a:r>
              <a:rPr lang="hr-HR" dirty="0" err="1"/>
              <a:t>backlog</a:t>
            </a:r>
            <a:r>
              <a:rPr lang="hr-HR" dirty="0"/>
              <a:t> s proizvodnim kapacitetom tima?</a:t>
            </a:r>
          </a:p>
          <a:p>
            <a:pPr marL="0" indent="0">
              <a:buNone/>
            </a:pPr>
            <a:r>
              <a:rPr lang="hr-HR" b="1" dirty="0"/>
              <a:t>Planiranje kapaciteta:</a:t>
            </a:r>
            <a:r>
              <a:rPr lang="hr-HR" dirty="0"/>
              <a:t> optimiziranje produktivnosti upravljanjem dostupnim resursima i vještinama potrebnima za sprint.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6167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77FA1-5710-8F18-A12D-7B7A85F7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CB4BDB-1A7E-5408-9EF4-CD8E56AE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Definiranje plana izdanja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7A8911-80E6-D9AF-93F1-564C7E994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r-HR" b="1" dirty="0"/>
              <a:t>Primjer:</a:t>
            </a:r>
            <a:r>
              <a:rPr lang="hr-HR" dirty="0"/>
              <a:t> tim od 6 osoba treba dovršiti niz aktivnosti procijenjenih na </a:t>
            </a:r>
            <a:r>
              <a:rPr lang="hr-HR" b="1" dirty="0"/>
              <a:t>200 sati u 5 dana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b="1" dirty="0"/>
              <a:t>Težina aktivnosti:</a:t>
            </a:r>
            <a:r>
              <a:rPr lang="hr-HR" dirty="0"/>
              <a:t> 200 h</a:t>
            </a:r>
            <a:br>
              <a:rPr lang="hr-HR" dirty="0"/>
            </a:br>
            <a:r>
              <a:rPr lang="hr-HR" b="1" dirty="0"/>
              <a:t>Trajanje sprinta:</a:t>
            </a:r>
            <a:r>
              <a:rPr lang="hr-HR" dirty="0"/>
              <a:t> 5 dana</a:t>
            </a:r>
            <a:br>
              <a:rPr lang="hr-HR" dirty="0"/>
            </a:br>
            <a:r>
              <a:rPr lang="hr-HR" b="1" dirty="0"/>
              <a:t>Trajanje radnog dana:</a:t>
            </a:r>
            <a:r>
              <a:rPr lang="hr-HR" dirty="0"/>
              <a:t> 8 h</a:t>
            </a:r>
            <a:br>
              <a:rPr lang="hr-HR" dirty="0"/>
            </a:br>
            <a:r>
              <a:rPr lang="hr-HR" b="1" dirty="0"/>
              <a:t>Veličina tima:</a:t>
            </a:r>
            <a:r>
              <a:rPr lang="hr-HR" dirty="0"/>
              <a:t> 6 osoba</a:t>
            </a:r>
          </a:p>
          <a:p>
            <a:pPr marL="0" indent="0">
              <a:buNone/>
            </a:pPr>
            <a:endParaRPr lang="hr-HR" b="1" dirty="0"/>
          </a:p>
          <a:p>
            <a:pPr marL="0" indent="0">
              <a:buNone/>
            </a:pPr>
            <a:r>
              <a:rPr lang="hr-HR" b="1" dirty="0"/>
              <a:t>Ukupni radni kapacitet:</a:t>
            </a:r>
            <a:br>
              <a:rPr lang="hr-HR" dirty="0"/>
            </a:br>
            <a:r>
              <a:rPr lang="hr-HR" dirty="0"/>
              <a:t>5 × 8 × 6 = </a:t>
            </a:r>
            <a:r>
              <a:rPr lang="hr-HR" b="1" dirty="0"/>
              <a:t>240 h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No zašto ipak često završimo u </a:t>
            </a:r>
            <a:r>
              <a:rPr lang="hr-HR" b="1" dirty="0"/>
              <a:t>preopterećenju</a:t>
            </a:r>
            <a:r>
              <a:rPr lang="hr-H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04184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9F0F-1FE7-0D0A-257C-BC9DABDEA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9178DD-6BD2-0A2A-B4B7-9E132BFC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Definiranje plana izdanja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3FB493-003E-6923-CBA8-D417BE387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dirty="0"/>
              <a:t>Neki od čimbenika koji ograničavaju kapacitet: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Neujednačeni timovi (različite vještine)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Rad na više projekata istodobno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Uska grla (npr. validacija)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Neočekivane aktivnosti (</a:t>
            </a:r>
            <a:r>
              <a:rPr lang="hr-HR" dirty="0" err="1"/>
              <a:t>ticketi</a:t>
            </a:r>
            <a:r>
              <a:rPr lang="hr-HR" dirty="0"/>
              <a:t>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92854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8380-E643-8472-1108-2A708DBA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D51230-54EA-C224-2AA4-EF29EC818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Definiranje plana izdanja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286226-5C5F-9875-5E55-5C06EB178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r-HR" dirty="0"/>
              <a:t>Što onda učiniti?</a:t>
            </a:r>
          </a:p>
          <a:p>
            <a:endParaRPr lang="hr-HR" dirty="0"/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Unaprijed definirati konfiguraciju tima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Ograničiti broj otvorenih konteksta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Predvidjeti vrijeme za validaciju</a:t>
            </a:r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Uspostaviti </a:t>
            </a:r>
            <a:r>
              <a:rPr lang="hr-HR" b="1" dirty="0"/>
              <a:t>faktor fokusa (</a:t>
            </a:r>
            <a:r>
              <a:rPr lang="hr-HR" b="1" dirty="0" err="1"/>
              <a:t>Focus</a:t>
            </a:r>
            <a:r>
              <a:rPr lang="hr-HR" b="1" dirty="0"/>
              <a:t> </a:t>
            </a:r>
            <a:r>
              <a:rPr lang="hr-HR" b="1" dirty="0" err="1"/>
              <a:t>Factor</a:t>
            </a:r>
            <a:r>
              <a:rPr lang="hr-HR" b="1" dirty="0"/>
              <a:t>)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61183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639FF-3D5B-15B5-98D0-83D07203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EF2B4C-7546-3FDF-186E-2126AA0C7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3600" b="1" dirty="0">
                <a:latin typeface="Bahnschrift SemiLight" panose="020B0502040204020203" pitchFamily="34" charset="0"/>
                <a:cs typeface="Trebuchet MS"/>
              </a:rPr>
              <a:t>Faktor fokusa - </a:t>
            </a:r>
            <a:r>
              <a:rPr lang="en-GB" sz="3600" b="1" dirty="0">
                <a:latin typeface="Bahnschrift SemiLight" panose="020B0502040204020203" pitchFamily="34" charset="0"/>
                <a:cs typeface="Trebuchet MS"/>
              </a:rPr>
              <a:t>Focus</a:t>
            </a:r>
            <a:r>
              <a:rPr lang="en-GB" sz="3600" b="1" spc="-225" dirty="0">
                <a:latin typeface="Bahnschrift SemiLight" panose="020B0502040204020203" pitchFamily="34" charset="0"/>
                <a:cs typeface="Trebuchet MS"/>
              </a:rPr>
              <a:t> </a:t>
            </a:r>
            <a:r>
              <a:rPr lang="en-GB" sz="3600" b="1" spc="-120" dirty="0">
                <a:latin typeface="Bahnschrift SemiLight" panose="020B0502040204020203" pitchFamily="34" charset="0"/>
                <a:cs typeface="Trebuchet MS"/>
              </a:rPr>
              <a:t>Factor</a:t>
            </a:r>
            <a:r>
              <a:rPr lang="en-GB" sz="3600" b="1" spc="-220" dirty="0">
                <a:latin typeface="Bahnschrift SemiLight" panose="020B0502040204020203" pitchFamily="34" charset="0"/>
                <a:cs typeface="Trebuchet MS"/>
              </a:rPr>
              <a:t> </a:t>
            </a:r>
            <a:r>
              <a:rPr lang="en-GB" sz="3600" b="1" spc="-310" dirty="0">
                <a:latin typeface="Bahnschrift SemiLight" panose="020B0502040204020203" pitchFamily="34" charset="0"/>
                <a:cs typeface="Trebuchet MS"/>
              </a:rPr>
              <a:t>(FF)</a:t>
            </a:r>
            <a:endParaRPr lang="en-GB" dirty="0">
              <a:latin typeface="Bahnschrift SemiLight" panose="020B0502040204020203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6B4EE2-36B9-EF31-6F68-3C0085C7E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dirty="0"/>
              <a:t>Faktor fokusa - </a:t>
            </a:r>
            <a:r>
              <a:rPr lang="en-GB" dirty="0"/>
              <a:t>Focus Factor (FF): </a:t>
            </a:r>
            <a:r>
              <a:rPr lang="hr-HR" dirty="0"/>
              <a:t>procjena fokusiranosti tima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hr-HR" dirty="0"/>
              <a:t>Prosjek</a:t>
            </a:r>
            <a:r>
              <a:rPr lang="en-GB" dirty="0"/>
              <a:t> = 70%</a:t>
            </a:r>
          </a:p>
          <a:p>
            <a:pPr marL="0" indent="0">
              <a:buNone/>
            </a:pPr>
            <a:r>
              <a:rPr lang="hr-HR" dirty="0"/>
              <a:t>Niži </a:t>
            </a:r>
            <a:r>
              <a:rPr lang="hr-HR" dirty="0" err="1"/>
              <a:t>Focus</a:t>
            </a:r>
            <a:r>
              <a:rPr lang="hr-HR" dirty="0"/>
              <a:t> </a:t>
            </a:r>
            <a:r>
              <a:rPr lang="hr-HR" dirty="0" err="1"/>
              <a:t>Factor</a:t>
            </a:r>
            <a:r>
              <a:rPr lang="hr-HR" dirty="0"/>
              <a:t> (FF) može značiti da tim očekuje mnogo ometajućih čimbenika ili pretpostavlja da su procjene bile preoptimistične.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dirty="0"/>
              <a:t>Kako izračunati razuman </a:t>
            </a:r>
            <a:r>
              <a:rPr lang="hr-HR" dirty="0" err="1"/>
              <a:t>Focus</a:t>
            </a:r>
            <a:r>
              <a:rPr lang="hr-HR" dirty="0"/>
              <a:t> </a:t>
            </a:r>
            <a:r>
              <a:rPr lang="hr-HR" dirty="0" err="1"/>
              <a:t>Factor</a:t>
            </a:r>
            <a:r>
              <a:rPr lang="hr-HR" dirty="0"/>
              <a:t>?</a:t>
            </a:r>
            <a:br>
              <a:rPr lang="hr-HR" dirty="0"/>
            </a:br>
            <a:r>
              <a:rPr lang="hr-HR" dirty="0"/>
              <a:t>Najbolji način je temeljiti ga na rezultatima posljednjeg sprinta (ili prosjeku nekoliko najnovijih sprintova).</a:t>
            </a:r>
          </a:p>
        </p:txBody>
      </p:sp>
    </p:spTree>
    <p:extLst>
      <p:ext uri="{BB962C8B-B14F-4D97-AF65-F5344CB8AC3E}">
        <p14:creationId xmlns:p14="http://schemas.microsoft.com/office/powerpoint/2010/main" val="2001564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AAD1-0BDB-4ABE-408A-2DAD7AD1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2B3210-7FEB-CB34-B894-EC22B9E26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>
                <a:latin typeface="Bahnschrift SemiLight" panose="020B0502040204020203" pitchFamily="34" charset="0"/>
                <a:cs typeface="Trebuchet MS"/>
              </a:rPr>
              <a:t>Faktor fokusa - </a:t>
            </a:r>
            <a:r>
              <a:rPr lang="en-GB" b="1" dirty="0">
                <a:latin typeface="Bahnschrift SemiLight" panose="020B0502040204020203" pitchFamily="34" charset="0"/>
                <a:cs typeface="Trebuchet MS"/>
              </a:rPr>
              <a:t>Focus</a:t>
            </a:r>
            <a:r>
              <a:rPr lang="en-GB" b="1" spc="-225" dirty="0">
                <a:latin typeface="Bahnschrift SemiLight" panose="020B0502040204020203" pitchFamily="34" charset="0"/>
                <a:cs typeface="Trebuchet MS"/>
              </a:rPr>
              <a:t> </a:t>
            </a:r>
            <a:r>
              <a:rPr lang="en-GB" b="1" spc="-120" dirty="0">
                <a:latin typeface="Bahnschrift SemiLight" panose="020B0502040204020203" pitchFamily="34" charset="0"/>
                <a:cs typeface="Trebuchet MS"/>
              </a:rPr>
              <a:t>Factor</a:t>
            </a:r>
            <a:r>
              <a:rPr lang="en-GB" b="1" spc="-220" dirty="0">
                <a:latin typeface="Bahnschrift SemiLight" panose="020B0502040204020203" pitchFamily="34" charset="0"/>
                <a:cs typeface="Trebuchet MS"/>
              </a:rPr>
              <a:t> </a:t>
            </a:r>
            <a:r>
              <a:rPr lang="en-GB" b="1" spc="-310" dirty="0">
                <a:latin typeface="Bahnschrift SemiLight" panose="020B0502040204020203" pitchFamily="34" charset="0"/>
                <a:cs typeface="Trebuchet MS"/>
              </a:rPr>
              <a:t>(FF)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300F46-57A0-AE4E-F7C0-7DBFC86DD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Izračun</a:t>
            </a:r>
            <a:r>
              <a:rPr lang="en-GB" dirty="0"/>
              <a:t> </a:t>
            </a:r>
            <a:r>
              <a:rPr lang="en-GB" dirty="0" err="1"/>
              <a:t>faktora</a:t>
            </a:r>
            <a:r>
              <a:rPr lang="en-GB" dirty="0"/>
              <a:t> </a:t>
            </a:r>
            <a:r>
              <a:rPr lang="en-GB" dirty="0" err="1"/>
              <a:t>fokusa</a:t>
            </a:r>
            <a:r>
              <a:rPr lang="en-GB" dirty="0"/>
              <a:t> (Focus Factor)</a:t>
            </a:r>
            <a:endParaRPr lang="hr-HR" dirty="0"/>
          </a:p>
          <a:p>
            <a:pPr marL="0" indent="0">
              <a:buNone/>
            </a:pPr>
            <a:r>
              <a:rPr lang="en-GB" dirty="0"/>
              <a:t>FF </a:t>
            </a:r>
            <a:r>
              <a:rPr lang="en-GB" dirty="0" err="1"/>
              <a:t>posljednjeg</a:t>
            </a:r>
            <a:r>
              <a:rPr lang="en-GB" dirty="0"/>
              <a:t> </a:t>
            </a:r>
            <a:r>
              <a:rPr lang="en-GB" dirty="0" err="1"/>
              <a:t>sprinta</a:t>
            </a:r>
            <a:r>
              <a:rPr lang="en-GB" dirty="0"/>
              <a:t> = </a:t>
            </a:r>
            <a:r>
              <a:rPr lang="en-GB" dirty="0" err="1"/>
              <a:t>Efektivna</a:t>
            </a:r>
            <a:r>
              <a:rPr lang="en-GB" dirty="0"/>
              <a:t> </a:t>
            </a:r>
            <a:r>
              <a:rPr lang="en-GB" dirty="0" err="1"/>
              <a:t>brzina</a:t>
            </a:r>
            <a:r>
              <a:rPr lang="en-GB" dirty="0"/>
              <a:t> / </a:t>
            </a:r>
            <a:r>
              <a:rPr lang="en-GB" dirty="0" err="1"/>
              <a:t>Dostupni</a:t>
            </a:r>
            <a:r>
              <a:rPr lang="en-GB" dirty="0"/>
              <a:t> </a:t>
            </a:r>
            <a:r>
              <a:rPr lang="en-GB" dirty="0" err="1"/>
              <a:t>čovjek-dani</a:t>
            </a:r>
            <a:endParaRPr lang="hr-HR" dirty="0"/>
          </a:p>
          <a:p>
            <a:pPr marL="0" indent="0">
              <a:buNone/>
            </a:pPr>
            <a:r>
              <a:rPr lang="en-GB" dirty="0" err="1"/>
              <a:t>Efektivna</a:t>
            </a:r>
            <a:r>
              <a:rPr lang="en-GB" dirty="0"/>
              <a:t> </a:t>
            </a:r>
            <a:r>
              <a:rPr lang="en-GB" dirty="0" err="1"/>
              <a:t>brzina</a:t>
            </a:r>
            <a:r>
              <a:rPr lang="en-GB" dirty="0"/>
              <a:t>: </a:t>
            </a:r>
            <a:r>
              <a:rPr lang="en-GB" dirty="0" err="1"/>
              <a:t>zbroj</a:t>
            </a:r>
            <a:r>
              <a:rPr lang="en-GB" dirty="0"/>
              <a:t> </a:t>
            </a:r>
            <a:r>
              <a:rPr lang="en-GB" dirty="0" err="1"/>
              <a:t>težina</a:t>
            </a:r>
            <a:r>
              <a:rPr lang="en-GB" dirty="0"/>
              <a:t> </a:t>
            </a:r>
            <a:r>
              <a:rPr lang="en-GB" dirty="0" err="1"/>
              <a:t>svih</a:t>
            </a:r>
            <a:r>
              <a:rPr lang="en-GB" dirty="0"/>
              <a:t> </a:t>
            </a:r>
            <a:r>
              <a:rPr lang="en-GB" dirty="0" err="1"/>
              <a:t>storyja</a:t>
            </a:r>
            <a:r>
              <a:rPr lang="en-GB" dirty="0"/>
              <a:t> </a:t>
            </a:r>
            <a:r>
              <a:rPr lang="en-GB" dirty="0" err="1"/>
              <a:t>dovršenih</a:t>
            </a:r>
            <a:r>
              <a:rPr lang="en-GB" dirty="0"/>
              <a:t> u </a:t>
            </a:r>
            <a:r>
              <a:rPr lang="en-GB" dirty="0" err="1"/>
              <a:t>posljednjem</a:t>
            </a:r>
            <a:r>
              <a:rPr lang="en-GB" dirty="0"/>
              <a:t> </a:t>
            </a:r>
            <a:r>
              <a:rPr lang="en-GB" dirty="0" err="1"/>
              <a:t>sprintu</a:t>
            </a:r>
            <a:r>
              <a:rPr lang="en-GB" dirty="0"/>
              <a:t>.</a:t>
            </a:r>
            <a:endParaRPr lang="hr-HR" dirty="0"/>
          </a:p>
          <a:p>
            <a:pPr marL="0" indent="0">
              <a:buNone/>
            </a:pPr>
            <a:r>
              <a:rPr lang="en-GB" dirty="0" err="1"/>
              <a:t>Nakon</a:t>
            </a:r>
            <a:r>
              <a:rPr lang="en-GB" dirty="0"/>
              <a:t> </a:t>
            </a:r>
            <a:r>
              <a:rPr lang="en-GB" dirty="0" err="1"/>
              <a:t>što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definirani</a:t>
            </a:r>
            <a:r>
              <a:rPr lang="en-GB" dirty="0"/>
              <a:t> </a:t>
            </a:r>
            <a:r>
              <a:rPr lang="en-GB" dirty="0" err="1"/>
              <a:t>težina</a:t>
            </a:r>
            <a:r>
              <a:rPr lang="en-GB" dirty="0"/>
              <a:t> </a:t>
            </a:r>
            <a:r>
              <a:rPr lang="en-GB" dirty="0" err="1"/>
              <a:t>kartica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faktor</a:t>
            </a:r>
            <a:r>
              <a:rPr lang="en-GB" dirty="0"/>
              <a:t> </a:t>
            </a:r>
            <a:r>
              <a:rPr lang="en-GB" dirty="0" err="1"/>
              <a:t>fokusa</a:t>
            </a:r>
            <a:r>
              <a:rPr lang="en-GB" dirty="0"/>
              <a:t>, </a:t>
            </a:r>
            <a:r>
              <a:rPr lang="en-GB" dirty="0" err="1"/>
              <a:t>možemo</a:t>
            </a:r>
            <a:r>
              <a:rPr lang="en-GB" dirty="0"/>
              <a:t> </a:t>
            </a:r>
            <a:r>
              <a:rPr lang="en-GB" dirty="0" err="1"/>
              <a:t>definirati</a:t>
            </a:r>
            <a:r>
              <a:rPr lang="en-GB" dirty="0"/>
              <a:t> plan </a:t>
            </a:r>
            <a:r>
              <a:rPr lang="en-GB" dirty="0" err="1"/>
              <a:t>izdanja</a:t>
            </a:r>
            <a:r>
              <a:rPr lang="en-GB" dirty="0"/>
              <a:t> (Release Plan).</a:t>
            </a:r>
          </a:p>
        </p:txBody>
      </p:sp>
    </p:spTree>
    <p:extLst>
      <p:ext uri="{BB962C8B-B14F-4D97-AF65-F5344CB8AC3E}">
        <p14:creationId xmlns:p14="http://schemas.microsoft.com/office/powerpoint/2010/main" val="3658598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2B8899-D408-79E1-2AC1-DF8BC51F7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Vježba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E89347-A004-A3C8-E681-F7388592A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Težina aktivnosti: 200 h</a:t>
            </a:r>
          </a:p>
          <a:p>
            <a:r>
              <a:rPr lang="hr-HR" dirty="0"/>
              <a:t>Trajanje sprinta: 5 dana</a:t>
            </a:r>
          </a:p>
          <a:p>
            <a:r>
              <a:rPr lang="hr-HR" dirty="0"/>
              <a:t>Trajanje radnog dana: 8 h</a:t>
            </a:r>
          </a:p>
          <a:p>
            <a:r>
              <a:rPr lang="hr-HR" dirty="0"/>
              <a:t>Veličina tima: 6 osoba</a:t>
            </a:r>
          </a:p>
          <a:p>
            <a:r>
              <a:rPr lang="hr-HR" dirty="0"/>
              <a:t>Faktor fokusa: 0,7</a:t>
            </a:r>
          </a:p>
          <a:p>
            <a:pPr marL="0" indent="0">
              <a:buNone/>
            </a:pPr>
            <a:endParaRPr lang="hr-HR" dirty="0"/>
          </a:p>
          <a:p>
            <a:pPr marL="0" indent="0">
              <a:buNone/>
            </a:pPr>
            <a:r>
              <a:rPr lang="hr-HR" dirty="0"/>
              <a:t>Koliki je efektivni radni kapacitet?</a:t>
            </a:r>
          </a:p>
        </p:txBody>
      </p:sp>
    </p:spTree>
    <p:extLst>
      <p:ext uri="{BB962C8B-B14F-4D97-AF65-F5344CB8AC3E}">
        <p14:creationId xmlns:p14="http://schemas.microsoft.com/office/powerpoint/2010/main" val="2256122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E01618-38ED-78D5-FA2C-263FC6C3E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Što smo naučili</a:t>
            </a:r>
            <a:r>
              <a:rPr lang="en-GB" dirty="0"/>
              <a:t>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7C4E35-B55E-0F1D-EA97-5F5E4B02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hr-HR" dirty="0"/>
              <a:t>Razmislimo </a:t>
            </a:r>
            <a:r>
              <a:rPr lang="en-GB" dirty="0"/>
              <a:t>o </a:t>
            </a:r>
            <a:r>
              <a:rPr lang="en-GB" dirty="0" err="1"/>
              <a:t>naporu</a:t>
            </a:r>
            <a:r>
              <a:rPr lang="en-GB" dirty="0"/>
              <a:t> (EFFORT)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temelju</a:t>
            </a:r>
            <a:r>
              <a:rPr lang="en-GB" dirty="0"/>
              <a:t> </a:t>
            </a:r>
            <a:r>
              <a:rPr lang="en-GB" dirty="0" err="1"/>
              <a:t>zajedničkog</a:t>
            </a:r>
            <a:r>
              <a:rPr lang="en-GB" dirty="0"/>
              <a:t> </a:t>
            </a:r>
            <a:r>
              <a:rPr lang="en-GB" dirty="0" err="1"/>
              <a:t>razumijevanja</a:t>
            </a:r>
            <a:r>
              <a:rPr lang="en-GB" dirty="0"/>
              <a:t> </a:t>
            </a:r>
            <a:r>
              <a:rPr lang="en-GB" dirty="0" err="1"/>
              <a:t>vrijednosti</a:t>
            </a:r>
            <a:r>
              <a:rPr lang="en-GB" dirty="0"/>
              <a:t> (</a:t>
            </a:r>
            <a:r>
              <a:rPr lang="en-GB" dirty="0" err="1"/>
              <a:t>usmjereno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ishode</a:t>
            </a:r>
            <a:r>
              <a:rPr lang="en-GB" dirty="0"/>
              <a:t>)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prema</a:t>
            </a:r>
            <a:r>
              <a:rPr lang="en-GB" dirty="0"/>
              <a:t> </a:t>
            </a:r>
            <a:r>
              <a:rPr lang="en-GB" dirty="0" err="1"/>
              <a:t>produktivnosti</a:t>
            </a:r>
            <a:r>
              <a:rPr lang="en-GB" dirty="0"/>
              <a:t> </a:t>
            </a:r>
            <a:r>
              <a:rPr lang="en-GB" dirty="0" err="1"/>
              <a:t>tima</a:t>
            </a:r>
            <a:endParaRPr lang="hr-HR" dirty="0"/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Važnost procjene</a:t>
            </a:r>
            <a:r>
              <a:rPr lang="en-GB" dirty="0"/>
              <a:t> </a:t>
            </a:r>
            <a:r>
              <a:rPr lang="en-GB" dirty="0" err="1"/>
              <a:t>stvarn</a:t>
            </a:r>
            <a:r>
              <a:rPr lang="hr-HR" dirty="0" err="1"/>
              <a:t>og</a:t>
            </a:r>
            <a:r>
              <a:rPr lang="en-GB" dirty="0"/>
              <a:t> </a:t>
            </a:r>
            <a:r>
              <a:rPr lang="en-GB" dirty="0" err="1"/>
              <a:t>učin</a:t>
            </a:r>
            <a:r>
              <a:rPr lang="hr-HR" dirty="0"/>
              <a:t>ka</a:t>
            </a:r>
            <a:r>
              <a:rPr lang="en-GB" dirty="0"/>
              <a:t> </a:t>
            </a:r>
            <a:r>
              <a:rPr lang="en-GB" dirty="0" err="1"/>
              <a:t>svih</a:t>
            </a:r>
            <a:r>
              <a:rPr lang="en-GB" dirty="0"/>
              <a:t> </a:t>
            </a:r>
            <a:r>
              <a:rPr lang="en-GB" dirty="0" err="1"/>
              <a:t>dodatnih</a:t>
            </a:r>
            <a:r>
              <a:rPr lang="en-GB" dirty="0"/>
              <a:t> </a:t>
            </a:r>
            <a:r>
              <a:rPr lang="en-GB" dirty="0" err="1"/>
              <a:t>resursa</a:t>
            </a:r>
            <a:endParaRPr lang="hr-HR" dirty="0"/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Kako o</a:t>
            </a:r>
            <a:r>
              <a:rPr lang="en-GB" dirty="0" err="1"/>
              <a:t>drediti</a:t>
            </a:r>
            <a:r>
              <a:rPr lang="en-GB" dirty="0"/>
              <a:t> </a:t>
            </a:r>
            <a:r>
              <a:rPr lang="en-GB" dirty="0" err="1"/>
              <a:t>prioritete</a:t>
            </a:r>
            <a:r>
              <a:rPr lang="en-GB" dirty="0"/>
              <a:t> u </a:t>
            </a:r>
            <a:r>
              <a:rPr lang="en-GB" dirty="0" err="1"/>
              <a:t>backlogu</a:t>
            </a:r>
            <a:r>
              <a:rPr lang="en-GB" dirty="0"/>
              <a:t> </a:t>
            </a:r>
            <a:r>
              <a:rPr lang="en-GB" dirty="0" err="1"/>
              <a:t>kroz</a:t>
            </a:r>
            <a:r>
              <a:rPr lang="en-GB" dirty="0"/>
              <a:t> </a:t>
            </a:r>
            <a:r>
              <a:rPr lang="en-GB" dirty="0" err="1"/>
              <a:t>koherentan</a:t>
            </a:r>
            <a:r>
              <a:rPr lang="en-GB" dirty="0"/>
              <a:t> plan </a:t>
            </a:r>
            <a:r>
              <a:rPr lang="en-GB" dirty="0" err="1"/>
              <a:t>izdanja</a:t>
            </a:r>
            <a:r>
              <a:rPr lang="en-GB" dirty="0"/>
              <a:t> (release plan)</a:t>
            </a:r>
            <a:endParaRPr lang="hr-HR" dirty="0"/>
          </a:p>
          <a:p>
            <a:pPr marL="514350" indent="-514350">
              <a:buFont typeface="+mj-lt"/>
              <a:buAutoNum type="arabicPeriod"/>
            </a:pPr>
            <a:r>
              <a:rPr lang="hr-HR" dirty="0"/>
              <a:t>Kako razumjeti</a:t>
            </a:r>
            <a:r>
              <a:rPr lang="en-GB" dirty="0"/>
              <a:t> </a:t>
            </a:r>
            <a:r>
              <a:rPr lang="en-GB" dirty="0" err="1"/>
              <a:t>treba</a:t>
            </a:r>
            <a:r>
              <a:rPr lang="en-GB" dirty="0"/>
              <a:t> li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kada</a:t>
            </a:r>
            <a:r>
              <a:rPr lang="en-GB" dirty="0"/>
              <a:t> </a:t>
            </a:r>
            <a:r>
              <a:rPr lang="en-GB" dirty="0" err="1"/>
              <a:t>dodati</a:t>
            </a:r>
            <a:r>
              <a:rPr lang="en-GB" dirty="0"/>
              <a:t> </a:t>
            </a:r>
            <a:r>
              <a:rPr lang="en-GB" dirty="0" err="1"/>
              <a:t>nove</a:t>
            </a:r>
            <a:r>
              <a:rPr lang="en-GB" dirty="0"/>
              <a:t> (</a:t>
            </a:r>
            <a:r>
              <a:rPr lang="en-GB" dirty="0" err="1"/>
              <a:t>emergentne</a:t>
            </a:r>
            <a:r>
              <a:rPr lang="en-GB" dirty="0"/>
              <a:t>) </a:t>
            </a:r>
            <a:r>
              <a:rPr lang="en-GB" dirty="0" err="1"/>
              <a:t>funkcionalnosti</a:t>
            </a:r>
            <a:r>
              <a:rPr lang="en-GB" dirty="0"/>
              <a:t> u backlog</a:t>
            </a:r>
          </a:p>
        </p:txBody>
      </p:sp>
    </p:spTree>
    <p:extLst>
      <p:ext uri="{BB962C8B-B14F-4D97-AF65-F5344CB8AC3E}">
        <p14:creationId xmlns:p14="http://schemas.microsoft.com/office/powerpoint/2010/main" val="3824702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27806-CB47-CF88-688B-3B9DFF6E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9C7E94-FB0B-9BD4-9A4A-C424066B51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Praktična radionica – uvođenje </a:t>
            </a:r>
            <a:r>
              <a:rPr lang="hr-HR" dirty="0" err="1"/>
              <a:t>Agilea</a:t>
            </a:r>
            <a:r>
              <a:rPr lang="hr-HR" dirty="0"/>
              <a:t>: izrada ploče i pisanje kartica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06185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2E6538-DDA4-D7C3-6D18-9EBE29A5A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Radionica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ED878B-BC9F-7C0D-AE82-4DE36FE56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600" b="1" u="sng" dirty="0" err="1"/>
              <a:t>Scenari</a:t>
            </a:r>
            <a:r>
              <a:rPr lang="hr-HR" sz="2600" b="1" u="sng" dirty="0"/>
              <a:t>j</a:t>
            </a:r>
            <a:endParaRPr lang="en-GB" sz="2600" b="1" u="sng" dirty="0"/>
          </a:p>
          <a:p>
            <a:pPr marL="0" indent="0">
              <a:buNone/>
            </a:pPr>
            <a:endParaRPr lang="en-GB" sz="2300" b="1" dirty="0"/>
          </a:p>
          <a:p>
            <a:pPr marL="0" indent="0">
              <a:buNone/>
            </a:pPr>
            <a:r>
              <a:rPr lang="hr-HR" sz="2400" b="1" dirty="0" err="1"/>
              <a:t>CraftEase</a:t>
            </a:r>
            <a:r>
              <a:rPr lang="hr-HR" sz="2400" dirty="0"/>
              <a:t> je web platforma za učenje posvećena DIY (Do </a:t>
            </a:r>
            <a:r>
              <a:rPr lang="hr-HR" sz="2400" dirty="0" err="1"/>
              <a:t>It</a:t>
            </a:r>
            <a:r>
              <a:rPr lang="hr-HR" sz="2400" dirty="0"/>
              <a:t> </a:t>
            </a:r>
            <a:r>
              <a:rPr lang="hr-HR" sz="2400" dirty="0" err="1"/>
              <a:t>Yourself</a:t>
            </a:r>
            <a:r>
              <a:rPr lang="hr-HR" sz="2400" dirty="0"/>
              <a:t>) projektima, osmišljena kako bi korisnicima pomogla naučiti praktične vještine kroz multimedijski sadržaj korak po korak.</a:t>
            </a:r>
          </a:p>
          <a:p>
            <a:pPr marL="0" indent="0">
              <a:buNone/>
            </a:pPr>
            <a:endParaRPr lang="hr-HR" sz="2400" dirty="0"/>
          </a:p>
          <a:p>
            <a:pPr marL="0" indent="0">
              <a:buNone/>
            </a:pPr>
            <a:r>
              <a:rPr lang="hr-HR" sz="2400" dirty="0"/>
              <a:t>Platformu naručuje maloprodajna tvrtka koja prodaje DIY i građevinske materijale (npr. Bauhaus, Brico ili slična trgovina električnim i građevinskim materijalom), s ciljem angažiranja kupaca, promocije proizvoda i pružanja edukativne vrijednosti.</a:t>
            </a:r>
          </a:p>
          <a:p>
            <a:pPr marL="0" indent="0">
              <a:buNone/>
            </a:pPr>
            <a:endParaRPr lang="hr-HR" sz="2400" dirty="0"/>
          </a:p>
          <a:p>
            <a:pPr marL="0" indent="0">
              <a:buNone/>
            </a:pPr>
            <a:r>
              <a:rPr lang="hr-HR" sz="2400" dirty="0"/>
              <a:t>Vi ste </a:t>
            </a:r>
            <a:r>
              <a:rPr lang="hr-HR" sz="2400" b="1" dirty="0"/>
              <a:t>voditelj projekta</a:t>
            </a:r>
            <a:r>
              <a:rPr lang="hr-HR" sz="2400" dirty="0"/>
              <a:t> u maloj IT tvrtki odgovornoj za isporuku platforme koristeći </a:t>
            </a:r>
            <a:r>
              <a:rPr lang="hr-HR" sz="2400" b="1" dirty="0" err="1"/>
              <a:t>Agile</a:t>
            </a:r>
            <a:r>
              <a:rPr lang="hr-HR" sz="2400" b="1" dirty="0"/>
              <a:t> pristup</a:t>
            </a:r>
            <a:r>
              <a:rPr lang="hr-H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0837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D150-5C89-919A-A6D5-E3B95F66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50066D-FDBA-68CA-13D9-23ADDCFF1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Radionica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DD9C82-47DB-1093-E306-5F88F49D1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r-HR" sz="3100" b="1" u="sng" dirty="0"/>
              <a:t>Projektna ograničenja</a:t>
            </a:r>
            <a:endParaRPr lang="en-GB" sz="3100" b="1" u="sng" dirty="0"/>
          </a:p>
          <a:p>
            <a:pPr marL="0" indent="0">
              <a:buNone/>
            </a:pPr>
            <a:endParaRPr lang="en-GB" sz="2700" b="1" dirty="0"/>
          </a:p>
          <a:p>
            <a:pPr marL="0" indent="0">
              <a:buNone/>
            </a:pPr>
            <a:r>
              <a:rPr lang="hr-HR" sz="2400" b="1" dirty="0"/>
              <a:t>Budžet:</a:t>
            </a:r>
            <a:r>
              <a:rPr lang="hr-HR" sz="2400" dirty="0"/>
              <a:t> 50.000 – 100.000 EUR</a:t>
            </a:r>
            <a:br>
              <a:rPr lang="hr-HR" sz="2400" dirty="0"/>
            </a:br>
            <a:r>
              <a:rPr lang="hr-HR" sz="2400" b="1" dirty="0"/>
              <a:t>Vremenski okvir:</a:t>
            </a:r>
            <a:r>
              <a:rPr lang="hr-HR" sz="2400" dirty="0"/>
              <a:t> 6 mjeseci</a:t>
            </a:r>
            <a:br>
              <a:rPr lang="hr-HR" sz="2400" dirty="0"/>
            </a:br>
            <a:r>
              <a:rPr lang="hr-HR" sz="2400" b="1" dirty="0"/>
              <a:t>Veličina tvrtke:</a:t>
            </a:r>
            <a:r>
              <a:rPr lang="hr-HR" sz="2400" dirty="0"/>
              <a:t> 20 zaposlenika</a:t>
            </a:r>
          </a:p>
          <a:p>
            <a:pPr marL="0" indent="0">
              <a:buNone/>
            </a:pPr>
            <a:endParaRPr lang="hr-HR" sz="2400" b="1" dirty="0"/>
          </a:p>
          <a:p>
            <a:pPr marL="0" indent="0">
              <a:buNone/>
            </a:pPr>
            <a:r>
              <a:rPr lang="hr-HR" sz="2400" b="1" dirty="0"/>
              <a:t>Dostupne uloge u tvrtki:</a:t>
            </a:r>
            <a:endParaRPr lang="hr-HR" sz="2400" dirty="0"/>
          </a:p>
          <a:p>
            <a:r>
              <a:rPr lang="hr-HR" sz="2400" dirty="0"/>
              <a:t>softverski developeri</a:t>
            </a:r>
          </a:p>
          <a:p>
            <a:r>
              <a:rPr lang="hr-HR" sz="2400" dirty="0"/>
              <a:t>UX/UI dizajneri</a:t>
            </a:r>
          </a:p>
          <a:p>
            <a:r>
              <a:rPr lang="hr-HR" sz="2400" dirty="0"/>
              <a:t>grafički dizajneri</a:t>
            </a:r>
          </a:p>
          <a:p>
            <a:r>
              <a:rPr lang="hr-HR" sz="2400" dirty="0"/>
              <a:t>odjel za financije i ugovore</a:t>
            </a:r>
          </a:p>
          <a:p>
            <a:pPr marL="0" indent="0">
              <a:buNone/>
            </a:pPr>
            <a:r>
              <a:rPr lang="hr-HR" sz="2400" b="1" dirty="0" err="1"/>
              <a:t>Agile</a:t>
            </a:r>
            <a:r>
              <a:rPr lang="hr-HR" sz="2400" b="1" dirty="0"/>
              <a:t> </a:t>
            </a:r>
            <a:r>
              <a:rPr lang="hr-HR" sz="2400" b="1" dirty="0" err="1"/>
              <a:t>delivery</a:t>
            </a:r>
            <a:r>
              <a:rPr lang="hr-HR" sz="2400" b="1" dirty="0"/>
              <a:t> tim:</a:t>
            </a:r>
            <a:br>
              <a:rPr lang="hr-HR" sz="2400" dirty="0"/>
            </a:br>
            <a:r>
              <a:rPr lang="hr-HR" sz="2400" dirty="0"/>
              <a:t>Maksimalno 5 osoba (vi odlučujete o sastavu).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6581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1B887-732B-ABBD-A4C6-0035FF912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AF3BD9-66F2-192A-0402-108F864F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Radionica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7B0962-910A-796C-09DD-5FCA0F39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r-HR" b="1" u="sng" dirty="0"/>
              <a:t>Zahtjevi klijenta</a:t>
            </a:r>
            <a:endParaRPr lang="en-GB" sz="2500" b="1" dirty="0"/>
          </a:p>
          <a:p>
            <a:pPr marL="0" indent="0">
              <a:buNone/>
            </a:pPr>
            <a:r>
              <a:rPr lang="hr-HR" sz="2400" dirty="0"/>
              <a:t>Klijent zahtijeva web platformu sa sljedećim funkcionalnostima:</a:t>
            </a:r>
          </a:p>
          <a:p>
            <a:r>
              <a:rPr lang="hr-HR" sz="2400" dirty="0"/>
              <a:t>prijava korisnika i upravljanje ulogama</a:t>
            </a:r>
          </a:p>
          <a:p>
            <a:r>
              <a:rPr lang="hr-HR" sz="2400" dirty="0"/>
              <a:t>pristup DIY edukativnom sadržaju (videozapisi, slike, upute)</a:t>
            </a:r>
          </a:p>
          <a:p>
            <a:r>
              <a:rPr lang="hr-HR" sz="2400" dirty="0"/>
              <a:t>mogućnost učitavanja i upravljanja multimedijskim sadržajem</a:t>
            </a:r>
          </a:p>
          <a:p>
            <a:r>
              <a:rPr lang="hr-HR" sz="2400" dirty="0"/>
              <a:t>opcija da korisnici označe sviđa mi se / ne sviđa mi se za DIY projekte</a:t>
            </a:r>
          </a:p>
          <a:p>
            <a:r>
              <a:rPr lang="hr-HR" sz="2400" dirty="0"/>
              <a:t>predaja zadataka (npr. korisnici učitavaju fotografije ili videozapise svog dovršenog DIY rada)</a:t>
            </a:r>
          </a:p>
          <a:p>
            <a:r>
              <a:rPr lang="hr-HR" sz="2400" dirty="0"/>
              <a:t>upravljanje ocjenama i povratnim informacijama</a:t>
            </a:r>
          </a:p>
          <a:p>
            <a:r>
              <a:rPr lang="hr-HR" sz="2400" dirty="0"/>
              <a:t>jednostavno, intuitivno i skalabilno korisničko iskustvo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786298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88F8-76F4-80A3-0DE5-FB1286D2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FD4F9D-AF55-3F1B-C3F1-D970F176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Radionica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FAEA23-6CAC-EC73-FCF0-0E38F5CCB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r-HR" sz="2600" b="1" u="sng" dirty="0"/>
              <a:t>Uloge na platformi</a:t>
            </a:r>
            <a:endParaRPr lang="en-GB" sz="2600" b="1" u="sng" dirty="0"/>
          </a:p>
          <a:p>
            <a:pPr marL="0" indent="0">
              <a:buNone/>
            </a:pPr>
            <a:endParaRPr lang="en-GB" sz="2300" dirty="0"/>
          </a:p>
          <a:p>
            <a:pPr marL="0" indent="0">
              <a:buNone/>
            </a:pPr>
            <a:r>
              <a:rPr lang="hr-HR" sz="2300" dirty="0"/>
              <a:t>Platforma podržava tri osnovne uloge korisnika</a:t>
            </a:r>
            <a:r>
              <a:rPr lang="en-GB" sz="2300" dirty="0"/>
              <a:t>:</a:t>
            </a:r>
          </a:p>
          <a:p>
            <a:pPr marL="0" indent="0">
              <a:buNone/>
            </a:pPr>
            <a:endParaRPr lang="en-GB" sz="2300" dirty="0"/>
          </a:p>
          <a:p>
            <a:pPr marL="0" indent="0">
              <a:buNone/>
            </a:pPr>
            <a:r>
              <a:rPr lang="en-GB" sz="2300" b="1" dirty="0"/>
              <a:t>1. </a:t>
            </a:r>
            <a:r>
              <a:rPr lang="hr-HR" sz="2300" b="1" dirty="0"/>
              <a:t>Korisnik platforme</a:t>
            </a:r>
            <a:endParaRPr lang="en-GB" sz="2300" dirty="0"/>
          </a:p>
          <a:p>
            <a:pPr marL="457200" lvl="1" indent="0">
              <a:buNone/>
            </a:pPr>
            <a:r>
              <a:rPr lang="hr-HR" sz="2300" dirty="0"/>
              <a:t>Gleda</a:t>
            </a:r>
            <a:r>
              <a:rPr lang="en-GB" sz="2300" dirty="0"/>
              <a:t> DIY </a:t>
            </a:r>
            <a:r>
              <a:rPr lang="en-GB" sz="2300" dirty="0" err="1"/>
              <a:t>tutori</a:t>
            </a:r>
            <a:r>
              <a:rPr lang="hr-HR" sz="2300" dirty="0"/>
              <a:t>jale</a:t>
            </a:r>
            <a:endParaRPr lang="en-GB" sz="2300" dirty="0"/>
          </a:p>
          <a:p>
            <a:pPr marL="457200" lvl="1" indent="0">
              <a:buNone/>
            </a:pPr>
            <a:r>
              <a:rPr lang="hr-HR" sz="2300" dirty="0"/>
              <a:t>Predaje zadatke</a:t>
            </a:r>
            <a:endParaRPr lang="en-GB" sz="2300" dirty="0"/>
          </a:p>
          <a:p>
            <a:pPr marL="457200" lvl="1" indent="0">
              <a:buNone/>
            </a:pPr>
            <a:r>
              <a:rPr lang="hr-HR" sz="2300" dirty="0"/>
              <a:t>Prima povratne informacije i ocjene</a:t>
            </a:r>
            <a:endParaRPr lang="en-GB" sz="2300" dirty="0"/>
          </a:p>
          <a:p>
            <a:pPr marL="457200" lvl="1" indent="0">
              <a:buNone/>
            </a:pPr>
            <a:r>
              <a:rPr lang="hr-HR" sz="2300" dirty="0"/>
              <a:t>Označava sviđaju li mu se ili ne projekti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2046976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1DFB5-53A9-207E-4436-83ACF390E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023A66-F513-DD6D-8EFE-B585A29E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Radionica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F86B3A-D7D1-7D16-31BE-57E04A880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300" b="1" dirty="0"/>
              <a:t>2. </a:t>
            </a:r>
            <a:r>
              <a:rPr lang="hr-HR" sz="2300" b="1" dirty="0"/>
              <a:t>Zaposlenik trgovine</a:t>
            </a:r>
            <a:endParaRPr lang="en-GB" sz="2300" dirty="0"/>
          </a:p>
          <a:p>
            <a:pPr marL="457200" lvl="1" indent="0">
              <a:buNone/>
            </a:pPr>
            <a:r>
              <a:rPr lang="hr-HR" sz="2300" dirty="0"/>
              <a:t>Kreira i učitava </a:t>
            </a:r>
            <a:r>
              <a:rPr lang="en-GB" sz="2300" dirty="0"/>
              <a:t>DIY video </a:t>
            </a:r>
            <a:r>
              <a:rPr lang="en-GB" sz="2300" dirty="0" err="1"/>
              <a:t>tutori</a:t>
            </a:r>
            <a:r>
              <a:rPr lang="hr-HR" sz="2300" dirty="0"/>
              <a:t>jale</a:t>
            </a:r>
            <a:endParaRPr lang="en-GB" sz="2300" dirty="0"/>
          </a:p>
          <a:p>
            <a:pPr marL="457200" lvl="1" indent="0">
              <a:buNone/>
            </a:pPr>
            <a:r>
              <a:rPr lang="hr-HR" sz="2300" dirty="0"/>
              <a:t>Upravlja edukativnim sadržajem</a:t>
            </a:r>
            <a:endParaRPr lang="en-GB" sz="2300" dirty="0"/>
          </a:p>
          <a:p>
            <a:pPr marL="457200" lvl="1" indent="0">
              <a:buNone/>
            </a:pPr>
            <a:r>
              <a:rPr lang="hr-HR" sz="2300" dirty="0"/>
              <a:t>Pregledava predane zadatke</a:t>
            </a:r>
            <a:endParaRPr lang="en-GB" sz="2300" dirty="0"/>
          </a:p>
          <a:p>
            <a:pPr marL="0" indent="0">
              <a:buNone/>
            </a:pPr>
            <a:endParaRPr lang="en-GB" sz="2300" b="1" dirty="0"/>
          </a:p>
          <a:p>
            <a:pPr marL="0" indent="0">
              <a:buNone/>
            </a:pPr>
            <a:r>
              <a:rPr lang="en-GB" sz="2300" b="1" dirty="0"/>
              <a:t>3. Administrator</a:t>
            </a:r>
            <a:endParaRPr lang="en-GB" sz="2300" dirty="0"/>
          </a:p>
          <a:p>
            <a:pPr marL="457200" lvl="1" indent="0">
              <a:buNone/>
            </a:pPr>
            <a:r>
              <a:rPr lang="en-GB" sz="2300" dirty="0" err="1"/>
              <a:t>Upravlja</a:t>
            </a:r>
            <a:r>
              <a:rPr lang="en-GB" sz="2300" dirty="0"/>
              <a:t> </a:t>
            </a:r>
            <a:r>
              <a:rPr lang="en-GB" sz="2300" dirty="0" err="1"/>
              <a:t>korisnicima</a:t>
            </a:r>
            <a:r>
              <a:rPr lang="en-GB" sz="2300" dirty="0"/>
              <a:t> </a:t>
            </a:r>
            <a:r>
              <a:rPr lang="en-GB" sz="2300" dirty="0" err="1"/>
              <a:t>i</a:t>
            </a:r>
            <a:r>
              <a:rPr lang="en-GB" sz="2300" dirty="0"/>
              <a:t> </a:t>
            </a:r>
            <a:r>
              <a:rPr lang="en-GB" sz="2300" dirty="0" err="1"/>
              <a:t>dozvolama</a:t>
            </a:r>
            <a:endParaRPr lang="hr-HR" sz="2300" dirty="0"/>
          </a:p>
          <a:p>
            <a:pPr marL="457200" lvl="1" indent="0">
              <a:buNone/>
            </a:pPr>
            <a:r>
              <a:rPr lang="en-GB" sz="2300" dirty="0" err="1"/>
              <a:t>Nadzire</a:t>
            </a:r>
            <a:r>
              <a:rPr lang="en-GB" sz="2300" dirty="0"/>
              <a:t> </a:t>
            </a:r>
            <a:r>
              <a:rPr lang="en-GB" sz="2300" dirty="0" err="1"/>
              <a:t>sadržaj</a:t>
            </a:r>
            <a:r>
              <a:rPr lang="en-GB" sz="2300" dirty="0"/>
              <a:t> </a:t>
            </a:r>
            <a:r>
              <a:rPr lang="en-GB" sz="2300" dirty="0" err="1"/>
              <a:t>platforme</a:t>
            </a:r>
            <a:endParaRPr lang="hr-HR" sz="2300" dirty="0"/>
          </a:p>
          <a:p>
            <a:pPr marL="457200" lvl="1" indent="0">
              <a:buNone/>
            </a:pPr>
            <a:r>
              <a:rPr lang="en-GB" sz="2300" dirty="0" err="1"/>
              <a:t>Osigurava</a:t>
            </a:r>
            <a:r>
              <a:rPr lang="en-GB" sz="2300" dirty="0"/>
              <a:t> </a:t>
            </a:r>
            <a:r>
              <a:rPr lang="en-GB" sz="2300" dirty="0" err="1"/>
              <a:t>konfiguraciju</a:t>
            </a:r>
            <a:r>
              <a:rPr lang="en-GB" sz="2300" dirty="0"/>
              <a:t> </a:t>
            </a:r>
            <a:r>
              <a:rPr lang="en-GB" sz="2300" dirty="0" err="1"/>
              <a:t>sustava</a:t>
            </a:r>
            <a:r>
              <a:rPr lang="en-GB" sz="2300" dirty="0"/>
              <a:t> </a:t>
            </a:r>
            <a:r>
              <a:rPr lang="en-GB" sz="2300" dirty="0" err="1"/>
              <a:t>i</a:t>
            </a:r>
            <a:r>
              <a:rPr lang="en-GB" sz="2300" dirty="0"/>
              <a:t> </a:t>
            </a:r>
            <a:r>
              <a:rPr lang="en-GB" sz="2300" dirty="0" err="1"/>
              <a:t>moderaciju</a:t>
            </a:r>
            <a:endParaRPr lang="hr-HR" sz="2300" dirty="0"/>
          </a:p>
          <a:p>
            <a:pPr marL="457200" lvl="1" indent="0">
              <a:buNone/>
            </a:pPr>
            <a:endParaRPr lang="en-GB" sz="2300" dirty="0"/>
          </a:p>
          <a:p>
            <a:pPr marL="0" indent="0">
              <a:buNone/>
            </a:pPr>
            <a:r>
              <a:rPr lang="it-IT" sz="2400" dirty="0"/>
              <a:t>Sada ste </a:t>
            </a:r>
            <a:r>
              <a:rPr lang="it-IT" sz="2400" dirty="0" err="1"/>
              <a:t>spremni</a:t>
            </a:r>
            <a:r>
              <a:rPr lang="it-IT" sz="2400" dirty="0"/>
              <a:t> </a:t>
            </a:r>
            <a:r>
              <a:rPr lang="it-IT" sz="2400" dirty="0" err="1"/>
              <a:t>postaviti</a:t>
            </a:r>
            <a:r>
              <a:rPr lang="it-IT" sz="2400" dirty="0"/>
              <a:t> </a:t>
            </a:r>
            <a:r>
              <a:rPr lang="it-IT" sz="2400" b="1" dirty="0"/>
              <a:t>Agile </a:t>
            </a:r>
            <a:r>
              <a:rPr lang="it-IT" sz="2400" b="1" dirty="0" err="1"/>
              <a:t>ploču</a:t>
            </a:r>
            <a:r>
              <a:rPr lang="it-IT" sz="2400" b="1" dirty="0"/>
              <a:t>!</a:t>
            </a: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7095801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8329C-50F2-4362-CE7F-EBDCAFA4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E1ED6E-38C8-3898-E32C-A02DC49A2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Radionica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572ECC-FFA5-A0DD-3085-557AF8E0C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425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hr-HR" sz="4200" b="1" u="sng" dirty="0"/>
              <a:t>Vježba</a:t>
            </a:r>
            <a:endParaRPr lang="en-GB" sz="4200" b="1" u="sng" dirty="0"/>
          </a:p>
          <a:p>
            <a:pPr marL="0" indent="0">
              <a:buNone/>
            </a:pPr>
            <a:endParaRPr lang="en-GB" b="1" dirty="0"/>
          </a:p>
          <a:p>
            <a:r>
              <a:rPr lang="hr-HR" sz="4000" dirty="0"/>
              <a:t>Na temelju scenarija </a:t>
            </a:r>
            <a:r>
              <a:rPr lang="hr-HR" sz="4000" b="1" dirty="0" err="1"/>
              <a:t>CraftEase</a:t>
            </a:r>
            <a:r>
              <a:rPr lang="hr-HR" sz="4000" dirty="0"/>
              <a:t>, radeći u malim grupama:</a:t>
            </a:r>
          </a:p>
          <a:p>
            <a:r>
              <a:rPr lang="hr-HR" sz="4000" dirty="0"/>
              <a:t>Definirajte </a:t>
            </a:r>
            <a:r>
              <a:rPr lang="hr-HR" sz="4000" b="1" dirty="0"/>
              <a:t>tijek rada</a:t>
            </a:r>
            <a:r>
              <a:rPr lang="hr-HR" sz="4000" dirty="0"/>
              <a:t> (npr. </a:t>
            </a:r>
            <a:r>
              <a:rPr lang="hr-HR" sz="4000" dirty="0" err="1"/>
              <a:t>Backlog</a:t>
            </a:r>
            <a:r>
              <a:rPr lang="hr-HR" sz="4000" dirty="0"/>
              <a:t> → To Do → </a:t>
            </a:r>
            <a:r>
              <a:rPr lang="hr-HR" sz="4000" dirty="0" err="1"/>
              <a:t>Doing</a:t>
            </a:r>
            <a:r>
              <a:rPr lang="hr-HR" sz="4000" dirty="0"/>
              <a:t> → </a:t>
            </a:r>
            <a:r>
              <a:rPr lang="hr-HR" sz="4000" dirty="0" err="1"/>
              <a:t>Review</a:t>
            </a:r>
            <a:r>
              <a:rPr lang="hr-HR" sz="4000" dirty="0"/>
              <a:t> → Done)</a:t>
            </a:r>
          </a:p>
          <a:p>
            <a:r>
              <a:rPr lang="hr-HR" sz="4000" dirty="0"/>
              <a:t>Identificirajte </a:t>
            </a:r>
            <a:r>
              <a:rPr lang="hr-HR" sz="4000" b="1" dirty="0" err="1"/>
              <a:t>Epice</a:t>
            </a:r>
            <a:r>
              <a:rPr lang="hr-HR" sz="4000" dirty="0"/>
              <a:t> za platformu</a:t>
            </a:r>
          </a:p>
          <a:p>
            <a:r>
              <a:rPr lang="hr-HR" sz="4000" dirty="0"/>
              <a:t>Napišite </a:t>
            </a:r>
            <a:r>
              <a:rPr lang="hr-HR" sz="4000" b="1" dirty="0" err="1"/>
              <a:t>User</a:t>
            </a:r>
            <a:r>
              <a:rPr lang="hr-HR" sz="4000" b="1" dirty="0"/>
              <a:t> </a:t>
            </a:r>
            <a:r>
              <a:rPr lang="hr-HR" sz="4000" b="1" dirty="0" err="1"/>
              <a:t>Storyje</a:t>
            </a:r>
            <a:r>
              <a:rPr lang="hr-HR" sz="4000" dirty="0"/>
              <a:t> koristeći format:</a:t>
            </a:r>
            <a:br>
              <a:rPr lang="hr-HR" sz="4000" dirty="0"/>
            </a:br>
            <a:r>
              <a:rPr lang="hr-HR" sz="4000" i="1" dirty="0"/>
              <a:t>Kao [uloga], želim [funkcionalnost] kako bih [korist].</a:t>
            </a:r>
            <a:endParaRPr lang="hr-HR" sz="4000" dirty="0"/>
          </a:p>
          <a:p>
            <a:r>
              <a:rPr lang="hr-HR" sz="4000" dirty="0"/>
              <a:t>Razlomite odabrane </a:t>
            </a:r>
            <a:r>
              <a:rPr lang="hr-HR" sz="4000" dirty="0" err="1"/>
              <a:t>storyje</a:t>
            </a:r>
            <a:r>
              <a:rPr lang="hr-HR" sz="4000" dirty="0"/>
              <a:t> na </a:t>
            </a:r>
            <a:r>
              <a:rPr lang="hr-HR" sz="4000" b="1" dirty="0"/>
              <a:t>zadatke (</a:t>
            </a:r>
            <a:r>
              <a:rPr lang="hr-HR" sz="4000" b="1" dirty="0" err="1"/>
              <a:t>Tasks</a:t>
            </a:r>
            <a:r>
              <a:rPr lang="hr-HR" sz="4000" b="1" dirty="0"/>
              <a:t>)</a:t>
            </a:r>
            <a:r>
              <a:rPr lang="hr-HR" sz="4000" dirty="0"/>
              <a:t>, pazeći na </a:t>
            </a:r>
            <a:r>
              <a:rPr lang="hr-HR" sz="4000" dirty="0" err="1"/>
              <a:t>granularnost</a:t>
            </a:r>
            <a:r>
              <a:rPr lang="hr-HR" sz="4000" dirty="0"/>
              <a:t> kartica</a:t>
            </a:r>
          </a:p>
          <a:p>
            <a:r>
              <a:rPr lang="hr-HR" sz="4000" dirty="0"/>
              <a:t>Dodijelite </a:t>
            </a:r>
            <a:r>
              <a:rPr lang="hr-HR" sz="4000" b="1" dirty="0"/>
              <a:t>prioritete</a:t>
            </a:r>
            <a:r>
              <a:rPr lang="hr-HR" sz="4000" dirty="0"/>
              <a:t> i </a:t>
            </a:r>
            <a:r>
              <a:rPr lang="hr-HR" sz="4000" b="1" dirty="0"/>
              <a:t>grube procjene</a:t>
            </a:r>
            <a:endParaRPr lang="hr-HR" sz="4000" dirty="0"/>
          </a:p>
          <a:p>
            <a:r>
              <a:rPr lang="hr-HR" sz="4000" dirty="0"/>
              <a:t>Raspravite kako </a:t>
            </a:r>
            <a:r>
              <a:rPr lang="hr-HR" sz="4000" b="1" dirty="0"/>
              <a:t>kapacitet tima</a:t>
            </a:r>
            <a:r>
              <a:rPr lang="hr-HR" sz="4000" dirty="0"/>
              <a:t> i </a:t>
            </a:r>
            <a:r>
              <a:rPr lang="hr-HR" sz="4000" b="1" dirty="0"/>
              <a:t>vremenska ograničenja</a:t>
            </a:r>
            <a:r>
              <a:rPr lang="hr-HR" sz="4000" dirty="0"/>
              <a:t> utječu na vaš </a:t>
            </a:r>
            <a:r>
              <a:rPr lang="hr-HR" sz="4000" dirty="0" err="1"/>
              <a:t>backlog</a:t>
            </a:r>
            <a:endParaRPr lang="hr-HR" sz="4000" dirty="0"/>
          </a:p>
          <a:p>
            <a:r>
              <a:rPr lang="hr-HR" sz="4000" b="1" dirty="0"/>
              <a:t>NAPOMENA:</a:t>
            </a:r>
            <a:r>
              <a:rPr lang="hr-HR" sz="4000" dirty="0"/>
              <a:t> ovo možete napraviti u </a:t>
            </a:r>
            <a:r>
              <a:rPr lang="hr-HR" sz="4000" b="1" dirty="0"/>
              <a:t>fizičkom obliku</a:t>
            </a:r>
            <a:r>
              <a:rPr lang="hr-HR" sz="4000" dirty="0"/>
              <a:t> (papir i markeri) ili u </a:t>
            </a:r>
            <a:r>
              <a:rPr lang="hr-HR" sz="4000" b="1" dirty="0"/>
              <a:t>digitalnom obliku</a:t>
            </a:r>
            <a:r>
              <a:rPr lang="hr-HR" sz="4000" dirty="0"/>
              <a:t> (preporučena opcija), koristeći </a:t>
            </a:r>
            <a:r>
              <a:rPr lang="hr-HR" sz="4000" b="1" dirty="0"/>
              <a:t>Miro ploču</a:t>
            </a:r>
            <a:r>
              <a:rPr lang="hr-HR" sz="4000" dirty="0"/>
              <a:t> koja se nalazi ovdje.</a:t>
            </a:r>
          </a:p>
          <a:p>
            <a:pPr marL="0" indent="0">
              <a:buNone/>
            </a:pPr>
            <a:r>
              <a:rPr lang="en-GB" sz="3700" b="1" dirty="0" err="1">
                <a:hlinkClick r:id="rId3"/>
              </a:rPr>
              <a:t>ovdje</a:t>
            </a:r>
            <a:r>
              <a:rPr lang="en-GB" sz="3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31845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031F6A-803C-516C-35DD-7CFD8AA53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DODATNA LITERATURA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4CC7E5-58BD-1C6A-4D61-62CA71DD9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500" u="sng" dirty="0"/>
              <a:t>ONLINE </a:t>
            </a:r>
            <a:r>
              <a:rPr lang="hr-HR" sz="2500" u="sng" dirty="0"/>
              <a:t>IZVORI</a:t>
            </a:r>
            <a:endParaRPr lang="en-GB" sz="2500" u="sng" dirty="0"/>
          </a:p>
          <a:p>
            <a:pPr marL="0" indent="0">
              <a:buNone/>
            </a:pPr>
            <a:endParaRPr lang="en-GB" sz="2500" b="1" dirty="0"/>
          </a:p>
          <a:p>
            <a:r>
              <a:rPr lang="en-GB" sz="2500" b="1" dirty="0"/>
              <a:t>Writing Good User Stories – </a:t>
            </a:r>
            <a:r>
              <a:rPr lang="hr-HR" sz="2400" dirty="0"/>
              <a:t>Praktične smjernice za pisanje učinkovitih </a:t>
            </a:r>
            <a:r>
              <a:rPr lang="hr-HR" sz="2400" dirty="0" err="1"/>
              <a:t>user</a:t>
            </a:r>
            <a:r>
              <a:rPr lang="hr-HR" sz="2400" dirty="0"/>
              <a:t> </a:t>
            </a:r>
            <a:r>
              <a:rPr lang="hr-HR" sz="2400" dirty="0" err="1"/>
              <a:t>storyja</a:t>
            </a:r>
            <a:r>
              <a:rPr lang="hr-HR" sz="2400" dirty="0"/>
              <a:t> i razlaganje rada</a:t>
            </a:r>
            <a:r>
              <a:rPr lang="en-GB" sz="2500" dirty="0"/>
              <a:t>.</a:t>
            </a:r>
            <a:br>
              <a:rPr lang="en-GB" sz="2500" dirty="0"/>
            </a:br>
            <a:r>
              <a:rPr lang="en-GB" sz="2500" dirty="0">
                <a:hlinkClick r:id="rId2"/>
              </a:rPr>
              <a:t>https://www.mountaingoatsoftware.com/agile/user-stories</a:t>
            </a:r>
            <a:endParaRPr lang="en-GB" sz="2500" dirty="0"/>
          </a:p>
          <a:p>
            <a:r>
              <a:rPr lang="en-GB" sz="2500" b="1" dirty="0"/>
              <a:t>Kanban Boards Explained – </a:t>
            </a:r>
            <a:r>
              <a:rPr lang="hr-HR" sz="2400" dirty="0"/>
              <a:t>Kako ploče funkcioniraju, stupci, WIP ograničenja i vizualizacija tijeka rada.</a:t>
            </a:r>
            <a:br>
              <a:rPr lang="en-GB" sz="2500" dirty="0"/>
            </a:br>
            <a:r>
              <a:rPr lang="en-GB" sz="2500" dirty="0">
                <a:hlinkClick r:id="rId3"/>
              </a:rPr>
              <a:t>https://www.atlassian.com/agile/kanban/boards</a:t>
            </a:r>
            <a:endParaRPr lang="en-GB" sz="2500" dirty="0"/>
          </a:p>
          <a:p>
            <a:r>
              <a:rPr lang="en-GB" sz="2500" b="1" dirty="0"/>
              <a:t>The Official Kandan Guide – </a:t>
            </a:r>
            <a:r>
              <a:rPr lang="hr-HR" sz="2400" dirty="0"/>
              <a:t>Praktični </a:t>
            </a:r>
            <a:r>
              <a:rPr lang="hr-HR" sz="2400" dirty="0" err="1"/>
              <a:t>Kanban</a:t>
            </a:r>
            <a:r>
              <a:rPr lang="hr-HR" sz="2400" dirty="0"/>
              <a:t> principi, uključujući kapacitet, tijek rada, ploče i ograničavanje rada u tijeku (WIP). </a:t>
            </a:r>
            <a:r>
              <a:rPr lang="en-GB" sz="2500" dirty="0">
                <a:hlinkClick r:id="rId4"/>
              </a:rPr>
              <a:t>https://resources.kanban.university/wp-content/uploads/2021/06/The-Official-Kanban-Guide_A4.pdf</a:t>
            </a:r>
            <a:r>
              <a:rPr lang="en-GB" sz="2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78834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6765-93C1-F873-D341-1FDB96E3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6E497E-69E6-0A60-150C-080D7554B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DODATNI IZVORI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21AA51-EC06-9840-4E82-2A95C670B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sz="2500" u="sng" dirty="0"/>
              <a:t>KNJIGE</a:t>
            </a:r>
            <a:endParaRPr lang="it-IT" sz="2500" u="sng" dirty="0"/>
          </a:p>
          <a:p>
            <a:pPr marL="0" indent="0">
              <a:buNone/>
            </a:pPr>
            <a:endParaRPr lang="it-IT" sz="2500" u="sng" dirty="0"/>
          </a:p>
          <a:p>
            <a:r>
              <a:rPr lang="en-GB" sz="2500" b="1" i="1" dirty="0"/>
              <a:t>“User Stories Applied</a:t>
            </a:r>
            <a:r>
              <a:rPr lang="en-GB" sz="2500" b="1" dirty="0"/>
              <a:t> “ - Mike Cohn</a:t>
            </a:r>
            <a:br>
              <a:rPr lang="en-GB" sz="2500" dirty="0"/>
            </a:br>
            <a:r>
              <a:rPr lang="hr-HR" sz="2400" dirty="0"/>
              <a:t>Praktični vodič za pisanje, razdvajanje i upravljanje </a:t>
            </a:r>
            <a:r>
              <a:rPr lang="hr-HR" sz="2400" dirty="0" err="1"/>
              <a:t>user</a:t>
            </a:r>
            <a:r>
              <a:rPr lang="hr-HR" sz="2400" dirty="0"/>
              <a:t> </a:t>
            </a:r>
            <a:r>
              <a:rPr lang="hr-HR" sz="2400" dirty="0" err="1"/>
              <a:t>storyjima</a:t>
            </a:r>
            <a:r>
              <a:rPr lang="hr-HR" sz="2400" dirty="0"/>
              <a:t>.</a:t>
            </a:r>
          </a:p>
          <a:p>
            <a:r>
              <a:rPr lang="en-GB" sz="2500" b="1" i="1" dirty="0"/>
              <a:t>“Kanban”</a:t>
            </a:r>
            <a:r>
              <a:rPr lang="en-GB" sz="2500" b="1" dirty="0"/>
              <a:t> - David J. Anderson</a:t>
            </a:r>
            <a:br>
              <a:rPr lang="en-GB" sz="2500" dirty="0"/>
            </a:br>
            <a:r>
              <a:rPr lang="hr-HR" sz="2400" dirty="0"/>
              <a:t>Temeljno razumijevanje </a:t>
            </a:r>
            <a:r>
              <a:rPr lang="hr-HR" sz="2400" dirty="0" err="1"/>
              <a:t>Kanban</a:t>
            </a:r>
            <a:r>
              <a:rPr lang="hr-HR" sz="2400" dirty="0"/>
              <a:t> prakse, tijeka rada, kapaciteta, WIP ograničenja i ploča.</a:t>
            </a:r>
          </a:p>
          <a:p>
            <a:r>
              <a:rPr lang="en-GB" sz="2500" b="1" i="1" dirty="0"/>
              <a:t>“The Professional Product Owner” -</a:t>
            </a:r>
            <a:r>
              <a:rPr lang="en-GB" sz="2500" b="1" dirty="0"/>
              <a:t> Don </a:t>
            </a:r>
            <a:r>
              <a:rPr lang="en-GB" sz="2500" b="1" dirty="0" err="1"/>
              <a:t>McGeal</a:t>
            </a:r>
            <a:r>
              <a:rPr lang="en-GB" sz="2500" b="1" dirty="0"/>
              <a:t> &amp; Ralph </a:t>
            </a:r>
            <a:r>
              <a:rPr lang="en-GB" sz="2500" b="1" dirty="0" err="1"/>
              <a:t>Jockam</a:t>
            </a:r>
            <a:br>
              <a:rPr lang="en-GB" sz="2500" dirty="0"/>
            </a:br>
            <a:r>
              <a:rPr lang="hr-HR" sz="2400" dirty="0"/>
              <a:t>Odlično ako želite dublji uvid u vrijednost </a:t>
            </a:r>
            <a:r>
              <a:rPr lang="hr-HR" sz="2400" dirty="0" err="1"/>
              <a:t>backloga</a:t>
            </a:r>
            <a:r>
              <a:rPr lang="hr-HR" sz="2400" dirty="0"/>
              <a:t>, određivanje prioriteta i ishode.</a:t>
            </a:r>
            <a:endParaRPr lang="it-IT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7458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4D8AB8-E40C-6ED1-99B9-12F11494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IZVORI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B8C092-60EA-44F1-7B8C-D7D31E608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369" y="2412125"/>
            <a:ext cx="9794811" cy="3988675"/>
          </a:xfrm>
        </p:spPr>
        <p:txBody>
          <a:bodyPr>
            <a:normAutofit lnSpcReduction="10000"/>
          </a:bodyPr>
          <a:lstStyle/>
          <a:p>
            <a:r>
              <a:rPr lang="en-GB" sz="2600" i="1" dirty="0"/>
              <a:t>“Campus Agile Project Management” </a:t>
            </a:r>
            <a:r>
              <a:rPr lang="en-GB" sz="2600" dirty="0"/>
              <a:t>course</a:t>
            </a:r>
            <a:r>
              <a:rPr lang="en-GB" sz="2600" i="1" dirty="0"/>
              <a:t> </a:t>
            </a:r>
            <a:r>
              <a:rPr lang="en-GB" sz="2600" dirty="0"/>
              <a:t>– Fraticelli F., Ferranti P.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i="1" dirty="0"/>
              <a:t>Scrum Guide (Product Backlog / Sprint Backlog) </a:t>
            </a:r>
            <a:r>
              <a:rPr lang="en-US" altLang="en-US" sz="2600" dirty="0"/>
              <a:t>- </a:t>
            </a:r>
            <a:r>
              <a:rPr lang="en-US" altLang="en-US" sz="2600" dirty="0">
                <a:hlinkClick r:id="rId2"/>
              </a:rPr>
              <a:t>https://scrumguides.org/scrum-guide.html</a:t>
            </a:r>
            <a:endParaRPr lang="en-US" altLang="en-US" sz="26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i="1" dirty="0"/>
              <a:t>User Story Template </a:t>
            </a:r>
            <a:r>
              <a:rPr lang="en-US" altLang="en-US" sz="2600" dirty="0"/>
              <a:t>- </a:t>
            </a:r>
            <a:r>
              <a:rPr lang="en-US" altLang="en-US" sz="2600" dirty="0">
                <a:hlinkClick r:id="rId3"/>
              </a:rPr>
              <a:t>https://www.agilealliance.org/glossary/user-story/</a:t>
            </a:r>
            <a:r>
              <a:rPr lang="en-US" altLang="en-US" sz="2600" dirty="0"/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i="1" dirty="0"/>
              <a:t>Mountain Goat Software: User Stories -</a:t>
            </a:r>
            <a:r>
              <a:rPr lang="en-US" altLang="en-US" sz="2600" dirty="0"/>
              <a:t> </a:t>
            </a:r>
            <a:r>
              <a:rPr lang="en-US" altLang="en-US" sz="2600" dirty="0">
                <a:hlinkClick r:id="rId4"/>
              </a:rPr>
              <a:t>https://www.mountaingoatsoftware.com/agile/user-stories</a:t>
            </a:r>
            <a:endParaRPr lang="en-US" altLang="en-US" sz="26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2600" i="1" dirty="0"/>
              <a:t>Epics, Features and User Stories </a:t>
            </a:r>
            <a:r>
              <a:rPr lang="en-US" altLang="en-US" sz="2600" i="1" dirty="0"/>
              <a:t>-</a:t>
            </a:r>
            <a:r>
              <a:rPr lang="en-US" altLang="en-US" sz="2600" dirty="0"/>
              <a:t> </a:t>
            </a:r>
            <a:r>
              <a:rPr lang="en-US" altLang="en-US" sz="2600" dirty="0">
                <a:hlinkClick r:id="rId5"/>
              </a:rPr>
              <a:t>https://www.mountaingoatsoftware.com/blog/stories-epics-and-themes</a:t>
            </a:r>
            <a:r>
              <a:rPr lang="en-US" altLang="en-US" sz="2600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535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C676E-0068-B108-051A-81F3FD1E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7E05F6-0B58-91C1-F341-AE7115E8A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RESOURCES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16A176-3B2D-AE55-6798-B9FFDC275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4123"/>
            <a:ext cx="10022633" cy="435133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i="1" dirty="0"/>
              <a:t>Story Points &amp; Estimation </a:t>
            </a:r>
            <a:r>
              <a:rPr lang="en-US" altLang="en-US" sz="2600" dirty="0"/>
              <a:t>-  </a:t>
            </a:r>
            <a:r>
              <a:rPr lang="en-US" altLang="en-US" sz="2600" dirty="0">
                <a:hlinkClick r:id="rId2"/>
              </a:rPr>
              <a:t>https://www.atlassian.com/agile/project-management/estimation</a:t>
            </a:r>
            <a:r>
              <a:rPr lang="en-US" altLang="en-US" sz="2600" dirty="0"/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i="1" dirty="0"/>
              <a:t>Kanban Boards </a:t>
            </a:r>
            <a:r>
              <a:rPr lang="en-US" altLang="en-US" sz="2600" dirty="0"/>
              <a:t>- </a:t>
            </a:r>
            <a:r>
              <a:rPr lang="en-US" altLang="en-US" sz="2600" dirty="0">
                <a:hlinkClick r:id="rId3"/>
              </a:rPr>
              <a:t>https://www.atlassian.com/agile/kanban/boards</a:t>
            </a:r>
            <a:endParaRPr lang="en-US" altLang="en-US" sz="26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600" i="1" dirty="0" err="1"/>
              <a:t>MoSCoW</a:t>
            </a:r>
            <a:r>
              <a:rPr lang="en-US" altLang="en-US" sz="2600" i="1" dirty="0"/>
              <a:t> Prioritization (Agile Business Consortium) </a:t>
            </a:r>
            <a:r>
              <a:rPr lang="en-US" altLang="en-US" sz="2600" dirty="0"/>
              <a:t>- </a:t>
            </a:r>
            <a:r>
              <a:rPr lang="en-US" altLang="en-US" sz="2600" dirty="0">
                <a:hlinkClick r:id="rId4"/>
              </a:rPr>
              <a:t>https://www.agilebusiness.org/dsdm-project-framework/moscow-prioritisation.html</a:t>
            </a:r>
            <a:r>
              <a:rPr lang="en-US" altLang="en-US" sz="2600" dirty="0"/>
              <a:t> 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16717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5098</Words>
  <Application>Microsoft Macintosh PowerPoint</Application>
  <PresentationFormat>Widescreen</PresentationFormat>
  <Paragraphs>518</Paragraphs>
  <Slides>49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60" baseType="lpstr">
      <vt:lpstr>Arial</vt:lpstr>
      <vt:lpstr>Arial MT</vt:lpstr>
      <vt:lpstr>Bahnschrift</vt:lpstr>
      <vt:lpstr>Bahnschrift SemiBold</vt:lpstr>
      <vt:lpstr>Bahnschrift SemiLight</vt:lpstr>
      <vt:lpstr>Calibri</vt:lpstr>
      <vt:lpstr>Calibri Light</vt:lpstr>
      <vt:lpstr>Montserrat</vt:lpstr>
      <vt:lpstr>Times New Roman</vt:lpstr>
      <vt:lpstr>Trebuchet MS</vt:lpstr>
      <vt:lpstr>Tema sustava Office</vt:lpstr>
      <vt:lpstr>SHIFT4IT</vt:lpstr>
      <vt:lpstr>Planiranje aktivnosti uzimajući u obzir proizvodni kapacitet tima: izrada backloga</vt:lpstr>
      <vt:lpstr>Sažetak</vt:lpstr>
      <vt:lpstr>Uvod</vt:lpstr>
      <vt:lpstr>Uvod</vt:lpstr>
      <vt:lpstr>Uvod</vt:lpstr>
      <vt:lpstr>Kako izraditi backlog</vt:lpstr>
      <vt:lpstr>Što je backlog?</vt:lpstr>
      <vt:lpstr>Sastavnice jedne stavke backloga</vt:lpstr>
      <vt:lpstr>Kako izraditi backlog</vt:lpstr>
      <vt:lpstr>Kako izraditi backlog</vt:lpstr>
      <vt:lpstr>Kako izraditi backlog</vt:lpstr>
      <vt:lpstr>Kako izraditi backlog – najčešće pogreške</vt:lpstr>
      <vt:lpstr>Grupna vježba – Izradite mini product backlog</vt:lpstr>
      <vt:lpstr>Grupna vježba – Izradite mini product backlog</vt:lpstr>
      <vt:lpstr>Kako izraditi backlog</vt:lpstr>
      <vt:lpstr>Kako upravljati granularnošću kartica</vt:lpstr>
      <vt:lpstr>WBS vs RBS</vt:lpstr>
      <vt:lpstr>WBS vs RBS</vt:lpstr>
      <vt:lpstr>Funkcionalnost vs Epic</vt:lpstr>
      <vt:lpstr>Epic vs Korisnička priča (User Story)</vt:lpstr>
      <vt:lpstr>Tri razloga zašto koristiti RBS</vt:lpstr>
      <vt:lpstr>Moskovska metoda (Moscow Method)</vt:lpstr>
      <vt:lpstr>Kako izraditi backlog - savjeti</vt:lpstr>
      <vt:lpstr>Razlikovanje kartica</vt:lpstr>
      <vt:lpstr>Epic karte (Screenful)</vt:lpstr>
      <vt:lpstr>Kako upravljati planiranjem kapaciteta</vt:lpstr>
      <vt:lpstr>Upravljanje planiranjem kapaciteta</vt:lpstr>
      <vt:lpstr>Upravljanje planiranjem kapaciteta</vt:lpstr>
      <vt:lpstr>Davanje težine ishodima</vt:lpstr>
      <vt:lpstr>Definiranje plana izdanja (release plan)</vt:lpstr>
      <vt:lpstr>Definiranje plana izdanja</vt:lpstr>
      <vt:lpstr>Definiranje plana izdanja</vt:lpstr>
      <vt:lpstr>Definiranje plana izdanja</vt:lpstr>
      <vt:lpstr>Faktor fokusa - Focus Factor (FF)</vt:lpstr>
      <vt:lpstr>Faktor fokusa - Focus Factor (FF)</vt:lpstr>
      <vt:lpstr>Vježba</vt:lpstr>
      <vt:lpstr>Što smo naučili?</vt:lpstr>
      <vt:lpstr>Praktična radionica – uvođenje Agilea: izrada ploče i pisanje kartica</vt:lpstr>
      <vt:lpstr>Radionica</vt:lpstr>
      <vt:lpstr>Radionica</vt:lpstr>
      <vt:lpstr>Radionica</vt:lpstr>
      <vt:lpstr>Radionica</vt:lpstr>
      <vt:lpstr>Radionica</vt:lpstr>
      <vt:lpstr>Radionica</vt:lpstr>
      <vt:lpstr>DODATNA LITERATURA</vt:lpstr>
      <vt:lpstr>DODATNI IZVORI</vt:lpstr>
      <vt:lpstr>IZVORI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prezentacija</dc:title>
  <dc:creator>Božica Bajčić</dc:creator>
  <cp:lastModifiedBy>Dino Duvnjak</cp:lastModifiedBy>
  <cp:revision>102</cp:revision>
  <dcterms:created xsi:type="dcterms:W3CDTF">2024-02-12T13:35:47Z</dcterms:created>
  <dcterms:modified xsi:type="dcterms:W3CDTF">2026-04-01T09:48:52Z</dcterms:modified>
</cp:coreProperties>
</file>
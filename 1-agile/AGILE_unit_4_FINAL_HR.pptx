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8"/>
  </p:notesMasterIdLst>
  <p:sldIdLst>
    <p:sldId id="340" r:id="rId2"/>
    <p:sldId id="256" r:id="rId3"/>
    <p:sldId id="257" r:id="rId4"/>
    <p:sldId id="327" r:id="rId5"/>
    <p:sldId id="330" r:id="rId6"/>
    <p:sldId id="329" r:id="rId7"/>
    <p:sldId id="258" r:id="rId8"/>
    <p:sldId id="261" r:id="rId9"/>
    <p:sldId id="264" r:id="rId10"/>
    <p:sldId id="266" r:id="rId11"/>
    <p:sldId id="267" r:id="rId12"/>
    <p:sldId id="278" r:id="rId13"/>
    <p:sldId id="279" r:id="rId14"/>
    <p:sldId id="280" r:id="rId15"/>
    <p:sldId id="281" r:id="rId16"/>
    <p:sldId id="282" r:id="rId17"/>
    <p:sldId id="339" r:id="rId18"/>
    <p:sldId id="285" r:id="rId19"/>
    <p:sldId id="286" r:id="rId20"/>
    <p:sldId id="287" r:id="rId21"/>
    <p:sldId id="259" r:id="rId22"/>
    <p:sldId id="288" r:id="rId23"/>
    <p:sldId id="289" r:id="rId24"/>
    <p:sldId id="290" r:id="rId25"/>
    <p:sldId id="291" r:id="rId26"/>
    <p:sldId id="292" r:id="rId27"/>
    <p:sldId id="293" r:id="rId28"/>
    <p:sldId id="294" r:id="rId29"/>
    <p:sldId id="295" r:id="rId30"/>
    <p:sldId id="260" r:id="rId31"/>
    <p:sldId id="296" r:id="rId32"/>
    <p:sldId id="298" r:id="rId33"/>
    <p:sldId id="302" r:id="rId34"/>
    <p:sldId id="303" r:id="rId35"/>
    <p:sldId id="304" r:id="rId36"/>
    <p:sldId id="305" r:id="rId37"/>
    <p:sldId id="306" r:id="rId38"/>
    <p:sldId id="309" r:id="rId39"/>
    <p:sldId id="310" r:id="rId40"/>
    <p:sldId id="311" r:id="rId41"/>
    <p:sldId id="312" r:id="rId42"/>
    <p:sldId id="313" r:id="rId43"/>
    <p:sldId id="316" r:id="rId44"/>
    <p:sldId id="317" r:id="rId45"/>
    <p:sldId id="318" r:id="rId46"/>
    <p:sldId id="319" r:id="rId47"/>
    <p:sldId id="320" r:id="rId48"/>
    <p:sldId id="322" r:id="rId49"/>
    <p:sldId id="324" r:id="rId50"/>
    <p:sldId id="325" r:id="rId51"/>
    <p:sldId id="326" r:id="rId52"/>
    <p:sldId id="331" r:id="rId53"/>
    <p:sldId id="333" r:id="rId54"/>
    <p:sldId id="334" r:id="rId55"/>
    <p:sldId id="335" r:id="rId56"/>
    <p:sldId id="338" r:id="rId57"/>
  </p:sldIdLst>
  <p:sldSz cx="12192000" cy="6858000"/>
  <p:notesSz cx="6858000" cy="9144000"/>
  <p:defaultTextStyle>
    <a:defPPr>
      <a:defRPr lang="sr-Latn-R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C56F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3276" autoAdjust="0"/>
  </p:normalViewPr>
  <p:slideViewPr>
    <p:cSldViewPr snapToGrid="0">
      <p:cViewPr varScale="1">
        <p:scale>
          <a:sx n="75" d="100"/>
          <a:sy n="75" d="100"/>
        </p:scale>
        <p:origin x="792" y="4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C279437-FEB8-43EE-BF89-18AB5DF26EC5}" type="datetimeFigureOut">
              <a:rPr lang="en-GB" smtClean="0"/>
              <a:t>22/04/2026</a:t>
            </a:fld>
            <a:endParaRPr lang="en-GB"/>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GB"/>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93233AA-5D9D-4B19-AE31-9919BB97DFE7}" type="slidenum">
              <a:rPr lang="en-GB" smtClean="0"/>
              <a:t>‹#›</a:t>
            </a:fld>
            <a:endParaRPr lang="en-GB"/>
          </a:p>
        </p:txBody>
      </p:sp>
    </p:spTree>
    <p:extLst>
      <p:ext uri="{BB962C8B-B14F-4D97-AF65-F5344CB8AC3E}">
        <p14:creationId xmlns:p14="http://schemas.microsoft.com/office/powerpoint/2010/main" val="5238832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www.atlassian.com/agile/project-management/metrics" TargetMode="External"/><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www.izenbridge.com/blog/velocity-in-agile-scrum/" TargetMode="External"/><Relationship Id="rId2" Type="http://schemas.openxmlformats.org/officeDocument/2006/relationships/slide" Target="../slides/slide8.xml"/><Relationship Id="rId1" Type="http://schemas.openxmlformats.org/officeDocument/2006/relationships/notesMaster" Target="../notesMasters/notesMaster1.xml"/><Relationship Id="rId4" Type="http://schemas.openxmlformats.org/officeDocument/2006/relationships/hyperlink" Target="https://www.atlassian.com/agile/project-management/velocity-scrum" TargetMode="Externa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axify.io/blog/velocity-chart" TargetMode="External"/><Relationship Id="rId2" Type="http://schemas.openxmlformats.org/officeDocument/2006/relationships/slide" Target="../slides/slide9.xml"/><Relationship Id="rId1" Type="http://schemas.openxmlformats.org/officeDocument/2006/relationships/notesMaster" Target="../notesMasters/notesMaster1.xml"/><Relationship Id="rId4" Type="http://schemas.openxmlformats.org/officeDocument/2006/relationships/hyperlink" Target="https://nextagile.ai/blogs/agile/velocity-chart-in-agile/" TargetMode="Externa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www.projectmanager.com/blog/burndown-chart-what-is-it" TargetMode="External"/><Relationship Id="rId2" Type="http://schemas.openxmlformats.org/officeDocument/2006/relationships/slide" Target="../slides/slide11.xml"/><Relationship Id="rId1" Type="http://schemas.openxmlformats.org/officeDocument/2006/relationships/notesMaster" Target="../notesMasters/notesMaster1.xml"/><Relationship Id="rId4" Type="http://schemas.openxmlformats.org/officeDocument/2006/relationships/hyperlink" Target="https://www.zenhub.com/blog-posts/tracking-sprint-progress-with-scrum-burndown-charts" TargetMode="Externa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www.projectmanagement.com/blog-post/40731/burndown-vs-burnup-chart" TargetMode="External"/><Relationship Id="rId2" Type="http://schemas.openxmlformats.org/officeDocument/2006/relationships/slide" Target="../slides/slide12.xml"/><Relationship Id="rId1" Type="http://schemas.openxmlformats.org/officeDocument/2006/relationships/notesMaster" Target="../notesMasters/notesMaster1.xml"/><Relationship Id="rId4" Type="http://schemas.openxmlformats.org/officeDocument/2006/relationships/hyperlink" Target="https://clickup.com/blog/burnup-chart-vs-burndown-chart/?utm_source=google&amp;utm_medium=cpc&amp;utm_campaign=gs_cpc_emea-eea_nnc_nb_trial_all-devices_troas_lp_x_all-departments_x_project-management-agile_v2&amp;utm_content=all-countries_kw-target_text_x_all-features_all-use-cases_agile-software-development&amp;utm_term=agile%20development&amp;utm_creative=757775424637_product1_rsa&amp;utm_custom1=&amp;utm_custom2=&amp;utm_lptheme=&amp;utm_lpmod=&amp;utm_mt=p&amp;gad_source=1&amp;gad_campaignid=22660917507&amp;gbraid=0AAAAACR5vILcJmFtajy_tDrQkdY-jnze3&amp;gclid=Cj0KCQiA49XMBhDRARIsAOOKJHYf8efy6kK5kRGrewpvG4A-izeihBH4XfAiEUSpllUWrPGbdXhqnXgaAusREALw_wcB" TargetMode="Externa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s://www.excella.com/insights/burndown-chart-vs-cumulative-flow-diagram-cfd" TargetMode="External"/><Relationship Id="rId2" Type="http://schemas.openxmlformats.org/officeDocument/2006/relationships/slide" Target="../slides/slide13.xml"/><Relationship Id="rId1" Type="http://schemas.openxmlformats.org/officeDocument/2006/relationships/notesMaster" Target="../notesMasters/notesMaster1.xml"/><Relationship Id="rId4" Type="http://schemas.openxmlformats.org/officeDocument/2006/relationships/hyperlink" Target="https://kanbantool.com/cumulative-flow-diagram" TargetMode="Externa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s://www.youtube.com/watch?v=t8zUD6UrzXU" TargetMode="External"/><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s://linearb.io/blog/release-burndown-chart" TargetMode="External"/><Relationship Id="rId2" Type="http://schemas.openxmlformats.org/officeDocument/2006/relationships/slide" Target="../slides/slide16.xml"/><Relationship Id="rId1" Type="http://schemas.openxmlformats.org/officeDocument/2006/relationships/notesMaster" Target="../notesMasters/notesMaster1.xml"/><Relationship Id="rId4" Type="http://schemas.openxmlformats.org/officeDocument/2006/relationships/hyperlink" Target="https://appfire.com/resources/blog/why-epic-burndowns-are-important" TargetMode="External"/></Relationships>
</file>

<file path=ppt/notesSlides/_rels/notesSlide16.xml.rels><?xml version="1.0" encoding="UTF-8" standalone="yes"?>
<Relationships xmlns="http://schemas.openxmlformats.org/package/2006/relationships"><Relationship Id="rId3" Type="http://schemas.openxmlformats.org/officeDocument/2006/relationships/hyperlink" Target="https://www.ube.ac.uk/whats-happening/articles/scope-creep/" TargetMode="External"/><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3" Type="http://schemas.openxmlformats.org/officeDocument/2006/relationships/hyperlink" Target="https://leanagiletools.com/control-chart/" TargetMode="External"/><Relationship Id="rId2" Type="http://schemas.openxmlformats.org/officeDocument/2006/relationships/slide" Target="../slides/slide18.xml"/><Relationship Id="rId1" Type="http://schemas.openxmlformats.org/officeDocument/2006/relationships/notesMaster" Target="../notesMasters/notesMaster1.xml"/><Relationship Id="rId4" Type="http://schemas.openxmlformats.org/officeDocument/2006/relationships/hyperlink" Target="https://medium.com/design-bootcamp/agile-lesson-17-control-charts-what-they-are-and-how-to-spot-the-trouble-early-402d649abd35" TargetMode="External"/></Relationships>
</file>

<file path=ppt/notesSlides/_rels/notesSlide18.xml.rels><?xml version="1.0" encoding="UTF-8" standalone="yes"?>
<Relationships xmlns="http://schemas.openxmlformats.org/package/2006/relationships"><Relationship Id="rId3" Type="http://schemas.openxmlformats.org/officeDocument/2006/relationships/hyperlink" Target="https://axify.io/blog/agile-metrics" TargetMode="External"/><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3" Type="http://schemas.openxmlformats.org/officeDocument/2006/relationships/hyperlink" Target="https://www.scrum.org/resources/blog/why-agile-transformations-sometimes-fail" TargetMode="External"/><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3" Type="http://schemas.openxmlformats.org/officeDocument/2006/relationships/hyperlink" Target="https://www.inflectra.com/Ideas/Whitepaper/Agile-Transformation-Failure-Due-To-Management-Debt.aspx" TargetMode="External"/><Relationship Id="rId2" Type="http://schemas.openxmlformats.org/officeDocument/2006/relationships/slide" Target="../slides/slide23.xml"/><Relationship Id="rId1" Type="http://schemas.openxmlformats.org/officeDocument/2006/relationships/notesMaster" Target="../notesMasters/notesMaster1.xml"/><Relationship Id="rId6" Type="http://schemas.openxmlformats.org/officeDocument/2006/relationships/hyperlink" Target="https://docs.broadcom.com/doc/recognizing-the-twelve-failure-modes-in-agile-transformation" TargetMode="External"/><Relationship Id="rId5" Type="http://schemas.openxmlformats.org/officeDocument/2006/relationships/hyperlink" Target="https://www.youtube.com/watch?v=4uB7z5ol-T0" TargetMode="External"/><Relationship Id="rId4" Type="http://schemas.openxmlformats.org/officeDocument/2006/relationships/hyperlink" Target="https://premieragile.com/why-agile-transformations-fail/" TargetMode="Externa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3" Type="http://schemas.openxmlformats.org/officeDocument/2006/relationships/hyperlink" Target="https://whoek.com/b/knoster_managing-change.html" TargetMode="External"/><Relationship Id="rId2" Type="http://schemas.openxmlformats.org/officeDocument/2006/relationships/slide" Target="../slides/slide27.xml"/><Relationship Id="rId1" Type="http://schemas.openxmlformats.org/officeDocument/2006/relationships/notesMaster" Target="../notesMasters/notesMaster1.xml"/><Relationship Id="rId4" Type="http://schemas.openxmlformats.org/officeDocument/2006/relationships/hyperlink" Target="https://agilityportal.io/blog/knoster-model-for-change?tmpl=component&amp;print=1&amp;format=print" TargetMode="External"/></Relationships>
</file>

<file path=ppt/notesSlides/_rels/notesSlide27.xml.rels><?xml version="1.0" encoding="UTF-8" standalone="yes"?>
<Relationships xmlns="http://schemas.openxmlformats.org/package/2006/relationships"><Relationship Id="rId3" Type="http://schemas.openxmlformats.org/officeDocument/2006/relationships/hyperlink" Target="https://www.agilesherpas.com/blog/agile-transformation-vs-agile-adoption" TargetMode="External"/><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3" Type="http://schemas.openxmlformats.org/officeDocument/2006/relationships/hyperlink" Target="https://www.agilityarabia.com/blog/agile-adoption-vs-agile-transformation-are-you-truly-embracing-agility" TargetMode="External"/><Relationship Id="rId2" Type="http://schemas.openxmlformats.org/officeDocument/2006/relationships/slide" Target="../slides/slide29.xml"/><Relationship Id="rId1" Type="http://schemas.openxmlformats.org/officeDocument/2006/relationships/notesMaster" Target="../notesMasters/notesMaster1.xml"/><Relationship Id="rId4" Type="http://schemas.openxmlformats.org/officeDocument/2006/relationships/hyperlink" Target="https://www.youtube.com/watch?v=w3YmH9_KNDQ" TargetMode="Externa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8" Type="http://schemas.openxmlformats.org/officeDocument/2006/relationships/hyperlink" Target="https://www.projectmanager.com/blog/burndown-chart-what-is-it" TargetMode="External"/><Relationship Id="rId13" Type="http://schemas.openxmlformats.org/officeDocument/2006/relationships/hyperlink" Target="https://kanbantool.com/cumulative-flow-diagram" TargetMode="External"/><Relationship Id="rId18" Type="http://schemas.openxmlformats.org/officeDocument/2006/relationships/hyperlink" Target="https://leanagiletools.com/control-chart/" TargetMode="External"/><Relationship Id="rId26" Type="http://schemas.openxmlformats.org/officeDocument/2006/relationships/hyperlink" Target="https://whoek.com/b/knoster_managing-change.html" TargetMode="External"/><Relationship Id="rId3" Type="http://schemas.openxmlformats.org/officeDocument/2006/relationships/hyperlink" Target="https://www.atlassian.com/agile/project-management/metrics" TargetMode="External"/><Relationship Id="rId21" Type="http://schemas.openxmlformats.org/officeDocument/2006/relationships/hyperlink" Target="https://www.scrum.org/resources/blog/why-agile-transformations-sometimes-fail" TargetMode="External"/><Relationship Id="rId7" Type="http://schemas.openxmlformats.org/officeDocument/2006/relationships/hyperlink" Target="https://nextagile.ai/blogs/agile/velocity-chart-in-agile/" TargetMode="External"/><Relationship Id="rId12" Type="http://schemas.openxmlformats.org/officeDocument/2006/relationships/hyperlink" Target="https://www.excella.com/insights/burndown-chart-vs-cumulative-flow-diagram-cfd" TargetMode="External"/><Relationship Id="rId17" Type="http://schemas.openxmlformats.org/officeDocument/2006/relationships/hyperlink" Target="https://www.ube.ac.uk/whats-happening/articles/scope-creep/" TargetMode="External"/><Relationship Id="rId25" Type="http://schemas.openxmlformats.org/officeDocument/2006/relationships/hyperlink" Target="https://docs.broadcom.com/doc/recognizing-the-twelve-failure-modes-in-agile-transformation" TargetMode="External"/><Relationship Id="rId2" Type="http://schemas.openxmlformats.org/officeDocument/2006/relationships/slide" Target="../slides/slide32.xml"/><Relationship Id="rId16" Type="http://schemas.openxmlformats.org/officeDocument/2006/relationships/hyperlink" Target="https://appfire.com/resources/blog/why-epic-burndowns-are-important" TargetMode="External"/><Relationship Id="rId20" Type="http://schemas.openxmlformats.org/officeDocument/2006/relationships/hyperlink" Target="https://axify.io/blog/agile-metrics" TargetMode="External"/><Relationship Id="rId29" Type="http://schemas.openxmlformats.org/officeDocument/2006/relationships/hyperlink" Target="https://www.agilityarabia.com/blog/agile-adoption-vs-agile-transformation-are-you-truly-embracing-agility" TargetMode="External"/><Relationship Id="rId1" Type="http://schemas.openxmlformats.org/officeDocument/2006/relationships/notesMaster" Target="../notesMasters/notesMaster1.xml"/><Relationship Id="rId6" Type="http://schemas.openxmlformats.org/officeDocument/2006/relationships/hyperlink" Target="https://axify.io/blog/velocity-chart" TargetMode="External"/><Relationship Id="rId11" Type="http://schemas.openxmlformats.org/officeDocument/2006/relationships/hyperlink" Target="https://clickup.com/blog/burnup-chart-vs-burndown-chart/?utm_source=google&amp;utm_medium=cpc&amp;utm_campaign=gs_cpc_emea-eea_nnc_nb_trial_all-devices_troas_lp_x_all-departments_x_project-management-agile_v2&amp;utm_content=all-countries_kw-target_text_x_all-features_all-use-cases_agile-software-development&amp;utm_term=agile%20development&amp;utm_creative=757775424637_product1_rsa&amp;utm_custom1=&amp;utm_custom2=&amp;utm_lptheme=&amp;utm_lpmod=&amp;utm_mt=p&amp;gad_source=1&amp;gad_campaignid=22660917507&amp;gbraid=0AAAAACR5vILcJmFtajy_tDrQkdY-jnze3&amp;gclid=Cj0KCQiA49XMBhDRARIsAOOKJHYf8efy6kK5kRGrewpvG4A-izeihBH4XfAiEUSpllUWrPGbdXhqnXgaAusREALw_wcB" TargetMode="External"/><Relationship Id="rId24" Type="http://schemas.openxmlformats.org/officeDocument/2006/relationships/hyperlink" Target="https://www.youtube.com/watch?v=4uB7z5ol-T0" TargetMode="External"/><Relationship Id="rId32" Type="http://schemas.openxmlformats.org/officeDocument/2006/relationships/hyperlink" Target="https://www.youtube.com/watch?v=P1H8-OYuGkY" TargetMode="External"/><Relationship Id="rId5" Type="http://schemas.openxmlformats.org/officeDocument/2006/relationships/hyperlink" Target="https://www.atlassian.com/agile/project-management/velocity-scrum" TargetMode="External"/><Relationship Id="rId15" Type="http://schemas.openxmlformats.org/officeDocument/2006/relationships/hyperlink" Target="https://linearb.io/blog/release-burndown-chart" TargetMode="External"/><Relationship Id="rId23" Type="http://schemas.openxmlformats.org/officeDocument/2006/relationships/hyperlink" Target="https://premieragile.com/why-agile-transformations-fail/" TargetMode="External"/><Relationship Id="rId28" Type="http://schemas.openxmlformats.org/officeDocument/2006/relationships/hyperlink" Target="https://www.agilesherpas.com/blog/agile-transformation-vs-agile-adoption" TargetMode="External"/><Relationship Id="rId10" Type="http://schemas.openxmlformats.org/officeDocument/2006/relationships/hyperlink" Target="https://www.projectmanagement.com/blog-post/40731/burndown-vs-burnup-chart" TargetMode="External"/><Relationship Id="rId19" Type="http://schemas.openxmlformats.org/officeDocument/2006/relationships/hyperlink" Target="https://medium.com/design-bootcamp/agile-lesson-17-control-charts-what-they-are-and-how-to-spot-the-trouble-early-402d649abd35" TargetMode="External"/><Relationship Id="rId31" Type="http://schemas.openxmlformats.org/officeDocument/2006/relationships/hyperlink" Target="https://www.teamgantt.com/" TargetMode="External"/><Relationship Id="rId4" Type="http://schemas.openxmlformats.org/officeDocument/2006/relationships/hyperlink" Target="https://www.izenbridge.com/blog/velocity-in-agile-scrum/" TargetMode="External"/><Relationship Id="rId9" Type="http://schemas.openxmlformats.org/officeDocument/2006/relationships/hyperlink" Target="https://www.zenhub.com/blog-posts/tracking-sprint-progress-with-scrum-burndown-charts" TargetMode="External"/><Relationship Id="rId14" Type="http://schemas.openxmlformats.org/officeDocument/2006/relationships/hyperlink" Target="https://www.youtube.com/watch?v=t8zUD6UrzXU" TargetMode="External"/><Relationship Id="rId22" Type="http://schemas.openxmlformats.org/officeDocument/2006/relationships/hyperlink" Target="https://www.inflectra.com/Ideas/Whitepaper/Agile-Transformation-Failure-Due-To-Management-Debt.aspx" TargetMode="External"/><Relationship Id="rId27" Type="http://schemas.openxmlformats.org/officeDocument/2006/relationships/hyperlink" Target="https://agilityportal.io/blog/knoster-model-for-change?tmpl=component&amp;print=1&amp;format=print" TargetMode="External"/><Relationship Id="rId30" Type="http://schemas.openxmlformats.org/officeDocument/2006/relationships/hyperlink" Target="https://www.youtube.com/watch?v=w3YmH9_KNDQ" TargetMode="External"/></Relationships>
</file>

<file path=ppt/notesSlides/_rels/notesSlide32.xml.rels><?xml version="1.0" encoding="UTF-8" standalone="yes"?>
<Relationships xmlns="http://schemas.openxmlformats.org/package/2006/relationships"><Relationship Id="rId3" Type="http://schemas.openxmlformats.org/officeDocument/2006/relationships/hyperlink" Target="https://www.openproject.org/" TargetMode="External"/><Relationship Id="rId2" Type="http://schemas.openxmlformats.org/officeDocument/2006/relationships/slide" Target="../slides/slide33.xml"/><Relationship Id="rId1" Type="http://schemas.openxmlformats.org/officeDocument/2006/relationships/notesMaster" Target="../notesMasters/notesMaster1.xml"/><Relationship Id="rId4" Type="http://schemas.openxmlformats.org/officeDocument/2006/relationships/hyperlink" Target="https://www.youtube.com/watch?v=HloYka2zB8I" TargetMode="External"/></Relationships>
</file>

<file path=ppt/notesSlides/_rels/notesSlide33.xml.rels><?xml version="1.0" encoding="UTF-8" standalone="yes"?>
<Relationships xmlns="http://schemas.openxmlformats.org/package/2006/relationships"><Relationship Id="rId3" Type="http://schemas.openxmlformats.org/officeDocument/2006/relationships/hyperlink" Target="https://www.scrum.org/resources/what-sprint-goal" TargetMode="External"/><Relationship Id="rId2" Type="http://schemas.openxmlformats.org/officeDocument/2006/relationships/slide" Target="../slides/slide34.xml"/><Relationship Id="rId1" Type="http://schemas.openxmlformats.org/officeDocument/2006/relationships/notesMaster" Target="../notesMasters/notesMaster1.xml"/><Relationship Id="rId4" Type="http://schemas.openxmlformats.org/officeDocument/2006/relationships/hyperlink" Target="https://www.mountaingoatsoftware.com/blog/the-sprint-goal-what-it-is-and-how-it-can-help" TargetMode="Externa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3" Type="http://schemas.openxmlformats.org/officeDocument/2006/relationships/hyperlink" Target="https://www.scrumalliance.org/glossary/scrum-of-scrums" TargetMode="External"/><Relationship Id="rId2" Type="http://schemas.openxmlformats.org/officeDocument/2006/relationships/slide" Target="../slides/slide36.xml"/><Relationship Id="rId1" Type="http://schemas.openxmlformats.org/officeDocument/2006/relationships/notesMaster" Target="../notesMasters/notesMaster1.xml"/><Relationship Id="rId5" Type="http://schemas.openxmlformats.org/officeDocument/2006/relationships/hyperlink" Target="https://www.atlassian.com/agile/scrum/scrum-of-scrums" TargetMode="External"/><Relationship Id="rId4" Type="http://schemas.openxmlformats.org/officeDocument/2006/relationships/hyperlink" Target="https://echometerapp.com/en/scrum-of-scrums/" TargetMode="Externa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3" Type="http://schemas.openxmlformats.org/officeDocument/2006/relationships/hyperlink" Target="https://www.agilesocks.com/splitting-multiple-scrum-teams/h" TargetMode="External"/><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3" Type="http://schemas.openxmlformats.org/officeDocument/2006/relationships/hyperlink" Target="https://attico.io/insights/synchronized-sprints" TargetMode="External"/><Relationship Id="rId2" Type="http://schemas.openxmlformats.org/officeDocument/2006/relationships/slide" Target="../slides/slide43.xml"/><Relationship Id="rId1" Type="http://schemas.openxmlformats.org/officeDocument/2006/relationships/notesMaster" Target="../notesMasters/notesMaster1.xml"/><Relationship Id="rId4" Type="http://schemas.openxmlformats.org/officeDocument/2006/relationships/hyperlink" Target="https://medium.com/leadership-forge/when-to-synchronize-sprints-9606c3d7e55b" TargetMode="Externa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3" Type="http://schemas.openxmlformats.org/officeDocument/2006/relationships/hyperlink" Target="https://www.scrumexpert.com/resources/scrummaster-checklists/" TargetMode="External"/><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dirty="0"/>
          </a:p>
        </p:txBody>
      </p:sp>
      <p:sp>
        <p:nvSpPr>
          <p:cNvPr id="4" name="Segnaposto numero diapositiva 3"/>
          <p:cNvSpPr>
            <a:spLocks noGrp="1"/>
          </p:cNvSpPr>
          <p:nvPr>
            <p:ph type="sldNum" sz="quarter" idx="5"/>
          </p:nvPr>
        </p:nvSpPr>
        <p:spPr/>
        <p:txBody>
          <a:bodyPr/>
          <a:lstStyle/>
          <a:p>
            <a:fld id="{E93233AA-5D9D-4B19-AE31-9919BB97DFE7}" type="slidenum">
              <a:rPr lang="en-GB" smtClean="0"/>
              <a:t>2</a:t>
            </a:fld>
            <a:endParaRPr lang="en-GB"/>
          </a:p>
        </p:txBody>
      </p:sp>
    </p:spTree>
    <p:extLst>
      <p:ext uri="{BB962C8B-B14F-4D97-AF65-F5344CB8AC3E}">
        <p14:creationId xmlns:p14="http://schemas.microsoft.com/office/powerpoint/2010/main" val="32251699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hr-HR" dirty="0"/>
              <a:t>Napomene za facilitatora</a:t>
            </a:r>
          </a:p>
          <a:p>
            <a:r>
              <a:rPr lang="hr-HR" dirty="0"/>
              <a:t>Predstavite Cjelinu 4 i postavite je kao dio „kontrole i održivosti” u </a:t>
            </a:r>
            <a:r>
              <a:rPr lang="hr-HR" dirty="0" err="1"/>
              <a:t>Agile</a:t>
            </a:r>
            <a:r>
              <a:rPr lang="hr-HR" dirty="0"/>
              <a:t> upravljanju projektima: korištenje metrika za razumijevanje isporuke, rano prepoznavanje rizika i kontinuirano unapređenje.</a:t>
            </a:r>
          </a:p>
          <a:p>
            <a:r>
              <a:rPr lang="hr-HR" dirty="0"/>
              <a:t>Prođite kroz tri cjeline:</a:t>
            </a:r>
          </a:p>
          <a:p>
            <a:r>
              <a:rPr lang="hr-HR" dirty="0"/>
              <a:t>Metrike i alati za mjerenje (što pratiti i kako tumačiti grafikone) </a:t>
            </a:r>
          </a:p>
          <a:p>
            <a:r>
              <a:rPr lang="hr-HR" dirty="0"/>
              <a:t>Zašto </a:t>
            </a:r>
            <a:r>
              <a:rPr lang="hr-HR" dirty="0" err="1"/>
              <a:t>Agile</a:t>
            </a:r>
            <a:r>
              <a:rPr lang="hr-HR" dirty="0"/>
              <a:t> ne uspijeva (organizacijski uzroci i upravljanje promjenama) </a:t>
            </a:r>
          </a:p>
          <a:p>
            <a:r>
              <a:rPr lang="hr-HR" dirty="0"/>
              <a:t>Hibridni pristup / usklađivanje </a:t>
            </a:r>
            <a:r>
              <a:rPr lang="hr-HR" dirty="0" err="1"/>
              <a:t>Agilea</a:t>
            </a:r>
            <a:r>
              <a:rPr lang="hr-HR" dirty="0"/>
              <a:t> i </a:t>
            </a:r>
            <a:r>
              <a:rPr lang="hr-HR" dirty="0" err="1"/>
              <a:t>Waterfalla</a:t>
            </a:r>
            <a:r>
              <a:rPr lang="hr-HR" dirty="0"/>
              <a:t> (praktična koegzistencija)</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hr-HR" dirty="0"/>
              <a:t>Napomene za facilitatora</a:t>
            </a:r>
          </a:p>
          <a:p>
            <a:r>
              <a:rPr lang="hr-HR" dirty="0"/>
              <a:t>Postavite očekivanja: polaznici neće učiti samo o grafikonima, već i kako izbjeći pogrešnu upotrebu metrika te kako povezati mjerenje s unapređenjem.</a:t>
            </a:r>
          </a:p>
          <a:p>
            <a:r>
              <a:rPr lang="hr-HR" dirty="0"/>
              <a:t>Parafrazirajte sadržaj slajda u jednostavnu cjelinu:</a:t>
            </a:r>
          </a:p>
          <a:p>
            <a:r>
              <a:rPr lang="hr-HR" dirty="0"/>
              <a:t>Mjerimo sposobnost isporuke (</a:t>
            </a:r>
            <a:r>
              <a:rPr lang="hr-HR" dirty="0" err="1"/>
              <a:t>velocity</a:t>
            </a:r>
            <a:r>
              <a:rPr lang="hr-HR" dirty="0"/>
              <a:t>, </a:t>
            </a:r>
            <a:r>
              <a:rPr lang="hr-HR" dirty="0" err="1"/>
              <a:t>cycle</a:t>
            </a:r>
            <a:r>
              <a:rPr lang="hr-HR" dirty="0"/>
              <a:t> time, predvidljivost). </a:t>
            </a:r>
          </a:p>
          <a:p>
            <a:r>
              <a:rPr lang="hr-HR" dirty="0"/>
              <a:t>Vizualiziramo tijek rada kako bismo uočili uska grla i promjene u opsegu. </a:t>
            </a:r>
          </a:p>
          <a:p>
            <a:r>
              <a:rPr lang="hr-HR" dirty="0"/>
              <a:t>Koristimo podatke u retrospektivama za unapređenje. </a:t>
            </a:r>
          </a:p>
          <a:p>
            <a:r>
              <a:rPr lang="hr-HR" dirty="0"/>
              <a:t>Naglasite da su metrike alati za poboljšanje, a ne za nadzor.</a:t>
            </a:r>
          </a:p>
          <a:p>
            <a:r>
              <a:rPr lang="hr-HR" dirty="0"/>
              <a:t>Istaknite da je interpretacija važnija od same metrike.</a:t>
            </a:r>
          </a:p>
        </p:txBody>
      </p:sp>
      <p:sp>
        <p:nvSpPr>
          <p:cNvPr id="4" name="Segnaposto numero diapositiva 3"/>
          <p:cNvSpPr>
            <a:spLocks noGrp="1"/>
          </p:cNvSpPr>
          <p:nvPr>
            <p:ph type="sldNum" sz="quarter" idx="5"/>
          </p:nvPr>
        </p:nvSpPr>
        <p:spPr/>
        <p:txBody>
          <a:bodyPr/>
          <a:lstStyle/>
          <a:p>
            <a:fld id="{E93233AA-5D9D-4B19-AE31-9919BB97DFE7}" type="slidenum">
              <a:rPr lang="en-GB" smtClean="0"/>
              <a:t>4</a:t>
            </a:fld>
            <a:endParaRPr lang="en-GB"/>
          </a:p>
        </p:txBody>
      </p:sp>
    </p:spTree>
    <p:extLst>
      <p:ext uri="{BB962C8B-B14F-4D97-AF65-F5344CB8AC3E}">
        <p14:creationId xmlns:p14="http://schemas.microsoft.com/office/powerpoint/2010/main" val="20670875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hr-HR" dirty="0"/>
              <a:t>Napomene za facilitatora</a:t>
            </a:r>
          </a:p>
          <a:p>
            <a:r>
              <a:rPr lang="hr-HR" dirty="0"/>
              <a:t>Polaznici se mogu bojati da će se metrike koristiti za kontrolu. Naglasite da u </a:t>
            </a:r>
            <a:r>
              <a:rPr lang="hr-HR" dirty="0" err="1"/>
              <a:t>Agileu</a:t>
            </a:r>
            <a:r>
              <a:rPr lang="hr-HR" dirty="0"/>
              <a:t> metrike služe timu i sustavu, a ne nadzoru pojedinaca.</a:t>
            </a:r>
          </a:p>
          <a:p>
            <a:r>
              <a:rPr lang="hr-HR" dirty="0"/>
              <a:t>Istaknite da metrike bez odgovarajuće organizacijske kulture ne dovode do stvarnih promjena.</a:t>
            </a:r>
          </a:p>
          <a:p>
            <a:r>
              <a:rPr lang="hr-HR" dirty="0"/>
              <a:t>Naglasite povezanost: mjerenje → povratna informacija → unapređenje.</a:t>
            </a:r>
          </a:p>
          <a:p>
            <a:r>
              <a:rPr lang="hr-HR" dirty="0"/>
              <a:t>Dodatno naglasite da </a:t>
            </a:r>
            <a:r>
              <a:rPr lang="hr-HR" dirty="0" err="1"/>
              <a:t>Waterfall</a:t>
            </a:r>
            <a:r>
              <a:rPr lang="hr-HR" dirty="0"/>
              <a:t> i </a:t>
            </a:r>
            <a:r>
              <a:rPr lang="hr-HR" dirty="0" err="1"/>
              <a:t>Agile</a:t>
            </a:r>
            <a:r>
              <a:rPr lang="hr-HR" dirty="0"/>
              <a:t> nisu isključivi izbori (nije riječ o binarnoj odluci).</a:t>
            </a:r>
          </a:p>
        </p:txBody>
      </p:sp>
      <p:sp>
        <p:nvSpPr>
          <p:cNvPr id="4" name="Segnaposto numero diapositiva 3"/>
          <p:cNvSpPr>
            <a:spLocks noGrp="1"/>
          </p:cNvSpPr>
          <p:nvPr>
            <p:ph type="sldNum" sz="quarter" idx="5"/>
          </p:nvPr>
        </p:nvSpPr>
        <p:spPr/>
        <p:txBody>
          <a:bodyPr/>
          <a:lstStyle/>
          <a:p>
            <a:fld id="{E93233AA-5D9D-4B19-AE31-9919BB97DFE7}" type="slidenum">
              <a:rPr lang="en-GB" smtClean="0"/>
              <a:t>5</a:t>
            </a:fld>
            <a:endParaRPr lang="en-GB"/>
          </a:p>
        </p:txBody>
      </p:sp>
    </p:spTree>
    <p:extLst>
      <p:ext uri="{BB962C8B-B14F-4D97-AF65-F5344CB8AC3E}">
        <p14:creationId xmlns:p14="http://schemas.microsoft.com/office/powerpoint/2010/main" val="18457726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dirty="0"/>
          </a:p>
        </p:txBody>
      </p:sp>
      <p:sp>
        <p:nvSpPr>
          <p:cNvPr id="4" name="Segnaposto numero diapositiva 3"/>
          <p:cNvSpPr>
            <a:spLocks noGrp="1"/>
          </p:cNvSpPr>
          <p:nvPr>
            <p:ph type="sldNum" sz="quarter" idx="5"/>
          </p:nvPr>
        </p:nvSpPr>
        <p:spPr/>
        <p:txBody>
          <a:bodyPr/>
          <a:lstStyle/>
          <a:p>
            <a:fld id="{E93233AA-5D9D-4B19-AE31-9919BB97DFE7}" type="slidenum">
              <a:rPr lang="en-GB" smtClean="0"/>
              <a:t>6</a:t>
            </a:fld>
            <a:endParaRPr lang="en-GB"/>
          </a:p>
        </p:txBody>
      </p:sp>
    </p:spTree>
    <p:extLst>
      <p:ext uri="{BB962C8B-B14F-4D97-AF65-F5344CB8AC3E}">
        <p14:creationId xmlns:p14="http://schemas.microsoft.com/office/powerpoint/2010/main" val="1533470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pl-PL" dirty="0"/>
              <a:t>Napomene za facilitatora</a:t>
            </a:r>
          </a:p>
          <a:p>
            <a:r>
              <a:rPr lang="pl-PL" dirty="0"/>
              <a:t>Dodatni resursi</a:t>
            </a:r>
            <a:br>
              <a:rPr lang="pl-PL" dirty="0"/>
            </a:br>
            <a:r>
              <a:rPr lang="pl-PL" dirty="0">
                <a:hlinkClick r:id="rId3"/>
              </a:rPr>
              <a:t>https://www.atlassian.com/agile/project-management/metrics</a:t>
            </a:r>
            <a:endParaRPr lang="pl-PL" dirty="0"/>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hr-HR" dirty="0"/>
              <a:t>Napomene za facilitatora</a:t>
            </a:r>
          </a:p>
          <a:p>
            <a:r>
              <a:rPr lang="hr-HR" dirty="0"/>
              <a:t>Definirajte </a:t>
            </a:r>
            <a:r>
              <a:rPr lang="hr-HR" dirty="0" err="1"/>
              <a:t>velocity</a:t>
            </a:r>
            <a:r>
              <a:rPr lang="hr-HR" dirty="0"/>
              <a:t> kao mjeru na razini tima koja pokazuje količinu dovršenog posla po sprintu/ciklusu, a koristi se prvenstveno za predviđanje.</a:t>
            </a:r>
          </a:p>
          <a:p>
            <a:r>
              <a:rPr lang="hr-HR" dirty="0"/>
              <a:t>Naglasite:</a:t>
            </a:r>
          </a:p>
          <a:p>
            <a:r>
              <a:rPr lang="hr-HR" dirty="0" err="1"/>
              <a:t>Velocity</a:t>
            </a:r>
            <a:r>
              <a:rPr lang="hr-HR" dirty="0"/>
              <a:t> predstavlja povijesne podatke, a ne cilj. </a:t>
            </a:r>
          </a:p>
          <a:p>
            <a:r>
              <a:rPr lang="hr-HR" dirty="0"/>
              <a:t>Funkcionira samo ako je definicija „Done” dosljedna i ako su jedinice rada usporedive. </a:t>
            </a:r>
          </a:p>
          <a:p>
            <a:r>
              <a:rPr lang="hr-HR" dirty="0"/>
              <a:t>Koristite prosjeke i trendove kroz više sprintova, a ne oscilacije unutar jednog sprinta. </a:t>
            </a:r>
          </a:p>
          <a:p>
            <a:r>
              <a:rPr lang="hr-HR" dirty="0"/>
              <a:t>Dodatni resursi:</a:t>
            </a:r>
            <a:br>
              <a:rPr lang="hr-HR" dirty="0"/>
            </a:br>
            <a:r>
              <a:rPr lang="hr-HR" dirty="0">
                <a:hlinkClick r:id="rId3"/>
              </a:rPr>
              <a:t>https://www.izenbridge.com/blog/velocity-in-agile-scrum/</a:t>
            </a:r>
            <a:br>
              <a:rPr lang="hr-HR" dirty="0"/>
            </a:br>
            <a:r>
              <a:rPr lang="hr-HR" dirty="0">
                <a:hlinkClick r:id="rId4"/>
              </a:rPr>
              <a:t>https://www.atlassian.com/agile/project-management/velocity-scrum</a:t>
            </a:r>
            <a:endParaRPr lang="hr-HR" dirty="0"/>
          </a:p>
        </p:txBody>
      </p:sp>
      <p:sp>
        <p:nvSpPr>
          <p:cNvPr id="4" name="Segnaposto numero diapositiva 3"/>
          <p:cNvSpPr>
            <a:spLocks noGrp="1"/>
          </p:cNvSpPr>
          <p:nvPr>
            <p:ph type="sldNum" sz="quarter" idx="5"/>
          </p:nvPr>
        </p:nvSpPr>
        <p:spPr/>
        <p:txBody>
          <a:bodyPr/>
          <a:lstStyle/>
          <a:p>
            <a:fld id="{E93233AA-5D9D-4B19-AE31-9919BB97DFE7}" type="slidenum">
              <a:rPr lang="en-GB" smtClean="0"/>
              <a:t>8</a:t>
            </a:fld>
            <a:endParaRPr lang="en-GB"/>
          </a:p>
        </p:txBody>
      </p:sp>
    </p:spTree>
    <p:extLst>
      <p:ext uri="{BB962C8B-B14F-4D97-AF65-F5344CB8AC3E}">
        <p14:creationId xmlns:p14="http://schemas.microsoft.com/office/powerpoint/2010/main" val="3633009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hr-HR" dirty="0"/>
              <a:t>Napomene za facilitatora</a:t>
            </a:r>
          </a:p>
          <a:p>
            <a:r>
              <a:rPr lang="hr-HR" dirty="0"/>
              <a:t>Uobičajena zabluda koju treba razjasniti: </a:t>
            </a:r>
            <a:r>
              <a:rPr lang="hr-HR" dirty="0" err="1"/>
              <a:t>velocity</a:t>
            </a:r>
            <a:r>
              <a:rPr lang="hr-HR" dirty="0"/>
              <a:t> nije mjera produktivnosti pojedinaca; korištenje na taj način dovodi do „igranja sustava” i niže kvalitete.</a:t>
            </a:r>
          </a:p>
          <a:p>
            <a:r>
              <a:rPr lang="hr-HR" dirty="0"/>
              <a:t>Dodatni resursi:</a:t>
            </a:r>
            <a:br>
              <a:rPr lang="hr-HR" dirty="0"/>
            </a:br>
            <a:r>
              <a:rPr lang="hr-HR" dirty="0">
                <a:hlinkClick r:id="rId3"/>
              </a:rPr>
              <a:t>https://axify.io/blog/velocity-chart</a:t>
            </a:r>
            <a:br>
              <a:rPr lang="hr-HR" dirty="0"/>
            </a:br>
            <a:r>
              <a:rPr lang="hr-HR" dirty="0">
                <a:hlinkClick r:id="rId4"/>
              </a:rPr>
              <a:t>https://nextagile.ai/blogs/agile/velocity-chart-in-agile/</a:t>
            </a:r>
            <a:endParaRPr lang="hr-HR" dirty="0"/>
          </a:p>
        </p:txBody>
      </p:sp>
      <p:sp>
        <p:nvSpPr>
          <p:cNvPr id="4" name="Segnaposto numero diapositiva 3"/>
          <p:cNvSpPr>
            <a:spLocks noGrp="1"/>
          </p:cNvSpPr>
          <p:nvPr>
            <p:ph type="sldNum" sz="quarter" idx="5"/>
          </p:nvPr>
        </p:nvSpPr>
        <p:spPr/>
        <p:txBody>
          <a:bodyPr/>
          <a:lstStyle/>
          <a:p>
            <a:fld id="{E93233AA-5D9D-4B19-AE31-9919BB97DFE7}" type="slidenum">
              <a:rPr lang="en-GB" smtClean="0"/>
              <a:t>9</a:t>
            </a:fld>
            <a:endParaRPr lang="en-GB"/>
          </a:p>
        </p:txBody>
      </p:sp>
    </p:spTree>
    <p:extLst>
      <p:ext uri="{BB962C8B-B14F-4D97-AF65-F5344CB8AC3E}">
        <p14:creationId xmlns:p14="http://schemas.microsoft.com/office/powerpoint/2010/main" val="29594747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dirty="0"/>
          </a:p>
        </p:txBody>
      </p:sp>
      <p:sp>
        <p:nvSpPr>
          <p:cNvPr id="4" name="Segnaposto numero diapositiva 3"/>
          <p:cNvSpPr>
            <a:spLocks noGrp="1"/>
          </p:cNvSpPr>
          <p:nvPr>
            <p:ph type="sldNum" sz="quarter" idx="5"/>
          </p:nvPr>
        </p:nvSpPr>
        <p:spPr/>
        <p:txBody>
          <a:bodyPr/>
          <a:lstStyle/>
          <a:p>
            <a:fld id="{E93233AA-5D9D-4B19-AE31-9919BB97DFE7}" type="slidenum">
              <a:rPr lang="en-GB" smtClean="0"/>
              <a:t>10</a:t>
            </a:fld>
            <a:endParaRPr lang="en-GB"/>
          </a:p>
        </p:txBody>
      </p:sp>
    </p:spTree>
    <p:extLst>
      <p:ext uri="{BB962C8B-B14F-4D97-AF65-F5344CB8AC3E}">
        <p14:creationId xmlns:p14="http://schemas.microsoft.com/office/powerpoint/2010/main" val="23081406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hr-HR" dirty="0"/>
              <a:t>Napomene za facilitatora</a:t>
            </a:r>
          </a:p>
          <a:p>
            <a:r>
              <a:rPr lang="hr-HR" dirty="0"/>
              <a:t>Objasnite </a:t>
            </a:r>
            <a:r>
              <a:rPr lang="hr-HR" dirty="0" err="1"/>
              <a:t>burndown</a:t>
            </a:r>
            <a:r>
              <a:rPr lang="hr-HR" dirty="0"/>
              <a:t> grafikon kao način vizualizacije preostalog posla kroz vrijeme i ranog uočavanja rizika.</a:t>
            </a:r>
          </a:p>
          <a:p>
            <a:r>
              <a:rPr lang="hr-HR" dirty="0"/>
              <a:t>Pojasnite osi (preostali rad naspram vremena) i značenje obrazaca:</a:t>
            </a:r>
          </a:p>
          <a:p>
            <a:r>
              <a:rPr lang="hr-HR" dirty="0"/>
              <a:t>Ravnomjerno silazna linija → zdrav napredak. </a:t>
            </a:r>
          </a:p>
          <a:p>
            <a:r>
              <a:rPr lang="hr-HR" dirty="0"/>
              <a:t>Ravni dijelovi → blokade / nema dovršenih zadataka. </a:t>
            </a:r>
          </a:p>
          <a:p>
            <a:r>
              <a:rPr lang="hr-HR" dirty="0"/>
              <a:t>Uzlazni skokovi → dodavanje opsega ili dorade (</a:t>
            </a:r>
            <a:r>
              <a:rPr lang="hr-HR" dirty="0" err="1"/>
              <a:t>rework</a:t>
            </a:r>
            <a:r>
              <a:rPr lang="hr-HR" dirty="0"/>
              <a:t>). </a:t>
            </a:r>
          </a:p>
          <a:p>
            <a:r>
              <a:rPr lang="hr-HR" dirty="0"/>
              <a:t>Dodatni resursi:</a:t>
            </a:r>
            <a:br>
              <a:rPr lang="hr-HR" dirty="0"/>
            </a:br>
            <a:r>
              <a:rPr lang="hr-HR" dirty="0">
                <a:hlinkClick r:id="rId3"/>
              </a:rPr>
              <a:t>https://www.projectmanager.com/blog/burndown-chart-what-is-it</a:t>
            </a:r>
            <a:br>
              <a:rPr lang="hr-HR" dirty="0"/>
            </a:br>
            <a:r>
              <a:rPr lang="hr-HR" dirty="0">
                <a:hlinkClick r:id="rId4"/>
              </a:rPr>
              <a:t>https://www.zenhub.com/blog-posts/tracking-sprint-progress-with-scrum-burndown-charts</a:t>
            </a:r>
            <a:endParaRPr lang="hr-HR" dirty="0"/>
          </a:p>
        </p:txBody>
      </p:sp>
      <p:sp>
        <p:nvSpPr>
          <p:cNvPr id="4" name="Segnaposto numero diapositiva 3"/>
          <p:cNvSpPr>
            <a:spLocks noGrp="1"/>
          </p:cNvSpPr>
          <p:nvPr>
            <p:ph type="sldNum" sz="quarter" idx="5"/>
          </p:nvPr>
        </p:nvSpPr>
        <p:spPr/>
        <p:txBody>
          <a:bodyPr/>
          <a:lstStyle/>
          <a:p>
            <a:fld id="{E93233AA-5D9D-4B19-AE31-9919BB97DFE7}" type="slidenum">
              <a:rPr lang="en-GB" smtClean="0"/>
              <a:t>11</a:t>
            </a:fld>
            <a:endParaRPr lang="en-GB"/>
          </a:p>
        </p:txBody>
      </p:sp>
    </p:spTree>
    <p:extLst>
      <p:ext uri="{BB962C8B-B14F-4D97-AF65-F5344CB8AC3E}">
        <p14:creationId xmlns:p14="http://schemas.microsoft.com/office/powerpoint/2010/main" val="17565316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hr-HR" dirty="0"/>
              <a:t>Napomene za facilitatora</a:t>
            </a:r>
          </a:p>
          <a:p>
            <a:r>
              <a:rPr lang="hr-HR" dirty="0"/>
              <a:t>Objasnite </a:t>
            </a:r>
            <a:r>
              <a:rPr lang="hr-HR" dirty="0" err="1"/>
              <a:t>burnup</a:t>
            </a:r>
            <a:r>
              <a:rPr lang="hr-HR" dirty="0"/>
              <a:t> grafikon kao „zrcalnu sliku” </a:t>
            </a:r>
            <a:r>
              <a:rPr lang="hr-HR" dirty="0" err="1"/>
              <a:t>burndowna</a:t>
            </a:r>
            <a:r>
              <a:rPr lang="hr-HR" dirty="0"/>
              <a:t>: prikazuje dovršeni rad i može jasnije prikazati promjene u opsegu.</a:t>
            </a:r>
          </a:p>
          <a:p>
            <a:r>
              <a:rPr lang="hr-HR" dirty="0"/>
              <a:t>Naglasite:</a:t>
            </a:r>
          </a:p>
          <a:p>
            <a:r>
              <a:rPr lang="hr-HR" dirty="0" err="1"/>
              <a:t>Burnup</a:t>
            </a:r>
            <a:r>
              <a:rPr lang="hr-HR" dirty="0"/>
              <a:t> raste kako se posao dovršava. </a:t>
            </a:r>
          </a:p>
          <a:p>
            <a:r>
              <a:rPr lang="hr-HR" dirty="0"/>
              <a:t>Kada se opseg mijenja, često se koristi druga linija (ukupni opseg) kako bi se prikazao pomični cilj. </a:t>
            </a:r>
          </a:p>
          <a:p>
            <a:r>
              <a:rPr lang="hr-HR" dirty="0"/>
              <a:t>Ako slajd propituje </a:t>
            </a:r>
            <a:r>
              <a:rPr lang="hr-HR" dirty="0" err="1"/>
              <a:t>prediktivnu</a:t>
            </a:r>
            <a:r>
              <a:rPr lang="hr-HR" dirty="0"/>
              <a:t> vrijednost, raspravite u kojim je situacijama </a:t>
            </a:r>
            <a:r>
              <a:rPr lang="hr-HR" dirty="0" err="1"/>
              <a:t>burnup</a:t>
            </a:r>
            <a:r>
              <a:rPr lang="hr-HR" dirty="0"/>
              <a:t> ipak koristan: za komunikaciju napretka i jasno prikazivanje širenja opsega (</a:t>
            </a:r>
            <a:r>
              <a:rPr lang="hr-HR" dirty="0" err="1"/>
              <a:t>scope</a:t>
            </a:r>
            <a:r>
              <a:rPr lang="hr-HR" dirty="0"/>
              <a:t> </a:t>
            </a:r>
            <a:r>
              <a:rPr lang="hr-HR" dirty="0" err="1"/>
              <a:t>creep</a:t>
            </a:r>
            <a:r>
              <a:rPr lang="hr-HR" dirty="0"/>
              <a:t>).</a:t>
            </a:r>
          </a:p>
          <a:p>
            <a:r>
              <a:rPr lang="hr-HR" dirty="0"/>
              <a:t>Dodatni resursi:</a:t>
            </a:r>
            <a:br>
              <a:rPr lang="hr-HR" dirty="0"/>
            </a:br>
            <a:r>
              <a:rPr lang="hr-HR" dirty="0">
                <a:hlinkClick r:id="rId3"/>
              </a:rPr>
              <a:t>https://www.projectmanagement.com/blog-post/40731/burndown-vs-burnup-chart#</a:t>
            </a:r>
            <a:r>
              <a:rPr lang="hr-HR" dirty="0"/>
              <a:t>_</a:t>
            </a:r>
            <a:br>
              <a:rPr lang="hr-HR" dirty="0"/>
            </a:br>
            <a:r>
              <a:rPr lang="hr-HR" dirty="0">
                <a:hlinkClick r:id="rId4"/>
              </a:rPr>
              <a:t>https://clickup.com/blog/burnup-chart-vs-burndown-chart/?utm_source=google&amp;utm_medium=cpc&amp;utm_campaign=gs_cpc_emea-eea_nnc_nb_trial_all-devices_troas_lp_x_all-departments_x_project-management-agile_v2&amp;utm_content=all-countries_kw-target_text_x_all-features_all-use-cases_agile-software-development&amp;utm_term=agile%20development&amp;utm_creative=757775424637_product1_rsa&amp;utm_custom1=&amp;utm_custom2=&amp;utm_lptheme=&amp;utm_lpmod=&amp;utm_mt=p&amp;gad_source=1&amp;gad_campaignid=22660917507&amp;gbraid=0AAAAACR5vILcJmFtajy_tDrQkdY-jnze3&amp;gclid=Cj0KCQiA49XMBhDRARIsAOOKJHYf8efy6kK5kRGrewpvG4A-</a:t>
            </a:r>
            <a:endParaRPr lang="hr-HR" dirty="0"/>
          </a:p>
        </p:txBody>
      </p:sp>
      <p:sp>
        <p:nvSpPr>
          <p:cNvPr id="4" name="Segnaposto numero diapositiva 3"/>
          <p:cNvSpPr>
            <a:spLocks noGrp="1"/>
          </p:cNvSpPr>
          <p:nvPr>
            <p:ph type="sldNum" sz="quarter" idx="5"/>
          </p:nvPr>
        </p:nvSpPr>
        <p:spPr/>
        <p:txBody>
          <a:bodyPr/>
          <a:lstStyle/>
          <a:p>
            <a:fld id="{E93233AA-5D9D-4B19-AE31-9919BB97DFE7}" type="slidenum">
              <a:rPr lang="en-GB" smtClean="0"/>
              <a:t>12</a:t>
            </a:fld>
            <a:endParaRPr lang="en-GB"/>
          </a:p>
        </p:txBody>
      </p:sp>
    </p:spTree>
    <p:extLst>
      <p:ext uri="{BB962C8B-B14F-4D97-AF65-F5344CB8AC3E}">
        <p14:creationId xmlns:p14="http://schemas.microsoft.com/office/powerpoint/2010/main" val="233884372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hr-HR" dirty="0"/>
              <a:t>Napomene za facilitatora</a:t>
            </a:r>
          </a:p>
          <a:p>
            <a:r>
              <a:rPr lang="hr-HR" dirty="0"/>
              <a:t>Predstavite CFD kao alat za dijagnostiku tijeka rada: prikazuje kako se rad akumulira u svakoj fazi tijekom vremena.</a:t>
            </a:r>
          </a:p>
          <a:p>
            <a:r>
              <a:rPr lang="hr-HR" dirty="0"/>
              <a:t>Ključne poruke koje treba naglasiti:</a:t>
            </a:r>
          </a:p>
          <a:p>
            <a:r>
              <a:rPr lang="hr-HR" dirty="0"/>
              <a:t>CFD pomaže ranije uočiti uska grla nego </a:t>
            </a:r>
            <a:r>
              <a:rPr lang="hr-HR" dirty="0" err="1"/>
              <a:t>burndown</a:t>
            </a:r>
            <a:r>
              <a:rPr lang="hr-HR" dirty="0"/>
              <a:t>. </a:t>
            </a:r>
          </a:p>
          <a:p>
            <a:r>
              <a:rPr lang="hr-HR" dirty="0"/>
              <a:t>Podržava donošenje kvalitetnijih odluka (gdje dodati resurse, gdje ograničiti ulaz novih zadataka). </a:t>
            </a:r>
          </a:p>
          <a:p>
            <a:r>
              <a:rPr lang="hr-HR" dirty="0"/>
              <a:t>Dodatni resursi:</a:t>
            </a:r>
            <a:br>
              <a:rPr lang="hr-HR" dirty="0"/>
            </a:br>
            <a:r>
              <a:rPr lang="hr-HR" dirty="0">
                <a:hlinkClick r:id="rId3"/>
              </a:rPr>
              <a:t>https://www.excella.com/insights/burndown-chart-vs-cumulative-flow-diagram-cfd</a:t>
            </a:r>
            <a:br>
              <a:rPr lang="hr-HR" dirty="0"/>
            </a:br>
            <a:r>
              <a:rPr lang="hr-HR" dirty="0">
                <a:hlinkClick r:id="rId4"/>
              </a:rPr>
              <a:t>https://kanbantool.com/cumulative-flow-diagram</a:t>
            </a:r>
            <a:endParaRPr lang="hr-HR" dirty="0"/>
          </a:p>
        </p:txBody>
      </p:sp>
      <p:sp>
        <p:nvSpPr>
          <p:cNvPr id="4" name="Segnaposto numero diapositiva 3"/>
          <p:cNvSpPr>
            <a:spLocks noGrp="1"/>
          </p:cNvSpPr>
          <p:nvPr>
            <p:ph type="sldNum" sz="quarter" idx="5"/>
          </p:nvPr>
        </p:nvSpPr>
        <p:spPr/>
        <p:txBody>
          <a:bodyPr/>
          <a:lstStyle/>
          <a:p>
            <a:fld id="{E93233AA-5D9D-4B19-AE31-9919BB97DFE7}" type="slidenum">
              <a:rPr lang="en-GB" smtClean="0"/>
              <a:t>13</a:t>
            </a:fld>
            <a:endParaRPr lang="en-GB"/>
          </a:p>
        </p:txBody>
      </p:sp>
    </p:spTree>
    <p:extLst>
      <p:ext uri="{BB962C8B-B14F-4D97-AF65-F5344CB8AC3E}">
        <p14:creationId xmlns:p14="http://schemas.microsoft.com/office/powerpoint/2010/main" val="13571738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hr-HR" dirty="0"/>
              <a:t>Napomene za facilitatora</a:t>
            </a:r>
          </a:p>
          <a:p>
            <a:r>
              <a:rPr lang="hr-HR" dirty="0"/>
              <a:t>Sada vizualiziramo količinu rada u tijeku (</a:t>
            </a:r>
            <a:r>
              <a:rPr lang="hr-HR" dirty="0" err="1"/>
              <a:t>Work</a:t>
            </a:r>
            <a:r>
              <a:rPr lang="hr-HR" dirty="0"/>
              <a:t> In Progress – WIP) u svakom vremenskom intervalu. WIP je ključan koncept u </a:t>
            </a:r>
            <a:r>
              <a:rPr lang="hr-HR" dirty="0" err="1"/>
              <a:t>lean</a:t>
            </a:r>
            <a:r>
              <a:rPr lang="hr-HR" dirty="0"/>
              <a:t> i </a:t>
            </a:r>
            <a:r>
              <a:rPr lang="hr-HR" dirty="0" err="1"/>
              <a:t>agile</a:t>
            </a:r>
            <a:r>
              <a:rPr lang="hr-HR" dirty="0"/>
              <a:t> pristupima, a fokus na njega može značajno poboljšati sposobnost tima za isporuku. Vertikalna visina svake „trake” predstavlja broj stavki (WIP) u toj fazi.</a:t>
            </a:r>
          </a:p>
          <a:p>
            <a:r>
              <a:rPr lang="hr-HR" dirty="0"/>
              <a:t>CFD također prikazuje prosječno vrijeme ciklusa (</a:t>
            </a:r>
            <a:r>
              <a:rPr lang="hr-HR" dirty="0" err="1"/>
              <a:t>cycle</a:t>
            </a:r>
            <a:r>
              <a:rPr lang="hr-HR" dirty="0"/>
              <a:t> time) — odnosno prosječno vrijeme potrebno da stavka prijeđe iz jedne faze u drugu. Vrijeme ciklusa često je ključna mjera uspješnosti jer krajnji dionici ili korisnici visoko vrednuju brzinu odgovora, tj. koliko vremena prođe od trenutka kada podnesu zahtjev do trenutka kada je on ispunjen.</a:t>
            </a:r>
          </a:p>
          <a:p>
            <a:r>
              <a:rPr lang="hr-HR" dirty="0"/>
              <a:t>Dodatni resursi:</a:t>
            </a:r>
            <a:br>
              <a:rPr lang="hr-HR" dirty="0"/>
            </a:br>
            <a:r>
              <a:rPr lang="hr-HR" dirty="0">
                <a:hlinkClick r:id="rId3"/>
              </a:rPr>
              <a:t>https://www.youtube.com/watch?v=t8zUD6UrzXU</a:t>
            </a:r>
            <a:endParaRPr lang="hr-HR" dirty="0"/>
          </a:p>
        </p:txBody>
      </p:sp>
      <p:sp>
        <p:nvSpPr>
          <p:cNvPr id="4" name="Segnaposto numero diapositiva 3"/>
          <p:cNvSpPr>
            <a:spLocks noGrp="1"/>
          </p:cNvSpPr>
          <p:nvPr>
            <p:ph type="sldNum" sz="quarter" idx="5"/>
          </p:nvPr>
        </p:nvSpPr>
        <p:spPr/>
        <p:txBody>
          <a:bodyPr/>
          <a:lstStyle/>
          <a:p>
            <a:fld id="{E93233AA-5D9D-4B19-AE31-9919BB97DFE7}" type="slidenum">
              <a:rPr lang="en-GB" smtClean="0"/>
              <a:t>14</a:t>
            </a:fld>
            <a:endParaRPr lang="en-GB"/>
          </a:p>
        </p:txBody>
      </p:sp>
    </p:spTree>
    <p:extLst>
      <p:ext uri="{BB962C8B-B14F-4D97-AF65-F5344CB8AC3E}">
        <p14:creationId xmlns:p14="http://schemas.microsoft.com/office/powerpoint/2010/main" val="30424771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hr-HR" dirty="0"/>
              <a:t>Napomene za facilitatora</a:t>
            </a:r>
          </a:p>
          <a:p>
            <a:r>
              <a:rPr lang="hr-HR" dirty="0"/>
              <a:t>Objasnite obojene trake kao faze tijeka rada. Ključ za interpretaciju je </a:t>
            </a:r>
            <a:r>
              <a:rPr lang="hr-HR" i="1" dirty="0"/>
              <a:t>širina</a:t>
            </a:r>
            <a:r>
              <a:rPr lang="hr-HR" dirty="0"/>
              <a:t> svake trake:</a:t>
            </a:r>
          </a:p>
          <a:p>
            <a:r>
              <a:rPr lang="hr-HR" dirty="0"/>
              <a:t>Širenje trake → nastaje usko grlo </a:t>
            </a:r>
          </a:p>
          <a:p>
            <a:r>
              <a:rPr lang="hr-HR" dirty="0"/>
              <a:t>Stabilne trake → uravnotežen tijek rada </a:t>
            </a:r>
          </a:p>
          <a:p>
            <a:r>
              <a:rPr lang="hr-HR" dirty="0"/>
              <a:t>Sužavanje → smanjenje zaostatka (</a:t>
            </a:r>
            <a:r>
              <a:rPr lang="hr-HR" dirty="0" err="1"/>
              <a:t>backloga</a:t>
            </a:r>
            <a:r>
              <a:rPr lang="hr-HR" dirty="0"/>
              <a:t>) </a:t>
            </a:r>
          </a:p>
          <a:p>
            <a:r>
              <a:rPr lang="hr-HR" dirty="0"/>
              <a:t>Ključne poruke koje treba naglasiti:</a:t>
            </a:r>
          </a:p>
          <a:p>
            <a:r>
              <a:rPr lang="hr-HR" dirty="0"/>
              <a:t>CFD omogućuje ranije uočavanje uskih grla nego </a:t>
            </a:r>
            <a:r>
              <a:rPr lang="hr-HR" dirty="0" err="1"/>
              <a:t>burndown</a:t>
            </a:r>
            <a:r>
              <a:rPr lang="hr-HR" dirty="0"/>
              <a:t> </a:t>
            </a:r>
          </a:p>
          <a:p>
            <a:r>
              <a:rPr lang="hr-HR" dirty="0"/>
              <a:t>Podržava donošenje kvalitetnijih odluka (gdje dodati resurse, gdje ograničiti ulaz novih zadataka) </a:t>
            </a:r>
          </a:p>
        </p:txBody>
      </p:sp>
      <p:sp>
        <p:nvSpPr>
          <p:cNvPr id="4" name="Segnaposto numero diapositiva 3"/>
          <p:cNvSpPr>
            <a:spLocks noGrp="1"/>
          </p:cNvSpPr>
          <p:nvPr>
            <p:ph type="sldNum" sz="quarter" idx="5"/>
          </p:nvPr>
        </p:nvSpPr>
        <p:spPr/>
        <p:txBody>
          <a:bodyPr/>
          <a:lstStyle/>
          <a:p>
            <a:fld id="{E93233AA-5D9D-4B19-AE31-9919BB97DFE7}" type="slidenum">
              <a:rPr lang="en-GB" smtClean="0"/>
              <a:t>15</a:t>
            </a:fld>
            <a:endParaRPr lang="en-GB"/>
          </a:p>
        </p:txBody>
      </p:sp>
    </p:spTree>
    <p:extLst>
      <p:ext uri="{BB962C8B-B14F-4D97-AF65-F5344CB8AC3E}">
        <p14:creationId xmlns:p14="http://schemas.microsoft.com/office/powerpoint/2010/main" val="17911864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hr-HR" dirty="0"/>
              <a:t>Napomene za facilitatora</a:t>
            </a:r>
          </a:p>
          <a:p>
            <a:r>
              <a:rPr lang="hr-HR" dirty="0"/>
              <a:t>Objasnite </a:t>
            </a:r>
            <a:r>
              <a:rPr lang="hr-HR" dirty="0" err="1"/>
              <a:t>burndown</a:t>
            </a:r>
            <a:r>
              <a:rPr lang="hr-HR" dirty="0"/>
              <a:t> grafikon kao način vizualizacije preostalog posla kroz vrijeme i ranog uočavanja rizika.</a:t>
            </a:r>
          </a:p>
          <a:p>
            <a:r>
              <a:rPr lang="hr-HR" dirty="0"/>
              <a:t>Dodatni resursi:</a:t>
            </a:r>
            <a:br>
              <a:rPr lang="hr-HR" dirty="0"/>
            </a:br>
            <a:r>
              <a:rPr lang="hr-HR" dirty="0">
                <a:hlinkClick r:id="rId3"/>
              </a:rPr>
              <a:t>https://linearb.io/blog/release-burndown-chart</a:t>
            </a:r>
            <a:br>
              <a:rPr lang="hr-HR" dirty="0"/>
            </a:br>
            <a:r>
              <a:rPr lang="hr-HR" dirty="0">
                <a:hlinkClick r:id="rId4"/>
              </a:rPr>
              <a:t>https://appfire.com/resources/blog/why-epic-burndowns-are-important</a:t>
            </a:r>
            <a:endParaRPr lang="hr-HR" dirty="0"/>
          </a:p>
        </p:txBody>
      </p:sp>
      <p:sp>
        <p:nvSpPr>
          <p:cNvPr id="4" name="Segnaposto numero diapositiva 3"/>
          <p:cNvSpPr>
            <a:spLocks noGrp="1"/>
          </p:cNvSpPr>
          <p:nvPr>
            <p:ph type="sldNum" sz="quarter" idx="5"/>
          </p:nvPr>
        </p:nvSpPr>
        <p:spPr/>
        <p:txBody>
          <a:bodyPr/>
          <a:lstStyle/>
          <a:p>
            <a:fld id="{E93233AA-5D9D-4B19-AE31-9919BB97DFE7}" type="slidenum">
              <a:rPr lang="en-GB" smtClean="0"/>
              <a:t>16</a:t>
            </a:fld>
            <a:endParaRPr lang="en-GB"/>
          </a:p>
        </p:txBody>
      </p:sp>
    </p:spTree>
    <p:extLst>
      <p:ext uri="{BB962C8B-B14F-4D97-AF65-F5344CB8AC3E}">
        <p14:creationId xmlns:p14="http://schemas.microsoft.com/office/powerpoint/2010/main" val="174192445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85220E-6E1F-15D9-165C-F051D793C1F5}"/>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95670677-E862-37E8-9DEE-7276DDC9B5F1}"/>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530D2146-EC61-659D-E2CC-739BD777F2D3}"/>
              </a:ext>
            </a:extLst>
          </p:cNvPr>
          <p:cNvSpPr>
            <a:spLocks noGrp="1"/>
          </p:cNvSpPr>
          <p:nvPr>
            <p:ph type="body" idx="1"/>
          </p:nvPr>
        </p:nvSpPr>
        <p:spPr/>
        <p:txBody>
          <a:bodyPr/>
          <a:lstStyle/>
          <a:p>
            <a:r>
              <a:rPr lang="hr-HR" dirty="0"/>
              <a:t>Napomene za facilitatora</a:t>
            </a:r>
          </a:p>
          <a:p>
            <a:r>
              <a:rPr lang="hr-HR" dirty="0" err="1"/>
              <a:t>Burndown</a:t>
            </a:r>
            <a:r>
              <a:rPr lang="hr-HR" dirty="0"/>
              <a:t> je najkorisniji kada je opseg rada relativno stabilan unutar sprinta; u suprotnom će izgledati „neuredno” i može demotivirati.</a:t>
            </a:r>
          </a:p>
          <a:p>
            <a:r>
              <a:rPr lang="hr-HR" dirty="0"/>
              <a:t>Dodatni resurs:</a:t>
            </a:r>
            <a:br>
              <a:rPr lang="hr-HR" dirty="0"/>
            </a:br>
            <a:r>
              <a:rPr lang="hr-HR" dirty="0">
                <a:hlinkClick r:id="rId3"/>
              </a:rPr>
              <a:t>https://www.ube.ac.uk/whats-happening/articles/scope-creep/</a:t>
            </a:r>
            <a:endParaRPr lang="hr-HR" dirty="0"/>
          </a:p>
        </p:txBody>
      </p:sp>
      <p:sp>
        <p:nvSpPr>
          <p:cNvPr id="4" name="Segnaposto numero diapositiva 3">
            <a:extLst>
              <a:ext uri="{FF2B5EF4-FFF2-40B4-BE49-F238E27FC236}">
                <a16:creationId xmlns:a16="http://schemas.microsoft.com/office/drawing/2014/main" id="{39D52A64-F665-9B90-C78F-B5790AC99244}"/>
              </a:ext>
            </a:extLst>
          </p:cNvPr>
          <p:cNvSpPr>
            <a:spLocks noGrp="1"/>
          </p:cNvSpPr>
          <p:nvPr>
            <p:ph type="sldNum" sz="quarter" idx="5"/>
          </p:nvPr>
        </p:nvSpPr>
        <p:spPr/>
        <p:txBody>
          <a:bodyPr/>
          <a:lstStyle/>
          <a:p>
            <a:fld id="{E93233AA-5D9D-4B19-AE31-9919BB97DFE7}" type="slidenum">
              <a:rPr lang="en-GB" smtClean="0"/>
              <a:t>17</a:t>
            </a:fld>
            <a:endParaRPr lang="en-GB"/>
          </a:p>
        </p:txBody>
      </p:sp>
    </p:spTree>
    <p:extLst>
      <p:ext uri="{BB962C8B-B14F-4D97-AF65-F5344CB8AC3E}">
        <p14:creationId xmlns:p14="http://schemas.microsoft.com/office/powerpoint/2010/main" val="279232554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hr-HR" dirty="0"/>
              <a:t>Napomene za facilitatora</a:t>
            </a:r>
          </a:p>
          <a:p>
            <a:r>
              <a:rPr lang="hr-HR" dirty="0"/>
              <a:t>Predstavite kontrolne grafikone kao način praćenja vremena ciklusa (koliko dugo stavke traju od početka do završetka).</a:t>
            </a:r>
          </a:p>
          <a:p>
            <a:r>
              <a:rPr lang="hr-HR" dirty="0"/>
              <a:t>Objasnite kako izgleda „dobro” stanje:</a:t>
            </a:r>
          </a:p>
          <a:p>
            <a:r>
              <a:rPr lang="hr-HR" dirty="0"/>
              <a:t>Kratko vrijeme ciklusa → brža isporuka </a:t>
            </a:r>
          </a:p>
          <a:p>
            <a:r>
              <a:rPr lang="hr-HR" dirty="0"/>
              <a:t>Konzistentno vrijeme ciklusa → predvidljivost </a:t>
            </a:r>
          </a:p>
          <a:p>
            <a:r>
              <a:rPr lang="hr-HR" dirty="0"/>
              <a:t>Dodatni resursi:</a:t>
            </a:r>
            <a:br>
              <a:rPr lang="hr-HR" dirty="0"/>
            </a:br>
            <a:r>
              <a:rPr lang="hr-HR" dirty="0">
                <a:hlinkClick r:id="rId3"/>
              </a:rPr>
              <a:t>https://leanagiletools.com/control-chart/</a:t>
            </a:r>
            <a:br>
              <a:rPr lang="hr-HR" dirty="0"/>
            </a:br>
            <a:r>
              <a:rPr lang="hr-HR" dirty="0">
                <a:hlinkClick r:id="rId4"/>
              </a:rPr>
              <a:t>https://medium.com/design-bootcamp/agile-lesson-17-control-charts-what-they-are-and-how-to-spot-the-trouble-early-402d649abd35</a:t>
            </a:r>
            <a:endParaRPr lang="hr-HR" dirty="0"/>
          </a:p>
        </p:txBody>
      </p:sp>
      <p:sp>
        <p:nvSpPr>
          <p:cNvPr id="4" name="Segnaposto numero diapositiva 3"/>
          <p:cNvSpPr>
            <a:spLocks noGrp="1"/>
          </p:cNvSpPr>
          <p:nvPr>
            <p:ph type="sldNum" sz="quarter" idx="5"/>
          </p:nvPr>
        </p:nvSpPr>
        <p:spPr/>
        <p:txBody>
          <a:bodyPr/>
          <a:lstStyle/>
          <a:p>
            <a:fld id="{E93233AA-5D9D-4B19-AE31-9919BB97DFE7}" type="slidenum">
              <a:rPr lang="en-GB" smtClean="0"/>
              <a:t>18</a:t>
            </a:fld>
            <a:endParaRPr lang="en-GB"/>
          </a:p>
        </p:txBody>
      </p:sp>
    </p:spTree>
    <p:extLst>
      <p:ext uri="{BB962C8B-B14F-4D97-AF65-F5344CB8AC3E}">
        <p14:creationId xmlns:p14="http://schemas.microsoft.com/office/powerpoint/2010/main" val="326554217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hr-HR" dirty="0"/>
              <a:t>Napomene za facilitatora</a:t>
            </a:r>
          </a:p>
          <a:p>
            <a:r>
              <a:rPr lang="hr-HR" dirty="0"/>
              <a:t>Proširite fokus izvan brzine: kvaliteta i pouzdanost su ključni, jer inače „brže” postaje „brže ponovno popravljanje (</a:t>
            </a:r>
            <a:r>
              <a:rPr lang="hr-HR" dirty="0" err="1"/>
              <a:t>rework</a:t>
            </a:r>
            <a:r>
              <a:rPr lang="hr-HR" dirty="0"/>
              <a:t>)”.</a:t>
            </a:r>
          </a:p>
          <a:p>
            <a:r>
              <a:rPr lang="hr-HR" dirty="0"/>
              <a:t>Objasnite uravnotežen pristup:</a:t>
            </a:r>
          </a:p>
          <a:p>
            <a:r>
              <a:rPr lang="hr-HR" dirty="0"/>
              <a:t>Pokazatelji kvalitete (greške, zahtjevi za podršku, pokrivenost testovima) </a:t>
            </a:r>
          </a:p>
          <a:p>
            <a:r>
              <a:rPr lang="hr-HR" dirty="0"/>
              <a:t>Pokazatelji isporuke (učestalost izdanja, </a:t>
            </a:r>
            <a:r>
              <a:rPr lang="hr-HR" dirty="0" err="1"/>
              <a:t>lead</a:t>
            </a:r>
            <a:r>
              <a:rPr lang="hr-HR" dirty="0"/>
              <a:t> time) </a:t>
            </a:r>
          </a:p>
          <a:p>
            <a:r>
              <a:rPr lang="hr-HR" dirty="0"/>
              <a:t>Pokazatelji složenosti (težina implementacije, učestalost povrata na staru verziju – </a:t>
            </a:r>
            <a:r>
              <a:rPr lang="hr-HR" dirty="0" err="1"/>
              <a:t>rollback</a:t>
            </a:r>
            <a:r>
              <a:rPr lang="hr-HR" dirty="0"/>
              <a:t>) </a:t>
            </a:r>
          </a:p>
          <a:p>
            <a:r>
              <a:rPr lang="hr-HR" dirty="0"/>
              <a:t>Potaknite timove da odaberu mali broj metrika koje odgovaraju na konkretna pitanja; previše metrika smanjuje fokus.</a:t>
            </a:r>
          </a:p>
          <a:p>
            <a:r>
              <a:rPr lang="hr-HR" dirty="0"/>
              <a:t>Dodatni resurs:</a:t>
            </a:r>
            <a:br>
              <a:rPr lang="hr-HR" dirty="0"/>
            </a:br>
            <a:r>
              <a:rPr lang="hr-HR" dirty="0">
                <a:hlinkClick r:id="rId3"/>
              </a:rPr>
              <a:t>https://axify.io/blog/agile-metrics</a:t>
            </a:r>
            <a:endParaRPr lang="hr-HR" dirty="0"/>
          </a:p>
        </p:txBody>
      </p:sp>
      <p:sp>
        <p:nvSpPr>
          <p:cNvPr id="4" name="Segnaposto numero diapositiva 3"/>
          <p:cNvSpPr>
            <a:spLocks noGrp="1"/>
          </p:cNvSpPr>
          <p:nvPr>
            <p:ph type="sldNum" sz="quarter" idx="5"/>
          </p:nvPr>
        </p:nvSpPr>
        <p:spPr/>
        <p:txBody>
          <a:bodyPr/>
          <a:lstStyle/>
          <a:p>
            <a:fld id="{E93233AA-5D9D-4B19-AE31-9919BB97DFE7}" type="slidenum">
              <a:rPr lang="en-GB" smtClean="0"/>
              <a:t>19</a:t>
            </a:fld>
            <a:endParaRPr lang="en-GB"/>
          </a:p>
        </p:txBody>
      </p:sp>
    </p:spTree>
    <p:extLst>
      <p:ext uri="{BB962C8B-B14F-4D97-AF65-F5344CB8AC3E}">
        <p14:creationId xmlns:p14="http://schemas.microsoft.com/office/powerpoint/2010/main" val="221966683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dirty="0"/>
          </a:p>
        </p:txBody>
      </p:sp>
      <p:sp>
        <p:nvSpPr>
          <p:cNvPr id="4" name="Segnaposto numero diapositiva 3"/>
          <p:cNvSpPr>
            <a:spLocks noGrp="1"/>
          </p:cNvSpPr>
          <p:nvPr>
            <p:ph type="sldNum" sz="quarter" idx="5"/>
          </p:nvPr>
        </p:nvSpPr>
        <p:spPr/>
        <p:txBody>
          <a:bodyPr/>
          <a:lstStyle/>
          <a:p>
            <a:fld id="{E93233AA-5D9D-4B19-AE31-9919BB97DFE7}" type="slidenum">
              <a:rPr lang="en-GB" smtClean="0"/>
              <a:t>20</a:t>
            </a:fld>
            <a:endParaRPr lang="en-GB"/>
          </a:p>
        </p:txBody>
      </p:sp>
    </p:spTree>
    <p:extLst>
      <p:ext uri="{BB962C8B-B14F-4D97-AF65-F5344CB8AC3E}">
        <p14:creationId xmlns:p14="http://schemas.microsoft.com/office/powerpoint/2010/main" val="363268494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hr-HR" dirty="0"/>
              <a:t>Napomene za facilitatora</a:t>
            </a:r>
          </a:p>
          <a:p>
            <a:r>
              <a:rPr lang="hr-HR" dirty="0"/>
              <a:t>Napravite prijelaz s alata na organizacijsku stvarnost: </a:t>
            </a:r>
            <a:r>
              <a:rPr lang="hr-HR" dirty="0" err="1"/>
              <a:t>Agile</a:t>
            </a:r>
            <a:r>
              <a:rPr lang="hr-HR" dirty="0"/>
              <a:t> češće ne uspijeva zbog kulture i vodstva nego zbog </a:t>
            </a:r>
            <a:r>
              <a:rPr lang="hr-HR" dirty="0" err="1"/>
              <a:t>boardova</a:t>
            </a:r>
            <a:r>
              <a:rPr lang="hr-HR" dirty="0"/>
              <a:t> i ceremonija.</a:t>
            </a:r>
          </a:p>
          <a:p>
            <a:r>
              <a:rPr lang="hr-HR" dirty="0"/>
              <a:t>Postavite raspravu u okvir „prevencije rizika”: ako poznajemo uobičajene obrasce neuspjeha, možemo ih proaktivno ublažiti.</a:t>
            </a:r>
          </a:p>
          <a:p>
            <a:r>
              <a:rPr lang="hr-HR" dirty="0"/>
              <a:t>Dodatni resurs:</a:t>
            </a:r>
            <a:br>
              <a:rPr lang="hr-HR" dirty="0"/>
            </a:br>
            <a:r>
              <a:rPr lang="hr-HR" dirty="0">
                <a:hlinkClick r:id="rId3"/>
              </a:rPr>
              <a:t>https://www.scrum.org/resources/blog/why-agile-transformations-sometimes-fail</a:t>
            </a:r>
            <a:endParaRPr lang="hr-HR" dirty="0"/>
          </a:p>
        </p:txBody>
      </p:sp>
      <p:sp>
        <p:nvSpPr>
          <p:cNvPr id="4" name="Segnaposto numero diapositiva 3"/>
          <p:cNvSpPr>
            <a:spLocks noGrp="1"/>
          </p:cNvSpPr>
          <p:nvPr>
            <p:ph type="sldNum" sz="quarter" idx="5"/>
          </p:nvPr>
        </p:nvSpPr>
        <p:spPr/>
        <p:txBody>
          <a:bodyPr/>
          <a:lstStyle/>
          <a:p>
            <a:fld id="{E93233AA-5D9D-4B19-AE31-9919BB97DFE7}" type="slidenum">
              <a:rPr lang="en-GB" smtClean="0"/>
              <a:t>22</a:t>
            </a:fld>
            <a:endParaRPr lang="en-GB"/>
          </a:p>
        </p:txBody>
      </p:sp>
    </p:spTree>
    <p:extLst>
      <p:ext uri="{BB962C8B-B14F-4D97-AF65-F5344CB8AC3E}">
        <p14:creationId xmlns:p14="http://schemas.microsoft.com/office/powerpoint/2010/main" val="52003045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hr-HR" dirty="0"/>
              <a:t>Napomene za facilitatora</a:t>
            </a:r>
          </a:p>
          <a:p>
            <a:r>
              <a:rPr lang="hr-HR" dirty="0"/>
              <a:t>Pitajte polaznike: „Koja je tema najrizičnija i koji bi bio prvi korak ublažavanja tog rizika?”</a:t>
            </a:r>
          </a:p>
          <a:p>
            <a:r>
              <a:rPr lang="hr-HR" dirty="0"/>
              <a:t>Dodatni resursi:</a:t>
            </a:r>
            <a:br>
              <a:rPr lang="hr-HR" dirty="0"/>
            </a:br>
            <a:r>
              <a:rPr lang="hr-HR" dirty="0">
                <a:hlinkClick r:id="rId3"/>
              </a:rPr>
              <a:t>https://www.inflectra.com/Ideas/Whitepaper/Agile-Transformation-Failure-Due-To-Management-Debt.aspx</a:t>
            </a:r>
            <a:br>
              <a:rPr lang="hr-HR" dirty="0"/>
            </a:br>
            <a:r>
              <a:rPr lang="hr-HR" dirty="0">
                <a:hlinkClick r:id="rId4"/>
              </a:rPr>
              <a:t>https://premieragile.com/why-agile-transformations-fail/</a:t>
            </a:r>
            <a:br>
              <a:rPr lang="hr-HR" dirty="0"/>
            </a:br>
            <a:r>
              <a:rPr lang="hr-HR" dirty="0">
                <a:hlinkClick r:id="rId5"/>
              </a:rPr>
              <a:t>https://www.youtube.com/watch?v=4uB7z5ol-T0</a:t>
            </a:r>
            <a:br>
              <a:rPr lang="hr-HR" dirty="0"/>
            </a:br>
            <a:r>
              <a:rPr lang="hr-HR" dirty="0">
                <a:hlinkClick r:id="rId6"/>
              </a:rPr>
              <a:t>https://docs.broadcom.com/doc/recognizing-the-twelve-failure-modes-in-agile-transformation</a:t>
            </a:r>
            <a:endParaRPr lang="hr-HR" dirty="0"/>
          </a:p>
        </p:txBody>
      </p:sp>
      <p:sp>
        <p:nvSpPr>
          <p:cNvPr id="4" name="Segnaposto numero diapositiva 3"/>
          <p:cNvSpPr>
            <a:spLocks noGrp="1"/>
          </p:cNvSpPr>
          <p:nvPr>
            <p:ph type="sldNum" sz="quarter" idx="5"/>
          </p:nvPr>
        </p:nvSpPr>
        <p:spPr/>
        <p:txBody>
          <a:bodyPr/>
          <a:lstStyle/>
          <a:p>
            <a:fld id="{E93233AA-5D9D-4B19-AE31-9919BB97DFE7}" type="slidenum">
              <a:rPr lang="en-GB" smtClean="0"/>
              <a:t>23</a:t>
            </a:fld>
            <a:endParaRPr lang="en-GB"/>
          </a:p>
        </p:txBody>
      </p:sp>
    </p:spTree>
    <p:extLst>
      <p:ext uri="{BB962C8B-B14F-4D97-AF65-F5344CB8AC3E}">
        <p14:creationId xmlns:p14="http://schemas.microsoft.com/office/powerpoint/2010/main" val="64625017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hr-HR" dirty="0"/>
              <a:t>Napomene za facilitatora</a:t>
            </a:r>
          </a:p>
          <a:p>
            <a:r>
              <a:rPr lang="hr-HR" dirty="0"/>
              <a:t>Nemojte žuriti kroz popis. Grupirajte uzroke u teme:</a:t>
            </a:r>
          </a:p>
          <a:p>
            <a:r>
              <a:rPr lang="hr-HR" dirty="0"/>
              <a:t>Kultura i vodstvo </a:t>
            </a:r>
          </a:p>
          <a:p>
            <a:r>
              <a:rPr lang="hr-HR" dirty="0"/>
              <a:t>Kompetencije i edukacija </a:t>
            </a:r>
          </a:p>
          <a:p>
            <a:r>
              <a:rPr lang="hr-HR" dirty="0"/>
              <a:t>Sučelja s ne-</a:t>
            </a:r>
            <a:r>
              <a:rPr lang="hr-HR" dirty="0" err="1"/>
              <a:t>Agile</a:t>
            </a:r>
            <a:r>
              <a:rPr lang="hr-HR" dirty="0"/>
              <a:t> dijelovima organizacije </a:t>
            </a:r>
          </a:p>
          <a:p>
            <a:r>
              <a:rPr lang="hr-HR" dirty="0"/>
              <a:t>Komunikacija i timska dinamika</a:t>
            </a:r>
          </a:p>
        </p:txBody>
      </p:sp>
      <p:sp>
        <p:nvSpPr>
          <p:cNvPr id="4" name="Segnaposto numero diapositiva 3"/>
          <p:cNvSpPr>
            <a:spLocks noGrp="1"/>
          </p:cNvSpPr>
          <p:nvPr>
            <p:ph type="sldNum" sz="quarter" idx="5"/>
          </p:nvPr>
        </p:nvSpPr>
        <p:spPr/>
        <p:txBody>
          <a:bodyPr/>
          <a:lstStyle/>
          <a:p>
            <a:fld id="{E93233AA-5D9D-4B19-AE31-9919BB97DFE7}" type="slidenum">
              <a:rPr lang="en-GB" smtClean="0"/>
              <a:t>24</a:t>
            </a:fld>
            <a:endParaRPr lang="en-GB"/>
          </a:p>
        </p:txBody>
      </p:sp>
    </p:spTree>
    <p:extLst>
      <p:ext uri="{BB962C8B-B14F-4D97-AF65-F5344CB8AC3E}">
        <p14:creationId xmlns:p14="http://schemas.microsoft.com/office/powerpoint/2010/main" val="325713869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dirty="0"/>
          </a:p>
        </p:txBody>
      </p:sp>
      <p:sp>
        <p:nvSpPr>
          <p:cNvPr id="4" name="Segnaposto numero diapositiva 3"/>
          <p:cNvSpPr>
            <a:spLocks noGrp="1"/>
          </p:cNvSpPr>
          <p:nvPr>
            <p:ph type="sldNum" sz="quarter" idx="5"/>
          </p:nvPr>
        </p:nvSpPr>
        <p:spPr/>
        <p:txBody>
          <a:bodyPr/>
          <a:lstStyle/>
          <a:p>
            <a:fld id="{E93233AA-5D9D-4B19-AE31-9919BB97DFE7}" type="slidenum">
              <a:rPr lang="en-GB" smtClean="0"/>
              <a:t>26</a:t>
            </a:fld>
            <a:endParaRPr lang="en-GB"/>
          </a:p>
        </p:txBody>
      </p:sp>
    </p:spTree>
    <p:extLst>
      <p:ext uri="{BB962C8B-B14F-4D97-AF65-F5344CB8AC3E}">
        <p14:creationId xmlns:p14="http://schemas.microsoft.com/office/powerpoint/2010/main" val="318226788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hr-HR" dirty="0"/>
              <a:t>Napomene za facilitatora</a:t>
            </a:r>
          </a:p>
          <a:p>
            <a:r>
              <a:rPr lang="hr-HR" dirty="0"/>
              <a:t>Prikažite jednostavan okvir upravljanja promjenama: kada nedostaju ključni elementi, promjena ne uspijeva.</a:t>
            </a:r>
          </a:p>
          <a:p>
            <a:r>
              <a:rPr lang="hr-HR" dirty="0"/>
              <a:t>Prođite kroz model i prevedite ga:</a:t>
            </a:r>
          </a:p>
          <a:p>
            <a:r>
              <a:rPr lang="hr-HR" dirty="0"/>
              <a:t>Vizija (zašto) </a:t>
            </a:r>
          </a:p>
          <a:p>
            <a:r>
              <a:rPr lang="hr-HR" dirty="0"/>
              <a:t>Vještine (kako) </a:t>
            </a:r>
          </a:p>
          <a:p>
            <a:r>
              <a:rPr lang="hr-HR" dirty="0"/>
              <a:t>Poticaji (motivacija) </a:t>
            </a:r>
          </a:p>
          <a:p>
            <a:r>
              <a:rPr lang="hr-HR" dirty="0"/>
              <a:t>Resursi (kapacitet) </a:t>
            </a:r>
          </a:p>
          <a:p>
            <a:r>
              <a:rPr lang="hr-HR" dirty="0"/>
              <a:t>Akcijski plan (koraci) </a:t>
            </a:r>
          </a:p>
          <a:p>
            <a:r>
              <a:rPr lang="hr-HR" dirty="0"/>
              <a:t>Nedostatak bilo kojeg elementa dovodi do predvidljivih obrazaca neuspjeha!</a:t>
            </a:r>
          </a:p>
          <a:p>
            <a:r>
              <a:rPr lang="hr-HR" dirty="0"/>
              <a:t>Dodatni resursi:</a:t>
            </a:r>
            <a:br>
              <a:rPr lang="hr-HR" dirty="0"/>
            </a:br>
            <a:r>
              <a:rPr lang="hr-HR" dirty="0">
                <a:hlinkClick r:id="rId3"/>
              </a:rPr>
              <a:t>https://whoek.com/b/knoster_managing-change.html</a:t>
            </a:r>
            <a:br>
              <a:rPr lang="hr-HR" dirty="0"/>
            </a:br>
            <a:r>
              <a:rPr lang="hr-HR" dirty="0">
                <a:hlinkClick r:id="rId4"/>
              </a:rPr>
              <a:t>https://agilityportal.io/blog/knoster-model-for-change?tmpl=component&amp;print=1&amp;format=print</a:t>
            </a:r>
            <a:endParaRPr lang="hr-HR" dirty="0"/>
          </a:p>
        </p:txBody>
      </p:sp>
      <p:sp>
        <p:nvSpPr>
          <p:cNvPr id="4" name="Segnaposto numero diapositiva 3"/>
          <p:cNvSpPr>
            <a:spLocks noGrp="1"/>
          </p:cNvSpPr>
          <p:nvPr>
            <p:ph type="sldNum" sz="quarter" idx="5"/>
          </p:nvPr>
        </p:nvSpPr>
        <p:spPr/>
        <p:txBody>
          <a:bodyPr/>
          <a:lstStyle/>
          <a:p>
            <a:fld id="{E93233AA-5D9D-4B19-AE31-9919BB97DFE7}" type="slidenum">
              <a:rPr lang="en-GB" smtClean="0"/>
              <a:t>27</a:t>
            </a:fld>
            <a:endParaRPr lang="en-GB"/>
          </a:p>
        </p:txBody>
      </p:sp>
    </p:spTree>
    <p:extLst>
      <p:ext uri="{BB962C8B-B14F-4D97-AF65-F5344CB8AC3E}">
        <p14:creationId xmlns:p14="http://schemas.microsoft.com/office/powerpoint/2010/main" val="131696407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hr-HR" dirty="0"/>
              <a:t>Napomene za facilitatora</a:t>
            </a:r>
          </a:p>
          <a:p>
            <a:r>
              <a:rPr lang="hr-HR" dirty="0"/>
              <a:t>Razjasnite razliku između provođenja </a:t>
            </a:r>
            <a:r>
              <a:rPr lang="hr-HR" dirty="0" err="1"/>
              <a:t>Agile</a:t>
            </a:r>
            <a:r>
              <a:rPr lang="hr-HR" dirty="0"/>
              <a:t> praksi i postajanja </a:t>
            </a:r>
            <a:r>
              <a:rPr lang="hr-HR" dirty="0" err="1"/>
              <a:t>Agile</a:t>
            </a:r>
            <a:r>
              <a:rPr lang="hr-HR" dirty="0"/>
              <a:t> organizacijom.</a:t>
            </a:r>
          </a:p>
          <a:p>
            <a:r>
              <a:rPr lang="hr-HR" dirty="0"/>
              <a:t>Koristite jednostavne definicije:</a:t>
            </a:r>
          </a:p>
          <a:p>
            <a:r>
              <a:rPr lang="hr-HR" dirty="0"/>
              <a:t>Usvajanje (</a:t>
            </a:r>
            <a:r>
              <a:rPr lang="hr-HR" dirty="0" err="1"/>
              <a:t>adoption</a:t>
            </a:r>
            <a:r>
              <a:rPr lang="hr-HR" dirty="0"/>
              <a:t>) → korištenje alata i ceremonija usklađenih s </a:t>
            </a:r>
            <a:r>
              <a:rPr lang="hr-HR" dirty="0" err="1"/>
              <a:t>Agile</a:t>
            </a:r>
            <a:r>
              <a:rPr lang="hr-HR" dirty="0"/>
              <a:t> principima </a:t>
            </a:r>
          </a:p>
          <a:p>
            <a:r>
              <a:rPr lang="hr-HR" dirty="0"/>
              <a:t>Transformacija → promjena kulture, struktura, poticaja i načina donošenja odluka </a:t>
            </a:r>
          </a:p>
          <a:p>
            <a:r>
              <a:rPr lang="hr-HR" dirty="0"/>
              <a:t>Dodatni resursi:</a:t>
            </a:r>
            <a:br>
              <a:rPr lang="hr-HR" dirty="0"/>
            </a:br>
            <a:r>
              <a:rPr lang="hr-HR" dirty="0">
                <a:hlinkClick r:id="rId3"/>
              </a:rPr>
              <a:t>https://www.agilesherpas.com/blog/agile-transformation-vs-agile-adoption</a:t>
            </a:r>
            <a:endParaRPr lang="hr-HR" dirty="0"/>
          </a:p>
        </p:txBody>
      </p:sp>
      <p:sp>
        <p:nvSpPr>
          <p:cNvPr id="4" name="Segnaposto numero diapositiva 3"/>
          <p:cNvSpPr>
            <a:spLocks noGrp="1"/>
          </p:cNvSpPr>
          <p:nvPr>
            <p:ph type="sldNum" sz="quarter" idx="5"/>
          </p:nvPr>
        </p:nvSpPr>
        <p:spPr/>
        <p:txBody>
          <a:bodyPr/>
          <a:lstStyle/>
          <a:p>
            <a:fld id="{E93233AA-5D9D-4B19-AE31-9919BB97DFE7}" type="slidenum">
              <a:rPr lang="en-GB" smtClean="0"/>
              <a:t>28</a:t>
            </a:fld>
            <a:endParaRPr lang="en-GB"/>
          </a:p>
        </p:txBody>
      </p:sp>
    </p:spTree>
    <p:extLst>
      <p:ext uri="{BB962C8B-B14F-4D97-AF65-F5344CB8AC3E}">
        <p14:creationId xmlns:p14="http://schemas.microsoft.com/office/powerpoint/2010/main" val="147065374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hr-HR" dirty="0"/>
              <a:t>Napomene za facilitatora</a:t>
            </a:r>
          </a:p>
          <a:p>
            <a:r>
              <a:rPr lang="hr-HR" dirty="0"/>
              <a:t>Ključne poruke koje treba naglasiti:</a:t>
            </a:r>
          </a:p>
          <a:p>
            <a:r>
              <a:rPr lang="hr-HR" dirty="0"/>
              <a:t>Usvajanje (</a:t>
            </a:r>
            <a:r>
              <a:rPr lang="hr-HR" dirty="0" err="1"/>
              <a:t>adoption</a:t>
            </a:r>
            <a:r>
              <a:rPr lang="hr-HR" dirty="0"/>
              <a:t>) bez transformacije često dolazi do zasićenja i zaustavlja se na određenoj razini. </a:t>
            </a:r>
          </a:p>
          <a:p>
            <a:r>
              <a:rPr lang="hr-HR" dirty="0"/>
              <a:t>Transformacija zahtijeva vodstvo, strpljenje i sustavnu promjenu. </a:t>
            </a:r>
          </a:p>
          <a:p>
            <a:r>
              <a:rPr lang="hr-HR" dirty="0"/>
              <a:t>Dodatni resursi:</a:t>
            </a:r>
            <a:br>
              <a:rPr lang="hr-HR" dirty="0"/>
            </a:br>
            <a:r>
              <a:rPr lang="hr-HR" dirty="0">
                <a:hlinkClick r:id="rId3"/>
              </a:rPr>
              <a:t>https://www.agilityarabia.com/blog/agile-adoption-vs-agile-transformation-are-you-truly-embracing-agility</a:t>
            </a:r>
            <a:br>
              <a:rPr lang="hr-HR" dirty="0"/>
            </a:br>
            <a:r>
              <a:rPr lang="hr-HR" dirty="0">
                <a:hlinkClick r:id="rId4"/>
              </a:rPr>
              <a:t>https://www.youtube.com/watch?v=w3YmH9_KNDQ</a:t>
            </a:r>
            <a:endParaRPr lang="hr-HR" dirty="0"/>
          </a:p>
        </p:txBody>
      </p:sp>
      <p:sp>
        <p:nvSpPr>
          <p:cNvPr id="4" name="Segnaposto numero diapositiva 3"/>
          <p:cNvSpPr>
            <a:spLocks noGrp="1"/>
          </p:cNvSpPr>
          <p:nvPr>
            <p:ph type="sldNum" sz="quarter" idx="5"/>
          </p:nvPr>
        </p:nvSpPr>
        <p:spPr/>
        <p:txBody>
          <a:bodyPr/>
          <a:lstStyle/>
          <a:p>
            <a:fld id="{E93233AA-5D9D-4B19-AE31-9919BB97DFE7}" type="slidenum">
              <a:rPr lang="en-GB" smtClean="0"/>
              <a:t>29</a:t>
            </a:fld>
            <a:endParaRPr lang="en-GB"/>
          </a:p>
        </p:txBody>
      </p:sp>
    </p:spTree>
    <p:extLst>
      <p:ext uri="{BB962C8B-B14F-4D97-AF65-F5344CB8AC3E}">
        <p14:creationId xmlns:p14="http://schemas.microsoft.com/office/powerpoint/2010/main" val="414501699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hr-HR" dirty="0"/>
              <a:t>Napomene za facilitatora</a:t>
            </a:r>
          </a:p>
          <a:p>
            <a:r>
              <a:rPr lang="hr-HR" dirty="0"/>
              <a:t>Naglasite:</a:t>
            </a:r>
          </a:p>
          <a:p>
            <a:r>
              <a:rPr lang="hr-HR" dirty="0" err="1"/>
              <a:t>Gantt</a:t>
            </a:r>
            <a:r>
              <a:rPr lang="hr-HR" dirty="0"/>
              <a:t> dijagram se može izvesti iz </a:t>
            </a:r>
            <a:r>
              <a:rPr lang="hr-HR" dirty="0" err="1"/>
              <a:t>backlog</a:t>
            </a:r>
            <a:r>
              <a:rPr lang="hr-HR" dirty="0"/>
              <a:t> stavki i njihovih ovisnosti. </a:t>
            </a:r>
          </a:p>
          <a:p>
            <a:r>
              <a:rPr lang="hr-HR" dirty="0"/>
              <a:t>Treba ga ažurirati kako se mijenjaju stvarni podaci (ne tretirati ga kao fiksno obećanje). </a:t>
            </a:r>
          </a:p>
          <a:p>
            <a:r>
              <a:rPr lang="hr-HR" dirty="0"/>
              <a:t>Cilj je transparentnost: koristiti </a:t>
            </a:r>
            <a:r>
              <a:rPr lang="hr-HR" dirty="0" err="1"/>
              <a:t>Gantt</a:t>
            </a:r>
            <a:r>
              <a:rPr lang="hr-HR" dirty="0"/>
              <a:t> za komunikaciju na </a:t>
            </a:r>
            <a:r>
              <a:rPr lang="hr-HR" dirty="0" err="1"/>
              <a:t>makrorazini</a:t>
            </a:r>
            <a:r>
              <a:rPr lang="hr-HR" dirty="0"/>
              <a:t>, a </a:t>
            </a:r>
            <a:r>
              <a:rPr lang="hr-HR" dirty="0" err="1"/>
              <a:t>board</a:t>
            </a:r>
            <a:r>
              <a:rPr lang="hr-HR" dirty="0"/>
              <a:t>/</a:t>
            </a:r>
            <a:r>
              <a:rPr lang="hr-HR" dirty="0" err="1"/>
              <a:t>backlog</a:t>
            </a:r>
            <a:r>
              <a:rPr lang="hr-HR" dirty="0"/>
              <a:t> za svakodnevnu isporuku.</a:t>
            </a:r>
          </a:p>
        </p:txBody>
      </p:sp>
      <p:sp>
        <p:nvSpPr>
          <p:cNvPr id="4" name="Segnaposto numero diapositiva 3"/>
          <p:cNvSpPr>
            <a:spLocks noGrp="1"/>
          </p:cNvSpPr>
          <p:nvPr>
            <p:ph type="sldNum" sz="quarter" idx="5"/>
          </p:nvPr>
        </p:nvSpPr>
        <p:spPr/>
        <p:txBody>
          <a:bodyPr/>
          <a:lstStyle/>
          <a:p>
            <a:fld id="{E93233AA-5D9D-4B19-AE31-9919BB97DFE7}" type="slidenum">
              <a:rPr lang="en-GB" smtClean="0"/>
              <a:t>31</a:t>
            </a:fld>
            <a:endParaRPr lang="en-GB"/>
          </a:p>
        </p:txBody>
      </p:sp>
    </p:spTree>
    <p:extLst>
      <p:ext uri="{BB962C8B-B14F-4D97-AF65-F5344CB8AC3E}">
        <p14:creationId xmlns:p14="http://schemas.microsoft.com/office/powerpoint/2010/main" val="168079073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br>
              <a:rPr lang="hr-HR" sz="1200" b="0" i="0" kern="1200" dirty="0">
                <a:solidFill>
                  <a:schemeClr val="tx1"/>
                </a:solidFill>
                <a:effectLst/>
                <a:latin typeface="+mn-lt"/>
                <a:ea typeface="+mn-ea"/>
                <a:cs typeface="+mn-cs"/>
              </a:rPr>
            </a:br>
            <a:endParaRPr lang="hr-HR" sz="1200" b="0" i="0" kern="1200" dirty="0">
              <a:solidFill>
                <a:schemeClr val="tx1"/>
              </a:solidFill>
              <a:effectLst/>
              <a:latin typeface="+mn-lt"/>
              <a:ea typeface="+mn-ea"/>
              <a:cs typeface="+mn-cs"/>
            </a:endParaRPr>
          </a:p>
          <a:p>
            <a:r>
              <a:rPr lang="hr-HR" sz="1200" b="0" i="0" kern="1200" dirty="0">
                <a:solidFill>
                  <a:schemeClr val="tx1"/>
                </a:solidFill>
                <a:effectLst/>
                <a:latin typeface="+mn-lt"/>
                <a:ea typeface="+mn-ea"/>
                <a:cs typeface="+mn-cs"/>
              </a:rPr>
              <a:t>prevedi: </a:t>
            </a:r>
            <a:r>
              <a:rPr lang="hr-HR" sz="1200" b="0" i="0" kern="1200" dirty="0" err="1">
                <a:solidFill>
                  <a:schemeClr val="tx1"/>
                </a:solidFill>
                <a:effectLst/>
                <a:latin typeface="+mn-lt"/>
                <a:ea typeface="+mn-ea"/>
                <a:cs typeface="+mn-cs"/>
              </a:rPr>
              <a:t>Measuring</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performance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and</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preventing</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failure</a:t>
            </a:r>
            <a:endParaRPr lang="hr-HR" sz="1200" b="0" i="0" kern="1200" dirty="0">
              <a:solidFill>
                <a:schemeClr val="tx1"/>
              </a:solidFill>
              <a:effectLst/>
              <a:latin typeface="+mn-lt"/>
              <a:ea typeface="+mn-ea"/>
              <a:cs typeface="+mn-cs"/>
            </a:endParaRPr>
          </a:p>
          <a:p>
            <a:br>
              <a:rPr lang="hr-HR" sz="1200" b="0" i="0" kern="1200" dirty="0">
                <a:solidFill>
                  <a:schemeClr val="tx1"/>
                </a:solidFill>
                <a:effectLst/>
                <a:latin typeface="+mn-lt"/>
                <a:ea typeface="+mn-ea"/>
                <a:cs typeface="+mn-cs"/>
              </a:rPr>
            </a:br>
            <a:endParaRPr lang="hr-HR" sz="1200" b="0" i="0" kern="1200" dirty="0">
              <a:solidFill>
                <a:schemeClr val="tx1"/>
              </a:solidFill>
              <a:effectLst/>
              <a:latin typeface="+mn-lt"/>
              <a:ea typeface="+mn-ea"/>
              <a:cs typeface="+mn-cs"/>
            </a:endParaRPr>
          </a:p>
          <a:p>
            <a:r>
              <a:rPr lang="hr-HR" sz="1200" b="0" i="0" kern="1200" dirty="0">
                <a:solidFill>
                  <a:schemeClr val="tx1"/>
                </a:solidFill>
                <a:effectLst/>
                <a:latin typeface="+mn-lt"/>
                <a:ea typeface="+mn-ea"/>
                <a:cs typeface="+mn-cs"/>
              </a:rPr>
              <a:t>Mjerenje uspješnosti i sprječavanje neuspjeha</a:t>
            </a:r>
          </a:p>
          <a:p>
            <a:br>
              <a:rPr lang="hr-HR" sz="1200" b="0" i="0" kern="1200" dirty="0">
                <a:solidFill>
                  <a:schemeClr val="tx1"/>
                </a:solidFill>
                <a:effectLst/>
                <a:latin typeface="+mn-lt"/>
                <a:ea typeface="+mn-ea"/>
                <a:cs typeface="+mn-cs"/>
              </a:rPr>
            </a:br>
            <a:endParaRPr lang="hr-HR" sz="1200" b="0" i="0" kern="1200" dirty="0">
              <a:solidFill>
                <a:schemeClr val="tx1"/>
              </a:solidFill>
              <a:effectLst/>
              <a:latin typeface="+mn-lt"/>
              <a:ea typeface="+mn-ea"/>
              <a:cs typeface="+mn-cs"/>
            </a:endParaRPr>
          </a:p>
          <a:p>
            <a:r>
              <a:rPr lang="hr-HR" sz="1200" b="0" i="0" kern="1200" dirty="0">
                <a:solidFill>
                  <a:schemeClr val="tx1"/>
                </a:solidFill>
                <a:effectLst/>
                <a:latin typeface="+mn-lt"/>
                <a:ea typeface="+mn-ea"/>
                <a:cs typeface="+mn-cs"/>
              </a:rPr>
              <a:t>prevedi: 4.1 How to </a:t>
            </a:r>
            <a:r>
              <a:rPr lang="hr-HR" sz="1200" b="0" i="0" kern="1200" dirty="0" err="1">
                <a:solidFill>
                  <a:schemeClr val="tx1"/>
                </a:solidFill>
                <a:effectLst/>
                <a:latin typeface="+mn-lt"/>
                <a:ea typeface="+mn-ea"/>
                <a:cs typeface="+mn-cs"/>
              </a:rPr>
              <a:t>measure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performance</a:t>
            </a:r>
            <a:r>
              <a:rPr lang="hr-HR" sz="1200" b="0" i="0" kern="1200" dirty="0">
                <a:solidFill>
                  <a:schemeClr val="tx1"/>
                </a:solidFill>
                <a:effectLst/>
                <a:latin typeface="+mn-lt"/>
                <a:ea typeface="+mn-ea"/>
                <a:cs typeface="+mn-cs"/>
              </a:rPr>
              <a:t> (2.5 </a:t>
            </a:r>
            <a:r>
              <a:rPr lang="hr-HR" sz="1200" b="0" i="0" kern="1200" dirty="0" err="1">
                <a:solidFill>
                  <a:schemeClr val="tx1"/>
                </a:solidFill>
                <a:effectLst/>
                <a:latin typeface="+mn-lt"/>
                <a:ea typeface="+mn-ea"/>
                <a:cs typeface="+mn-cs"/>
              </a:rPr>
              <a:t>hours</a:t>
            </a:r>
            <a:r>
              <a:rPr lang="hr-HR" sz="1200" b="0" i="0" kern="1200" dirty="0">
                <a:solidFill>
                  <a:schemeClr val="tx1"/>
                </a:solidFill>
                <a:effectLst/>
                <a:latin typeface="+mn-lt"/>
                <a:ea typeface="+mn-ea"/>
                <a:cs typeface="+mn-cs"/>
              </a:rPr>
              <a:t>) 4.2 How to </a:t>
            </a:r>
            <a:r>
              <a:rPr lang="hr-HR" sz="1200" b="0" i="0" kern="1200" dirty="0" err="1">
                <a:solidFill>
                  <a:schemeClr val="tx1"/>
                </a:solidFill>
                <a:effectLst/>
                <a:latin typeface="+mn-lt"/>
                <a:ea typeface="+mn-ea"/>
                <a:cs typeface="+mn-cs"/>
              </a:rPr>
              <a:t>avoid</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failure</a:t>
            </a:r>
            <a:r>
              <a:rPr lang="hr-HR" sz="1200" b="0" i="0" kern="1200" dirty="0">
                <a:solidFill>
                  <a:schemeClr val="tx1"/>
                </a:solidFill>
                <a:effectLst/>
                <a:latin typeface="+mn-lt"/>
                <a:ea typeface="+mn-ea"/>
                <a:cs typeface="+mn-cs"/>
              </a:rPr>
              <a:t> (2.5 </a:t>
            </a:r>
            <a:r>
              <a:rPr lang="hr-HR" sz="1200" b="0" i="0" kern="1200" dirty="0" err="1">
                <a:solidFill>
                  <a:schemeClr val="tx1"/>
                </a:solidFill>
                <a:effectLst/>
                <a:latin typeface="+mn-lt"/>
                <a:ea typeface="+mn-ea"/>
                <a:cs typeface="+mn-cs"/>
              </a:rPr>
              <a:t>hours</a:t>
            </a:r>
            <a:r>
              <a:rPr lang="hr-HR" sz="1200" b="0" i="0" kern="1200" dirty="0">
                <a:solidFill>
                  <a:schemeClr val="tx1"/>
                </a:solidFill>
                <a:effectLst/>
                <a:latin typeface="+mn-lt"/>
                <a:ea typeface="+mn-ea"/>
                <a:cs typeface="+mn-cs"/>
              </a:rPr>
              <a:t>) 4.3 </a:t>
            </a:r>
            <a:r>
              <a:rPr lang="hr-HR" sz="1200" b="0" i="0" kern="1200" dirty="0" err="1">
                <a:solidFill>
                  <a:schemeClr val="tx1"/>
                </a:solidFill>
                <a:effectLst/>
                <a:latin typeface="+mn-lt"/>
                <a:ea typeface="+mn-ea"/>
                <a:cs typeface="+mn-cs"/>
              </a:rPr>
              <a:t>Reconciling</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Waterfall</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and</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Agile</a:t>
            </a:r>
            <a:r>
              <a:rPr lang="hr-HR" sz="1200" b="0" i="0" kern="1200" dirty="0">
                <a:solidFill>
                  <a:schemeClr val="tx1"/>
                </a:solidFill>
                <a:effectLst/>
                <a:latin typeface="+mn-lt"/>
                <a:ea typeface="+mn-ea"/>
                <a:cs typeface="+mn-cs"/>
              </a:rPr>
              <a:t> (2.5 </a:t>
            </a:r>
            <a:r>
              <a:rPr lang="hr-HR" sz="1200" b="0" i="0" kern="1200" dirty="0" err="1">
                <a:solidFill>
                  <a:schemeClr val="tx1"/>
                </a:solidFill>
                <a:effectLst/>
                <a:latin typeface="+mn-lt"/>
                <a:ea typeface="+mn-ea"/>
                <a:cs typeface="+mn-cs"/>
              </a:rPr>
              <a:t>hours</a:t>
            </a:r>
            <a:r>
              <a:rPr lang="hr-HR" sz="1200" b="0" i="0" kern="1200" dirty="0">
                <a:solidFill>
                  <a:schemeClr val="tx1"/>
                </a:solidFill>
                <a:effectLst/>
                <a:latin typeface="+mn-lt"/>
                <a:ea typeface="+mn-ea"/>
                <a:cs typeface="+mn-cs"/>
              </a:rPr>
              <a:t>) </a:t>
            </a:r>
          </a:p>
          <a:p>
            <a:br>
              <a:rPr lang="hr-HR" sz="1200" b="0" i="0" kern="1200" dirty="0">
                <a:solidFill>
                  <a:schemeClr val="tx1"/>
                </a:solidFill>
                <a:effectLst/>
                <a:latin typeface="+mn-lt"/>
                <a:ea typeface="+mn-ea"/>
                <a:cs typeface="+mn-cs"/>
              </a:rPr>
            </a:br>
            <a:endParaRPr lang="hr-HR" sz="1200" b="0" i="0" kern="1200" dirty="0">
              <a:solidFill>
                <a:schemeClr val="tx1"/>
              </a:solidFill>
              <a:effectLst/>
              <a:latin typeface="+mn-lt"/>
              <a:ea typeface="+mn-ea"/>
              <a:cs typeface="+mn-cs"/>
            </a:endParaRPr>
          </a:p>
          <a:p>
            <a:r>
              <a:rPr lang="hr-HR" sz="1200" b="0" i="0" kern="1200" dirty="0">
                <a:solidFill>
                  <a:schemeClr val="tx1"/>
                </a:solidFill>
                <a:effectLst/>
                <a:latin typeface="+mn-lt"/>
                <a:ea typeface="+mn-ea"/>
                <a:cs typeface="+mn-cs"/>
              </a:rPr>
              <a:t>4.1 Kako mjeriti uspješnost (2,5 sata)</a:t>
            </a:r>
            <a:br>
              <a:rPr lang="hr-HR" sz="1200" b="0" i="0" kern="1200" dirty="0">
                <a:solidFill>
                  <a:schemeClr val="tx1"/>
                </a:solidFill>
                <a:effectLst/>
                <a:latin typeface="+mn-lt"/>
                <a:ea typeface="+mn-ea"/>
                <a:cs typeface="+mn-cs"/>
              </a:rPr>
            </a:br>
            <a:r>
              <a:rPr lang="hr-HR" sz="1200" b="0" i="0" kern="1200" dirty="0">
                <a:solidFill>
                  <a:schemeClr val="tx1"/>
                </a:solidFill>
                <a:effectLst/>
                <a:latin typeface="+mn-lt"/>
                <a:ea typeface="+mn-ea"/>
                <a:cs typeface="+mn-cs"/>
              </a:rPr>
              <a:t>4.2 Kako izbjeći neuspjeh (2,5 sata)</a:t>
            </a:r>
            <a:br>
              <a:rPr lang="hr-HR" sz="1200" b="0" i="0" kern="1200" dirty="0">
                <a:solidFill>
                  <a:schemeClr val="tx1"/>
                </a:solidFill>
                <a:effectLst/>
                <a:latin typeface="+mn-lt"/>
                <a:ea typeface="+mn-ea"/>
                <a:cs typeface="+mn-cs"/>
              </a:rPr>
            </a:br>
            <a:r>
              <a:rPr lang="hr-HR" sz="1200" b="0" i="0" kern="1200" dirty="0">
                <a:solidFill>
                  <a:schemeClr val="tx1"/>
                </a:solidFill>
                <a:effectLst/>
                <a:latin typeface="+mn-lt"/>
                <a:ea typeface="+mn-ea"/>
                <a:cs typeface="+mn-cs"/>
              </a:rPr>
              <a:t>4.3 Usklađivanje </a:t>
            </a:r>
            <a:r>
              <a:rPr lang="hr-HR" sz="1200" b="0" i="0" kern="1200" dirty="0" err="1">
                <a:solidFill>
                  <a:schemeClr val="tx1"/>
                </a:solidFill>
                <a:effectLst/>
                <a:latin typeface="+mn-lt"/>
                <a:ea typeface="+mn-ea"/>
                <a:cs typeface="+mn-cs"/>
              </a:rPr>
              <a:t>Waterfall</a:t>
            </a:r>
            <a:r>
              <a:rPr lang="hr-HR" sz="1200" b="0" i="0" kern="1200" dirty="0">
                <a:solidFill>
                  <a:schemeClr val="tx1"/>
                </a:solidFill>
                <a:effectLst/>
                <a:latin typeface="+mn-lt"/>
                <a:ea typeface="+mn-ea"/>
                <a:cs typeface="+mn-cs"/>
              </a:rPr>
              <a:t> i </a:t>
            </a:r>
            <a:r>
              <a:rPr lang="hr-HR" sz="1200" b="0" i="0" kern="1200" dirty="0" err="1">
                <a:solidFill>
                  <a:schemeClr val="tx1"/>
                </a:solidFill>
                <a:effectLst/>
                <a:latin typeface="+mn-lt"/>
                <a:ea typeface="+mn-ea"/>
                <a:cs typeface="+mn-cs"/>
              </a:rPr>
              <a:t>Agile</a:t>
            </a:r>
            <a:r>
              <a:rPr lang="hr-HR" sz="1200" b="0" i="0" kern="1200" dirty="0">
                <a:solidFill>
                  <a:schemeClr val="tx1"/>
                </a:solidFill>
                <a:effectLst/>
                <a:latin typeface="+mn-lt"/>
                <a:ea typeface="+mn-ea"/>
                <a:cs typeface="+mn-cs"/>
              </a:rPr>
              <a:t> pristupa (2,5 sata)</a:t>
            </a:r>
          </a:p>
          <a:p>
            <a:br>
              <a:rPr lang="hr-HR" sz="1200" b="0" i="0" kern="1200" dirty="0">
                <a:solidFill>
                  <a:schemeClr val="tx1"/>
                </a:solidFill>
                <a:effectLst/>
                <a:latin typeface="+mn-lt"/>
                <a:ea typeface="+mn-ea"/>
                <a:cs typeface="+mn-cs"/>
              </a:rPr>
            </a:br>
            <a:endParaRPr lang="hr-HR" sz="1200" b="0" i="0" kern="1200" dirty="0">
              <a:solidFill>
                <a:schemeClr val="tx1"/>
              </a:solidFill>
              <a:effectLst/>
              <a:latin typeface="+mn-lt"/>
              <a:ea typeface="+mn-ea"/>
              <a:cs typeface="+mn-cs"/>
            </a:endParaRPr>
          </a:p>
          <a:p>
            <a:r>
              <a:rPr lang="hr-HR" sz="1200" b="0" i="0" kern="1200" dirty="0">
                <a:solidFill>
                  <a:schemeClr val="tx1"/>
                </a:solidFill>
                <a:effectLst/>
                <a:latin typeface="+mn-lt"/>
                <a:ea typeface="+mn-ea"/>
                <a:cs typeface="+mn-cs"/>
              </a:rPr>
              <a:t>prevedi: Facilitator notes </a:t>
            </a:r>
            <a:r>
              <a:rPr lang="hr-HR" sz="1200" b="0" i="0" kern="1200" dirty="0" err="1">
                <a:solidFill>
                  <a:schemeClr val="tx1"/>
                </a:solidFill>
                <a:effectLst/>
                <a:latin typeface="+mn-lt"/>
                <a:ea typeface="+mn-ea"/>
                <a:cs typeface="+mn-cs"/>
              </a:rPr>
              <a:t>Introduce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Unit</a:t>
            </a:r>
            <a:r>
              <a:rPr lang="hr-HR" sz="1200" b="0" i="0" kern="1200" dirty="0">
                <a:solidFill>
                  <a:schemeClr val="tx1"/>
                </a:solidFill>
                <a:effectLst/>
                <a:latin typeface="+mn-lt"/>
                <a:ea typeface="+mn-ea"/>
                <a:cs typeface="+mn-cs"/>
              </a:rPr>
              <a:t> 4 </a:t>
            </a:r>
            <a:r>
              <a:rPr lang="hr-HR" sz="1200" b="0" i="0" kern="1200" dirty="0" err="1">
                <a:solidFill>
                  <a:schemeClr val="tx1"/>
                </a:solidFill>
                <a:effectLst/>
                <a:latin typeface="+mn-lt"/>
                <a:ea typeface="+mn-ea"/>
                <a:cs typeface="+mn-cs"/>
              </a:rPr>
              <a:t>and</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frame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it</a:t>
            </a:r>
            <a:r>
              <a:rPr lang="hr-HR" sz="1200" b="0" i="0" kern="1200" dirty="0">
                <a:solidFill>
                  <a:schemeClr val="tx1"/>
                </a:solidFill>
                <a:effectLst/>
                <a:latin typeface="+mn-lt"/>
                <a:ea typeface="+mn-ea"/>
                <a:cs typeface="+mn-cs"/>
              </a:rPr>
              <a:t> as </a:t>
            </a:r>
            <a:r>
              <a:rPr lang="hr-HR" sz="1200" b="0" i="0" kern="1200" dirty="0" err="1">
                <a:solidFill>
                  <a:schemeClr val="tx1"/>
                </a:solidFill>
                <a:effectLst/>
                <a:latin typeface="+mn-lt"/>
                <a:ea typeface="+mn-ea"/>
                <a:cs typeface="+mn-cs"/>
              </a:rPr>
              <a:t>the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control</a:t>
            </a:r>
            <a:r>
              <a:rPr lang="hr-HR" sz="1200" b="0" i="0" kern="1200" dirty="0">
                <a:solidFill>
                  <a:schemeClr val="tx1"/>
                </a:solidFill>
                <a:effectLst/>
                <a:latin typeface="+mn-lt"/>
                <a:ea typeface="+mn-ea"/>
                <a:cs typeface="+mn-cs"/>
              </a:rPr>
              <a:t> &amp; </a:t>
            </a:r>
            <a:r>
              <a:rPr lang="hr-HR" sz="1200" b="0" i="0" kern="1200" dirty="0" err="1">
                <a:solidFill>
                  <a:schemeClr val="tx1"/>
                </a:solidFill>
                <a:effectLst/>
                <a:latin typeface="+mn-lt"/>
                <a:ea typeface="+mn-ea"/>
                <a:cs typeface="+mn-cs"/>
              </a:rPr>
              <a:t>sustainability</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part</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of</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Agile</a:t>
            </a:r>
            <a:r>
              <a:rPr lang="hr-HR" sz="1200" b="0" i="0" kern="1200" dirty="0">
                <a:solidFill>
                  <a:schemeClr val="tx1"/>
                </a:solidFill>
                <a:effectLst/>
                <a:latin typeface="+mn-lt"/>
                <a:ea typeface="+mn-ea"/>
                <a:cs typeface="+mn-cs"/>
              </a:rPr>
              <a:t> PM: </a:t>
            </a:r>
            <a:r>
              <a:rPr lang="hr-HR" sz="1200" b="0" i="0" kern="1200" dirty="0" err="1">
                <a:solidFill>
                  <a:schemeClr val="tx1"/>
                </a:solidFill>
                <a:effectLst/>
                <a:latin typeface="+mn-lt"/>
                <a:ea typeface="+mn-ea"/>
                <a:cs typeface="+mn-cs"/>
              </a:rPr>
              <a:t>using</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metrics</a:t>
            </a:r>
            <a:r>
              <a:rPr lang="hr-HR" sz="1200" b="0" i="0" kern="1200" dirty="0">
                <a:solidFill>
                  <a:schemeClr val="tx1"/>
                </a:solidFill>
                <a:effectLst/>
                <a:latin typeface="+mn-lt"/>
                <a:ea typeface="+mn-ea"/>
                <a:cs typeface="+mn-cs"/>
              </a:rPr>
              <a:t> to </a:t>
            </a:r>
            <a:r>
              <a:rPr lang="hr-HR" sz="1200" b="0" i="0" kern="1200" dirty="0" err="1">
                <a:solidFill>
                  <a:schemeClr val="tx1"/>
                </a:solidFill>
                <a:effectLst/>
                <a:latin typeface="+mn-lt"/>
                <a:ea typeface="+mn-ea"/>
                <a:cs typeface="+mn-cs"/>
              </a:rPr>
              <a:t>understand</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delivery</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spotting</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risks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early</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and</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improving</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continuously</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Walk</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through</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the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three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sections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Metrics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and</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measurement</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tools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what</a:t>
            </a:r>
            <a:r>
              <a:rPr lang="hr-HR" sz="1200" b="0" i="0" kern="1200" dirty="0">
                <a:solidFill>
                  <a:schemeClr val="tx1"/>
                </a:solidFill>
                <a:effectLst/>
                <a:latin typeface="+mn-lt"/>
                <a:ea typeface="+mn-ea"/>
                <a:cs typeface="+mn-cs"/>
              </a:rPr>
              <a:t> to </a:t>
            </a:r>
            <a:r>
              <a:rPr lang="hr-HR" sz="1200" b="0" i="0" kern="1200" dirty="0" err="1">
                <a:solidFill>
                  <a:schemeClr val="tx1"/>
                </a:solidFill>
                <a:effectLst/>
                <a:latin typeface="+mn-lt"/>
                <a:ea typeface="+mn-ea"/>
                <a:cs typeface="+mn-cs"/>
              </a:rPr>
              <a:t>track</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and</a:t>
            </a:r>
            <a:r>
              <a:rPr lang="hr-HR" sz="1200" b="0" i="0" kern="1200" dirty="0">
                <a:solidFill>
                  <a:schemeClr val="tx1"/>
                </a:solidFill>
                <a:effectLst/>
                <a:latin typeface="+mn-lt"/>
                <a:ea typeface="+mn-ea"/>
                <a:cs typeface="+mn-cs"/>
              </a:rPr>
              <a:t> how to </a:t>
            </a:r>
            <a:r>
              <a:rPr lang="hr-HR" sz="1200" b="0" i="0" kern="1200" dirty="0" err="1">
                <a:solidFill>
                  <a:schemeClr val="tx1"/>
                </a:solidFill>
                <a:effectLst/>
                <a:latin typeface="+mn-lt"/>
                <a:ea typeface="+mn-ea"/>
                <a:cs typeface="+mn-cs"/>
              </a:rPr>
              <a:t>read</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charts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Why</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Agile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fails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organizational</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causes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and</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change</a:t>
            </a:r>
            <a:r>
              <a:rPr lang="hr-HR" sz="1200" b="0" i="0" kern="1200" dirty="0">
                <a:solidFill>
                  <a:schemeClr val="tx1"/>
                </a:solidFill>
                <a:effectLst/>
                <a:latin typeface="+mn-lt"/>
                <a:ea typeface="+mn-ea"/>
                <a:cs typeface="+mn-cs"/>
              </a:rPr>
              <a:t> management) </a:t>
            </a:r>
            <a:r>
              <a:rPr lang="hr-HR" sz="1200" b="0" i="0" kern="1200" dirty="0" err="1">
                <a:solidFill>
                  <a:schemeClr val="tx1"/>
                </a:solidFill>
                <a:effectLst/>
                <a:latin typeface="+mn-lt"/>
                <a:ea typeface="+mn-ea"/>
                <a:cs typeface="+mn-cs"/>
              </a:rPr>
              <a:t>Hybrid</a:t>
            </a:r>
            <a:r>
              <a:rPr lang="hr-HR" sz="1200" b="0" i="0" kern="1200" dirty="0">
                <a:solidFill>
                  <a:schemeClr val="tx1"/>
                </a:solidFill>
                <a:effectLst/>
                <a:latin typeface="+mn-lt"/>
                <a:ea typeface="+mn-ea"/>
                <a:cs typeface="+mn-cs"/>
              </a:rPr>
              <a:t> / </a:t>
            </a:r>
            <a:r>
              <a:rPr lang="hr-HR" sz="1200" b="0" i="0" kern="1200" dirty="0" err="1">
                <a:solidFill>
                  <a:schemeClr val="tx1"/>
                </a:solidFill>
                <a:effectLst/>
                <a:latin typeface="+mn-lt"/>
                <a:ea typeface="+mn-ea"/>
                <a:cs typeface="+mn-cs"/>
              </a:rPr>
              <a:t>reconciling</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Agile</a:t>
            </a:r>
            <a:r>
              <a:rPr lang="hr-HR" sz="1200" b="0" i="0" kern="1200" dirty="0">
                <a:solidFill>
                  <a:schemeClr val="tx1"/>
                </a:solidFill>
                <a:effectLst/>
                <a:latin typeface="+mn-lt"/>
                <a:ea typeface="+mn-ea"/>
                <a:cs typeface="+mn-cs"/>
              </a:rPr>
              <a:t> &amp; </a:t>
            </a:r>
            <a:r>
              <a:rPr lang="hr-HR" sz="1200" b="0" i="0" kern="1200" dirty="0" err="1">
                <a:solidFill>
                  <a:schemeClr val="tx1"/>
                </a:solidFill>
                <a:effectLst/>
                <a:latin typeface="+mn-lt"/>
                <a:ea typeface="+mn-ea"/>
                <a:cs typeface="+mn-cs"/>
              </a:rPr>
              <a:t>Waterfall</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practical</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coexistence</a:t>
            </a:r>
            <a:r>
              <a:rPr lang="hr-HR" sz="1200" b="0" i="0" kern="1200" dirty="0">
                <a:solidFill>
                  <a:schemeClr val="tx1"/>
                </a:solidFill>
                <a:effectLst/>
                <a:latin typeface="+mn-lt"/>
                <a:ea typeface="+mn-ea"/>
                <a:cs typeface="+mn-cs"/>
              </a:rPr>
              <a:t>) </a:t>
            </a:r>
          </a:p>
          <a:p>
            <a:br>
              <a:rPr lang="hr-HR" sz="1200" b="0" i="0" kern="1200" dirty="0">
                <a:solidFill>
                  <a:schemeClr val="tx1"/>
                </a:solidFill>
                <a:effectLst/>
                <a:latin typeface="+mn-lt"/>
                <a:ea typeface="+mn-ea"/>
                <a:cs typeface="+mn-cs"/>
              </a:rPr>
            </a:br>
            <a:endParaRPr lang="hr-HR" sz="1200" b="0" i="0" kern="1200" dirty="0">
              <a:solidFill>
                <a:schemeClr val="tx1"/>
              </a:solidFill>
              <a:effectLst/>
              <a:latin typeface="+mn-lt"/>
              <a:ea typeface="+mn-ea"/>
              <a:cs typeface="+mn-cs"/>
            </a:endParaRPr>
          </a:p>
          <a:p>
            <a:r>
              <a:rPr lang="hr-HR" sz="1200" b="0" i="0" kern="1200" dirty="0">
                <a:solidFill>
                  <a:schemeClr val="tx1"/>
                </a:solidFill>
                <a:effectLst/>
                <a:latin typeface="+mn-lt"/>
                <a:ea typeface="+mn-ea"/>
                <a:cs typeface="+mn-cs"/>
              </a:rPr>
              <a:t>Napomene za facilitatora</a:t>
            </a:r>
          </a:p>
          <a:p>
            <a:r>
              <a:rPr lang="hr-HR" sz="1200" b="0" i="0" kern="1200" dirty="0">
                <a:solidFill>
                  <a:schemeClr val="tx1"/>
                </a:solidFill>
                <a:effectLst/>
                <a:latin typeface="+mn-lt"/>
                <a:ea typeface="+mn-ea"/>
                <a:cs typeface="+mn-cs"/>
              </a:rPr>
              <a:t>Predstavite Cjelinu 4 i postavite je kao dio „kontrole i održivosti” u </a:t>
            </a:r>
            <a:r>
              <a:rPr lang="hr-HR" sz="1200" b="0" i="0" kern="1200" dirty="0" err="1">
                <a:solidFill>
                  <a:schemeClr val="tx1"/>
                </a:solidFill>
                <a:effectLst/>
                <a:latin typeface="+mn-lt"/>
                <a:ea typeface="+mn-ea"/>
                <a:cs typeface="+mn-cs"/>
              </a:rPr>
              <a:t>Agile</a:t>
            </a:r>
            <a:r>
              <a:rPr lang="hr-HR" sz="1200" b="0" i="0" kern="1200" dirty="0">
                <a:solidFill>
                  <a:schemeClr val="tx1"/>
                </a:solidFill>
                <a:effectLst/>
                <a:latin typeface="+mn-lt"/>
                <a:ea typeface="+mn-ea"/>
                <a:cs typeface="+mn-cs"/>
              </a:rPr>
              <a:t> upravljanju projektima: korištenje metrika za razumijevanje isporuke, rano prepoznavanje rizika i kontinuirano unapređenje.</a:t>
            </a:r>
          </a:p>
          <a:p>
            <a:r>
              <a:rPr lang="hr-HR" sz="1200" b="0" i="0" kern="1200" dirty="0">
                <a:solidFill>
                  <a:schemeClr val="tx1"/>
                </a:solidFill>
                <a:effectLst/>
                <a:latin typeface="+mn-lt"/>
                <a:ea typeface="+mn-ea"/>
                <a:cs typeface="+mn-cs"/>
              </a:rPr>
              <a:t>Prođite kroz tri cjeline:</a:t>
            </a:r>
          </a:p>
          <a:p>
            <a:r>
              <a:rPr lang="hr-HR" sz="1200" b="0" i="0" kern="1200" dirty="0">
                <a:solidFill>
                  <a:schemeClr val="tx1"/>
                </a:solidFill>
                <a:effectLst/>
                <a:latin typeface="+mn-lt"/>
                <a:ea typeface="+mn-ea"/>
                <a:cs typeface="+mn-cs"/>
              </a:rPr>
              <a:t>Metrike i alati za mjerenje (što pratiti i kako tumačiti grafikone)</a:t>
            </a:r>
          </a:p>
          <a:p>
            <a:r>
              <a:rPr lang="hr-HR" sz="1200" b="0" i="0" kern="1200" dirty="0">
                <a:solidFill>
                  <a:schemeClr val="tx1"/>
                </a:solidFill>
                <a:effectLst/>
                <a:latin typeface="+mn-lt"/>
                <a:ea typeface="+mn-ea"/>
                <a:cs typeface="+mn-cs"/>
              </a:rPr>
              <a:t>Zašto </a:t>
            </a:r>
            <a:r>
              <a:rPr lang="hr-HR" sz="1200" b="0" i="0" kern="1200" dirty="0" err="1">
                <a:solidFill>
                  <a:schemeClr val="tx1"/>
                </a:solidFill>
                <a:effectLst/>
                <a:latin typeface="+mn-lt"/>
                <a:ea typeface="+mn-ea"/>
                <a:cs typeface="+mn-cs"/>
              </a:rPr>
              <a:t>Agile</a:t>
            </a:r>
            <a:r>
              <a:rPr lang="hr-HR" sz="1200" b="0" i="0" kern="1200" dirty="0">
                <a:solidFill>
                  <a:schemeClr val="tx1"/>
                </a:solidFill>
                <a:effectLst/>
                <a:latin typeface="+mn-lt"/>
                <a:ea typeface="+mn-ea"/>
                <a:cs typeface="+mn-cs"/>
              </a:rPr>
              <a:t> ne uspijeva (organizacijski uzroci i upravljanje promjenama)</a:t>
            </a:r>
          </a:p>
          <a:p>
            <a:r>
              <a:rPr lang="hr-HR" sz="1200" b="0" i="0" kern="1200" dirty="0">
                <a:solidFill>
                  <a:schemeClr val="tx1"/>
                </a:solidFill>
                <a:effectLst/>
                <a:latin typeface="+mn-lt"/>
                <a:ea typeface="+mn-ea"/>
                <a:cs typeface="+mn-cs"/>
              </a:rPr>
              <a:t>Hibridni pristup / usklađivanje </a:t>
            </a:r>
            <a:r>
              <a:rPr lang="hr-HR" sz="1200" b="0" i="0" kern="1200" dirty="0" err="1">
                <a:solidFill>
                  <a:schemeClr val="tx1"/>
                </a:solidFill>
                <a:effectLst/>
                <a:latin typeface="+mn-lt"/>
                <a:ea typeface="+mn-ea"/>
                <a:cs typeface="+mn-cs"/>
              </a:rPr>
              <a:t>Agilea</a:t>
            </a:r>
            <a:r>
              <a:rPr lang="hr-HR" sz="1200" b="0" i="0" kern="1200" dirty="0">
                <a:solidFill>
                  <a:schemeClr val="tx1"/>
                </a:solidFill>
                <a:effectLst/>
                <a:latin typeface="+mn-lt"/>
                <a:ea typeface="+mn-ea"/>
                <a:cs typeface="+mn-cs"/>
              </a:rPr>
              <a:t> i </a:t>
            </a:r>
            <a:r>
              <a:rPr lang="hr-HR" sz="1200" b="0" i="0" kern="1200" dirty="0" err="1">
                <a:solidFill>
                  <a:schemeClr val="tx1"/>
                </a:solidFill>
                <a:effectLst/>
                <a:latin typeface="+mn-lt"/>
                <a:ea typeface="+mn-ea"/>
                <a:cs typeface="+mn-cs"/>
              </a:rPr>
              <a:t>Waterfalla</a:t>
            </a:r>
            <a:r>
              <a:rPr lang="hr-HR" sz="1200" b="0" i="0" kern="1200" dirty="0">
                <a:solidFill>
                  <a:schemeClr val="tx1"/>
                </a:solidFill>
                <a:effectLst/>
                <a:latin typeface="+mn-lt"/>
                <a:ea typeface="+mn-ea"/>
                <a:cs typeface="+mn-cs"/>
              </a:rPr>
              <a:t> (praktična koegzistencija)</a:t>
            </a:r>
          </a:p>
          <a:p>
            <a:br>
              <a:rPr lang="hr-HR" sz="1200" b="0" i="0" kern="1200" dirty="0">
                <a:solidFill>
                  <a:schemeClr val="tx1"/>
                </a:solidFill>
                <a:effectLst/>
                <a:latin typeface="+mn-lt"/>
                <a:ea typeface="+mn-ea"/>
                <a:cs typeface="+mn-cs"/>
              </a:rPr>
            </a:br>
            <a:endParaRPr lang="hr-HR" sz="1200" b="0" i="0" kern="1200" dirty="0">
              <a:solidFill>
                <a:schemeClr val="tx1"/>
              </a:solidFill>
              <a:effectLst/>
              <a:latin typeface="+mn-lt"/>
              <a:ea typeface="+mn-ea"/>
              <a:cs typeface="+mn-cs"/>
            </a:endParaRPr>
          </a:p>
          <a:p>
            <a:r>
              <a:rPr lang="hr-HR" sz="1200" b="0" i="0" kern="1200" dirty="0">
                <a:solidFill>
                  <a:schemeClr val="tx1"/>
                </a:solidFill>
                <a:effectLst/>
                <a:latin typeface="+mn-lt"/>
                <a:ea typeface="+mn-ea"/>
                <a:cs typeface="+mn-cs"/>
              </a:rPr>
              <a:t>prevedi: </a:t>
            </a:r>
            <a:r>
              <a:rPr lang="hr-HR" sz="1200" b="0" i="0" kern="1200" dirty="0" err="1">
                <a:solidFill>
                  <a:schemeClr val="tx1"/>
                </a:solidFill>
                <a:effectLst/>
                <a:latin typeface="+mn-lt"/>
                <a:ea typeface="+mn-ea"/>
                <a:cs typeface="+mn-cs"/>
              </a:rPr>
              <a:t>This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training</a:t>
            </a:r>
            <a:r>
              <a:rPr lang="hr-HR" sz="1200" b="0" i="0" kern="1200" dirty="0">
                <a:solidFill>
                  <a:schemeClr val="tx1"/>
                </a:solidFill>
                <a:effectLst/>
                <a:latin typeface="+mn-lt"/>
                <a:ea typeface="+mn-ea"/>
                <a:cs typeface="+mn-cs"/>
              </a:rPr>
              <a:t> module </a:t>
            </a:r>
            <a:r>
              <a:rPr lang="hr-HR" sz="1200" b="0" i="0" kern="1200" dirty="0" err="1">
                <a:solidFill>
                  <a:schemeClr val="tx1"/>
                </a:solidFill>
                <a:effectLst/>
                <a:latin typeface="+mn-lt"/>
                <a:ea typeface="+mn-ea"/>
                <a:cs typeface="+mn-cs"/>
              </a:rPr>
              <a:t>focuses</a:t>
            </a:r>
            <a:r>
              <a:rPr lang="hr-HR" sz="1200" b="0" i="0" kern="1200" dirty="0">
                <a:solidFill>
                  <a:schemeClr val="tx1"/>
                </a:solidFill>
                <a:effectLst/>
                <a:latin typeface="+mn-lt"/>
                <a:ea typeface="+mn-ea"/>
                <a:cs typeface="+mn-cs"/>
              </a:rPr>
              <a:t> on </a:t>
            </a:r>
            <a:r>
              <a:rPr lang="hr-HR" sz="1200" b="0" i="0" kern="1200" dirty="0" err="1">
                <a:solidFill>
                  <a:schemeClr val="tx1"/>
                </a:solidFill>
                <a:effectLst/>
                <a:latin typeface="+mn-lt"/>
                <a:ea typeface="+mn-ea"/>
                <a:cs typeface="+mn-cs"/>
              </a:rPr>
              <a:t>the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control</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and</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sustainability</a:t>
            </a:r>
            <a:r>
              <a:rPr lang="hr-HR" sz="1200" b="0" i="0" kern="1200" dirty="0">
                <a:solidFill>
                  <a:schemeClr val="tx1"/>
                </a:solidFill>
                <a:effectLst/>
                <a:latin typeface="+mn-lt"/>
                <a:ea typeface="+mn-ea"/>
                <a:cs typeface="+mn-cs"/>
              </a:rPr>
              <a:t> side </a:t>
            </a:r>
            <a:r>
              <a:rPr lang="hr-HR" sz="1200" b="0" i="0" kern="1200" dirty="0" err="1">
                <a:solidFill>
                  <a:schemeClr val="tx1"/>
                </a:solidFill>
                <a:effectLst/>
                <a:latin typeface="+mn-lt"/>
                <a:ea typeface="+mn-ea"/>
                <a:cs typeface="+mn-cs"/>
              </a:rPr>
              <a:t>of</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Agile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project</a:t>
            </a:r>
            <a:r>
              <a:rPr lang="hr-HR" sz="1200" b="0" i="0" kern="1200" dirty="0">
                <a:solidFill>
                  <a:schemeClr val="tx1"/>
                </a:solidFill>
                <a:effectLst/>
                <a:latin typeface="+mn-lt"/>
                <a:ea typeface="+mn-ea"/>
                <a:cs typeface="+mn-cs"/>
              </a:rPr>
              <a:t> management: how to </a:t>
            </a:r>
            <a:r>
              <a:rPr lang="hr-HR" sz="1200" b="0" i="0" kern="1200" dirty="0" err="1">
                <a:solidFill>
                  <a:schemeClr val="tx1"/>
                </a:solidFill>
                <a:effectLst/>
                <a:latin typeface="+mn-lt"/>
                <a:ea typeface="+mn-ea"/>
                <a:cs typeface="+mn-cs"/>
              </a:rPr>
              <a:t>track</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performance</a:t>
            </a:r>
            <a:r>
              <a:rPr lang="hr-HR" sz="1200" b="0" i="0" kern="1200" dirty="0">
                <a:solidFill>
                  <a:schemeClr val="tx1"/>
                </a:solidFill>
                <a:effectLst/>
                <a:latin typeface="+mn-lt"/>
                <a:ea typeface="+mn-ea"/>
                <a:cs typeface="+mn-cs"/>
              </a:rPr>
              <a:t>, interpret </a:t>
            </a:r>
            <a:r>
              <a:rPr lang="hr-HR" sz="1200" b="0" i="0" kern="1200" dirty="0" err="1">
                <a:solidFill>
                  <a:schemeClr val="tx1"/>
                </a:solidFill>
                <a:effectLst/>
                <a:latin typeface="+mn-lt"/>
                <a:ea typeface="+mn-ea"/>
                <a:cs typeface="+mn-cs"/>
              </a:rPr>
              <a:t>what</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metrics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really</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mean</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and</a:t>
            </a:r>
            <a:r>
              <a:rPr lang="hr-HR" sz="1200" b="0" i="0" kern="1200" dirty="0">
                <a:solidFill>
                  <a:schemeClr val="tx1"/>
                </a:solidFill>
                <a:effectLst/>
                <a:latin typeface="+mn-lt"/>
                <a:ea typeface="+mn-ea"/>
                <a:cs typeface="+mn-cs"/>
              </a:rPr>
              <a:t> use </a:t>
            </a:r>
            <a:r>
              <a:rPr lang="hr-HR" sz="1200" b="0" i="0" kern="1200" dirty="0" err="1">
                <a:solidFill>
                  <a:schemeClr val="tx1"/>
                </a:solidFill>
                <a:effectLst/>
                <a:latin typeface="+mn-lt"/>
                <a:ea typeface="+mn-ea"/>
                <a:cs typeface="+mn-cs"/>
              </a:rPr>
              <a:t>them</a:t>
            </a:r>
            <a:r>
              <a:rPr lang="hr-HR" sz="1200" b="0" i="0" kern="1200" dirty="0">
                <a:solidFill>
                  <a:schemeClr val="tx1"/>
                </a:solidFill>
                <a:effectLst/>
                <a:latin typeface="+mn-lt"/>
                <a:ea typeface="+mn-ea"/>
                <a:cs typeface="+mn-cs"/>
              </a:rPr>
              <a:t> to </a:t>
            </a:r>
            <a:r>
              <a:rPr lang="hr-HR" sz="1200" b="0" i="0" kern="1200" dirty="0" err="1">
                <a:solidFill>
                  <a:schemeClr val="tx1"/>
                </a:solidFill>
                <a:effectLst/>
                <a:latin typeface="+mn-lt"/>
                <a:ea typeface="+mn-ea"/>
                <a:cs typeface="+mn-cs"/>
              </a:rPr>
              <a:t>continuously</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improve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outcomes</a:t>
            </a:r>
            <a:r>
              <a:rPr lang="hr-HR" sz="1200" b="0" i="0" kern="1200" dirty="0">
                <a:solidFill>
                  <a:schemeClr val="tx1"/>
                </a:solidFill>
                <a:effectLst/>
                <a:latin typeface="+mn-lt"/>
                <a:ea typeface="+mn-ea"/>
                <a:cs typeface="+mn-cs"/>
              </a:rPr>
              <a:t>. You </a:t>
            </a:r>
            <a:r>
              <a:rPr lang="hr-HR" sz="1200" b="0" i="0" kern="1200" dirty="0" err="1">
                <a:solidFill>
                  <a:schemeClr val="tx1"/>
                </a:solidFill>
                <a:effectLst/>
                <a:latin typeface="+mn-lt"/>
                <a:ea typeface="+mn-ea"/>
                <a:cs typeface="+mn-cs"/>
              </a:rPr>
              <a:t>will</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first</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explore</a:t>
            </a:r>
            <a:r>
              <a:rPr lang="hr-HR" sz="1200" b="0" i="0" kern="1200" dirty="0">
                <a:solidFill>
                  <a:schemeClr val="tx1"/>
                </a:solidFill>
                <a:effectLst/>
                <a:latin typeface="+mn-lt"/>
                <a:ea typeface="+mn-ea"/>
                <a:cs typeface="+mn-cs"/>
              </a:rPr>
              <a:t> how to </a:t>
            </a:r>
            <a:r>
              <a:rPr lang="hr-HR" sz="1200" b="0" i="0" kern="1200" dirty="0" err="1">
                <a:solidFill>
                  <a:schemeClr val="tx1"/>
                </a:solidFill>
                <a:effectLst/>
                <a:latin typeface="+mn-lt"/>
                <a:ea typeface="+mn-ea"/>
                <a:cs typeface="+mn-cs"/>
              </a:rPr>
              <a:t>measure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performance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in</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Agile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environments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starting</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from</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velocity</a:t>
            </a:r>
            <a:r>
              <a:rPr lang="hr-HR" sz="1200" b="0" i="0" kern="1200" dirty="0">
                <a:solidFill>
                  <a:schemeClr val="tx1"/>
                </a:solidFill>
                <a:effectLst/>
                <a:latin typeface="+mn-lt"/>
                <a:ea typeface="+mn-ea"/>
                <a:cs typeface="+mn-cs"/>
              </a:rPr>
              <a:t> as a </a:t>
            </a:r>
            <a:r>
              <a:rPr lang="hr-HR" sz="1200" b="0" i="0" kern="1200" dirty="0" err="1">
                <a:solidFill>
                  <a:schemeClr val="tx1"/>
                </a:solidFill>
                <a:effectLst/>
                <a:latin typeface="+mn-lt"/>
                <a:ea typeface="+mn-ea"/>
                <a:cs typeface="+mn-cs"/>
              </a:rPr>
              <a:t>key</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indicator</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of</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delivery</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capability</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and</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forecasting</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The</a:t>
            </a:r>
            <a:r>
              <a:rPr lang="hr-HR" sz="1200" b="0" i="0" kern="1200" dirty="0">
                <a:solidFill>
                  <a:schemeClr val="tx1"/>
                </a:solidFill>
                <a:effectLst/>
                <a:latin typeface="+mn-lt"/>
                <a:ea typeface="+mn-ea"/>
                <a:cs typeface="+mn-cs"/>
              </a:rPr>
              <a:t> module </a:t>
            </a:r>
            <a:r>
              <a:rPr lang="hr-HR" sz="1200" b="0" i="0" kern="1200" dirty="0" err="1">
                <a:solidFill>
                  <a:schemeClr val="tx1"/>
                </a:solidFill>
                <a:effectLst/>
                <a:latin typeface="+mn-lt"/>
                <a:ea typeface="+mn-ea"/>
                <a:cs typeface="+mn-cs"/>
              </a:rPr>
              <a:t>then</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introduces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the</a:t>
            </a:r>
            <a:r>
              <a:rPr lang="hr-HR" sz="1200" b="0" i="0" kern="1200" dirty="0">
                <a:solidFill>
                  <a:schemeClr val="tx1"/>
                </a:solidFill>
                <a:effectLst/>
                <a:latin typeface="+mn-lt"/>
                <a:ea typeface="+mn-ea"/>
                <a:cs typeface="+mn-cs"/>
              </a:rPr>
              <a:t> most </a:t>
            </a:r>
            <a:r>
              <a:rPr lang="hr-HR" sz="1200" b="0" i="0" kern="1200" dirty="0" err="1">
                <a:solidFill>
                  <a:schemeClr val="tx1"/>
                </a:solidFill>
                <a:effectLst/>
                <a:latin typeface="+mn-lt"/>
                <a:ea typeface="+mn-ea"/>
                <a:cs typeface="+mn-cs"/>
              </a:rPr>
              <a:t>commonly</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used</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visual</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tools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showing</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what</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each</a:t>
            </a:r>
            <a:r>
              <a:rPr lang="hr-HR" sz="1200" b="0" i="0" kern="1200" dirty="0">
                <a:solidFill>
                  <a:schemeClr val="tx1"/>
                </a:solidFill>
                <a:effectLst/>
                <a:latin typeface="+mn-lt"/>
                <a:ea typeface="+mn-ea"/>
                <a:cs typeface="+mn-cs"/>
              </a:rPr>
              <a:t> one </a:t>
            </a:r>
            <a:r>
              <a:rPr lang="hr-HR" sz="1200" b="0" i="0" kern="1200" dirty="0" err="1">
                <a:solidFill>
                  <a:schemeClr val="tx1"/>
                </a:solidFill>
                <a:effectLst/>
                <a:latin typeface="+mn-lt"/>
                <a:ea typeface="+mn-ea"/>
                <a:cs typeface="+mn-cs"/>
              </a:rPr>
              <a:t>reveals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about</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workflow</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speed</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bottlenecks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scope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creep</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and</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predictability</a:t>
            </a:r>
            <a:r>
              <a:rPr lang="hr-HR" sz="1200" b="0" i="0" kern="1200" dirty="0">
                <a:solidFill>
                  <a:schemeClr val="tx1"/>
                </a:solidFill>
                <a:effectLst/>
                <a:latin typeface="+mn-lt"/>
                <a:ea typeface="+mn-ea"/>
                <a:cs typeface="+mn-cs"/>
              </a:rPr>
              <a:t>. </a:t>
            </a:r>
          </a:p>
          <a:p>
            <a:br>
              <a:rPr lang="hr-HR" sz="1200" b="0" i="0" kern="1200" dirty="0">
                <a:solidFill>
                  <a:schemeClr val="tx1"/>
                </a:solidFill>
                <a:effectLst/>
                <a:latin typeface="+mn-lt"/>
                <a:ea typeface="+mn-ea"/>
                <a:cs typeface="+mn-cs"/>
              </a:rPr>
            </a:br>
            <a:endParaRPr lang="hr-HR" sz="1200" b="0" i="0" kern="1200" dirty="0">
              <a:solidFill>
                <a:schemeClr val="tx1"/>
              </a:solidFill>
              <a:effectLst/>
              <a:latin typeface="+mn-lt"/>
              <a:ea typeface="+mn-ea"/>
              <a:cs typeface="+mn-cs"/>
            </a:endParaRPr>
          </a:p>
          <a:p>
            <a:r>
              <a:rPr lang="hr-HR" sz="1200" b="0" i="0" kern="1200" dirty="0">
                <a:solidFill>
                  <a:schemeClr val="tx1"/>
                </a:solidFill>
                <a:effectLst/>
                <a:latin typeface="+mn-lt"/>
                <a:ea typeface="+mn-ea"/>
                <a:cs typeface="+mn-cs"/>
              </a:rPr>
              <a:t>Ovaj modul edukacije usmjeren je na aspekt kontrole i održivosti u </a:t>
            </a:r>
            <a:r>
              <a:rPr lang="hr-HR" sz="1200" b="0" i="0" kern="1200" dirty="0" err="1">
                <a:solidFill>
                  <a:schemeClr val="tx1"/>
                </a:solidFill>
                <a:effectLst/>
                <a:latin typeface="+mn-lt"/>
                <a:ea typeface="+mn-ea"/>
                <a:cs typeface="+mn-cs"/>
              </a:rPr>
              <a:t>Agile</a:t>
            </a:r>
            <a:r>
              <a:rPr lang="hr-HR" sz="1200" b="0" i="0" kern="1200" dirty="0">
                <a:solidFill>
                  <a:schemeClr val="tx1"/>
                </a:solidFill>
                <a:effectLst/>
                <a:latin typeface="+mn-lt"/>
                <a:ea typeface="+mn-ea"/>
                <a:cs typeface="+mn-cs"/>
              </a:rPr>
              <a:t> upravljanju projektima: kako pratiti uspješnost, pravilno interpretirati značenje metrika i koristiti ih za kontinuirano unapređenje rezultata.</a:t>
            </a:r>
          </a:p>
          <a:p>
            <a:r>
              <a:rPr lang="hr-HR" sz="1200" b="0" i="0" kern="1200" dirty="0">
                <a:solidFill>
                  <a:schemeClr val="tx1"/>
                </a:solidFill>
                <a:effectLst/>
                <a:latin typeface="+mn-lt"/>
                <a:ea typeface="+mn-ea"/>
                <a:cs typeface="+mn-cs"/>
              </a:rPr>
              <a:t>Najprije ćete istražiti kako mjeriti uspješnost u </a:t>
            </a:r>
            <a:r>
              <a:rPr lang="hr-HR" sz="1200" b="0" i="0" kern="1200" dirty="0" err="1">
                <a:solidFill>
                  <a:schemeClr val="tx1"/>
                </a:solidFill>
                <a:effectLst/>
                <a:latin typeface="+mn-lt"/>
                <a:ea typeface="+mn-ea"/>
                <a:cs typeface="+mn-cs"/>
              </a:rPr>
              <a:t>Agile</a:t>
            </a:r>
            <a:r>
              <a:rPr lang="hr-HR" sz="1200" b="0" i="0" kern="1200" dirty="0">
                <a:solidFill>
                  <a:schemeClr val="tx1"/>
                </a:solidFill>
                <a:effectLst/>
                <a:latin typeface="+mn-lt"/>
                <a:ea typeface="+mn-ea"/>
                <a:cs typeface="+mn-cs"/>
              </a:rPr>
              <a:t> okruženju, počevši od </a:t>
            </a:r>
            <a:r>
              <a:rPr lang="hr-HR" sz="1200" b="0" i="0" kern="1200" dirty="0" err="1">
                <a:solidFill>
                  <a:schemeClr val="tx1"/>
                </a:solidFill>
                <a:effectLst/>
                <a:latin typeface="+mn-lt"/>
                <a:ea typeface="+mn-ea"/>
                <a:cs typeface="+mn-cs"/>
              </a:rPr>
              <a:t>velocityja</a:t>
            </a:r>
            <a:r>
              <a:rPr lang="hr-HR" sz="1200" b="0" i="0" kern="1200" dirty="0">
                <a:solidFill>
                  <a:schemeClr val="tx1"/>
                </a:solidFill>
                <a:effectLst/>
                <a:latin typeface="+mn-lt"/>
                <a:ea typeface="+mn-ea"/>
                <a:cs typeface="+mn-cs"/>
              </a:rPr>
              <a:t> kao ključnog pokazatelja sposobnosti isporuke i predviđanja. Modul zatim uvodi najčešće korištene vizualne alate te objašnjava što svaki od njih otkriva o brzini tijeka rada, uskim grlima, širenju opsega (</a:t>
            </a:r>
            <a:r>
              <a:rPr lang="hr-HR" sz="1200" b="0" i="0" kern="1200" dirty="0" err="1">
                <a:solidFill>
                  <a:schemeClr val="tx1"/>
                </a:solidFill>
                <a:effectLst/>
                <a:latin typeface="+mn-lt"/>
                <a:ea typeface="+mn-ea"/>
                <a:cs typeface="+mn-cs"/>
              </a:rPr>
              <a:t>scope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creep</a:t>
            </a:r>
            <a:r>
              <a:rPr lang="hr-HR" sz="1200" b="0" i="0" kern="1200" dirty="0">
                <a:solidFill>
                  <a:schemeClr val="tx1"/>
                </a:solidFill>
                <a:effectLst/>
                <a:latin typeface="+mn-lt"/>
                <a:ea typeface="+mn-ea"/>
                <a:cs typeface="+mn-cs"/>
              </a:rPr>
              <a:t>) i predvidljivosti.</a:t>
            </a:r>
          </a:p>
          <a:p>
            <a:br>
              <a:rPr lang="hr-HR" sz="1200" b="0" i="0" kern="1200" dirty="0">
                <a:solidFill>
                  <a:schemeClr val="tx1"/>
                </a:solidFill>
                <a:effectLst/>
                <a:latin typeface="+mn-lt"/>
                <a:ea typeface="+mn-ea"/>
                <a:cs typeface="+mn-cs"/>
              </a:rPr>
            </a:br>
            <a:endParaRPr lang="hr-HR" sz="1200" b="0" i="0" kern="1200" dirty="0">
              <a:solidFill>
                <a:schemeClr val="tx1"/>
              </a:solidFill>
              <a:effectLst/>
              <a:latin typeface="+mn-lt"/>
              <a:ea typeface="+mn-ea"/>
              <a:cs typeface="+mn-cs"/>
            </a:endParaRPr>
          </a:p>
          <a:p>
            <a:r>
              <a:rPr lang="hr-HR" sz="1200" b="0" i="0" kern="1200" dirty="0">
                <a:solidFill>
                  <a:schemeClr val="tx1"/>
                </a:solidFill>
                <a:effectLst/>
                <a:latin typeface="+mn-lt"/>
                <a:ea typeface="+mn-ea"/>
                <a:cs typeface="+mn-cs"/>
              </a:rPr>
              <a:t>Facilitator notes Set </a:t>
            </a:r>
            <a:r>
              <a:rPr lang="hr-HR" sz="1200" b="0" i="0" kern="1200" dirty="0" err="1">
                <a:solidFill>
                  <a:schemeClr val="tx1"/>
                </a:solidFill>
                <a:effectLst/>
                <a:latin typeface="+mn-lt"/>
                <a:ea typeface="+mn-ea"/>
                <a:cs typeface="+mn-cs"/>
              </a:rPr>
              <a:t>expectations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learners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will</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not</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just</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learn</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charts</a:t>
            </a:r>
            <a:r>
              <a:rPr lang="hr-HR" sz="1200" b="0" i="0" kern="1200" dirty="0">
                <a:solidFill>
                  <a:schemeClr val="tx1"/>
                </a:solidFill>
                <a:effectLst/>
                <a:latin typeface="+mn-lt"/>
                <a:ea typeface="+mn-ea"/>
                <a:cs typeface="+mn-cs"/>
              </a:rPr>
              <a:t>, but </a:t>
            </a:r>
            <a:r>
              <a:rPr lang="hr-HR" sz="1200" b="0" i="0" kern="1200" dirty="0" err="1">
                <a:solidFill>
                  <a:schemeClr val="tx1"/>
                </a:solidFill>
                <a:effectLst/>
                <a:latin typeface="+mn-lt"/>
                <a:ea typeface="+mn-ea"/>
                <a:cs typeface="+mn-cs"/>
              </a:rPr>
              <a:t>also</a:t>
            </a:r>
            <a:r>
              <a:rPr lang="hr-HR" sz="1200" b="0" i="0" kern="1200" dirty="0">
                <a:solidFill>
                  <a:schemeClr val="tx1"/>
                </a:solidFill>
                <a:effectLst/>
                <a:latin typeface="+mn-lt"/>
                <a:ea typeface="+mn-ea"/>
                <a:cs typeface="+mn-cs"/>
              </a:rPr>
              <a:t> how to </a:t>
            </a:r>
            <a:r>
              <a:rPr lang="hr-HR" sz="1200" b="0" i="0" kern="1200" dirty="0" err="1">
                <a:solidFill>
                  <a:schemeClr val="tx1"/>
                </a:solidFill>
                <a:effectLst/>
                <a:latin typeface="+mn-lt"/>
                <a:ea typeface="+mn-ea"/>
                <a:cs typeface="+mn-cs"/>
              </a:rPr>
              <a:t>avoid</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metric</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misuse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and</a:t>
            </a:r>
            <a:r>
              <a:rPr lang="hr-HR" sz="1200" b="0" i="0" kern="1200" dirty="0">
                <a:solidFill>
                  <a:schemeClr val="tx1"/>
                </a:solidFill>
                <a:effectLst/>
                <a:latin typeface="+mn-lt"/>
                <a:ea typeface="+mn-ea"/>
                <a:cs typeface="+mn-cs"/>
              </a:rPr>
              <a:t> how to </a:t>
            </a:r>
            <a:r>
              <a:rPr lang="hr-HR" sz="1200" b="0" i="0" kern="1200" dirty="0" err="1">
                <a:solidFill>
                  <a:schemeClr val="tx1"/>
                </a:solidFill>
                <a:effectLst/>
                <a:latin typeface="+mn-lt"/>
                <a:ea typeface="+mn-ea"/>
                <a:cs typeface="+mn-cs"/>
              </a:rPr>
              <a:t>connect</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measurement</a:t>
            </a:r>
            <a:r>
              <a:rPr lang="hr-HR" sz="1200" b="0" i="0" kern="1200" dirty="0">
                <a:solidFill>
                  <a:schemeClr val="tx1"/>
                </a:solidFill>
                <a:effectLst/>
                <a:latin typeface="+mn-lt"/>
                <a:ea typeface="+mn-ea"/>
                <a:cs typeface="+mn-cs"/>
              </a:rPr>
              <a:t> to </a:t>
            </a:r>
            <a:r>
              <a:rPr lang="hr-HR" sz="1200" b="0" i="0" kern="1200" dirty="0" err="1">
                <a:solidFill>
                  <a:schemeClr val="tx1"/>
                </a:solidFill>
                <a:effectLst/>
                <a:latin typeface="+mn-lt"/>
                <a:ea typeface="+mn-ea"/>
                <a:cs typeface="+mn-cs"/>
              </a:rPr>
              <a:t>improvement</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Paraphrase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the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slide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into</a:t>
            </a:r>
            <a:r>
              <a:rPr lang="hr-HR" sz="1200" b="0" i="0" kern="1200" dirty="0">
                <a:solidFill>
                  <a:schemeClr val="tx1"/>
                </a:solidFill>
                <a:effectLst/>
                <a:latin typeface="+mn-lt"/>
                <a:ea typeface="+mn-ea"/>
                <a:cs typeface="+mn-cs"/>
              </a:rPr>
              <a:t> a </a:t>
            </a:r>
            <a:r>
              <a:rPr lang="hr-HR" sz="1200" b="0" i="0" kern="1200" dirty="0" err="1">
                <a:solidFill>
                  <a:schemeClr val="tx1"/>
                </a:solidFill>
                <a:effectLst/>
                <a:latin typeface="+mn-lt"/>
                <a:ea typeface="+mn-ea"/>
                <a:cs typeface="+mn-cs"/>
              </a:rPr>
              <a:t>simple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narrative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We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measure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delivery</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capability</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velocity</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cycle</a:t>
            </a:r>
            <a:r>
              <a:rPr lang="hr-HR" sz="1200" b="0" i="0" kern="1200" dirty="0">
                <a:solidFill>
                  <a:schemeClr val="tx1"/>
                </a:solidFill>
                <a:effectLst/>
                <a:latin typeface="+mn-lt"/>
                <a:ea typeface="+mn-ea"/>
                <a:cs typeface="+mn-cs"/>
              </a:rPr>
              <a:t> time, </a:t>
            </a:r>
            <a:r>
              <a:rPr lang="hr-HR" sz="1200" b="0" i="0" kern="1200" dirty="0" err="1">
                <a:solidFill>
                  <a:schemeClr val="tx1"/>
                </a:solidFill>
                <a:effectLst/>
                <a:latin typeface="+mn-lt"/>
                <a:ea typeface="+mn-ea"/>
                <a:cs typeface="+mn-cs"/>
              </a:rPr>
              <a:t>predictability</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We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visualize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flow</a:t>
            </a:r>
            <a:r>
              <a:rPr lang="hr-HR" sz="1200" b="0" i="0" kern="1200" dirty="0">
                <a:solidFill>
                  <a:schemeClr val="tx1"/>
                </a:solidFill>
                <a:effectLst/>
                <a:latin typeface="+mn-lt"/>
                <a:ea typeface="+mn-ea"/>
                <a:cs typeface="+mn-cs"/>
              </a:rPr>
              <a:t> to </a:t>
            </a:r>
            <a:r>
              <a:rPr lang="hr-HR" sz="1200" b="0" i="0" kern="1200" dirty="0" err="1">
                <a:solidFill>
                  <a:schemeClr val="tx1"/>
                </a:solidFill>
                <a:effectLst/>
                <a:latin typeface="+mn-lt"/>
                <a:ea typeface="+mn-ea"/>
                <a:cs typeface="+mn-cs"/>
              </a:rPr>
              <a:t>see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bottlenecks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and</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scope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changes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We</a:t>
            </a:r>
            <a:r>
              <a:rPr lang="hr-HR" sz="1200" b="0" i="0" kern="1200" dirty="0">
                <a:solidFill>
                  <a:schemeClr val="tx1"/>
                </a:solidFill>
                <a:effectLst/>
                <a:latin typeface="+mn-lt"/>
                <a:ea typeface="+mn-ea"/>
                <a:cs typeface="+mn-cs"/>
              </a:rPr>
              <a:t> use </a:t>
            </a:r>
            <a:r>
              <a:rPr lang="hr-HR" sz="1200" b="0" i="0" kern="1200" dirty="0" err="1">
                <a:solidFill>
                  <a:schemeClr val="tx1"/>
                </a:solidFill>
                <a:effectLst/>
                <a:latin typeface="+mn-lt"/>
                <a:ea typeface="+mn-ea"/>
                <a:cs typeface="+mn-cs"/>
              </a:rPr>
              <a:t>the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evidence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in</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retrospectives</a:t>
            </a:r>
            <a:r>
              <a:rPr lang="hr-HR" sz="1200" b="0" i="0" kern="1200" dirty="0">
                <a:solidFill>
                  <a:schemeClr val="tx1"/>
                </a:solidFill>
                <a:effectLst/>
                <a:latin typeface="+mn-lt"/>
                <a:ea typeface="+mn-ea"/>
                <a:cs typeface="+mn-cs"/>
              </a:rPr>
              <a:t> to </a:t>
            </a:r>
            <a:r>
              <a:rPr lang="hr-HR" sz="1200" b="0" i="0" kern="1200" dirty="0" err="1">
                <a:solidFill>
                  <a:schemeClr val="tx1"/>
                </a:solidFill>
                <a:effectLst/>
                <a:latin typeface="+mn-lt"/>
                <a:ea typeface="+mn-ea"/>
                <a:cs typeface="+mn-cs"/>
              </a:rPr>
              <a:t>improve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Stress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that</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metrics</a:t>
            </a:r>
            <a:r>
              <a:rPr lang="hr-HR" sz="1200" b="0" i="0" kern="1200" dirty="0">
                <a:solidFill>
                  <a:schemeClr val="tx1"/>
                </a:solidFill>
                <a:effectLst/>
                <a:latin typeface="+mn-lt"/>
                <a:ea typeface="+mn-ea"/>
                <a:cs typeface="+mn-cs"/>
              </a:rPr>
              <a:t> are </a:t>
            </a:r>
            <a:r>
              <a:rPr lang="hr-HR" sz="1200" b="0" i="0" kern="1200" dirty="0" err="1">
                <a:solidFill>
                  <a:schemeClr val="tx1"/>
                </a:solidFill>
                <a:effectLst/>
                <a:latin typeface="+mn-lt"/>
                <a:ea typeface="+mn-ea"/>
                <a:cs typeface="+mn-cs"/>
              </a:rPr>
              <a:t>tools</a:t>
            </a:r>
            <a:r>
              <a:rPr lang="hr-HR" sz="1200" b="0" i="0" kern="1200" dirty="0">
                <a:solidFill>
                  <a:schemeClr val="tx1"/>
                </a:solidFill>
                <a:effectLst/>
                <a:latin typeface="+mn-lt"/>
                <a:ea typeface="+mn-ea"/>
                <a:cs typeface="+mn-cs"/>
              </a:rPr>
              <a:t> for </a:t>
            </a:r>
            <a:r>
              <a:rPr lang="hr-HR" sz="1200" b="0" i="0" kern="1200" dirty="0" err="1">
                <a:solidFill>
                  <a:schemeClr val="tx1"/>
                </a:solidFill>
                <a:effectLst/>
                <a:latin typeface="+mn-lt"/>
                <a:ea typeface="+mn-ea"/>
                <a:cs typeface="+mn-cs"/>
              </a:rPr>
              <a:t>improvement</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not</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surveillance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Highlight</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that</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interpretation</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matters</a:t>
            </a:r>
            <a:r>
              <a:rPr lang="hr-HR" sz="1200" b="0" i="0" kern="1200" dirty="0">
                <a:solidFill>
                  <a:schemeClr val="tx1"/>
                </a:solidFill>
                <a:effectLst/>
                <a:latin typeface="+mn-lt"/>
                <a:ea typeface="+mn-ea"/>
                <a:cs typeface="+mn-cs"/>
              </a:rPr>
              <a:t> more </a:t>
            </a:r>
            <a:r>
              <a:rPr lang="hr-HR" sz="1200" b="0" i="0" kern="1200" dirty="0" err="1">
                <a:solidFill>
                  <a:schemeClr val="tx1"/>
                </a:solidFill>
                <a:effectLst/>
                <a:latin typeface="+mn-lt"/>
                <a:ea typeface="+mn-ea"/>
                <a:cs typeface="+mn-cs"/>
              </a:rPr>
              <a:t>than</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the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metric</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itself</a:t>
            </a:r>
            <a:r>
              <a:rPr lang="hr-HR" sz="1200" b="0" i="0" kern="1200" dirty="0">
                <a:solidFill>
                  <a:schemeClr val="tx1"/>
                </a:solidFill>
                <a:effectLst/>
                <a:latin typeface="+mn-lt"/>
                <a:ea typeface="+mn-ea"/>
                <a:cs typeface="+mn-cs"/>
              </a:rPr>
              <a:t>. </a:t>
            </a:r>
          </a:p>
          <a:p>
            <a:br>
              <a:rPr lang="hr-HR" sz="1200" b="0" i="0" kern="1200" dirty="0">
                <a:solidFill>
                  <a:schemeClr val="tx1"/>
                </a:solidFill>
                <a:effectLst/>
                <a:latin typeface="+mn-lt"/>
                <a:ea typeface="+mn-ea"/>
                <a:cs typeface="+mn-cs"/>
              </a:rPr>
            </a:br>
            <a:endParaRPr lang="hr-HR" sz="1200" b="0" i="0" kern="1200" dirty="0">
              <a:solidFill>
                <a:schemeClr val="tx1"/>
              </a:solidFill>
              <a:effectLst/>
              <a:latin typeface="+mn-lt"/>
              <a:ea typeface="+mn-ea"/>
              <a:cs typeface="+mn-cs"/>
            </a:endParaRPr>
          </a:p>
          <a:p>
            <a:r>
              <a:rPr lang="hr-HR" sz="1200" b="0" i="0" kern="1200" dirty="0">
                <a:solidFill>
                  <a:schemeClr val="tx1"/>
                </a:solidFill>
                <a:effectLst/>
                <a:latin typeface="+mn-lt"/>
                <a:ea typeface="+mn-ea"/>
                <a:cs typeface="+mn-cs"/>
              </a:rPr>
              <a:t>Napomene za facilitatora</a:t>
            </a:r>
          </a:p>
          <a:p>
            <a:r>
              <a:rPr lang="hr-HR" sz="1200" b="0" i="0" kern="1200" dirty="0">
                <a:solidFill>
                  <a:schemeClr val="tx1"/>
                </a:solidFill>
                <a:effectLst/>
                <a:latin typeface="+mn-lt"/>
                <a:ea typeface="+mn-ea"/>
                <a:cs typeface="+mn-cs"/>
              </a:rPr>
              <a:t>Postavite očekivanja: polaznici neće učiti samo o grafikonima, već i kako izbjeći pogrešnu upotrebu metrika te kako povezati mjerenje s unapređenjem.</a:t>
            </a:r>
          </a:p>
          <a:p>
            <a:r>
              <a:rPr lang="hr-HR" sz="1200" b="0" i="0" kern="1200" dirty="0">
                <a:solidFill>
                  <a:schemeClr val="tx1"/>
                </a:solidFill>
                <a:effectLst/>
                <a:latin typeface="+mn-lt"/>
                <a:ea typeface="+mn-ea"/>
                <a:cs typeface="+mn-cs"/>
              </a:rPr>
              <a:t>Parafrazirajte sadržaj slajda u jednostavnu cjelinu:</a:t>
            </a:r>
          </a:p>
          <a:p>
            <a:r>
              <a:rPr lang="hr-HR" sz="1200" b="0" i="0" kern="1200" dirty="0">
                <a:solidFill>
                  <a:schemeClr val="tx1"/>
                </a:solidFill>
                <a:effectLst/>
                <a:latin typeface="+mn-lt"/>
                <a:ea typeface="+mn-ea"/>
                <a:cs typeface="+mn-cs"/>
              </a:rPr>
              <a:t>Mjerimo sposobnost isporuke (</a:t>
            </a:r>
            <a:r>
              <a:rPr lang="hr-HR" sz="1200" b="0" i="0" kern="1200" dirty="0" err="1">
                <a:solidFill>
                  <a:schemeClr val="tx1"/>
                </a:solidFill>
                <a:effectLst/>
                <a:latin typeface="+mn-lt"/>
                <a:ea typeface="+mn-ea"/>
                <a:cs typeface="+mn-cs"/>
              </a:rPr>
              <a:t>velocity</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cycle</a:t>
            </a:r>
            <a:r>
              <a:rPr lang="hr-HR" sz="1200" b="0" i="0" kern="1200" dirty="0">
                <a:solidFill>
                  <a:schemeClr val="tx1"/>
                </a:solidFill>
                <a:effectLst/>
                <a:latin typeface="+mn-lt"/>
                <a:ea typeface="+mn-ea"/>
                <a:cs typeface="+mn-cs"/>
              </a:rPr>
              <a:t> time, predvidljivost).</a:t>
            </a:r>
          </a:p>
          <a:p>
            <a:r>
              <a:rPr lang="hr-HR" sz="1200" b="0" i="0" kern="1200" dirty="0">
                <a:solidFill>
                  <a:schemeClr val="tx1"/>
                </a:solidFill>
                <a:effectLst/>
                <a:latin typeface="+mn-lt"/>
                <a:ea typeface="+mn-ea"/>
                <a:cs typeface="+mn-cs"/>
              </a:rPr>
              <a:t>Vizualiziramo tijek rada kako bismo uočili uska grla i promjene u opsegu.</a:t>
            </a:r>
          </a:p>
          <a:p>
            <a:r>
              <a:rPr lang="hr-HR" sz="1200" b="0" i="0" kern="1200" dirty="0">
                <a:solidFill>
                  <a:schemeClr val="tx1"/>
                </a:solidFill>
                <a:effectLst/>
                <a:latin typeface="+mn-lt"/>
                <a:ea typeface="+mn-ea"/>
                <a:cs typeface="+mn-cs"/>
              </a:rPr>
              <a:t>Koristimo podatke u retrospektivama za unapređenje.</a:t>
            </a:r>
          </a:p>
          <a:p>
            <a:r>
              <a:rPr lang="hr-HR" sz="1200" b="0" i="0" kern="1200" dirty="0">
                <a:solidFill>
                  <a:schemeClr val="tx1"/>
                </a:solidFill>
                <a:effectLst/>
                <a:latin typeface="+mn-lt"/>
                <a:ea typeface="+mn-ea"/>
                <a:cs typeface="+mn-cs"/>
              </a:rPr>
              <a:t>Naglasite da su metrike alati za poboljšanje, a ne za nadzor.</a:t>
            </a:r>
          </a:p>
          <a:p>
            <a:r>
              <a:rPr lang="hr-HR" sz="1200" b="0" i="0" kern="1200" dirty="0">
                <a:solidFill>
                  <a:schemeClr val="tx1"/>
                </a:solidFill>
                <a:effectLst/>
                <a:latin typeface="+mn-lt"/>
                <a:ea typeface="+mn-ea"/>
                <a:cs typeface="+mn-cs"/>
              </a:rPr>
              <a:t>Istaknite da je interpretacija važnija od same metrike.</a:t>
            </a:r>
          </a:p>
          <a:p>
            <a:br>
              <a:rPr lang="hr-HR" sz="1200" b="0" i="0" kern="1200" dirty="0">
                <a:solidFill>
                  <a:schemeClr val="tx1"/>
                </a:solidFill>
                <a:effectLst/>
                <a:latin typeface="+mn-lt"/>
                <a:ea typeface="+mn-ea"/>
                <a:cs typeface="+mn-cs"/>
              </a:rPr>
            </a:br>
            <a:endParaRPr lang="hr-HR" sz="1200" b="0" i="0" kern="1200" dirty="0">
              <a:solidFill>
                <a:schemeClr val="tx1"/>
              </a:solidFill>
              <a:effectLst/>
              <a:latin typeface="+mn-lt"/>
              <a:ea typeface="+mn-ea"/>
              <a:cs typeface="+mn-cs"/>
            </a:endParaRPr>
          </a:p>
          <a:p>
            <a:r>
              <a:rPr lang="hr-HR" sz="1200" b="0" i="0" kern="1200" dirty="0" err="1">
                <a:solidFill>
                  <a:schemeClr val="tx1"/>
                </a:solidFill>
                <a:effectLst/>
                <a:latin typeface="+mn-lt"/>
                <a:ea typeface="+mn-ea"/>
                <a:cs typeface="+mn-cs"/>
              </a:rPr>
              <a:t>The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second</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part</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addresses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why</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Agile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initiatives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often</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struggle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shifting</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the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focus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from</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tools</a:t>
            </a:r>
            <a:r>
              <a:rPr lang="hr-HR" sz="1200" b="0" i="0" kern="1200" dirty="0">
                <a:solidFill>
                  <a:schemeClr val="tx1"/>
                </a:solidFill>
                <a:effectLst/>
                <a:latin typeface="+mn-lt"/>
                <a:ea typeface="+mn-ea"/>
                <a:cs typeface="+mn-cs"/>
              </a:rPr>
              <a:t> to </a:t>
            </a:r>
            <a:r>
              <a:rPr lang="hr-HR" sz="1200" b="0" i="0" kern="1200" dirty="0" err="1">
                <a:solidFill>
                  <a:schemeClr val="tx1"/>
                </a:solidFill>
                <a:effectLst/>
                <a:latin typeface="+mn-lt"/>
                <a:ea typeface="+mn-ea"/>
                <a:cs typeface="+mn-cs"/>
              </a:rPr>
              <a:t>organisational</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reality</a:t>
            </a:r>
            <a:r>
              <a:rPr lang="hr-HR" sz="1200" b="0" i="0" kern="1200" dirty="0">
                <a:solidFill>
                  <a:schemeClr val="tx1"/>
                </a:solidFill>
                <a:effectLst/>
                <a:latin typeface="+mn-lt"/>
                <a:ea typeface="+mn-ea"/>
                <a:cs typeface="+mn-cs"/>
              </a:rPr>
              <a:t>. You </a:t>
            </a:r>
            <a:r>
              <a:rPr lang="hr-HR" sz="1200" b="0" i="0" kern="1200" dirty="0" err="1">
                <a:solidFill>
                  <a:schemeClr val="tx1"/>
                </a:solidFill>
                <a:effectLst/>
                <a:latin typeface="+mn-lt"/>
                <a:ea typeface="+mn-ea"/>
                <a:cs typeface="+mn-cs"/>
              </a:rPr>
              <a:t>will</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analyse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typical</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causes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of</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failure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and</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distinguish</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between</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Agile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adoption</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using</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practices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and</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Agile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transformation</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changing</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organisational</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culture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Finally</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the</a:t>
            </a:r>
            <a:r>
              <a:rPr lang="hr-HR" sz="1200" b="0" i="0" kern="1200" dirty="0">
                <a:solidFill>
                  <a:schemeClr val="tx1"/>
                </a:solidFill>
                <a:effectLst/>
                <a:latin typeface="+mn-lt"/>
                <a:ea typeface="+mn-ea"/>
                <a:cs typeface="+mn-cs"/>
              </a:rPr>
              <a:t> module </a:t>
            </a:r>
            <a:r>
              <a:rPr lang="hr-HR" sz="1200" b="0" i="0" kern="1200" dirty="0" err="1">
                <a:solidFill>
                  <a:schemeClr val="tx1"/>
                </a:solidFill>
                <a:effectLst/>
                <a:latin typeface="+mn-lt"/>
                <a:ea typeface="+mn-ea"/>
                <a:cs typeface="+mn-cs"/>
              </a:rPr>
              <a:t>supports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practical</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decision-making</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in</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real</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projects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by</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showing</a:t>
            </a:r>
            <a:r>
              <a:rPr lang="hr-HR" sz="1200" b="0" i="0" kern="1200" dirty="0">
                <a:solidFill>
                  <a:schemeClr val="tx1"/>
                </a:solidFill>
                <a:effectLst/>
                <a:latin typeface="+mn-lt"/>
                <a:ea typeface="+mn-ea"/>
                <a:cs typeface="+mn-cs"/>
              </a:rPr>
              <a:t> how to </a:t>
            </a:r>
            <a:r>
              <a:rPr lang="hr-HR" sz="1200" b="0" i="0" kern="1200" dirty="0" err="1">
                <a:solidFill>
                  <a:schemeClr val="tx1"/>
                </a:solidFill>
                <a:effectLst/>
                <a:latin typeface="+mn-lt"/>
                <a:ea typeface="+mn-ea"/>
                <a:cs typeface="+mn-cs"/>
              </a:rPr>
              <a:t>reconcile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Agile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and</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Waterfall</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when</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stakeholders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still</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require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traditional</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planning</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artifacts</a:t>
            </a:r>
            <a:r>
              <a:rPr lang="hr-HR" sz="1200" b="0" i="0" kern="1200" dirty="0">
                <a:solidFill>
                  <a:schemeClr val="tx1"/>
                </a:solidFill>
                <a:effectLst/>
                <a:latin typeface="+mn-lt"/>
                <a:ea typeface="+mn-ea"/>
                <a:cs typeface="+mn-cs"/>
              </a:rPr>
              <a:t>. </a:t>
            </a:r>
          </a:p>
          <a:p>
            <a:br>
              <a:rPr lang="hr-HR" sz="1200" b="0" i="0" kern="1200" dirty="0">
                <a:solidFill>
                  <a:schemeClr val="tx1"/>
                </a:solidFill>
                <a:effectLst/>
                <a:latin typeface="+mn-lt"/>
                <a:ea typeface="+mn-ea"/>
                <a:cs typeface="+mn-cs"/>
              </a:rPr>
            </a:br>
            <a:endParaRPr lang="hr-HR" sz="1200" b="0" i="0" kern="1200" dirty="0">
              <a:solidFill>
                <a:schemeClr val="tx1"/>
              </a:solidFill>
              <a:effectLst/>
              <a:latin typeface="+mn-lt"/>
              <a:ea typeface="+mn-ea"/>
              <a:cs typeface="+mn-cs"/>
            </a:endParaRPr>
          </a:p>
          <a:p>
            <a:r>
              <a:rPr lang="hr-HR" sz="1200" b="0" i="0" kern="1200" dirty="0">
                <a:solidFill>
                  <a:schemeClr val="tx1"/>
                </a:solidFill>
                <a:effectLst/>
                <a:latin typeface="+mn-lt"/>
                <a:ea typeface="+mn-ea"/>
                <a:cs typeface="+mn-cs"/>
              </a:rPr>
              <a:t>Drugi dio bavi se razlozima zbog kojih </a:t>
            </a:r>
            <a:r>
              <a:rPr lang="hr-HR" sz="1200" b="0" i="0" kern="1200" dirty="0" err="1">
                <a:solidFill>
                  <a:schemeClr val="tx1"/>
                </a:solidFill>
                <a:effectLst/>
                <a:latin typeface="+mn-lt"/>
                <a:ea typeface="+mn-ea"/>
                <a:cs typeface="+mn-cs"/>
              </a:rPr>
              <a:t>Agile</a:t>
            </a:r>
            <a:r>
              <a:rPr lang="hr-HR" sz="1200" b="0" i="0" kern="1200" dirty="0">
                <a:solidFill>
                  <a:schemeClr val="tx1"/>
                </a:solidFill>
                <a:effectLst/>
                <a:latin typeface="+mn-lt"/>
                <a:ea typeface="+mn-ea"/>
                <a:cs typeface="+mn-cs"/>
              </a:rPr>
              <a:t> inicijative često nailaze na poteškoće, preusmjeravajući fokus s alata na organizacijsku stvarnost. Analizirat ćete tipične uzroke neuspjeha te razlikovati </a:t>
            </a:r>
            <a:r>
              <a:rPr lang="hr-HR" sz="1200" b="0" i="0" kern="1200" dirty="0" err="1">
                <a:solidFill>
                  <a:schemeClr val="tx1"/>
                </a:solidFill>
                <a:effectLst/>
                <a:latin typeface="+mn-lt"/>
                <a:ea typeface="+mn-ea"/>
                <a:cs typeface="+mn-cs"/>
              </a:rPr>
              <a:t>Agile</a:t>
            </a:r>
            <a:r>
              <a:rPr lang="hr-HR" sz="1200" b="0" i="0" kern="1200" dirty="0">
                <a:solidFill>
                  <a:schemeClr val="tx1"/>
                </a:solidFill>
                <a:effectLst/>
                <a:latin typeface="+mn-lt"/>
                <a:ea typeface="+mn-ea"/>
                <a:cs typeface="+mn-cs"/>
              </a:rPr>
              <a:t> usvajanje (korištenje praksi) od </a:t>
            </a:r>
            <a:r>
              <a:rPr lang="hr-HR" sz="1200" b="0" i="0" kern="1200" dirty="0" err="1">
                <a:solidFill>
                  <a:schemeClr val="tx1"/>
                </a:solidFill>
                <a:effectLst/>
                <a:latin typeface="+mn-lt"/>
                <a:ea typeface="+mn-ea"/>
                <a:cs typeface="+mn-cs"/>
              </a:rPr>
              <a:t>Agile</a:t>
            </a:r>
            <a:r>
              <a:rPr lang="hr-HR" sz="1200" b="0" i="0" kern="1200" dirty="0">
                <a:solidFill>
                  <a:schemeClr val="tx1"/>
                </a:solidFill>
                <a:effectLst/>
                <a:latin typeface="+mn-lt"/>
                <a:ea typeface="+mn-ea"/>
                <a:cs typeface="+mn-cs"/>
              </a:rPr>
              <a:t> transformacije (promjena organizacijske kulture).</a:t>
            </a:r>
          </a:p>
          <a:p>
            <a:r>
              <a:rPr lang="hr-HR" sz="1200" b="0" i="0" kern="1200" dirty="0">
                <a:solidFill>
                  <a:schemeClr val="tx1"/>
                </a:solidFill>
                <a:effectLst/>
                <a:latin typeface="+mn-lt"/>
                <a:ea typeface="+mn-ea"/>
                <a:cs typeface="+mn-cs"/>
              </a:rPr>
              <a:t>Na kraju, modul podržava praktično donošenje odluka u stvarnim projektima prikazujući kako uskladiti </a:t>
            </a:r>
            <a:r>
              <a:rPr lang="hr-HR" sz="1200" b="0" i="0" kern="1200" dirty="0" err="1">
                <a:solidFill>
                  <a:schemeClr val="tx1"/>
                </a:solidFill>
                <a:effectLst/>
                <a:latin typeface="+mn-lt"/>
                <a:ea typeface="+mn-ea"/>
                <a:cs typeface="+mn-cs"/>
              </a:rPr>
              <a:t>Agile</a:t>
            </a:r>
            <a:r>
              <a:rPr lang="hr-HR" sz="1200" b="0" i="0" kern="1200" dirty="0">
                <a:solidFill>
                  <a:schemeClr val="tx1"/>
                </a:solidFill>
                <a:effectLst/>
                <a:latin typeface="+mn-lt"/>
                <a:ea typeface="+mn-ea"/>
                <a:cs typeface="+mn-cs"/>
              </a:rPr>
              <a:t> i </a:t>
            </a:r>
            <a:r>
              <a:rPr lang="hr-HR" sz="1200" b="0" i="0" kern="1200" dirty="0" err="1">
                <a:solidFill>
                  <a:schemeClr val="tx1"/>
                </a:solidFill>
                <a:effectLst/>
                <a:latin typeface="+mn-lt"/>
                <a:ea typeface="+mn-ea"/>
                <a:cs typeface="+mn-cs"/>
              </a:rPr>
              <a:t>Waterfall</a:t>
            </a:r>
            <a:r>
              <a:rPr lang="hr-HR" sz="1200" b="0" i="0" kern="1200" dirty="0">
                <a:solidFill>
                  <a:schemeClr val="tx1"/>
                </a:solidFill>
                <a:effectLst/>
                <a:latin typeface="+mn-lt"/>
                <a:ea typeface="+mn-ea"/>
                <a:cs typeface="+mn-cs"/>
              </a:rPr>
              <a:t> pristupe kada dionici i dalje zahtijevaju tradicionalne planerske artefakte.</a:t>
            </a:r>
          </a:p>
          <a:p>
            <a:br>
              <a:rPr lang="hr-HR" sz="1200" b="0" i="0" kern="1200" dirty="0">
                <a:solidFill>
                  <a:schemeClr val="tx1"/>
                </a:solidFill>
                <a:effectLst/>
                <a:latin typeface="+mn-lt"/>
                <a:ea typeface="+mn-ea"/>
                <a:cs typeface="+mn-cs"/>
              </a:rPr>
            </a:br>
            <a:endParaRPr lang="hr-HR" sz="1200" b="0" i="0" kern="1200" dirty="0">
              <a:solidFill>
                <a:schemeClr val="tx1"/>
              </a:solidFill>
              <a:effectLst/>
              <a:latin typeface="+mn-lt"/>
              <a:ea typeface="+mn-ea"/>
              <a:cs typeface="+mn-cs"/>
            </a:endParaRPr>
          </a:p>
          <a:p>
            <a:r>
              <a:rPr lang="hr-HR" sz="1200" b="0" i="0" kern="1200" dirty="0">
                <a:solidFill>
                  <a:schemeClr val="tx1"/>
                </a:solidFill>
                <a:effectLst/>
                <a:latin typeface="+mn-lt"/>
                <a:ea typeface="+mn-ea"/>
                <a:cs typeface="+mn-cs"/>
              </a:rPr>
              <a:t>prevedi: Facilitator notes </a:t>
            </a:r>
            <a:r>
              <a:rPr lang="hr-HR" sz="1200" b="0" i="0" kern="1200" dirty="0" err="1">
                <a:solidFill>
                  <a:schemeClr val="tx1"/>
                </a:solidFill>
                <a:effectLst/>
                <a:latin typeface="+mn-lt"/>
                <a:ea typeface="+mn-ea"/>
                <a:cs typeface="+mn-cs"/>
              </a:rPr>
              <a:t>Learners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may</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fear</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metrics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will</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be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used</a:t>
            </a:r>
            <a:r>
              <a:rPr lang="hr-HR" sz="1200" b="0" i="0" kern="1200" dirty="0">
                <a:solidFill>
                  <a:schemeClr val="tx1"/>
                </a:solidFill>
                <a:effectLst/>
                <a:latin typeface="+mn-lt"/>
                <a:ea typeface="+mn-ea"/>
                <a:cs typeface="+mn-cs"/>
              </a:rPr>
              <a:t> for </a:t>
            </a:r>
            <a:r>
              <a:rPr lang="hr-HR" sz="1200" b="0" i="0" kern="1200" dirty="0" err="1">
                <a:solidFill>
                  <a:schemeClr val="tx1"/>
                </a:solidFill>
                <a:effectLst/>
                <a:latin typeface="+mn-lt"/>
                <a:ea typeface="+mn-ea"/>
                <a:cs typeface="+mn-cs"/>
              </a:rPr>
              <a:t>control</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Reassure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in</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Agile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metrics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serve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the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team</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and</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the</a:t>
            </a:r>
            <a:r>
              <a:rPr lang="hr-HR" sz="1200" b="0" i="0" kern="1200" dirty="0">
                <a:solidFill>
                  <a:schemeClr val="tx1"/>
                </a:solidFill>
                <a:effectLst/>
                <a:latin typeface="+mn-lt"/>
                <a:ea typeface="+mn-ea"/>
                <a:cs typeface="+mn-cs"/>
              </a:rPr>
              <a:t> system, </a:t>
            </a:r>
            <a:r>
              <a:rPr lang="hr-HR" sz="1200" b="0" i="0" kern="1200" dirty="0" err="1">
                <a:solidFill>
                  <a:schemeClr val="tx1"/>
                </a:solidFill>
                <a:effectLst/>
                <a:latin typeface="+mn-lt"/>
                <a:ea typeface="+mn-ea"/>
                <a:cs typeface="+mn-cs"/>
              </a:rPr>
              <a:t>not</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individual</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surveillance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Stress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that</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metrics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without</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culture</a:t>
            </a:r>
            <a:r>
              <a:rPr lang="hr-HR" sz="1200" b="0" i="0" kern="1200" dirty="0">
                <a:solidFill>
                  <a:schemeClr val="tx1"/>
                </a:solidFill>
                <a:effectLst/>
                <a:latin typeface="+mn-lt"/>
                <a:ea typeface="+mn-ea"/>
                <a:cs typeface="+mn-cs"/>
              </a:rPr>
              <a:t> do </a:t>
            </a:r>
            <a:r>
              <a:rPr lang="hr-HR" sz="1200" b="0" i="0" kern="1200" dirty="0" err="1">
                <a:solidFill>
                  <a:schemeClr val="tx1"/>
                </a:solidFill>
                <a:effectLst/>
                <a:latin typeface="+mn-lt"/>
                <a:ea typeface="+mn-ea"/>
                <a:cs typeface="+mn-cs"/>
              </a:rPr>
              <a:t>not</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create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change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Highlight</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the</a:t>
            </a:r>
            <a:r>
              <a:rPr lang="hr-HR" sz="1200" b="0" i="0" kern="1200" dirty="0">
                <a:solidFill>
                  <a:schemeClr val="tx1"/>
                </a:solidFill>
                <a:effectLst/>
                <a:latin typeface="+mn-lt"/>
                <a:ea typeface="+mn-ea"/>
                <a:cs typeface="+mn-cs"/>
              </a:rPr>
              <a:t> link </a:t>
            </a:r>
            <a:r>
              <a:rPr lang="hr-HR" sz="1200" b="0" i="0" kern="1200" dirty="0" err="1">
                <a:solidFill>
                  <a:schemeClr val="tx1"/>
                </a:solidFill>
                <a:effectLst/>
                <a:latin typeface="+mn-lt"/>
                <a:ea typeface="+mn-ea"/>
                <a:cs typeface="+mn-cs"/>
              </a:rPr>
              <a:t>between</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measurement</a:t>
            </a:r>
            <a:r>
              <a:rPr lang="hr-HR" sz="1200" b="0" i="0" kern="1200" dirty="0">
                <a:solidFill>
                  <a:schemeClr val="tx1"/>
                </a:solidFill>
                <a:effectLst/>
                <a:latin typeface="+mn-lt"/>
                <a:ea typeface="+mn-ea"/>
                <a:cs typeface="+mn-cs"/>
              </a:rPr>
              <a:t> → </a:t>
            </a:r>
            <a:r>
              <a:rPr lang="hr-HR" sz="1200" b="0" i="0" kern="1200" dirty="0" err="1">
                <a:solidFill>
                  <a:schemeClr val="tx1"/>
                </a:solidFill>
                <a:effectLst/>
                <a:latin typeface="+mn-lt"/>
                <a:ea typeface="+mn-ea"/>
                <a:cs typeface="+mn-cs"/>
              </a:rPr>
              <a:t>feedback</a:t>
            </a:r>
            <a:r>
              <a:rPr lang="hr-HR" sz="1200" b="0" i="0" kern="1200" dirty="0">
                <a:solidFill>
                  <a:schemeClr val="tx1"/>
                </a:solidFill>
                <a:effectLst/>
                <a:latin typeface="+mn-lt"/>
                <a:ea typeface="+mn-ea"/>
                <a:cs typeface="+mn-cs"/>
              </a:rPr>
              <a:t> → </a:t>
            </a:r>
            <a:r>
              <a:rPr lang="hr-HR" sz="1200" b="0" i="0" kern="1200" dirty="0" err="1">
                <a:solidFill>
                  <a:schemeClr val="tx1"/>
                </a:solidFill>
                <a:effectLst/>
                <a:latin typeface="+mn-lt"/>
                <a:ea typeface="+mn-ea"/>
                <a:cs typeface="+mn-cs"/>
              </a:rPr>
              <a:t>improvement</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Reinforce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that</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Waterfall</a:t>
            </a:r>
            <a:r>
              <a:rPr lang="hr-HR" sz="1200" b="0" i="0" kern="1200" dirty="0">
                <a:solidFill>
                  <a:schemeClr val="tx1"/>
                </a:solidFill>
                <a:effectLst/>
                <a:latin typeface="+mn-lt"/>
                <a:ea typeface="+mn-ea"/>
                <a:cs typeface="+mn-cs"/>
              </a:rPr>
              <a:t> vs </a:t>
            </a:r>
            <a:r>
              <a:rPr lang="hr-HR" sz="1200" b="0" i="0" kern="1200" dirty="0" err="1">
                <a:solidFill>
                  <a:schemeClr val="tx1"/>
                </a:solidFill>
                <a:effectLst/>
                <a:latin typeface="+mn-lt"/>
                <a:ea typeface="+mn-ea"/>
                <a:cs typeface="+mn-cs"/>
              </a:rPr>
              <a:t>Agile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is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not</a:t>
            </a:r>
            <a:r>
              <a:rPr lang="hr-HR" sz="1200" b="0" i="0" kern="1200" dirty="0">
                <a:solidFill>
                  <a:schemeClr val="tx1"/>
                </a:solidFill>
                <a:effectLst/>
                <a:latin typeface="+mn-lt"/>
                <a:ea typeface="+mn-ea"/>
                <a:cs typeface="+mn-cs"/>
              </a:rPr>
              <a:t> a </a:t>
            </a:r>
            <a:r>
              <a:rPr lang="hr-HR" sz="1200" b="0" i="0" kern="1200" dirty="0" err="1">
                <a:solidFill>
                  <a:schemeClr val="tx1"/>
                </a:solidFill>
                <a:effectLst/>
                <a:latin typeface="+mn-lt"/>
                <a:ea typeface="+mn-ea"/>
                <a:cs typeface="+mn-cs"/>
              </a:rPr>
              <a:t>binary</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choice</a:t>
            </a:r>
            <a:r>
              <a:rPr lang="hr-HR" sz="1200" b="0" i="0" kern="1200" dirty="0">
                <a:solidFill>
                  <a:schemeClr val="tx1"/>
                </a:solidFill>
                <a:effectLst/>
                <a:latin typeface="+mn-lt"/>
                <a:ea typeface="+mn-ea"/>
                <a:cs typeface="+mn-cs"/>
              </a:rPr>
              <a:t>. </a:t>
            </a:r>
          </a:p>
          <a:p>
            <a:br>
              <a:rPr lang="hr-HR" sz="1200" b="0" i="0" kern="1200" dirty="0">
                <a:solidFill>
                  <a:schemeClr val="tx1"/>
                </a:solidFill>
                <a:effectLst/>
                <a:latin typeface="+mn-lt"/>
                <a:ea typeface="+mn-ea"/>
                <a:cs typeface="+mn-cs"/>
              </a:rPr>
            </a:br>
            <a:endParaRPr lang="hr-HR" sz="1200" b="0" i="0" kern="1200" dirty="0">
              <a:solidFill>
                <a:schemeClr val="tx1"/>
              </a:solidFill>
              <a:effectLst/>
              <a:latin typeface="+mn-lt"/>
              <a:ea typeface="+mn-ea"/>
              <a:cs typeface="+mn-cs"/>
            </a:endParaRPr>
          </a:p>
          <a:p>
            <a:r>
              <a:rPr lang="hr-HR" sz="1200" b="0" i="0" kern="1200" dirty="0">
                <a:solidFill>
                  <a:schemeClr val="tx1"/>
                </a:solidFill>
                <a:effectLst/>
                <a:latin typeface="+mn-lt"/>
                <a:ea typeface="+mn-ea"/>
                <a:cs typeface="+mn-cs"/>
              </a:rPr>
              <a:t>Napomene za facilitatora</a:t>
            </a:r>
          </a:p>
          <a:p>
            <a:r>
              <a:rPr lang="hr-HR" sz="1200" b="0" i="0" kern="1200" dirty="0">
                <a:solidFill>
                  <a:schemeClr val="tx1"/>
                </a:solidFill>
                <a:effectLst/>
                <a:latin typeface="+mn-lt"/>
                <a:ea typeface="+mn-ea"/>
                <a:cs typeface="+mn-cs"/>
              </a:rPr>
              <a:t>Polaznici se mogu bojati da će se metrike koristiti za kontrolu. Naglasite da u </a:t>
            </a:r>
            <a:r>
              <a:rPr lang="hr-HR" sz="1200" b="0" i="0" kern="1200" dirty="0" err="1">
                <a:solidFill>
                  <a:schemeClr val="tx1"/>
                </a:solidFill>
                <a:effectLst/>
                <a:latin typeface="+mn-lt"/>
                <a:ea typeface="+mn-ea"/>
                <a:cs typeface="+mn-cs"/>
              </a:rPr>
              <a:t>Agileu</a:t>
            </a:r>
            <a:r>
              <a:rPr lang="hr-HR" sz="1200" b="0" i="0" kern="1200" dirty="0">
                <a:solidFill>
                  <a:schemeClr val="tx1"/>
                </a:solidFill>
                <a:effectLst/>
                <a:latin typeface="+mn-lt"/>
                <a:ea typeface="+mn-ea"/>
                <a:cs typeface="+mn-cs"/>
              </a:rPr>
              <a:t> metrike služe timu i sustavu, a ne nadzoru pojedinaca.</a:t>
            </a:r>
          </a:p>
          <a:p>
            <a:r>
              <a:rPr lang="hr-HR" sz="1200" b="0" i="0" kern="1200" dirty="0">
                <a:solidFill>
                  <a:schemeClr val="tx1"/>
                </a:solidFill>
                <a:effectLst/>
                <a:latin typeface="+mn-lt"/>
                <a:ea typeface="+mn-ea"/>
                <a:cs typeface="+mn-cs"/>
              </a:rPr>
              <a:t>Istaknite da metrike bez odgovarajuće organizacijske kulture ne dovode do stvarnih promjena.</a:t>
            </a:r>
          </a:p>
          <a:p>
            <a:r>
              <a:rPr lang="hr-HR" sz="1200" b="0" i="0" kern="1200" dirty="0">
                <a:solidFill>
                  <a:schemeClr val="tx1"/>
                </a:solidFill>
                <a:effectLst/>
                <a:latin typeface="+mn-lt"/>
                <a:ea typeface="+mn-ea"/>
                <a:cs typeface="+mn-cs"/>
              </a:rPr>
              <a:t>Naglasite povezanost: mjerenje → povratna informacija → unapređenje.</a:t>
            </a:r>
          </a:p>
          <a:p>
            <a:r>
              <a:rPr lang="hr-HR" sz="1200" b="0" i="0" kern="1200" dirty="0">
                <a:solidFill>
                  <a:schemeClr val="tx1"/>
                </a:solidFill>
                <a:effectLst/>
                <a:latin typeface="+mn-lt"/>
                <a:ea typeface="+mn-ea"/>
                <a:cs typeface="+mn-cs"/>
              </a:rPr>
              <a:t>Dodatno naglasite da </a:t>
            </a:r>
            <a:r>
              <a:rPr lang="hr-HR" sz="1200" b="0" i="0" kern="1200" dirty="0" err="1">
                <a:solidFill>
                  <a:schemeClr val="tx1"/>
                </a:solidFill>
                <a:effectLst/>
                <a:latin typeface="+mn-lt"/>
                <a:ea typeface="+mn-ea"/>
                <a:cs typeface="+mn-cs"/>
              </a:rPr>
              <a:t>Waterfall</a:t>
            </a:r>
            <a:r>
              <a:rPr lang="hr-HR" sz="1200" b="0" i="0" kern="1200" dirty="0">
                <a:solidFill>
                  <a:schemeClr val="tx1"/>
                </a:solidFill>
                <a:effectLst/>
                <a:latin typeface="+mn-lt"/>
                <a:ea typeface="+mn-ea"/>
                <a:cs typeface="+mn-cs"/>
              </a:rPr>
              <a:t> i </a:t>
            </a:r>
            <a:r>
              <a:rPr lang="hr-HR" sz="1200" b="0" i="0" kern="1200" dirty="0" err="1">
                <a:solidFill>
                  <a:schemeClr val="tx1"/>
                </a:solidFill>
                <a:effectLst/>
                <a:latin typeface="+mn-lt"/>
                <a:ea typeface="+mn-ea"/>
                <a:cs typeface="+mn-cs"/>
              </a:rPr>
              <a:t>Agile</a:t>
            </a:r>
            <a:r>
              <a:rPr lang="hr-HR" sz="1200" b="0" i="0" kern="1200" dirty="0">
                <a:solidFill>
                  <a:schemeClr val="tx1"/>
                </a:solidFill>
                <a:effectLst/>
                <a:latin typeface="+mn-lt"/>
                <a:ea typeface="+mn-ea"/>
                <a:cs typeface="+mn-cs"/>
              </a:rPr>
              <a:t> nisu isključivi izbori (nije riječ o binarnoj odluci).</a:t>
            </a:r>
          </a:p>
          <a:p>
            <a:br>
              <a:rPr lang="hr-HR" sz="1200" b="0" i="0" kern="1200" dirty="0">
                <a:solidFill>
                  <a:schemeClr val="tx1"/>
                </a:solidFill>
                <a:effectLst/>
                <a:latin typeface="+mn-lt"/>
                <a:ea typeface="+mn-ea"/>
                <a:cs typeface="+mn-cs"/>
              </a:rPr>
            </a:br>
            <a:endParaRPr lang="hr-HR" sz="1200" b="0" i="0" kern="1200" dirty="0">
              <a:solidFill>
                <a:schemeClr val="tx1"/>
              </a:solidFill>
              <a:effectLst/>
              <a:latin typeface="+mn-lt"/>
              <a:ea typeface="+mn-ea"/>
              <a:cs typeface="+mn-cs"/>
            </a:endParaRPr>
          </a:p>
          <a:p>
            <a:r>
              <a:rPr lang="hr-HR" sz="1200" b="0" i="0" kern="1200" dirty="0">
                <a:solidFill>
                  <a:schemeClr val="tx1"/>
                </a:solidFill>
                <a:effectLst/>
                <a:latin typeface="+mn-lt"/>
                <a:ea typeface="+mn-ea"/>
                <a:cs typeface="+mn-cs"/>
              </a:rPr>
              <a:t>prevedi: At </a:t>
            </a:r>
            <a:r>
              <a:rPr lang="hr-HR" sz="1200" b="0" i="0" kern="1200" dirty="0" err="1">
                <a:solidFill>
                  <a:schemeClr val="tx1"/>
                </a:solidFill>
                <a:effectLst/>
                <a:latin typeface="+mn-lt"/>
                <a:ea typeface="+mn-ea"/>
                <a:cs typeface="+mn-cs"/>
              </a:rPr>
              <a:t>the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end</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of</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this</a:t>
            </a:r>
            <a:r>
              <a:rPr lang="hr-HR" sz="1200" b="0" i="0" kern="1200" dirty="0">
                <a:solidFill>
                  <a:schemeClr val="tx1"/>
                </a:solidFill>
                <a:effectLst/>
                <a:latin typeface="+mn-lt"/>
                <a:ea typeface="+mn-ea"/>
                <a:cs typeface="+mn-cs"/>
              </a:rPr>
              <a:t> module, </a:t>
            </a:r>
            <a:r>
              <a:rPr lang="hr-HR" sz="1200" b="0" i="0" kern="1200" dirty="0" err="1">
                <a:solidFill>
                  <a:schemeClr val="tx1"/>
                </a:solidFill>
                <a:effectLst/>
                <a:latin typeface="+mn-lt"/>
                <a:ea typeface="+mn-ea"/>
                <a:cs typeface="+mn-cs"/>
              </a:rPr>
              <a:t>you</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will</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be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able</a:t>
            </a:r>
            <a:r>
              <a:rPr lang="hr-HR" sz="1200" b="0" i="0" kern="1200" dirty="0">
                <a:solidFill>
                  <a:schemeClr val="tx1"/>
                </a:solidFill>
                <a:effectLst/>
                <a:latin typeface="+mn-lt"/>
                <a:ea typeface="+mn-ea"/>
                <a:cs typeface="+mn-cs"/>
              </a:rPr>
              <a:t> to: </a:t>
            </a:r>
            <a:r>
              <a:rPr lang="hr-HR" sz="1200" b="0" i="0" kern="1200" dirty="0" err="1">
                <a:solidFill>
                  <a:schemeClr val="tx1"/>
                </a:solidFill>
                <a:effectLst/>
                <a:latin typeface="+mn-lt"/>
                <a:ea typeface="+mn-ea"/>
                <a:cs typeface="+mn-cs"/>
              </a:rPr>
              <a:t>Understand</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key</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performance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metrics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used</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in</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Agile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environments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Identify</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and</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apply</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appropriate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measurement</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tools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and</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techniques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Discuss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the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importance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of</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continuous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improvement</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and</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feedback</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loops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Understand</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the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concept</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of</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risk</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in</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an</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Agile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context</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Identify</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different</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types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of</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risks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in</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Agile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projects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Distinguish</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between</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Waterfall</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and</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Agile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methodologies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Identify</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the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strengths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and</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weaknesses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of</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each</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methodology</a:t>
            </a:r>
            <a:r>
              <a:rPr lang="hr-HR" sz="1200" b="0" i="0" kern="1200" dirty="0">
                <a:solidFill>
                  <a:schemeClr val="tx1"/>
                </a:solidFill>
                <a:effectLst/>
                <a:latin typeface="+mn-lt"/>
                <a:ea typeface="+mn-ea"/>
                <a:cs typeface="+mn-cs"/>
              </a:rPr>
              <a:t> </a:t>
            </a:r>
          </a:p>
          <a:p>
            <a:br>
              <a:rPr lang="hr-HR" sz="1200" b="0" i="0" kern="1200" dirty="0">
                <a:solidFill>
                  <a:schemeClr val="tx1"/>
                </a:solidFill>
                <a:effectLst/>
                <a:latin typeface="+mn-lt"/>
                <a:ea typeface="+mn-ea"/>
                <a:cs typeface="+mn-cs"/>
              </a:rPr>
            </a:br>
            <a:endParaRPr lang="hr-HR" sz="1200" b="0" i="0" kern="1200" dirty="0">
              <a:solidFill>
                <a:schemeClr val="tx1"/>
              </a:solidFill>
              <a:effectLst/>
              <a:latin typeface="+mn-lt"/>
              <a:ea typeface="+mn-ea"/>
              <a:cs typeface="+mn-cs"/>
            </a:endParaRPr>
          </a:p>
          <a:p>
            <a:r>
              <a:rPr lang="hr-HR" sz="1200" b="0" i="0" kern="1200" dirty="0">
                <a:solidFill>
                  <a:schemeClr val="tx1"/>
                </a:solidFill>
                <a:effectLst/>
                <a:latin typeface="+mn-lt"/>
                <a:ea typeface="+mn-ea"/>
                <a:cs typeface="+mn-cs"/>
              </a:rPr>
              <a:t>Na kraju ovog modula moći ćete:</a:t>
            </a:r>
          </a:p>
          <a:p>
            <a:r>
              <a:rPr lang="hr-HR" sz="1200" b="0" i="0" kern="1200" dirty="0">
                <a:solidFill>
                  <a:schemeClr val="tx1"/>
                </a:solidFill>
                <a:effectLst/>
                <a:latin typeface="+mn-lt"/>
                <a:ea typeface="+mn-ea"/>
                <a:cs typeface="+mn-cs"/>
              </a:rPr>
              <a:t>razumjeti ključne metrike uspješnosti koje se koriste u </a:t>
            </a:r>
            <a:r>
              <a:rPr lang="hr-HR" sz="1200" b="0" i="0" kern="1200" dirty="0" err="1">
                <a:solidFill>
                  <a:schemeClr val="tx1"/>
                </a:solidFill>
                <a:effectLst/>
                <a:latin typeface="+mn-lt"/>
                <a:ea typeface="+mn-ea"/>
                <a:cs typeface="+mn-cs"/>
              </a:rPr>
              <a:t>Agile</a:t>
            </a:r>
            <a:r>
              <a:rPr lang="hr-HR" sz="1200" b="0" i="0" kern="1200" dirty="0">
                <a:solidFill>
                  <a:schemeClr val="tx1"/>
                </a:solidFill>
                <a:effectLst/>
                <a:latin typeface="+mn-lt"/>
                <a:ea typeface="+mn-ea"/>
                <a:cs typeface="+mn-cs"/>
              </a:rPr>
              <a:t> okruženjima</a:t>
            </a:r>
          </a:p>
          <a:p>
            <a:r>
              <a:rPr lang="hr-HR" sz="1200" b="0" i="0" kern="1200" dirty="0">
                <a:solidFill>
                  <a:schemeClr val="tx1"/>
                </a:solidFill>
                <a:effectLst/>
                <a:latin typeface="+mn-lt"/>
                <a:ea typeface="+mn-ea"/>
                <a:cs typeface="+mn-cs"/>
              </a:rPr>
              <a:t>prepoznati i primijeniti odgovarajuće alate i tehnike mjerenja</a:t>
            </a:r>
          </a:p>
          <a:p>
            <a:r>
              <a:rPr lang="hr-HR" sz="1200" b="0" i="0" kern="1200" dirty="0">
                <a:solidFill>
                  <a:schemeClr val="tx1"/>
                </a:solidFill>
                <a:effectLst/>
                <a:latin typeface="+mn-lt"/>
                <a:ea typeface="+mn-ea"/>
                <a:cs typeface="+mn-cs"/>
              </a:rPr>
              <a:t>raspravljati o važnosti kontinuiranog unapređenja i povratnih petlji</a:t>
            </a:r>
          </a:p>
          <a:p>
            <a:r>
              <a:rPr lang="hr-HR" sz="1200" b="0" i="0" kern="1200" dirty="0">
                <a:solidFill>
                  <a:schemeClr val="tx1"/>
                </a:solidFill>
                <a:effectLst/>
                <a:latin typeface="+mn-lt"/>
                <a:ea typeface="+mn-ea"/>
                <a:cs typeface="+mn-cs"/>
              </a:rPr>
              <a:t>razumjeti koncept rizika u </a:t>
            </a:r>
            <a:r>
              <a:rPr lang="hr-HR" sz="1200" b="0" i="0" kern="1200" dirty="0" err="1">
                <a:solidFill>
                  <a:schemeClr val="tx1"/>
                </a:solidFill>
                <a:effectLst/>
                <a:latin typeface="+mn-lt"/>
                <a:ea typeface="+mn-ea"/>
                <a:cs typeface="+mn-cs"/>
              </a:rPr>
              <a:t>Agile</a:t>
            </a:r>
            <a:r>
              <a:rPr lang="hr-HR" sz="1200" b="0" i="0" kern="1200" dirty="0">
                <a:solidFill>
                  <a:schemeClr val="tx1"/>
                </a:solidFill>
                <a:effectLst/>
                <a:latin typeface="+mn-lt"/>
                <a:ea typeface="+mn-ea"/>
                <a:cs typeface="+mn-cs"/>
              </a:rPr>
              <a:t> kontekstu</a:t>
            </a:r>
          </a:p>
          <a:p>
            <a:r>
              <a:rPr lang="hr-HR" sz="1200" b="0" i="0" kern="1200" dirty="0">
                <a:solidFill>
                  <a:schemeClr val="tx1"/>
                </a:solidFill>
                <a:effectLst/>
                <a:latin typeface="+mn-lt"/>
                <a:ea typeface="+mn-ea"/>
                <a:cs typeface="+mn-cs"/>
              </a:rPr>
              <a:t>prepoznati različite vrste rizika u </a:t>
            </a:r>
            <a:r>
              <a:rPr lang="hr-HR" sz="1200" b="0" i="0" kern="1200" dirty="0" err="1">
                <a:solidFill>
                  <a:schemeClr val="tx1"/>
                </a:solidFill>
                <a:effectLst/>
                <a:latin typeface="+mn-lt"/>
                <a:ea typeface="+mn-ea"/>
                <a:cs typeface="+mn-cs"/>
              </a:rPr>
              <a:t>Agile</a:t>
            </a:r>
            <a:r>
              <a:rPr lang="hr-HR" sz="1200" b="0" i="0" kern="1200" dirty="0">
                <a:solidFill>
                  <a:schemeClr val="tx1"/>
                </a:solidFill>
                <a:effectLst/>
                <a:latin typeface="+mn-lt"/>
                <a:ea typeface="+mn-ea"/>
                <a:cs typeface="+mn-cs"/>
              </a:rPr>
              <a:t> projektima</a:t>
            </a:r>
          </a:p>
          <a:p>
            <a:r>
              <a:rPr lang="hr-HR" sz="1200" b="0" i="0" kern="1200" dirty="0">
                <a:solidFill>
                  <a:schemeClr val="tx1"/>
                </a:solidFill>
                <a:effectLst/>
                <a:latin typeface="+mn-lt"/>
                <a:ea typeface="+mn-ea"/>
                <a:cs typeface="+mn-cs"/>
              </a:rPr>
              <a:t>razlikovati </a:t>
            </a:r>
            <a:r>
              <a:rPr lang="hr-HR" sz="1200" b="0" i="0" kern="1200" dirty="0" err="1">
                <a:solidFill>
                  <a:schemeClr val="tx1"/>
                </a:solidFill>
                <a:effectLst/>
                <a:latin typeface="+mn-lt"/>
                <a:ea typeface="+mn-ea"/>
                <a:cs typeface="+mn-cs"/>
              </a:rPr>
              <a:t>Waterfall</a:t>
            </a:r>
            <a:r>
              <a:rPr lang="hr-HR" sz="1200" b="0" i="0" kern="1200" dirty="0">
                <a:solidFill>
                  <a:schemeClr val="tx1"/>
                </a:solidFill>
                <a:effectLst/>
                <a:latin typeface="+mn-lt"/>
                <a:ea typeface="+mn-ea"/>
                <a:cs typeface="+mn-cs"/>
              </a:rPr>
              <a:t> i </a:t>
            </a:r>
            <a:r>
              <a:rPr lang="hr-HR" sz="1200" b="0" i="0" kern="1200" dirty="0" err="1">
                <a:solidFill>
                  <a:schemeClr val="tx1"/>
                </a:solidFill>
                <a:effectLst/>
                <a:latin typeface="+mn-lt"/>
                <a:ea typeface="+mn-ea"/>
                <a:cs typeface="+mn-cs"/>
              </a:rPr>
              <a:t>Agile</a:t>
            </a:r>
            <a:r>
              <a:rPr lang="hr-HR" sz="1200" b="0" i="0" kern="1200" dirty="0">
                <a:solidFill>
                  <a:schemeClr val="tx1"/>
                </a:solidFill>
                <a:effectLst/>
                <a:latin typeface="+mn-lt"/>
                <a:ea typeface="+mn-ea"/>
                <a:cs typeface="+mn-cs"/>
              </a:rPr>
              <a:t> metodologije</a:t>
            </a:r>
          </a:p>
          <a:p>
            <a:r>
              <a:rPr lang="hr-HR" sz="1200" b="0" i="0" kern="1200" dirty="0">
                <a:solidFill>
                  <a:schemeClr val="tx1"/>
                </a:solidFill>
                <a:effectLst/>
                <a:latin typeface="+mn-lt"/>
                <a:ea typeface="+mn-ea"/>
                <a:cs typeface="+mn-cs"/>
              </a:rPr>
              <a:t>prepoznati prednosti i slabosti svake metodologije</a:t>
            </a:r>
          </a:p>
          <a:p>
            <a:br>
              <a:rPr lang="hr-HR" sz="1200" b="0" i="0" kern="1200" dirty="0">
                <a:solidFill>
                  <a:schemeClr val="tx1"/>
                </a:solidFill>
                <a:effectLst/>
                <a:latin typeface="+mn-lt"/>
                <a:ea typeface="+mn-ea"/>
                <a:cs typeface="+mn-cs"/>
              </a:rPr>
            </a:br>
            <a:endParaRPr lang="hr-HR" sz="1200" b="0" i="0" kern="1200" dirty="0">
              <a:solidFill>
                <a:schemeClr val="tx1"/>
              </a:solidFill>
              <a:effectLst/>
              <a:latin typeface="+mn-lt"/>
              <a:ea typeface="+mn-ea"/>
              <a:cs typeface="+mn-cs"/>
            </a:endParaRPr>
          </a:p>
          <a:p>
            <a:r>
              <a:rPr lang="hr-HR" sz="1200" b="0" i="0" kern="1200" dirty="0">
                <a:solidFill>
                  <a:schemeClr val="tx1"/>
                </a:solidFill>
                <a:effectLst/>
                <a:latin typeface="+mn-lt"/>
                <a:ea typeface="+mn-ea"/>
                <a:cs typeface="+mn-cs"/>
              </a:rPr>
              <a:t>prevedi: How to </a:t>
            </a:r>
            <a:r>
              <a:rPr lang="hr-HR" sz="1200" b="0" i="0" kern="1200" dirty="0" err="1">
                <a:solidFill>
                  <a:schemeClr val="tx1"/>
                </a:solidFill>
                <a:effectLst/>
                <a:latin typeface="+mn-lt"/>
                <a:ea typeface="+mn-ea"/>
                <a:cs typeface="+mn-cs"/>
              </a:rPr>
              <a:t>measure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performance</a:t>
            </a:r>
            <a:endParaRPr lang="hr-HR" sz="1200" b="0" i="0" kern="1200" dirty="0">
              <a:solidFill>
                <a:schemeClr val="tx1"/>
              </a:solidFill>
              <a:effectLst/>
              <a:latin typeface="+mn-lt"/>
              <a:ea typeface="+mn-ea"/>
              <a:cs typeface="+mn-cs"/>
            </a:endParaRPr>
          </a:p>
          <a:p>
            <a:br>
              <a:rPr lang="hr-HR" sz="1200" b="0" i="0" kern="1200" dirty="0">
                <a:solidFill>
                  <a:schemeClr val="tx1"/>
                </a:solidFill>
                <a:effectLst/>
                <a:latin typeface="+mn-lt"/>
                <a:ea typeface="+mn-ea"/>
                <a:cs typeface="+mn-cs"/>
              </a:rPr>
            </a:br>
            <a:endParaRPr lang="hr-HR" sz="1200" b="0" i="0" kern="1200" dirty="0">
              <a:solidFill>
                <a:schemeClr val="tx1"/>
              </a:solidFill>
              <a:effectLst/>
              <a:latin typeface="+mn-lt"/>
              <a:ea typeface="+mn-ea"/>
              <a:cs typeface="+mn-cs"/>
            </a:endParaRPr>
          </a:p>
          <a:p>
            <a:r>
              <a:rPr lang="hr-HR" sz="1200" b="0" i="0" kern="1200" dirty="0">
                <a:solidFill>
                  <a:schemeClr val="tx1"/>
                </a:solidFill>
                <a:effectLst/>
                <a:latin typeface="+mn-lt"/>
                <a:ea typeface="+mn-ea"/>
                <a:cs typeface="+mn-cs"/>
              </a:rPr>
              <a:t>Kako mjeriti uspješnost</a:t>
            </a:r>
          </a:p>
          <a:p>
            <a:br>
              <a:rPr lang="hr-HR" sz="1200" b="0" i="0" kern="1200" dirty="0">
                <a:solidFill>
                  <a:schemeClr val="tx1"/>
                </a:solidFill>
                <a:effectLst/>
                <a:latin typeface="+mn-lt"/>
                <a:ea typeface="+mn-ea"/>
                <a:cs typeface="+mn-cs"/>
              </a:rPr>
            </a:br>
            <a:endParaRPr lang="hr-HR" sz="1200" b="0" i="0" kern="1200" dirty="0">
              <a:solidFill>
                <a:schemeClr val="tx1"/>
              </a:solidFill>
              <a:effectLst/>
              <a:latin typeface="+mn-lt"/>
              <a:ea typeface="+mn-ea"/>
              <a:cs typeface="+mn-cs"/>
            </a:endParaRPr>
          </a:p>
          <a:p>
            <a:r>
              <a:rPr lang="hr-HR" sz="1200" b="0" i="0" kern="1200" dirty="0">
                <a:solidFill>
                  <a:schemeClr val="tx1"/>
                </a:solidFill>
                <a:effectLst/>
                <a:latin typeface="+mn-lt"/>
                <a:ea typeface="+mn-ea"/>
                <a:cs typeface="+mn-cs"/>
              </a:rPr>
              <a:t>prevedi:_ Facilitator notes </a:t>
            </a:r>
            <a:r>
              <a:rPr lang="hr-HR" sz="1200" b="0" i="0" kern="1200" dirty="0" err="1">
                <a:solidFill>
                  <a:schemeClr val="tx1"/>
                </a:solidFill>
                <a:effectLst/>
                <a:latin typeface="+mn-lt"/>
                <a:ea typeface="+mn-ea"/>
                <a:cs typeface="+mn-cs"/>
              </a:rPr>
              <a:t>Additional</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resources</a:t>
            </a:r>
            <a:r>
              <a:rPr lang="hr-HR" sz="1200" b="0" i="0" kern="1200" dirty="0">
                <a:solidFill>
                  <a:schemeClr val="tx1"/>
                </a:solidFill>
                <a:effectLst/>
                <a:latin typeface="+mn-lt"/>
                <a:ea typeface="+mn-ea"/>
                <a:cs typeface="+mn-cs"/>
              </a:rPr>
              <a:t> https://www.atlassian.com/agile/project-management/metrics </a:t>
            </a:r>
          </a:p>
          <a:p>
            <a:br>
              <a:rPr lang="hr-HR" sz="1200" b="0" i="0" kern="1200" dirty="0">
                <a:solidFill>
                  <a:schemeClr val="tx1"/>
                </a:solidFill>
                <a:effectLst/>
                <a:latin typeface="+mn-lt"/>
                <a:ea typeface="+mn-ea"/>
                <a:cs typeface="+mn-cs"/>
              </a:rPr>
            </a:br>
            <a:endParaRPr lang="hr-HR" sz="1200" b="0" i="0" kern="1200" dirty="0">
              <a:solidFill>
                <a:schemeClr val="tx1"/>
              </a:solidFill>
              <a:effectLst/>
              <a:latin typeface="+mn-lt"/>
              <a:ea typeface="+mn-ea"/>
              <a:cs typeface="+mn-cs"/>
            </a:endParaRPr>
          </a:p>
          <a:p>
            <a:r>
              <a:rPr lang="hr-HR" sz="1200" b="0" i="0" kern="1200" dirty="0">
                <a:solidFill>
                  <a:schemeClr val="tx1"/>
                </a:solidFill>
                <a:effectLst/>
                <a:latin typeface="+mn-lt"/>
                <a:ea typeface="+mn-ea"/>
                <a:cs typeface="+mn-cs"/>
              </a:rPr>
              <a:t>Napomene za facilitatora</a:t>
            </a:r>
          </a:p>
          <a:p>
            <a:r>
              <a:rPr lang="hr-HR" sz="1200" b="0" i="0" kern="1200" dirty="0">
                <a:solidFill>
                  <a:schemeClr val="tx1"/>
                </a:solidFill>
                <a:effectLst/>
                <a:latin typeface="+mn-lt"/>
                <a:ea typeface="+mn-ea"/>
                <a:cs typeface="+mn-cs"/>
              </a:rPr>
              <a:t>Dodatni resursi</a:t>
            </a:r>
            <a:br>
              <a:rPr lang="hr-HR" sz="1200" b="0" i="0" kern="1200" dirty="0">
                <a:solidFill>
                  <a:schemeClr val="tx1"/>
                </a:solidFill>
                <a:effectLst/>
                <a:latin typeface="+mn-lt"/>
                <a:ea typeface="+mn-ea"/>
                <a:cs typeface="+mn-cs"/>
              </a:rPr>
            </a:br>
            <a:r>
              <a:rPr lang="hr-HR" sz="1200" b="0" i="0" kern="1200" dirty="0">
                <a:solidFill>
                  <a:schemeClr val="tx1"/>
                </a:solidFill>
                <a:effectLst/>
                <a:latin typeface="+mn-lt"/>
                <a:ea typeface="+mn-ea"/>
                <a:cs typeface="+mn-cs"/>
                <a:hlinkClick r:id="rId3"/>
              </a:rPr>
              <a:t>https://www.atlassian.com/agile/project-management/metrics</a:t>
            </a:r>
            <a:endParaRPr lang="hr-HR" sz="1200" b="0" i="0" kern="1200" dirty="0">
              <a:solidFill>
                <a:schemeClr val="tx1"/>
              </a:solidFill>
              <a:effectLst/>
              <a:latin typeface="+mn-lt"/>
              <a:ea typeface="+mn-ea"/>
              <a:cs typeface="+mn-cs"/>
            </a:endParaRPr>
          </a:p>
          <a:p>
            <a:br>
              <a:rPr lang="hr-HR" sz="1200" b="0" i="0" kern="1200" dirty="0">
                <a:solidFill>
                  <a:schemeClr val="tx1"/>
                </a:solidFill>
                <a:effectLst/>
                <a:latin typeface="+mn-lt"/>
                <a:ea typeface="+mn-ea"/>
                <a:cs typeface="+mn-cs"/>
              </a:rPr>
            </a:br>
            <a:endParaRPr lang="hr-HR" sz="1200" b="0" i="0" kern="1200" dirty="0">
              <a:solidFill>
                <a:schemeClr val="tx1"/>
              </a:solidFill>
              <a:effectLst/>
              <a:latin typeface="+mn-lt"/>
              <a:ea typeface="+mn-ea"/>
              <a:cs typeface="+mn-cs"/>
            </a:endParaRPr>
          </a:p>
          <a:p>
            <a:r>
              <a:rPr lang="hr-HR" sz="1200" b="0" i="0" kern="1200" dirty="0" err="1">
                <a:solidFill>
                  <a:schemeClr val="tx1"/>
                </a:solidFill>
                <a:effectLst/>
                <a:latin typeface="+mn-lt"/>
                <a:ea typeface="+mn-ea"/>
                <a:cs typeface="+mn-cs"/>
              </a:rPr>
              <a:t>Velocity</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the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key</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metric</a:t>
            </a:r>
            <a:endParaRPr lang="hr-HR" sz="1200" b="0" i="0" kern="1200" dirty="0">
              <a:solidFill>
                <a:schemeClr val="tx1"/>
              </a:solidFill>
              <a:effectLst/>
              <a:latin typeface="+mn-lt"/>
              <a:ea typeface="+mn-ea"/>
              <a:cs typeface="+mn-cs"/>
            </a:endParaRPr>
          </a:p>
          <a:p>
            <a:br>
              <a:rPr lang="hr-HR" sz="1200" b="0" i="0" kern="1200" dirty="0">
                <a:solidFill>
                  <a:schemeClr val="tx1"/>
                </a:solidFill>
                <a:effectLst/>
                <a:latin typeface="+mn-lt"/>
                <a:ea typeface="+mn-ea"/>
                <a:cs typeface="+mn-cs"/>
              </a:rPr>
            </a:br>
            <a:endParaRPr lang="hr-HR" sz="1200" b="0" i="0" kern="1200" dirty="0">
              <a:solidFill>
                <a:schemeClr val="tx1"/>
              </a:solidFill>
              <a:effectLst/>
              <a:latin typeface="+mn-lt"/>
              <a:ea typeface="+mn-ea"/>
              <a:cs typeface="+mn-cs"/>
            </a:endParaRPr>
          </a:p>
          <a:p>
            <a:r>
              <a:rPr lang="hr-HR" sz="1200" b="0" i="0" kern="1200" dirty="0" err="1">
                <a:solidFill>
                  <a:schemeClr val="tx1"/>
                </a:solidFill>
                <a:effectLst/>
                <a:latin typeface="+mn-lt"/>
                <a:ea typeface="+mn-ea"/>
                <a:cs typeface="+mn-cs"/>
              </a:rPr>
              <a:t>Velocity</a:t>
            </a:r>
            <a:r>
              <a:rPr lang="hr-HR" sz="1200" b="0" i="0" kern="1200" dirty="0">
                <a:solidFill>
                  <a:schemeClr val="tx1"/>
                </a:solidFill>
                <a:effectLst/>
                <a:latin typeface="+mn-lt"/>
                <a:ea typeface="+mn-ea"/>
                <a:cs typeface="+mn-cs"/>
              </a:rPr>
              <a:t>: ključna metrika</a:t>
            </a:r>
          </a:p>
          <a:p>
            <a:br>
              <a:rPr lang="hr-HR" sz="1200" b="0" i="0" kern="1200" dirty="0">
                <a:solidFill>
                  <a:schemeClr val="tx1"/>
                </a:solidFill>
                <a:effectLst/>
                <a:latin typeface="+mn-lt"/>
                <a:ea typeface="+mn-ea"/>
                <a:cs typeface="+mn-cs"/>
              </a:rPr>
            </a:br>
            <a:endParaRPr lang="hr-HR" sz="1200" b="0" i="0" kern="1200" dirty="0">
              <a:solidFill>
                <a:schemeClr val="tx1"/>
              </a:solidFill>
              <a:effectLst/>
              <a:latin typeface="+mn-lt"/>
              <a:ea typeface="+mn-ea"/>
              <a:cs typeface="+mn-cs"/>
            </a:endParaRPr>
          </a:p>
          <a:p>
            <a:r>
              <a:rPr lang="hr-HR" sz="1200" b="0" i="0" kern="1200" dirty="0" err="1">
                <a:solidFill>
                  <a:schemeClr val="tx1"/>
                </a:solidFill>
                <a:effectLst/>
                <a:latin typeface="+mn-lt"/>
                <a:ea typeface="+mn-ea"/>
                <a:cs typeface="+mn-cs"/>
              </a:rPr>
              <a:t>Velocity</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measure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of</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the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amount</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of</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work</a:t>
            </a:r>
            <a:r>
              <a:rPr lang="hr-HR" sz="1200" b="0" i="0" kern="1200" dirty="0">
                <a:solidFill>
                  <a:schemeClr val="tx1"/>
                </a:solidFill>
                <a:effectLst/>
                <a:latin typeface="+mn-lt"/>
                <a:ea typeface="+mn-ea"/>
                <a:cs typeface="+mn-cs"/>
              </a:rPr>
              <a:t> a </a:t>
            </a:r>
            <a:r>
              <a:rPr lang="hr-HR" sz="1200" b="0" i="0" kern="1200" dirty="0" err="1">
                <a:solidFill>
                  <a:schemeClr val="tx1"/>
                </a:solidFill>
                <a:effectLst/>
                <a:latin typeface="+mn-lt"/>
                <a:ea typeface="+mn-ea"/>
                <a:cs typeface="+mn-cs"/>
              </a:rPr>
              <a:t>team</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manages</a:t>
            </a:r>
            <a:r>
              <a:rPr lang="hr-HR" sz="1200" b="0" i="0" kern="1200" dirty="0">
                <a:solidFill>
                  <a:schemeClr val="tx1"/>
                </a:solidFill>
                <a:effectLst/>
                <a:latin typeface="+mn-lt"/>
                <a:ea typeface="+mn-ea"/>
                <a:cs typeface="+mn-cs"/>
              </a:rPr>
              <a:t> to </a:t>
            </a:r>
            <a:r>
              <a:rPr lang="hr-HR" sz="1200" b="0" i="0" kern="1200" dirty="0" err="1">
                <a:solidFill>
                  <a:schemeClr val="tx1"/>
                </a:solidFill>
                <a:effectLst/>
                <a:latin typeface="+mn-lt"/>
                <a:ea typeface="+mn-ea"/>
                <a:cs typeface="+mn-cs"/>
              </a:rPr>
              <a:t>complete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during</a:t>
            </a:r>
            <a:r>
              <a:rPr lang="hr-HR" sz="1200" b="0" i="0" kern="1200" dirty="0">
                <a:solidFill>
                  <a:schemeClr val="tx1"/>
                </a:solidFill>
                <a:effectLst/>
                <a:latin typeface="+mn-lt"/>
                <a:ea typeface="+mn-ea"/>
                <a:cs typeface="+mn-cs"/>
              </a:rPr>
              <a:t> a single </a:t>
            </a:r>
            <a:r>
              <a:rPr lang="hr-HR" sz="1200" b="0" i="0" kern="1200" dirty="0" err="1">
                <a:solidFill>
                  <a:schemeClr val="tx1"/>
                </a:solidFill>
                <a:effectLst/>
                <a:latin typeface="+mn-lt"/>
                <a:ea typeface="+mn-ea"/>
                <a:cs typeface="+mn-cs"/>
              </a:rPr>
              <a:t>cycle</a:t>
            </a:r>
            <a:r>
              <a:rPr lang="hr-HR" sz="1200" b="0" i="0" kern="1200" dirty="0">
                <a:solidFill>
                  <a:schemeClr val="tx1"/>
                </a:solidFill>
                <a:effectLst/>
                <a:latin typeface="+mn-lt"/>
                <a:ea typeface="+mn-ea"/>
                <a:cs typeface="+mn-cs"/>
              </a:rPr>
              <a:t>/sprint. </a:t>
            </a:r>
            <a:r>
              <a:rPr lang="hr-HR" sz="1200" b="0" i="0" kern="1200" dirty="0" err="1">
                <a:solidFill>
                  <a:schemeClr val="tx1"/>
                </a:solidFill>
                <a:effectLst/>
                <a:latin typeface="+mn-lt"/>
                <a:ea typeface="+mn-ea"/>
                <a:cs typeface="+mn-cs"/>
              </a:rPr>
              <a:t>It</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is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calculated</a:t>
            </a:r>
            <a:r>
              <a:rPr lang="hr-HR" sz="1200" b="0" i="0" kern="1200" dirty="0">
                <a:solidFill>
                  <a:schemeClr val="tx1"/>
                </a:solidFill>
                <a:effectLst/>
                <a:latin typeface="+mn-lt"/>
                <a:ea typeface="+mn-ea"/>
                <a:cs typeface="+mn-cs"/>
              </a:rPr>
              <a:t> for </a:t>
            </a:r>
            <a:r>
              <a:rPr lang="hr-HR" sz="1200" b="0" i="0" kern="1200" dirty="0" err="1">
                <a:solidFill>
                  <a:schemeClr val="tx1"/>
                </a:solidFill>
                <a:effectLst/>
                <a:latin typeface="+mn-lt"/>
                <a:ea typeface="+mn-ea"/>
                <a:cs typeface="+mn-cs"/>
              </a:rPr>
              <a:t>each</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cycle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summing</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up</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the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effort</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in</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hours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or</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points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expended</a:t>
            </a:r>
            <a:r>
              <a:rPr lang="hr-HR" sz="1200" b="0" i="0" kern="1200" dirty="0">
                <a:solidFill>
                  <a:schemeClr val="tx1"/>
                </a:solidFill>
                <a:effectLst/>
                <a:latin typeface="+mn-lt"/>
                <a:ea typeface="+mn-ea"/>
                <a:cs typeface="+mn-cs"/>
              </a:rPr>
              <a:t> to </a:t>
            </a:r>
            <a:r>
              <a:rPr lang="hr-HR" sz="1200" b="0" i="0" kern="1200" dirty="0" err="1">
                <a:solidFill>
                  <a:schemeClr val="tx1"/>
                </a:solidFill>
                <a:effectLst/>
                <a:latin typeface="+mn-lt"/>
                <a:ea typeface="+mn-ea"/>
                <a:cs typeface="+mn-cs"/>
              </a:rPr>
              <a:t>complete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the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done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cards</a:t>
            </a:r>
            <a:r>
              <a:rPr lang="hr-HR" sz="1200" b="0" i="0" kern="1200" dirty="0">
                <a:solidFill>
                  <a:schemeClr val="tx1"/>
                </a:solidFill>
                <a:effectLst/>
                <a:latin typeface="+mn-lt"/>
                <a:ea typeface="+mn-ea"/>
                <a:cs typeface="+mn-cs"/>
              </a:rPr>
              <a:t>. </a:t>
            </a:r>
          </a:p>
          <a:p>
            <a:br>
              <a:rPr lang="hr-HR" sz="1200" b="0" i="0" kern="1200" dirty="0">
                <a:solidFill>
                  <a:schemeClr val="tx1"/>
                </a:solidFill>
                <a:effectLst/>
                <a:latin typeface="+mn-lt"/>
                <a:ea typeface="+mn-ea"/>
                <a:cs typeface="+mn-cs"/>
              </a:rPr>
            </a:br>
            <a:endParaRPr lang="hr-HR" sz="1200" b="0" i="0" kern="1200" dirty="0">
              <a:solidFill>
                <a:schemeClr val="tx1"/>
              </a:solidFill>
              <a:effectLst/>
              <a:latin typeface="+mn-lt"/>
              <a:ea typeface="+mn-ea"/>
              <a:cs typeface="+mn-cs"/>
            </a:endParaRPr>
          </a:p>
          <a:p>
            <a:r>
              <a:rPr lang="hr-HR" sz="1200" b="0" i="0" kern="1200" dirty="0" err="1">
                <a:solidFill>
                  <a:schemeClr val="tx1"/>
                </a:solidFill>
                <a:effectLst/>
                <a:latin typeface="+mn-lt"/>
                <a:ea typeface="+mn-ea"/>
                <a:cs typeface="+mn-cs"/>
              </a:rPr>
              <a:t>Velocity</a:t>
            </a:r>
            <a:r>
              <a:rPr lang="hr-HR" sz="1200" b="0" i="0" kern="1200" dirty="0">
                <a:solidFill>
                  <a:schemeClr val="tx1"/>
                </a:solidFill>
                <a:effectLst/>
                <a:latin typeface="+mn-lt"/>
                <a:ea typeface="+mn-ea"/>
                <a:cs typeface="+mn-cs"/>
              </a:rPr>
              <a:t>: mjera količine posla koju tim uspije dovršiti tijekom jednog ciklusa/sprinta.</a:t>
            </a:r>
          </a:p>
          <a:p>
            <a:r>
              <a:rPr lang="hr-HR" sz="1200" b="0" i="0" kern="1200" dirty="0">
                <a:solidFill>
                  <a:schemeClr val="tx1"/>
                </a:solidFill>
                <a:effectLst/>
                <a:latin typeface="+mn-lt"/>
                <a:ea typeface="+mn-ea"/>
                <a:cs typeface="+mn-cs"/>
              </a:rPr>
              <a:t>Izračunava se za svaki ciklus zbrajanjem uloženog napora (u satima ili bodovima) potrebnog za dovršavanje zadataka označenih kao „</a:t>
            </a:r>
            <a:r>
              <a:rPr lang="hr-HR" sz="1200" b="0" i="0" kern="1200" dirty="0" err="1">
                <a:solidFill>
                  <a:schemeClr val="tx1"/>
                </a:solidFill>
                <a:effectLst/>
                <a:latin typeface="+mn-lt"/>
                <a:ea typeface="+mn-ea"/>
                <a:cs typeface="+mn-cs"/>
              </a:rPr>
              <a:t>done</a:t>
            </a:r>
            <a:r>
              <a:rPr lang="hr-HR" sz="1200" b="0" i="0" kern="1200" dirty="0">
                <a:solidFill>
                  <a:schemeClr val="tx1"/>
                </a:solidFill>
                <a:effectLst/>
                <a:latin typeface="+mn-lt"/>
                <a:ea typeface="+mn-ea"/>
                <a:cs typeface="+mn-cs"/>
              </a:rPr>
              <a:t>”.</a:t>
            </a:r>
          </a:p>
          <a:p>
            <a:br>
              <a:rPr lang="hr-HR" sz="1200" b="0" i="0" kern="1200" dirty="0">
                <a:solidFill>
                  <a:schemeClr val="tx1"/>
                </a:solidFill>
                <a:effectLst/>
                <a:latin typeface="+mn-lt"/>
                <a:ea typeface="+mn-ea"/>
                <a:cs typeface="+mn-cs"/>
              </a:rPr>
            </a:br>
            <a:endParaRPr lang="hr-HR" sz="1200" b="0" i="0" kern="1200" dirty="0">
              <a:solidFill>
                <a:schemeClr val="tx1"/>
              </a:solidFill>
              <a:effectLst/>
              <a:latin typeface="+mn-lt"/>
              <a:ea typeface="+mn-ea"/>
              <a:cs typeface="+mn-cs"/>
            </a:endParaRPr>
          </a:p>
          <a:p>
            <a:r>
              <a:rPr lang="hr-HR" sz="1200" b="0" i="0" kern="1200" dirty="0">
                <a:solidFill>
                  <a:schemeClr val="tx1"/>
                </a:solidFill>
                <a:effectLst/>
                <a:latin typeface="+mn-lt"/>
                <a:ea typeface="+mn-ea"/>
                <a:cs typeface="+mn-cs"/>
              </a:rPr>
              <a:t>prevedi: Facilitator notes </a:t>
            </a:r>
            <a:r>
              <a:rPr lang="hr-HR" sz="1200" b="0" i="0" kern="1200" dirty="0" err="1">
                <a:solidFill>
                  <a:schemeClr val="tx1"/>
                </a:solidFill>
                <a:effectLst/>
                <a:latin typeface="+mn-lt"/>
                <a:ea typeface="+mn-ea"/>
                <a:cs typeface="+mn-cs"/>
              </a:rPr>
              <a:t>Define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velocity</a:t>
            </a:r>
            <a:r>
              <a:rPr lang="hr-HR" sz="1200" b="0" i="0" kern="1200" dirty="0">
                <a:solidFill>
                  <a:schemeClr val="tx1"/>
                </a:solidFill>
                <a:effectLst/>
                <a:latin typeface="+mn-lt"/>
                <a:ea typeface="+mn-ea"/>
                <a:cs typeface="+mn-cs"/>
              </a:rPr>
              <a:t> as a "</a:t>
            </a:r>
            <a:r>
              <a:rPr lang="hr-HR" sz="1200" b="0" i="0" kern="1200" dirty="0" err="1">
                <a:solidFill>
                  <a:schemeClr val="tx1"/>
                </a:solidFill>
                <a:effectLst/>
                <a:latin typeface="+mn-lt"/>
                <a:ea typeface="+mn-ea"/>
                <a:cs typeface="+mn-cs"/>
              </a:rPr>
              <a:t>team-level</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measure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of</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completed</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work</a:t>
            </a:r>
            <a:r>
              <a:rPr lang="hr-HR" sz="1200" b="0" i="0" kern="1200" dirty="0">
                <a:solidFill>
                  <a:schemeClr val="tx1"/>
                </a:solidFill>
                <a:effectLst/>
                <a:latin typeface="+mn-lt"/>
                <a:ea typeface="+mn-ea"/>
                <a:cs typeface="+mn-cs"/>
              </a:rPr>
              <a:t> per sprint/</a:t>
            </a:r>
            <a:r>
              <a:rPr lang="hr-HR" sz="1200" b="0" i="0" kern="1200" dirty="0" err="1">
                <a:solidFill>
                  <a:schemeClr val="tx1"/>
                </a:solidFill>
                <a:effectLst/>
                <a:latin typeface="+mn-lt"/>
                <a:ea typeface="+mn-ea"/>
                <a:cs typeface="+mn-cs"/>
              </a:rPr>
              <a:t>cycle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used</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mainly</a:t>
            </a:r>
            <a:r>
              <a:rPr lang="hr-HR" sz="1200" b="0" i="0" kern="1200" dirty="0">
                <a:solidFill>
                  <a:schemeClr val="tx1"/>
                </a:solidFill>
                <a:effectLst/>
                <a:latin typeface="+mn-lt"/>
                <a:ea typeface="+mn-ea"/>
                <a:cs typeface="+mn-cs"/>
              </a:rPr>
              <a:t> for </a:t>
            </a:r>
            <a:r>
              <a:rPr lang="hr-HR" sz="1200" b="0" i="0" kern="1200" dirty="0" err="1">
                <a:solidFill>
                  <a:schemeClr val="tx1"/>
                </a:solidFill>
                <a:effectLst/>
                <a:latin typeface="+mn-lt"/>
                <a:ea typeface="+mn-ea"/>
                <a:cs typeface="+mn-cs"/>
              </a:rPr>
              <a:t>forecasting</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Emphasize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Velocity</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is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historical</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evidence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not</a:t>
            </a:r>
            <a:r>
              <a:rPr lang="hr-HR" sz="1200" b="0" i="0" kern="1200" dirty="0">
                <a:solidFill>
                  <a:schemeClr val="tx1"/>
                </a:solidFill>
                <a:effectLst/>
                <a:latin typeface="+mn-lt"/>
                <a:ea typeface="+mn-ea"/>
                <a:cs typeface="+mn-cs"/>
              </a:rPr>
              <a:t> a </a:t>
            </a:r>
            <a:r>
              <a:rPr lang="hr-HR" sz="1200" b="0" i="0" kern="1200" dirty="0" err="1">
                <a:solidFill>
                  <a:schemeClr val="tx1"/>
                </a:solidFill>
                <a:effectLst/>
                <a:latin typeface="+mn-lt"/>
                <a:ea typeface="+mn-ea"/>
                <a:cs typeface="+mn-cs"/>
              </a:rPr>
              <a:t>goal</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It</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only</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works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if</a:t>
            </a:r>
            <a:r>
              <a:rPr lang="hr-HR" sz="1200" b="0" i="0" kern="1200" dirty="0">
                <a:solidFill>
                  <a:schemeClr val="tx1"/>
                </a:solidFill>
                <a:effectLst/>
                <a:latin typeface="+mn-lt"/>
                <a:ea typeface="+mn-ea"/>
                <a:cs typeface="+mn-cs"/>
              </a:rPr>
              <a:t> "Done" </a:t>
            </a:r>
            <a:r>
              <a:rPr lang="hr-HR" sz="1200" b="0" i="0" kern="1200" dirty="0" err="1">
                <a:solidFill>
                  <a:schemeClr val="tx1"/>
                </a:solidFill>
                <a:effectLst/>
                <a:latin typeface="+mn-lt"/>
                <a:ea typeface="+mn-ea"/>
                <a:cs typeface="+mn-cs"/>
              </a:rPr>
              <a:t>is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consistent</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and</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work</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units</a:t>
            </a:r>
            <a:r>
              <a:rPr lang="hr-HR" sz="1200" b="0" i="0" kern="1200" dirty="0">
                <a:solidFill>
                  <a:schemeClr val="tx1"/>
                </a:solidFill>
                <a:effectLst/>
                <a:latin typeface="+mn-lt"/>
                <a:ea typeface="+mn-ea"/>
                <a:cs typeface="+mn-cs"/>
              </a:rPr>
              <a:t> are </a:t>
            </a:r>
            <a:r>
              <a:rPr lang="hr-HR" sz="1200" b="0" i="0" kern="1200" dirty="0" err="1">
                <a:solidFill>
                  <a:schemeClr val="tx1"/>
                </a:solidFill>
                <a:effectLst/>
                <a:latin typeface="+mn-lt"/>
                <a:ea typeface="+mn-ea"/>
                <a:cs typeface="+mn-cs"/>
              </a:rPr>
              <a:t>comparable</a:t>
            </a:r>
            <a:r>
              <a:rPr lang="hr-HR" sz="1200" b="0" i="0" kern="1200" dirty="0">
                <a:solidFill>
                  <a:schemeClr val="tx1"/>
                </a:solidFill>
                <a:effectLst/>
                <a:latin typeface="+mn-lt"/>
                <a:ea typeface="+mn-ea"/>
                <a:cs typeface="+mn-cs"/>
              </a:rPr>
              <a:t>. Use </a:t>
            </a:r>
            <a:r>
              <a:rPr lang="hr-HR" sz="1200" b="0" i="0" kern="1200" dirty="0" err="1">
                <a:solidFill>
                  <a:schemeClr val="tx1"/>
                </a:solidFill>
                <a:effectLst/>
                <a:latin typeface="+mn-lt"/>
                <a:ea typeface="+mn-ea"/>
                <a:cs typeface="+mn-cs"/>
              </a:rPr>
              <a:t>averages</a:t>
            </a:r>
            <a:r>
              <a:rPr lang="hr-HR" sz="1200" b="0" i="0" kern="1200" dirty="0">
                <a:solidFill>
                  <a:schemeClr val="tx1"/>
                </a:solidFill>
                <a:effectLst/>
                <a:latin typeface="+mn-lt"/>
                <a:ea typeface="+mn-ea"/>
                <a:cs typeface="+mn-cs"/>
              </a:rPr>
              <a:t>/</a:t>
            </a:r>
            <a:r>
              <a:rPr lang="hr-HR" sz="1200" b="0" i="0" kern="1200" dirty="0" err="1">
                <a:solidFill>
                  <a:schemeClr val="tx1"/>
                </a:solidFill>
                <a:effectLst/>
                <a:latin typeface="+mn-lt"/>
                <a:ea typeface="+mn-ea"/>
                <a:cs typeface="+mn-cs"/>
              </a:rPr>
              <a:t>trends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over</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several</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sprints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not</a:t>
            </a:r>
            <a:r>
              <a:rPr lang="hr-HR" sz="1200" b="0" i="0" kern="1200" dirty="0">
                <a:solidFill>
                  <a:schemeClr val="tx1"/>
                </a:solidFill>
                <a:effectLst/>
                <a:latin typeface="+mn-lt"/>
                <a:ea typeface="+mn-ea"/>
                <a:cs typeface="+mn-cs"/>
              </a:rPr>
              <a:t> single-sprint </a:t>
            </a:r>
            <a:r>
              <a:rPr lang="hr-HR" sz="1200" b="0" i="0" kern="1200" dirty="0" err="1">
                <a:solidFill>
                  <a:schemeClr val="tx1"/>
                </a:solidFill>
                <a:effectLst/>
                <a:latin typeface="+mn-lt"/>
                <a:ea typeface="+mn-ea"/>
                <a:cs typeface="+mn-cs"/>
              </a:rPr>
              <a:t>fluctuations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Additional</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resources</a:t>
            </a:r>
            <a:r>
              <a:rPr lang="hr-HR" sz="1200" b="0" i="0" kern="1200" dirty="0">
                <a:solidFill>
                  <a:schemeClr val="tx1"/>
                </a:solidFill>
                <a:effectLst/>
                <a:latin typeface="+mn-lt"/>
                <a:ea typeface="+mn-ea"/>
                <a:cs typeface="+mn-cs"/>
              </a:rPr>
              <a:t> https://www.izenbridge.com/blog/velocity-in-agile-scrum/ https://www.atlassian.com/agile/project-management/velocity-scrum </a:t>
            </a:r>
          </a:p>
          <a:p>
            <a:br>
              <a:rPr lang="hr-HR" sz="1200" b="0" i="0" kern="1200" dirty="0">
                <a:solidFill>
                  <a:schemeClr val="tx1"/>
                </a:solidFill>
                <a:effectLst/>
                <a:latin typeface="+mn-lt"/>
                <a:ea typeface="+mn-ea"/>
                <a:cs typeface="+mn-cs"/>
              </a:rPr>
            </a:br>
            <a:endParaRPr lang="hr-HR" sz="1200" b="0" i="0" kern="1200" dirty="0">
              <a:solidFill>
                <a:schemeClr val="tx1"/>
              </a:solidFill>
              <a:effectLst/>
              <a:latin typeface="+mn-lt"/>
              <a:ea typeface="+mn-ea"/>
              <a:cs typeface="+mn-cs"/>
            </a:endParaRPr>
          </a:p>
          <a:p>
            <a:r>
              <a:rPr lang="hr-HR" sz="1200" b="0" i="0" kern="1200" dirty="0">
                <a:solidFill>
                  <a:schemeClr val="tx1"/>
                </a:solidFill>
                <a:effectLst/>
                <a:latin typeface="+mn-lt"/>
                <a:ea typeface="+mn-ea"/>
                <a:cs typeface="+mn-cs"/>
              </a:rPr>
              <a:t>Napomene za facilitatora</a:t>
            </a:r>
          </a:p>
          <a:p>
            <a:r>
              <a:rPr lang="hr-HR" sz="1200" b="0" i="0" kern="1200" dirty="0">
                <a:solidFill>
                  <a:schemeClr val="tx1"/>
                </a:solidFill>
                <a:effectLst/>
                <a:latin typeface="+mn-lt"/>
                <a:ea typeface="+mn-ea"/>
                <a:cs typeface="+mn-cs"/>
              </a:rPr>
              <a:t>Definirajte </a:t>
            </a:r>
            <a:r>
              <a:rPr lang="hr-HR" sz="1200" b="0" i="0" kern="1200" dirty="0" err="1">
                <a:solidFill>
                  <a:schemeClr val="tx1"/>
                </a:solidFill>
                <a:effectLst/>
                <a:latin typeface="+mn-lt"/>
                <a:ea typeface="+mn-ea"/>
                <a:cs typeface="+mn-cs"/>
              </a:rPr>
              <a:t>velocity</a:t>
            </a:r>
            <a:r>
              <a:rPr lang="hr-HR" sz="1200" b="0" i="0" kern="1200" dirty="0">
                <a:solidFill>
                  <a:schemeClr val="tx1"/>
                </a:solidFill>
                <a:effectLst/>
                <a:latin typeface="+mn-lt"/>
                <a:ea typeface="+mn-ea"/>
                <a:cs typeface="+mn-cs"/>
              </a:rPr>
              <a:t> kao mjeru na razini tima koja pokazuje količinu dovršenog posla po sprintu/ciklusu, a koristi se prvenstveno za predviđanje.</a:t>
            </a:r>
          </a:p>
          <a:p>
            <a:r>
              <a:rPr lang="hr-HR" sz="1200" b="0" i="0" kern="1200" dirty="0">
                <a:solidFill>
                  <a:schemeClr val="tx1"/>
                </a:solidFill>
                <a:effectLst/>
                <a:latin typeface="+mn-lt"/>
                <a:ea typeface="+mn-ea"/>
                <a:cs typeface="+mn-cs"/>
              </a:rPr>
              <a:t>Naglasite:</a:t>
            </a:r>
          </a:p>
          <a:p>
            <a:r>
              <a:rPr lang="hr-HR" sz="1200" b="0" i="0" kern="1200" dirty="0" err="1">
                <a:solidFill>
                  <a:schemeClr val="tx1"/>
                </a:solidFill>
                <a:effectLst/>
                <a:latin typeface="+mn-lt"/>
                <a:ea typeface="+mn-ea"/>
                <a:cs typeface="+mn-cs"/>
              </a:rPr>
              <a:t>Velocity</a:t>
            </a:r>
            <a:r>
              <a:rPr lang="hr-HR" sz="1200" b="0" i="0" kern="1200" dirty="0">
                <a:solidFill>
                  <a:schemeClr val="tx1"/>
                </a:solidFill>
                <a:effectLst/>
                <a:latin typeface="+mn-lt"/>
                <a:ea typeface="+mn-ea"/>
                <a:cs typeface="+mn-cs"/>
              </a:rPr>
              <a:t> predstavlja povijesne podatke, a ne cilj.</a:t>
            </a:r>
          </a:p>
          <a:p>
            <a:r>
              <a:rPr lang="hr-HR" sz="1200" b="0" i="0" kern="1200" dirty="0">
                <a:solidFill>
                  <a:schemeClr val="tx1"/>
                </a:solidFill>
                <a:effectLst/>
                <a:latin typeface="+mn-lt"/>
                <a:ea typeface="+mn-ea"/>
                <a:cs typeface="+mn-cs"/>
              </a:rPr>
              <a:t>Funkcionira samo ako je definicija „Done” dosljedna i ako su jedinice rada usporedive.</a:t>
            </a:r>
          </a:p>
          <a:p>
            <a:r>
              <a:rPr lang="hr-HR" sz="1200" b="0" i="0" kern="1200" dirty="0">
                <a:solidFill>
                  <a:schemeClr val="tx1"/>
                </a:solidFill>
                <a:effectLst/>
                <a:latin typeface="+mn-lt"/>
                <a:ea typeface="+mn-ea"/>
                <a:cs typeface="+mn-cs"/>
              </a:rPr>
              <a:t>Koristite prosjeke i trendove kroz više sprintova, a ne oscilacije unutar jednog sprinta.</a:t>
            </a:r>
          </a:p>
          <a:p>
            <a:r>
              <a:rPr lang="hr-HR" sz="1200" b="0" i="0" kern="1200" dirty="0">
                <a:solidFill>
                  <a:schemeClr val="tx1"/>
                </a:solidFill>
                <a:effectLst/>
                <a:latin typeface="+mn-lt"/>
                <a:ea typeface="+mn-ea"/>
                <a:cs typeface="+mn-cs"/>
              </a:rPr>
              <a:t>Dodatni resursi:</a:t>
            </a:r>
            <a:br>
              <a:rPr lang="hr-HR" sz="1200" b="0" i="0" kern="1200" dirty="0">
                <a:solidFill>
                  <a:schemeClr val="tx1"/>
                </a:solidFill>
                <a:effectLst/>
                <a:latin typeface="+mn-lt"/>
                <a:ea typeface="+mn-ea"/>
                <a:cs typeface="+mn-cs"/>
              </a:rPr>
            </a:br>
            <a:r>
              <a:rPr lang="hr-HR" sz="1200" b="0" i="0" kern="1200" dirty="0">
                <a:solidFill>
                  <a:schemeClr val="tx1"/>
                </a:solidFill>
                <a:effectLst/>
                <a:latin typeface="+mn-lt"/>
                <a:ea typeface="+mn-ea"/>
                <a:cs typeface="+mn-cs"/>
                <a:hlinkClick r:id="rId4"/>
              </a:rPr>
              <a:t>https://www.izenbridge.com/blog/velocity-in-agile-scrum/</a:t>
            </a:r>
            <a:br>
              <a:rPr lang="hr-HR" sz="1200" b="0" i="0" kern="1200" dirty="0">
                <a:solidFill>
                  <a:schemeClr val="tx1"/>
                </a:solidFill>
                <a:effectLst/>
                <a:latin typeface="+mn-lt"/>
                <a:ea typeface="+mn-ea"/>
                <a:cs typeface="+mn-cs"/>
              </a:rPr>
            </a:br>
            <a:r>
              <a:rPr lang="hr-HR" sz="1200" b="0" i="0" kern="1200" dirty="0">
                <a:solidFill>
                  <a:schemeClr val="tx1"/>
                </a:solidFill>
                <a:effectLst/>
                <a:latin typeface="+mn-lt"/>
                <a:ea typeface="+mn-ea"/>
                <a:cs typeface="+mn-cs"/>
                <a:hlinkClick r:id="rId5"/>
              </a:rPr>
              <a:t>https://www.atlassian.com/agile/project-management/velocity-scrum</a:t>
            </a:r>
            <a:endParaRPr lang="hr-HR" sz="1200" b="0" i="0" kern="1200" dirty="0">
              <a:solidFill>
                <a:schemeClr val="tx1"/>
              </a:solidFill>
              <a:effectLst/>
              <a:latin typeface="+mn-lt"/>
              <a:ea typeface="+mn-ea"/>
              <a:cs typeface="+mn-cs"/>
            </a:endParaRPr>
          </a:p>
          <a:p>
            <a:br>
              <a:rPr lang="hr-HR" sz="1200" b="0" i="0" kern="1200" dirty="0">
                <a:solidFill>
                  <a:schemeClr val="tx1"/>
                </a:solidFill>
                <a:effectLst/>
                <a:latin typeface="+mn-lt"/>
                <a:ea typeface="+mn-ea"/>
                <a:cs typeface="+mn-cs"/>
              </a:rPr>
            </a:br>
            <a:endParaRPr lang="hr-HR" sz="1200" b="0" i="0" kern="1200" dirty="0">
              <a:solidFill>
                <a:schemeClr val="tx1"/>
              </a:solidFill>
              <a:effectLst/>
              <a:latin typeface="+mn-lt"/>
              <a:ea typeface="+mn-ea"/>
              <a:cs typeface="+mn-cs"/>
            </a:endParaRPr>
          </a:p>
          <a:p>
            <a:r>
              <a:rPr lang="hr-HR" sz="1200" b="0" i="0" kern="1200" dirty="0" err="1">
                <a:solidFill>
                  <a:schemeClr val="tx1"/>
                </a:solidFill>
                <a:effectLst/>
                <a:latin typeface="+mn-lt"/>
                <a:ea typeface="+mn-ea"/>
                <a:cs typeface="+mn-cs"/>
              </a:rPr>
              <a:t>Shows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workﬂow</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speed</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and</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team</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workload</a:t>
            </a:r>
            <a:r>
              <a:rPr lang="hr-HR" sz="1200" b="0" i="0" kern="1200" dirty="0">
                <a:solidFill>
                  <a:schemeClr val="tx1"/>
                </a:solidFill>
                <a:effectLst/>
                <a:latin typeface="+mn-lt"/>
                <a:ea typeface="+mn-ea"/>
                <a:cs typeface="+mn-cs"/>
              </a:rPr>
              <a:t> per sprint. </a:t>
            </a:r>
            <a:r>
              <a:rPr lang="hr-HR" sz="1200" b="0" i="0" kern="1200" dirty="0" err="1">
                <a:solidFill>
                  <a:schemeClr val="tx1"/>
                </a:solidFill>
                <a:effectLst/>
                <a:latin typeface="+mn-lt"/>
                <a:ea typeface="+mn-ea"/>
                <a:cs typeface="+mn-cs"/>
              </a:rPr>
              <a:t>Allows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you</a:t>
            </a:r>
            <a:r>
              <a:rPr lang="hr-HR" sz="1200" b="0" i="0" kern="1200" dirty="0">
                <a:solidFill>
                  <a:schemeClr val="tx1"/>
                </a:solidFill>
                <a:effectLst/>
                <a:latin typeface="+mn-lt"/>
                <a:ea typeface="+mn-ea"/>
                <a:cs typeface="+mn-cs"/>
              </a:rPr>
              <a:t> to do </a:t>
            </a:r>
            <a:r>
              <a:rPr lang="hr-HR" sz="1200" b="0" i="0" kern="1200" dirty="0" err="1">
                <a:solidFill>
                  <a:schemeClr val="tx1"/>
                </a:solidFill>
                <a:effectLst/>
                <a:latin typeface="+mn-lt"/>
                <a:ea typeface="+mn-ea"/>
                <a:cs typeface="+mn-cs"/>
              </a:rPr>
              <a:t>forecasts</a:t>
            </a:r>
            <a:r>
              <a:rPr lang="hr-HR" sz="1200" b="0" i="0" kern="1200" dirty="0">
                <a:solidFill>
                  <a:schemeClr val="tx1"/>
                </a:solidFill>
                <a:effectLst/>
                <a:latin typeface="+mn-lt"/>
                <a:ea typeface="+mn-ea"/>
                <a:cs typeface="+mn-cs"/>
              </a:rPr>
              <a:t> for </a:t>
            </a:r>
            <a:r>
              <a:rPr lang="hr-HR" sz="1200" b="0" i="0" kern="1200" dirty="0" err="1">
                <a:solidFill>
                  <a:schemeClr val="tx1"/>
                </a:solidFill>
                <a:effectLst/>
                <a:latin typeface="+mn-lt"/>
                <a:ea typeface="+mn-ea"/>
                <a:cs typeface="+mn-cs"/>
              </a:rPr>
              <a:t>the</a:t>
            </a:r>
            <a:r>
              <a:rPr lang="hr-HR" sz="1200" b="0" i="0" kern="1200" dirty="0">
                <a:solidFill>
                  <a:schemeClr val="tx1"/>
                </a:solidFill>
                <a:effectLst/>
                <a:latin typeface="+mn-lt"/>
                <a:ea typeface="+mn-ea"/>
                <a:cs typeface="+mn-cs"/>
              </a:rPr>
              <a:t> future. </a:t>
            </a:r>
          </a:p>
          <a:p>
            <a:br>
              <a:rPr lang="hr-HR" sz="1200" b="0" i="0" kern="1200" dirty="0">
                <a:solidFill>
                  <a:schemeClr val="tx1"/>
                </a:solidFill>
                <a:effectLst/>
                <a:latin typeface="+mn-lt"/>
                <a:ea typeface="+mn-ea"/>
                <a:cs typeface="+mn-cs"/>
              </a:rPr>
            </a:br>
            <a:endParaRPr lang="hr-HR" sz="1200" b="0" i="0" kern="1200" dirty="0">
              <a:solidFill>
                <a:schemeClr val="tx1"/>
              </a:solidFill>
              <a:effectLst/>
              <a:latin typeface="+mn-lt"/>
              <a:ea typeface="+mn-ea"/>
              <a:cs typeface="+mn-cs"/>
            </a:endParaRPr>
          </a:p>
          <a:p>
            <a:r>
              <a:rPr lang="hr-HR" sz="1200" b="0" i="0" kern="1200" dirty="0">
                <a:solidFill>
                  <a:schemeClr val="tx1"/>
                </a:solidFill>
                <a:effectLst/>
                <a:latin typeface="+mn-lt"/>
                <a:ea typeface="+mn-ea"/>
                <a:cs typeface="+mn-cs"/>
              </a:rPr>
              <a:t>Prikazuje brzinu tijeka rada i opterećenje tima po sprintu.</a:t>
            </a:r>
            <a:br>
              <a:rPr lang="hr-HR" sz="1200" b="0" i="0" kern="1200" dirty="0">
                <a:solidFill>
                  <a:schemeClr val="tx1"/>
                </a:solidFill>
                <a:effectLst/>
                <a:latin typeface="+mn-lt"/>
                <a:ea typeface="+mn-ea"/>
                <a:cs typeface="+mn-cs"/>
              </a:rPr>
            </a:br>
            <a:r>
              <a:rPr lang="hr-HR" sz="1200" b="0" i="0" kern="1200" dirty="0">
                <a:solidFill>
                  <a:schemeClr val="tx1"/>
                </a:solidFill>
                <a:effectLst/>
                <a:latin typeface="+mn-lt"/>
                <a:ea typeface="+mn-ea"/>
                <a:cs typeface="+mn-cs"/>
              </a:rPr>
              <a:t>Omogućuje izradu predviđanja za budućnost.</a:t>
            </a:r>
          </a:p>
          <a:p>
            <a:br>
              <a:rPr lang="hr-HR" sz="1200" b="0" i="0" kern="1200" dirty="0">
                <a:solidFill>
                  <a:schemeClr val="tx1"/>
                </a:solidFill>
                <a:effectLst/>
                <a:latin typeface="+mn-lt"/>
                <a:ea typeface="+mn-ea"/>
                <a:cs typeface="+mn-cs"/>
              </a:rPr>
            </a:br>
            <a:endParaRPr lang="hr-HR" sz="1200" b="0" i="0" kern="1200" dirty="0">
              <a:solidFill>
                <a:schemeClr val="tx1"/>
              </a:solidFill>
              <a:effectLst/>
              <a:latin typeface="+mn-lt"/>
              <a:ea typeface="+mn-ea"/>
              <a:cs typeface="+mn-cs"/>
            </a:endParaRPr>
          </a:p>
          <a:p>
            <a:r>
              <a:rPr lang="hr-HR" sz="1200" b="0" i="0" kern="1200" dirty="0">
                <a:solidFill>
                  <a:schemeClr val="tx1"/>
                </a:solidFill>
                <a:effectLst/>
                <a:latin typeface="+mn-lt"/>
                <a:ea typeface="+mn-ea"/>
                <a:cs typeface="+mn-cs"/>
              </a:rPr>
              <a:t>prevedi: Facilitator notes </a:t>
            </a:r>
            <a:r>
              <a:rPr lang="hr-HR" sz="1200" b="0" i="0" kern="1200" dirty="0" err="1">
                <a:solidFill>
                  <a:schemeClr val="tx1"/>
                </a:solidFill>
                <a:effectLst/>
                <a:latin typeface="+mn-lt"/>
                <a:ea typeface="+mn-ea"/>
                <a:cs typeface="+mn-cs"/>
              </a:rPr>
              <a:t>Common</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misconception</a:t>
            </a:r>
            <a:r>
              <a:rPr lang="hr-HR" sz="1200" b="0" i="0" kern="1200" dirty="0">
                <a:solidFill>
                  <a:schemeClr val="tx1"/>
                </a:solidFill>
                <a:effectLst/>
                <a:latin typeface="+mn-lt"/>
                <a:ea typeface="+mn-ea"/>
                <a:cs typeface="+mn-cs"/>
              </a:rPr>
              <a:t> to </a:t>
            </a:r>
            <a:r>
              <a:rPr lang="hr-HR" sz="1200" b="0" i="0" kern="1200" dirty="0" err="1">
                <a:solidFill>
                  <a:schemeClr val="tx1"/>
                </a:solidFill>
                <a:effectLst/>
                <a:latin typeface="+mn-lt"/>
                <a:ea typeface="+mn-ea"/>
                <a:cs typeface="+mn-cs"/>
              </a:rPr>
              <a:t>address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velocity</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is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not</a:t>
            </a:r>
            <a:r>
              <a:rPr lang="hr-HR" sz="1200" b="0" i="0" kern="1200" dirty="0">
                <a:solidFill>
                  <a:schemeClr val="tx1"/>
                </a:solidFill>
                <a:effectLst/>
                <a:latin typeface="+mn-lt"/>
                <a:ea typeface="+mn-ea"/>
                <a:cs typeface="+mn-cs"/>
              </a:rPr>
              <a:t> a </a:t>
            </a:r>
            <a:r>
              <a:rPr lang="hr-HR" sz="1200" b="0" i="0" kern="1200" dirty="0" err="1">
                <a:solidFill>
                  <a:schemeClr val="tx1"/>
                </a:solidFill>
                <a:effectLst/>
                <a:latin typeface="+mn-lt"/>
                <a:ea typeface="+mn-ea"/>
                <a:cs typeface="+mn-cs"/>
              </a:rPr>
              <a:t>productivity</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score</a:t>
            </a:r>
            <a:r>
              <a:rPr lang="hr-HR" sz="1200" b="0" i="0" kern="1200" dirty="0">
                <a:solidFill>
                  <a:schemeClr val="tx1"/>
                </a:solidFill>
                <a:effectLst/>
                <a:latin typeface="+mn-lt"/>
                <a:ea typeface="+mn-ea"/>
                <a:cs typeface="+mn-cs"/>
              </a:rPr>
              <a:t> for </a:t>
            </a:r>
            <a:r>
              <a:rPr lang="hr-HR" sz="1200" b="0" i="0" kern="1200" dirty="0" err="1">
                <a:solidFill>
                  <a:schemeClr val="tx1"/>
                </a:solidFill>
                <a:effectLst/>
                <a:latin typeface="+mn-lt"/>
                <a:ea typeface="+mn-ea"/>
                <a:cs typeface="+mn-cs"/>
              </a:rPr>
              <a:t>individuals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using</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it</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that</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way</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leads</a:t>
            </a:r>
            <a:r>
              <a:rPr lang="hr-HR" sz="1200" b="0" i="0" kern="1200" dirty="0">
                <a:solidFill>
                  <a:schemeClr val="tx1"/>
                </a:solidFill>
                <a:effectLst/>
                <a:latin typeface="+mn-lt"/>
                <a:ea typeface="+mn-ea"/>
                <a:cs typeface="+mn-cs"/>
              </a:rPr>
              <a:t> to </a:t>
            </a:r>
            <a:r>
              <a:rPr lang="hr-HR" sz="1200" b="0" i="0" kern="1200" dirty="0" err="1">
                <a:solidFill>
                  <a:schemeClr val="tx1"/>
                </a:solidFill>
                <a:effectLst/>
                <a:latin typeface="+mn-lt"/>
                <a:ea typeface="+mn-ea"/>
                <a:cs typeface="+mn-cs"/>
              </a:rPr>
              <a:t>gaming</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and</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lower</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quality</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Additional</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resources</a:t>
            </a:r>
            <a:r>
              <a:rPr lang="hr-HR" sz="1200" b="0" i="0" kern="1200" dirty="0">
                <a:solidFill>
                  <a:schemeClr val="tx1"/>
                </a:solidFill>
                <a:effectLst/>
                <a:latin typeface="+mn-lt"/>
                <a:ea typeface="+mn-ea"/>
                <a:cs typeface="+mn-cs"/>
              </a:rPr>
              <a:t> https://axify.io/blog/velocity-chart https://nextagile.ai/blogs/agile/velocity-chart-in-agile/ </a:t>
            </a:r>
          </a:p>
          <a:p>
            <a:br>
              <a:rPr lang="hr-HR" sz="1200" b="0" i="0" kern="1200" dirty="0">
                <a:solidFill>
                  <a:schemeClr val="tx1"/>
                </a:solidFill>
                <a:effectLst/>
                <a:latin typeface="+mn-lt"/>
                <a:ea typeface="+mn-ea"/>
                <a:cs typeface="+mn-cs"/>
              </a:rPr>
            </a:br>
            <a:endParaRPr lang="hr-HR" sz="1200" b="0" i="0" kern="1200" dirty="0">
              <a:solidFill>
                <a:schemeClr val="tx1"/>
              </a:solidFill>
              <a:effectLst/>
              <a:latin typeface="+mn-lt"/>
              <a:ea typeface="+mn-ea"/>
              <a:cs typeface="+mn-cs"/>
            </a:endParaRPr>
          </a:p>
          <a:p>
            <a:r>
              <a:rPr lang="hr-HR" sz="1200" b="0" i="0" kern="1200" dirty="0">
                <a:solidFill>
                  <a:schemeClr val="tx1"/>
                </a:solidFill>
                <a:effectLst/>
                <a:latin typeface="+mn-lt"/>
                <a:ea typeface="+mn-ea"/>
                <a:cs typeface="+mn-cs"/>
              </a:rPr>
              <a:t>Napomene za facilitatora</a:t>
            </a:r>
          </a:p>
          <a:p>
            <a:r>
              <a:rPr lang="hr-HR" sz="1200" b="0" i="0" kern="1200" dirty="0">
                <a:solidFill>
                  <a:schemeClr val="tx1"/>
                </a:solidFill>
                <a:effectLst/>
                <a:latin typeface="+mn-lt"/>
                <a:ea typeface="+mn-ea"/>
                <a:cs typeface="+mn-cs"/>
              </a:rPr>
              <a:t>Uobičajena zabluda koju treba razjasniti: </a:t>
            </a:r>
            <a:r>
              <a:rPr lang="hr-HR" sz="1200" b="0" i="0" kern="1200" dirty="0" err="1">
                <a:solidFill>
                  <a:schemeClr val="tx1"/>
                </a:solidFill>
                <a:effectLst/>
                <a:latin typeface="+mn-lt"/>
                <a:ea typeface="+mn-ea"/>
                <a:cs typeface="+mn-cs"/>
              </a:rPr>
              <a:t>velocity</a:t>
            </a:r>
            <a:r>
              <a:rPr lang="hr-HR" sz="1200" b="0" i="0" kern="1200" dirty="0">
                <a:solidFill>
                  <a:schemeClr val="tx1"/>
                </a:solidFill>
                <a:effectLst/>
                <a:latin typeface="+mn-lt"/>
                <a:ea typeface="+mn-ea"/>
                <a:cs typeface="+mn-cs"/>
              </a:rPr>
              <a:t> nije mjera produktivnosti pojedinaca; korištenje na taj način dovodi do „igranja sustava” i niže kvalitete.</a:t>
            </a:r>
          </a:p>
          <a:p>
            <a:r>
              <a:rPr lang="hr-HR" sz="1200" b="0" i="0" kern="1200" dirty="0">
                <a:solidFill>
                  <a:schemeClr val="tx1"/>
                </a:solidFill>
                <a:effectLst/>
                <a:latin typeface="+mn-lt"/>
                <a:ea typeface="+mn-ea"/>
                <a:cs typeface="+mn-cs"/>
              </a:rPr>
              <a:t>Dodatni resursi:</a:t>
            </a:r>
            <a:br>
              <a:rPr lang="hr-HR" sz="1200" b="0" i="0" kern="1200" dirty="0">
                <a:solidFill>
                  <a:schemeClr val="tx1"/>
                </a:solidFill>
                <a:effectLst/>
                <a:latin typeface="+mn-lt"/>
                <a:ea typeface="+mn-ea"/>
                <a:cs typeface="+mn-cs"/>
              </a:rPr>
            </a:br>
            <a:r>
              <a:rPr lang="hr-HR" sz="1200" b="0" i="0" kern="1200" dirty="0">
                <a:solidFill>
                  <a:schemeClr val="tx1"/>
                </a:solidFill>
                <a:effectLst/>
                <a:latin typeface="+mn-lt"/>
                <a:ea typeface="+mn-ea"/>
                <a:cs typeface="+mn-cs"/>
                <a:hlinkClick r:id="rId6"/>
              </a:rPr>
              <a:t>https://axify.io/blog/velocity-chart</a:t>
            </a:r>
            <a:br>
              <a:rPr lang="hr-HR" sz="1200" b="0" i="0" kern="1200" dirty="0">
                <a:solidFill>
                  <a:schemeClr val="tx1"/>
                </a:solidFill>
                <a:effectLst/>
                <a:latin typeface="+mn-lt"/>
                <a:ea typeface="+mn-ea"/>
                <a:cs typeface="+mn-cs"/>
              </a:rPr>
            </a:br>
            <a:r>
              <a:rPr lang="hr-HR" sz="1200" b="0" i="0" kern="1200" dirty="0">
                <a:solidFill>
                  <a:schemeClr val="tx1"/>
                </a:solidFill>
                <a:effectLst/>
                <a:latin typeface="+mn-lt"/>
                <a:ea typeface="+mn-ea"/>
                <a:cs typeface="+mn-cs"/>
                <a:hlinkClick r:id="rId7"/>
              </a:rPr>
              <a:t>https://nextagile.ai/blogs/agile/velocity-chart-in-agile/</a:t>
            </a:r>
            <a:endParaRPr lang="hr-HR" sz="1200" b="0" i="0" kern="1200" dirty="0">
              <a:solidFill>
                <a:schemeClr val="tx1"/>
              </a:solidFill>
              <a:effectLst/>
              <a:latin typeface="+mn-lt"/>
              <a:ea typeface="+mn-ea"/>
              <a:cs typeface="+mn-cs"/>
            </a:endParaRPr>
          </a:p>
          <a:p>
            <a:br>
              <a:rPr lang="hr-HR" sz="1200" b="0" i="0" kern="1200" dirty="0">
                <a:solidFill>
                  <a:schemeClr val="tx1"/>
                </a:solidFill>
                <a:effectLst/>
                <a:latin typeface="+mn-lt"/>
                <a:ea typeface="+mn-ea"/>
                <a:cs typeface="+mn-cs"/>
              </a:rPr>
            </a:br>
            <a:endParaRPr lang="hr-HR" sz="1200" b="0" i="0" kern="1200" dirty="0">
              <a:solidFill>
                <a:schemeClr val="tx1"/>
              </a:solidFill>
              <a:effectLst/>
              <a:latin typeface="+mn-lt"/>
              <a:ea typeface="+mn-ea"/>
              <a:cs typeface="+mn-cs"/>
            </a:endParaRPr>
          </a:p>
          <a:p>
            <a:r>
              <a:rPr lang="hr-HR" sz="1200" b="0" i="0" kern="1200" dirty="0">
                <a:solidFill>
                  <a:schemeClr val="tx1"/>
                </a:solidFill>
                <a:effectLst/>
                <a:latin typeface="+mn-lt"/>
                <a:ea typeface="+mn-ea"/>
                <a:cs typeface="+mn-cs"/>
              </a:rPr>
              <a:t>prevedi: </a:t>
            </a:r>
            <a:r>
              <a:rPr lang="hr-HR" sz="1200" b="0" i="0" kern="1200" dirty="0" err="1">
                <a:solidFill>
                  <a:schemeClr val="tx1"/>
                </a:solidFill>
                <a:effectLst/>
                <a:latin typeface="+mn-lt"/>
                <a:ea typeface="+mn-ea"/>
                <a:cs typeface="+mn-cs"/>
              </a:rPr>
              <a:t>velocity</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chart</a:t>
            </a:r>
            <a:endParaRPr lang="hr-HR" sz="1200" b="0" i="0" kern="1200" dirty="0">
              <a:solidFill>
                <a:schemeClr val="tx1"/>
              </a:solidFill>
              <a:effectLst/>
              <a:latin typeface="+mn-lt"/>
              <a:ea typeface="+mn-ea"/>
              <a:cs typeface="+mn-cs"/>
            </a:endParaRPr>
          </a:p>
          <a:p>
            <a:br>
              <a:rPr lang="hr-HR" sz="1200" b="0" i="0" kern="1200" dirty="0">
                <a:solidFill>
                  <a:schemeClr val="tx1"/>
                </a:solidFill>
                <a:effectLst/>
                <a:latin typeface="+mn-lt"/>
                <a:ea typeface="+mn-ea"/>
                <a:cs typeface="+mn-cs"/>
              </a:rPr>
            </a:br>
            <a:endParaRPr lang="hr-HR" sz="1200" b="0" i="0" kern="1200" dirty="0">
              <a:solidFill>
                <a:schemeClr val="tx1"/>
              </a:solidFill>
              <a:effectLst/>
              <a:latin typeface="+mn-lt"/>
              <a:ea typeface="+mn-ea"/>
              <a:cs typeface="+mn-cs"/>
            </a:endParaRPr>
          </a:p>
          <a:p>
            <a:r>
              <a:rPr lang="hr-HR" sz="1200" b="0" i="0" kern="1200" dirty="0">
                <a:solidFill>
                  <a:schemeClr val="tx1"/>
                </a:solidFill>
                <a:effectLst/>
                <a:latin typeface="+mn-lt"/>
                <a:ea typeface="+mn-ea"/>
                <a:cs typeface="+mn-cs"/>
              </a:rPr>
              <a:t>grafikon </a:t>
            </a:r>
            <a:r>
              <a:rPr lang="hr-HR" sz="1200" b="0" i="0" kern="1200" dirty="0" err="1">
                <a:solidFill>
                  <a:schemeClr val="tx1"/>
                </a:solidFill>
                <a:effectLst/>
                <a:latin typeface="+mn-lt"/>
                <a:ea typeface="+mn-ea"/>
                <a:cs typeface="+mn-cs"/>
              </a:rPr>
              <a:t>velocityja</a:t>
            </a:r>
            <a:endParaRPr lang="hr-HR" sz="1200" b="0" i="0" kern="1200" dirty="0">
              <a:solidFill>
                <a:schemeClr val="tx1"/>
              </a:solidFill>
              <a:effectLst/>
              <a:latin typeface="+mn-lt"/>
              <a:ea typeface="+mn-ea"/>
              <a:cs typeface="+mn-cs"/>
            </a:endParaRPr>
          </a:p>
          <a:p>
            <a:br>
              <a:rPr lang="hr-HR" sz="1200" b="0" i="0" kern="1200" dirty="0">
                <a:solidFill>
                  <a:schemeClr val="tx1"/>
                </a:solidFill>
                <a:effectLst/>
                <a:latin typeface="+mn-lt"/>
                <a:ea typeface="+mn-ea"/>
                <a:cs typeface="+mn-cs"/>
              </a:rPr>
            </a:br>
            <a:endParaRPr lang="hr-HR" sz="1200" b="0" i="0" kern="1200" dirty="0">
              <a:solidFill>
                <a:schemeClr val="tx1"/>
              </a:solidFill>
              <a:effectLst/>
              <a:latin typeface="+mn-lt"/>
              <a:ea typeface="+mn-ea"/>
              <a:cs typeface="+mn-cs"/>
            </a:endParaRPr>
          </a:p>
          <a:p>
            <a:r>
              <a:rPr lang="hr-HR" sz="1200" b="0" i="0" kern="1200" dirty="0">
                <a:solidFill>
                  <a:schemeClr val="tx1"/>
                </a:solidFill>
                <a:effectLst/>
                <a:latin typeface="+mn-lt"/>
                <a:ea typeface="+mn-ea"/>
                <a:cs typeface="+mn-cs"/>
              </a:rPr>
              <a:t>prevedi: </a:t>
            </a:r>
            <a:r>
              <a:rPr lang="hr-HR" sz="1200" b="0" i="0" kern="1200" dirty="0" err="1">
                <a:solidFill>
                  <a:schemeClr val="tx1"/>
                </a:solidFill>
                <a:effectLst/>
                <a:latin typeface="+mn-lt"/>
                <a:ea typeface="+mn-ea"/>
                <a:cs typeface="+mn-cs"/>
              </a:rPr>
              <a:t>Requirements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Definition</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of</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work</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units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effort</a:t>
            </a:r>
            <a:r>
              <a:rPr lang="hr-HR" sz="1200" b="0" i="0" kern="1200" dirty="0">
                <a:solidFill>
                  <a:schemeClr val="tx1"/>
                </a:solidFill>
                <a:effectLst/>
                <a:latin typeface="+mn-lt"/>
                <a:ea typeface="+mn-ea"/>
                <a:cs typeface="+mn-cs"/>
              </a:rPr>
              <a:t>) for </a:t>
            </a:r>
            <a:r>
              <a:rPr lang="hr-HR" sz="1200" b="0" i="0" kern="1200" dirty="0" err="1">
                <a:solidFill>
                  <a:schemeClr val="tx1"/>
                </a:solidFill>
                <a:effectLst/>
                <a:latin typeface="+mn-lt"/>
                <a:ea typeface="+mn-ea"/>
                <a:cs typeface="+mn-cs"/>
              </a:rPr>
              <a:t>each</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task</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and</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duration</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of</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sprints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Continuous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communication</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between</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team</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members</a:t>
            </a:r>
            <a:r>
              <a:rPr lang="hr-HR" sz="1200" b="0" i="0" kern="1200" dirty="0">
                <a:solidFill>
                  <a:schemeClr val="tx1"/>
                </a:solidFill>
                <a:effectLst/>
                <a:latin typeface="+mn-lt"/>
                <a:ea typeface="+mn-ea"/>
                <a:cs typeface="+mn-cs"/>
              </a:rPr>
              <a:t> on </a:t>
            </a:r>
            <a:r>
              <a:rPr lang="hr-HR" sz="1200" b="0" i="0" kern="1200" dirty="0" err="1">
                <a:solidFill>
                  <a:schemeClr val="tx1"/>
                </a:solidFill>
                <a:effectLst/>
                <a:latin typeface="+mn-lt"/>
                <a:ea typeface="+mn-ea"/>
                <a:cs typeface="+mn-cs"/>
              </a:rPr>
              <a:t>completed</a:t>
            </a:r>
            <a:r>
              <a:rPr lang="hr-HR" sz="1200" b="0" i="0" kern="1200" dirty="0">
                <a:solidFill>
                  <a:schemeClr val="tx1"/>
                </a:solidFill>
                <a:effectLst/>
                <a:latin typeface="+mn-lt"/>
                <a:ea typeface="+mn-ea"/>
                <a:cs typeface="+mn-cs"/>
              </a:rPr>
              <a:t>/to-</a:t>
            </a:r>
            <a:r>
              <a:rPr lang="hr-HR" sz="1200" b="0" i="0" kern="1200" dirty="0" err="1">
                <a:solidFill>
                  <a:schemeClr val="tx1"/>
                </a:solidFill>
                <a:effectLst/>
                <a:latin typeface="+mn-lt"/>
                <a:ea typeface="+mn-ea"/>
                <a:cs typeface="+mn-cs"/>
              </a:rPr>
              <a:t>be</a:t>
            </a:r>
            <a:r>
              <a:rPr lang="hr-HR" sz="1200" b="0" i="0" kern="1200" dirty="0">
                <a:solidFill>
                  <a:schemeClr val="tx1"/>
                </a:solidFill>
                <a:effectLst/>
                <a:latin typeface="+mn-lt"/>
                <a:ea typeface="+mn-ea"/>
                <a:cs typeface="+mn-cs"/>
              </a:rPr>
              <a:t>-</a:t>
            </a:r>
            <a:r>
              <a:rPr lang="hr-HR" sz="1200" b="0" i="0" kern="1200" dirty="0" err="1">
                <a:solidFill>
                  <a:schemeClr val="tx1"/>
                </a:solidFill>
                <a:effectLst/>
                <a:latin typeface="+mn-lt"/>
                <a:ea typeface="+mn-ea"/>
                <a:cs typeface="+mn-cs"/>
              </a:rPr>
              <a:t>completed</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tasks</a:t>
            </a:r>
            <a:r>
              <a:rPr lang="hr-HR" sz="1200" b="0" i="0" kern="1200" dirty="0">
                <a:solidFill>
                  <a:schemeClr val="tx1"/>
                </a:solidFill>
                <a:effectLst/>
                <a:latin typeface="+mn-lt"/>
                <a:ea typeface="+mn-ea"/>
                <a:cs typeface="+mn-cs"/>
              </a:rPr>
              <a:t>. At </a:t>
            </a:r>
            <a:r>
              <a:rPr lang="hr-HR" sz="1200" b="0" i="0" kern="1200" dirty="0" err="1">
                <a:solidFill>
                  <a:schemeClr val="tx1"/>
                </a:solidFill>
                <a:effectLst/>
                <a:latin typeface="+mn-lt"/>
                <a:ea typeface="+mn-ea"/>
                <a:cs typeface="+mn-cs"/>
              </a:rPr>
              <a:t>the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end</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of</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each</a:t>
            </a:r>
            <a:r>
              <a:rPr lang="hr-HR" sz="1200" b="0" i="0" kern="1200" dirty="0">
                <a:solidFill>
                  <a:schemeClr val="tx1"/>
                </a:solidFill>
                <a:effectLst/>
                <a:latin typeface="+mn-lt"/>
                <a:ea typeface="+mn-ea"/>
                <a:cs typeface="+mn-cs"/>
              </a:rPr>
              <a:t> sprint, </a:t>
            </a:r>
            <a:r>
              <a:rPr lang="hr-HR" sz="1200" b="0" i="0" kern="1200" dirty="0" err="1">
                <a:solidFill>
                  <a:schemeClr val="tx1"/>
                </a:solidFill>
                <a:effectLst/>
                <a:latin typeface="+mn-lt"/>
                <a:ea typeface="+mn-ea"/>
                <a:cs typeface="+mn-cs"/>
              </a:rPr>
              <a:t>analysis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of</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the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number</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of</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completed</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work</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units</a:t>
            </a:r>
            <a:r>
              <a:rPr lang="hr-HR" sz="1200" b="0" i="0" kern="1200" dirty="0">
                <a:solidFill>
                  <a:schemeClr val="tx1"/>
                </a:solidFill>
                <a:effectLst/>
                <a:latin typeface="+mn-lt"/>
                <a:ea typeface="+mn-ea"/>
                <a:cs typeface="+mn-cs"/>
              </a:rPr>
              <a:t>. Note: An </a:t>
            </a:r>
            <a:r>
              <a:rPr lang="hr-HR" sz="1200" b="0" i="0" kern="1200" dirty="0" err="1">
                <a:solidFill>
                  <a:schemeClr val="tx1"/>
                </a:solidFill>
                <a:effectLst/>
                <a:latin typeface="+mn-lt"/>
                <a:ea typeface="+mn-ea"/>
                <a:cs typeface="+mn-cs"/>
              </a:rPr>
              <a:t>actual</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velocity</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lower</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than</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the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estimated</a:t>
            </a:r>
            <a:r>
              <a:rPr lang="hr-HR" sz="1200" b="0" i="0" kern="1200" dirty="0">
                <a:solidFill>
                  <a:schemeClr val="tx1"/>
                </a:solidFill>
                <a:effectLst/>
                <a:latin typeface="+mn-lt"/>
                <a:ea typeface="+mn-ea"/>
                <a:cs typeface="+mn-cs"/>
              </a:rPr>
              <a:t> one </a:t>
            </a:r>
            <a:r>
              <a:rPr lang="hr-HR" sz="1200" b="0" i="0" kern="1200" dirty="0" err="1">
                <a:solidFill>
                  <a:schemeClr val="tx1"/>
                </a:solidFill>
                <a:effectLst/>
                <a:latin typeface="+mn-lt"/>
                <a:ea typeface="+mn-ea"/>
                <a:cs typeface="+mn-cs"/>
              </a:rPr>
              <a:t>may</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denote</a:t>
            </a:r>
            <a:r>
              <a:rPr lang="hr-HR" sz="1200" b="0" i="0" kern="1200" dirty="0">
                <a:solidFill>
                  <a:schemeClr val="tx1"/>
                </a:solidFill>
                <a:effectLst/>
                <a:latin typeface="+mn-lt"/>
                <a:ea typeface="+mn-ea"/>
                <a:cs typeface="+mn-cs"/>
              </a:rPr>
              <a:t>: FF </a:t>
            </a:r>
            <a:r>
              <a:rPr lang="hr-HR" sz="1200" b="0" i="0" kern="1200" dirty="0" err="1">
                <a:solidFill>
                  <a:schemeClr val="tx1"/>
                </a:solidFill>
                <a:effectLst/>
                <a:latin typeface="+mn-lt"/>
                <a:ea typeface="+mn-ea"/>
                <a:cs typeface="+mn-cs"/>
              </a:rPr>
              <a:t>too</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high</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Optimistic</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estimates</a:t>
            </a:r>
            <a:r>
              <a:rPr lang="hr-HR" sz="1200" b="0" i="0" kern="1200" dirty="0">
                <a:solidFill>
                  <a:schemeClr val="tx1"/>
                </a:solidFill>
                <a:effectLst/>
                <a:latin typeface="+mn-lt"/>
                <a:ea typeface="+mn-ea"/>
                <a:cs typeface="+mn-cs"/>
              </a:rPr>
              <a:t> Tip: to </a:t>
            </a:r>
            <a:r>
              <a:rPr lang="hr-HR" sz="1200" b="0" i="0" kern="1200" dirty="0" err="1">
                <a:solidFill>
                  <a:schemeClr val="tx1"/>
                </a:solidFill>
                <a:effectLst/>
                <a:latin typeface="+mn-lt"/>
                <a:ea typeface="+mn-ea"/>
                <a:cs typeface="+mn-cs"/>
              </a:rPr>
              <a:t>increase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team</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velocity</a:t>
            </a:r>
            <a:r>
              <a:rPr lang="hr-HR" sz="1200" b="0" i="0" kern="1200" dirty="0">
                <a:solidFill>
                  <a:schemeClr val="tx1"/>
                </a:solidFill>
                <a:effectLst/>
                <a:latin typeface="+mn-lt"/>
                <a:ea typeface="+mn-ea"/>
                <a:cs typeface="+mn-cs"/>
              </a:rPr>
              <a:t>, start </a:t>
            </a:r>
            <a:r>
              <a:rPr lang="hr-HR" sz="1200" b="0" i="0" kern="1200" dirty="0" err="1">
                <a:solidFill>
                  <a:schemeClr val="tx1"/>
                </a:solidFill>
                <a:effectLst/>
                <a:latin typeface="+mn-lt"/>
                <a:ea typeface="+mn-ea"/>
                <a:cs typeface="+mn-cs"/>
              </a:rPr>
              <a:t>the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retrospective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from</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the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blocked</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cards</a:t>
            </a:r>
            <a:r>
              <a:rPr lang="hr-HR" sz="1200" b="0" i="0" kern="1200" dirty="0">
                <a:solidFill>
                  <a:schemeClr val="tx1"/>
                </a:solidFill>
                <a:effectLst/>
                <a:latin typeface="+mn-lt"/>
                <a:ea typeface="+mn-ea"/>
                <a:cs typeface="+mn-cs"/>
              </a:rPr>
              <a:t>. </a:t>
            </a:r>
          </a:p>
          <a:p>
            <a:br>
              <a:rPr lang="hr-HR" sz="1200" b="0" i="0" kern="1200" dirty="0">
                <a:solidFill>
                  <a:schemeClr val="tx1"/>
                </a:solidFill>
                <a:effectLst/>
                <a:latin typeface="+mn-lt"/>
                <a:ea typeface="+mn-ea"/>
                <a:cs typeface="+mn-cs"/>
              </a:rPr>
            </a:br>
            <a:endParaRPr lang="hr-HR" sz="1200" b="0" i="0" kern="1200" dirty="0">
              <a:solidFill>
                <a:schemeClr val="tx1"/>
              </a:solidFill>
              <a:effectLst/>
              <a:latin typeface="+mn-lt"/>
              <a:ea typeface="+mn-ea"/>
              <a:cs typeface="+mn-cs"/>
            </a:endParaRPr>
          </a:p>
          <a:p>
            <a:r>
              <a:rPr lang="hr-HR" sz="1200" b="0" i="0" kern="1200" dirty="0">
                <a:solidFill>
                  <a:schemeClr val="tx1"/>
                </a:solidFill>
                <a:effectLst/>
                <a:latin typeface="+mn-lt"/>
                <a:ea typeface="+mn-ea"/>
                <a:cs typeface="+mn-cs"/>
              </a:rPr>
              <a:t>Zahtjevi:</a:t>
            </a:r>
          </a:p>
          <a:p>
            <a:r>
              <a:rPr lang="hr-HR" sz="1200" b="0" i="0" kern="1200" dirty="0">
                <a:solidFill>
                  <a:schemeClr val="tx1"/>
                </a:solidFill>
                <a:effectLst/>
                <a:latin typeface="+mn-lt"/>
                <a:ea typeface="+mn-ea"/>
                <a:cs typeface="+mn-cs"/>
              </a:rPr>
              <a:t>Definiranje jedinica rada (napora) za svaki zadatak i trajanja sprintova.</a:t>
            </a:r>
          </a:p>
          <a:p>
            <a:r>
              <a:rPr lang="hr-HR" sz="1200" b="0" i="0" kern="1200" dirty="0">
                <a:solidFill>
                  <a:schemeClr val="tx1"/>
                </a:solidFill>
                <a:effectLst/>
                <a:latin typeface="+mn-lt"/>
                <a:ea typeface="+mn-ea"/>
                <a:cs typeface="+mn-cs"/>
              </a:rPr>
              <a:t>Kontinuirana komunikacija između članova tima o dovršenim i preostalim zadacima.</a:t>
            </a:r>
          </a:p>
          <a:p>
            <a:r>
              <a:rPr lang="hr-HR" sz="1200" b="0" i="0" kern="1200" dirty="0">
                <a:solidFill>
                  <a:schemeClr val="tx1"/>
                </a:solidFill>
                <a:effectLst/>
                <a:latin typeface="+mn-lt"/>
                <a:ea typeface="+mn-ea"/>
                <a:cs typeface="+mn-cs"/>
              </a:rPr>
              <a:t>Na kraju svakog sprinta analiza broja dovršenih jedinica rada.</a:t>
            </a:r>
          </a:p>
          <a:p>
            <a:r>
              <a:rPr lang="hr-HR" sz="1200" b="0" i="0" kern="1200" dirty="0">
                <a:solidFill>
                  <a:schemeClr val="tx1"/>
                </a:solidFill>
                <a:effectLst/>
                <a:latin typeface="+mn-lt"/>
                <a:ea typeface="+mn-ea"/>
                <a:cs typeface="+mn-cs"/>
              </a:rPr>
              <a:t>Napomena: Stvarni </a:t>
            </a:r>
            <a:r>
              <a:rPr lang="hr-HR" sz="1200" b="0" i="0" kern="1200" dirty="0" err="1">
                <a:solidFill>
                  <a:schemeClr val="tx1"/>
                </a:solidFill>
                <a:effectLst/>
                <a:latin typeface="+mn-lt"/>
                <a:ea typeface="+mn-ea"/>
                <a:cs typeface="+mn-cs"/>
              </a:rPr>
              <a:t>velocity</a:t>
            </a:r>
            <a:r>
              <a:rPr lang="hr-HR" sz="1200" b="0" i="0" kern="1200" dirty="0">
                <a:solidFill>
                  <a:schemeClr val="tx1"/>
                </a:solidFill>
                <a:effectLst/>
                <a:latin typeface="+mn-lt"/>
                <a:ea typeface="+mn-ea"/>
                <a:cs typeface="+mn-cs"/>
              </a:rPr>
              <a:t> manji od procijenjenog može upućivati na:</a:t>
            </a:r>
          </a:p>
          <a:p>
            <a:r>
              <a:rPr lang="hr-HR" sz="1200" b="0" i="0" kern="1200" dirty="0">
                <a:solidFill>
                  <a:schemeClr val="tx1"/>
                </a:solidFill>
                <a:effectLst/>
                <a:latin typeface="+mn-lt"/>
                <a:ea typeface="+mn-ea"/>
                <a:cs typeface="+mn-cs"/>
              </a:rPr>
              <a:t>prevelik faktor neizvjesnosti (FF)</a:t>
            </a:r>
          </a:p>
          <a:p>
            <a:r>
              <a:rPr lang="hr-HR" sz="1200" b="0" i="0" kern="1200" dirty="0">
                <a:solidFill>
                  <a:schemeClr val="tx1"/>
                </a:solidFill>
                <a:effectLst/>
                <a:latin typeface="+mn-lt"/>
                <a:ea typeface="+mn-ea"/>
                <a:cs typeface="+mn-cs"/>
              </a:rPr>
              <a:t>preoptimistične procjene</a:t>
            </a:r>
          </a:p>
          <a:p>
            <a:r>
              <a:rPr lang="hr-HR" sz="1200" b="0" i="0" kern="1200" dirty="0">
                <a:solidFill>
                  <a:schemeClr val="tx1"/>
                </a:solidFill>
                <a:effectLst/>
                <a:latin typeface="+mn-lt"/>
                <a:ea typeface="+mn-ea"/>
                <a:cs typeface="+mn-cs"/>
              </a:rPr>
              <a:t>Savjet: za povećanje </a:t>
            </a:r>
            <a:r>
              <a:rPr lang="hr-HR" sz="1200" b="0" i="0" kern="1200" dirty="0" err="1">
                <a:solidFill>
                  <a:schemeClr val="tx1"/>
                </a:solidFill>
                <a:effectLst/>
                <a:latin typeface="+mn-lt"/>
                <a:ea typeface="+mn-ea"/>
                <a:cs typeface="+mn-cs"/>
              </a:rPr>
              <a:t>velocityja</a:t>
            </a:r>
            <a:r>
              <a:rPr lang="hr-HR" sz="1200" b="0" i="0" kern="1200" dirty="0">
                <a:solidFill>
                  <a:schemeClr val="tx1"/>
                </a:solidFill>
                <a:effectLst/>
                <a:latin typeface="+mn-lt"/>
                <a:ea typeface="+mn-ea"/>
                <a:cs typeface="+mn-cs"/>
              </a:rPr>
              <a:t> tima, započnite retrospektivu s „blokiranim” zadacima.</a:t>
            </a:r>
          </a:p>
          <a:p>
            <a:br>
              <a:rPr lang="hr-HR" sz="1200" b="0" i="0" kern="1200" dirty="0">
                <a:solidFill>
                  <a:schemeClr val="tx1"/>
                </a:solidFill>
                <a:effectLst/>
                <a:latin typeface="+mn-lt"/>
                <a:ea typeface="+mn-ea"/>
                <a:cs typeface="+mn-cs"/>
              </a:rPr>
            </a:br>
            <a:endParaRPr lang="hr-HR" sz="1200" b="0" i="0" kern="1200" dirty="0">
              <a:solidFill>
                <a:schemeClr val="tx1"/>
              </a:solidFill>
              <a:effectLst/>
              <a:latin typeface="+mn-lt"/>
              <a:ea typeface="+mn-ea"/>
              <a:cs typeface="+mn-cs"/>
            </a:endParaRPr>
          </a:p>
          <a:p>
            <a:r>
              <a:rPr lang="hr-HR" sz="1200" b="0" i="0" kern="1200" dirty="0">
                <a:solidFill>
                  <a:schemeClr val="tx1"/>
                </a:solidFill>
                <a:effectLst/>
                <a:latin typeface="+mn-lt"/>
                <a:ea typeface="+mn-ea"/>
                <a:cs typeface="+mn-cs"/>
              </a:rPr>
              <a:t>prevedi: </a:t>
            </a:r>
            <a:r>
              <a:rPr lang="hr-HR" sz="1200" b="0" i="0" kern="1200" dirty="0" err="1">
                <a:solidFill>
                  <a:schemeClr val="tx1"/>
                </a:solidFill>
                <a:effectLst/>
                <a:latin typeface="+mn-lt"/>
                <a:ea typeface="+mn-ea"/>
                <a:cs typeface="+mn-cs"/>
              </a:rPr>
              <a:t>Graphical</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representation</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of</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the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work</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required</a:t>
            </a:r>
            <a:r>
              <a:rPr lang="hr-HR" sz="1200" b="0" i="0" kern="1200" dirty="0">
                <a:solidFill>
                  <a:schemeClr val="tx1"/>
                </a:solidFill>
                <a:effectLst/>
                <a:latin typeface="+mn-lt"/>
                <a:ea typeface="+mn-ea"/>
                <a:cs typeface="+mn-cs"/>
              </a:rPr>
              <a:t> to </a:t>
            </a:r>
            <a:r>
              <a:rPr lang="hr-HR" sz="1200" b="0" i="0" kern="1200" dirty="0" err="1">
                <a:solidFill>
                  <a:schemeClr val="tx1"/>
                </a:solidFill>
                <a:effectLst/>
                <a:latin typeface="+mn-lt"/>
                <a:ea typeface="+mn-ea"/>
                <a:cs typeface="+mn-cs"/>
              </a:rPr>
              <a:t>complete</a:t>
            </a:r>
            <a:r>
              <a:rPr lang="hr-HR" sz="1200" b="0" i="0" kern="1200" dirty="0">
                <a:solidFill>
                  <a:schemeClr val="tx1"/>
                </a:solidFill>
                <a:effectLst/>
                <a:latin typeface="+mn-lt"/>
                <a:ea typeface="+mn-ea"/>
                <a:cs typeface="+mn-cs"/>
              </a:rPr>
              <a:t> a </a:t>
            </a:r>
            <a:r>
              <a:rPr lang="hr-HR" sz="1200" b="0" i="0" kern="1200" dirty="0" err="1">
                <a:solidFill>
                  <a:schemeClr val="tx1"/>
                </a:solidFill>
                <a:effectLst/>
                <a:latin typeface="+mn-lt"/>
                <a:ea typeface="+mn-ea"/>
                <a:cs typeface="+mn-cs"/>
              </a:rPr>
              <a:t>project</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Usually</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the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remaining</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work</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or</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backlog</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is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indicated</a:t>
            </a:r>
            <a:r>
              <a:rPr lang="hr-HR" sz="1200" b="0" i="0" kern="1200" dirty="0">
                <a:solidFill>
                  <a:schemeClr val="tx1"/>
                </a:solidFill>
                <a:effectLst/>
                <a:latin typeface="+mn-lt"/>
                <a:ea typeface="+mn-ea"/>
                <a:cs typeface="+mn-cs"/>
              </a:rPr>
              <a:t> on </a:t>
            </a:r>
            <a:r>
              <a:rPr lang="hr-HR" sz="1200" b="0" i="0" kern="1200" dirty="0" err="1">
                <a:solidFill>
                  <a:schemeClr val="tx1"/>
                </a:solidFill>
                <a:effectLst/>
                <a:latin typeface="+mn-lt"/>
                <a:ea typeface="+mn-ea"/>
                <a:cs typeface="+mn-cs"/>
              </a:rPr>
              <a:t>the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vertical</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axis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and</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the</a:t>
            </a:r>
            <a:r>
              <a:rPr lang="hr-HR" sz="1200" b="0" i="0" kern="1200" dirty="0">
                <a:solidFill>
                  <a:schemeClr val="tx1"/>
                </a:solidFill>
                <a:effectLst/>
                <a:latin typeface="+mn-lt"/>
                <a:ea typeface="+mn-ea"/>
                <a:cs typeface="+mn-cs"/>
              </a:rPr>
              <a:t> time on </a:t>
            </a:r>
            <a:r>
              <a:rPr lang="hr-HR" sz="1200" b="0" i="0" kern="1200" dirty="0" err="1">
                <a:solidFill>
                  <a:schemeClr val="tx1"/>
                </a:solidFill>
                <a:effectLst/>
                <a:latin typeface="+mn-lt"/>
                <a:ea typeface="+mn-ea"/>
                <a:cs typeface="+mn-cs"/>
              </a:rPr>
              <a:t>the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horizontal</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axis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The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diagram</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represents</a:t>
            </a:r>
            <a:r>
              <a:rPr lang="hr-HR" sz="1200" b="0" i="0" kern="1200" dirty="0">
                <a:solidFill>
                  <a:schemeClr val="tx1"/>
                </a:solidFill>
                <a:effectLst/>
                <a:latin typeface="+mn-lt"/>
                <a:ea typeface="+mn-ea"/>
                <a:cs typeface="+mn-cs"/>
              </a:rPr>
              <a:t> a time </a:t>
            </a:r>
            <a:r>
              <a:rPr lang="hr-HR" sz="1200" b="0" i="0" kern="1200" dirty="0" err="1">
                <a:solidFill>
                  <a:schemeClr val="tx1"/>
                </a:solidFill>
                <a:effectLst/>
                <a:latin typeface="+mn-lt"/>
                <a:ea typeface="+mn-ea"/>
                <a:cs typeface="+mn-cs"/>
              </a:rPr>
              <a:t>series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of</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tasks</a:t>
            </a:r>
            <a:r>
              <a:rPr lang="hr-HR" sz="1200" b="0" i="0" kern="1200" dirty="0">
                <a:solidFill>
                  <a:schemeClr val="tx1"/>
                </a:solidFill>
                <a:effectLst/>
                <a:latin typeface="+mn-lt"/>
                <a:ea typeface="+mn-ea"/>
                <a:cs typeface="+mn-cs"/>
              </a:rPr>
              <a:t> to </a:t>
            </a:r>
            <a:r>
              <a:rPr lang="hr-HR" sz="1200" b="0" i="0" kern="1200" dirty="0" err="1">
                <a:solidFill>
                  <a:schemeClr val="tx1"/>
                </a:solidFill>
                <a:effectLst/>
                <a:latin typeface="+mn-lt"/>
                <a:ea typeface="+mn-ea"/>
                <a:cs typeface="+mn-cs"/>
              </a:rPr>
              <a:t>be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completed</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It</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is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useful</a:t>
            </a:r>
            <a:r>
              <a:rPr lang="hr-HR" sz="1200" b="0" i="0" kern="1200" dirty="0">
                <a:solidFill>
                  <a:schemeClr val="tx1"/>
                </a:solidFill>
                <a:effectLst/>
                <a:latin typeface="+mn-lt"/>
                <a:ea typeface="+mn-ea"/>
                <a:cs typeface="+mn-cs"/>
              </a:rPr>
              <a:t> for </a:t>
            </a:r>
            <a:r>
              <a:rPr lang="hr-HR" sz="1200" b="0" i="0" kern="1200" dirty="0" err="1">
                <a:solidFill>
                  <a:schemeClr val="tx1"/>
                </a:solidFill>
                <a:effectLst/>
                <a:latin typeface="+mn-lt"/>
                <a:ea typeface="+mn-ea"/>
                <a:cs typeface="+mn-cs"/>
              </a:rPr>
              <a:t>predicting</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when</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the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work</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will</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be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completed</a:t>
            </a:r>
            <a:r>
              <a:rPr lang="hr-HR" sz="1200" b="0" i="0" kern="1200" dirty="0">
                <a:solidFill>
                  <a:schemeClr val="tx1"/>
                </a:solidFill>
                <a:effectLst/>
                <a:latin typeface="+mn-lt"/>
                <a:ea typeface="+mn-ea"/>
                <a:cs typeface="+mn-cs"/>
              </a:rPr>
              <a:t>. </a:t>
            </a:r>
          </a:p>
          <a:p>
            <a:br>
              <a:rPr lang="hr-HR" sz="1200" b="0" i="0" kern="1200" dirty="0">
                <a:solidFill>
                  <a:schemeClr val="tx1"/>
                </a:solidFill>
                <a:effectLst/>
                <a:latin typeface="+mn-lt"/>
                <a:ea typeface="+mn-ea"/>
                <a:cs typeface="+mn-cs"/>
              </a:rPr>
            </a:br>
            <a:endParaRPr lang="hr-HR" sz="1200" b="0" i="0" kern="1200" dirty="0">
              <a:solidFill>
                <a:schemeClr val="tx1"/>
              </a:solidFill>
              <a:effectLst/>
              <a:latin typeface="+mn-lt"/>
              <a:ea typeface="+mn-ea"/>
              <a:cs typeface="+mn-cs"/>
            </a:endParaRPr>
          </a:p>
          <a:p>
            <a:r>
              <a:rPr lang="hr-HR" sz="1200" b="0" i="0" kern="1200" dirty="0">
                <a:solidFill>
                  <a:schemeClr val="tx1"/>
                </a:solidFill>
                <a:effectLst/>
                <a:latin typeface="+mn-lt"/>
                <a:ea typeface="+mn-ea"/>
                <a:cs typeface="+mn-cs"/>
              </a:rPr>
              <a:t>Grafički prikaz količine posla potrebnog za dovršetak projekta.</a:t>
            </a:r>
            <a:br>
              <a:rPr lang="hr-HR" sz="1200" b="0" i="0" kern="1200" dirty="0">
                <a:solidFill>
                  <a:schemeClr val="tx1"/>
                </a:solidFill>
                <a:effectLst/>
                <a:latin typeface="+mn-lt"/>
                <a:ea typeface="+mn-ea"/>
                <a:cs typeface="+mn-cs"/>
              </a:rPr>
            </a:br>
            <a:r>
              <a:rPr lang="hr-HR" sz="1200" b="0" i="0" kern="1200" dirty="0">
                <a:solidFill>
                  <a:schemeClr val="tx1"/>
                </a:solidFill>
                <a:effectLst/>
                <a:latin typeface="+mn-lt"/>
                <a:ea typeface="+mn-ea"/>
                <a:cs typeface="+mn-cs"/>
              </a:rPr>
              <a:t>Na vertikalnoj osi obično je prikazan preostali rad (ili </a:t>
            </a:r>
            <a:r>
              <a:rPr lang="hr-HR" sz="1200" b="0" i="0" kern="1200" dirty="0" err="1">
                <a:solidFill>
                  <a:schemeClr val="tx1"/>
                </a:solidFill>
                <a:effectLst/>
                <a:latin typeface="+mn-lt"/>
                <a:ea typeface="+mn-ea"/>
                <a:cs typeface="+mn-cs"/>
              </a:rPr>
              <a:t>backlog</a:t>
            </a:r>
            <a:r>
              <a:rPr lang="hr-HR" sz="1200" b="0" i="0" kern="1200" dirty="0">
                <a:solidFill>
                  <a:schemeClr val="tx1"/>
                </a:solidFill>
                <a:effectLst/>
                <a:latin typeface="+mn-lt"/>
                <a:ea typeface="+mn-ea"/>
                <a:cs typeface="+mn-cs"/>
              </a:rPr>
              <a:t>), a na horizontalnoj vrijeme.</a:t>
            </a:r>
            <a:br>
              <a:rPr lang="hr-HR" sz="1200" b="0" i="0" kern="1200" dirty="0">
                <a:solidFill>
                  <a:schemeClr val="tx1"/>
                </a:solidFill>
                <a:effectLst/>
                <a:latin typeface="+mn-lt"/>
                <a:ea typeface="+mn-ea"/>
                <a:cs typeface="+mn-cs"/>
              </a:rPr>
            </a:br>
            <a:r>
              <a:rPr lang="hr-HR" sz="1200" b="0" i="0" kern="1200" dirty="0">
                <a:solidFill>
                  <a:schemeClr val="tx1"/>
                </a:solidFill>
                <a:effectLst/>
                <a:latin typeface="+mn-lt"/>
                <a:ea typeface="+mn-ea"/>
                <a:cs typeface="+mn-cs"/>
              </a:rPr>
              <a:t>Dijagram predstavlja vremenski slijed zadataka koje je potrebno dovršiti.</a:t>
            </a:r>
            <a:br>
              <a:rPr lang="hr-HR" sz="1200" b="0" i="0" kern="1200" dirty="0">
                <a:solidFill>
                  <a:schemeClr val="tx1"/>
                </a:solidFill>
                <a:effectLst/>
                <a:latin typeface="+mn-lt"/>
                <a:ea typeface="+mn-ea"/>
                <a:cs typeface="+mn-cs"/>
              </a:rPr>
            </a:br>
            <a:r>
              <a:rPr lang="hr-HR" sz="1200" b="0" i="0" kern="1200" dirty="0">
                <a:solidFill>
                  <a:schemeClr val="tx1"/>
                </a:solidFill>
                <a:effectLst/>
                <a:latin typeface="+mn-lt"/>
                <a:ea typeface="+mn-ea"/>
                <a:cs typeface="+mn-cs"/>
              </a:rPr>
              <a:t>Koristan je za predviđanje kada će posao biti završen.</a:t>
            </a:r>
          </a:p>
          <a:p>
            <a:br>
              <a:rPr lang="hr-HR" sz="1200" b="0" i="0" kern="1200" dirty="0">
                <a:solidFill>
                  <a:schemeClr val="tx1"/>
                </a:solidFill>
                <a:effectLst/>
                <a:latin typeface="+mn-lt"/>
                <a:ea typeface="+mn-ea"/>
                <a:cs typeface="+mn-cs"/>
              </a:rPr>
            </a:br>
            <a:endParaRPr lang="hr-HR" sz="1200" b="0" i="0" kern="1200" dirty="0">
              <a:solidFill>
                <a:schemeClr val="tx1"/>
              </a:solidFill>
              <a:effectLst/>
              <a:latin typeface="+mn-lt"/>
              <a:ea typeface="+mn-ea"/>
              <a:cs typeface="+mn-cs"/>
            </a:endParaRPr>
          </a:p>
          <a:p>
            <a:r>
              <a:rPr lang="hr-HR" sz="1200" b="0" i="0" kern="1200" dirty="0">
                <a:solidFill>
                  <a:schemeClr val="tx1"/>
                </a:solidFill>
                <a:effectLst/>
                <a:latin typeface="+mn-lt"/>
                <a:ea typeface="+mn-ea"/>
                <a:cs typeface="+mn-cs"/>
              </a:rPr>
              <a:t>prevedi: Facilitator notes </a:t>
            </a:r>
            <a:r>
              <a:rPr lang="hr-HR" sz="1200" b="0" i="0" kern="1200" dirty="0" err="1">
                <a:solidFill>
                  <a:schemeClr val="tx1"/>
                </a:solidFill>
                <a:effectLst/>
                <a:latin typeface="+mn-lt"/>
                <a:ea typeface="+mn-ea"/>
                <a:cs typeface="+mn-cs"/>
              </a:rPr>
              <a:t>Explain</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burndown</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charts</a:t>
            </a:r>
            <a:r>
              <a:rPr lang="hr-HR" sz="1200" b="0" i="0" kern="1200" dirty="0">
                <a:solidFill>
                  <a:schemeClr val="tx1"/>
                </a:solidFill>
                <a:effectLst/>
                <a:latin typeface="+mn-lt"/>
                <a:ea typeface="+mn-ea"/>
                <a:cs typeface="+mn-cs"/>
              </a:rPr>
              <a:t> as a </a:t>
            </a:r>
            <a:r>
              <a:rPr lang="hr-HR" sz="1200" b="0" i="0" kern="1200" dirty="0" err="1">
                <a:solidFill>
                  <a:schemeClr val="tx1"/>
                </a:solidFill>
                <a:effectLst/>
                <a:latin typeface="+mn-lt"/>
                <a:ea typeface="+mn-ea"/>
                <a:cs typeface="+mn-cs"/>
              </a:rPr>
              <a:t>way</a:t>
            </a:r>
            <a:r>
              <a:rPr lang="hr-HR" sz="1200" b="0" i="0" kern="1200" dirty="0">
                <a:solidFill>
                  <a:schemeClr val="tx1"/>
                </a:solidFill>
                <a:effectLst/>
                <a:latin typeface="+mn-lt"/>
                <a:ea typeface="+mn-ea"/>
                <a:cs typeface="+mn-cs"/>
              </a:rPr>
              <a:t> to </a:t>
            </a:r>
            <a:r>
              <a:rPr lang="hr-HR" sz="1200" b="0" i="0" kern="1200" dirty="0" err="1">
                <a:solidFill>
                  <a:schemeClr val="tx1"/>
                </a:solidFill>
                <a:effectLst/>
                <a:latin typeface="+mn-lt"/>
                <a:ea typeface="+mn-ea"/>
                <a:cs typeface="+mn-cs"/>
              </a:rPr>
              <a:t>visualize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remaining</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work</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over</a:t>
            </a:r>
            <a:r>
              <a:rPr lang="hr-HR" sz="1200" b="0" i="0" kern="1200" dirty="0">
                <a:solidFill>
                  <a:schemeClr val="tx1"/>
                </a:solidFill>
                <a:effectLst/>
                <a:latin typeface="+mn-lt"/>
                <a:ea typeface="+mn-ea"/>
                <a:cs typeface="+mn-cs"/>
              </a:rPr>
              <a:t> time </a:t>
            </a:r>
            <a:r>
              <a:rPr lang="hr-HR" sz="1200" b="0" i="0" kern="1200" dirty="0" err="1">
                <a:solidFill>
                  <a:schemeClr val="tx1"/>
                </a:solidFill>
                <a:effectLst/>
                <a:latin typeface="+mn-lt"/>
                <a:ea typeface="+mn-ea"/>
                <a:cs typeface="+mn-cs"/>
              </a:rPr>
              <a:t>and</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detect</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risk</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early</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Clarify</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axes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work</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remaining</a:t>
            </a:r>
            <a:r>
              <a:rPr lang="hr-HR" sz="1200" b="0" i="0" kern="1200" dirty="0">
                <a:solidFill>
                  <a:schemeClr val="tx1"/>
                </a:solidFill>
                <a:effectLst/>
                <a:latin typeface="+mn-lt"/>
                <a:ea typeface="+mn-ea"/>
                <a:cs typeface="+mn-cs"/>
              </a:rPr>
              <a:t> vs time) </a:t>
            </a:r>
            <a:r>
              <a:rPr lang="hr-HR" sz="1200" b="0" i="0" kern="1200" dirty="0" err="1">
                <a:solidFill>
                  <a:schemeClr val="tx1"/>
                </a:solidFill>
                <a:effectLst/>
                <a:latin typeface="+mn-lt"/>
                <a:ea typeface="+mn-ea"/>
                <a:cs typeface="+mn-cs"/>
              </a:rPr>
              <a:t>and</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what</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patterns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mean</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Steady</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downward</a:t>
            </a:r>
            <a:r>
              <a:rPr lang="hr-HR" sz="1200" b="0" i="0" kern="1200" dirty="0">
                <a:solidFill>
                  <a:schemeClr val="tx1"/>
                </a:solidFill>
                <a:effectLst/>
                <a:latin typeface="+mn-lt"/>
                <a:ea typeface="+mn-ea"/>
                <a:cs typeface="+mn-cs"/>
              </a:rPr>
              <a:t> line → </a:t>
            </a:r>
            <a:r>
              <a:rPr lang="hr-HR" sz="1200" b="0" i="0" kern="1200" dirty="0" err="1">
                <a:solidFill>
                  <a:schemeClr val="tx1"/>
                </a:solidFill>
                <a:effectLst/>
                <a:latin typeface="+mn-lt"/>
                <a:ea typeface="+mn-ea"/>
                <a:cs typeface="+mn-cs"/>
              </a:rPr>
              <a:t>healthy</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progress</a:t>
            </a:r>
            <a:r>
              <a:rPr lang="hr-HR" sz="1200" b="0" i="0" kern="1200" dirty="0">
                <a:solidFill>
                  <a:schemeClr val="tx1"/>
                </a:solidFill>
                <a:effectLst/>
                <a:latin typeface="+mn-lt"/>
                <a:ea typeface="+mn-ea"/>
                <a:cs typeface="+mn-cs"/>
              </a:rPr>
              <a:t>. Flat </a:t>
            </a:r>
            <a:r>
              <a:rPr lang="hr-HR" sz="1200" b="0" i="0" kern="1200" dirty="0" err="1">
                <a:solidFill>
                  <a:schemeClr val="tx1"/>
                </a:solidFill>
                <a:effectLst/>
                <a:latin typeface="+mn-lt"/>
                <a:ea typeface="+mn-ea"/>
                <a:cs typeface="+mn-cs"/>
              </a:rPr>
              <a:t>segments</a:t>
            </a:r>
            <a:r>
              <a:rPr lang="hr-HR" sz="1200" b="0" i="0" kern="1200" dirty="0">
                <a:solidFill>
                  <a:schemeClr val="tx1"/>
                </a:solidFill>
                <a:effectLst/>
                <a:latin typeface="+mn-lt"/>
                <a:ea typeface="+mn-ea"/>
                <a:cs typeface="+mn-cs"/>
              </a:rPr>
              <a:t> → </a:t>
            </a:r>
            <a:r>
              <a:rPr lang="hr-HR" sz="1200" b="0" i="0" kern="1200" dirty="0" err="1">
                <a:solidFill>
                  <a:schemeClr val="tx1"/>
                </a:solidFill>
                <a:effectLst/>
                <a:latin typeface="+mn-lt"/>
                <a:ea typeface="+mn-ea"/>
                <a:cs typeface="+mn-cs"/>
              </a:rPr>
              <a:t>blockers</a:t>
            </a:r>
            <a:r>
              <a:rPr lang="hr-HR" sz="1200" b="0" i="0" kern="1200" dirty="0">
                <a:solidFill>
                  <a:schemeClr val="tx1"/>
                </a:solidFill>
                <a:effectLst/>
                <a:latin typeface="+mn-lt"/>
                <a:ea typeface="+mn-ea"/>
                <a:cs typeface="+mn-cs"/>
              </a:rPr>
              <a:t>/no </a:t>
            </a:r>
            <a:r>
              <a:rPr lang="hr-HR" sz="1200" b="0" i="0" kern="1200" dirty="0" err="1">
                <a:solidFill>
                  <a:schemeClr val="tx1"/>
                </a:solidFill>
                <a:effectLst/>
                <a:latin typeface="+mn-lt"/>
                <a:ea typeface="+mn-ea"/>
                <a:cs typeface="+mn-cs"/>
              </a:rPr>
              <a:t>completion</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Upward</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bumps</a:t>
            </a:r>
            <a:r>
              <a:rPr lang="hr-HR" sz="1200" b="0" i="0" kern="1200" dirty="0">
                <a:solidFill>
                  <a:schemeClr val="tx1"/>
                </a:solidFill>
                <a:effectLst/>
                <a:latin typeface="+mn-lt"/>
                <a:ea typeface="+mn-ea"/>
                <a:cs typeface="+mn-cs"/>
              </a:rPr>
              <a:t> → </a:t>
            </a:r>
            <a:r>
              <a:rPr lang="hr-HR" sz="1200" b="0" i="0" kern="1200" dirty="0" err="1">
                <a:solidFill>
                  <a:schemeClr val="tx1"/>
                </a:solidFill>
                <a:effectLst/>
                <a:latin typeface="+mn-lt"/>
                <a:ea typeface="+mn-ea"/>
                <a:cs typeface="+mn-cs"/>
              </a:rPr>
              <a:t>scope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added</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or</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rework</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Additional</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resources</a:t>
            </a:r>
            <a:r>
              <a:rPr lang="hr-HR" sz="1200" b="0" i="0" kern="1200" dirty="0">
                <a:solidFill>
                  <a:schemeClr val="tx1"/>
                </a:solidFill>
                <a:effectLst/>
                <a:latin typeface="+mn-lt"/>
                <a:ea typeface="+mn-ea"/>
                <a:cs typeface="+mn-cs"/>
              </a:rPr>
              <a:t> https://www.projectmanager.com/blog/burndown-chart-what-is-it https://www.zenhub.com/blog-posts/tracking-sprint-progress-with-scrum-burndown-charts </a:t>
            </a:r>
          </a:p>
          <a:p>
            <a:br>
              <a:rPr lang="hr-HR" sz="1200" b="0" i="0" kern="1200" dirty="0">
                <a:solidFill>
                  <a:schemeClr val="tx1"/>
                </a:solidFill>
                <a:effectLst/>
                <a:latin typeface="+mn-lt"/>
                <a:ea typeface="+mn-ea"/>
                <a:cs typeface="+mn-cs"/>
              </a:rPr>
            </a:br>
            <a:endParaRPr lang="hr-HR" sz="1200" b="0" i="0" kern="1200" dirty="0">
              <a:solidFill>
                <a:schemeClr val="tx1"/>
              </a:solidFill>
              <a:effectLst/>
              <a:latin typeface="+mn-lt"/>
              <a:ea typeface="+mn-ea"/>
              <a:cs typeface="+mn-cs"/>
            </a:endParaRPr>
          </a:p>
          <a:p>
            <a:r>
              <a:rPr lang="hr-HR" sz="1200" b="0" i="0" kern="1200" dirty="0">
                <a:solidFill>
                  <a:schemeClr val="tx1"/>
                </a:solidFill>
                <a:effectLst/>
                <a:latin typeface="+mn-lt"/>
                <a:ea typeface="+mn-ea"/>
                <a:cs typeface="+mn-cs"/>
              </a:rPr>
              <a:t>Napomene za facilitatora</a:t>
            </a:r>
          </a:p>
          <a:p>
            <a:r>
              <a:rPr lang="hr-HR" sz="1200" b="0" i="0" kern="1200" dirty="0">
                <a:solidFill>
                  <a:schemeClr val="tx1"/>
                </a:solidFill>
                <a:effectLst/>
                <a:latin typeface="+mn-lt"/>
                <a:ea typeface="+mn-ea"/>
                <a:cs typeface="+mn-cs"/>
              </a:rPr>
              <a:t>Objasnite </a:t>
            </a:r>
            <a:r>
              <a:rPr lang="hr-HR" sz="1200" b="0" i="0" kern="1200" dirty="0" err="1">
                <a:solidFill>
                  <a:schemeClr val="tx1"/>
                </a:solidFill>
                <a:effectLst/>
                <a:latin typeface="+mn-lt"/>
                <a:ea typeface="+mn-ea"/>
                <a:cs typeface="+mn-cs"/>
              </a:rPr>
              <a:t>burndown</a:t>
            </a:r>
            <a:r>
              <a:rPr lang="hr-HR" sz="1200" b="0" i="0" kern="1200" dirty="0">
                <a:solidFill>
                  <a:schemeClr val="tx1"/>
                </a:solidFill>
                <a:effectLst/>
                <a:latin typeface="+mn-lt"/>
                <a:ea typeface="+mn-ea"/>
                <a:cs typeface="+mn-cs"/>
              </a:rPr>
              <a:t> grafikon kao način vizualizacije preostalog posla kroz vrijeme i ranog uočavanja rizika.</a:t>
            </a:r>
          </a:p>
          <a:p>
            <a:r>
              <a:rPr lang="hr-HR" sz="1200" b="0" i="0" kern="1200" dirty="0">
                <a:solidFill>
                  <a:schemeClr val="tx1"/>
                </a:solidFill>
                <a:effectLst/>
                <a:latin typeface="+mn-lt"/>
                <a:ea typeface="+mn-ea"/>
                <a:cs typeface="+mn-cs"/>
              </a:rPr>
              <a:t>Pojasnite osi (preostali rad naspram vremena) i značenje obrazaca:</a:t>
            </a:r>
          </a:p>
          <a:p>
            <a:r>
              <a:rPr lang="hr-HR" sz="1200" b="0" i="0" kern="1200" dirty="0">
                <a:solidFill>
                  <a:schemeClr val="tx1"/>
                </a:solidFill>
                <a:effectLst/>
                <a:latin typeface="+mn-lt"/>
                <a:ea typeface="+mn-ea"/>
                <a:cs typeface="+mn-cs"/>
              </a:rPr>
              <a:t>Ravnomjerno silazna linija → zdrav napredak.</a:t>
            </a:r>
          </a:p>
          <a:p>
            <a:r>
              <a:rPr lang="hr-HR" sz="1200" b="0" i="0" kern="1200" dirty="0">
                <a:solidFill>
                  <a:schemeClr val="tx1"/>
                </a:solidFill>
                <a:effectLst/>
                <a:latin typeface="+mn-lt"/>
                <a:ea typeface="+mn-ea"/>
                <a:cs typeface="+mn-cs"/>
              </a:rPr>
              <a:t>Ravni dijelovi → blokade / nema dovršenih zadataka.</a:t>
            </a:r>
          </a:p>
          <a:p>
            <a:r>
              <a:rPr lang="hr-HR" sz="1200" b="0" i="0" kern="1200" dirty="0">
                <a:solidFill>
                  <a:schemeClr val="tx1"/>
                </a:solidFill>
                <a:effectLst/>
                <a:latin typeface="+mn-lt"/>
                <a:ea typeface="+mn-ea"/>
                <a:cs typeface="+mn-cs"/>
              </a:rPr>
              <a:t>Uzlazni skokovi → dodavanje opsega ili dorade (</a:t>
            </a:r>
            <a:r>
              <a:rPr lang="hr-HR" sz="1200" b="0" i="0" kern="1200" dirty="0" err="1">
                <a:solidFill>
                  <a:schemeClr val="tx1"/>
                </a:solidFill>
                <a:effectLst/>
                <a:latin typeface="+mn-lt"/>
                <a:ea typeface="+mn-ea"/>
                <a:cs typeface="+mn-cs"/>
              </a:rPr>
              <a:t>rework</a:t>
            </a:r>
            <a:r>
              <a:rPr lang="hr-HR" sz="1200" b="0" i="0" kern="1200" dirty="0">
                <a:solidFill>
                  <a:schemeClr val="tx1"/>
                </a:solidFill>
                <a:effectLst/>
                <a:latin typeface="+mn-lt"/>
                <a:ea typeface="+mn-ea"/>
                <a:cs typeface="+mn-cs"/>
              </a:rPr>
              <a:t>).</a:t>
            </a:r>
          </a:p>
          <a:p>
            <a:r>
              <a:rPr lang="hr-HR" sz="1200" b="0" i="0" kern="1200" dirty="0">
                <a:solidFill>
                  <a:schemeClr val="tx1"/>
                </a:solidFill>
                <a:effectLst/>
                <a:latin typeface="+mn-lt"/>
                <a:ea typeface="+mn-ea"/>
                <a:cs typeface="+mn-cs"/>
              </a:rPr>
              <a:t>Dodatni resursi:</a:t>
            </a:r>
            <a:br>
              <a:rPr lang="hr-HR" sz="1200" b="0" i="0" kern="1200" dirty="0">
                <a:solidFill>
                  <a:schemeClr val="tx1"/>
                </a:solidFill>
                <a:effectLst/>
                <a:latin typeface="+mn-lt"/>
                <a:ea typeface="+mn-ea"/>
                <a:cs typeface="+mn-cs"/>
              </a:rPr>
            </a:br>
            <a:r>
              <a:rPr lang="hr-HR" sz="1200" b="0" i="0" kern="1200" dirty="0">
                <a:solidFill>
                  <a:schemeClr val="tx1"/>
                </a:solidFill>
                <a:effectLst/>
                <a:latin typeface="+mn-lt"/>
                <a:ea typeface="+mn-ea"/>
                <a:cs typeface="+mn-cs"/>
                <a:hlinkClick r:id="rId8"/>
              </a:rPr>
              <a:t>https://www.projectmanager.com/blog/burndown-chart-what-is-it</a:t>
            </a:r>
            <a:br>
              <a:rPr lang="hr-HR" sz="1200" b="0" i="0" kern="1200" dirty="0">
                <a:solidFill>
                  <a:schemeClr val="tx1"/>
                </a:solidFill>
                <a:effectLst/>
                <a:latin typeface="+mn-lt"/>
                <a:ea typeface="+mn-ea"/>
                <a:cs typeface="+mn-cs"/>
              </a:rPr>
            </a:br>
            <a:r>
              <a:rPr lang="hr-HR" sz="1200" b="0" i="0" kern="1200" dirty="0">
                <a:solidFill>
                  <a:schemeClr val="tx1"/>
                </a:solidFill>
                <a:effectLst/>
                <a:latin typeface="+mn-lt"/>
                <a:ea typeface="+mn-ea"/>
                <a:cs typeface="+mn-cs"/>
                <a:hlinkClick r:id="rId9"/>
              </a:rPr>
              <a:t>https://www.zenhub.com/blog-posts/tracking-sprint-progress-with-scrum-burndown-charts</a:t>
            </a:r>
            <a:endParaRPr lang="hr-HR" sz="1200" b="0" i="0" kern="1200" dirty="0">
              <a:solidFill>
                <a:schemeClr val="tx1"/>
              </a:solidFill>
              <a:effectLst/>
              <a:latin typeface="+mn-lt"/>
              <a:ea typeface="+mn-ea"/>
              <a:cs typeface="+mn-cs"/>
            </a:endParaRPr>
          </a:p>
          <a:p>
            <a:br>
              <a:rPr lang="hr-HR" sz="1200" b="0" i="0" kern="1200" dirty="0">
                <a:solidFill>
                  <a:schemeClr val="tx1"/>
                </a:solidFill>
                <a:effectLst/>
                <a:latin typeface="+mn-lt"/>
                <a:ea typeface="+mn-ea"/>
                <a:cs typeface="+mn-cs"/>
              </a:rPr>
            </a:br>
            <a:endParaRPr lang="hr-HR" sz="1200" b="0" i="0" kern="1200" dirty="0">
              <a:solidFill>
                <a:schemeClr val="tx1"/>
              </a:solidFill>
              <a:effectLst/>
              <a:latin typeface="+mn-lt"/>
              <a:ea typeface="+mn-ea"/>
              <a:cs typeface="+mn-cs"/>
            </a:endParaRPr>
          </a:p>
          <a:p>
            <a:r>
              <a:rPr lang="hr-HR" sz="1200" b="0" i="0" kern="1200" dirty="0">
                <a:solidFill>
                  <a:schemeClr val="tx1"/>
                </a:solidFill>
                <a:effectLst/>
                <a:latin typeface="+mn-lt"/>
                <a:ea typeface="+mn-ea"/>
                <a:cs typeface="+mn-cs"/>
              </a:rPr>
              <a:t>prevedi: Are </a:t>
            </a:r>
            <a:r>
              <a:rPr lang="hr-HR" sz="1200" b="0" i="0" kern="1200" dirty="0" err="1">
                <a:solidFill>
                  <a:schemeClr val="tx1"/>
                </a:solidFill>
                <a:effectLst/>
                <a:latin typeface="+mn-lt"/>
                <a:ea typeface="+mn-ea"/>
                <a:cs typeface="+mn-cs"/>
              </a:rPr>
              <a:t>there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alternatives</a:t>
            </a:r>
            <a:r>
              <a:rPr lang="hr-HR" sz="1200" b="0" i="0" kern="1200" dirty="0">
                <a:solidFill>
                  <a:schemeClr val="tx1"/>
                </a:solidFill>
                <a:effectLst/>
                <a:latin typeface="+mn-lt"/>
                <a:ea typeface="+mn-ea"/>
                <a:cs typeface="+mn-cs"/>
              </a:rPr>
              <a:t> to </a:t>
            </a:r>
            <a:r>
              <a:rPr lang="hr-HR" sz="1200" b="0" i="0" kern="1200" dirty="0" err="1">
                <a:solidFill>
                  <a:schemeClr val="tx1"/>
                </a:solidFill>
                <a:effectLst/>
                <a:latin typeface="+mn-lt"/>
                <a:ea typeface="+mn-ea"/>
                <a:cs typeface="+mn-cs"/>
              </a:rPr>
              <a:t>the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unedifying</a:t>
            </a:r>
            <a:r>
              <a:rPr lang="hr-HR" sz="1200" b="0" i="0" kern="1200" dirty="0">
                <a:solidFill>
                  <a:schemeClr val="tx1"/>
                </a:solidFill>
                <a:effectLst/>
                <a:latin typeface="+mn-lt"/>
                <a:ea typeface="+mn-ea"/>
                <a:cs typeface="+mn-cs"/>
              </a:rPr>
              <a:t> ‘flat’ </a:t>
            </a:r>
            <a:r>
              <a:rPr lang="hr-HR" sz="1200" b="0" i="0" kern="1200" dirty="0" err="1">
                <a:solidFill>
                  <a:schemeClr val="tx1"/>
                </a:solidFill>
                <a:effectLst/>
                <a:latin typeface="+mn-lt"/>
                <a:ea typeface="+mn-ea"/>
                <a:cs typeface="+mn-cs"/>
              </a:rPr>
              <a:t>burndown</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charts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The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burnup</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charts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Burnup</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charts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answer</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the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opposite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question</a:t>
            </a:r>
            <a:r>
              <a:rPr lang="hr-HR" sz="1200" b="0" i="0" kern="1200" dirty="0">
                <a:solidFill>
                  <a:schemeClr val="tx1"/>
                </a:solidFill>
                <a:effectLst/>
                <a:latin typeface="+mn-lt"/>
                <a:ea typeface="+mn-ea"/>
                <a:cs typeface="+mn-cs"/>
              </a:rPr>
              <a:t>: how </a:t>
            </a:r>
            <a:r>
              <a:rPr lang="hr-HR" sz="1200" b="0" i="0" kern="1200" dirty="0" err="1">
                <a:solidFill>
                  <a:schemeClr val="tx1"/>
                </a:solidFill>
                <a:effectLst/>
                <a:latin typeface="+mn-lt"/>
                <a:ea typeface="+mn-ea"/>
                <a:cs typeface="+mn-cs"/>
              </a:rPr>
              <a:t>much</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work</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has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been</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completed</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Whereas</a:t>
            </a:r>
            <a:r>
              <a:rPr lang="hr-HR" sz="1200" b="0" i="0" kern="1200" dirty="0">
                <a:solidFill>
                  <a:schemeClr val="tx1"/>
                </a:solidFill>
                <a:effectLst/>
                <a:latin typeface="+mn-lt"/>
                <a:ea typeface="+mn-ea"/>
                <a:cs typeface="+mn-cs"/>
              </a:rPr>
              <a:t> a </a:t>
            </a:r>
            <a:r>
              <a:rPr lang="hr-HR" sz="1200" b="0" i="0" kern="1200" dirty="0" err="1">
                <a:solidFill>
                  <a:schemeClr val="tx1"/>
                </a:solidFill>
                <a:effectLst/>
                <a:latin typeface="+mn-lt"/>
                <a:ea typeface="+mn-ea"/>
                <a:cs typeface="+mn-cs"/>
              </a:rPr>
              <a:t>Burndown</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chart</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should</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always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tend</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downwards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an</a:t>
            </a:r>
            <a:r>
              <a:rPr lang="hr-HR" sz="1200" b="0" i="0" kern="1200" dirty="0">
                <a:solidFill>
                  <a:schemeClr val="tx1"/>
                </a:solidFill>
                <a:effectLst/>
                <a:latin typeface="+mn-lt"/>
                <a:ea typeface="+mn-ea"/>
                <a:cs typeface="+mn-cs"/>
              </a:rPr>
              <a:t> ideal </a:t>
            </a:r>
            <a:r>
              <a:rPr lang="hr-HR" sz="1200" b="0" i="0" kern="1200" dirty="0" err="1">
                <a:solidFill>
                  <a:schemeClr val="tx1"/>
                </a:solidFill>
                <a:effectLst/>
                <a:latin typeface="+mn-lt"/>
                <a:ea typeface="+mn-ea"/>
                <a:cs typeface="+mn-cs"/>
              </a:rPr>
              <a:t>Burnup</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chart</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moves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upwards</a:t>
            </a:r>
            <a:r>
              <a:rPr lang="hr-HR" sz="1200" b="0" i="0" kern="1200" dirty="0">
                <a:solidFill>
                  <a:schemeClr val="tx1"/>
                </a:solidFill>
                <a:effectLst/>
                <a:latin typeface="+mn-lt"/>
                <a:ea typeface="+mn-ea"/>
                <a:cs typeface="+mn-cs"/>
              </a:rPr>
              <a:t> But </a:t>
            </a:r>
            <a:r>
              <a:rPr lang="hr-HR" sz="1200" b="0" i="0" kern="1200" dirty="0" err="1">
                <a:solidFill>
                  <a:schemeClr val="tx1"/>
                </a:solidFill>
                <a:effectLst/>
                <a:latin typeface="+mn-lt"/>
                <a:ea typeface="+mn-ea"/>
                <a:cs typeface="+mn-cs"/>
              </a:rPr>
              <a:t>why</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don't</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we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like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burnup</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charts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They</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have</a:t>
            </a:r>
            <a:r>
              <a:rPr lang="hr-HR" sz="1200" b="0" i="0" kern="1200" dirty="0">
                <a:solidFill>
                  <a:schemeClr val="tx1"/>
                </a:solidFill>
                <a:effectLst/>
                <a:latin typeface="+mn-lt"/>
                <a:ea typeface="+mn-ea"/>
                <a:cs typeface="+mn-cs"/>
              </a:rPr>
              <a:t> no </a:t>
            </a:r>
            <a:r>
              <a:rPr lang="hr-HR" sz="1200" b="0" i="0" kern="1200" dirty="0" err="1">
                <a:solidFill>
                  <a:schemeClr val="tx1"/>
                </a:solidFill>
                <a:effectLst/>
                <a:latin typeface="+mn-lt"/>
                <a:ea typeface="+mn-ea"/>
                <a:cs typeface="+mn-cs"/>
              </a:rPr>
              <a:t>predictive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utility</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They</a:t>
            </a:r>
            <a:r>
              <a:rPr lang="hr-HR" sz="1200" b="0" i="0" kern="1200" dirty="0">
                <a:solidFill>
                  <a:schemeClr val="tx1"/>
                </a:solidFill>
                <a:effectLst/>
                <a:latin typeface="+mn-lt"/>
                <a:ea typeface="+mn-ea"/>
                <a:cs typeface="+mn-cs"/>
              </a:rPr>
              <a:t> do </a:t>
            </a:r>
            <a:r>
              <a:rPr lang="hr-HR" sz="1200" b="0" i="0" kern="1200" dirty="0" err="1">
                <a:solidFill>
                  <a:schemeClr val="tx1"/>
                </a:solidFill>
                <a:effectLst/>
                <a:latin typeface="+mn-lt"/>
                <a:ea typeface="+mn-ea"/>
                <a:cs typeface="+mn-cs"/>
              </a:rPr>
              <a:t>not</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push</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velocity</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up</a:t>
            </a:r>
            <a:r>
              <a:rPr lang="hr-HR" sz="1200" b="0" i="0" kern="1200" dirty="0">
                <a:solidFill>
                  <a:schemeClr val="tx1"/>
                </a:solidFill>
                <a:effectLst/>
                <a:latin typeface="+mn-lt"/>
                <a:ea typeface="+mn-ea"/>
                <a:cs typeface="+mn-cs"/>
              </a:rPr>
              <a:t> (I do </a:t>
            </a:r>
            <a:r>
              <a:rPr lang="hr-HR" sz="1200" b="0" i="0" kern="1200" dirty="0" err="1">
                <a:solidFill>
                  <a:schemeClr val="tx1"/>
                </a:solidFill>
                <a:effectLst/>
                <a:latin typeface="+mn-lt"/>
                <a:ea typeface="+mn-ea"/>
                <a:cs typeface="+mn-cs"/>
              </a:rPr>
              <a:t>not</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know</a:t>
            </a:r>
            <a:r>
              <a:rPr lang="hr-HR" sz="1200" b="0" i="0" kern="1200" dirty="0">
                <a:solidFill>
                  <a:schemeClr val="tx1"/>
                </a:solidFill>
                <a:effectLst/>
                <a:latin typeface="+mn-lt"/>
                <a:ea typeface="+mn-ea"/>
                <a:cs typeface="+mn-cs"/>
              </a:rPr>
              <a:t> how </a:t>
            </a:r>
            <a:r>
              <a:rPr lang="hr-HR" sz="1200" b="0" i="0" kern="1200" dirty="0" err="1">
                <a:solidFill>
                  <a:schemeClr val="tx1"/>
                </a:solidFill>
                <a:effectLst/>
                <a:latin typeface="+mn-lt"/>
                <a:ea typeface="+mn-ea"/>
                <a:cs typeface="+mn-cs"/>
              </a:rPr>
              <a:t>much</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effort</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is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left</a:t>
            </a:r>
            <a:r>
              <a:rPr lang="hr-HR" sz="1200" b="0" i="0" kern="1200" dirty="0">
                <a:solidFill>
                  <a:schemeClr val="tx1"/>
                </a:solidFill>
                <a:effectLst/>
                <a:latin typeface="+mn-lt"/>
                <a:ea typeface="+mn-ea"/>
                <a:cs typeface="+mn-cs"/>
              </a:rPr>
              <a:t> to </a:t>
            </a:r>
            <a:r>
              <a:rPr lang="hr-HR" sz="1200" b="0" i="0" kern="1200" dirty="0" err="1">
                <a:solidFill>
                  <a:schemeClr val="tx1"/>
                </a:solidFill>
                <a:effectLst/>
                <a:latin typeface="+mn-lt"/>
                <a:ea typeface="+mn-ea"/>
                <a:cs typeface="+mn-cs"/>
              </a:rPr>
              <a:t>finish</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the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job</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so</a:t>
            </a:r>
            <a:r>
              <a:rPr lang="hr-HR" sz="1200" b="0" i="0" kern="1200" dirty="0">
                <a:solidFill>
                  <a:schemeClr val="tx1"/>
                </a:solidFill>
                <a:effectLst/>
                <a:latin typeface="+mn-lt"/>
                <a:ea typeface="+mn-ea"/>
                <a:cs typeface="+mn-cs"/>
              </a:rPr>
              <a:t> I do </a:t>
            </a:r>
            <a:r>
              <a:rPr lang="hr-HR" sz="1200" b="0" i="0" kern="1200" dirty="0" err="1">
                <a:solidFill>
                  <a:schemeClr val="tx1"/>
                </a:solidFill>
                <a:effectLst/>
                <a:latin typeface="+mn-lt"/>
                <a:ea typeface="+mn-ea"/>
                <a:cs typeface="+mn-cs"/>
              </a:rPr>
              <a:t>not</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speed</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up</a:t>
            </a:r>
            <a:r>
              <a:rPr lang="hr-HR" sz="1200" b="0" i="0" kern="1200" dirty="0">
                <a:solidFill>
                  <a:schemeClr val="tx1"/>
                </a:solidFill>
                <a:effectLst/>
                <a:latin typeface="+mn-lt"/>
                <a:ea typeface="+mn-ea"/>
                <a:cs typeface="+mn-cs"/>
              </a:rPr>
              <a:t>') </a:t>
            </a:r>
          </a:p>
          <a:p>
            <a:br>
              <a:rPr lang="hr-HR" sz="1200" b="0" i="0" kern="1200" dirty="0">
                <a:solidFill>
                  <a:schemeClr val="tx1"/>
                </a:solidFill>
                <a:effectLst/>
                <a:latin typeface="+mn-lt"/>
                <a:ea typeface="+mn-ea"/>
                <a:cs typeface="+mn-cs"/>
              </a:rPr>
            </a:br>
            <a:endParaRPr lang="hr-HR" sz="1200" b="0" i="0" kern="1200" dirty="0">
              <a:solidFill>
                <a:schemeClr val="tx1"/>
              </a:solidFill>
              <a:effectLst/>
              <a:latin typeface="+mn-lt"/>
              <a:ea typeface="+mn-ea"/>
              <a:cs typeface="+mn-cs"/>
            </a:endParaRPr>
          </a:p>
          <a:p>
            <a:r>
              <a:rPr lang="hr-HR" sz="1200" b="0" i="0" kern="1200" dirty="0">
                <a:solidFill>
                  <a:schemeClr val="tx1"/>
                </a:solidFill>
                <a:effectLst/>
                <a:latin typeface="+mn-lt"/>
                <a:ea typeface="+mn-ea"/>
                <a:cs typeface="+mn-cs"/>
              </a:rPr>
              <a:t>Postoje li alternative nezanimljivim „ravnim” </a:t>
            </a:r>
            <a:r>
              <a:rPr lang="hr-HR" sz="1200" b="0" i="0" kern="1200" dirty="0" err="1">
                <a:solidFill>
                  <a:schemeClr val="tx1"/>
                </a:solidFill>
                <a:effectLst/>
                <a:latin typeface="+mn-lt"/>
                <a:ea typeface="+mn-ea"/>
                <a:cs typeface="+mn-cs"/>
              </a:rPr>
              <a:t>burndown</a:t>
            </a:r>
            <a:r>
              <a:rPr lang="hr-HR" sz="1200" b="0" i="0" kern="1200" dirty="0">
                <a:solidFill>
                  <a:schemeClr val="tx1"/>
                </a:solidFill>
                <a:effectLst/>
                <a:latin typeface="+mn-lt"/>
                <a:ea typeface="+mn-ea"/>
                <a:cs typeface="+mn-cs"/>
              </a:rPr>
              <a:t> grafikonima? Postoje — </a:t>
            </a:r>
            <a:r>
              <a:rPr lang="hr-HR" sz="1200" b="0" i="0" kern="1200" dirty="0" err="1">
                <a:solidFill>
                  <a:schemeClr val="tx1"/>
                </a:solidFill>
                <a:effectLst/>
                <a:latin typeface="+mn-lt"/>
                <a:ea typeface="+mn-ea"/>
                <a:cs typeface="+mn-cs"/>
              </a:rPr>
              <a:t>burnup</a:t>
            </a:r>
            <a:r>
              <a:rPr lang="hr-HR" sz="1200" b="0" i="0" kern="1200" dirty="0">
                <a:solidFill>
                  <a:schemeClr val="tx1"/>
                </a:solidFill>
                <a:effectLst/>
                <a:latin typeface="+mn-lt"/>
                <a:ea typeface="+mn-ea"/>
                <a:cs typeface="+mn-cs"/>
              </a:rPr>
              <a:t> grafikoni.</a:t>
            </a:r>
          </a:p>
          <a:p>
            <a:r>
              <a:rPr lang="hr-HR" sz="1200" b="0" i="0" kern="1200" dirty="0" err="1">
                <a:solidFill>
                  <a:schemeClr val="tx1"/>
                </a:solidFill>
                <a:effectLst/>
                <a:latin typeface="+mn-lt"/>
                <a:ea typeface="+mn-ea"/>
                <a:cs typeface="+mn-cs"/>
              </a:rPr>
              <a:t>Burnup</a:t>
            </a:r>
            <a:r>
              <a:rPr lang="hr-HR" sz="1200" b="0" i="0" kern="1200" dirty="0">
                <a:solidFill>
                  <a:schemeClr val="tx1"/>
                </a:solidFill>
                <a:effectLst/>
                <a:latin typeface="+mn-lt"/>
                <a:ea typeface="+mn-ea"/>
                <a:cs typeface="+mn-cs"/>
              </a:rPr>
              <a:t> grafikoni odgovaraju na suprotno pitanje: koliko je posla dovršeno?</a:t>
            </a:r>
            <a:br>
              <a:rPr lang="hr-HR" sz="1200" b="0" i="0" kern="1200" dirty="0">
                <a:solidFill>
                  <a:schemeClr val="tx1"/>
                </a:solidFill>
                <a:effectLst/>
                <a:latin typeface="+mn-lt"/>
                <a:ea typeface="+mn-ea"/>
                <a:cs typeface="+mn-cs"/>
              </a:rPr>
            </a:br>
            <a:r>
              <a:rPr lang="hr-HR" sz="1200" b="0" i="0" kern="1200" dirty="0">
                <a:solidFill>
                  <a:schemeClr val="tx1"/>
                </a:solidFill>
                <a:effectLst/>
                <a:latin typeface="+mn-lt"/>
                <a:ea typeface="+mn-ea"/>
                <a:cs typeface="+mn-cs"/>
              </a:rPr>
              <a:t>Dok bi </a:t>
            </a:r>
            <a:r>
              <a:rPr lang="hr-HR" sz="1200" b="0" i="0" kern="1200" dirty="0" err="1">
                <a:solidFill>
                  <a:schemeClr val="tx1"/>
                </a:solidFill>
                <a:effectLst/>
                <a:latin typeface="+mn-lt"/>
                <a:ea typeface="+mn-ea"/>
                <a:cs typeface="+mn-cs"/>
              </a:rPr>
              <a:t>burndown</a:t>
            </a:r>
            <a:r>
              <a:rPr lang="hr-HR" sz="1200" b="0" i="0" kern="1200" dirty="0">
                <a:solidFill>
                  <a:schemeClr val="tx1"/>
                </a:solidFill>
                <a:effectLst/>
                <a:latin typeface="+mn-lt"/>
                <a:ea typeface="+mn-ea"/>
                <a:cs typeface="+mn-cs"/>
              </a:rPr>
              <a:t> grafikon trebao stalno ići prema dolje, idealan </a:t>
            </a:r>
            <a:r>
              <a:rPr lang="hr-HR" sz="1200" b="0" i="0" kern="1200" dirty="0" err="1">
                <a:solidFill>
                  <a:schemeClr val="tx1"/>
                </a:solidFill>
                <a:effectLst/>
                <a:latin typeface="+mn-lt"/>
                <a:ea typeface="+mn-ea"/>
                <a:cs typeface="+mn-cs"/>
              </a:rPr>
              <a:t>burnup</a:t>
            </a:r>
            <a:r>
              <a:rPr lang="hr-HR" sz="1200" b="0" i="0" kern="1200" dirty="0">
                <a:solidFill>
                  <a:schemeClr val="tx1"/>
                </a:solidFill>
                <a:effectLst/>
                <a:latin typeface="+mn-lt"/>
                <a:ea typeface="+mn-ea"/>
                <a:cs typeface="+mn-cs"/>
              </a:rPr>
              <a:t> grafikon kreće se prema gore.</a:t>
            </a:r>
          </a:p>
          <a:p>
            <a:r>
              <a:rPr lang="hr-HR" sz="1200" b="0" i="0" kern="1200" dirty="0">
                <a:solidFill>
                  <a:schemeClr val="tx1"/>
                </a:solidFill>
                <a:effectLst/>
                <a:latin typeface="+mn-lt"/>
                <a:ea typeface="+mn-ea"/>
                <a:cs typeface="+mn-cs"/>
              </a:rPr>
              <a:t>No zašto ne volimo </a:t>
            </a:r>
            <a:r>
              <a:rPr lang="hr-HR" sz="1200" b="0" i="0" kern="1200" dirty="0" err="1">
                <a:solidFill>
                  <a:schemeClr val="tx1"/>
                </a:solidFill>
                <a:effectLst/>
                <a:latin typeface="+mn-lt"/>
                <a:ea typeface="+mn-ea"/>
                <a:cs typeface="+mn-cs"/>
              </a:rPr>
              <a:t>burnup</a:t>
            </a:r>
            <a:r>
              <a:rPr lang="hr-HR" sz="1200" b="0" i="0" kern="1200" dirty="0">
                <a:solidFill>
                  <a:schemeClr val="tx1"/>
                </a:solidFill>
                <a:effectLst/>
                <a:latin typeface="+mn-lt"/>
                <a:ea typeface="+mn-ea"/>
                <a:cs typeface="+mn-cs"/>
              </a:rPr>
              <a:t> grafikone?</a:t>
            </a:r>
          </a:p>
          <a:p>
            <a:r>
              <a:rPr lang="hr-HR" sz="1200" b="0" i="0" kern="1200" dirty="0">
                <a:solidFill>
                  <a:schemeClr val="tx1"/>
                </a:solidFill>
                <a:effectLst/>
                <a:latin typeface="+mn-lt"/>
                <a:ea typeface="+mn-ea"/>
                <a:cs typeface="+mn-cs"/>
              </a:rPr>
              <a:t>Nemaju </a:t>
            </a:r>
            <a:r>
              <a:rPr lang="hr-HR" sz="1200" b="0" i="0" kern="1200" dirty="0" err="1">
                <a:solidFill>
                  <a:schemeClr val="tx1"/>
                </a:solidFill>
                <a:effectLst/>
                <a:latin typeface="+mn-lt"/>
                <a:ea typeface="+mn-ea"/>
                <a:cs typeface="+mn-cs"/>
              </a:rPr>
              <a:t>prediktivnu</a:t>
            </a:r>
            <a:r>
              <a:rPr lang="hr-HR" sz="1200" b="0" i="0" kern="1200" dirty="0">
                <a:solidFill>
                  <a:schemeClr val="tx1"/>
                </a:solidFill>
                <a:effectLst/>
                <a:latin typeface="+mn-lt"/>
                <a:ea typeface="+mn-ea"/>
                <a:cs typeface="+mn-cs"/>
              </a:rPr>
              <a:t> vrijednost</a:t>
            </a:r>
          </a:p>
          <a:p>
            <a:r>
              <a:rPr lang="hr-HR" sz="1200" b="0" i="0" kern="1200" dirty="0">
                <a:solidFill>
                  <a:schemeClr val="tx1"/>
                </a:solidFill>
                <a:effectLst/>
                <a:latin typeface="+mn-lt"/>
                <a:ea typeface="+mn-ea"/>
                <a:cs typeface="+mn-cs"/>
              </a:rPr>
              <a:t>Ne potiču povećanje </a:t>
            </a:r>
            <a:r>
              <a:rPr lang="hr-HR" sz="1200" b="0" i="0" kern="1200" dirty="0" err="1">
                <a:solidFill>
                  <a:schemeClr val="tx1"/>
                </a:solidFill>
                <a:effectLst/>
                <a:latin typeface="+mn-lt"/>
                <a:ea typeface="+mn-ea"/>
                <a:cs typeface="+mn-cs"/>
              </a:rPr>
              <a:t>velocityja</a:t>
            </a:r>
            <a:r>
              <a:rPr lang="hr-HR" sz="1200" b="0" i="0" kern="1200" dirty="0">
                <a:solidFill>
                  <a:schemeClr val="tx1"/>
                </a:solidFill>
                <a:effectLst/>
                <a:latin typeface="+mn-lt"/>
                <a:ea typeface="+mn-ea"/>
                <a:cs typeface="+mn-cs"/>
              </a:rPr>
              <a:t> (ne znam koliko je još napora potrebno za dovršetak posla, pa se ne „ubrzavam”)</a:t>
            </a:r>
          </a:p>
          <a:p>
            <a:br>
              <a:rPr lang="hr-HR" sz="1200" b="0" i="0" kern="1200" dirty="0">
                <a:solidFill>
                  <a:schemeClr val="tx1"/>
                </a:solidFill>
                <a:effectLst/>
                <a:latin typeface="+mn-lt"/>
                <a:ea typeface="+mn-ea"/>
                <a:cs typeface="+mn-cs"/>
              </a:rPr>
            </a:br>
            <a:endParaRPr lang="hr-HR" sz="1200" b="0" i="0" kern="1200" dirty="0">
              <a:solidFill>
                <a:schemeClr val="tx1"/>
              </a:solidFill>
              <a:effectLst/>
              <a:latin typeface="+mn-lt"/>
              <a:ea typeface="+mn-ea"/>
              <a:cs typeface="+mn-cs"/>
            </a:endParaRPr>
          </a:p>
          <a:p>
            <a:r>
              <a:rPr lang="hr-HR" sz="1200" b="0" i="0" kern="1200" dirty="0">
                <a:solidFill>
                  <a:schemeClr val="tx1"/>
                </a:solidFill>
                <a:effectLst/>
                <a:latin typeface="+mn-lt"/>
                <a:ea typeface="+mn-ea"/>
                <a:cs typeface="+mn-cs"/>
              </a:rPr>
              <a:t>prevedi: Facilitator notes </a:t>
            </a:r>
            <a:r>
              <a:rPr lang="hr-HR" sz="1200" b="0" i="0" kern="1200" dirty="0" err="1">
                <a:solidFill>
                  <a:schemeClr val="tx1"/>
                </a:solidFill>
                <a:effectLst/>
                <a:latin typeface="+mn-lt"/>
                <a:ea typeface="+mn-ea"/>
                <a:cs typeface="+mn-cs"/>
              </a:rPr>
              <a:t>Explain</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burnup</a:t>
            </a:r>
            <a:r>
              <a:rPr lang="hr-HR" sz="1200" b="0" i="0" kern="1200" dirty="0">
                <a:solidFill>
                  <a:schemeClr val="tx1"/>
                </a:solidFill>
                <a:effectLst/>
                <a:latin typeface="+mn-lt"/>
                <a:ea typeface="+mn-ea"/>
                <a:cs typeface="+mn-cs"/>
              </a:rPr>
              <a:t> as </a:t>
            </a:r>
            <a:r>
              <a:rPr lang="hr-HR" sz="1200" b="0" i="0" kern="1200" dirty="0" err="1">
                <a:solidFill>
                  <a:schemeClr val="tx1"/>
                </a:solidFill>
                <a:effectLst/>
                <a:latin typeface="+mn-lt"/>
                <a:ea typeface="+mn-ea"/>
                <a:cs typeface="+mn-cs"/>
              </a:rPr>
              <a:t>the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mirror</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of</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burndown</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it</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shows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completed</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work</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and</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can</a:t>
            </a:r>
            <a:r>
              <a:rPr lang="hr-HR" sz="1200" b="0" i="0" kern="1200" dirty="0">
                <a:solidFill>
                  <a:schemeClr val="tx1"/>
                </a:solidFill>
                <a:effectLst/>
                <a:latin typeface="+mn-lt"/>
                <a:ea typeface="+mn-ea"/>
                <a:cs typeface="+mn-cs"/>
              </a:rPr>
              <a:t> make </a:t>
            </a:r>
            <a:r>
              <a:rPr lang="hr-HR" sz="1200" b="0" i="0" kern="1200" dirty="0" err="1">
                <a:solidFill>
                  <a:schemeClr val="tx1"/>
                </a:solidFill>
                <a:effectLst/>
                <a:latin typeface="+mn-lt"/>
                <a:ea typeface="+mn-ea"/>
                <a:cs typeface="+mn-cs"/>
              </a:rPr>
              <a:t>scope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changes</a:t>
            </a:r>
            <a:r>
              <a:rPr lang="hr-HR" sz="1200" b="0" i="0" kern="1200" dirty="0">
                <a:solidFill>
                  <a:schemeClr val="tx1"/>
                </a:solidFill>
                <a:effectLst/>
                <a:latin typeface="+mn-lt"/>
                <a:ea typeface="+mn-ea"/>
                <a:cs typeface="+mn-cs"/>
              </a:rPr>
              <a:t> more </a:t>
            </a:r>
            <a:r>
              <a:rPr lang="hr-HR" sz="1200" b="0" i="0" kern="1200" dirty="0" err="1">
                <a:solidFill>
                  <a:schemeClr val="tx1"/>
                </a:solidFill>
                <a:effectLst/>
                <a:latin typeface="+mn-lt"/>
                <a:ea typeface="+mn-ea"/>
                <a:cs typeface="+mn-cs"/>
              </a:rPr>
              <a:t>visible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Emphasize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Burnup</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rises</a:t>
            </a:r>
            <a:r>
              <a:rPr lang="hr-HR" sz="1200" b="0" i="0" kern="1200" dirty="0">
                <a:solidFill>
                  <a:schemeClr val="tx1"/>
                </a:solidFill>
                <a:effectLst/>
                <a:latin typeface="+mn-lt"/>
                <a:ea typeface="+mn-ea"/>
                <a:cs typeface="+mn-cs"/>
              </a:rPr>
              <a:t> as </a:t>
            </a:r>
            <a:r>
              <a:rPr lang="hr-HR" sz="1200" b="0" i="0" kern="1200" dirty="0" err="1">
                <a:solidFill>
                  <a:schemeClr val="tx1"/>
                </a:solidFill>
                <a:effectLst/>
                <a:latin typeface="+mn-lt"/>
                <a:ea typeface="+mn-ea"/>
                <a:cs typeface="+mn-cs"/>
              </a:rPr>
              <a:t>work</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is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completed</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When</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scope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changes</a:t>
            </a:r>
            <a:r>
              <a:rPr lang="hr-HR" sz="1200" b="0" i="0" kern="1200" dirty="0">
                <a:solidFill>
                  <a:schemeClr val="tx1"/>
                </a:solidFill>
                <a:effectLst/>
                <a:latin typeface="+mn-lt"/>
                <a:ea typeface="+mn-ea"/>
                <a:cs typeface="+mn-cs"/>
              </a:rPr>
              <a:t>, a </a:t>
            </a:r>
            <a:r>
              <a:rPr lang="hr-HR" sz="1200" b="0" i="0" kern="1200" dirty="0" err="1">
                <a:solidFill>
                  <a:schemeClr val="tx1"/>
                </a:solidFill>
                <a:effectLst/>
                <a:latin typeface="+mn-lt"/>
                <a:ea typeface="+mn-ea"/>
                <a:cs typeface="+mn-cs"/>
              </a:rPr>
              <a:t>second</a:t>
            </a:r>
            <a:r>
              <a:rPr lang="hr-HR" sz="1200" b="0" i="0" kern="1200" dirty="0">
                <a:solidFill>
                  <a:schemeClr val="tx1"/>
                </a:solidFill>
                <a:effectLst/>
                <a:latin typeface="+mn-lt"/>
                <a:ea typeface="+mn-ea"/>
                <a:cs typeface="+mn-cs"/>
              </a:rPr>
              <a:t> line (total </a:t>
            </a:r>
            <a:r>
              <a:rPr lang="hr-HR" sz="1200" b="0" i="0" kern="1200" dirty="0" err="1">
                <a:solidFill>
                  <a:schemeClr val="tx1"/>
                </a:solidFill>
                <a:effectLst/>
                <a:latin typeface="+mn-lt"/>
                <a:ea typeface="+mn-ea"/>
                <a:cs typeface="+mn-cs"/>
              </a:rPr>
              <a:t>scope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is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often</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used</a:t>
            </a:r>
            <a:r>
              <a:rPr lang="hr-HR" sz="1200" b="0" i="0" kern="1200" dirty="0">
                <a:solidFill>
                  <a:schemeClr val="tx1"/>
                </a:solidFill>
                <a:effectLst/>
                <a:latin typeface="+mn-lt"/>
                <a:ea typeface="+mn-ea"/>
                <a:cs typeface="+mn-cs"/>
              </a:rPr>
              <a:t> to show </a:t>
            </a:r>
            <a:r>
              <a:rPr lang="hr-HR" sz="1200" b="0" i="0" kern="1200" dirty="0" err="1">
                <a:solidFill>
                  <a:schemeClr val="tx1"/>
                </a:solidFill>
                <a:effectLst/>
                <a:latin typeface="+mn-lt"/>
                <a:ea typeface="+mn-ea"/>
                <a:cs typeface="+mn-cs"/>
              </a:rPr>
              <a:t>the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moving</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target</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If</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the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slide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critiques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predictive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utility</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discuss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when</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burnup</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is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still</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useful</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communicating</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progress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and</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making</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scope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creep</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explicit</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Additional</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resources</a:t>
            </a:r>
            <a:r>
              <a:rPr lang="hr-HR" sz="1200" b="0" i="0" kern="1200" dirty="0">
                <a:solidFill>
                  <a:schemeClr val="tx1"/>
                </a:solidFill>
                <a:effectLst/>
                <a:latin typeface="+mn-lt"/>
                <a:ea typeface="+mn-ea"/>
                <a:cs typeface="+mn-cs"/>
              </a:rPr>
              <a:t> https://www.projectmanagement.com/blog-post/40731/burndown-vs-burnup-chart#_ https://clickup.com/blog/burnup-chart-vs-burndown-chart/?utm_source=google&amp;utm_medium=cpc&amp;utm_campaign=gs_cpc_emea-eea_nnc_nb_trial_all-devices_troas_lp_x_all-departments_x_project-management-agile_v2&amp;utm_content=all-countries_kw-target_text_x_all-features_all-use-cases_agile-software-development&amp;utm_term=agile%20development&amp;utm_creative=757775424637_product1_rsa&amp;utm_custom1=&amp;utm_custom2=&amp;utm_lptheme=&amp;utm_lpmod=&amp;utm_mt=p&amp;gad_source=1&amp;gad_campaignid=22660917507&amp;gbraid=0AAAAACR5vILcJmFtajy_tDrQkdY-jnze3&amp;gclid=Cj0KCQiA49XMBhDRARIsAOOKJHYf8efy6kK5kRGrewpvG4A-izeihBH4XfAiEUSpllUWrPGbdXhqnXgaAusREALw_wcB </a:t>
            </a:r>
          </a:p>
          <a:p>
            <a:br>
              <a:rPr lang="hr-HR" sz="1200" b="0" i="0" kern="1200" dirty="0">
                <a:solidFill>
                  <a:schemeClr val="tx1"/>
                </a:solidFill>
                <a:effectLst/>
                <a:latin typeface="+mn-lt"/>
                <a:ea typeface="+mn-ea"/>
                <a:cs typeface="+mn-cs"/>
              </a:rPr>
            </a:br>
            <a:endParaRPr lang="hr-HR" sz="1200" b="0" i="0" kern="1200" dirty="0">
              <a:solidFill>
                <a:schemeClr val="tx1"/>
              </a:solidFill>
              <a:effectLst/>
              <a:latin typeface="+mn-lt"/>
              <a:ea typeface="+mn-ea"/>
              <a:cs typeface="+mn-cs"/>
            </a:endParaRPr>
          </a:p>
          <a:p>
            <a:r>
              <a:rPr lang="hr-HR" sz="1200" b="0" i="0" kern="1200" dirty="0">
                <a:solidFill>
                  <a:schemeClr val="tx1"/>
                </a:solidFill>
                <a:effectLst/>
                <a:latin typeface="+mn-lt"/>
                <a:ea typeface="+mn-ea"/>
                <a:cs typeface="+mn-cs"/>
              </a:rPr>
              <a:t>Napomene za facilitatora</a:t>
            </a:r>
          </a:p>
          <a:p>
            <a:r>
              <a:rPr lang="hr-HR" sz="1200" b="0" i="0" kern="1200" dirty="0">
                <a:solidFill>
                  <a:schemeClr val="tx1"/>
                </a:solidFill>
                <a:effectLst/>
                <a:latin typeface="+mn-lt"/>
                <a:ea typeface="+mn-ea"/>
                <a:cs typeface="+mn-cs"/>
              </a:rPr>
              <a:t>Objasnite </a:t>
            </a:r>
            <a:r>
              <a:rPr lang="hr-HR" sz="1200" b="0" i="0" kern="1200" dirty="0" err="1">
                <a:solidFill>
                  <a:schemeClr val="tx1"/>
                </a:solidFill>
                <a:effectLst/>
                <a:latin typeface="+mn-lt"/>
                <a:ea typeface="+mn-ea"/>
                <a:cs typeface="+mn-cs"/>
              </a:rPr>
              <a:t>burnup</a:t>
            </a:r>
            <a:r>
              <a:rPr lang="hr-HR" sz="1200" b="0" i="0" kern="1200" dirty="0">
                <a:solidFill>
                  <a:schemeClr val="tx1"/>
                </a:solidFill>
                <a:effectLst/>
                <a:latin typeface="+mn-lt"/>
                <a:ea typeface="+mn-ea"/>
                <a:cs typeface="+mn-cs"/>
              </a:rPr>
              <a:t> grafikon kao „zrcalnu sliku” </a:t>
            </a:r>
            <a:r>
              <a:rPr lang="hr-HR" sz="1200" b="0" i="0" kern="1200" dirty="0" err="1">
                <a:solidFill>
                  <a:schemeClr val="tx1"/>
                </a:solidFill>
                <a:effectLst/>
                <a:latin typeface="+mn-lt"/>
                <a:ea typeface="+mn-ea"/>
                <a:cs typeface="+mn-cs"/>
              </a:rPr>
              <a:t>burndowna</a:t>
            </a:r>
            <a:r>
              <a:rPr lang="hr-HR" sz="1200" b="0" i="0" kern="1200" dirty="0">
                <a:solidFill>
                  <a:schemeClr val="tx1"/>
                </a:solidFill>
                <a:effectLst/>
                <a:latin typeface="+mn-lt"/>
                <a:ea typeface="+mn-ea"/>
                <a:cs typeface="+mn-cs"/>
              </a:rPr>
              <a:t>: prikazuje dovršeni rad i može jasnije prikazati promjene u opsegu.</a:t>
            </a:r>
          </a:p>
          <a:p>
            <a:r>
              <a:rPr lang="hr-HR" sz="1200" b="0" i="0" kern="1200" dirty="0">
                <a:solidFill>
                  <a:schemeClr val="tx1"/>
                </a:solidFill>
                <a:effectLst/>
                <a:latin typeface="+mn-lt"/>
                <a:ea typeface="+mn-ea"/>
                <a:cs typeface="+mn-cs"/>
              </a:rPr>
              <a:t>Naglasite:</a:t>
            </a:r>
          </a:p>
          <a:p>
            <a:r>
              <a:rPr lang="hr-HR" sz="1200" b="0" i="0" kern="1200" dirty="0" err="1">
                <a:solidFill>
                  <a:schemeClr val="tx1"/>
                </a:solidFill>
                <a:effectLst/>
                <a:latin typeface="+mn-lt"/>
                <a:ea typeface="+mn-ea"/>
                <a:cs typeface="+mn-cs"/>
              </a:rPr>
              <a:t>Burnup</a:t>
            </a:r>
            <a:r>
              <a:rPr lang="hr-HR" sz="1200" b="0" i="0" kern="1200" dirty="0">
                <a:solidFill>
                  <a:schemeClr val="tx1"/>
                </a:solidFill>
                <a:effectLst/>
                <a:latin typeface="+mn-lt"/>
                <a:ea typeface="+mn-ea"/>
                <a:cs typeface="+mn-cs"/>
              </a:rPr>
              <a:t> raste kako se posao dovršava.</a:t>
            </a:r>
          </a:p>
          <a:p>
            <a:r>
              <a:rPr lang="hr-HR" sz="1200" b="0" i="0" kern="1200" dirty="0">
                <a:solidFill>
                  <a:schemeClr val="tx1"/>
                </a:solidFill>
                <a:effectLst/>
                <a:latin typeface="+mn-lt"/>
                <a:ea typeface="+mn-ea"/>
                <a:cs typeface="+mn-cs"/>
              </a:rPr>
              <a:t>Kada se opseg mijenja, često se koristi druga linija (ukupni opseg) kako bi se prikazao pomični cilj.</a:t>
            </a:r>
          </a:p>
          <a:p>
            <a:r>
              <a:rPr lang="hr-HR" sz="1200" b="0" i="0" kern="1200" dirty="0">
                <a:solidFill>
                  <a:schemeClr val="tx1"/>
                </a:solidFill>
                <a:effectLst/>
                <a:latin typeface="+mn-lt"/>
                <a:ea typeface="+mn-ea"/>
                <a:cs typeface="+mn-cs"/>
              </a:rPr>
              <a:t>Ako slajd propituje </a:t>
            </a:r>
            <a:r>
              <a:rPr lang="hr-HR" sz="1200" b="0" i="0" kern="1200" dirty="0" err="1">
                <a:solidFill>
                  <a:schemeClr val="tx1"/>
                </a:solidFill>
                <a:effectLst/>
                <a:latin typeface="+mn-lt"/>
                <a:ea typeface="+mn-ea"/>
                <a:cs typeface="+mn-cs"/>
              </a:rPr>
              <a:t>prediktivnu</a:t>
            </a:r>
            <a:r>
              <a:rPr lang="hr-HR" sz="1200" b="0" i="0" kern="1200" dirty="0">
                <a:solidFill>
                  <a:schemeClr val="tx1"/>
                </a:solidFill>
                <a:effectLst/>
                <a:latin typeface="+mn-lt"/>
                <a:ea typeface="+mn-ea"/>
                <a:cs typeface="+mn-cs"/>
              </a:rPr>
              <a:t> vrijednost, raspravite u kojim je situacijama </a:t>
            </a:r>
            <a:r>
              <a:rPr lang="hr-HR" sz="1200" b="0" i="0" kern="1200" dirty="0" err="1">
                <a:solidFill>
                  <a:schemeClr val="tx1"/>
                </a:solidFill>
                <a:effectLst/>
                <a:latin typeface="+mn-lt"/>
                <a:ea typeface="+mn-ea"/>
                <a:cs typeface="+mn-cs"/>
              </a:rPr>
              <a:t>burnup</a:t>
            </a:r>
            <a:r>
              <a:rPr lang="hr-HR" sz="1200" b="0" i="0" kern="1200" dirty="0">
                <a:solidFill>
                  <a:schemeClr val="tx1"/>
                </a:solidFill>
                <a:effectLst/>
                <a:latin typeface="+mn-lt"/>
                <a:ea typeface="+mn-ea"/>
                <a:cs typeface="+mn-cs"/>
              </a:rPr>
              <a:t> ipak koristan: za komunikaciju napretka i jasno prikazivanje širenja opsega (</a:t>
            </a:r>
            <a:r>
              <a:rPr lang="hr-HR" sz="1200" b="0" i="0" kern="1200" dirty="0" err="1">
                <a:solidFill>
                  <a:schemeClr val="tx1"/>
                </a:solidFill>
                <a:effectLst/>
                <a:latin typeface="+mn-lt"/>
                <a:ea typeface="+mn-ea"/>
                <a:cs typeface="+mn-cs"/>
              </a:rPr>
              <a:t>scope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creep</a:t>
            </a:r>
            <a:r>
              <a:rPr lang="hr-HR" sz="1200" b="0" i="0" kern="1200" dirty="0">
                <a:solidFill>
                  <a:schemeClr val="tx1"/>
                </a:solidFill>
                <a:effectLst/>
                <a:latin typeface="+mn-lt"/>
                <a:ea typeface="+mn-ea"/>
                <a:cs typeface="+mn-cs"/>
              </a:rPr>
              <a:t>).</a:t>
            </a:r>
          </a:p>
          <a:p>
            <a:r>
              <a:rPr lang="hr-HR" sz="1200" b="0" i="0" kern="1200" dirty="0">
                <a:solidFill>
                  <a:schemeClr val="tx1"/>
                </a:solidFill>
                <a:effectLst/>
                <a:latin typeface="+mn-lt"/>
                <a:ea typeface="+mn-ea"/>
                <a:cs typeface="+mn-cs"/>
              </a:rPr>
              <a:t>Dodatni resursi:</a:t>
            </a:r>
            <a:br>
              <a:rPr lang="hr-HR" sz="1200" b="0" i="0" kern="1200" dirty="0">
                <a:solidFill>
                  <a:schemeClr val="tx1"/>
                </a:solidFill>
                <a:effectLst/>
                <a:latin typeface="+mn-lt"/>
                <a:ea typeface="+mn-ea"/>
                <a:cs typeface="+mn-cs"/>
              </a:rPr>
            </a:br>
            <a:r>
              <a:rPr lang="hr-HR" sz="1200" b="0" i="0" kern="1200" dirty="0">
                <a:solidFill>
                  <a:schemeClr val="tx1"/>
                </a:solidFill>
                <a:effectLst/>
                <a:latin typeface="+mn-lt"/>
                <a:ea typeface="+mn-ea"/>
                <a:cs typeface="+mn-cs"/>
                <a:hlinkClick r:id="rId10"/>
              </a:rPr>
              <a:t>https://www.projectmanagement.com/blog-post/40731/burndown-vs-burnup-chart#</a:t>
            </a:r>
            <a:r>
              <a:rPr lang="hr-HR" sz="1200" b="0" i="0" kern="1200" dirty="0">
                <a:solidFill>
                  <a:schemeClr val="tx1"/>
                </a:solidFill>
                <a:effectLst/>
                <a:latin typeface="+mn-lt"/>
                <a:ea typeface="+mn-ea"/>
                <a:cs typeface="+mn-cs"/>
              </a:rPr>
              <a:t>_</a:t>
            </a:r>
            <a:br>
              <a:rPr lang="hr-HR" sz="1200" b="0" i="0" kern="1200" dirty="0">
                <a:solidFill>
                  <a:schemeClr val="tx1"/>
                </a:solidFill>
                <a:effectLst/>
                <a:latin typeface="+mn-lt"/>
                <a:ea typeface="+mn-ea"/>
                <a:cs typeface="+mn-cs"/>
              </a:rPr>
            </a:br>
            <a:r>
              <a:rPr lang="hr-HR" sz="1200" b="0" i="0" kern="1200" dirty="0">
                <a:solidFill>
                  <a:schemeClr val="tx1"/>
                </a:solidFill>
                <a:effectLst/>
                <a:latin typeface="+mn-lt"/>
                <a:ea typeface="+mn-ea"/>
                <a:cs typeface="+mn-cs"/>
                <a:hlinkClick r:id="rId11"/>
              </a:rPr>
              <a:t>https://clickup.com/blog/burnup-chart-vs-burndown-chart/?utm_source=google&amp;utm_medium=cpc&amp;utm_campaign=gs_cpc_emea-eea_nnc_nb_trial_all-devices_troas_lp_x_all-departments_x_project-management-agile_v2&amp;utm_content=all-countries_kw-target_text_x_all-features_all-use-cases_agile-software-development&amp;utm_term=agile%20development&amp;utm_creative=757775424637_product1_rsa&amp;utm_custom1=&amp;utm_custom2=&amp;utm_lptheme=&amp;utm_lpmod=&amp;utm_mt=p&amp;gad_source=1&amp;gad_campaignid=22660917507&amp;gbraid=0AAAAACR5vILcJmFtajy_tDrQkdY-jnze3&amp;gclid=Cj0KCQiA49XMBhDRARIsAOOKJHYf8efy6kK5kRGrewpvG4A-izeihBH4XfAiEUSpllUWrPGbdXhqnXgaAusREALw_wcB</a:t>
            </a:r>
            <a:endParaRPr lang="hr-HR" sz="1200" b="0" i="0" kern="1200" dirty="0">
              <a:solidFill>
                <a:schemeClr val="tx1"/>
              </a:solidFill>
              <a:effectLst/>
              <a:latin typeface="+mn-lt"/>
              <a:ea typeface="+mn-ea"/>
              <a:cs typeface="+mn-cs"/>
            </a:endParaRPr>
          </a:p>
          <a:p>
            <a:br>
              <a:rPr lang="hr-HR" sz="1200" b="0" i="0" kern="1200" dirty="0">
                <a:solidFill>
                  <a:schemeClr val="tx1"/>
                </a:solidFill>
                <a:effectLst/>
                <a:latin typeface="+mn-lt"/>
                <a:ea typeface="+mn-ea"/>
                <a:cs typeface="+mn-cs"/>
              </a:rPr>
            </a:br>
            <a:endParaRPr lang="hr-HR" sz="1200" b="0" i="0" kern="1200" dirty="0">
              <a:solidFill>
                <a:schemeClr val="tx1"/>
              </a:solidFill>
              <a:effectLst/>
              <a:latin typeface="+mn-lt"/>
              <a:ea typeface="+mn-ea"/>
              <a:cs typeface="+mn-cs"/>
            </a:endParaRPr>
          </a:p>
          <a:p>
            <a:r>
              <a:rPr lang="hr-HR" sz="1200" b="0" i="0" kern="1200" dirty="0">
                <a:solidFill>
                  <a:schemeClr val="tx1"/>
                </a:solidFill>
                <a:effectLst/>
                <a:latin typeface="+mn-lt"/>
                <a:ea typeface="+mn-ea"/>
                <a:cs typeface="+mn-cs"/>
              </a:rPr>
              <a:t>prevedi: </a:t>
            </a:r>
            <a:r>
              <a:rPr lang="hr-HR" sz="1200" b="0" i="0" kern="1200" dirty="0" err="1">
                <a:solidFill>
                  <a:schemeClr val="tx1"/>
                </a:solidFill>
                <a:effectLst/>
                <a:latin typeface="+mn-lt"/>
                <a:ea typeface="+mn-ea"/>
                <a:cs typeface="+mn-cs"/>
              </a:rPr>
              <a:t>Advantages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Exceeds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the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limits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of</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Burndown</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and</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Burnup</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Adds</a:t>
            </a:r>
            <a:r>
              <a:rPr lang="hr-HR" sz="1200" b="0" i="0" kern="1200" dirty="0">
                <a:solidFill>
                  <a:schemeClr val="tx1"/>
                </a:solidFill>
                <a:effectLst/>
                <a:latin typeface="+mn-lt"/>
                <a:ea typeface="+mn-ea"/>
                <a:cs typeface="+mn-cs"/>
              </a:rPr>
              <a:t> some extra data </a:t>
            </a:r>
            <a:r>
              <a:rPr lang="hr-HR" sz="1200" b="0" i="0" kern="1200" dirty="0" err="1">
                <a:solidFill>
                  <a:schemeClr val="tx1"/>
                </a:solidFill>
                <a:effectLst/>
                <a:latin typeface="+mn-lt"/>
                <a:ea typeface="+mn-ea"/>
                <a:cs typeface="+mn-cs"/>
              </a:rPr>
              <a:t>Displays</a:t>
            </a:r>
            <a:r>
              <a:rPr lang="hr-HR" sz="1200" b="0" i="0" kern="1200" dirty="0">
                <a:solidFill>
                  <a:schemeClr val="tx1"/>
                </a:solidFill>
                <a:effectLst/>
                <a:latin typeface="+mn-lt"/>
                <a:ea typeface="+mn-ea"/>
                <a:cs typeface="+mn-cs"/>
              </a:rPr>
              <a:t> data </a:t>
            </a:r>
            <a:r>
              <a:rPr lang="hr-HR" sz="1200" b="0" i="0" kern="1200" dirty="0" err="1">
                <a:solidFill>
                  <a:schemeClr val="tx1"/>
                </a:solidFill>
                <a:effectLst/>
                <a:latin typeface="+mn-lt"/>
                <a:ea typeface="+mn-ea"/>
                <a:cs typeface="+mn-cs"/>
              </a:rPr>
              <a:t>in</a:t>
            </a:r>
            <a:r>
              <a:rPr lang="hr-HR" sz="1200" b="0" i="0" kern="1200" dirty="0">
                <a:solidFill>
                  <a:schemeClr val="tx1"/>
                </a:solidFill>
                <a:effectLst/>
                <a:latin typeface="+mn-lt"/>
                <a:ea typeface="+mn-ea"/>
                <a:cs typeface="+mn-cs"/>
              </a:rPr>
              <a:t> a </a:t>
            </a:r>
            <a:r>
              <a:rPr lang="hr-HR" sz="1200" b="0" i="0" kern="1200" dirty="0" err="1">
                <a:solidFill>
                  <a:schemeClr val="tx1"/>
                </a:solidFill>
                <a:effectLst/>
                <a:latin typeface="+mn-lt"/>
                <a:ea typeface="+mn-ea"/>
                <a:cs typeface="+mn-cs"/>
              </a:rPr>
              <a:t>better</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way</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Promotes</a:t>
            </a:r>
            <a:r>
              <a:rPr lang="hr-HR" sz="1200" b="0" i="0" kern="1200" dirty="0">
                <a:solidFill>
                  <a:schemeClr val="tx1"/>
                </a:solidFill>
                <a:effectLst/>
                <a:latin typeface="+mn-lt"/>
                <a:ea typeface="+mn-ea"/>
                <a:cs typeface="+mn-cs"/>
              </a:rPr>
              <a:t> more </a:t>
            </a:r>
            <a:r>
              <a:rPr lang="hr-HR" sz="1200" b="0" i="0" kern="1200" dirty="0" err="1">
                <a:solidFill>
                  <a:schemeClr val="tx1"/>
                </a:solidFill>
                <a:effectLst/>
                <a:latin typeface="+mn-lt"/>
                <a:ea typeface="+mn-ea"/>
                <a:cs typeface="+mn-cs"/>
              </a:rPr>
              <a:t>robust</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decision-making</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processes</a:t>
            </a:r>
            <a:r>
              <a:rPr lang="hr-HR" sz="1200" b="0" i="0" kern="1200" dirty="0">
                <a:solidFill>
                  <a:schemeClr val="tx1"/>
                </a:solidFill>
                <a:effectLst/>
                <a:latin typeface="+mn-lt"/>
                <a:ea typeface="+mn-ea"/>
                <a:cs typeface="+mn-cs"/>
              </a:rPr>
              <a:t> </a:t>
            </a:r>
          </a:p>
          <a:p>
            <a:br>
              <a:rPr lang="hr-HR" sz="1200" b="0" i="0" kern="1200" dirty="0">
                <a:solidFill>
                  <a:schemeClr val="tx1"/>
                </a:solidFill>
                <a:effectLst/>
                <a:latin typeface="+mn-lt"/>
                <a:ea typeface="+mn-ea"/>
                <a:cs typeface="+mn-cs"/>
              </a:rPr>
            </a:br>
            <a:endParaRPr lang="hr-HR" sz="1200" b="0" i="0" kern="1200" dirty="0">
              <a:solidFill>
                <a:schemeClr val="tx1"/>
              </a:solidFill>
              <a:effectLst/>
              <a:latin typeface="+mn-lt"/>
              <a:ea typeface="+mn-ea"/>
              <a:cs typeface="+mn-cs"/>
            </a:endParaRPr>
          </a:p>
          <a:p>
            <a:r>
              <a:rPr lang="hr-HR" sz="1200" b="0" i="0" kern="1200" dirty="0">
                <a:solidFill>
                  <a:schemeClr val="tx1"/>
                </a:solidFill>
                <a:effectLst/>
                <a:latin typeface="+mn-lt"/>
                <a:ea typeface="+mn-ea"/>
                <a:cs typeface="+mn-cs"/>
              </a:rPr>
              <a:t>Prednosti:</a:t>
            </a:r>
          </a:p>
          <a:p>
            <a:r>
              <a:rPr lang="hr-HR" sz="1200" b="0" i="0" kern="1200" dirty="0">
                <a:solidFill>
                  <a:schemeClr val="tx1"/>
                </a:solidFill>
                <a:effectLst/>
                <a:latin typeface="+mn-lt"/>
                <a:ea typeface="+mn-ea"/>
                <a:cs typeface="+mn-cs"/>
              </a:rPr>
              <a:t>Nadilazi ograničenja </a:t>
            </a:r>
            <a:r>
              <a:rPr lang="hr-HR" sz="1200" b="0" i="0" kern="1200" dirty="0" err="1">
                <a:solidFill>
                  <a:schemeClr val="tx1"/>
                </a:solidFill>
                <a:effectLst/>
                <a:latin typeface="+mn-lt"/>
                <a:ea typeface="+mn-ea"/>
                <a:cs typeface="+mn-cs"/>
              </a:rPr>
              <a:t>burndown</a:t>
            </a:r>
            <a:r>
              <a:rPr lang="hr-HR" sz="1200" b="0" i="0" kern="1200" dirty="0">
                <a:solidFill>
                  <a:schemeClr val="tx1"/>
                </a:solidFill>
                <a:effectLst/>
                <a:latin typeface="+mn-lt"/>
                <a:ea typeface="+mn-ea"/>
                <a:cs typeface="+mn-cs"/>
              </a:rPr>
              <a:t> i </a:t>
            </a:r>
            <a:r>
              <a:rPr lang="hr-HR" sz="1200" b="0" i="0" kern="1200" dirty="0" err="1">
                <a:solidFill>
                  <a:schemeClr val="tx1"/>
                </a:solidFill>
                <a:effectLst/>
                <a:latin typeface="+mn-lt"/>
                <a:ea typeface="+mn-ea"/>
                <a:cs typeface="+mn-cs"/>
              </a:rPr>
              <a:t>burnup</a:t>
            </a:r>
            <a:r>
              <a:rPr lang="hr-HR" sz="1200" b="0" i="0" kern="1200" dirty="0">
                <a:solidFill>
                  <a:schemeClr val="tx1"/>
                </a:solidFill>
                <a:effectLst/>
                <a:latin typeface="+mn-lt"/>
                <a:ea typeface="+mn-ea"/>
                <a:cs typeface="+mn-cs"/>
              </a:rPr>
              <a:t> grafikona</a:t>
            </a:r>
          </a:p>
          <a:p>
            <a:r>
              <a:rPr lang="hr-HR" sz="1200" b="0" i="0" kern="1200" dirty="0">
                <a:solidFill>
                  <a:schemeClr val="tx1"/>
                </a:solidFill>
                <a:effectLst/>
                <a:latin typeface="+mn-lt"/>
                <a:ea typeface="+mn-ea"/>
                <a:cs typeface="+mn-cs"/>
              </a:rPr>
              <a:t>Dodaje dodatne podatke</a:t>
            </a:r>
          </a:p>
          <a:p>
            <a:r>
              <a:rPr lang="hr-HR" sz="1200" b="0" i="0" kern="1200" dirty="0">
                <a:solidFill>
                  <a:schemeClr val="tx1"/>
                </a:solidFill>
                <a:effectLst/>
                <a:latin typeface="+mn-lt"/>
                <a:ea typeface="+mn-ea"/>
                <a:cs typeface="+mn-cs"/>
              </a:rPr>
              <a:t>Prikazuje podatke na bolji način</a:t>
            </a:r>
          </a:p>
          <a:p>
            <a:r>
              <a:rPr lang="hr-HR" sz="1200" b="0" i="0" kern="1200" dirty="0">
                <a:solidFill>
                  <a:schemeClr val="tx1"/>
                </a:solidFill>
                <a:effectLst/>
                <a:latin typeface="+mn-lt"/>
                <a:ea typeface="+mn-ea"/>
                <a:cs typeface="+mn-cs"/>
              </a:rPr>
              <a:t>Potiče donošenje kvalitetnijih odluka</a:t>
            </a:r>
          </a:p>
          <a:p>
            <a:br>
              <a:rPr lang="hr-HR" sz="1200" b="0" i="0" kern="1200" dirty="0">
                <a:solidFill>
                  <a:schemeClr val="tx1"/>
                </a:solidFill>
                <a:effectLst/>
                <a:latin typeface="+mn-lt"/>
                <a:ea typeface="+mn-ea"/>
                <a:cs typeface="+mn-cs"/>
              </a:rPr>
            </a:br>
            <a:endParaRPr lang="hr-HR" sz="1200" b="0" i="0" kern="1200" dirty="0">
              <a:solidFill>
                <a:schemeClr val="tx1"/>
              </a:solidFill>
              <a:effectLst/>
              <a:latin typeface="+mn-lt"/>
              <a:ea typeface="+mn-ea"/>
              <a:cs typeface="+mn-cs"/>
            </a:endParaRPr>
          </a:p>
          <a:p>
            <a:r>
              <a:rPr lang="hr-HR" sz="1200" b="0" i="0" kern="1200" dirty="0">
                <a:solidFill>
                  <a:schemeClr val="tx1"/>
                </a:solidFill>
                <a:effectLst/>
                <a:latin typeface="+mn-lt"/>
                <a:ea typeface="+mn-ea"/>
                <a:cs typeface="+mn-cs"/>
              </a:rPr>
              <a:t>prevedi: Facilitator notes </a:t>
            </a:r>
            <a:r>
              <a:rPr lang="hr-HR" sz="1200" b="0" i="0" kern="1200" dirty="0" err="1">
                <a:solidFill>
                  <a:schemeClr val="tx1"/>
                </a:solidFill>
                <a:effectLst/>
                <a:latin typeface="+mn-lt"/>
                <a:ea typeface="+mn-ea"/>
                <a:cs typeface="+mn-cs"/>
              </a:rPr>
              <a:t>Teach</a:t>
            </a:r>
            <a:r>
              <a:rPr lang="hr-HR" sz="1200" b="0" i="0" kern="1200" dirty="0">
                <a:solidFill>
                  <a:schemeClr val="tx1"/>
                </a:solidFill>
                <a:effectLst/>
                <a:latin typeface="+mn-lt"/>
                <a:ea typeface="+mn-ea"/>
                <a:cs typeface="+mn-cs"/>
              </a:rPr>
              <a:t> CFD as a </a:t>
            </a:r>
            <a:r>
              <a:rPr lang="hr-HR" sz="1200" b="0" i="0" kern="1200" dirty="0" err="1">
                <a:solidFill>
                  <a:schemeClr val="tx1"/>
                </a:solidFill>
                <a:effectLst/>
                <a:latin typeface="+mn-lt"/>
                <a:ea typeface="+mn-ea"/>
                <a:cs typeface="+mn-cs"/>
              </a:rPr>
              <a:t>flow</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diagnostic</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tool</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it</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shows</a:t>
            </a:r>
            <a:r>
              <a:rPr lang="hr-HR" sz="1200" b="0" i="0" kern="1200" dirty="0">
                <a:solidFill>
                  <a:schemeClr val="tx1"/>
                </a:solidFill>
                <a:effectLst/>
                <a:latin typeface="+mn-lt"/>
                <a:ea typeface="+mn-ea"/>
                <a:cs typeface="+mn-cs"/>
              </a:rPr>
              <a:t> how </a:t>
            </a:r>
            <a:r>
              <a:rPr lang="hr-HR" sz="1200" b="0" i="0" kern="1200" dirty="0" err="1">
                <a:solidFill>
                  <a:schemeClr val="tx1"/>
                </a:solidFill>
                <a:effectLst/>
                <a:latin typeface="+mn-lt"/>
                <a:ea typeface="+mn-ea"/>
                <a:cs typeface="+mn-cs"/>
              </a:rPr>
              <a:t>work</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accumulates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in</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each</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state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over</a:t>
            </a:r>
            <a:r>
              <a:rPr lang="hr-HR" sz="1200" b="0" i="0" kern="1200" dirty="0">
                <a:solidFill>
                  <a:schemeClr val="tx1"/>
                </a:solidFill>
                <a:effectLst/>
                <a:latin typeface="+mn-lt"/>
                <a:ea typeface="+mn-ea"/>
                <a:cs typeface="+mn-cs"/>
              </a:rPr>
              <a:t> time. </a:t>
            </a:r>
            <a:r>
              <a:rPr lang="hr-HR" sz="1200" b="0" i="0" kern="1200" dirty="0" err="1">
                <a:solidFill>
                  <a:schemeClr val="tx1"/>
                </a:solidFill>
                <a:effectLst/>
                <a:latin typeface="+mn-lt"/>
                <a:ea typeface="+mn-ea"/>
                <a:cs typeface="+mn-cs"/>
              </a:rPr>
              <a:t>Key</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messages</a:t>
            </a:r>
            <a:r>
              <a:rPr lang="hr-HR" sz="1200" b="0" i="0" kern="1200" dirty="0">
                <a:solidFill>
                  <a:schemeClr val="tx1"/>
                </a:solidFill>
                <a:effectLst/>
                <a:latin typeface="+mn-lt"/>
                <a:ea typeface="+mn-ea"/>
                <a:cs typeface="+mn-cs"/>
              </a:rPr>
              <a:t> to </a:t>
            </a:r>
            <a:r>
              <a:rPr lang="hr-HR" sz="1200" b="0" i="0" kern="1200" dirty="0" err="1">
                <a:solidFill>
                  <a:schemeClr val="tx1"/>
                </a:solidFill>
                <a:effectLst/>
                <a:latin typeface="+mn-lt"/>
                <a:ea typeface="+mn-ea"/>
                <a:cs typeface="+mn-cs"/>
              </a:rPr>
              <a:t>emphasize</a:t>
            </a:r>
            <a:r>
              <a:rPr lang="hr-HR" sz="1200" b="0" i="0" kern="1200" dirty="0">
                <a:solidFill>
                  <a:schemeClr val="tx1"/>
                </a:solidFill>
                <a:effectLst/>
                <a:latin typeface="+mn-lt"/>
                <a:ea typeface="+mn-ea"/>
                <a:cs typeface="+mn-cs"/>
              </a:rPr>
              <a:t>: CFD </a:t>
            </a:r>
            <a:r>
              <a:rPr lang="hr-HR" sz="1200" b="0" i="0" kern="1200" dirty="0" err="1">
                <a:solidFill>
                  <a:schemeClr val="tx1"/>
                </a:solidFill>
                <a:effectLst/>
                <a:latin typeface="+mn-lt"/>
                <a:ea typeface="+mn-ea"/>
                <a:cs typeface="+mn-cs"/>
              </a:rPr>
              <a:t>helps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see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bottlenecks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earlier</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than</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burndown</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It</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supports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robust</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decisions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where</a:t>
            </a:r>
            <a:r>
              <a:rPr lang="hr-HR" sz="1200" b="0" i="0" kern="1200" dirty="0">
                <a:solidFill>
                  <a:schemeClr val="tx1"/>
                </a:solidFill>
                <a:effectLst/>
                <a:latin typeface="+mn-lt"/>
                <a:ea typeface="+mn-ea"/>
                <a:cs typeface="+mn-cs"/>
              </a:rPr>
              <a:t> to </a:t>
            </a:r>
            <a:r>
              <a:rPr lang="hr-HR" sz="1200" b="0" i="0" kern="1200" dirty="0" err="1">
                <a:solidFill>
                  <a:schemeClr val="tx1"/>
                </a:solidFill>
                <a:effectLst/>
                <a:latin typeface="+mn-lt"/>
                <a:ea typeface="+mn-ea"/>
                <a:cs typeface="+mn-cs"/>
              </a:rPr>
              <a:t>add</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help</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where</a:t>
            </a:r>
            <a:r>
              <a:rPr lang="hr-HR" sz="1200" b="0" i="0" kern="1200" dirty="0">
                <a:solidFill>
                  <a:schemeClr val="tx1"/>
                </a:solidFill>
                <a:effectLst/>
                <a:latin typeface="+mn-lt"/>
                <a:ea typeface="+mn-ea"/>
                <a:cs typeface="+mn-cs"/>
              </a:rPr>
              <a:t> to limit </a:t>
            </a:r>
            <a:r>
              <a:rPr lang="hr-HR" sz="1200" b="0" i="0" kern="1200" dirty="0" err="1">
                <a:solidFill>
                  <a:schemeClr val="tx1"/>
                </a:solidFill>
                <a:effectLst/>
                <a:latin typeface="+mn-lt"/>
                <a:ea typeface="+mn-ea"/>
                <a:cs typeface="+mn-cs"/>
              </a:rPr>
              <a:t>intake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Additional</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resources</a:t>
            </a:r>
            <a:r>
              <a:rPr lang="hr-HR" sz="1200" b="0" i="0" kern="1200" dirty="0">
                <a:solidFill>
                  <a:schemeClr val="tx1"/>
                </a:solidFill>
                <a:effectLst/>
                <a:latin typeface="+mn-lt"/>
                <a:ea typeface="+mn-ea"/>
                <a:cs typeface="+mn-cs"/>
              </a:rPr>
              <a:t> https://www.excella.com/insights/burndown-chart-vs-cumulative-flow-diagram-cfd https://kanbantool.com/cumulative-flow-diagram </a:t>
            </a:r>
          </a:p>
          <a:p>
            <a:br>
              <a:rPr lang="hr-HR" sz="1200" b="0" i="0" kern="1200" dirty="0">
                <a:solidFill>
                  <a:schemeClr val="tx1"/>
                </a:solidFill>
                <a:effectLst/>
                <a:latin typeface="+mn-lt"/>
                <a:ea typeface="+mn-ea"/>
                <a:cs typeface="+mn-cs"/>
              </a:rPr>
            </a:br>
            <a:endParaRPr lang="hr-HR" sz="1200" b="0" i="0" kern="1200" dirty="0">
              <a:solidFill>
                <a:schemeClr val="tx1"/>
              </a:solidFill>
              <a:effectLst/>
              <a:latin typeface="+mn-lt"/>
              <a:ea typeface="+mn-ea"/>
              <a:cs typeface="+mn-cs"/>
            </a:endParaRPr>
          </a:p>
          <a:p>
            <a:r>
              <a:rPr lang="hr-HR" sz="1200" b="0" i="0" kern="1200" dirty="0">
                <a:solidFill>
                  <a:schemeClr val="tx1"/>
                </a:solidFill>
                <a:effectLst/>
                <a:latin typeface="+mn-lt"/>
                <a:ea typeface="+mn-ea"/>
                <a:cs typeface="+mn-cs"/>
              </a:rPr>
              <a:t>Napomene za facilitatora</a:t>
            </a:r>
          </a:p>
          <a:p>
            <a:r>
              <a:rPr lang="hr-HR" sz="1200" b="0" i="0" kern="1200" dirty="0">
                <a:solidFill>
                  <a:schemeClr val="tx1"/>
                </a:solidFill>
                <a:effectLst/>
                <a:latin typeface="+mn-lt"/>
                <a:ea typeface="+mn-ea"/>
                <a:cs typeface="+mn-cs"/>
              </a:rPr>
              <a:t>Predstavite CFD kao alat za dijagnostiku tijeka rada: prikazuje kako se rad akumulira u svakoj fazi tijekom vremena.</a:t>
            </a:r>
          </a:p>
          <a:p>
            <a:r>
              <a:rPr lang="hr-HR" sz="1200" b="0" i="0" kern="1200" dirty="0">
                <a:solidFill>
                  <a:schemeClr val="tx1"/>
                </a:solidFill>
                <a:effectLst/>
                <a:latin typeface="+mn-lt"/>
                <a:ea typeface="+mn-ea"/>
                <a:cs typeface="+mn-cs"/>
              </a:rPr>
              <a:t>Ključne poruke koje treba naglasiti:</a:t>
            </a:r>
          </a:p>
          <a:p>
            <a:r>
              <a:rPr lang="hr-HR" sz="1200" b="0" i="0" kern="1200" dirty="0">
                <a:solidFill>
                  <a:schemeClr val="tx1"/>
                </a:solidFill>
                <a:effectLst/>
                <a:latin typeface="+mn-lt"/>
                <a:ea typeface="+mn-ea"/>
                <a:cs typeface="+mn-cs"/>
              </a:rPr>
              <a:t>CFD pomaže ranije uočiti uska grla nego </a:t>
            </a:r>
            <a:r>
              <a:rPr lang="hr-HR" sz="1200" b="0" i="0" kern="1200" dirty="0" err="1">
                <a:solidFill>
                  <a:schemeClr val="tx1"/>
                </a:solidFill>
                <a:effectLst/>
                <a:latin typeface="+mn-lt"/>
                <a:ea typeface="+mn-ea"/>
                <a:cs typeface="+mn-cs"/>
              </a:rPr>
              <a:t>burndown</a:t>
            </a:r>
            <a:r>
              <a:rPr lang="hr-HR" sz="1200" b="0" i="0" kern="1200" dirty="0">
                <a:solidFill>
                  <a:schemeClr val="tx1"/>
                </a:solidFill>
                <a:effectLst/>
                <a:latin typeface="+mn-lt"/>
                <a:ea typeface="+mn-ea"/>
                <a:cs typeface="+mn-cs"/>
              </a:rPr>
              <a:t>.</a:t>
            </a:r>
          </a:p>
          <a:p>
            <a:r>
              <a:rPr lang="hr-HR" sz="1200" b="0" i="0" kern="1200" dirty="0">
                <a:solidFill>
                  <a:schemeClr val="tx1"/>
                </a:solidFill>
                <a:effectLst/>
                <a:latin typeface="+mn-lt"/>
                <a:ea typeface="+mn-ea"/>
                <a:cs typeface="+mn-cs"/>
              </a:rPr>
              <a:t>Podržava donošenje kvalitetnijih odluka (gdje dodati resurse, gdje ograničiti ulaz novih zadataka).</a:t>
            </a:r>
          </a:p>
          <a:p>
            <a:r>
              <a:rPr lang="hr-HR" sz="1200" b="0" i="0" kern="1200" dirty="0">
                <a:solidFill>
                  <a:schemeClr val="tx1"/>
                </a:solidFill>
                <a:effectLst/>
                <a:latin typeface="+mn-lt"/>
                <a:ea typeface="+mn-ea"/>
                <a:cs typeface="+mn-cs"/>
              </a:rPr>
              <a:t>Dodatni resursi:</a:t>
            </a:r>
            <a:br>
              <a:rPr lang="hr-HR" sz="1200" b="0" i="0" kern="1200" dirty="0">
                <a:solidFill>
                  <a:schemeClr val="tx1"/>
                </a:solidFill>
                <a:effectLst/>
                <a:latin typeface="+mn-lt"/>
                <a:ea typeface="+mn-ea"/>
                <a:cs typeface="+mn-cs"/>
              </a:rPr>
            </a:br>
            <a:r>
              <a:rPr lang="hr-HR" sz="1200" b="0" i="0" kern="1200" dirty="0">
                <a:solidFill>
                  <a:schemeClr val="tx1"/>
                </a:solidFill>
                <a:effectLst/>
                <a:latin typeface="+mn-lt"/>
                <a:ea typeface="+mn-ea"/>
                <a:cs typeface="+mn-cs"/>
                <a:hlinkClick r:id="rId12"/>
              </a:rPr>
              <a:t>https://www.excella.com/insights/burndown-chart-vs-cumulative-flow-diagram-cfd</a:t>
            </a:r>
            <a:br>
              <a:rPr lang="hr-HR" sz="1200" b="0" i="0" kern="1200" dirty="0">
                <a:solidFill>
                  <a:schemeClr val="tx1"/>
                </a:solidFill>
                <a:effectLst/>
                <a:latin typeface="+mn-lt"/>
                <a:ea typeface="+mn-ea"/>
                <a:cs typeface="+mn-cs"/>
              </a:rPr>
            </a:br>
            <a:r>
              <a:rPr lang="hr-HR" sz="1200" b="0" i="0" kern="1200" dirty="0">
                <a:solidFill>
                  <a:schemeClr val="tx1"/>
                </a:solidFill>
                <a:effectLst/>
                <a:latin typeface="+mn-lt"/>
                <a:ea typeface="+mn-ea"/>
                <a:cs typeface="+mn-cs"/>
                <a:hlinkClick r:id="rId13"/>
              </a:rPr>
              <a:t>https://kanbantool.com/cumulative-flow-diagram</a:t>
            </a:r>
            <a:endParaRPr lang="hr-HR" sz="1200" b="0" i="0" kern="1200" dirty="0">
              <a:solidFill>
                <a:schemeClr val="tx1"/>
              </a:solidFill>
              <a:effectLst/>
              <a:latin typeface="+mn-lt"/>
              <a:ea typeface="+mn-ea"/>
              <a:cs typeface="+mn-cs"/>
            </a:endParaRPr>
          </a:p>
          <a:p>
            <a:br>
              <a:rPr lang="hr-HR" sz="1200" b="0" i="0" kern="1200" dirty="0">
                <a:solidFill>
                  <a:schemeClr val="tx1"/>
                </a:solidFill>
                <a:effectLst/>
                <a:latin typeface="+mn-lt"/>
                <a:ea typeface="+mn-ea"/>
                <a:cs typeface="+mn-cs"/>
              </a:rPr>
            </a:br>
            <a:endParaRPr lang="hr-HR" sz="1200" b="0" i="0" kern="1200" dirty="0">
              <a:solidFill>
                <a:schemeClr val="tx1"/>
              </a:solidFill>
              <a:effectLst/>
              <a:latin typeface="+mn-lt"/>
              <a:ea typeface="+mn-ea"/>
              <a:cs typeface="+mn-cs"/>
            </a:endParaRPr>
          </a:p>
          <a:p>
            <a:r>
              <a:rPr lang="hr-HR" sz="1200" b="0" i="0" kern="1200" dirty="0" err="1">
                <a:solidFill>
                  <a:schemeClr val="tx1"/>
                </a:solidFill>
                <a:effectLst/>
                <a:latin typeface="+mn-lt"/>
                <a:ea typeface="+mn-ea"/>
                <a:cs typeface="+mn-cs"/>
              </a:rPr>
              <a:t>prevedi:Facilitator</a:t>
            </a:r>
            <a:r>
              <a:rPr lang="hr-HR" sz="1200" b="0" i="0" kern="1200" dirty="0">
                <a:solidFill>
                  <a:schemeClr val="tx1"/>
                </a:solidFill>
                <a:effectLst/>
                <a:latin typeface="+mn-lt"/>
                <a:ea typeface="+mn-ea"/>
                <a:cs typeface="+mn-cs"/>
              </a:rPr>
              <a:t> notes </a:t>
            </a:r>
            <a:r>
              <a:rPr lang="hr-HR" sz="1200" b="0" i="0" kern="1200" dirty="0" err="1">
                <a:solidFill>
                  <a:schemeClr val="tx1"/>
                </a:solidFill>
                <a:effectLst/>
                <a:latin typeface="+mn-lt"/>
                <a:ea typeface="+mn-ea"/>
                <a:cs typeface="+mn-cs"/>
              </a:rPr>
              <a:t>We</a:t>
            </a:r>
            <a:r>
              <a:rPr lang="hr-HR" sz="1200" b="0" i="0" kern="1200" dirty="0">
                <a:solidFill>
                  <a:schemeClr val="tx1"/>
                </a:solidFill>
                <a:effectLst/>
                <a:latin typeface="+mn-lt"/>
                <a:ea typeface="+mn-ea"/>
                <a:cs typeface="+mn-cs"/>
              </a:rPr>
              <a:t> are </a:t>
            </a:r>
            <a:r>
              <a:rPr lang="hr-HR" sz="1200" b="0" i="0" kern="1200" dirty="0" err="1">
                <a:solidFill>
                  <a:schemeClr val="tx1"/>
                </a:solidFill>
                <a:effectLst/>
                <a:latin typeface="+mn-lt"/>
                <a:ea typeface="+mn-ea"/>
                <a:cs typeface="+mn-cs"/>
              </a:rPr>
              <a:t>now</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visualizing</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the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amount</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of</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Work</a:t>
            </a:r>
            <a:r>
              <a:rPr lang="hr-HR" sz="1200" b="0" i="0" kern="1200" dirty="0">
                <a:solidFill>
                  <a:schemeClr val="tx1"/>
                </a:solidFill>
                <a:effectLst/>
                <a:latin typeface="+mn-lt"/>
                <a:ea typeface="+mn-ea"/>
                <a:cs typeface="+mn-cs"/>
              </a:rPr>
              <a:t> In Progress (WIP) at </a:t>
            </a:r>
            <a:r>
              <a:rPr lang="hr-HR" sz="1200" b="0" i="0" kern="1200" dirty="0" err="1">
                <a:solidFill>
                  <a:schemeClr val="tx1"/>
                </a:solidFill>
                <a:effectLst/>
                <a:latin typeface="+mn-lt"/>
                <a:ea typeface="+mn-ea"/>
                <a:cs typeface="+mn-cs"/>
              </a:rPr>
              <a:t>each</a:t>
            </a:r>
            <a:r>
              <a:rPr lang="hr-HR" sz="1200" b="0" i="0" kern="1200" dirty="0">
                <a:solidFill>
                  <a:schemeClr val="tx1"/>
                </a:solidFill>
                <a:effectLst/>
                <a:latin typeface="+mn-lt"/>
                <a:ea typeface="+mn-ea"/>
                <a:cs typeface="+mn-cs"/>
              </a:rPr>
              <a:t> interval. WIP </a:t>
            </a:r>
            <a:r>
              <a:rPr lang="hr-HR" sz="1200" b="0" i="0" kern="1200" dirty="0" err="1">
                <a:solidFill>
                  <a:schemeClr val="tx1"/>
                </a:solidFill>
                <a:effectLst/>
                <a:latin typeface="+mn-lt"/>
                <a:ea typeface="+mn-ea"/>
                <a:cs typeface="+mn-cs"/>
              </a:rPr>
              <a:t>is</a:t>
            </a:r>
            <a:r>
              <a:rPr lang="hr-HR" sz="1200" b="0" i="0" kern="1200" dirty="0">
                <a:solidFill>
                  <a:schemeClr val="tx1"/>
                </a:solidFill>
                <a:effectLst/>
                <a:latin typeface="+mn-lt"/>
                <a:ea typeface="+mn-ea"/>
                <a:cs typeface="+mn-cs"/>
              </a:rPr>
              <a:t> a </a:t>
            </a:r>
            <a:r>
              <a:rPr lang="hr-HR" sz="1200" b="0" i="0" kern="1200" dirty="0" err="1">
                <a:solidFill>
                  <a:schemeClr val="tx1"/>
                </a:solidFill>
                <a:effectLst/>
                <a:latin typeface="+mn-lt"/>
                <a:ea typeface="+mn-ea"/>
                <a:cs typeface="+mn-cs"/>
              </a:rPr>
              <a:t>critical</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concept</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in</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lean</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and</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agile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thinking</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and</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focusing</a:t>
            </a:r>
            <a:r>
              <a:rPr lang="hr-HR" sz="1200" b="0" i="0" kern="1200" dirty="0">
                <a:solidFill>
                  <a:schemeClr val="tx1"/>
                </a:solidFill>
                <a:effectLst/>
                <a:latin typeface="+mn-lt"/>
                <a:ea typeface="+mn-ea"/>
                <a:cs typeface="+mn-cs"/>
              </a:rPr>
              <a:t> on </a:t>
            </a:r>
            <a:r>
              <a:rPr lang="hr-HR" sz="1200" b="0" i="0" kern="1200" dirty="0" err="1">
                <a:solidFill>
                  <a:schemeClr val="tx1"/>
                </a:solidFill>
                <a:effectLst/>
                <a:latin typeface="+mn-lt"/>
                <a:ea typeface="+mn-ea"/>
                <a:cs typeface="+mn-cs"/>
              </a:rPr>
              <a:t>it</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can</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dramatically</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improve</a:t>
            </a:r>
            <a:r>
              <a:rPr lang="hr-HR" sz="1200" b="0" i="0" kern="1200" dirty="0">
                <a:solidFill>
                  <a:schemeClr val="tx1"/>
                </a:solidFill>
                <a:effectLst/>
                <a:latin typeface="+mn-lt"/>
                <a:ea typeface="+mn-ea"/>
                <a:cs typeface="+mn-cs"/>
              </a:rPr>
              <a:t> a </a:t>
            </a:r>
            <a:r>
              <a:rPr lang="hr-HR" sz="1200" b="0" i="0" kern="1200" dirty="0" err="1">
                <a:solidFill>
                  <a:schemeClr val="tx1"/>
                </a:solidFill>
                <a:effectLst/>
                <a:latin typeface="+mn-lt"/>
                <a:ea typeface="+mn-ea"/>
                <a:cs typeface="+mn-cs"/>
              </a:rPr>
              <a:t>team’s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ability</a:t>
            </a:r>
            <a:r>
              <a:rPr lang="hr-HR" sz="1200" b="0" i="0" kern="1200" dirty="0">
                <a:solidFill>
                  <a:schemeClr val="tx1"/>
                </a:solidFill>
                <a:effectLst/>
                <a:latin typeface="+mn-lt"/>
                <a:ea typeface="+mn-ea"/>
                <a:cs typeface="+mn-cs"/>
              </a:rPr>
              <a:t> to </a:t>
            </a:r>
            <a:r>
              <a:rPr lang="hr-HR" sz="1200" b="0" i="0" kern="1200" dirty="0" err="1">
                <a:solidFill>
                  <a:schemeClr val="tx1"/>
                </a:solidFill>
                <a:effectLst/>
                <a:latin typeface="+mn-lt"/>
                <a:ea typeface="+mn-ea"/>
                <a:cs typeface="+mn-cs"/>
              </a:rPr>
              <a:t>produce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The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vertical</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height</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of</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each</a:t>
            </a:r>
            <a:r>
              <a:rPr lang="hr-HR" sz="1200" b="0" i="0" kern="1200" dirty="0">
                <a:solidFill>
                  <a:schemeClr val="tx1"/>
                </a:solidFill>
                <a:effectLst/>
                <a:latin typeface="+mn-lt"/>
                <a:ea typeface="+mn-ea"/>
                <a:cs typeface="+mn-cs"/>
              </a:rPr>
              <a:t> band </a:t>
            </a:r>
            <a:r>
              <a:rPr lang="hr-HR" sz="1200" b="0" i="0" kern="1200" dirty="0" err="1">
                <a:solidFill>
                  <a:schemeClr val="tx1"/>
                </a:solidFill>
                <a:effectLst/>
                <a:latin typeface="+mn-lt"/>
                <a:ea typeface="+mn-ea"/>
                <a:cs typeface="+mn-cs"/>
              </a:rPr>
              <a:t>is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the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amount</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of</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items</a:t>
            </a:r>
            <a:r>
              <a:rPr lang="hr-HR" sz="1200" b="0" i="0" kern="1200" dirty="0">
                <a:solidFill>
                  <a:schemeClr val="tx1"/>
                </a:solidFill>
                <a:effectLst/>
                <a:latin typeface="+mn-lt"/>
                <a:ea typeface="+mn-ea"/>
                <a:cs typeface="+mn-cs"/>
              </a:rPr>
              <a:t> (WIP) </a:t>
            </a:r>
            <a:r>
              <a:rPr lang="hr-HR" sz="1200" b="0" i="0" kern="1200" dirty="0" err="1">
                <a:solidFill>
                  <a:schemeClr val="tx1"/>
                </a:solidFill>
                <a:effectLst/>
                <a:latin typeface="+mn-lt"/>
                <a:ea typeface="+mn-ea"/>
                <a:cs typeface="+mn-cs"/>
              </a:rPr>
              <a:t>in</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that</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stage</a:t>
            </a:r>
            <a:r>
              <a:rPr lang="hr-HR" sz="1200" b="0" i="0" kern="1200" dirty="0">
                <a:solidFill>
                  <a:schemeClr val="tx1"/>
                </a:solidFill>
                <a:effectLst/>
                <a:latin typeface="+mn-lt"/>
                <a:ea typeface="+mn-ea"/>
                <a:cs typeface="+mn-cs"/>
              </a:rPr>
              <a:t>. CFD </a:t>
            </a:r>
            <a:r>
              <a:rPr lang="hr-HR" sz="1200" b="0" i="0" kern="1200" dirty="0" err="1">
                <a:solidFill>
                  <a:schemeClr val="tx1"/>
                </a:solidFill>
                <a:effectLst/>
                <a:latin typeface="+mn-lt"/>
                <a:ea typeface="+mn-ea"/>
                <a:cs typeface="+mn-cs"/>
              </a:rPr>
              <a:t>also</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expose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our</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average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cycle</a:t>
            </a:r>
            <a:r>
              <a:rPr lang="hr-HR" sz="1200" b="0" i="0" kern="1200" dirty="0">
                <a:solidFill>
                  <a:schemeClr val="tx1"/>
                </a:solidFill>
                <a:effectLst/>
                <a:latin typeface="+mn-lt"/>
                <a:ea typeface="+mn-ea"/>
                <a:cs typeface="+mn-cs"/>
              </a:rPr>
              <a:t> time (</a:t>
            </a:r>
            <a:r>
              <a:rPr lang="hr-HR" sz="1200" b="0" i="0" kern="1200" dirty="0" err="1">
                <a:solidFill>
                  <a:schemeClr val="tx1"/>
                </a:solidFill>
                <a:effectLst/>
                <a:latin typeface="+mn-lt"/>
                <a:ea typeface="+mn-ea"/>
                <a:cs typeface="+mn-cs"/>
              </a:rPr>
              <a:t>the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amount</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of</a:t>
            </a:r>
            <a:r>
              <a:rPr lang="hr-HR" sz="1200" b="0" i="0" kern="1200" dirty="0">
                <a:solidFill>
                  <a:schemeClr val="tx1"/>
                </a:solidFill>
                <a:effectLst/>
                <a:latin typeface="+mn-lt"/>
                <a:ea typeface="+mn-ea"/>
                <a:cs typeface="+mn-cs"/>
              </a:rPr>
              <a:t> time </a:t>
            </a:r>
            <a:r>
              <a:rPr lang="hr-HR" sz="1200" b="0" i="0" kern="1200" dirty="0" err="1">
                <a:solidFill>
                  <a:schemeClr val="tx1"/>
                </a:solidFill>
                <a:effectLst/>
                <a:latin typeface="+mn-lt"/>
                <a:ea typeface="+mn-ea"/>
                <a:cs typeface="+mn-cs"/>
              </a:rPr>
              <a:t>it</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takes</a:t>
            </a:r>
            <a:r>
              <a:rPr lang="hr-HR" sz="1200" b="0" i="0" kern="1200" dirty="0">
                <a:solidFill>
                  <a:schemeClr val="tx1"/>
                </a:solidFill>
                <a:effectLst/>
                <a:latin typeface="+mn-lt"/>
                <a:ea typeface="+mn-ea"/>
                <a:cs typeface="+mn-cs"/>
              </a:rPr>
              <a:t>, on </a:t>
            </a:r>
            <a:r>
              <a:rPr lang="hr-HR" sz="1200" b="0" i="0" kern="1200" dirty="0" err="1">
                <a:solidFill>
                  <a:schemeClr val="tx1"/>
                </a:solidFill>
                <a:effectLst/>
                <a:latin typeface="+mn-lt"/>
                <a:ea typeface="+mn-ea"/>
                <a:cs typeface="+mn-cs"/>
              </a:rPr>
              <a:t>average</a:t>
            </a:r>
            <a:r>
              <a:rPr lang="hr-HR" sz="1200" b="0" i="0" kern="1200" dirty="0">
                <a:solidFill>
                  <a:schemeClr val="tx1"/>
                </a:solidFill>
                <a:effectLst/>
                <a:latin typeface="+mn-lt"/>
                <a:ea typeface="+mn-ea"/>
                <a:cs typeface="+mn-cs"/>
              </a:rPr>
              <a:t>, for </a:t>
            </a:r>
            <a:r>
              <a:rPr lang="hr-HR" sz="1200" b="0" i="0" kern="1200" dirty="0" err="1">
                <a:solidFill>
                  <a:schemeClr val="tx1"/>
                </a:solidFill>
                <a:effectLst/>
                <a:latin typeface="+mn-lt"/>
                <a:ea typeface="+mn-ea"/>
                <a:cs typeface="+mn-cs"/>
              </a:rPr>
              <a:t>an</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item</a:t>
            </a:r>
            <a:r>
              <a:rPr lang="hr-HR" sz="1200" b="0" i="0" kern="1200" dirty="0">
                <a:solidFill>
                  <a:schemeClr val="tx1"/>
                </a:solidFill>
                <a:effectLst/>
                <a:latin typeface="+mn-lt"/>
                <a:ea typeface="+mn-ea"/>
                <a:cs typeface="+mn-cs"/>
              </a:rPr>
              <a:t> to </a:t>
            </a:r>
            <a:r>
              <a:rPr lang="hr-HR" sz="1200" b="0" i="0" kern="1200" dirty="0" err="1">
                <a:solidFill>
                  <a:schemeClr val="tx1"/>
                </a:solidFill>
                <a:effectLst/>
                <a:latin typeface="+mn-lt"/>
                <a:ea typeface="+mn-ea"/>
                <a:cs typeface="+mn-cs"/>
              </a:rPr>
              <a:t>get</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from</a:t>
            </a:r>
            <a:r>
              <a:rPr lang="hr-HR" sz="1200" b="0" i="0" kern="1200" dirty="0">
                <a:solidFill>
                  <a:schemeClr val="tx1"/>
                </a:solidFill>
                <a:effectLst/>
                <a:latin typeface="+mn-lt"/>
                <a:ea typeface="+mn-ea"/>
                <a:cs typeface="+mn-cs"/>
              </a:rPr>
              <a:t> one </a:t>
            </a:r>
            <a:r>
              <a:rPr lang="hr-HR" sz="1200" b="0" i="0" kern="1200" dirty="0" err="1">
                <a:solidFill>
                  <a:schemeClr val="tx1"/>
                </a:solidFill>
                <a:effectLst/>
                <a:latin typeface="+mn-lt"/>
                <a:ea typeface="+mn-ea"/>
                <a:cs typeface="+mn-cs"/>
              </a:rPr>
              <a:t>stage</a:t>
            </a:r>
            <a:r>
              <a:rPr lang="hr-HR" sz="1200" b="0" i="0" kern="1200" dirty="0">
                <a:solidFill>
                  <a:schemeClr val="tx1"/>
                </a:solidFill>
                <a:effectLst/>
                <a:latin typeface="+mn-lt"/>
                <a:ea typeface="+mn-ea"/>
                <a:cs typeface="+mn-cs"/>
              </a:rPr>
              <a:t> to </a:t>
            </a:r>
            <a:r>
              <a:rPr lang="hr-HR" sz="1200" b="0" i="0" kern="1200" dirty="0" err="1">
                <a:solidFill>
                  <a:schemeClr val="tx1"/>
                </a:solidFill>
                <a:effectLst/>
                <a:latin typeface="+mn-lt"/>
                <a:ea typeface="+mn-ea"/>
                <a:cs typeface="+mn-cs"/>
              </a:rPr>
              <a:t>another</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Cycle</a:t>
            </a:r>
            <a:r>
              <a:rPr lang="hr-HR" sz="1200" b="0" i="0" kern="1200" dirty="0">
                <a:solidFill>
                  <a:schemeClr val="tx1"/>
                </a:solidFill>
                <a:effectLst/>
                <a:latin typeface="+mn-lt"/>
                <a:ea typeface="+mn-ea"/>
                <a:cs typeface="+mn-cs"/>
              </a:rPr>
              <a:t> time </a:t>
            </a:r>
            <a:r>
              <a:rPr lang="hr-HR" sz="1200" b="0" i="0" kern="1200" dirty="0" err="1">
                <a:solidFill>
                  <a:schemeClr val="tx1"/>
                </a:solidFill>
                <a:effectLst/>
                <a:latin typeface="+mn-lt"/>
                <a:ea typeface="+mn-ea"/>
                <a:cs typeface="+mn-cs"/>
              </a:rPr>
              <a:t>is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often</a:t>
            </a:r>
            <a:r>
              <a:rPr lang="hr-HR" sz="1200" b="0" i="0" kern="1200" dirty="0">
                <a:solidFill>
                  <a:schemeClr val="tx1"/>
                </a:solidFill>
                <a:effectLst/>
                <a:latin typeface="+mn-lt"/>
                <a:ea typeface="+mn-ea"/>
                <a:cs typeface="+mn-cs"/>
              </a:rPr>
              <a:t> a </a:t>
            </a:r>
            <a:r>
              <a:rPr lang="hr-HR" sz="1200" b="0" i="0" kern="1200" dirty="0" err="1">
                <a:solidFill>
                  <a:schemeClr val="tx1"/>
                </a:solidFill>
                <a:effectLst/>
                <a:latin typeface="+mn-lt"/>
                <a:ea typeface="+mn-ea"/>
                <a:cs typeface="+mn-cs"/>
              </a:rPr>
              <a:t>critical</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measure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of</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success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since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downstream</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stakeholders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or</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customers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often</a:t>
            </a:r>
            <a:r>
              <a:rPr lang="hr-HR" sz="1200" b="0" i="0" kern="1200" dirty="0">
                <a:solidFill>
                  <a:schemeClr val="tx1"/>
                </a:solidFill>
                <a:effectLst/>
                <a:latin typeface="+mn-lt"/>
                <a:ea typeface="+mn-ea"/>
                <a:cs typeface="+mn-cs"/>
              </a:rPr>
              <a:t> put a </a:t>
            </a:r>
            <a:r>
              <a:rPr lang="hr-HR" sz="1200" b="0" i="0" kern="1200" dirty="0" err="1">
                <a:solidFill>
                  <a:schemeClr val="tx1"/>
                </a:solidFill>
                <a:effectLst/>
                <a:latin typeface="+mn-lt"/>
                <a:ea typeface="+mn-ea"/>
                <a:cs typeface="+mn-cs"/>
              </a:rPr>
              <a:t>very</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high</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premium</a:t>
            </a:r>
            <a:r>
              <a:rPr lang="hr-HR" sz="1200" b="0" i="0" kern="1200" dirty="0">
                <a:solidFill>
                  <a:schemeClr val="tx1"/>
                </a:solidFill>
                <a:effectLst/>
                <a:latin typeface="+mn-lt"/>
                <a:ea typeface="+mn-ea"/>
                <a:cs typeface="+mn-cs"/>
              </a:rPr>
              <a:t> on </a:t>
            </a:r>
            <a:r>
              <a:rPr lang="hr-HR" sz="1200" b="0" i="0" kern="1200" dirty="0" err="1">
                <a:solidFill>
                  <a:schemeClr val="tx1"/>
                </a:solidFill>
                <a:effectLst/>
                <a:latin typeface="+mn-lt"/>
                <a:ea typeface="+mn-ea"/>
                <a:cs typeface="+mn-cs"/>
              </a:rPr>
              <a:t>responsiveness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i.e</a:t>
            </a:r>
            <a:r>
              <a:rPr lang="hr-HR" sz="1200" b="0" i="0" kern="1200" dirty="0">
                <a:solidFill>
                  <a:schemeClr val="tx1"/>
                </a:solidFill>
                <a:effectLst/>
                <a:latin typeface="+mn-lt"/>
                <a:ea typeface="+mn-ea"/>
                <a:cs typeface="+mn-cs"/>
              </a:rPr>
              <a:t>., how </a:t>
            </a:r>
            <a:r>
              <a:rPr lang="hr-HR" sz="1200" b="0" i="0" kern="1200" dirty="0" err="1">
                <a:solidFill>
                  <a:schemeClr val="tx1"/>
                </a:solidFill>
                <a:effectLst/>
                <a:latin typeface="+mn-lt"/>
                <a:ea typeface="+mn-ea"/>
                <a:cs typeface="+mn-cs"/>
              </a:rPr>
              <a:t>long</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it</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takes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from</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the</a:t>
            </a:r>
            <a:r>
              <a:rPr lang="hr-HR" sz="1200" b="0" i="0" kern="1200" dirty="0">
                <a:solidFill>
                  <a:schemeClr val="tx1"/>
                </a:solidFill>
                <a:effectLst/>
                <a:latin typeface="+mn-lt"/>
                <a:ea typeface="+mn-ea"/>
                <a:cs typeface="+mn-cs"/>
              </a:rPr>
              <a:t> moment </a:t>
            </a:r>
            <a:r>
              <a:rPr lang="hr-HR" sz="1200" b="0" i="0" kern="1200" dirty="0" err="1">
                <a:solidFill>
                  <a:schemeClr val="tx1"/>
                </a:solidFill>
                <a:effectLst/>
                <a:latin typeface="+mn-lt"/>
                <a:ea typeface="+mn-ea"/>
                <a:cs typeface="+mn-cs"/>
              </a:rPr>
              <a:t>they</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submit</a:t>
            </a:r>
            <a:r>
              <a:rPr lang="hr-HR" sz="1200" b="0" i="0" kern="1200" dirty="0">
                <a:solidFill>
                  <a:schemeClr val="tx1"/>
                </a:solidFill>
                <a:effectLst/>
                <a:latin typeface="+mn-lt"/>
                <a:ea typeface="+mn-ea"/>
                <a:cs typeface="+mn-cs"/>
              </a:rPr>
              <a:t> a </a:t>
            </a:r>
            <a:r>
              <a:rPr lang="hr-HR" sz="1200" b="0" i="0" kern="1200" dirty="0" err="1">
                <a:solidFill>
                  <a:schemeClr val="tx1"/>
                </a:solidFill>
                <a:effectLst/>
                <a:latin typeface="+mn-lt"/>
                <a:ea typeface="+mn-ea"/>
                <a:cs typeface="+mn-cs"/>
              </a:rPr>
              <a:t>request</a:t>
            </a:r>
            <a:r>
              <a:rPr lang="hr-HR" sz="1200" b="0" i="0" kern="1200" dirty="0">
                <a:solidFill>
                  <a:schemeClr val="tx1"/>
                </a:solidFill>
                <a:effectLst/>
                <a:latin typeface="+mn-lt"/>
                <a:ea typeface="+mn-ea"/>
                <a:cs typeface="+mn-cs"/>
              </a:rPr>
              <a:t> to </a:t>
            </a:r>
            <a:r>
              <a:rPr lang="hr-HR" sz="1200" b="0" i="0" kern="1200" dirty="0" err="1">
                <a:solidFill>
                  <a:schemeClr val="tx1"/>
                </a:solidFill>
                <a:effectLst/>
                <a:latin typeface="+mn-lt"/>
                <a:ea typeface="+mn-ea"/>
                <a:cs typeface="+mn-cs"/>
              </a:rPr>
              <a:t>the</a:t>
            </a:r>
            <a:r>
              <a:rPr lang="hr-HR" sz="1200" b="0" i="0" kern="1200" dirty="0">
                <a:solidFill>
                  <a:schemeClr val="tx1"/>
                </a:solidFill>
                <a:effectLst/>
                <a:latin typeface="+mn-lt"/>
                <a:ea typeface="+mn-ea"/>
                <a:cs typeface="+mn-cs"/>
              </a:rPr>
              <a:t> moment </a:t>
            </a:r>
            <a:r>
              <a:rPr lang="hr-HR" sz="1200" b="0" i="0" kern="1200" dirty="0" err="1">
                <a:solidFill>
                  <a:schemeClr val="tx1"/>
                </a:solidFill>
                <a:effectLst/>
                <a:latin typeface="+mn-lt"/>
                <a:ea typeface="+mn-ea"/>
                <a:cs typeface="+mn-cs"/>
              </a:rPr>
              <a:t>it</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is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fulfilled</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Additional</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resources</a:t>
            </a:r>
            <a:r>
              <a:rPr lang="hr-HR" sz="1200" b="0" i="0" kern="1200" dirty="0">
                <a:solidFill>
                  <a:schemeClr val="tx1"/>
                </a:solidFill>
                <a:effectLst/>
                <a:latin typeface="+mn-lt"/>
                <a:ea typeface="+mn-ea"/>
                <a:cs typeface="+mn-cs"/>
              </a:rPr>
              <a:t> https://www.youtube.com/watch?v=t8zUD6UrzXU </a:t>
            </a:r>
          </a:p>
          <a:p>
            <a:br>
              <a:rPr lang="hr-HR" sz="1200" b="0" i="0" kern="1200" dirty="0">
                <a:solidFill>
                  <a:schemeClr val="tx1"/>
                </a:solidFill>
                <a:effectLst/>
                <a:latin typeface="+mn-lt"/>
                <a:ea typeface="+mn-ea"/>
                <a:cs typeface="+mn-cs"/>
              </a:rPr>
            </a:br>
            <a:endParaRPr lang="hr-HR" sz="1200" b="0" i="0" kern="1200" dirty="0">
              <a:solidFill>
                <a:schemeClr val="tx1"/>
              </a:solidFill>
              <a:effectLst/>
              <a:latin typeface="+mn-lt"/>
              <a:ea typeface="+mn-ea"/>
              <a:cs typeface="+mn-cs"/>
            </a:endParaRPr>
          </a:p>
          <a:p>
            <a:r>
              <a:rPr lang="hr-HR" sz="1200" b="0" i="0" kern="1200" dirty="0">
                <a:solidFill>
                  <a:schemeClr val="tx1"/>
                </a:solidFill>
                <a:effectLst/>
                <a:latin typeface="+mn-lt"/>
                <a:ea typeface="+mn-ea"/>
                <a:cs typeface="+mn-cs"/>
              </a:rPr>
              <a:t>Napomene za facilitatora</a:t>
            </a:r>
          </a:p>
          <a:p>
            <a:r>
              <a:rPr lang="hr-HR" sz="1200" b="0" i="0" kern="1200" dirty="0">
                <a:solidFill>
                  <a:schemeClr val="tx1"/>
                </a:solidFill>
                <a:effectLst/>
                <a:latin typeface="+mn-lt"/>
                <a:ea typeface="+mn-ea"/>
                <a:cs typeface="+mn-cs"/>
              </a:rPr>
              <a:t>Sada vizualiziramo količinu rada u tijeku (</a:t>
            </a:r>
            <a:r>
              <a:rPr lang="hr-HR" sz="1200" b="0" i="0" kern="1200" dirty="0" err="1">
                <a:solidFill>
                  <a:schemeClr val="tx1"/>
                </a:solidFill>
                <a:effectLst/>
                <a:latin typeface="+mn-lt"/>
                <a:ea typeface="+mn-ea"/>
                <a:cs typeface="+mn-cs"/>
              </a:rPr>
              <a:t>Work</a:t>
            </a:r>
            <a:r>
              <a:rPr lang="hr-HR" sz="1200" b="0" i="0" kern="1200" dirty="0">
                <a:solidFill>
                  <a:schemeClr val="tx1"/>
                </a:solidFill>
                <a:effectLst/>
                <a:latin typeface="+mn-lt"/>
                <a:ea typeface="+mn-ea"/>
                <a:cs typeface="+mn-cs"/>
              </a:rPr>
              <a:t> In Progress – WIP) u svakom vremenskom intervalu. WIP je ključan koncept u </a:t>
            </a:r>
            <a:r>
              <a:rPr lang="hr-HR" sz="1200" b="0" i="0" kern="1200" dirty="0" err="1">
                <a:solidFill>
                  <a:schemeClr val="tx1"/>
                </a:solidFill>
                <a:effectLst/>
                <a:latin typeface="+mn-lt"/>
                <a:ea typeface="+mn-ea"/>
                <a:cs typeface="+mn-cs"/>
              </a:rPr>
              <a:t>lean</a:t>
            </a:r>
            <a:r>
              <a:rPr lang="hr-HR" sz="1200" b="0" i="0" kern="1200" dirty="0">
                <a:solidFill>
                  <a:schemeClr val="tx1"/>
                </a:solidFill>
                <a:effectLst/>
                <a:latin typeface="+mn-lt"/>
                <a:ea typeface="+mn-ea"/>
                <a:cs typeface="+mn-cs"/>
              </a:rPr>
              <a:t> i </a:t>
            </a:r>
            <a:r>
              <a:rPr lang="hr-HR" sz="1200" b="0" i="0" kern="1200" dirty="0" err="1">
                <a:solidFill>
                  <a:schemeClr val="tx1"/>
                </a:solidFill>
                <a:effectLst/>
                <a:latin typeface="+mn-lt"/>
                <a:ea typeface="+mn-ea"/>
                <a:cs typeface="+mn-cs"/>
              </a:rPr>
              <a:t>agile</a:t>
            </a:r>
            <a:r>
              <a:rPr lang="hr-HR" sz="1200" b="0" i="0" kern="1200" dirty="0">
                <a:solidFill>
                  <a:schemeClr val="tx1"/>
                </a:solidFill>
                <a:effectLst/>
                <a:latin typeface="+mn-lt"/>
                <a:ea typeface="+mn-ea"/>
                <a:cs typeface="+mn-cs"/>
              </a:rPr>
              <a:t> pristupima, a fokus na njega može značajno poboljšati sposobnost tima za isporuku. Vertikalna visina svake „trake” predstavlja broj stavki (WIP) u toj fazi.</a:t>
            </a:r>
          </a:p>
          <a:p>
            <a:r>
              <a:rPr lang="hr-HR" sz="1200" b="0" i="0" kern="1200" dirty="0">
                <a:solidFill>
                  <a:schemeClr val="tx1"/>
                </a:solidFill>
                <a:effectLst/>
                <a:latin typeface="+mn-lt"/>
                <a:ea typeface="+mn-ea"/>
                <a:cs typeface="+mn-cs"/>
              </a:rPr>
              <a:t>CFD također prikazuje prosječno vrijeme ciklusa (</a:t>
            </a:r>
            <a:r>
              <a:rPr lang="hr-HR" sz="1200" b="0" i="0" kern="1200" dirty="0" err="1">
                <a:solidFill>
                  <a:schemeClr val="tx1"/>
                </a:solidFill>
                <a:effectLst/>
                <a:latin typeface="+mn-lt"/>
                <a:ea typeface="+mn-ea"/>
                <a:cs typeface="+mn-cs"/>
              </a:rPr>
              <a:t>cycle</a:t>
            </a:r>
            <a:r>
              <a:rPr lang="hr-HR" sz="1200" b="0" i="0" kern="1200" dirty="0">
                <a:solidFill>
                  <a:schemeClr val="tx1"/>
                </a:solidFill>
                <a:effectLst/>
                <a:latin typeface="+mn-lt"/>
                <a:ea typeface="+mn-ea"/>
                <a:cs typeface="+mn-cs"/>
              </a:rPr>
              <a:t> time) — odnosno prosječno vrijeme potrebno da stavka prijeđe iz jedne faze u drugu. Vrijeme ciklusa često je ključna mjera uspješnosti jer krajnji dionici ili korisnici visoko vrednuju brzinu odgovora, tj. koliko vremena prođe od trenutka kada podnesu zahtjev do trenutka kada je on ispunjen.</a:t>
            </a:r>
          </a:p>
          <a:p>
            <a:r>
              <a:rPr lang="hr-HR" sz="1200" b="0" i="0" kern="1200" dirty="0">
                <a:solidFill>
                  <a:schemeClr val="tx1"/>
                </a:solidFill>
                <a:effectLst/>
                <a:latin typeface="+mn-lt"/>
                <a:ea typeface="+mn-ea"/>
                <a:cs typeface="+mn-cs"/>
              </a:rPr>
              <a:t>Dodatni resursi:</a:t>
            </a:r>
            <a:br>
              <a:rPr lang="hr-HR" sz="1200" b="0" i="0" kern="1200" dirty="0">
                <a:solidFill>
                  <a:schemeClr val="tx1"/>
                </a:solidFill>
                <a:effectLst/>
                <a:latin typeface="+mn-lt"/>
                <a:ea typeface="+mn-ea"/>
                <a:cs typeface="+mn-cs"/>
              </a:rPr>
            </a:br>
            <a:r>
              <a:rPr lang="hr-HR" sz="1200" b="0" i="0" kern="1200" dirty="0">
                <a:solidFill>
                  <a:schemeClr val="tx1"/>
                </a:solidFill>
                <a:effectLst/>
                <a:latin typeface="+mn-lt"/>
                <a:ea typeface="+mn-ea"/>
                <a:cs typeface="+mn-cs"/>
                <a:hlinkClick r:id="rId14"/>
              </a:rPr>
              <a:t>https://www.youtube.com/watch?v=t8zUD6UrzXU</a:t>
            </a:r>
            <a:endParaRPr lang="hr-HR" sz="1200" b="0" i="0" kern="1200" dirty="0">
              <a:solidFill>
                <a:schemeClr val="tx1"/>
              </a:solidFill>
              <a:effectLst/>
              <a:latin typeface="+mn-lt"/>
              <a:ea typeface="+mn-ea"/>
              <a:cs typeface="+mn-cs"/>
            </a:endParaRPr>
          </a:p>
          <a:p>
            <a:br>
              <a:rPr lang="hr-HR" sz="1200" b="0" i="0" kern="1200" dirty="0">
                <a:solidFill>
                  <a:schemeClr val="tx1"/>
                </a:solidFill>
                <a:effectLst/>
                <a:latin typeface="+mn-lt"/>
                <a:ea typeface="+mn-ea"/>
                <a:cs typeface="+mn-cs"/>
              </a:rPr>
            </a:br>
            <a:endParaRPr lang="hr-HR" sz="1200" b="0" i="0" kern="1200" dirty="0">
              <a:solidFill>
                <a:schemeClr val="tx1"/>
              </a:solidFill>
              <a:effectLst/>
              <a:latin typeface="+mn-lt"/>
              <a:ea typeface="+mn-ea"/>
              <a:cs typeface="+mn-cs"/>
            </a:endParaRPr>
          </a:p>
          <a:p>
            <a:r>
              <a:rPr lang="hr-HR" sz="1200" b="0" i="0" kern="1200" dirty="0" err="1">
                <a:solidFill>
                  <a:schemeClr val="tx1"/>
                </a:solidFill>
                <a:effectLst/>
                <a:latin typeface="+mn-lt"/>
                <a:ea typeface="+mn-ea"/>
                <a:cs typeface="+mn-cs"/>
              </a:rPr>
              <a:t>prevedi:A</a:t>
            </a:r>
            <a:r>
              <a:rPr lang="hr-HR" sz="1200" b="0" i="0" kern="1200" dirty="0">
                <a:solidFill>
                  <a:schemeClr val="tx1"/>
                </a:solidFill>
                <a:effectLst/>
                <a:latin typeface="+mn-lt"/>
                <a:ea typeface="+mn-ea"/>
                <a:cs typeface="+mn-cs"/>
              </a:rPr>
              <a:t> CFD </a:t>
            </a:r>
            <a:r>
              <a:rPr lang="hr-HR" sz="1200" b="0" i="0" kern="1200" dirty="0" err="1">
                <a:solidFill>
                  <a:schemeClr val="tx1"/>
                </a:solidFill>
                <a:effectLst/>
                <a:latin typeface="+mn-lt"/>
                <a:ea typeface="+mn-ea"/>
                <a:cs typeface="+mn-cs"/>
              </a:rPr>
              <a:t>can</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have</a:t>
            </a:r>
            <a:r>
              <a:rPr lang="hr-HR" sz="1200" b="0" i="0" kern="1200" dirty="0">
                <a:solidFill>
                  <a:schemeClr val="tx1"/>
                </a:solidFill>
                <a:effectLst/>
                <a:latin typeface="+mn-lt"/>
                <a:ea typeface="+mn-ea"/>
                <a:cs typeface="+mn-cs"/>
              </a:rPr>
              <a:t> as </a:t>
            </a:r>
            <a:r>
              <a:rPr lang="hr-HR" sz="1200" b="0" i="0" kern="1200" dirty="0" err="1">
                <a:solidFill>
                  <a:schemeClr val="tx1"/>
                </a:solidFill>
                <a:effectLst/>
                <a:latin typeface="+mn-lt"/>
                <a:ea typeface="+mn-ea"/>
                <a:cs typeface="+mn-cs"/>
              </a:rPr>
              <a:t>many</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coloured</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bands</a:t>
            </a:r>
            <a:r>
              <a:rPr lang="hr-HR" sz="1200" b="0" i="0" kern="1200" dirty="0">
                <a:solidFill>
                  <a:schemeClr val="tx1"/>
                </a:solidFill>
                <a:effectLst/>
                <a:latin typeface="+mn-lt"/>
                <a:ea typeface="+mn-ea"/>
                <a:cs typeface="+mn-cs"/>
              </a:rPr>
              <a:t>' as </a:t>
            </a:r>
            <a:r>
              <a:rPr lang="hr-HR" sz="1200" b="0" i="0" kern="1200" dirty="0" err="1">
                <a:solidFill>
                  <a:schemeClr val="tx1"/>
                </a:solidFill>
                <a:effectLst/>
                <a:latin typeface="+mn-lt"/>
                <a:ea typeface="+mn-ea"/>
                <a:cs typeface="+mn-cs"/>
              </a:rPr>
              <a:t>there</a:t>
            </a:r>
            <a:r>
              <a:rPr lang="hr-HR" sz="1200" b="0" i="0" kern="1200" dirty="0">
                <a:solidFill>
                  <a:schemeClr val="tx1"/>
                </a:solidFill>
                <a:effectLst/>
                <a:latin typeface="+mn-lt"/>
                <a:ea typeface="+mn-ea"/>
                <a:cs typeface="+mn-cs"/>
              </a:rPr>
              <a:t> are </a:t>
            </a:r>
            <a:r>
              <a:rPr lang="hr-HR" sz="1200" b="0" i="0" kern="1200" dirty="0" err="1">
                <a:solidFill>
                  <a:schemeClr val="tx1"/>
                </a:solidFill>
                <a:effectLst/>
                <a:latin typeface="+mn-lt"/>
                <a:ea typeface="+mn-ea"/>
                <a:cs typeface="+mn-cs"/>
              </a:rPr>
              <a:t>states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into</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which</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the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process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is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divided</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the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columns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of</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our</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board</a:t>
            </a:r>
            <a:r>
              <a:rPr lang="hr-HR" sz="1200" b="0" i="0" kern="1200" dirty="0">
                <a:solidFill>
                  <a:schemeClr val="tx1"/>
                </a:solidFill>
                <a:effectLst/>
                <a:latin typeface="+mn-lt"/>
                <a:ea typeface="+mn-ea"/>
                <a:cs typeface="+mn-cs"/>
              </a:rPr>
              <a:t>) </a:t>
            </a:r>
          </a:p>
          <a:p>
            <a:br>
              <a:rPr lang="hr-HR" sz="1200" b="0" i="0" kern="1200" dirty="0">
                <a:solidFill>
                  <a:schemeClr val="tx1"/>
                </a:solidFill>
                <a:effectLst/>
                <a:latin typeface="+mn-lt"/>
                <a:ea typeface="+mn-ea"/>
                <a:cs typeface="+mn-cs"/>
              </a:rPr>
            </a:br>
            <a:endParaRPr lang="hr-HR" sz="1200" b="0" i="0" kern="1200" dirty="0">
              <a:solidFill>
                <a:schemeClr val="tx1"/>
              </a:solidFill>
              <a:effectLst/>
              <a:latin typeface="+mn-lt"/>
              <a:ea typeface="+mn-ea"/>
              <a:cs typeface="+mn-cs"/>
            </a:endParaRPr>
          </a:p>
          <a:p>
            <a:r>
              <a:rPr lang="hr-HR" sz="1200" b="0" i="0" kern="1200" dirty="0">
                <a:solidFill>
                  <a:schemeClr val="tx1"/>
                </a:solidFill>
                <a:effectLst/>
                <a:latin typeface="+mn-lt"/>
                <a:ea typeface="+mn-ea"/>
                <a:cs typeface="+mn-cs"/>
              </a:rPr>
              <a:t>CFD može imati onoliko „obojenih traka” koliko ima faza na koje je proces podijeljen (stupci na našem </a:t>
            </a:r>
            <a:r>
              <a:rPr lang="hr-HR" sz="1200" b="0" i="0" kern="1200" dirty="0" err="1">
                <a:solidFill>
                  <a:schemeClr val="tx1"/>
                </a:solidFill>
                <a:effectLst/>
                <a:latin typeface="+mn-lt"/>
                <a:ea typeface="+mn-ea"/>
                <a:cs typeface="+mn-cs"/>
              </a:rPr>
              <a:t>boardu</a:t>
            </a:r>
            <a:r>
              <a:rPr lang="hr-HR" sz="1200" b="0" i="0" kern="1200" dirty="0">
                <a:solidFill>
                  <a:schemeClr val="tx1"/>
                </a:solidFill>
                <a:effectLst/>
                <a:latin typeface="+mn-lt"/>
                <a:ea typeface="+mn-ea"/>
                <a:cs typeface="+mn-cs"/>
              </a:rPr>
              <a:t>).</a:t>
            </a:r>
          </a:p>
          <a:p>
            <a:br>
              <a:rPr lang="hr-HR" sz="1200" b="0" i="0" kern="1200" dirty="0">
                <a:solidFill>
                  <a:schemeClr val="tx1"/>
                </a:solidFill>
                <a:effectLst/>
                <a:latin typeface="+mn-lt"/>
                <a:ea typeface="+mn-ea"/>
                <a:cs typeface="+mn-cs"/>
              </a:rPr>
            </a:br>
            <a:endParaRPr lang="hr-HR" sz="1200" b="0" i="0" kern="1200" dirty="0">
              <a:solidFill>
                <a:schemeClr val="tx1"/>
              </a:solidFill>
              <a:effectLst/>
              <a:latin typeface="+mn-lt"/>
              <a:ea typeface="+mn-ea"/>
              <a:cs typeface="+mn-cs"/>
            </a:endParaRPr>
          </a:p>
          <a:p>
            <a:r>
              <a:rPr lang="hr-HR" sz="1200" b="0" i="0" kern="1200" dirty="0">
                <a:solidFill>
                  <a:schemeClr val="tx1"/>
                </a:solidFill>
                <a:effectLst/>
                <a:latin typeface="+mn-lt"/>
                <a:ea typeface="+mn-ea"/>
                <a:cs typeface="+mn-cs"/>
              </a:rPr>
              <a:t>prevedi: Facilitator notes </a:t>
            </a:r>
            <a:r>
              <a:rPr lang="hr-HR" sz="1200" b="0" i="0" kern="1200" dirty="0" err="1">
                <a:solidFill>
                  <a:schemeClr val="tx1"/>
                </a:solidFill>
                <a:effectLst/>
                <a:latin typeface="+mn-lt"/>
                <a:ea typeface="+mn-ea"/>
                <a:cs typeface="+mn-cs"/>
              </a:rPr>
              <a:t>Explain</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colored</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bands</a:t>
            </a:r>
            <a:r>
              <a:rPr lang="hr-HR" sz="1200" b="0" i="0" kern="1200" dirty="0">
                <a:solidFill>
                  <a:schemeClr val="tx1"/>
                </a:solidFill>
                <a:effectLst/>
                <a:latin typeface="+mn-lt"/>
                <a:ea typeface="+mn-ea"/>
                <a:cs typeface="+mn-cs"/>
              </a:rPr>
              <a:t> as </a:t>
            </a:r>
            <a:r>
              <a:rPr lang="hr-HR" sz="1200" b="0" i="0" kern="1200" dirty="0" err="1">
                <a:solidFill>
                  <a:schemeClr val="tx1"/>
                </a:solidFill>
                <a:effectLst/>
                <a:latin typeface="+mn-lt"/>
                <a:ea typeface="+mn-ea"/>
                <a:cs typeface="+mn-cs"/>
              </a:rPr>
              <a:t>workflow</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stages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The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key</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interpretation</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is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the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width</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of</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each</a:t>
            </a:r>
            <a:r>
              <a:rPr lang="hr-HR" sz="1200" b="0" i="0" kern="1200" dirty="0">
                <a:solidFill>
                  <a:schemeClr val="tx1"/>
                </a:solidFill>
                <a:effectLst/>
                <a:latin typeface="+mn-lt"/>
                <a:ea typeface="+mn-ea"/>
                <a:cs typeface="+mn-cs"/>
              </a:rPr>
              <a:t> band: </a:t>
            </a:r>
            <a:r>
              <a:rPr lang="hr-HR" sz="1200" b="0" i="0" kern="1200" dirty="0" err="1">
                <a:solidFill>
                  <a:schemeClr val="tx1"/>
                </a:solidFill>
                <a:effectLst/>
                <a:latin typeface="+mn-lt"/>
                <a:ea typeface="+mn-ea"/>
                <a:cs typeface="+mn-cs"/>
              </a:rPr>
              <a:t>Widening</a:t>
            </a:r>
            <a:r>
              <a:rPr lang="hr-HR" sz="1200" b="0" i="0" kern="1200" dirty="0">
                <a:solidFill>
                  <a:schemeClr val="tx1"/>
                </a:solidFill>
                <a:effectLst/>
                <a:latin typeface="+mn-lt"/>
                <a:ea typeface="+mn-ea"/>
                <a:cs typeface="+mn-cs"/>
              </a:rPr>
              <a:t> band → </a:t>
            </a:r>
            <a:r>
              <a:rPr lang="hr-HR" sz="1200" b="0" i="0" kern="1200" dirty="0" err="1">
                <a:solidFill>
                  <a:schemeClr val="tx1"/>
                </a:solidFill>
                <a:effectLst/>
                <a:latin typeface="+mn-lt"/>
                <a:ea typeface="+mn-ea"/>
                <a:cs typeface="+mn-cs"/>
              </a:rPr>
              <a:t>bottleneck</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forming</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Stable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bands</a:t>
            </a:r>
            <a:r>
              <a:rPr lang="hr-HR" sz="1200" b="0" i="0" kern="1200" dirty="0">
                <a:solidFill>
                  <a:schemeClr val="tx1"/>
                </a:solidFill>
                <a:effectLst/>
                <a:latin typeface="+mn-lt"/>
                <a:ea typeface="+mn-ea"/>
                <a:cs typeface="+mn-cs"/>
              </a:rPr>
              <a:t> → </a:t>
            </a:r>
            <a:r>
              <a:rPr lang="hr-HR" sz="1200" b="0" i="0" kern="1200" dirty="0" err="1">
                <a:solidFill>
                  <a:schemeClr val="tx1"/>
                </a:solidFill>
                <a:effectLst/>
                <a:latin typeface="+mn-lt"/>
                <a:ea typeface="+mn-ea"/>
                <a:cs typeface="+mn-cs"/>
              </a:rPr>
              <a:t>balanced</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flow</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Narrowing</a:t>
            </a:r>
            <a:r>
              <a:rPr lang="hr-HR" sz="1200" b="0" i="0" kern="1200" dirty="0">
                <a:solidFill>
                  <a:schemeClr val="tx1"/>
                </a:solidFill>
                <a:effectLst/>
                <a:latin typeface="+mn-lt"/>
                <a:ea typeface="+mn-ea"/>
                <a:cs typeface="+mn-cs"/>
              </a:rPr>
              <a:t> → </a:t>
            </a:r>
            <a:r>
              <a:rPr lang="hr-HR" sz="1200" b="0" i="0" kern="1200" dirty="0" err="1">
                <a:solidFill>
                  <a:schemeClr val="tx1"/>
                </a:solidFill>
                <a:effectLst/>
                <a:latin typeface="+mn-lt"/>
                <a:ea typeface="+mn-ea"/>
                <a:cs typeface="+mn-cs"/>
              </a:rPr>
              <a:t>clearing</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backlog</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Key</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messages</a:t>
            </a:r>
            <a:r>
              <a:rPr lang="hr-HR" sz="1200" b="0" i="0" kern="1200" dirty="0">
                <a:solidFill>
                  <a:schemeClr val="tx1"/>
                </a:solidFill>
                <a:effectLst/>
                <a:latin typeface="+mn-lt"/>
                <a:ea typeface="+mn-ea"/>
                <a:cs typeface="+mn-cs"/>
              </a:rPr>
              <a:t> to </a:t>
            </a:r>
            <a:r>
              <a:rPr lang="hr-HR" sz="1200" b="0" i="0" kern="1200" dirty="0" err="1">
                <a:solidFill>
                  <a:schemeClr val="tx1"/>
                </a:solidFill>
                <a:effectLst/>
                <a:latin typeface="+mn-lt"/>
                <a:ea typeface="+mn-ea"/>
                <a:cs typeface="+mn-cs"/>
              </a:rPr>
              <a:t>emphasize</a:t>
            </a:r>
            <a:r>
              <a:rPr lang="hr-HR" sz="1200" b="0" i="0" kern="1200" dirty="0">
                <a:solidFill>
                  <a:schemeClr val="tx1"/>
                </a:solidFill>
                <a:effectLst/>
                <a:latin typeface="+mn-lt"/>
                <a:ea typeface="+mn-ea"/>
                <a:cs typeface="+mn-cs"/>
              </a:rPr>
              <a:t>: CFD </a:t>
            </a:r>
            <a:r>
              <a:rPr lang="hr-HR" sz="1200" b="0" i="0" kern="1200" dirty="0" err="1">
                <a:solidFill>
                  <a:schemeClr val="tx1"/>
                </a:solidFill>
                <a:effectLst/>
                <a:latin typeface="+mn-lt"/>
                <a:ea typeface="+mn-ea"/>
                <a:cs typeface="+mn-cs"/>
              </a:rPr>
              <a:t>helps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see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bottlenecks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earlier</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than</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burndown</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It</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supports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robust</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decisions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where</a:t>
            </a:r>
            <a:r>
              <a:rPr lang="hr-HR" sz="1200" b="0" i="0" kern="1200" dirty="0">
                <a:solidFill>
                  <a:schemeClr val="tx1"/>
                </a:solidFill>
                <a:effectLst/>
                <a:latin typeface="+mn-lt"/>
                <a:ea typeface="+mn-ea"/>
                <a:cs typeface="+mn-cs"/>
              </a:rPr>
              <a:t> to </a:t>
            </a:r>
            <a:r>
              <a:rPr lang="hr-HR" sz="1200" b="0" i="0" kern="1200" dirty="0" err="1">
                <a:solidFill>
                  <a:schemeClr val="tx1"/>
                </a:solidFill>
                <a:effectLst/>
                <a:latin typeface="+mn-lt"/>
                <a:ea typeface="+mn-ea"/>
                <a:cs typeface="+mn-cs"/>
              </a:rPr>
              <a:t>add</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help</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where</a:t>
            </a:r>
            <a:r>
              <a:rPr lang="hr-HR" sz="1200" b="0" i="0" kern="1200" dirty="0">
                <a:solidFill>
                  <a:schemeClr val="tx1"/>
                </a:solidFill>
                <a:effectLst/>
                <a:latin typeface="+mn-lt"/>
                <a:ea typeface="+mn-ea"/>
                <a:cs typeface="+mn-cs"/>
              </a:rPr>
              <a:t> to limit </a:t>
            </a:r>
            <a:r>
              <a:rPr lang="hr-HR" sz="1200" b="0" i="0" kern="1200" dirty="0" err="1">
                <a:solidFill>
                  <a:schemeClr val="tx1"/>
                </a:solidFill>
                <a:effectLst/>
                <a:latin typeface="+mn-lt"/>
                <a:ea typeface="+mn-ea"/>
                <a:cs typeface="+mn-cs"/>
              </a:rPr>
              <a:t>intake</a:t>
            </a:r>
            <a:r>
              <a:rPr lang="hr-HR" sz="1200" b="0" i="0" kern="1200" dirty="0">
                <a:solidFill>
                  <a:schemeClr val="tx1"/>
                </a:solidFill>
                <a:effectLst/>
                <a:latin typeface="+mn-lt"/>
                <a:ea typeface="+mn-ea"/>
                <a:cs typeface="+mn-cs"/>
              </a:rPr>
              <a:t>). </a:t>
            </a:r>
          </a:p>
          <a:p>
            <a:br>
              <a:rPr lang="hr-HR" sz="1200" b="0" i="0" kern="1200" dirty="0">
                <a:solidFill>
                  <a:schemeClr val="tx1"/>
                </a:solidFill>
                <a:effectLst/>
                <a:latin typeface="+mn-lt"/>
                <a:ea typeface="+mn-ea"/>
                <a:cs typeface="+mn-cs"/>
              </a:rPr>
            </a:br>
            <a:endParaRPr lang="hr-HR" sz="1200" b="0" i="0" kern="1200" dirty="0">
              <a:solidFill>
                <a:schemeClr val="tx1"/>
              </a:solidFill>
              <a:effectLst/>
              <a:latin typeface="+mn-lt"/>
              <a:ea typeface="+mn-ea"/>
              <a:cs typeface="+mn-cs"/>
            </a:endParaRPr>
          </a:p>
          <a:p>
            <a:r>
              <a:rPr lang="hr-HR" sz="1200" b="0" i="0" kern="1200" dirty="0">
                <a:solidFill>
                  <a:schemeClr val="tx1"/>
                </a:solidFill>
                <a:effectLst/>
                <a:latin typeface="+mn-lt"/>
                <a:ea typeface="+mn-ea"/>
                <a:cs typeface="+mn-cs"/>
              </a:rPr>
              <a:t>Napomene za facilitatora</a:t>
            </a:r>
          </a:p>
          <a:p>
            <a:r>
              <a:rPr lang="hr-HR" sz="1200" b="0" i="0" kern="1200" dirty="0">
                <a:solidFill>
                  <a:schemeClr val="tx1"/>
                </a:solidFill>
                <a:effectLst/>
                <a:latin typeface="+mn-lt"/>
                <a:ea typeface="+mn-ea"/>
                <a:cs typeface="+mn-cs"/>
              </a:rPr>
              <a:t>Objasnite obojene trake kao faze tijeka rada. Ključ za interpretaciju je </a:t>
            </a:r>
            <a:r>
              <a:rPr lang="hr-HR" sz="1200" b="0" i="1" kern="1200" dirty="0">
                <a:solidFill>
                  <a:schemeClr val="tx1"/>
                </a:solidFill>
                <a:effectLst/>
                <a:latin typeface="+mn-lt"/>
                <a:ea typeface="+mn-ea"/>
                <a:cs typeface="+mn-cs"/>
              </a:rPr>
              <a:t>širina</a:t>
            </a:r>
            <a:r>
              <a:rPr lang="hr-HR" sz="1200" b="0" i="0" kern="1200" dirty="0">
                <a:solidFill>
                  <a:schemeClr val="tx1"/>
                </a:solidFill>
                <a:effectLst/>
                <a:latin typeface="+mn-lt"/>
                <a:ea typeface="+mn-ea"/>
                <a:cs typeface="+mn-cs"/>
              </a:rPr>
              <a:t> svake trake:</a:t>
            </a:r>
          </a:p>
          <a:p>
            <a:r>
              <a:rPr lang="hr-HR" sz="1200" b="0" i="0" kern="1200" dirty="0">
                <a:solidFill>
                  <a:schemeClr val="tx1"/>
                </a:solidFill>
                <a:effectLst/>
                <a:latin typeface="+mn-lt"/>
                <a:ea typeface="+mn-ea"/>
                <a:cs typeface="+mn-cs"/>
              </a:rPr>
              <a:t>Širenje trake → nastaje usko grlo</a:t>
            </a:r>
          </a:p>
          <a:p>
            <a:r>
              <a:rPr lang="hr-HR" sz="1200" b="0" i="0" kern="1200" dirty="0">
                <a:solidFill>
                  <a:schemeClr val="tx1"/>
                </a:solidFill>
                <a:effectLst/>
                <a:latin typeface="+mn-lt"/>
                <a:ea typeface="+mn-ea"/>
                <a:cs typeface="+mn-cs"/>
              </a:rPr>
              <a:t>Stabilne trake → uravnotežen tijek rada</a:t>
            </a:r>
          </a:p>
          <a:p>
            <a:r>
              <a:rPr lang="hr-HR" sz="1200" b="0" i="0" kern="1200" dirty="0">
                <a:solidFill>
                  <a:schemeClr val="tx1"/>
                </a:solidFill>
                <a:effectLst/>
                <a:latin typeface="+mn-lt"/>
                <a:ea typeface="+mn-ea"/>
                <a:cs typeface="+mn-cs"/>
              </a:rPr>
              <a:t>Sužavanje → smanjenje zaostatka (</a:t>
            </a:r>
            <a:r>
              <a:rPr lang="hr-HR" sz="1200" b="0" i="0" kern="1200" dirty="0" err="1">
                <a:solidFill>
                  <a:schemeClr val="tx1"/>
                </a:solidFill>
                <a:effectLst/>
                <a:latin typeface="+mn-lt"/>
                <a:ea typeface="+mn-ea"/>
                <a:cs typeface="+mn-cs"/>
              </a:rPr>
              <a:t>backloga</a:t>
            </a:r>
            <a:r>
              <a:rPr lang="hr-HR" sz="1200" b="0" i="0" kern="1200" dirty="0">
                <a:solidFill>
                  <a:schemeClr val="tx1"/>
                </a:solidFill>
                <a:effectLst/>
                <a:latin typeface="+mn-lt"/>
                <a:ea typeface="+mn-ea"/>
                <a:cs typeface="+mn-cs"/>
              </a:rPr>
              <a:t>)</a:t>
            </a:r>
          </a:p>
          <a:p>
            <a:r>
              <a:rPr lang="hr-HR" sz="1200" b="0" i="0" kern="1200" dirty="0">
                <a:solidFill>
                  <a:schemeClr val="tx1"/>
                </a:solidFill>
                <a:effectLst/>
                <a:latin typeface="+mn-lt"/>
                <a:ea typeface="+mn-ea"/>
                <a:cs typeface="+mn-cs"/>
              </a:rPr>
              <a:t>Ključne poruke koje treba naglasiti:</a:t>
            </a:r>
          </a:p>
          <a:p>
            <a:r>
              <a:rPr lang="hr-HR" sz="1200" b="0" i="0" kern="1200" dirty="0">
                <a:solidFill>
                  <a:schemeClr val="tx1"/>
                </a:solidFill>
                <a:effectLst/>
                <a:latin typeface="+mn-lt"/>
                <a:ea typeface="+mn-ea"/>
                <a:cs typeface="+mn-cs"/>
              </a:rPr>
              <a:t>CFD omogućuje ranije uočavanje uskih grla nego </a:t>
            </a:r>
            <a:r>
              <a:rPr lang="hr-HR" sz="1200" b="0" i="0" kern="1200" dirty="0" err="1">
                <a:solidFill>
                  <a:schemeClr val="tx1"/>
                </a:solidFill>
                <a:effectLst/>
                <a:latin typeface="+mn-lt"/>
                <a:ea typeface="+mn-ea"/>
                <a:cs typeface="+mn-cs"/>
              </a:rPr>
              <a:t>burndown</a:t>
            </a:r>
            <a:endParaRPr lang="hr-HR" sz="1200" b="0" i="0" kern="1200" dirty="0">
              <a:solidFill>
                <a:schemeClr val="tx1"/>
              </a:solidFill>
              <a:effectLst/>
              <a:latin typeface="+mn-lt"/>
              <a:ea typeface="+mn-ea"/>
              <a:cs typeface="+mn-cs"/>
            </a:endParaRPr>
          </a:p>
          <a:p>
            <a:r>
              <a:rPr lang="hr-HR" sz="1200" b="0" i="0" kern="1200" dirty="0">
                <a:solidFill>
                  <a:schemeClr val="tx1"/>
                </a:solidFill>
                <a:effectLst/>
                <a:latin typeface="+mn-lt"/>
                <a:ea typeface="+mn-ea"/>
                <a:cs typeface="+mn-cs"/>
              </a:rPr>
              <a:t>Podržava donošenje kvalitetnijih odluka (gdje dodati resurse, gdje ograničiti ulaz novih zadataka)</a:t>
            </a:r>
          </a:p>
          <a:p>
            <a:br>
              <a:rPr lang="hr-HR" sz="1200" b="0" i="0" kern="1200" dirty="0">
                <a:solidFill>
                  <a:schemeClr val="tx1"/>
                </a:solidFill>
                <a:effectLst/>
                <a:latin typeface="+mn-lt"/>
                <a:ea typeface="+mn-ea"/>
                <a:cs typeface="+mn-cs"/>
              </a:rPr>
            </a:br>
            <a:endParaRPr lang="hr-HR" sz="1200" b="0" i="0" kern="1200" dirty="0">
              <a:solidFill>
                <a:schemeClr val="tx1"/>
              </a:solidFill>
              <a:effectLst/>
              <a:latin typeface="+mn-lt"/>
              <a:ea typeface="+mn-ea"/>
              <a:cs typeface="+mn-cs"/>
            </a:endParaRPr>
          </a:p>
          <a:p>
            <a:r>
              <a:rPr lang="hr-HR" sz="1200" b="0" i="0" kern="1200" dirty="0">
                <a:solidFill>
                  <a:schemeClr val="tx1"/>
                </a:solidFill>
                <a:effectLst/>
                <a:latin typeface="+mn-lt"/>
                <a:ea typeface="+mn-ea"/>
                <a:cs typeface="+mn-cs"/>
              </a:rPr>
              <a:t>prevedi: </a:t>
            </a:r>
            <a:r>
              <a:rPr lang="hr-HR" sz="1200" b="0" i="0" kern="1200" dirty="0" err="1">
                <a:solidFill>
                  <a:schemeClr val="tx1"/>
                </a:solidFill>
                <a:effectLst/>
                <a:latin typeface="+mn-lt"/>
                <a:ea typeface="+mn-ea"/>
                <a:cs typeface="+mn-cs"/>
              </a:rPr>
              <a:t>Track</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project</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progress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over</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different</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sprints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highlighting</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the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ﬂow</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of</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work</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and</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any</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rework</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within</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an</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epic</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or</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version</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even</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spread</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over</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several</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sprints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Scope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creep</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adding</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new</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requirements</a:t>
            </a:r>
            <a:r>
              <a:rPr lang="hr-HR" sz="1200" b="0" i="0" kern="1200" dirty="0">
                <a:solidFill>
                  <a:schemeClr val="tx1"/>
                </a:solidFill>
                <a:effectLst/>
                <a:latin typeface="+mn-lt"/>
                <a:ea typeface="+mn-ea"/>
                <a:cs typeface="+mn-cs"/>
              </a:rPr>
              <a:t> to </a:t>
            </a:r>
            <a:r>
              <a:rPr lang="hr-HR" sz="1200" b="0" i="0" kern="1200" dirty="0" err="1">
                <a:solidFill>
                  <a:schemeClr val="tx1"/>
                </a:solidFill>
                <a:effectLst/>
                <a:latin typeface="+mn-lt"/>
                <a:ea typeface="+mn-ea"/>
                <a:cs typeface="+mn-cs"/>
              </a:rPr>
              <a:t>an</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already</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defined</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project</a:t>
            </a:r>
            <a:r>
              <a:rPr lang="hr-HR" sz="1200" b="0" i="0" kern="1200" dirty="0">
                <a:solidFill>
                  <a:schemeClr val="tx1"/>
                </a:solidFill>
                <a:effectLst/>
                <a:latin typeface="+mn-lt"/>
                <a:ea typeface="+mn-ea"/>
                <a:cs typeface="+mn-cs"/>
              </a:rPr>
              <a:t> </a:t>
            </a:r>
          </a:p>
          <a:p>
            <a:br>
              <a:rPr lang="hr-HR" sz="1200" b="0" i="0" kern="1200" dirty="0">
                <a:solidFill>
                  <a:schemeClr val="tx1"/>
                </a:solidFill>
                <a:effectLst/>
                <a:latin typeface="+mn-lt"/>
                <a:ea typeface="+mn-ea"/>
                <a:cs typeface="+mn-cs"/>
              </a:rPr>
            </a:br>
            <a:endParaRPr lang="hr-HR" sz="1200" b="0" i="0" kern="1200" dirty="0">
              <a:solidFill>
                <a:schemeClr val="tx1"/>
              </a:solidFill>
              <a:effectLst/>
              <a:latin typeface="+mn-lt"/>
              <a:ea typeface="+mn-ea"/>
              <a:cs typeface="+mn-cs"/>
            </a:endParaRPr>
          </a:p>
          <a:p>
            <a:r>
              <a:rPr lang="hr-HR" sz="1200" b="0" i="0" kern="1200" dirty="0">
                <a:solidFill>
                  <a:schemeClr val="tx1"/>
                </a:solidFill>
                <a:effectLst/>
                <a:latin typeface="+mn-lt"/>
                <a:ea typeface="+mn-ea"/>
                <a:cs typeface="+mn-cs"/>
              </a:rPr>
              <a:t>Praćenje napretka projekta kroz različite </a:t>
            </a:r>
            <a:r>
              <a:rPr lang="hr-HR" sz="1200" b="0" i="0" kern="1200" dirty="0" err="1">
                <a:solidFill>
                  <a:schemeClr val="tx1"/>
                </a:solidFill>
                <a:effectLst/>
                <a:latin typeface="+mn-lt"/>
                <a:ea typeface="+mn-ea"/>
                <a:cs typeface="+mn-cs"/>
              </a:rPr>
              <a:t>sprinteve</a:t>
            </a:r>
            <a:r>
              <a:rPr lang="hr-HR" sz="1200" b="0" i="0" kern="1200" dirty="0">
                <a:solidFill>
                  <a:schemeClr val="tx1"/>
                </a:solidFill>
                <a:effectLst/>
                <a:latin typeface="+mn-lt"/>
                <a:ea typeface="+mn-ea"/>
                <a:cs typeface="+mn-cs"/>
              </a:rPr>
              <a:t>, uz isticanje tijeka rada i eventualnih dorada (</a:t>
            </a:r>
            <a:r>
              <a:rPr lang="hr-HR" sz="1200" b="0" i="0" kern="1200" dirty="0" err="1">
                <a:solidFill>
                  <a:schemeClr val="tx1"/>
                </a:solidFill>
                <a:effectLst/>
                <a:latin typeface="+mn-lt"/>
                <a:ea typeface="+mn-ea"/>
                <a:cs typeface="+mn-cs"/>
              </a:rPr>
              <a:t>rework</a:t>
            </a:r>
            <a:r>
              <a:rPr lang="hr-HR" sz="1200" b="0" i="0" kern="1200" dirty="0">
                <a:solidFill>
                  <a:schemeClr val="tx1"/>
                </a:solidFill>
                <a:effectLst/>
                <a:latin typeface="+mn-lt"/>
                <a:ea typeface="+mn-ea"/>
                <a:cs typeface="+mn-cs"/>
              </a:rPr>
              <a:t>) unutar jednog </a:t>
            </a:r>
            <a:r>
              <a:rPr lang="hr-HR" sz="1200" b="0" i="0" kern="1200" dirty="0" err="1">
                <a:solidFill>
                  <a:schemeClr val="tx1"/>
                </a:solidFill>
                <a:effectLst/>
                <a:latin typeface="+mn-lt"/>
                <a:ea typeface="+mn-ea"/>
                <a:cs typeface="+mn-cs"/>
              </a:rPr>
              <a:t>epica</a:t>
            </a:r>
            <a:r>
              <a:rPr lang="hr-HR" sz="1200" b="0" i="0" kern="1200" dirty="0">
                <a:solidFill>
                  <a:schemeClr val="tx1"/>
                </a:solidFill>
                <a:effectLst/>
                <a:latin typeface="+mn-lt"/>
                <a:ea typeface="+mn-ea"/>
                <a:cs typeface="+mn-cs"/>
              </a:rPr>
              <a:t> ili verzije (čak i kroz više sprintova).</a:t>
            </a:r>
          </a:p>
          <a:p>
            <a:r>
              <a:rPr lang="hr-HR" sz="1200" b="0" i="0" kern="1200" dirty="0" err="1">
                <a:solidFill>
                  <a:schemeClr val="tx1"/>
                </a:solidFill>
                <a:effectLst/>
                <a:latin typeface="+mn-lt"/>
                <a:ea typeface="+mn-ea"/>
                <a:cs typeface="+mn-cs"/>
              </a:rPr>
              <a:t>Scope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creep</a:t>
            </a:r>
            <a:r>
              <a:rPr lang="hr-HR" sz="1200" b="0" i="0" kern="1200" dirty="0">
                <a:solidFill>
                  <a:schemeClr val="tx1"/>
                </a:solidFill>
                <a:effectLst/>
                <a:latin typeface="+mn-lt"/>
                <a:ea typeface="+mn-ea"/>
                <a:cs typeface="+mn-cs"/>
              </a:rPr>
              <a:t>: dodavanje novih zahtjeva na već definirani projekt.</a:t>
            </a:r>
          </a:p>
          <a:p>
            <a:br>
              <a:rPr lang="hr-HR" sz="1200" b="0" i="0" kern="1200" dirty="0">
                <a:solidFill>
                  <a:schemeClr val="tx1"/>
                </a:solidFill>
                <a:effectLst/>
                <a:latin typeface="+mn-lt"/>
                <a:ea typeface="+mn-ea"/>
                <a:cs typeface="+mn-cs"/>
              </a:rPr>
            </a:br>
            <a:endParaRPr lang="hr-HR" sz="1200" b="0" i="0" kern="1200" dirty="0">
              <a:solidFill>
                <a:schemeClr val="tx1"/>
              </a:solidFill>
              <a:effectLst/>
              <a:latin typeface="+mn-lt"/>
              <a:ea typeface="+mn-ea"/>
              <a:cs typeface="+mn-cs"/>
            </a:endParaRPr>
          </a:p>
          <a:p>
            <a:r>
              <a:rPr lang="hr-HR" sz="1200" b="0" i="0" kern="1200" dirty="0">
                <a:solidFill>
                  <a:schemeClr val="tx1"/>
                </a:solidFill>
                <a:effectLst/>
                <a:latin typeface="+mn-lt"/>
                <a:ea typeface="+mn-ea"/>
                <a:cs typeface="+mn-cs"/>
              </a:rPr>
              <a:t>prevedi: Facilitator notes </a:t>
            </a:r>
            <a:r>
              <a:rPr lang="hr-HR" sz="1200" b="0" i="0" kern="1200" dirty="0" err="1">
                <a:solidFill>
                  <a:schemeClr val="tx1"/>
                </a:solidFill>
                <a:effectLst/>
                <a:latin typeface="+mn-lt"/>
                <a:ea typeface="+mn-ea"/>
                <a:cs typeface="+mn-cs"/>
              </a:rPr>
              <a:t>Explain</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burndown</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charts</a:t>
            </a:r>
            <a:r>
              <a:rPr lang="hr-HR" sz="1200" b="0" i="0" kern="1200" dirty="0">
                <a:solidFill>
                  <a:schemeClr val="tx1"/>
                </a:solidFill>
                <a:effectLst/>
                <a:latin typeface="+mn-lt"/>
                <a:ea typeface="+mn-ea"/>
                <a:cs typeface="+mn-cs"/>
              </a:rPr>
              <a:t> as a </a:t>
            </a:r>
            <a:r>
              <a:rPr lang="hr-HR" sz="1200" b="0" i="0" kern="1200" dirty="0" err="1">
                <a:solidFill>
                  <a:schemeClr val="tx1"/>
                </a:solidFill>
                <a:effectLst/>
                <a:latin typeface="+mn-lt"/>
                <a:ea typeface="+mn-ea"/>
                <a:cs typeface="+mn-cs"/>
              </a:rPr>
              <a:t>way</a:t>
            </a:r>
            <a:r>
              <a:rPr lang="hr-HR" sz="1200" b="0" i="0" kern="1200" dirty="0">
                <a:solidFill>
                  <a:schemeClr val="tx1"/>
                </a:solidFill>
                <a:effectLst/>
                <a:latin typeface="+mn-lt"/>
                <a:ea typeface="+mn-ea"/>
                <a:cs typeface="+mn-cs"/>
              </a:rPr>
              <a:t> to </a:t>
            </a:r>
            <a:r>
              <a:rPr lang="hr-HR" sz="1200" b="0" i="0" kern="1200" dirty="0" err="1">
                <a:solidFill>
                  <a:schemeClr val="tx1"/>
                </a:solidFill>
                <a:effectLst/>
                <a:latin typeface="+mn-lt"/>
                <a:ea typeface="+mn-ea"/>
                <a:cs typeface="+mn-cs"/>
              </a:rPr>
              <a:t>visualize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remaining</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work</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over</a:t>
            </a:r>
            <a:r>
              <a:rPr lang="hr-HR" sz="1200" b="0" i="0" kern="1200" dirty="0">
                <a:solidFill>
                  <a:schemeClr val="tx1"/>
                </a:solidFill>
                <a:effectLst/>
                <a:latin typeface="+mn-lt"/>
                <a:ea typeface="+mn-ea"/>
                <a:cs typeface="+mn-cs"/>
              </a:rPr>
              <a:t> time </a:t>
            </a:r>
            <a:r>
              <a:rPr lang="hr-HR" sz="1200" b="0" i="0" kern="1200" dirty="0" err="1">
                <a:solidFill>
                  <a:schemeClr val="tx1"/>
                </a:solidFill>
                <a:effectLst/>
                <a:latin typeface="+mn-lt"/>
                <a:ea typeface="+mn-ea"/>
                <a:cs typeface="+mn-cs"/>
              </a:rPr>
              <a:t>and</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detect</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risk</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early</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Additional</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resources</a:t>
            </a:r>
            <a:r>
              <a:rPr lang="hr-HR" sz="1200" b="0" i="0" kern="1200" dirty="0">
                <a:solidFill>
                  <a:schemeClr val="tx1"/>
                </a:solidFill>
                <a:effectLst/>
                <a:latin typeface="+mn-lt"/>
                <a:ea typeface="+mn-ea"/>
                <a:cs typeface="+mn-cs"/>
              </a:rPr>
              <a:t> https://linearb.io/blog/release-burndown-chart https://appfire.com/resources/blog/why-epic-burndowns-are-important </a:t>
            </a:r>
          </a:p>
          <a:p>
            <a:br>
              <a:rPr lang="hr-HR" sz="1200" b="0" i="0" kern="1200" dirty="0">
                <a:solidFill>
                  <a:schemeClr val="tx1"/>
                </a:solidFill>
                <a:effectLst/>
                <a:latin typeface="+mn-lt"/>
                <a:ea typeface="+mn-ea"/>
                <a:cs typeface="+mn-cs"/>
              </a:rPr>
            </a:br>
            <a:endParaRPr lang="hr-HR" sz="1200" b="0" i="0" kern="1200" dirty="0">
              <a:solidFill>
                <a:schemeClr val="tx1"/>
              </a:solidFill>
              <a:effectLst/>
              <a:latin typeface="+mn-lt"/>
              <a:ea typeface="+mn-ea"/>
              <a:cs typeface="+mn-cs"/>
            </a:endParaRPr>
          </a:p>
          <a:p>
            <a:r>
              <a:rPr lang="hr-HR" sz="1200" b="0" i="0" kern="1200" dirty="0">
                <a:solidFill>
                  <a:schemeClr val="tx1"/>
                </a:solidFill>
                <a:effectLst/>
                <a:latin typeface="+mn-lt"/>
                <a:ea typeface="+mn-ea"/>
                <a:cs typeface="+mn-cs"/>
              </a:rPr>
              <a:t>Napomene za facilitatora</a:t>
            </a:r>
          </a:p>
          <a:p>
            <a:r>
              <a:rPr lang="hr-HR" sz="1200" b="0" i="0" kern="1200" dirty="0">
                <a:solidFill>
                  <a:schemeClr val="tx1"/>
                </a:solidFill>
                <a:effectLst/>
                <a:latin typeface="+mn-lt"/>
                <a:ea typeface="+mn-ea"/>
                <a:cs typeface="+mn-cs"/>
              </a:rPr>
              <a:t>Objasnite </a:t>
            </a:r>
            <a:r>
              <a:rPr lang="hr-HR" sz="1200" b="0" i="0" kern="1200" dirty="0" err="1">
                <a:solidFill>
                  <a:schemeClr val="tx1"/>
                </a:solidFill>
                <a:effectLst/>
                <a:latin typeface="+mn-lt"/>
                <a:ea typeface="+mn-ea"/>
                <a:cs typeface="+mn-cs"/>
              </a:rPr>
              <a:t>burndown</a:t>
            </a:r>
            <a:r>
              <a:rPr lang="hr-HR" sz="1200" b="0" i="0" kern="1200" dirty="0">
                <a:solidFill>
                  <a:schemeClr val="tx1"/>
                </a:solidFill>
                <a:effectLst/>
                <a:latin typeface="+mn-lt"/>
                <a:ea typeface="+mn-ea"/>
                <a:cs typeface="+mn-cs"/>
              </a:rPr>
              <a:t> grafikon kao način vizualizacije preostalog posla kroz vrijeme i ranog uočavanja rizika.</a:t>
            </a:r>
          </a:p>
          <a:p>
            <a:r>
              <a:rPr lang="hr-HR" sz="1200" b="0" i="0" kern="1200" dirty="0">
                <a:solidFill>
                  <a:schemeClr val="tx1"/>
                </a:solidFill>
                <a:effectLst/>
                <a:latin typeface="+mn-lt"/>
                <a:ea typeface="+mn-ea"/>
                <a:cs typeface="+mn-cs"/>
              </a:rPr>
              <a:t>Dodatni resursi:</a:t>
            </a:r>
            <a:br>
              <a:rPr lang="hr-HR" sz="1200" b="0" i="0" kern="1200" dirty="0">
                <a:solidFill>
                  <a:schemeClr val="tx1"/>
                </a:solidFill>
                <a:effectLst/>
                <a:latin typeface="+mn-lt"/>
                <a:ea typeface="+mn-ea"/>
                <a:cs typeface="+mn-cs"/>
              </a:rPr>
            </a:br>
            <a:r>
              <a:rPr lang="hr-HR" sz="1200" b="0" i="0" kern="1200" dirty="0">
                <a:solidFill>
                  <a:schemeClr val="tx1"/>
                </a:solidFill>
                <a:effectLst/>
                <a:latin typeface="+mn-lt"/>
                <a:ea typeface="+mn-ea"/>
                <a:cs typeface="+mn-cs"/>
                <a:hlinkClick r:id="rId15"/>
              </a:rPr>
              <a:t>https://linearb.io/blog/release-burndown-chart</a:t>
            </a:r>
            <a:br>
              <a:rPr lang="hr-HR" sz="1200" b="0" i="0" kern="1200" dirty="0">
                <a:solidFill>
                  <a:schemeClr val="tx1"/>
                </a:solidFill>
                <a:effectLst/>
                <a:latin typeface="+mn-lt"/>
                <a:ea typeface="+mn-ea"/>
                <a:cs typeface="+mn-cs"/>
              </a:rPr>
            </a:br>
            <a:r>
              <a:rPr lang="hr-HR" sz="1200" b="0" i="0" kern="1200" dirty="0">
                <a:solidFill>
                  <a:schemeClr val="tx1"/>
                </a:solidFill>
                <a:effectLst/>
                <a:latin typeface="+mn-lt"/>
                <a:ea typeface="+mn-ea"/>
                <a:cs typeface="+mn-cs"/>
                <a:hlinkClick r:id="rId16"/>
              </a:rPr>
              <a:t>https://appfire.com/resources/blog/why-epic-burndowns-are-important</a:t>
            </a:r>
            <a:endParaRPr lang="hr-HR" sz="1200" b="0" i="0" kern="1200" dirty="0">
              <a:solidFill>
                <a:schemeClr val="tx1"/>
              </a:solidFill>
              <a:effectLst/>
              <a:latin typeface="+mn-lt"/>
              <a:ea typeface="+mn-ea"/>
              <a:cs typeface="+mn-cs"/>
            </a:endParaRPr>
          </a:p>
          <a:p>
            <a:br>
              <a:rPr lang="hr-HR" sz="1200" b="0" i="0" kern="1200" dirty="0">
                <a:solidFill>
                  <a:schemeClr val="tx1"/>
                </a:solidFill>
                <a:effectLst/>
                <a:latin typeface="+mn-lt"/>
                <a:ea typeface="+mn-ea"/>
                <a:cs typeface="+mn-cs"/>
              </a:rPr>
            </a:br>
            <a:endParaRPr lang="hr-HR" sz="1200" b="0" i="0" kern="1200" dirty="0">
              <a:solidFill>
                <a:schemeClr val="tx1"/>
              </a:solidFill>
              <a:effectLst/>
              <a:latin typeface="+mn-lt"/>
              <a:ea typeface="+mn-ea"/>
              <a:cs typeface="+mn-cs"/>
            </a:endParaRPr>
          </a:p>
          <a:p>
            <a:r>
              <a:rPr lang="hr-HR" sz="1200" b="0" i="0" kern="1200" dirty="0">
                <a:solidFill>
                  <a:schemeClr val="tx1"/>
                </a:solidFill>
                <a:effectLst/>
                <a:latin typeface="+mn-lt"/>
                <a:ea typeface="+mn-ea"/>
                <a:cs typeface="+mn-cs"/>
              </a:rPr>
              <a:t>Note: </a:t>
            </a:r>
            <a:r>
              <a:rPr lang="hr-HR" sz="1200" b="0" i="0" kern="1200" dirty="0" err="1">
                <a:solidFill>
                  <a:schemeClr val="tx1"/>
                </a:solidFill>
                <a:effectLst/>
                <a:latin typeface="+mn-lt"/>
                <a:ea typeface="+mn-ea"/>
                <a:cs typeface="+mn-cs"/>
              </a:rPr>
              <a:t>If</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scope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creep</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between</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several</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epic</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is</a:t>
            </a:r>
            <a:r>
              <a:rPr lang="hr-HR" sz="1200" b="0" i="0" kern="1200" dirty="0">
                <a:solidFill>
                  <a:schemeClr val="tx1"/>
                </a:solidFill>
                <a:effectLst/>
                <a:latin typeface="+mn-lt"/>
                <a:ea typeface="+mn-ea"/>
                <a:cs typeface="+mn-cs"/>
              </a:rPr>
              <a:t> a problem </a:t>
            </a:r>
            <a:r>
              <a:rPr lang="hr-HR" sz="1200" b="0" i="0" kern="1200" dirty="0" err="1">
                <a:solidFill>
                  <a:schemeClr val="tx1"/>
                </a:solidFill>
                <a:effectLst/>
                <a:latin typeface="+mn-lt"/>
                <a:ea typeface="+mn-ea"/>
                <a:cs typeface="+mn-cs"/>
              </a:rPr>
              <a:t>during</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the</a:t>
            </a:r>
            <a:r>
              <a:rPr lang="hr-HR" sz="1200" b="0" i="0" kern="1200" dirty="0">
                <a:solidFill>
                  <a:schemeClr val="tx1"/>
                </a:solidFill>
                <a:effectLst/>
                <a:latin typeface="+mn-lt"/>
                <a:ea typeface="+mn-ea"/>
                <a:cs typeface="+mn-cs"/>
              </a:rPr>
              <a:t> sprint, </a:t>
            </a:r>
            <a:r>
              <a:rPr lang="hr-HR" sz="1200" b="0" i="0" kern="1200" dirty="0" err="1">
                <a:solidFill>
                  <a:schemeClr val="tx1"/>
                </a:solidFill>
                <a:effectLst/>
                <a:latin typeface="+mn-lt"/>
                <a:ea typeface="+mn-ea"/>
                <a:cs typeface="+mn-cs"/>
              </a:rPr>
              <a:t>it</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is</a:t>
            </a:r>
            <a:r>
              <a:rPr lang="hr-HR" sz="1200" b="0" i="0" kern="1200" dirty="0">
                <a:solidFill>
                  <a:schemeClr val="tx1"/>
                </a:solidFill>
                <a:effectLst/>
                <a:latin typeface="+mn-lt"/>
                <a:ea typeface="+mn-ea"/>
                <a:cs typeface="+mn-cs"/>
              </a:rPr>
              <a:t> a </a:t>
            </a:r>
            <a:r>
              <a:rPr lang="hr-HR" sz="1200" b="0" i="0" kern="1200" dirty="0" err="1">
                <a:solidFill>
                  <a:schemeClr val="tx1"/>
                </a:solidFill>
                <a:effectLst/>
                <a:latin typeface="+mn-lt"/>
                <a:ea typeface="+mn-ea"/>
                <a:cs typeface="+mn-cs"/>
              </a:rPr>
              <a:t>natural</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consequence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of</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Agile</a:t>
            </a:r>
            <a:r>
              <a:rPr lang="hr-HR" sz="1200" b="0" i="0" kern="1200" dirty="0">
                <a:solidFill>
                  <a:schemeClr val="tx1"/>
                </a:solidFill>
                <a:effectLst/>
                <a:latin typeface="+mn-lt"/>
                <a:ea typeface="+mn-ea"/>
                <a:cs typeface="+mn-cs"/>
              </a:rPr>
              <a:t> development (</a:t>
            </a:r>
            <a:r>
              <a:rPr lang="hr-HR" sz="1200" b="0" i="0" kern="1200" dirty="0" err="1">
                <a:solidFill>
                  <a:schemeClr val="tx1"/>
                </a:solidFill>
                <a:effectLst/>
                <a:latin typeface="+mn-lt"/>
                <a:ea typeface="+mn-ea"/>
                <a:cs typeface="+mn-cs"/>
              </a:rPr>
              <a:t>the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client</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can</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decide</a:t>
            </a:r>
            <a:r>
              <a:rPr lang="hr-HR" sz="1200" b="0" i="0" kern="1200" dirty="0">
                <a:solidFill>
                  <a:schemeClr val="tx1"/>
                </a:solidFill>
                <a:effectLst/>
                <a:latin typeface="+mn-lt"/>
                <a:ea typeface="+mn-ea"/>
                <a:cs typeface="+mn-cs"/>
              </a:rPr>
              <a:t> to </a:t>
            </a:r>
            <a:r>
              <a:rPr lang="hr-HR" sz="1200" b="0" i="0" kern="1200" dirty="0" err="1">
                <a:solidFill>
                  <a:schemeClr val="tx1"/>
                </a:solidFill>
                <a:effectLst/>
                <a:latin typeface="+mn-lt"/>
                <a:ea typeface="+mn-ea"/>
                <a:cs typeface="+mn-cs"/>
              </a:rPr>
              <a:t>accept</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or</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not</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accept</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the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work</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done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based</a:t>
            </a:r>
            <a:r>
              <a:rPr lang="hr-HR" sz="1200" b="0" i="0" kern="1200" dirty="0">
                <a:solidFill>
                  <a:schemeClr val="tx1"/>
                </a:solidFill>
                <a:effectLst/>
                <a:latin typeface="+mn-lt"/>
                <a:ea typeface="+mn-ea"/>
                <a:cs typeface="+mn-cs"/>
              </a:rPr>
              <a:t> on </a:t>
            </a:r>
            <a:r>
              <a:rPr lang="hr-HR" sz="1200" b="0" i="0" kern="1200" dirty="0" err="1">
                <a:solidFill>
                  <a:schemeClr val="tx1"/>
                </a:solidFill>
                <a:effectLst/>
                <a:latin typeface="+mn-lt"/>
                <a:ea typeface="+mn-ea"/>
                <a:cs typeface="+mn-cs"/>
              </a:rPr>
              <a:t>what</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emerges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during</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the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project</a:t>
            </a:r>
            <a:r>
              <a:rPr lang="hr-HR" sz="1200" b="0" i="0" kern="1200" dirty="0">
                <a:solidFill>
                  <a:schemeClr val="tx1"/>
                </a:solidFill>
                <a:effectLst/>
                <a:latin typeface="+mn-lt"/>
                <a:ea typeface="+mn-ea"/>
                <a:cs typeface="+mn-cs"/>
              </a:rPr>
              <a:t>) </a:t>
            </a:r>
          </a:p>
          <a:p>
            <a:br>
              <a:rPr lang="hr-HR" sz="1200" b="0" i="0" kern="1200" dirty="0">
                <a:solidFill>
                  <a:schemeClr val="tx1"/>
                </a:solidFill>
                <a:effectLst/>
                <a:latin typeface="+mn-lt"/>
                <a:ea typeface="+mn-ea"/>
                <a:cs typeface="+mn-cs"/>
              </a:rPr>
            </a:br>
            <a:endParaRPr lang="hr-HR" sz="1200" b="0" i="0" kern="1200" dirty="0">
              <a:solidFill>
                <a:schemeClr val="tx1"/>
              </a:solidFill>
              <a:effectLst/>
              <a:latin typeface="+mn-lt"/>
              <a:ea typeface="+mn-ea"/>
              <a:cs typeface="+mn-cs"/>
            </a:endParaRPr>
          </a:p>
          <a:p>
            <a:r>
              <a:rPr lang="hr-HR" sz="1200" b="0" i="0" kern="1200" dirty="0">
                <a:solidFill>
                  <a:schemeClr val="tx1"/>
                </a:solidFill>
                <a:effectLst/>
                <a:latin typeface="+mn-lt"/>
                <a:ea typeface="+mn-ea"/>
                <a:cs typeface="+mn-cs"/>
              </a:rPr>
              <a:t>Napomena: Ako je širenje opsega (</a:t>
            </a:r>
            <a:r>
              <a:rPr lang="hr-HR" sz="1200" b="0" i="0" kern="1200" dirty="0" err="1">
                <a:solidFill>
                  <a:schemeClr val="tx1"/>
                </a:solidFill>
                <a:effectLst/>
                <a:latin typeface="+mn-lt"/>
                <a:ea typeface="+mn-ea"/>
                <a:cs typeface="+mn-cs"/>
              </a:rPr>
              <a:t>scope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creep</a:t>
            </a:r>
            <a:r>
              <a:rPr lang="hr-HR" sz="1200" b="0" i="0" kern="1200" dirty="0">
                <a:solidFill>
                  <a:schemeClr val="tx1"/>
                </a:solidFill>
                <a:effectLst/>
                <a:latin typeface="+mn-lt"/>
                <a:ea typeface="+mn-ea"/>
                <a:cs typeface="+mn-cs"/>
              </a:rPr>
              <a:t>) između više </a:t>
            </a:r>
            <a:r>
              <a:rPr lang="hr-HR" sz="1200" b="0" i="0" kern="1200" dirty="0" err="1">
                <a:solidFill>
                  <a:schemeClr val="tx1"/>
                </a:solidFill>
                <a:effectLst/>
                <a:latin typeface="+mn-lt"/>
                <a:ea typeface="+mn-ea"/>
                <a:cs typeface="+mn-cs"/>
              </a:rPr>
              <a:t>epica</a:t>
            </a:r>
            <a:r>
              <a:rPr lang="hr-HR" sz="1200" b="0" i="0" kern="1200" dirty="0">
                <a:solidFill>
                  <a:schemeClr val="tx1"/>
                </a:solidFill>
                <a:effectLst/>
                <a:latin typeface="+mn-lt"/>
                <a:ea typeface="+mn-ea"/>
                <a:cs typeface="+mn-cs"/>
              </a:rPr>
              <a:t> problem tijekom sprinta, to je prirodna posljedica </a:t>
            </a:r>
            <a:r>
              <a:rPr lang="hr-HR" sz="1200" b="0" i="0" kern="1200" dirty="0" err="1">
                <a:solidFill>
                  <a:schemeClr val="tx1"/>
                </a:solidFill>
                <a:effectLst/>
                <a:latin typeface="+mn-lt"/>
                <a:ea typeface="+mn-ea"/>
                <a:cs typeface="+mn-cs"/>
              </a:rPr>
              <a:t>Agile</a:t>
            </a:r>
            <a:r>
              <a:rPr lang="hr-HR" sz="1200" b="0" i="0" kern="1200" dirty="0">
                <a:solidFill>
                  <a:schemeClr val="tx1"/>
                </a:solidFill>
                <a:effectLst/>
                <a:latin typeface="+mn-lt"/>
                <a:ea typeface="+mn-ea"/>
                <a:cs typeface="+mn-cs"/>
              </a:rPr>
              <a:t> razvoja (klijent može odlučiti hoće li prihvatiti ili ne prihvatiti obavljeni posao na temelju onoga što se pojavi tijekom projekta).</a:t>
            </a:r>
          </a:p>
          <a:p>
            <a:br>
              <a:rPr lang="hr-HR" sz="1200" b="0" i="0" kern="1200" dirty="0">
                <a:solidFill>
                  <a:schemeClr val="tx1"/>
                </a:solidFill>
                <a:effectLst/>
                <a:latin typeface="+mn-lt"/>
                <a:ea typeface="+mn-ea"/>
                <a:cs typeface="+mn-cs"/>
              </a:rPr>
            </a:br>
            <a:endParaRPr lang="hr-HR" sz="1200" b="0" i="0" kern="1200" dirty="0">
              <a:solidFill>
                <a:schemeClr val="tx1"/>
              </a:solidFill>
              <a:effectLst/>
              <a:latin typeface="+mn-lt"/>
              <a:ea typeface="+mn-ea"/>
              <a:cs typeface="+mn-cs"/>
            </a:endParaRPr>
          </a:p>
          <a:p>
            <a:r>
              <a:rPr lang="hr-HR" sz="1200" b="0" i="0" kern="1200" dirty="0" err="1">
                <a:solidFill>
                  <a:schemeClr val="tx1"/>
                </a:solidFill>
                <a:effectLst/>
                <a:latin typeface="+mn-lt"/>
                <a:ea typeface="+mn-ea"/>
                <a:cs typeface="+mn-cs"/>
              </a:rPr>
              <a:t>prevedi:Facilitator</a:t>
            </a:r>
            <a:r>
              <a:rPr lang="hr-HR" sz="1200" b="0" i="0" kern="1200" dirty="0">
                <a:solidFill>
                  <a:schemeClr val="tx1"/>
                </a:solidFill>
                <a:effectLst/>
                <a:latin typeface="+mn-lt"/>
                <a:ea typeface="+mn-ea"/>
                <a:cs typeface="+mn-cs"/>
              </a:rPr>
              <a:t> notes </a:t>
            </a:r>
            <a:r>
              <a:rPr lang="hr-HR" sz="1200" b="0" i="0" kern="1200" dirty="0" err="1">
                <a:solidFill>
                  <a:schemeClr val="tx1"/>
                </a:solidFill>
                <a:effectLst/>
                <a:latin typeface="+mn-lt"/>
                <a:ea typeface="+mn-ea"/>
                <a:cs typeface="+mn-cs"/>
              </a:rPr>
              <a:t>Burndown</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is</a:t>
            </a:r>
            <a:r>
              <a:rPr lang="hr-HR" sz="1200" b="0" i="0" kern="1200" dirty="0">
                <a:solidFill>
                  <a:schemeClr val="tx1"/>
                </a:solidFill>
                <a:effectLst/>
                <a:latin typeface="+mn-lt"/>
                <a:ea typeface="+mn-ea"/>
                <a:cs typeface="+mn-cs"/>
              </a:rPr>
              <a:t> most </a:t>
            </a:r>
            <a:r>
              <a:rPr lang="hr-HR" sz="1200" b="0" i="0" kern="1200" dirty="0" err="1">
                <a:solidFill>
                  <a:schemeClr val="tx1"/>
                </a:solidFill>
                <a:effectLst/>
                <a:latin typeface="+mn-lt"/>
                <a:ea typeface="+mn-ea"/>
                <a:cs typeface="+mn-cs"/>
              </a:rPr>
              <a:t>useful</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when</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scope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is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reasonably</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stable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within</a:t>
            </a:r>
            <a:r>
              <a:rPr lang="hr-HR" sz="1200" b="0" i="0" kern="1200" dirty="0">
                <a:solidFill>
                  <a:schemeClr val="tx1"/>
                </a:solidFill>
                <a:effectLst/>
                <a:latin typeface="+mn-lt"/>
                <a:ea typeface="+mn-ea"/>
                <a:cs typeface="+mn-cs"/>
              </a:rPr>
              <a:t> a sprint; </a:t>
            </a:r>
            <a:r>
              <a:rPr lang="hr-HR" sz="1200" b="0" i="0" kern="1200" dirty="0" err="1">
                <a:solidFill>
                  <a:schemeClr val="tx1"/>
                </a:solidFill>
                <a:effectLst/>
                <a:latin typeface="+mn-lt"/>
                <a:ea typeface="+mn-ea"/>
                <a:cs typeface="+mn-cs"/>
              </a:rPr>
              <a:t>otherwise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it</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will</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look</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messy</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and</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can</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demotivate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Additional</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resource</a:t>
            </a:r>
            <a:r>
              <a:rPr lang="hr-HR" sz="1200" b="0" i="0" kern="1200" dirty="0">
                <a:solidFill>
                  <a:schemeClr val="tx1"/>
                </a:solidFill>
                <a:effectLst/>
                <a:latin typeface="+mn-lt"/>
                <a:ea typeface="+mn-ea"/>
                <a:cs typeface="+mn-cs"/>
              </a:rPr>
              <a:t> https://www.ube.ac.uk/whats-happening/articles/scope-creep/ </a:t>
            </a:r>
          </a:p>
          <a:p>
            <a:br>
              <a:rPr lang="hr-HR" sz="1200" b="0" i="0" kern="1200" dirty="0">
                <a:solidFill>
                  <a:schemeClr val="tx1"/>
                </a:solidFill>
                <a:effectLst/>
                <a:latin typeface="+mn-lt"/>
                <a:ea typeface="+mn-ea"/>
                <a:cs typeface="+mn-cs"/>
              </a:rPr>
            </a:br>
            <a:endParaRPr lang="hr-HR" sz="1200" b="0" i="0" kern="1200" dirty="0">
              <a:solidFill>
                <a:schemeClr val="tx1"/>
              </a:solidFill>
              <a:effectLst/>
              <a:latin typeface="+mn-lt"/>
              <a:ea typeface="+mn-ea"/>
              <a:cs typeface="+mn-cs"/>
            </a:endParaRPr>
          </a:p>
          <a:p>
            <a:r>
              <a:rPr lang="hr-HR" sz="1200" b="0" i="0" kern="1200" dirty="0">
                <a:solidFill>
                  <a:schemeClr val="tx1"/>
                </a:solidFill>
                <a:effectLst/>
                <a:latin typeface="+mn-lt"/>
                <a:ea typeface="+mn-ea"/>
                <a:cs typeface="+mn-cs"/>
              </a:rPr>
              <a:t>Napomene za facilitatora</a:t>
            </a:r>
          </a:p>
          <a:p>
            <a:r>
              <a:rPr lang="hr-HR" sz="1200" b="0" i="0" kern="1200" dirty="0" err="1">
                <a:solidFill>
                  <a:schemeClr val="tx1"/>
                </a:solidFill>
                <a:effectLst/>
                <a:latin typeface="+mn-lt"/>
                <a:ea typeface="+mn-ea"/>
                <a:cs typeface="+mn-cs"/>
              </a:rPr>
              <a:t>Burndown</a:t>
            </a:r>
            <a:r>
              <a:rPr lang="hr-HR" sz="1200" b="0" i="0" kern="1200" dirty="0">
                <a:solidFill>
                  <a:schemeClr val="tx1"/>
                </a:solidFill>
                <a:effectLst/>
                <a:latin typeface="+mn-lt"/>
                <a:ea typeface="+mn-ea"/>
                <a:cs typeface="+mn-cs"/>
              </a:rPr>
              <a:t> je najkorisniji kada je opseg rada relativno stabilan unutar sprinta; u suprotnom će izgledati „neuredno” i može demotivirati.</a:t>
            </a:r>
          </a:p>
          <a:p>
            <a:r>
              <a:rPr lang="hr-HR" sz="1200" b="0" i="0" kern="1200" dirty="0">
                <a:solidFill>
                  <a:schemeClr val="tx1"/>
                </a:solidFill>
                <a:effectLst/>
                <a:latin typeface="+mn-lt"/>
                <a:ea typeface="+mn-ea"/>
                <a:cs typeface="+mn-cs"/>
              </a:rPr>
              <a:t>Dodatni resurs:</a:t>
            </a:r>
            <a:br>
              <a:rPr lang="hr-HR" sz="1200" b="0" i="0" kern="1200" dirty="0">
                <a:solidFill>
                  <a:schemeClr val="tx1"/>
                </a:solidFill>
                <a:effectLst/>
                <a:latin typeface="+mn-lt"/>
                <a:ea typeface="+mn-ea"/>
                <a:cs typeface="+mn-cs"/>
              </a:rPr>
            </a:br>
            <a:r>
              <a:rPr lang="hr-HR" sz="1200" b="0" i="0" kern="1200" dirty="0">
                <a:solidFill>
                  <a:schemeClr val="tx1"/>
                </a:solidFill>
                <a:effectLst/>
                <a:latin typeface="+mn-lt"/>
                <a:ea typeface="+mn-ea"/>
                <a:cs typeface="+mn-cs"/>
                <a:hlinkClick r:id="rId17"/>
              </a:rPr>
              <a:t>https://www.ube.ac.uk/whats-happening/articles/scope-creep/</a:t>
            </a:r>
            <a:endParaRPr lang="hr-HR" sz="1200" b="0" i="0" kern="1200" dirty="0">
              <a:solidFill>
                <a:schemeClr val="tx1"/>
              </a:solidFill>
              <a:effectLst/>
              <a:latin typeface="+mn-lt"/>
              <a:ea typeface="+mn-ea"/>
              <a:cs typeface="+mn-cs"/>
            </a:endParaRPr>
          </a:p>
          <a:p>
            <a:br>
              <a:rPr lang="hr-HR" sz="1200" b="0" i="0" kern="1200" dirty="0">
                <a:solidFill>
                  <a:schemeClr val="tx1"/>
                </a:solidFill>
                <a:effectLst/>
                <a:latin typeface="+mn-lt"/>
                <a:ea typeface="+mn-ea"/>
                <a:cs typeface="+mn-cs"/>
              </a:rPr>
            </a:br>
            <a:endParaRPr lang="hr-HR" sz="1200" b="0" i="0" kern="1200" dirty="0">
              <a:solidFill>
                <a:schemeClr val="tx1"/>
              </a:solidFill>
              <a:effectLst/>
              <a:latin typeface="+mn-lt"/>
              <a:ea typeface="+mn-ea"/>
              <a:cs typeface="+mn-cs"/>
            </a:endParaRPr>
          </a:p>
          <a:p>
            <a:r>
              <a:rPr lang="hr-HR" sz="1200" b="0" i="0" kern="1200" dirty="0">
                <a:solidFill>
                  <a:schemeClr val="tx1"/>
                </a:solidFill>
                <a:effectLst/>
                <a:latin typeface="+mn-lt"/>
                <a:ea typeface="+mn-ea"/>
                <a:cs typeface="+mn-cs"/>
              </a:rPr>
              <a:t>prevedi: </a:t>
            </a:r>
            <a:r>
              <a:rPr lang="hr-HR" sz="1200" b="0" i="0" kern="1200" dirty="0" err="1">
                <a:solidFill>
                  <a:schemeClr val="tx1"/>
                </a:solidFill>
                <a:effectLst/>
                <a:latin typeface="+mn-lt"/>
                <a:ea typeface="+mn-ea"/>
                <a:cs typeface="+mn-cs"/>
              </a:rPr>
              <a:t>It</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highlights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the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cycle</a:t>
            </a:r>
            <a:r>
              <a:rPr lang="hr-HR" sz="1200" b="0" i="0" kern="1200" dirty="0">
                <a:solidFill>
                  <a:schemeClr val="tx1"/>
                </a:solidFill>
                <a:effectLst/>
                <a:latin typeface="+mn-lt"/>
                <a:ea typeface="+mn-ea"/>
                <a:cs typeface="+mn-cs"/>
              </a:rPr>
              <a:t> time </a:t>
            </a:r>
            <a:r>
              <a:rPr lang="hr-HR" sz="1200" b="0" i="0" kern="1200" dirty="0" err="1">
                <a:solidFill>
                  <a:schemeClr val="tx1"/>
                </a:solidFill>
                <a:effectLst/>
                <a:latin typeface="+mn-lt"/>
                <a:ea typeface="+mn-ea"/>
                <a:cs typeface="+mn-cs"/>
              </a:rPr>
              <a:t>of</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the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cards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i.e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the</a:t>
            </a:r>
            <a:r>
              <a:rPr lang="hr-HR" sz="1200" b="0" i="0" kern="1200" dirty="0">
                <a:solidFill>
                  <a:schemeClr val="tx1"/>
                </a:solidFill>
                <a:effectLst/>
                <a:latin typeface="+mn-lt"/>
                <a:ea typeface="+mn-ea"/>
                <a:cs typeface="+mn-cs"/>
              </a:rPr>
              <a:t> time </a:t>
            </a:r>
            <a:r>
              <a:rPr lang="hr-HR" sz="1200" b="0" i="0" kern="1200" dirty="0" err="1">
                <a:solidFill>
                  <a:schemeClr val="tx1"/>
                </a:solidFill>
                <a:effectLst/>
                <a:latin typeface="+mn-lt"/>
                <a:ea typeface="+mn-ea"/>
                <a:cs typeface="+mn-cs"/>
              </a:rPr>
              <a:t>between</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doing</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and</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done</a:t>
            </a:r>
            <a:r>
              <a:rPr lang="hr-HR" sz="1200" b="0" i="0" kern="1200" dirty="0">
                <a:solidFill>
                  <a:schemeClr val="tx1"/>
                </a:solidFill>
                <a:effectLst/>
                <a:latin typeface="+mn-lt"/>
                <a:ea typeface="+mn-ea"/>
                <a:cs typeface="+mn-cs"/>
              </a:rPr>
              <a:t>'. In </a:t>
            </a:r>
            <a:r>
              <a:rPr lang="hr-HR" sz="1200" b="0" i="0" kern="1200" dirty="0" err="1">
                <a:solidFill>
                  <a:schemeClr val="tx1"/>
                </a:solidFill>
                <a:effectLst/>
                <a:latin typeface="+mn-lt"/>
                <a:ea typeface="+mn-ea"/>
                <a:cs typeface="+mn-cs"/>
              </a:rPr>
              <a:t>an</a:t>
            </a:r>
            <a:r>
              <a:rPr lang="hr-HR" sz="1200" b="0" i="0" kern="1200" dirty="0">
                <a:solidFill>
                  <a:schemeClr val="tx1"/>
                </a:solidFill>
                <a:effectLst/>
                <a:latin typeface="+mn-lt"/>
                <a:ea typeface="+mn-ea"/>
                <a:cs typeface="+mn-cs"/>
              </a:rPr>
              <a:t> ideal </a:t>
            </a:r>
            <a:r>
              <a:rPr lang="hr-HR" sz="1200" b="0" i="0" kern="1200" dirty="0" err="1">
                <a:solidFill>
                  <a:schemeClr val="tx1"/>
                </a:solidFill>
                <a:effectLst/>
                <a:latin typeface="+mn-lt"/>
                <a:ea typeface="+mn-ea"/>
                <a:cs typeface="+mn-cs"/>
              </a:rPr>
              <a:t>situation</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all</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cards</a:t>
            </a:r>
            <a:r>
              <a:rPr lang="hr-HR" sz="1200" b="0" i="0" kern="1200" dirty="0">
                <a:solidFill>
                  <a:schemeClr val="tx1"/>
                </a:solidFill>
                <a:effectLst/>
                <a:latin typeface="+mn-lt"/>
                <a:ea typeface="+mn-ea"/>
                <a:cs typeface="+mn-cs"/>
              </a:rPr>
              <a:t>/</a:t>
            </a:r>
            <a:r>
              <a:rPr lang="hr-HR" sz="1200" b="0" i="0" kern="1200" dirty="0" err="1">
                <a:solidFill>
                  <a:schemeClr val="tx1"/>
                </a:solidFill>
                <a:effectLst/>
                <a:latin typeface="+mn-lt"/>
                <a:ea typeface="+mn-ea"/>
                <a:cs typeface="+mn-cs"/>
              </a:rPr>
              <a:t>issues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should</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be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below</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the</a:t>
            </a:r>
            <a:r>
              <a:rPr lang="hr-HR" sz="1200" b="0" i="0" kern="1200" dirty="0">
                <a:solidFill>
                  <a:schemeClr val="tx1"/>
                </a:solidFill>
                <a:effectLst/>
                <a:latin typeface="+mn-lt"/>
                <a:ea typeface="+mn-ea"/>
                <a:cs typeface="+mn-cs"/>
              </a:rPr>
              <a:t> red line (</a:t>
            </a:r>
            <a:r>
              <a:rPr lang="hr-HR" sz="1200" b="0" i="0" kern="1200" dirty="0" err="1">
                <a:solidFill>
                  <a:schemeClr val="tx1"/>
                </a:solidFill>
                <a:effectLst/>
                <a:latin typeface="+mn-lt"/>
                <a:ea typeface="+mn-ea"/>
                <a:cs typeface="+mn-cs"/>
              </a:rPr>
              <a:t>average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cycle</a:t>
            </a:r>
            <a:r>
              <a:rPr lang="hr-HR" sz="1200" b="0" i="0" kern="1200" dirty="0">
                <a:solidFill>
                  <a:schemeClr val="tx1"/>
                </a:solidFill>
                <a:effectLst/>
                <a:latin typeface="+mn-lt"/>
                <a:ea typeface="+mn-ea"/>
                <a:cs typeface="+mn-cs"/>
              </a:rPr>
              <a:t> time) In general: Short </a:t>
            </a:r>
            <a:r>
              <a:rPr lang="hr-HR" sz="1200" b="0" i="0" kern="1200" dirty="0" err="1">
                <a:solidFill>
                  <a:schemeClr val="tx1"/>
                </a:solidFill>
                <a:effectLst/>
                <a:latin typeface="+mn-lt"/>
                <a:ea typeface="+mn-ea"/>
                <a:cs typeface="+mn-cs"/>
              </a:rPr>
              <a:t>cycle</a:t>
            </a:r>
            <a:r>
              <a:rPr lang="hr-HR" sz="1200" b="0" i="0" kern="1200" dirty="0">
                <a:solidFill>
                  <a:schemeClr val="tx1"/>
                </a:solidFill>
                <a:effectLst/>
                <a:latin typeface="+mn-lt"/>
                <a:ea typeface="+mn-ea"/>
                <a:cs typeface="+mn-cs"/>
              </a:rPr>
              <a:t> time → </a:t>
            </a:r>
            <a:r>
              <a:rPr lang="hr-HR" sz="1200" b="0" i="0" kern="1200" dirty="0" err="1">
                <a:solidFill>
                  <a:schemeClr val="tx1"/>
                </a:solidFill>
                <a:effectLst/>
                <a:latin typeface="+mn-lt"/>
                <a:ea typeface="+mn-ea"/>
                <a:cs typeface="+mn-cs"/>
              </a:rPr>
              <a:t>High</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productivity</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Constant</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cycle</a:t>
            </a:r>
            <a:r>
              <a:rPr lang="hr-HR" sz="1200" b="0" i="0" kern="1200" dirty="0">
                <a:solidFill>
                  <a:schemeClr val="tx1"/>
                </a:solidFill>
                <a:effectLst/>
                <a:latin typeface="+mn-lt"/>
                <a:ea typeface="+mn-ea"/>
                <a:cs typeface="+mn-cs"/>
              </a:rPr>
              <a:t> time → </a:t>
            </a:r>
            <a:r>
              <a:rPr lang="hr-HR" sz="1200" b="0" i="0" kern="1200" dirty="0" err="1">
                <a:solidFill>
                  <a:schemeClr val="tx1"/>
                </a:solidFill>
                <a:effectLst/>
                <a:latin typeface="+mn-lt"/>
                <a:ea typeface="+mn-ea"/>
                <a:cs typeface="+mn-cs"/>
              </a:rPr>
              <a:t>predictable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delivery</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times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The</a:t>
            </a:r>
            <a:r>
              <a:rPr lang="hr-HR" sz="1200" b="0" i="0" kern="1200" dirty="0">
                <a:solidFill>
                  <a:schemeClr val="tx1"/>
                </a:solidFill>
                <a:effectLst/>
                <a:latin typeface="+mn-lt"/>
                <a:ea typeface="+mn-ea"/>
                <a:cs typeface="+mn-cs"/>
              </a:rPr>
              <a:t> ideal </a:t>
            </a:r>
            <a:r>
              <a:rPr lang="hr-HR" sz="1200" b="0" i="0" kern="1200" dirty="0" err="1">
                <a:solidFill>
                  <a:schemeClr val="tx1"/>
                </a:solidFill>
                <a:effectLst/>
                <a:latin typeface="+mn-lt"/>
                <a:ea typeface="+mn-ea"/>
                <a:cs typeface="+mn-cs"/>
              </a:rPr>
              <a:t>situation</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is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therefore</a:t>
            </a:r>
            <a:r>
              <a:rPr lang="hr-HR" sz="1200" b="0" i="0" kern="1200" dirty="0">
                <a:solidFill>
                  <a:schemeClr val="tx1"/>
                </a:solidFill>
                <a:effectLst/>
                <a:latin typeface="+mn-lt"/>
                <a:ea typeface="+mn-ea"/>
                <a:cs typeface="+mn-cs"/>
              </a:rPr>
              <a:t> to </a:t>
            </a:r>
            <a:r>
              <a:rPr lang="hr-HR" sz="1200" b="0" i="0" kern="1200" dirty="0" err="1">
                <a:solidFill>
                  <a:schemeClr val="tx1"/>
                </a:solidFill>
                <a:effectLst/>
                <a:latin typeface="+mn-lt"/>
                <a:ea typeface="+mn-ea"/>
                <a:cs typeface="+mn-cs"/>
              </a:rPr>
              <a:t>have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teams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with</a:t>
            </a:r>
            <a:r>
              <a:rPr lang="hr-HR" sz="1200" b="0" i="0" kern="1200" dirty="0">
                <a:solidFill>
                  <a:schemeClr val="tx1"/>
                </a:solidFill>
                <a:effectLst/>
                <a:latin typeface="+mn-lt"/>
                <a:ea typeface="+mn-ea"/>
                <a:cs typeface="+mn-cs"/>
              </a:rPr>
              <a:t> short </a:t>
            </a:r>
            <a:r>
              <a:rPr lang="hr-HR" sz="1200" b="0" i="0" kern="1200" dirty="0" err="1">
                <a:solidFill>
                  <a:schemeClr val="tx1"/>
                </a:solidFill>
                <a:effectLst/>
                <a:latin typeface="+mn-lt"/>
                <a:ea typeface="+mn-ea"/>
                <a:cs typeface="+mn-cs"/>
              </a:rPr>
              <a:t>cycle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times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and</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constant</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cycle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times</a:t>
            </a:r>
            <a:r>
              <a:rPr lang="hr-HR" sz="1200" b="0" i="0" kern="1200" dirty="0">
                <a:solidFill>
                  <a:schemeClr val="tx1"/>
                </a:solidFill>
                <a:effectLst/>
                <a:latin typeface="+mn-lt"/>
                <a:ea typeface="+mn-ea"/>
                <a:cs typeface="+mn-cs"/>
              </a:rPr>
              <a:t>. </a:t>
            </a:r>
          </a:p>
          <a:p>
            <a:br>
              <a:rPr lang="hr-HR" sz="1200" b="0" i="0" kern="1200" dirty="0">
                <a:solidFill>
                  <a:schemeClr val="tx1"/>
                </a:solidFill>
                <a:effectLst/>
                <a:latin typeface="+mn-lt"/>
                <a:ea typeface="+mn-ea"/>
                <a:cs typeface="+mn-cs"/>
              </a:rPr>
            </a:br>
            <a:endParaRPr lang="hr-HR" sz="1200" b="0" i="0" kern="1200" dirty="0">
              <a:solidFill>
                <a:schemeClr val="tx1"/>
              </a:solidFill>
              <a:effectLst/>
              <a:latin typeface="+mn-lt"/>
              <a:ea typeface="+mn-ea"/>
              <a:cs typeface="+mn-cs"/>
            </a:endParaRPr>
          </a:p>
          <a:p>
            <a:r>
              <a:rPr lang="hr-HR" sz="1200" b="0" i="0" kern="1200" dirty="0">
                <a:solidFill>
                  <a:schemeClr val="tx1"/>
                </a:solidFill>
                <a:effectLst/>
                <a:latin typeface="+mn-lt"/>
                <a:ea typeface="+mn-ea"/>
                <a:cs typeface="+mn-cs"/>
              </a:rPr>
              <a:t>Ističe vrijeme ciklusa zadataka (</a:t>
            </a:r>
            <a:r>
              <a:rPr lang="hr-HR" sz="1200" b="0" i="0" kern="1200" dirty="0" err="1">
                <a:solidFill>
                  <a:schemeClr val="tx1"/>
                </a:solidFill>
                <a:effectLst/>
                <a:latin typeface="+mn-lt"/>
                <a:ea typeface="+mn-ea"/>
                <a:cs typeface="+mn-cs"/>
              </a:rPr>
              <a:t>cycle</a:t>
            </a:r>
            <a:r>
              <a:rPr lang="hr-HR" sz="1200" b="0" i="0" kern="1200" dirty="0">
                <a:solidFill>
                  <a:schemeClr val="tx1"/>
                </a:solidFill>
                <a:effectLst/>
                <a:latin typeface="+mn-lt"/>
                <a:ea typeface="+mn-ea"/>
                <a:cs typeface="+mn-cs"/>
              </a:rPr>
              <a:t> time), odnosno vrijeme između faza „</a:t>
            </a:r>
            <a:r>
              <a:rPr lang="hr-HR" sz="1200" b="0" i="0" kern="1200" dirty="0" err="1">
                <a:solidFill>
                  <a:schemeClr val="tx1"/>
                </a:solidFill>
                <a:effectLst/>
                <a:latin typeface="+mn-lt"/>
                <a:ea typeface="+mn-ea"/>
                <a:cs typeface="+mn-cs"/>
              </a:rPr>
              <a:t>doing</a:t>
            </a:r>
            <a:r>
              <a:rPr lang="hr-HR" sz="1200" b="0" i="0" kern="1200" dirty="0">
                <a:solidFill>
                  <a:schemeClr val="tx1"/>
                </a:solidFill>
                <a:effectLst/>
                <a:latin typeface="+mn-lt"/>
                <a:ea typeface="+mn-ea"/>
                <a:cs typeface="+mn-cs"/>
              </a:rPr>
              <a:t>” i „</a:t>
            </a:r>
            <a:r>
              <a:rPr lang="hr-HR" sz="1200" b="0" i="0" kern="1200" dirty="0" err="1">
                <a:solidFill>
                  <a:schemeClr val="tx1"/>
                </a:solidFill>
                <a:effectLst/>
                <a:latin typeface="+mn-lt"/>
                <a:ea typeface="+mn-ea"/>
                <a:cs typeface="+mn-cs"/>
              </a:rPr>
              <a:t>done</a:t>
            </a:r>
            <a:r>
              <a:rPr lang="hr-HR" sz="1200" b="0" i="0" kern="1200" dirty="0">
                <a:solidFill>
                  <a:schemeClr val="tx1"/>
                </a:solidFill>
                <a:effectLst/>
                <a:latin typeface="+mn-lt"/>
                <a:ea typeface="+mn-ea"/>
                <a:cs typeface="+mn-cs"/>
              </a:rPr>
              <a:t>”.</a:t>
            </a:r>
            <a:br>
              <a:rPr lang="hr-HR" sz="1200" b="0" i="0" kern="1200" dirty="0">
                <a:solidFill>
                  <a:schemeClr val="tx1"/>
                </a:solidFill>
                <a:effectLst/>
                <a:latin typeface="+mn-lt"/>
                <a:ea typeface="+mn-ea"/>
                <a:cs typeface="+mn-cs"/>
              </a:rPr>
            </a:br>
            <a:r>
              <a:rPr lang="hr-HR" sz="1200" b="0" i="0" kern="1200" dirty="0">
                <a:solidFill>
                  <a:schemeClr val="tx1"/>
                </a:solidFill>
                <a:effectLst/>
                <a:latin typeface="+mn-lt"/>
                <a:ea typeface="+mn-ea"/>
                <a:cs typeface="+mn-cs"/>
              </a:rPr>
              <a:t>U idealnoj situaciji, svi zadaci (kartice/</a:t>
            </a:r>
            <a:r>
              <a:rPr lang="hr-HR" sz="1200" b="0" i="0" kern="1200" dirty="0" err="1">
                <a:solidFill>
                  <a:schemeClr val="tx1"/>
                </a:solidFill>
                <a:effectLst/>
                <a:latin typeface="+mn-lt"/>
                <a:ea typeface="+mn-ea"/>
                <a:cs typeface="+mn-cs"/>
              </a:rPr>
              <a:t>issues</a:t>
            </a:r>
            <a:r>
              <a:rPr lang="hr-HR" sz="1200" b="0" i="0" kern="1200" dirty="0">
                <a:solidFill>
                  <a:schemeClr val="tx1"/>
                </a:solidFill>
                <a:effectLst/>
                <a:latin typeface="+mn-lt"/>
                <a:ea typeface="+mn-ea"/>
                <a:cs typeface="+mn-cs"/>
              </a:rPr>
              <a:t>) trebali bi biti ispod crvene linije (prosječno vrijeme ciklusa).</a:t>
            </a:r>
          </a:p>
          <a:p>
            <a:r>
              <a:rPr lang="hr-HR" sz="1200" b="0" i="0" kern="1200" dirty="0">
                <a:solidFill>
                  <a:schemeClr val="tx1"/>
                </a:solidFill>
                <a:effectLst/>
                <a:latin typeface="+mn-lt"/>
                <a:ea typeface="+mn-ea"/>
                <a:cs typeface="+mn-cs"/>
              </a:rPr>
              <a:t>Općenito:</a:t>
            </a:r>
          </a:p>
          <a:p>
            <a:r>
              <a:rPr lang="hr-HR" sz="1200" b="0" i="0" kern="1200" dirty="0">
                <a:solidFill>
                  <a:schemeClr val="tx1"/>
                </a:solidFill>
                <a:effectLst/>
                <a:latin typeface="+mn-lt"/>
                <a:ea typeface="+mn-ea"/>
                <a:cs typeface="+mn-cs"/>
              </a:rPr>
              <a:t>Kratko vrijeme ciklusa → visoka produktivnost</a:t>
            </a:r>
          </a:p>
          <a:p>
            <a:r>
              <a:rPr lang="hr-HR" sz="1200" b="0" i="0" kern="1200" dirty="0">
                <a:solidFill>
                  <a:schemeClr val="tx1"/>
                </a:solidFill>
                <a:effectLst/>
                <a:latin typeface="+mn-lt"/>
                <a:ea typeface="+mn-ea"/>
                <a:cs typeface="+mn-cs"/>
              </a:rPr>
              <a:t>Stabilno (konstantno) vrijeme ciklusa → predvidivo vrijeme isporuke</a:t>
            </a:r>
          </a:p>
          <a:p>
            <a:r>
              <a:rPr lang="hr-HR" sz="1200" b="0" i="0" kern="1200" dirty="0">
                <a:solidFill>
                  <a:schemeClr val="tx1"/>
                </a:solidFill>
                <a:effectLst/>
                <a:latin typeface="+mn-lt"/>
                <a:ea typeface="+mn-ea"/>
                <a:cs typeface="+mn-cs"/>
              </a:rPr>
              <a:t>Idealna situacija je stoga imati timove s kratkim i stabilnim vremenima ciklusa.</a:t>
            </a:r>
          </a:p>
          <a:p>
            <a:br>
              <a:rPr lang="hr-HR" sz="1200" b="0" i="0" kern="1200" dirty="0">
                <a:solidFill>
                  <a:schemeClr val="tx1"/>
                </a:solidFill>
                <a:effectLst/>
                <a:latin typeface="+mn-lt"/>
                <a:ea typeface="+mn-ea"/>
                <a:cs typeface="+mn-cs"/>
              </a:rPr>
            </a:br>
            <a:endParaRPr lang="hr-HR" sz="1200" b="0" i="0" kern="1200" dirty="0">
              <a:solidFill>
                <a:schemeClr val="tx1"/>
              </a:solidFill>
              <a:effectLst/>
              <a:latin typeface="+mn-lt"/>
              <a:ea typeface="+mn-ea"/>
              <a:cs typeface="+mn-cs"/>
            </a:endParaRPr>
          </a:p>
          <a:p>
            <a:r>
              <a:rPr lang="hr-HR" sz="1200" b="0" i="0" kern="1200" dirty="0">
                <a:solidFill>
                  <a:schemeClr val="tx1"/>
                </a:solidFill>
                <a:effectLst/>
                <a:latin typeface="+mn-lt"/>
                <a:ea typeface="+mn-ea"/>
                <a:cs typeface="+mn-cs"/>
              </a:rPr>
              <a:t>prevedi: Facilitator notes </a:t>
            </a:r>
            <a:r>
              <a:rPr lang="hr-HR" sz="1200" b="0" i="0" kern="1200" dirty="0" err="1">
                <a:solidFill>
                  <a:schemeClr val="tx1"/>
                </a:solidFill>
                <a:effectLst/>
                <a:latin typeface="+mn-lt"/>
                <a:ea typeface="+mn-ea"/>
                <a:cs typeface="+mn-cs"/>
              </a:rPr>
              <a:t>Introduce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control</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charts</a:t>
            </a:r>
            <a:r>
              <a:rPr lang="hr-HR" sz="1200" b="0" i="0" kern="1200" dirty="0">
                <a:solidFill>
                  <a:schemeClr val="tx1"/>
                </a:solidFill>
                <a:effectLst/>
                <a:latin typeface="+mn-lt"/>
                <a:ea typeface="+mn-ea"/>
                <a:cs typeface="+mn-cs"/>
              </a:rPr>
              <a:t> as a </a:t>
            </a:r>
            <a:r>
              <a:rPr lang="hr-HR" sz="1200" b="0" i="0" kern="1200" dirty="0" err="1">
                <a:solidFill>
                  <a:schemeClr val="tx1"/>
                </a:solidFill>
                <a:effectLst/>
                <a:latin typeface="+mn-lt"/>
                <a:ea typeface="+mn-ea"/>
                <a:cs typeface="+mn-cs"/>
              </a:rPr>
              <a:t>way</a:t>
            </a:r>
            <a:r>
              <a:rPr lang="hr-HR" sz="1200" b="0" i="0" kern="1200" dirty="0">
                <a:solidFill>
                  <a:schemeClr val="tx1"/>
                </a:solidFill>
                <a:effectLst/>
                <a:latin typeface="+mn-lt"/>
                <a:ea typeface="+mn-ea"/>
                <a:cs typeface="+mn-cs"/>
              </a:rPr>
              <a:t> to monitor </a:t>
            </a:r>
            <a:r>
              <a:rPr lang="hr-HR" sz="1200" b="0" i="0" kern="1200" dirty="0" err="1">
                <a:solidFill>
                  <a:schemeClr val="tx1"/>
                </a:solidFill>
                <a:effectLst/>
                <a:latin typeface="+mn-lt"/>
                <a:ea typeface="+mn-ea"/>
                <a:cs typeface="+mn-cs"/>
              </a:rPr>
              <a:t>cycle</a:t>
            </a:r>
            <a:r>
              <a:rPr lang="hr-HR" sz="1200" b="0" i="0" kern="1200" dirty="0">
                <a:solidFill>
                  <a:schemeClr val="tx1"/>
                </a:solidFill>
                <a:effectLst/>
                <a:latin typeface="+mn-lt"/>
                <a:ea typeface="+mn-ea"/>
                <a:cs typeface="+mn-cs"/>
              </a:rPr>
              <a:t> time (how </a:t>
            </a:r>
            <a:r>
              <a:rPr lang="hr-HR" sz="1200" b="0" i="0" kern="1200" dirty="0" err="1">
                <a:solidFill>
                  <a:schemeClr val="tx1"/>
                </a:solidFill>
                <a:effectLst/>
                <a:latin typeface="+mn-lt"/>
                <a:ea typeface="+mn-ea"/>
                <a:cs typeface="+mn-cs"/>
              </a:rPr>
              <a:t>long</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items</a:t>
            </a:r>
            <a:r>
              <a:rPr lang="hr-HR" sz="1200" b="0" i="0" kern="1200" dirty="0">
                <a:solidFill>
                  <a:schemeClr val="tx1"/>
                </a:solidFill>
                <a:effectLst/>
                <a:latin typeface="+mn-lt"/>
                <a:ea typeface="+mn-ea"/>
                <a:cs typeface="+mn-cs"/>
              </a:rPr>
              <a:t> take </a:t>
            </a:r>
            <a:r>
              <a:rPr lang="hr-HR" sz="1200" b="0" i="0" kern="1200" dirty="0" err="1">
                <a:solidFill>
                  <a:schemeClr val="tx1"/>
                </a:solidFill>
                <a:effectLst/>
                <a:latin typeface="+mn-lt"/>
                <a:ea typeface="+mn-ea"/>
                <a:cs typeface="+mn-cs"/>
              </a:rPr>
              <a:t>from</a:t>
            </a:r>
            <a:r>
              <a:rPr lang="hr-HR" sz="1200" b="0" i="0" kern="1200" dirty="0">
                <a:solidFill>
                  <a:schemeClr val="tx1"/>
                </a:solidFill>
                <a:effectLst/>
                <a:latin typeface="+mn-lt"/>
                <a:ea typeface="+mn-ea"/>
                <a:cs typeface="+mn-cs"/>
              </a:rPr>
              <a:t> start to </a:t>
            </a:r>
            <a:r>
              <a:rPr lang="hr-HR" sz="1200" b="0" i="0" kern="1200" dirty="0" err="1">
                <a:solidFill>
                  <a:schemeClr val="tx1"/>
                </a:solidFill>
                <a:effectLst/>
                <a:latin typeface="+mn-lt"/>
                <a:ea typeface="+mn-ea"/>
                <a:cs typeface="+mn-cs"/>
              </a:rPr>
              <a:t>finish</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Explain</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what</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good</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looks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like</a:t>
            </a:r>
            <a:r>
              <a:rPr lang="hr-HR" sz="1200" b="0" i="0" kern="1200" dirty="0">
                <a:solidFill>
                  <a:schemeClr val="tx1"/>
                </a:solidFill>
                <a:effectLst/>
                <a:latin typeface="+mn-lt"/>
                <a:ea typeface="+mn-ea"/>
                <a:cs typeface="+mn-cs"/>
              </a:rPr>
              <a:t>: Short </a:t>
            </a:r>
            <a:r>
              <a:rPr lang="hr-HR" sz="1200" b="0" i="0" kern="1200" dirty="0" err="1">
                <a:solidFill>
                  <a:schemeClr val="tx1"/>
                </a:solidFill>
                <a:effectLst/>
                <a:latin typeface="+mn-lt"/>
                <a:ea typeface="+mn-ea"/>
                <a:cs typeface="+mn-cs"/>
              </a:rPr>
              <a:t>cycle</a:t>
            </a:r>
            <a:r>
              <a:rPr lang="hr-HR" sz="1200" b="0" i="0" kern="1200" dirty="0">
                <a:solidFill>
                  <a:schemeClr val="tx1"/>
                </a:solidFill>
                <a:effectLst/>
                <a:latin typeface="+mn-lt"/>
                <a:ea typeface="+mn-ea"/>
                <a:cs typeface="+mn-cs"/>
              </a:rPr>
              <a:t> time → </a:t>
            </a:r>
            <a:r>
              <a:rPr lang="hr-HR" sz="1200" b="0" i="0" kern="1200" dirty="0" err="1">
                <a:solidFill>
                  <a:schemeClr val="tx1"/>
                </a:solidFill>
                <a:effectLst/>
                <a:latin typeface="+mn-lt"/>
                <a:ea typeface="+mn-ea"/>
                <a:cs typeface="+mn-cs"/>
              </a:rPr>
              <a:t>faster</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delivery</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Consistent</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cycle</a:t>
            </a:r>
            <a:r>
              <a:rPr lang="hr-HR" sz="1200" b="0" i="0" kern="1200" dirty="0">
                <a:solidFill>
                  <a:schemeClr val="tx1"/>
                </a:solidFill>
                <a:effectLst/>
                <a:latin typeface="+mn-lt"/>
                <a:ea typeface="+mn-ea"/>
                <a:cs typeface="+mn-cs"/>
              </a:rPr>
              <a:t> time → </a:t>
            </a:r>
            <a:r>
              <a:rPr lang="hr-HR" sz="1200" b="0" i="0" kern="1200" dirty="0" err="1">
                <a:solidFill>
                  <a:schemeClr val="tx1"/>
                </a:solidFill>
                <a:effectLst/>
                <a:latin typeface="+mn-lt"/>
                <a:ea typeface="+mn-ea"/>
                <a:cs typeface="+mn-cs"/>
              </a:rPr>
              <a:t>predictability</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Additional</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resources</a:t>
            </a:r>
            <a:r>
              <a:rPr lang="hr-HR" sz="1200" b="0" i="0" kern="1200" dirty="0">
                <a:solidFill>
                  <a:schemeClr val="tx1"/>
                </a:solidFill>
                <a:effectLst/>
                <a:latin typeface="+mn-lt"/>
                <a:ea typeface="+mn-ea"/>
                <a:cs typeface="+mn-cs"/>
              </a:rPr>
              <a:t> https://leanagiletools.com/control-chart/ https://medium.com/design-bootcamp/agile-lesson-17-control-charts-what-they-are-and-how-to-spot-the-trouble-early-402d649abd35 </a:t>
            </a:r>
          </a:p>
          <a:p>
            <a:br>
              <a:rPr lang="hr-HR" sz="1200" b="0" i="0" kern="1200" dirty="0">
                <a:solidFill>
                  <a:schemeClr val="tx1"/>
                </a:solidFill>
                <a:effectLst/>
                <a:latin typeface="+mn-lt"/>
                <a:ea typeface="+mn-ea"/>
                <a:cs typeface="+mn-cs"/>
              </a:rPr>
            </a:br>
            <a:endParaRPr lang="hr-HR" sz="1200" b="0" i="0" kern="1200" dirty="0">
              <a:solidFill>
                <a:schemeClr val="tx1"/>
              </a:solidFill>
              <a:effectLst/>
              <a:latin typeface="+mn-lt"/>
              <a:ea typeface="+mn-ea"/>
              <a:cs typeface="+mn-cs"/>
            </a:endParaRPr>
          </a:p>
          <a:p>
            <a:r>
              <a:rPr lang="hr-HR" sz="1200" b="0" i="0" kern="1200" dirty="0">
                <a:solidFill>
                  <a:schemeClr val="tx1"/>
                </a:solidFill>
                <a:effectLst/>
                <a:latin typeface="+mn-lt"/>
                <a:ea typeface="+mn-ea"/>
                <a:cs typeface="+mn-cs"/>
              </a:rPr>
              <a:t>Napomene za facilitatora</a:t>
            </a:r>
          </a:p>
          <a:p>
            <a:r>
              <a:rPr lang="hr-HR" sz="1200" b="0" i="0" kern="1200" dirty="0">
                <a:solidFill>
                  <a:schemeClr val="tx1"/>
                </a:solidFill>
                <a:effectLst/>
                <a:latin typeface="+mn-lt"/>
                <a:ea typeface="+mn-ea"/>
                <a:cs typeface="+mn-cs"/>
              </a:rPr>
              <a:t>Predstavite kontrolne grafikone kao način praćenja vremena ciklusa (koliko dugo stavke traju od početka do završetka).</a:t>
            </a:r>
          </a:p>
          <a:p>
            <a:r>
              <a:rPr lang="hr-HR" sz="1200" b="0" i="0" kern="1200" dirty="0">
                <a:solidFill>
                  <a:schemeClr val="tx1"/>
                </a:solidFill>
                <a:effectLst/>
                <a:latin typeface="+mn-lt"/>
                <a:ea typeface="+mn-ea"/>
                <a:cs typeface="+mn-cs"/>
              </a:rPr>
              <a:t>Objasnite kako izgleda „dobro” stanje:</a:t>
            </a:r>
          </a:p>
          <a:p>
            <a:r>
              <a:rPr lang="hr-HR" sz="1200" b="0" i="0" kern="1200" dirty="0">
                <a:solidFill>
                  <a:schemeClr val="tx1"/>
                </a:solidFill>
                <a:effectLst/>
                <a:latin typeface="+mn-lt"/>
                <a:ea typeface="+mn-ea"/>
                <a:cs typeface="+mn-cs"/>
              </a:rPr>
              <a:t>Kratko vrijeme ciklusa → brža isporuka</a:t>
            </a:r>
          </a:p>
          <a:p>
            <a:r>
              <a:rPr lang="hr-HR" sz="1200" b="0" i="0" kern="1200" dirty="0">
                <a:solidFill>
                  <a:schemeClr val="tx1"/>
                </a:solidFill>
                <a:effectLst/>
                <a:latin typeface="+mn-lt"/>
                <a:ea typeface="+mn-ea"/>
                <a:cs typeface="+mn-cs"/>
              </a:rPr>
              <a:t>Konzistentno vrijeme ciklusa → predvidljivost</a:t>
            </a:r>
          </a:p>
          <a:p>
            <a:r>
              <a:rPr lang="hr-HR" sz="1200" b="0" i="0" kern="1200" dirty="0">
                <a:solidFill>
                  <a:schemeClr val="tx1"/>
                </a:solidFill>
                <a:effectLst/>
                <a:latin typeface="+mn-lt"/>
                <a:ea typeface="+mn-ea"/>
                <a:cs typeface="+mn-cs"/>
              </a:rPr>
              <a:t>Dodatni resursi:</a:t>
            </a:r>
            <a:br>
              <a:rPr lang="hr-HR" sz="1200" b="0" i="0" kern="1200" dirty="0">
                <a:solidFill>
                  <a:schemeClr val="tx1"/>
                </a:solidFill>
                <a:effectLst/>
                <a:latin typeface="+mn-lt"/>
                <a:ea typeface="+mn-ea"/>
                <a:cs typeface="+mn-cs"/>
              </a:rPr>
            </a:br>
            <a:r>
              <a:rPr lang="hr-HR" sz="1200" b="0" i="0" kern="1200" dirty="0">
                <a:solidFill>
                  <a:schemeClr val="tx1"/>
                </a:solidFill>
                <a:effectLst/>
                <a:latin typeface="+mn-lt"/>
                <a:ea typeface="+mn-ea"/>
                <a:cs typeface="+mn-cs"/>
                <a:hlinkClick r:id="rId18"/>
              </a:rPr>
              <a:t>https://leanagiletools.com/control-chart/</a:t>
            </a:r>
            <a:br>
              <a:rPr lang="hr-HR" sz="1200" b="0" i="0" kern="1200" dirty="0">
                <a:solidFill>
                  <a:schemeClr val="tx1"/>
                </a:solidFill>
                <a:effectLst/>
                <a:latin typeface="+mn-lt"/>
                <a:ea typeface="+mn-ea"/>
                <a:cs typeface="+mn-cs"/>
              </a:rPr>
            </a:br>
            <a:r>
              <a:rPr lang="hr-HR" sz="1200" b="0" i="0" kern="1200" dirty="0">
                <a:solidFill>
                  <a:schemeClr val="tx1"/>
                </a:solidFill>
                <a:effectLst/>
                <a:latin typeface="+mn-lt"/>
                <a:ea typeface="+mn-ea"/>
                <a:cs typeface="+mn-cs"/>
                <a:hlinkClick r:id="rId19"/>
              </a:rPr>
              <a:t>https://medium.com/design-bootcamp/agile-lesson-17-control-charts-what-they-are-and-how-to-spot-the-trouble-early-402d649abd35</a:t>
            </a:r>
            <a:endParaRPr lang="hr-HR" sz="1200" b="0" i="0" kern="1200" dirty="0">
              <a:solidFill>
                <a:schemeClr val="tx1"/>
              </a:solidFill>
              <a:effectLst/>
              <a:latin typeface="+mn-lt"/>
              <a:ea typeface="+mn-ea"/>
              <a:cs typeface="+mn-cs"/>
            </a:endParaRPr>
          </a:p>
          <a:p>
            <a:br>
              <a:rPr lang="hr-HR" sz="1200" b="0" i="0" kern="1200" dirty="0">
                <a:solidFill>
                  <a:schemeClr val="tx1"/>
                </a:solidFill>
                <a:effectLst/>
                <a:latin typeface="+mn-lt"/>
                <a:ea typeface="+mn-ea"/>
                <a:cs typeface="+mn-cs"/>
              </a:rPr>
            </a:br>
            <a:endParaRPr lang="hr-HR" sz="1200" b="0" i="0" kern="1200" dirty="0">
              <a:solidFill>
                <a:schemeClr val="tx1"/>
              </a:solidFill>
              <a:effectLst/>
              <a:latin typeface="+mn-lt"/>
              <a:ea typeface="+mn-ea"/>
              <a:cs typeface="+mn-cs"/>
            </a:endParaRPr>
          </a:p>
          <a:p>
            <a:r>
              <a:rPr lang="hr-HR" sz="1200" b="0" i="0" kern="1200" dirty="0">
                <a:solidFill>
                  <a:schemeClr val="tx1"/>
                </a:solidFill>
                <a:effectLst/>
                <a:latin typeface="+mn-lt"/>
                <a:ea typeface="+mn-ea"/>
                <a:cs typeface="+mn-cs"/>
              </a:rPr>
              <a:t>prevedi: </a:t>
            </a:r>
            <a:r>
              <a:rPr lang="hr-HR" sz="1200" b="0" i="0" kern="1200" dirty="0" err="1">
                <a:solidFill>
                  <a:schemeClr val="tx1"/>
                </a:solidFill>
                <a:effectLst/>
                <a:latin typeface="+mn-lt"/>
                <a:ea typeface="+mn-ea"/>
                <a:cs typeface="+mn-cs"/>
              </a:rPr>
              <a:t>Quality</a:t>
            </a:r>
            <a:r>
              <a:rPr lang="hr-HR" sz="1200" b="0" i="0" kern="1200" dirty="0">
                <a:solidFill>
                  <a:schemeClr val="tx1"/>
                </a:solidFill>
                <a:effectLst/>
                <a:latin typeface="+mn-lt"/>
                <a:ea typeface="+mn-ea"/>
                <a:cs typeface="+mn-cs"/>
              </a:rPr>
              <a:t> No. </a:t>
            </a:r>
            <a:r>
              <a:rPr lang="hr-HR" sz="1200" b="0" i="0" kern="1200" dirty="0" err="1">
                <a:solidFill>
                  <a:schemeClr val="tx1"/>
                </a:solidFill>
                <a:effectLst/>
                <a:latin typeface="+mn-lt"/>
                <a:ea typeface="+mn-ea"/>
                <a:cs typeface="+mn-cs"/>
              </a:rPr>
              <a:t>of</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reported</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defects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during</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the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project</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after</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release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from</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outside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the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team</a:t>
            </a:r>
            <a:r>
              <a:rPr lang="hr-HR" sz="1200" b="0" i="0" kern="1200" dirty="0">
                <a:solidFill>
                  <a:schemeClr val="tx1"/>
                </a:solidFill>
                <a:effectLst/>
                <a:latin typeface="+mn-lt"/>
                <a:ea typeface="+mn-ea"/>
                <a:cs typeface="+mn-cs"/>
              </a:rPr>
              <a:t>) No. </a:t>
            </a:r>
            <a:r>
              <a:rPr lang="hr-HR" sz="1200" b="0" i="0" kern="1200" dirty="0" err="1">
                <a:solidFill>
                  <a:schemeClr val="tx1"/>
                </a:solidFill>
                <a:effectLst/>
                <a:latin typeface="+mn-lt"/>
                <a:ea typeface="+mn-ea"/>
                <a:cs typeface="+mn-cs"/>
              </a:rPr>
              <a:t>of</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customers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submitting</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support</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requests</a:t>
            </a:r>
            <a:r>
              <a:rPr lang="hr-HR" sz="1200" b="0" i="0" kern="1200" dirty="0">
                <a:solidFill>
                  <a:schemeClr val="tx1"/>
                </a:solidFill>
                <a:effectLst/>
                <a:latin typeface="+mn-lt"/>
                <a:ea typeface="+mn-ea"/>
                <a:cs typeface="+mn-cs"/>
              </a:rPr>
              <a:t> % </a:t>
            </a:r>
            <a:r>
              <a:rPr lang="hr-HR" sz="1200" b="0" i="0" kern="1200" dirty="0" err="1">
                <a:solidFill>
                  <a:schemeClr val="tx1"/>
                </a:solidFill>
                <a:effectLst/>
                <a:latin typeface="+mn-lt"/>
                <a:ea typeface="+mn-ea"/>
                <a:cs typeface="+mn-cs"/>
              </a:rPr>
              <a:t>coverage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of</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tests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carried</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out</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automatically</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Frequency</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Speed</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and</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Diﬃculty</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of</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releases</a:t>
            </a:r>
            <a:r>
              <a:rPr lang="hr-HR" sz="1200" b="0" i="0" kern="1200" dirty="0">
                <a:solidFill>
                  <a:schemeClr val="tx1"/>
                </a:solidFill>
                <a:effectLst/>
                <a:latin typeface="+mn-lt"/>
                <a:ea typeface="+mn-ea"/>
                <a:cs typeface="+mn-cs"/>
              </a:rPr>
              <a:t> </a:t>
            </a:r>
          </a:p>
          <a:p>
            <a:br>
              <a:rPr lang="hr-HR" sz="1200" b="0" i="0" kern="1200" dirty="0">
                <a:solidFill>
                  <a:schemeClr val="tx1"/>
                </a:solidFill>
                <a:effectLst/>
                <a:latin typeface="+mn-lt"/>
                <a:ea typeface="+mn-ea"/>
                <a:cs typeface="+mn-cs"/>
              </a:rPr>
            </a:br>
            <a:endParaRPr lang="hr-HR" sz="1200" b="0" i="0" kern="1200" dirty="0">
              <a:solidFill>
                <a:schemeClr val="tx1"/>
              </a:solidFill>
              <a:effectLst/>
              <a:latin typeface="+mn-lt"/>
              <a:ea typeface="+mn-ea"/>
              <a:cs typeface="+mn-cs"/>
            </a:endParaRPr>
          </a:p>
          <a:p>
            <a:r>
              <a:rPr lang="hr-HR" sz="1200" b="0" i="0" kern="1200" dirty="0">
                <a:solidFill>
                  <a:schemeClr val="tx1"/>
                </a:solidFill>
                <a:effectLst/>
                <a:latin typeface="+mn-lt"/>
                <a:ea typeface="+mn-ea"/>
                <a:cs typeface="+mn-cs"/>
              </a:rPr>
              <a:t>Kvaliteta</a:t>
            </a:r>
          </a:p>
          <a:p>
            <a:r>
              <a:rPr lang="hr-HR" sz="1200" b="0" i="0" kern="1200" dirty="0">
                <a:solidFill>
                  <a:schemeClr val="tx1"/>
                </a:solidFill>
                <a:effectLst/>
                <a:latin typeface="+mn-lt"/>
                <a:ea typeface="+mn-ea"/>
                <a:cs typeface="+mn-cs"/>
              </a:rPr>
              <a:t>broj prijavljenih grešaka (tijekom projekta, nakon objave, izvan tima)</a:t>
            </a:r>
          </a:p>
          <a:p>
            <a:r>
              <a:rPr lang="hr-HR" sz="1200" b="0" i="0" kern="1200" dirty="0">
                <a:solidFill>
                  <a:schemeClr val="tx1"/>
                </a:solidFill>
                <a:effectLst/>
                <a:latin typeface="+mn-lt"/>
                <a:ea typeface="+mn-ea"/>
                <a:cs typeface="+mn-cs"/>
              </a:rPr>
              <a:t>broj korisnika koji podnose zahtjeve za podršku</a:t>
            </a:r>
          </a:p>
          <a:p>
            <a:r>
              <a:rPr lang="hr-HR" sz="1200" b="0" i="0" kern="1200" dirty="0">
                <a:solidFill>
                  <a:schemeClr val="tx1"/>
                </a:solidFill>
                <a:effectLst/>
                <a:latin typeface="+mn-lt"/>
                <a:ea typeface="+mn-ea"/>
                <a:cs typeface="+mn-cs"/>
              </a:rPr>
              <a:t>postotak pokrivenosti testovima koji se provode automatski</a:t>
            </a:r>
          </a:p>
          <a:p>
            <a:r>
              <a:rPr lang="hr-HR" sz="1200" b="0" i="0" kern="1200" dirty="0">
                <a:solidFill>
                  <a:schemeClr val="tx1"/>
                </a:solidFill>
                <a:effectLst/>
                <a:latin typeface="+mn-lt"/>
                <a:ea typeface="+mn-ea"/>
                <a:cs typeface="+mn-cs"/>
              </a:rPr>
              <a:t>Učestalost, brzina i složenost izdanja</a:t>
            </a:r>
          </a:p>
          <a:p>
            <a:br>
              <a:rPr lang="hr-HR" sz="1200" b="0" i="0" kern="1200" dirty="0">
                <a:solidFill>
                  <a:schemeClr val="tx1"/>
                </a:solidFill>
                <a:effectLst/>
                <a:latin typeface="+mn-lt"/>
                <a:ea typeface="+mn-ea"/>
                <a:cs typeface="+mn-cs"/>
              </a:rPr>
            </a:br>
            <a:endParaRPr lang="hr-HR" sz="1200" b="0" i="0" kern="1200" dirty="0">
              <a:solidFill>
                <a:schemeClr val="tx1"/>
              </a:solidFill>
              <a:effectLst/>
              <a:latin typeface="+mn-lt"/>
              <a:ea typeface="+mn-ea"/>
              <a:cs typeface="+mn-cs"/>
            </a:endParaRPr>
          </a:p>
          <a:p>
            <a:r>
              <a:rPr lang="hr-HR" sz="1200" b="0" i="0" kern="1200" dirty="0">
                <a:solidFill>
                  <a:schemeClr val="tx1"/>
                </a:solidFill>
                <a:effectLst/>
                <a:latin typeface="+mn-lt"/>
                <a:ea typeface="+mn-ea"/>
                <a:cs typeface="+mn-cs"/>
              </a:rPr>
              <a:t>Facilitator notes </a:t>
            </a:r>
            <a:r>
              <a:rPr lang="hr-HR" sz="1200" b="0" i="0" kern="1200" dirty="0" err="1">
                <a:solidFill>
                  <a:schemeClr val="tx1"/>
                </a:solidFill>
                <a:effectLst/>
                <a:latin typeface="+mn-lt"/>
                <a:ea typeface="+mn-ea"/>
                <a:cs typeface="+mn-cs"/>
              </a:rPr>
              <a:t>Broaden</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beyond</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speed</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quality</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and</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reliability</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matter</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otherwise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faster</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becomes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faster</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rework</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Explain</a:t>
            </a:r>
            <a:r>
              <a:rPr lang="hr-HR" sz="1200" b="0" i="0" kern="1200" dirty="0">
                <a:solidFill>
                  <a:schemeClr val="tx1"/>
                </a:solidFill>
                <a:effectLst/>
                <a:latin typeface="+mn-lt"/>
                <a:ea typeface="+mn-ea"/>
                <a:cs typeface="+mn-cs"/>
              </a:rPr>
              <a:t> a </a:t>
            </a:r>
            <a:r>
              <a:rPr lang="hr-HR" sz="1200" b="0" i="0" kern="1200" dirty="0" err="1">
                <a:solidFill>
                  <a:schemeClr val="tx1"/>
                </a:solidFill>
                <a:effectLst/>
                <a:latin typeface="+mn-lt"/>
                <a:ea typeface="+mn-ea"/>
                <a:cs typeface="+mn-cs"/>
              </a:rPr>
              <a:t>balanced</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view</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Quality</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indicators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defects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support</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requests</a:t>
            </a:r>
            <a:r>
              <a:rPr lang="hr-HR" sz="1200" b="0" i="0" kern="1200" dirty="0">
                <a:solidFill>
                  <a:schemeClr val="tx1"/>
                </a:solidFill>
                <a:effectLst/>
                <a:latin typeface="+mn-lt"/>
                <a:ea typeface="+mn-ea"/>
                <a:cs typeface="+mn-cs"/>
              </a:rPr>
              <a:t>, test </a:t>
            </a:r>
            <a:r>
              <a:rPr lang="hr-HR" sz="1200" b="0" i="0" kern="1200" dirty="0" err="1">
                <a:solidFill>
                  <a:schemeClr val="tx1"/>
                </a:solidFill>
                <a:effectLst/>
                <a:latin typeface="+mn-lt"/>
                <a:ea typeface="+mn-ea"/>
                <a:cs typeface="+mn-cs"/>
              </a:rPr>
              <a:t>coverage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Delivery</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indicators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release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frequency</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lead</a:t>
            </a:r>
            <a:r>
              <a:rPr lang="hr-HR" sz="1200" b="0" i="0" kern="1200" dirty="0">
                <a:solidFill>
                  <a:schemeClr val="tx1"/>
                </a:solidFill>
                <a:effectLst/>
                <a:latin typeface="+mn-lt"/>
                <a:ea typeface="+mn-ea"/>
                <a:cs typeface="+mn-cs"/>
              </a:rPr>
              <a:t> time) </a:t>
            </a:r>
            <a:r>
              <a:rPr lang="hr-HR" sz="1200" b="0" i="0" kern="1200" dirty="0" err="1">
                <a:solidFill>
                  <a:schemeClr val="tx1"/>
                </a:solidFill>
                <a:effectLst/>
                <a:latin typeface="+mn-lt"/>
                <a:ea typeface="+mn-ea"/>
                <a:cs typeface="+mn-cs"/>
              </a:rPr>
              <a:t>Difficulty</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indicators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deployment</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pain</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rollback</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frequency</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Encourage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teams</a:t>
            </a:r>
            <a:r>
              <a:rPr lang="hr-HR" sz="1200" b="0" i="0" kern="1200" dirty="0">
                <a:solidFill>
                  <a:schemeClr val="tx1"/>
                </a:solidFill>
                <a:effectLst/>
                <a:latin typeface="+mn-lt"/>
                <a:ea typeface="+mn-ea"/>
                <a:cs typeface="+mn-cs"/>
              </a:rPr>
              <a:t> to </a:t>
            </a:r>
            <a:r>
              <a:rPr lang="hr-HR" sz="1200" b="0" i="0" kern="1200" dirty="0" err="1">
                <a:solidFill>
                  <a:schemeClr val="tx1"/>
                </a:solidFill>
                <a:effectLst/>
                <a:latin typeface="+mn-lt"/>
                <a:ea typeface="+mn-ea"/>
                <a:cs typeface="+mn-cs"/>
              </a:rPr>
              <a:t>pick</a:t>
            </a:r>
            <a:r>
              <a:rPr lang="hr-HR" sz="1200" b="0" i="0" kern="1200" dirty="0">
                <a:solidFill>
                  <a:schemeClr val="tx1"/>
                </a:solidFill>
                <a:effectLst/>
                <a:latin typeface="+mn-lt"/>
                <a:ea typeface="+mn-ea"/>
                <a:cs typeface="+mn-cs"/>
              </a:rPr>
              <a:t> a </a:t>
            </a:r>
            <a:r>
              <a:rPr lang="hr-HR" sz="1200" b="0" i="0" kern="1200" dirty="0" err="1">
                <a:solidFill>
                  <a:schemeClr val="tx1"/>
                </a:solidFill>
                <a:effectLst/>
                <a:latin typeface="+mn-lt"/>
                <a:ea typeface="+mn-ea"/>
                <a:cs typeface="+mn-cs"/>
              </a:rPr>
              <a:t>small</a:t>
            </a:r>
            <a:r>
              <a:rPr lang="hr-HR" sz="1200" b="0" i="0" kern="1200" dirty="0">
                <a:solidFill>
                  <a:schemeClr val="tx1"/>
                </a:solidFill>
                <a:effectLst/>
                <a:latin typeface="+mn-lt"/>
                <a:ea typeface="+mn-ea"/>
                <a:cs typeface="+mn-cs"/>
              </a:rPr>
              <a:t> set </a:t>
            </a:r>
            <a:r>
              <a:rPr lang="hr-HR" sz="1200" b="0" i="0" kern="1200" dirty="0" err="1">
                <a:solidFill>
                  <a:schemeClr val="tx1"/>
                </a:solidFill>
                <a:effectLst/>
                <a:latin typeface="+mn-lt"/>
                <a:ea typeface="+mn-ea"/>
                <a:cs typeface="+mn-cs"/>
              </a:rPr>
              <a:t>of</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metrics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that</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answer</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specific</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questions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too</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many</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metrics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dilute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focus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Additional</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resources</a:t>
            </a:r>
            <a:r>
              <a:rPr lang="hr-HR" sz="1200" b="0" i="0" kern="1200" dirty="0">
                <a:solidFill>
                  <a:schemeClr val="tx1"/>
                </a:solidFill>
                <a:effectLst/>
                <a:latin typeface="+mn-lt"/>
                <a:ea typeface="+mn-ea"/>
                <a:cs typeface="+mn-cs"/>
              </a:rPr>
              <a:t> https://axify.io/blog/agile-metrics </a:t>
            </a:r>
          </a:p>
          <a:p>
            <a:br>
              <a:rPr lang="hr-HR" sz="1200" b="0" i="0" kern="1200" dirty="0">
                <a:solidFill>
                  <a:schemeClr val="tx1"/>
                </a:solidFill>
                <a:effectLst/>
                <a:latin typeface="+mn-lt"/>
                <a:ea typeface="+mn-ea"/>
                <a:cs typeface="+mn-cs"/>
              </a:rPr>
            </a:br>
            <a:endParaRPr lang="hr-HR" sz="1200" b="0" i="0" kern="1200" dirty="0">
              <a:solidFill>
                <a:schemeClr val="tx1"/>
              </a:solidFill>
              <a:effectLst/>
              <a:latin typeface="+mn-lt"/>
              <a:ea typeface="+mn-ea"/>
              <a:cs typeface="+mn-cs"/>
            </a:endParaRPr>
          </a:p>
          <a:p>
            <a:r>
              <a:rPr lang="hr-HR" sz="1200" b="0" i="0" kern="1200" dirty="0">
                <a:solidFill>
                  <a:schemeClr val="tx1"/>
                </a:solidFill>
                <a:effectLst/>
                <a:latin typeface="+mn-lt"/>
                <a:ea typeface="+mn-ea"/>
                <a:cs typeface="+mn-cs"/>
              </a:rPr>
              <a:t>Napomene za facilitatora</a:t>
            </a:r>
          </a:p>
          <a:p>
            <a:r>
              <a:rPr lang="hr-HR" sz="1200" b="0" i="0" kern="1200" dirty="0">
                <a:solidFill>
                  <a:schemeClr val="tx1"/>
                </a:solidFill>
                <a:effectLst/>
                <a:latin typeface="+mn-lt"/>
                <a:ea typeface="+mn-ea"/>
                <a:cs typeface="+mn-cs"/>
              </a:rPr>
              <a:t>Proširite fokus izvan brzine: kvaliteta i pouzdanost su ključni, jer inače „brže” postaje „brže ponovno popravljanje (</a:t>
            </a:r>
            <a:r>
              <a:rPr lang="hr-HR" sz="1200" b="0" i="0" kern="1200" dirty="0" err="1">
                <a:solidFill>
                  <a:schemeClr val="tx1"/>
                </a:solidFill>
                <a:effectLst/>
                <a:latin typeface="+mn-lt"/>
                <a:ea typeface="+mn-ea"/>
                <a:cs typeface="+mn-cs"/>
              </a:rPr>
              <a:t>rework</a:t>
            </a:r>
            <a:r>
              <a:rPr lang="hr-HR" sz="1200" b="0" i="0" kern="1200" dirty="0">
                <a:solidFill>
                  <a:schemeClr val="tx1"/>
                </a:solidFill>
                <a:effectLst/>
                <a:latin typeface="+mn-lt"/>
                <a:ea typeface="+mn-ea"/>
                <a:cs typeface="+mn-cs"/>
              </a:rPr>
              <a:t>)”.</a:t>
            </a:r>
          </a:p>
          <a:p>
            <a:r>
              <a:rPr lang="hr-HR" sz="1200" b="0" i="0" kern="1200" dirty="0">
                <a:solidFill>
                  <a:schemeClr val="tx1"/>
                </a:solidFill>
                <a:effectLst/>
                <a:latin typeface="+mn-lt"/>
                <a:ea typeface="+mn-ea"/>
                <a:cs typeface="+mn-cs"/>
              </a:rPr>
              <a:t>Objasnite uravnotežen pristup:</a:t>
            </a:r>
          </a:p>
          <a:p>
            <a:r>
              <a:rPr lang="hr-HR" sz="1200" b="0" i="0" kern="1200" dirty="0">
                <a:solidFill>
                  <a:schemeClr val="tx1"/>
                </a:solidFill>
                <a:effectLst/>
                <a:latin typeface="+mn-lt"/>
                <a:ea typeface="+mn-ea"/>
                <a:cs typeface="+mn-cs"/>
              </a:rPr>
              <a:t>Pokazatelji kvalitete (greške, zahtjevi za podršku, pokrivenost testovima)</a:t>
            </a:r>
          </a:p>
          <a:p>
            <a:r>
              <a:rPr lang="hr-HR" sz="1200" b="0" i="0" kern="1200" dirty="0">
                <a:solidFill>
                  <a:schemeClr val="tx1"/>
                </a:solidFill>
                <a:effectLst/>
                <a:latin typeface="+mn-lt"/>
                <a:ea typeface="+mn-ea"/>
                <a:cs typeface="+mn-cs"/>
              </a:rPr>
              <a:t>Pokazatelji isporuke (učestalost izdanja, </a:t>
            </a:r>
            <a:r>
              <a:rPr lang="hr-HR" sz="1200" b="0" i="0" kern="1200" dirty="0" err="1">
                <a:solidFill>
                  <a:schemeClr val="tx1"/>
                </a:solidFill>
                <a:effectLst/>
                <a:latin typeface="+mn-lt"/>
                <a:ea typeface="+mn-ea"/>
                <a:cs typeface="+mn-cs"/>
              </a:rPr>
              <a:t>lead</a:t>
            </a:r>
            <a:r>
              <a:rPr lang="hr-HR" sz="1200" b="0" i="0" kern="1200" dirty="0">
                <a:solidFill>
                  <a:schemeClr val="tx1"/>
                </a:solidFill>
                <a:effectLst/>
                <a:latin typeface="+mn-lt"/>
                <a:ea typeface="+mn-ea"/>
                <a:cs typeface="+mn-cs"/>
              </a:rPr>
              <a:t> time)</a:t>
            </a:r>
          </a:p>
          <a:p>
            <a:r>
              <a:rPr lang="hr-HR" sz="1200" b="0" i="0" kern="1200" dirty="0">
                <a:solidFill>
                  <a:schemeClr val="tx1"/>
                </a:solidFill>
                <a:effectLst/>
                <a:latin typeface="+mn-lt"/>
                <a:ea typeface="+mn-ea"/>
                <a:cs typeface="+mn-cs"/>
              </a:rPr>
              <a:t>Pokazatelji složenosti (težina implementacije, učestalost povrata na staru verziju – </a:t>
            </a:r>
            <a:r>
              <a:rPr lang="hr-HR" sz="1200" b="0" i="0" kern="1200" dirty="0" err="1">
                <a:solidFill>
                  <a:schemeClr val="tx1"/>
                </a:solidFill>
                <a:effectLst/>
                <a:latin typeface="+mn-lt"/>
                <a:ea typeface="+mn-ea"/>
                <a:cs typeface="+mn-cs"/>
              </a:rPr>
              <a:t>rollback</a:t>
            </a:r>
            <a:r>
              <a:rPr lang="hr-HR" sz="1200" b="0" i="0" kern="1200" dirty="0">
                <a:solidFill>
                  <a:schemeClr val="tx1"/>
                </a:solidFill>
                <a:effectLst/>
                <a:latin typeface="+mn-lt"/>
                <a:ea typeface="+mn-ea"/>
                <a:cs typeface="+mn-cs"/>
              </a:rPr>
              <a:t>)</a:t>
            </a:r>
          </a:p>
          <a:p>
            <a:r>
              <a:rPr lang="hr-HR" sz="1200" b="0" i="0" kern="1200" dirty="0">
                <a:solidFill>
                  <a:schemeClr val="tx1"/>
                </a:solidFill>
                <a:effectLst/>
                <a:latin typeface="+mn-lt"/>
                <a:ea typeface="+mn-ea"/>
                <a:cs typeface="+mn-cs"/>
              </a:rPr>
              <a:t>Potaknite timove da odaberu mali broj metrika koje odgovaraju na konkretna pitanja; previše metrika smanjuje fokus.</a:t>
            </a:r>
          </a:p>
          <a:p>
            <a:r>
              <a:rPr lang="hr-HR" sz="1200" b="0" i="0" kern="1200" dirty="0">
                <a:solidFill>
                  <a:schemeClr val="tx1"/>
                </a:solidFill>
                <a:effectLst/>
                <a:latin typeface="+mn-lt"/>
                <a:ea typeface="+mn-ea"/>
                <a:cs typeface="+mn-cs"/>
              </a:rPr>
              <a:t>Dodatni resurs:</a:t>
            </a:r>
            <a:br>
              <a:rPr lang="hr-HR" sz="1200" b="0" i="0" kern="1200" dirty="0">
                <a:solidFill>
                  <a:schemeClr val="tx1"/>
                </a:solidFill>
                <a:effectLst/>
                <a:latin typeface="+mn-lt"/>
                <a:ea typeface="+mn-ea"/>
                <a:cs typeface="+mn-cs"/>
              </a:rPr>
            </a:br>
            <a:r>
              <a:rPr lang="hr-HR" sz="1200" b="0" i="0" kern="1200" dirty="0">
                <a:solidFill>
                  <a:schemeClr val="tx1"/>
                </a:solidFill>
                <a:effectLst/>
                <a:latin typeface="+mn-lt"/>
                <a:ea typeface="+mn-ea"/>
                <a:cs typeface="+mn-cs"/>
                <a:hlinkClick r:id="rId20"/>
              </a:rPr>
              <a:t>https://axify.io/blog/agile-metrics</a:t>
            </a:r>
            <a:endParaRPr lang="hr-HR" sz="1200" b="0" i="0" kern="1200" dirty="0">
              <a:solidFill>
                <a:schemeClr val="tx1"/>
              </a:solidFill>
              <a:effectLst/>
              <a:latin typeface="+mn-lt"/>
              <a:ea typeface="+mn-ea"/>
              <a:cs typeface="+mn-cs"/>
            </a:endParaRPr>
          </a:p>
          <a:p>
            <a:br>
              <a:rPr lang="hr-HR" sz="1200" b="0" i="0" kern="1200" dirty="0">
                <a:solidFill>
                  <a:schemeClr val="tx1"/>
                </a:solidFill>
                <a:effectLst/>
                <a:latin typeface="+mn-lt"/>
                <a:ea typeface="+mn-ea"/>
                <a:cs typeface="+mn-cs"/>
              </a:rPr>
            </a:br>
            <a:endParaRPr lang="hr-HR" sz="1200" b="0" i="0" kern="1200" dirty="0">
              <a:solidFill>
                <a:schemeClr val="tx1"/>
              </a:solidFill>
              <a:effectLst/>
              <a:latin typeface="+mn-lt"/>
              <a:ea typeface="+mn-ea"/>
              <a:cs typeface="+mn-cs"/>
            </a:endParaRPr>
          </a:p>
          <a:p>
            <a:r>
              <a:rPr lang="hr-HR" sz="1200" b="0" i="0" kern="1200" dirty="0" err="1">
                <a:solidFill>
                  <a:schemeClr val="tx1"/>
                </a:solidFill>
                <a:effectLst/>
                <a:latin typeface="+mn-lt"/>
                <a:ea typeface="+mn-ea"/>
                <a:cs typeface="+mn-cs"/>
              </a:rPr>
              <a:t>Metrics</a:t>
            </a:r>
            <a:r>
              <a:rPr lang="hr-HR" sz="1200" b="0" i="0" kern="1200" dirty="0">
                <a:solidFill>
                  <a:schemeClr val="tx1"/>
                </a:solidFill>
                <a:effectLst/>
                <a:latin typeface="+mn-lt"/>
                <a:ea typeface="+mn-ea"/>
                <a:cs typeface="+mn-cs"/>
              </a:rPr>
              <a:t> are </a:t>
            </a:r>
            <a:r>
              <a:rPr lang="hr-HR" sz="1200" b="0" i="0" kern="1200" dirty="0" err="1">
                <a:solidFill>
                  <a:schemeClr val="tx1"/>
                </a:solidFill>
                <a:effectLst/>
                <a:latin typeface="+mn-lt"/>
                <a:ea typeface="+mn-ea"/>
                <a:cs typeface="+mn-cs"/>
              </a:rPr>
              <a:t>only</a:t>
            </a:r>
            <a:r>
              <a:rPr lang="hr-HR" sz="1200" b="0" i="0" kern="1200" dirty="0">
                <a:solidFill>
                  <a:schemeClr val="tx1"/>
                </a:solidFill>
                <a:effectLst/>
                <a:latin typeface="+mn-lt"/>
                <a:ea typeface="+mn-ea"/>
                <a:cs typeface="+mn-cs"/>
              </a:rPr>
              <a:t> one </a:t>
            </a:r>
            <a:r>
              <a:rPr lang="hr-HR" sz="1200" b="0" i="0" kern="1200" dirty="0" err="1">
                <a:solidFill>
                  <a:schemeClr val="tx1"/>
                </a:solidFill>
                <a:effectLst/>
                <a:latin typeface="+mn-lt"/>
                <a:ea typeface="+mn-ea"/>
                <a:cs typeface="+mn-cs"/>
              </a:rPr>
              <a:t>step</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in</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the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process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of</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building</a:t>
            </a:r>
            <a:r>
              <a:rPr lang="hr-HR" sz="1200" b="0" i="0" kern="1200" dirty="0">
                <a:solidFill>
                  <a:schemeClr val="tx1"/>
                </a:solidFill>
                <a:effectLst/>
                <a:latin typeface="+mn-lt"/>
                <a:ea typeface="+mn-ea"/>
                <a:cs typeface="+mn-cs"/>
              </a:rPr>
              <a:t> a </a:t>
            </a:r>
            <a:r>
              <a:rPr lang="hr-HR" sz="1200" b="0" i="0" kern="1200" dirty="0" err="1">
                <a:solidFill>
                  <a:schemeClr val="tx1"/>
                </a:solidFill>
                <a:effectLst/>
                <a:latin typeface="+mn-lt"/>
                <a:ea typeface="+mn-ea"/>
                <a:cs typeface="+mn-cs"/>
              </a:rPr>
              <a:t>team</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culture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They</a:t>
            </a:r>
            <a:r>
              <a:rPr lang="hr-HR" sz="1200" b="0" i="0" kern="1200" dirty="0">
                <a:solidFill>
                  <a:schemeClr val="tx1"/>
                </a:solidFill>
                <a:effectLst/>
                <a:latin typeface="+mn-lt"/>
                <a:ea typeface="+mn-ea"/>
                <a:cs typeface="+mn-cs"/>
              </a:rPr>
              <a:t> provide </a:t>
            </a:r>
            <a:r>
              <a:rPr lang="hr-HR" sz="1200" b="0" i="0" kern="1200" dirty="0" err="1">
                <a:solidFill>
                  <a:schemeClr val="tx1"/>
                </a:solidFill>
                <a:effectLst/>
                <a:latin typeface="+mn-lt"/>
                <a:ea typeface="+mn-ea"/>
                <a:cs typeface="+mn-cs"/>
              </a:rPr>
              <a:t>evidence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of</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the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team's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performance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and</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measurable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objectives</a:t>
            </a:r>
            <a:r>
              <a:rPr lang="hr-HR" sz="1200" b="0" i="0" kern="1200" dirty="0">
                <a:solidFill>
                  <a:schemeClr val="tx1"/>
                </a:solidFill>
                <a:effectLst/>
                <a:latin typeface="+mn-lt"/>
                <a:ea typeface="+mn-ea"/>
                <a:cs typeface="+mn-cs"/>
              </a:rPr>
              <a:t> for </a:t>
            </a:r>
            <a:r>
              <a:rPr lang="hr-HR" sz="1200" b="0" i="0" kern="1200" dirty="0" err="1">
                <a:solidFill>
                  <a:schemeClr val="tx1"/>
                </a:solidFill>
                <a:effectLst/>
                <a:latin typeface="+mn-lt"/>
                <a:ea typeface="+mn-ea"/>
                <a:cs typeface="+mn-cs"/>
              </a:rPr>
              <a:t>its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members</a:t>
            </a:r>
            <a:r>
              <a:rPr lang="hr-HR" sz="1200" b="0" i="0" kern="1200" dirty="0">
                <a:solidFill>
                  <a:schemeClr val="tx1"/>
                </a:solidFill>
                <a:effectLst/>
                <a:latin typeface="+mn-lt"/>
                <a:ea typeface="+mn-ea"/>
                <a:cs typeface="+mn-cs"/>
              </a:rPr>
              <a:t> but </a:t>
            </a:r>
            <a:r>
              <a:rPr lang="hr-HR" sz="1200" b="0" i="0" kern="1200" dirty="0" err="1">
                <a:solidFill>
                  <a:schemeClr val="tx1"/>
                </a:solidFill>
                <a:effectLst/>
                <a:latin typeface="+mn-lt"/>
                <a:ea typeface="+mn-ea"/>
                <a:cs typeface="+mn-cs"/>
              </a:rPr>
              <a:t>it</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is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important</a:t>
            </a:r>
            <a:r>
              <a:rPr lang="hr-HR" sz="1200" b="0" i="0" kern="1200" dirty="0">
                <a:solidFill>
                  <a:schemeClr val="tx1"/>
                </a:solidFill>
                <a:effectLst/>
                <a:latin typeface="+mn-lt"/>
                <a:ea typeface="+mn-ea"/>
                <a:cs typeface="+mn-cs"/>
              </a:rPr>
              <a:t> to </a:t>
            </a:r>
            <a:r>
              <a:rPr lang="hr-HR" sz="1200" b="0" i="0" kern="1200" dirty="0" err="1">
                <a:solidFill>
                  <a:schemeClr val="tx1"/>
                </a:solidFill>
                <a:effectLst/>
                <a:latin typeface="+mn-lt"/>
                <a:ea typeface="+mn-ea"/>
                <a:cs typeface="+mn-cs"/>
              </a:rPr>
              <a:t>be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able</a:t>
            </a:r>
            <a:r>
              <a:rPr lang="hr-HR" sz="1200" b="0" i="0" kern="1200" dirty="0">
                <a:solidFill>
                  <a:schemeClr val="tx1"/>
                </a:solidFill>
                <a:effectLst/>
                <a:latin typeface="+mn-lt"/>
                <a:ea typeface="+mn-ea"/>
                <a:cs typeface="+mn-cs"/>
              </a:rPr>
              <a:t> to </a:t>
            </a:r>
            <a:r>
              <a:rPr lang="hr-HR" sz="1200" b="0" i="0" kern="1200" dirty="0" err="1">
                <a:solidFill>
                  <a:schemeClr val="tx1"/>
                </a:solidFill>
                <a:effectLst/>
                <a:latin typeface="+mn-lt"/>
                <a:ea typeface="+mn-ea"/>
                <a:cs typeface="+mn-cs"/>
              </a:rPr>
              <a:t>collect</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feedback</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during</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retrospectives</a:t>
            </a:r>
            <a:r>
              <a:rPr lang="hr-HR" sz="1200" b="0" i="0" kern="1200" dirty="0">
                <a:solidFill>
                  <a:schemeClr val="tx1"/>
                </a:solidFill>
                <a:effectLst/>
                <a:latin typeface="+mn-lt"/>
                <a:ea typeface="+mn-ea"/>
                <a:cs typeface="+mn-cs"/>
              </a:rPr>
              <a:t> to </a:t>
            </a:r>
            <a:r>
              <a:rPr lang="hr-HR" sz="1200" b="0" i="0" kern="1200" dirty="0" err="1">
                <a:solidFill>
                  <a:schemeClr val="tx1"/>
                </a:solidFill>
                <a:effectLst/>
                <a:latin typeface="+mn-lt"/>
                <a:ea typeface="+mn-ea"/>
                <a:cs typeface="+mn-cs"/>
              </a:rPr>
              <a:t>increase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the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team's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confidence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the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quality</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of</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products</a:t>
            </a:r>
            <a:r>
              <a:rPr lang="hr-HR" sz="1200" b="0" i="0" kern="1200" dirty="0">
                <a:solidFill>
                  <a:schemeClr val="tx1"/>
                </a:solidFill>
                <a:effectLst/>
                <a:latin typeface="+mn-lt"/>
                <a:ea typeface="+mn-ea"/>
                <a:cs typeface="+mn-cs"/>
              </a:rPr>
              <a:t>/</a:t>
            </a:r>
            <a:r>
              <a:rPr lang="hr-HR" sz="1200" b="0" i="0" kern="1200" dirty="0" err="1">
                <a:solidFill>
                  <a:schemeClr val="tx1"/>
                </a:solidFill>
                <a:effectLst/>
                <a:latin typeface="+mn-lt"/>
                <a:ea typeface="+mn-ea"/>
                <a:cs typeface="+mn-cs"/>
              </a:rPr>
              <a:t>services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and</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speed</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of</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execution</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of</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activities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Both</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quantitative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and</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qualitative</a:t>
            </a:r>
            <a:r>
              <a:rPr lang="hr-HR" sz="1200" b="0" i="0" kern="1200" dirty="0">
                <a:solidFill>
                  <a:schemeClr val="tx1"/>
                </a:solidFill>
                <a:effectLst/>
                <a:latin typeface="+mn-lt"/>
                <a:ea typeface="+mn-ea"/>
                <a:cs typeface="+mn-cs"/>
              </a:rPr>
              <a:t> data are </a:t>
            </a:r>
            <a:r>
              <a:rPr lang="hr-HR" sz="1200" b="0" i="0" kern="1200" dirty="0" err="1">
                <a:solidFill>
                  <a:schemeClr val="tx1"/>
                </a:solidFill>
                <a:effectLst/>
                <a:latin typeface="+mn-lt"/>
                <a:ea typeface="+mn-ea"/>
                <a:cs typeface="+mn-cs"/>
              </a:rPr>
              <a:t>needed</a:t>
            </a:r>
            <a:r>
              <a:rPr lang="hr-HR" sz="1200" b="0" i="0" kern="1200" dirty="0">
                <a:solidFill>
                  <a:schemeClr val="tx1"/>
                </a:solidFill>
                <a:effectLst/>
                <a:latin typeface="+mn-lt"/>
                <a:ea typeface="+mn-ea"/>
                <a:cs typeface="+mn-cs"/>
              </a:rPr>
              <a:t> to </a:t>
            </a:r>
            <a:r>
              <a:rPr lang="hr-HR" sz="1200" b="0" i="0" kern="1200" dirty="0" err="1">
                <a:solidFill>
                  <a:schemeClr val="tx1"/>
                </a:solidFill>
                <a:effectLst/>
                <a:latin typeface="+mn-lt"/>
                <a:ea typeface="+mn-ea"/>
                <a:cs typeface="+mn-cs"/>
              </a:rPr>
              <a:t>drive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change</a:t>
            </a:r>
            <a:r>
              <a:rPr lang="hr-HR" sz="1200" b="0" i="0" kern="1200" dirty="0">
                <a:solidFill>
                  <a:schemeClr val="tx1"/>
                </a:solidFill>
                <a:effectLst/>
                <a:latin typeface="+mn-lt"/>
                <a:ea typeface="+mn-ea"/>
                <a:cs typeface="+mn-cs"/>
              </a:rPr>
              <a:t>! </a:t>
            </a:r>
          </a:p>
          <a:p>
            <a:br>
              <a:rPr lang="hr-HR" sz="1200" b="0" i="0" kern="1200" dirty="0">
                <a:solidFill>
                  <a:schemeClr val="tx1"/>
                </a:solidFill>
                <a:effectLst/>
                <a:latin typeface="+mn-lt"/>
                <a:ea typeface="+mn-ea"/>
                <a:cs typeface="+mn-cs"/>
              </a:rPr>
            </a:br>
            <a:endParaRPr lang="hr-HR" sz="1200" b="0" i="0" kern="1200" dirty="0">
              <a:solidFill>
                <a:schemeClr val="tx1"/>
              </a:solidFill>
              <a:effectLst/>
              <a:latin typeface="+mn-lt"/>
              <a:ea typeface="+mn-ea"/>
              <a:cs typeface="+mn-cs"/>
            </a:endParaRPr>
          </a:p>
          <a:p>
            <a:r>
              <a:rPr lang="hr-HR" sz="1200" b="0" i="0" kern="1200" dirty="0">
                <a:solidFill>
                  <a:schemeClr val="tx1"/>
                </a:solidFill>
                <a:effectLst/>
                <a:latin typeface="+mn-lt"/>
                <a:ea typeface="+mn-ea"/>
                <a:cs typeface="+mn-cs"/>
              </a:rPr>
              <a:t>Metrike su samo jedan korak u procesu izgradnje timske kulture.</a:t>
            </a:r>
            <a:br>
              <a:rPr lang="hr-HR" sz="1200" b="0" i="0" kern="1200" dirty="0">
                <a:solidFill>
                  <a:schemeClr val="tx1"/>
                </a:solidFill>
                <a:effectLst/>
                <a:latin typeface="+mn-lt"/>
                <a:ea typeface="+mn-ea"/>
                <a:cs typeface="+mn-cs"/>
              </a:rPr>
            </a:br>
            <a:r>
              <a:rPr lang="hr-HR" sz="1200" b="0" i="0" kern="1200" dirty="0">
                <a:solidFill>
                  <a:schemeClr val="tx1"/>
                </a:solidFill>
                <a:effectLst/>
                <a:latin typeface="+mn-lt"/>
                <a:ea typeface="+mn-ea"/>
                <a:cs typeface="+mn-cs"/>
              </a:rPr>
              <a:t>One pružaju dokaze o uspješnosti tima i mjerljive ciljeve za njegove članove, no važno je prikupljati povratne informacije tijekom retrospektiva kako bi se povećalo povjerenje u timu, kvaliteta proizvoda/usluga i brzina izvođenja aktivnosti.</a:t>
            </a:r>
          </a:p>
          <a:p>
            <a:r>
              <a:rPr lang="hr-HR" sz="1200" b="0" i="0" kern="1200" dirty="0">
                <a:solidFill>
                  <a:schemeClr val="tx1"/>
                </a:solidFill>
                <a:effectLst/>
                <a:latin typeface="+mn-lt"/>
                <a:ea typeface="+mn-ea"/>
                <a:cs typeface="+mn-cs"/>
              </a:rPr>
              <a:t>Za poticanje promjena potrebni su i kvantitativni i kvalitativni podaci!</a:t>
            </a:r>
          </a:p>
          <a:p>
            <a:br>
              <a:rPr lang="hr-HR" sz="1200" b="0" i="0" kern="1200" dirty="0">
                <a:solidFill>
                  <a:schemeClr val="tx1"/>
                </a:solidFill>
                <a:effectLst/>
                <a:latin typeface="+mn-lt"/>
                <a:ea typeface="+mn-ea"/>
                <a:cs typeface="+mn-cs"/>
              </a:rPr>
            </a:br>
            <a:endParaRPr lang="hr-HR" sz="1200" b="0" i="0" kern="1200" dirty="0">
              <a:solidFill>
                <a:schemeClr val="tx1"/>
              </a:solidFill>
              <a:effectLst/>
              <a:latin typeface="+mn-lt"/>
              <a:ea typeface="+mn-ea"/>
              <a:cs typeface="+mn-cs"/>
            </a:endParaRPr>
          </a:p>
          <a:p>
            <a:r>
              <a:rPr lang="hr-HR" sz="1200" b="0" i="0" kern="1200" dirty="0">
                <a:solidFill>
                  <a:schemeClr val="tx1"/>
                </a:solidFill>
                <a:effectLst/>
                <a:latin typeface="+mn-lt"/>
                <a:ea typeface="+mn-ea"/>
                <a:cs typeface="+mn-cs"/>
              </a:rPr>
              <a:t>prevedi: </a:t>
            </a:r>
            <a:r>
              <a:rPr lang="hr-HR" sz="1200" b="0" i="0" kern="1200" dirty="0" err="1">
                <a:solidFill>
                  <a:schemeClr val="tx1"/>
                </a:solidFill>
                <a:effectLst/>
                <a:latin typeface="+mn-lt"/>
                <a:ea typeface="+mn-ea"/>
                <a:cs typeface="+mn-cs"/>
              </a:rPr>
              <a:t>Agile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offers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benefits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ranging</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from</a:t>
            </a:r>
            <a:r>
              <a:rPr lang="hr-HR" sz="1200" b="0" i="0" kern="1200" dirty="0">
                <a:solidFill>
                  <a:schemeClr val="tx1"/>
                </a:solidFill>
                <a:effectLst/>
                <a:latin typeface="+mn-lt"/>
                <a:ea typeface="+mn-ea"/>
                <a:cs typeface="+mn-cs"/>
              </a:rPr>
              <a:t> more </a:t>
            </a:r>
            <a:r>
              <a:rPr lang="hr-HR" sz="1200" b="0" i="0" kern="1200" dirty="0" err="1">
                <a:solidFill>
                  <a:schemeClr val="tx1"/>
                </a:solidFill>
                <a:effectLst/>
                <a:latin typeface="+mn-lt"/>
                <a:ea typeface="+mn-ea"/>
                <a:cs typeface="+mn-cs"/>
              </a:rPr>
              <a:t>engaged</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employees</a:t>
            </a:r>
            <a:r>
              <a:rPr lang="hr-HR" sz="1200" b="0" i="0" kern="1200" dirty="0">
                <a:solidFill>
                  <a:schemeClr val="tx1"/>
                </a:solidFill>
                <a:effectLst/>
                <a:latin typeface="+mn-lt"/>
                <a:ea typeface="+mn-ea"/>
                <a:cs typeface="+mn-cs"/>
              </a:rPr>
              <a:t> to </a:t>
            </a:r>
            <a:r>
              <a:rPr lang="hr-HR" sz="1200" b="0" i="0" kern="1200" dirty="0" err="1">
                <a:solidFill>
                  <a:schemeClr val="tx1"/>
                </a:solidFill>
                <a:effectLst/>
                <a:latin typeface="+mn-lt"/>
                <a:ea typeface="+mn-ea"/>
                <a:cs typeface="+mn-cs"/>
              </a:rPr>
              <a:t>higher</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performance</a:t>
            </a:r>
            <a:r>
              <a:rPr lang="hr-HR" sz="1200" b="0" i="0" kern="1200" dirty="0">
                <a:solidFill>
                  <a:schemeClr val="tx1"/>
                </a:solidFill>
                <a:effectLst/>
                <a:latin typeface="+mn-lt"/>
                <a:ea typeface="+mn-ea"/>
                <a:cs typeface="+mn-cs"/>
              </a:rPr>
              <a:t>, but </a:t>
            </a:r>
            <a:r>
              <a:rPr lang="hr-HR" sz="1200" b="0" i="0" kern="1200" dirty="0" err="1">
                <a:solidFill>
                  <a:schemeClr val="tx1"/>
                </a:solidFill>
                <a:effectLst/>
                <a:latin typeface="+mn-lt"/>
                <a:ea typeface="+mn-ea"/>
                <a:cs typeface="+mn-cs"/>
              </a:rPr>
              <a:t>not</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so</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fast</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Why</a:t>
            </a:r>
            <a:r>
              <a:rPr lang="hr-HR" sz="1200" b="0" i="0" kern="1200" dirty="0">
                <a:solidFill>
                  <a:schemeClr val="tx1"/>
                </a:solidFill>
                <a:effectLst/>
                <a:latin typeface="+mn-lt"/>
                <a:ea typeface="+mn-ea"/>
                <a:cs typeface="+mn-cs"/>
              </a:rPr>
              <a:t> do </a:t>
            </a:r>
            <a:r>
              <a:rPr lang="hr-HR" sz="1200" b="0" i="0" kern="1200" dirty="0" err="1">
                <a:solidFill>
                  <a:schemeClr val="tx1"/>
                </a:solidFill>
                <a:effectLst/>
                <a:latin typeface="+mn-lt"/>
                <a:ea typeface="+mn-ea"/>
                <a:cs typeface="+mn-cs"/>
              </a:rPr>
              <a:t>Agile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adoption</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projects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often</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fail</a:t>
            </a:r>
            <a:r>
              <a:rPr lang="hr-HR" sz="1200" b="0" i="0" kern="1200" dirty="0">
                <a:solidFill>
                  <a:schemeClr val="tx1"/>
                </a:solidFill>
                <a:effectLst/>
                <a:latin typeface="+mn-lt"/>
                <a:ea typeface="+mn-ea"/>
                <a:cs typeface="+mn-cs"/>
              </a:rPr>
              <a:t>? </a:t>
            </a:r>
          </a:p>
          <a:p>
            <a:br>
              <a:rPr lang="hr-HR" sz="1200" b="0" i="0" kern="1200" dirty="0">
                <a:solidFill>
                  <a:schemeClr val="tx1"/>
                </a:solidFill>
                <a:effectLst/>
                <a:latin typeface="+mn-lt"/>
                <a:ea typeface="+mn-ea"/>
                <a:cs typeface="+mn-cs"/>
              </a:rPr>
            </a:br>
            <a:endParaRPr lang="hr-HR" sz="1200" b="0" i="0" kern="1200" dirty="0">
              <a:solidFill>
                <a:schemeClr val="tx1"/>
              </a:solidFill>
              <a:effectLst/>
              <a:latin typeface="+mn-lt"/>
              <a:ea typeface="+mn-ea"/>
              <a:cs typeface="+mn-cs"/>
            </a:endParaRPr>
          </a:p>
          <a:p>
            <a:r>
              <a:rPr lang="hr-HR" sz="1200" b="0" i="0" kern="1200" dirty="0" err="1">
                <a:solidFill>
                  <a:schemeClr val="tx1"/>
                </a:solidFill>
                <a:effectLst/>
                <a:latin typeface="+mn-lt"/>
                <a:ea typeface="+mn-ea"/>
                <a:cs typeface="+mn-cs"/>
              </a:rPr>
              <a:t>Agile</a:t>
            </a:r>
            <a:r>
              <a:rPr lang="hr-HR" sz="1200" b="0" i="0" kern="1200" dirty="0">
                <a:solidFill>
                  <a:schemeClr val="tx1"/>
                </a:solidFill>
                <a:effectLst/>
                <a:latin typeface="+mn-lt"/>
                <a:ea typeface="+mn-ea"/>
                <a:cs typeface="+mn-cs"/>
              </a:rPr>
              <a:t> donosi brojne prednosti, od većeg angažmana zaposlenika do boljih rezultata — ali ne tako brzo.</a:t>
            </a:r>
          </a:p>
          <a:p>
            <a:r>
              <a:rPr lang="hr-HR" sz="1200" b="0" i="0" kern="1200" dirty="0">
                <a:solidFill>
                  <a:schemeClr val="tx1"/>
                </a:solidFill>
                <a:effectLst/>
                <a:latin typeface="+mn-lt"/>
                <a:ea typeface="+mn-ea"/>
                <a:cs typeface="+mn-cs"/>
              </a:rPr>
              <a:t>Zašto projekti uvođenja </a:t>
            </a:r>
            <a:r>
              <a:rPr lang="hr-HR" sz="1200" b="0" i="0" kern="1200" dirty="0" err="1">
                <a:solidFill>
                  <a:schemeClr val="tx1"/>
                </a:solidFill>
                <a:effectLst/>
                <a:latin typeface="+mn-lt"/>
                <a:ea typeface="+mn-ea"/>
                <a:cs typeface="+mn-cs"/>
              </a:rPr>
              <a:t>Agilea</a:t>
            </a:r>
            <a:r>
              <a:rPr lang="hr-HR" sz="1200" b="0" i="0" kern="1200" dirty="0">
                <a:solidFill>
                  <a:schemeClr val="tx1"/>
                </a:solidFill>
                <a:effectLst/>
                <a:latin typeface="+mn-lt"/>
                <a:ea typeface="+mn-ea"/>
                <a:cs typeface="+mn-cs"/>
              </a:rPr>
              <a:t> često ne uspijevaju?</a:t>
            </a:r>
          </a:p>
          <a:p>
            <a:br>
              <a:rPr lang="hr-HR" sz="1200" b="0" i="0" kern="1200" dirty="0">
                <a:solidFill>
                  <a:schemeClr val="tx1"/>
                </a:solidFill>
                <a:effectLst/>
                <a:latin typeface="+mn-lt"/>
                <a:ea typeface="+mn-ea"/>
                <a:cs typeface="+mn-cs"/>
              </a:rPr>
            </a:br>
            <a:endParaRPr lang="hr-HR" sz="1200" b="0" i="0" kern="1200" dirty="0">
              <a:solidFill>
                <a:schemeClr val="tx1"/>
              </a:solidFill>
              <a:effectLst/>
              <a:latin typeface="+mn-lt"/>
              <a:ea typeface="+mn-ea"/>
              <a:cs typeface="+mn-cs"/>
            </a:endParaRPr>
          </a:p>
          <a:p>
            <a:r>
              <a:rPr lang="hr-HR" sz="1200" b="0" i="0" kern="1200" dirty="0">
                <a:solidFill>
                  <a:schemeClr val="tx1"/>
                </a:solidFill>
                <a:effectLst/>
                <a:latin typeface="+mn-lt"/>
                <a:ea typeface="+mn-ea"/>
                <a:cs typeface="+mn-cs"/>
              </a:rPr>
              <a:t>prevedi: Facilitator notes </a:t>
            </a:r>
            <a:r>
              <a:rPr lang="hr-HR" sz="1200" b="0" i="0" kern="1200" dirty="0" err="1">
                <a:solidFill>
                  <a:schemeClr val="tx1"/>
                </a:solidFill>
                <a:effectLst/>
                <a:latin typeface="+mn-lt"/>
                <a:ea typeface="+mn-ea"/>
                <a:cs typeface="+mn-cs"/>
              </a:rPr>
              <a:t>Transition</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from</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tools</a:t>
            </a:r>
            <a:r>
              <a:rPr lang="hr-HR" sz="1200" b="0" i="0" kern="1200" dirty="0">
                <a:solidFill>
                  <a:schemeClr val="tx1"/>
                </a:solidFill>
                <a:effectLst/>
                <a:latin typeface="+mn-lt"/>
                <a:ea typeface="+mn-ea"/>
                <a:cs typeface="+mn-cs"/>
              </a:rPr>
              <a:t> to </a:t>
            </a:r>
            <a:r>
              <a:rPr lang="hr-HR" sz="1200" b="0" i="0" kern="1200" dirty="0" err="1">
                <a:solidFill>
                  <a:schemeClr val="tx1"/>
                </a:solidFill>
                <a:effectLst/>
                <a:latin typeface="+mn-lt"/>
                <a:ea typeface="+mn-ea"/>
                <a:cs typeface="+mn-cs"/>
              </a:rPr>
              <a:t>organizational</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reality</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Agile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fails</a:t>
            </a:r>
            <a:r>
              <a:rPr lang="hr-HR" sz="1200" b="0" i="0" kern="1200" dirty="0">
                <a:solidFill>
                  <a:schemeClr val="tx1"/>
                </a:solidFill>
                <a:effectLst/>
                <a:latin typeface="+mn-lt"/>
                <a:ea typeface="+mn-ea"/>
                <a:cs typeface="+mn-cs"/>
              </a:rPr>
              <a:t> more </a:t>
            </a:r>
            <a:r>
              <a:rPr lang="hr-HR" sz="1200" b="0" i="0" kern="1200" dirty="0" err="1">
                <a:solidFill>
                  <a:schemeClr val="tx1"/>
                </a:solidFill>
                <a:effectLst/>
                <a:latin typeface="+mn-lt"/>
                <a:ea typeface="+mn-ea"/>
                <a:cs typeface="+mn-cs"/>
              </a:rPr>
              <a:t>often</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due</a:t>
            </a:r>
            <a:r>
              <a:rPr lang="hr-HR" sz="1200" b="0" i="0" kern="1200" dirty="0">
                <a:solidFill>
                  <a:schemeClr val="tx1"/>
                </a:solidFill>
                <a:effectLst/>
                <a:latin typeface="+mn-lt"/>
                <a:ea typeface="+mn-ea"/>
                <a:cs typeface="+mn-cs"/>
              </a:rPr>
              <a:t> to </a:t>
            </a:r>
            <a:r>
              <a:rPr lang="hr-HR" sz="1200" b="0" i="0" kern="1200" dirty="0" err="1">
                <a:solidFill>
                  <a:schemeClr val="tx1"/>
                </a:solidFill>
                <a:effectLst/>
                <a:latin typeface="+mn-lt"/>
                <a:ea typeface="+mn-ea"/>
                <a:cs typeface="+mn-cs"/>
              </a:rPr>
              <a:t>culture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and</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leadership</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than</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due</a:t>
            </a:r>
            <a:r>
              <a:rPr lang="hr-HR" sz="1200" b="0" i="0" kern="1200" dirty="0">
                <a:solidFill>
                  <a:schemeClr val="tx1"/>
                </a:solidFill>
                <a:effectLst/>
                <a:latin typeface="+mn-lt"/>
                <a:ea typeface="+mn-ea"/>
                <a:cs typeface="+mn-cs"/>
              </a:rPr>
              <a:t> to </a:t>
            </a:r>
            <a:r>
              <a:rPr lang="hr-HR" sz="1200" b="0" i="0" kern="1200" dirty="0" err="1">
                <a:solidFill>
                  <a:schemeClr val="tx1"/>
                </a:solidFill>
                <a:effectLst/>
                <a:latin typeface="+mn-lt"/>
                <a:ea typeface="+mn-ea"/>
                <a:cs typeface="+mn-cs"/>
              </a:rPr>
              <a:t>boards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and</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ceremonies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Frame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the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discussion</a:t>
            </a:r>
            <a:r>
              <a:rPr lang="hr-HR" sz="1200" b="0" i="0" kern="1200" dirty="0">
                <a:solidFill>
                  <a:schemeClr val="tx1"/>
                </a:solidFill>
                <a:effectLst/>
                <a:latin typeface="+mn-lt"/>
                <a:ea typeface="+mn-ea"/>
                <a:cs typeface="+mn-cs"/>
              </a:rPr>
              <a:t> as ‘</a:t>
            </a:r>
            <a:r>
              <a:rPr lang="hr-HR" sz="1200" b="0" i="0" kern="1200" dirty="0" err="1">
                <a:solidFill>
                  <a:schemeClr val="tx1"/>
                </a:solidFill>
                <a:effectLst/>
                <a:latin typeface="+mn-lt"/>
                <a:ea typeface="+mn-ea"/>
                <a:cs typeface="+mn-cs"/>
              </a:rPr>
              <a:t>risk</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prevention</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if</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we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know</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common</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failure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patterns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we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can</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proactively</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mitigate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them</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Additional</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resources</a:t>
            </a:r>
            <a:r>
              <a:rPr lang="hr-HR" sz="1200" b="0" i="0" kern="1200" dirty="0">
                <a:solidFill>
                  <a:schemeClr val="tx1"/>
                </a:solidFill>
                <a:effectLst/>
                <a:latin typeface="+mn-lt"/>
                <a:ea typeface="+mn-ea"/>
                <a:cs typeface="+mn-cs"/>
              </a:rPr>
              <a:t> https://www.scrum.org/resources/blog/why-agile-transformations-sometimes-fail </a:t>
            </a:r>
          </a:p>
          <a:p>
            <a:br>
              <a:rPr lang="hr-HR" sz="1200" b="0" i="0" kern="1200" dirty="0">
                <a:solidFill>
                  <a:schemeClr val="tx1"/>
                </a:solidFill>
                <a:effectLst/>
                <a:latin typeface="+mn-lt"/>
                <a:ea typeface="+mn-ea"/>
                <a:cs typeface="+mn-cs"/>
              </a:rPr>
            </a:br>
            <a:endParaRPr lang="hr-HR" sz="1200" b="0" i="0" kern="1200" dirty="0">
              <a:solidFill>
                <a:schemeClr val="tx1"/>
              </a:solidFill>
              <a:effectLst/>
              <a:latin typeface="+mn-lt"/>
              <a:ea typeface="+mn-ea"/>
              <a:cs typeface="+mn-cs"/>
            </a:endParaRPr>
          </a:p>
          <a:p>
            <a:r>
              <a:rPr lang="hr-HR" sz="1200" b="0" i="0" kern="1200" dirty="0">
                <a:solidFill>
                  <a:schemeClr val="tx1"/>
                </a:solidFill>
                <a:effectLst/>
                <a:latin typeface="+mn-lt"/>
                <a:ea typeface="+mn-ea"/>
                <a:cs typeface="+mn-cs"/>
              </a:rPr>
              <a:t>Napomene za facilitatora</a:t>
            </a:r>
          </a:p>
          <a:p>
            <a:r>
              <a:rPr lang="hr-HR" sz="1200" b="0" i="0" kern="1200" dirty="0">
                <a:solidFill>
                  <a:schemeClr val="tx1"/>
                </a:solidFill>
                <a:effectLst/>
                <a:latin typeface="+mn-lt"/>
                <a:ea typeface="+mn-ea"/>
                <a:cs typeface="+mn-cs"/>
              </a:rPr>
              <a:t>Napravite prijelaz s alata na organizacijsku stvarnost: </a:t>
            </a:r>
            <a:r>
              <a:rPr lang="hr-HR" sz="1200" b="0" i="0" kern="1200" dirty="0" err="1">
                <a:solidFill>
                  <a:schemeClr val="tx1"/>
                </a:solidFill>
                <a:effectLst/>
                <a:latin typeface="+mn-lt"/>
                <a:ea typeface="+mn-ea"/>
                <a:cs typeface="+mn-cs"/>
              </a:rPr>
              <a:t>Agile</a:t>
            </a:r>
            <a:r>
              <a:rPr lang="hr-HR" sz="1200" b="0" i="0" kern="1200" dirty="0">
                <a:solidFill>
                  <a:schemeClr val="tx1"/>
                </a:solidFill>
                <a:effectLst/>
                <a:latin typeface="+mn-lt"/>
                <a:ea typeface="+mn-ea"/>
                <a:cs typeface="+mn-cs"/>
              </a:rPr>
              <a:t> češće ne uspijeva zbog kulture i vodstva nego zbog </a:t>
            </a:r>
            <a:r>
              <a:rPr lang="hr-HR" sz="1200" b="0" i="0" kern="1200" dirty="0" err="1">
                <a:solidFill>
                  <a:schemeClr val="tx1"/>
                </a:solidFill>
                <a:effectLst/>
                <a:latin typeface="+mn-lt"/>
                <a:ea typeface="+mn-ea"/>
                <a:cs typeface="+mn-cs"/>
              </a:rPr>
              <a:t>boardova</a:t>
            </a:r>
            <a:r>
              <a:rPr lang="hr-HR" sz="1200" b="0" i="0" kern="1200" dirty="0">
                <a:solidFill>
                  <a:schemeClr val="tx1"/>
                </a:solidFill>
                <a:effectLst/>
                <a:latin typeface="+mn-lt"/>
                <a:ea typeface="+mn-ea"/>
                <a:cs typeface="+mn-cs"/>
              </a:rPr>
              <a:t> i ceremonija.</a:t>
            </a:r>
          </a:p>
          <a:p>
            <a:r>
              <a:rPr lang="hr-HR" sz="1200" b="0" i="0" kern="1200" dirty="0">
                <a:solidFill>
                  <a:schemeClr val="tx1"/>
                </a:solidFill>
                <a:effectLst/>
                <a:latin typeface="+mn-lt"/>
                <a:ea typeface="+mn-ea"/>
                <a:cs typeface="+mn-cs"/>
              </a:rPr>
              <a:t>Postavite raspravu u okvir „prevencije rizika”: ako poznajemo uobičajene obrasce neuspjeha, možemo ih proaktivno ublažiti.</a:t>
            </a:r>
          </a:p>
          <a:p>
            <a:r>
              <a:rPr lang="hr-HR" sz="1200" b="0" i="0" kern="1200" dirty="0">
                <a:solidFill>
                  <a:schemeClr val="tx1"/>
                </a:solidFill>
                <a:effectLst/>
                <a:latin typeface="+mn-lt"/>
                <a:ea typeface="+mn-ea"/>
                <a:cs typeface="+mn-cs"/>
              </a:rPr>
              <a:t>Dodatni resurs:</a:t>
            </a:r>
            <a:br>
              <a:rPr lang="hr-HR" sz="1200" b="0" i="0" kern="1200" dirty="0">
                <a:solidFill>
                  <a:schemeClr val="tx1"/>
                </a:solidFill>
                <a:effectLst/>
                <a:latin typeface="+mn-lt"/>
                <a:ea typeface="+mn-ea"/>
                <a:cs typeface="+mn-cs"/>
              </a:rPr>
            </a:br>
            <a:r>
              <a:rPr lang="hr-HR" sz="1200" b="0" i="0" kern="1200" dirty="0">
                <a:solidFill>
                  <a:schemeClr val="tx1"/>
                </a:solidFill>
                <a:effectLst/>
                <a:latin typeface="+mn-lt"/>
                <a:ea typeface="+mn-ea"/>
                <a:cs typeface="+mn-cs"/>
                <a:hlinkClick r:id="rId21"/>
              </a:rPr>
              <a:t>https://www.scrum.org/resources/blog/why-agile-transformations-sometimes-fail</a:t>
            </a:r>
            <a:endParaRPr lang="hr-HR" sz="1200" b="0" i="0" kern="1200" dirty="0">
              <a:solidFill>
                <a:schemeClr val="tx1"/>
              </a:solidFill>
              <a:effectLst/>
              <a:latin typeface="+mn-lt"/>
              <a:ea typeface="+mn-ea"/>
              <a:cs typeface="+mn-cs"/>
            </a:endParaRPr>
          </a:p>
          <a:p>
            <a:br>
              <a:rPr lang="hr-HR" sz="1200" b="0" i="0" kern="1200" dirty="0">
                <a:solidFill>
                  <a:schemeClr val="tx1"/>
                </a:solidFill>
                <a:effectLst/>
                <a:latin typeface="+mn-lt"/>
                <a:ea typeface="+mn-ea"/>
                <a:cs typeface="+mn-cs"/>
              </a:rPr>
            </a:br>
            <a:endParaRPr lang="hr-HR" sz="1200" b="0" i="0" kern="1200" dirty="0">
              <a:solidFill>
                <a:schemeClr val="tx1"/>
              </a:solidFill>
              <a:effectLst/>
              <a:latin typeface="+mn-lt"/>
              <a:ea typeface="+mn-ea"/>
              <a:cs typeface="+mn-cs"/>
            </a:endParaRPr>
          </a:p>
          <a:p>
            <a:r>
              <a:rPr lang="hr-HR" sz="1200" b="0" i="0" kern="1200" dirty="0">
                <a:solidFill>
                  <a:schemeClr val="tx1"/>
                </a:solidFill>
                <a:effectLst/>
                <a:latin typeface="+mn-lt"/>
                <a:ea typeface="+mn-ea"/>
                <a:cs typeface="+mn-cs"/>
              </a:rPr>
              <a:t>prevedi: </a:t>
            </a:r>
            <a:r>
              <a:rPr lang="hr-HR" sz="1200" b="0" i="0" kern="1200" dirty="0" err="1">
                <a:solidFill>
                  <a:schemeClr val="tx1"/>
                </a:solidFill>
                <a:effectLst/>
                <a:latin typeface="+mn-lt"/>
                <a:ea typeface="+mn-ea"/>
                <a:cs typeface="+mn-cs"/>
              </a:rPr>
              <a:t>Typical</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causes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of</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failure</a:t>
            </a:r>
            <a:endParaRPr lang="hr-HR" sz="1200" b="0" i="0" kern="1200" dirty="0">
              <a:solidFill>
                <a:schemeClr val="tx1"/>
              </a:solidFill>
              <a:effectLst/>
              <a:latin typeface="+mn-lt"/>
              <a:ea typeface="+mn-ea"/>
              <a:cs typeface="+mn-cs"/>
            </a:endParaRPr>
          </a:p>
          <a:p>
            <a:br>
              <a:rPr lang="hr-HR" sz="1200" b="0" i="0" kern="1200" dirty="0">
                <a:solidFill>
                  <a:schemeClr val="tx1"/>
                </a:solidFill>
                <a:effectLst/>
                <a:latin typeface="+mn-lt"/>
                <a:ea typeface="+mn-ea"/>
                <a:cs typeface="+mn-cs"/>
              </a:rPr>
            </a:br>
            <a:endParaRPr lang="hr-HR" sz="1200" b="0" i="0" kern="1200" dirty="0">
              <a:solidFill>
                <a:schemeClr val="tx1"/>
              </a:solidFill>
              <a:effectLst/>
              <a:latin typeface="+mn-lt"/>
              <a:ea typeface="+mn-ea"/>
              <a:cs typeface="+mn-cs"/>
            </a:endParaRPr>
          </a:p>
          <a:p>
            <a:r>
              <a:rPr lang="hr-HR" sz="1200" b="0" i="0" kern="1200" dirty="0">
                <a:solidFill>
                  <a:schemeClr val="tx1"/>
                </a:solidFill>
                <a:effectLst/>
                <a:latin typeface="+mn-lt"/>
                <a:ea typeface="+mn-ea"/>
                <a:cs typeface="+mn-cs"/>
              </a:rPr>
              <a:t>Tipični uzroci neuspjeha</a:t>
            </a:r>
          </a:p>
          <a:p>
            <a:br>
              <a:rPr lang="hr-HR" sz="1200" b="0" i="0" kern="1200" dirty="0">
                <a:solidFill>
                  <a:schemeClr val="tx1"/>
                </a:solidFill>
                <a:effectLst/>
                <a:latin typeface="+mn-lt"/>
                <a:ea typeface="+mn-ea"/>
                <a:cs typeface="+mn-cs"/>
              </a:rPr>
            </a:br>
            <a:endParaRPr lang="hr-HR" sz="1200" b="0" i="0" kern="1200" dirty="0">
              <a:solidFill>
                <a:schemeClr val="tx1"/>
              </a:solidFill>
              <a:effectLst/>
              <a:latin typeface="+mn-lt"/>
              <a:ea typeface="+mn-ea"/>
              <a:cs typeface="+mn-cs"/>
            </a:endParaRPr>
          </a:p>
          <a:p>
            <a:r>
              <a:rPr lang="hr-HR" sz="1200" b="0" i="0" kern="1200" dirty="0">
                <a:solidFill>
                  <a:schemeClr val="tx1"/>
                </a:solidFill>
                <a:effectLst/>
                <a:latin typeface="+mn-lt"/>
                <a:ea typeface="+mn-ea"/>
                <a:cs typeface="+mn-cs"/>
              </a:rPr>
              <a:t>prevedi: A </a:t>
            </a:r>
            <a:r>
              <a:rPr lang="hr-HR" sz="1200" b="0" i="0" kern="1200" dirty="0" err="1">
                <a:solidFill>
                  <a:schemeClr val="tx1"/>
                </a:solidFill>
                <a:effectLst/>
                <a:latin typeface="+mn-lt"/>
                <a:ea typeface="+mn-ea"/>
                <a:cs typeface="+mn-cs"/>
              </a:rPr>
              <a:t>study</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conducted</a:t>
            </a:r>
            <a:r>
              <a:rPr lang="hr-HR" sz="1200" b="0" i="0" kern="1200" dirty="0">
                <a:solidFill>
                  <a:schemeClr val="tx1"/>
                </a:solidFill>
                <a:effectLst/>
                <a:latin typeface="+mn-lt"/>
                <a:ea typeface="+mn-ea"/>
                <a:cs typeface="+mn-cs"/>
              </a:rPr>
              <a:t> on more </a:t>
            </a:r>
            <a:r>
              <a:rPr lang="hr-HR" sz="1200" b="0" i="0" kern="1200" dirty="0" err="1">
                <a:solidFill>
                  <a:schemeClr val="tx1"/>
                </a:solidFill>
                <a:effectLst/>
                <a:latin typeface="+mn-lt"/>
                <a:ea typeface="+mn-ea"/>
                <a:cs typeface="+mn-cs"/>
              </a:rPr>
              <a:t>than</a:t>
            </a:r>
            <a:r>
              <a:rPr lang="hr-HR" sz="1200" b="0" i="0" kern="1200" dirty="0">
                <a:solidFill>
                  <a:schemeClr val="tx1"/>
                </a:solidFill>
                <a:effectLst/>
                <a:latin typeface="+mn-lt"/>
                <a:ea typeface="+mn-ea"/>
                <a:cs typeface="+mn-cs"/>
              </a:rPr>
              <a:t> 4,000 </a:t>
            </a:r>
            <a:r>
              <a:rPr lang="hr-HR" sz="1200" b="0" i="0" kern="1200" dirty="0" err="1">
                <a:solidFill>
                  <a:schemeClr val="tx1"/>
                </a:solidFill>
                <a:effectLst/>
                <a:latin typeface="+mn-lt"/>
                <a:ea typeface="+mn-ea"/>
                <a:cs typeface="+mn-cs"/>
              </a:rPr>
              <a:t>individuals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highlighted</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the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main</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causes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of</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Agile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failure</a:t>
            </a:r>
            <a:r>
              <a:rPr lang="hr-HR" sz="1200" b="0" i="0" kern="1200" dirty="0">
                <a:solidFill>
                  <a:schemeClr val="tx1"/>
                </a:solidFill>
                <a:effectLst/>
                <a:latin typeface="+mn-lt"/>
                <a:ea typeface="+mn-ea"/>
                <a:cs typeface="+mn-cs"/>
              </a:rPr>
              <a:t>. </a:t>
            </a:r>
          </a:p>
          <a:p>
            <a:br>
              <a:rPr lang="hr-HR" sz="1200" b="0" i="0" kern="1200" dirty="0">
                <a:solidFill>
                  <a:schemeClr val="tx1"/>
                </a:solidFill>
                <a:effectLst/>
                <a:latin typeface="+mn-lt"/>
                <a:ea typeface="+mn-ea"/>
                <a:cs typeface="+mn-cs"/>
              </a:rPr>
            </a:br>
            <a:endParaRPr lang="hr-HR" sz="1200" b="0" i="0" kern="1200" dirty="0">
              <a:solidFill>
                <a:schemeClr val="tx1"/>
              </a:solidFill>
              <a:effectLst/>
              <a:latin typeface="+mn-lt"/>
              <a:ea typeface="+mn-ea"/>
              <a:cs typeface="+mn-cs"/>
            </a:endParaRPr>
          </a:p>
          <a:p>
            <a:r>
              <a:rPr lang="hr-HR" sz="1200" b="0" i="0" kern="1200" dirty="0">
                <a:solidFill>
                  <a:schemeClr val="tx1"/>
                </a:solidFill>
                <a:effectLst/>
                <a:latin typeface="+mn-lt"/>
                <a:ea typeface="+mn-ea"/>
                <a:cs typeface="+mn-cs"/>
              </a:rPr>
              <a:t>Studija provedena na više od 4.000 ispitanika istaknula je glavne uzroke neuspjeha </a:t>
            </a:r>
            <a:r>
              <a:rPr lang="hr-HR" sz="1200" b="0" i="0" kern="1200" dirty="0" err="1">
                <a:solidFill>
                  <a:schemeClr val="tx1"/>
                </a:solidFill>
                <a:effectLst/>
                <a:latin typeface="+mn-lt"/>
                <a:ea typeface="+mn-ea"/>
                <a:cs typeface="+mn-cs"/>
              </a:rPr>
              <a:t>Agilea</a:t>
            </a:r>
            <a:r>
              <a:rPr lang="hr-HR" sz="1200" b="0" i="0" kern="1200" dirty="0">
                <a:solidFill>
                  <a:schemeClr val="tx1"/>
                </a:solidFill>
                <a:effectLst/>
                <a:latin typeface="+mn-lt"/>
                <a:ea typeface="+mn-ea"/>
                <a:cs typeface="+mn-cs"/>
              </a:rPr>
              <a:t>.</a:t>
            </a:r>
          </a:p>
          <a:p>
            <a:br>
              <a:rPr lang="hr-HR" sz="1200" b="0" i="0" kern="1200" dirty="0">
                <a:solidFill>
                  <a:schemeClr val="tx1"/>
                </a:solidFill>
                <a:effectLst/>
                <a:latin typeface="+mn-lt"/>
                <a:ea typeface="+mn-ea"/>
                <a:cs typeface="+mn-cs"/>
              </a:rPr>
            </a:br>
            <a:endParaRPr lang="hr-HR" sz="1200" b="0" i="0" kern="1200" dirty="0">
              <a:solidFill>
                <a:schemeClr val="tx1"/>
              </a:solidFill>
              <a:effectLst/>
              <a:latin typeface="+mn-lt"/>
              <a:ea typeface="+mn-ea"/>
              <a:cs typeface="+mn-cs"/>
            </a:endParaRPr>
          </a:p>
          <a:p>
            <a:r>
              <a:rPr lang="hr-HR" sz="1200" b="0" i="0" kern="1200" dirty="0">
                <a:solidFill>
                  <a:schemeClr val="tx1"/>
                </a:solidFill>
                <a:effectLst/>
                <a:latin typeface="+mn-lt"/>
                <a:ea typeface="+mn-ea"/>
                <a:cs typeface="+mn-cs"/>
              </a:rPr>
              <a:t>Facilitator notes </a:t>
            </a:r>
            <a:r>
              <a:rPr lang="hr-HR" sz="1200" b="0" i="0" kern="1200" dirty="0" err="1">
                <a:solidFill>
                  <a:schemeClr val="tx1"/>
                </a:solidFill>
                <a:effectLst/>
                <a:latin typeface="+mn-lt"/>
                <a:ea typeface="+mn-ea"/>
                <a:cs typeface="+mn-cs"/>
              </a:rPr>
              <a:t>Ask</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learners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Which</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theme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is</a:t>
            </a:r>
            <a:r>
              <a:rPr lang="hr-HR" sz="1200" b="0" i="0" kern="1200" dirty="0">
                <a:solidFill>
                  <a:schemeClr val="tx1"/>
                </a:solidFill>
                <a:effectLst/>
                <a:latin typeface="+mn-lt"/>
                <a:ea typeface="+mn-ea"/>
                <a:cs typeface="+mn-cs"/>
              </a:rPr>
              <a:t> most </a:t>
            </a:r>
            <a:r>
              <a:rPr lang="hr-HR" sz="1200" b="0" i="0" kern="1200" dirty="0" err="1">
                <a:solidFill>
                  <a:schemeClr val="tx1"/>
                </a:solidFill>
                <a:effectLst/>
                <a:latin typeface="+mn-lt"/>
                <a:ea typeface="+mn-ea"/>
                <a:cs typeface="+mn-cs"/>
              </a:rPr>
              <a:t>risky</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and</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what</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would</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be</a:t>
            </a:r>
            <a:r>
              <a:rPr lang="hr-HR" sz="1200" b="0" i="0" kern="1200" dirty="0">
                <a:solidFill>
                  <a:schemeClr val="tx1"/>
                </a:solidFill>
                <a:effectLst/>
                <a:latin typeface="+mn-lt"/>
                <a:ea typeface="+mn-ea"/>
                <a:cs typeface="+mn-cs"/>
              </a:rPr>
              <a:t> a </a:t>
            </a:r>
            <a:r>
              <a:rPr lang="hr-HR" sz="1200" b="0" i="0" kern="1200" dirty="0" err="1">
                <a:solidFill>
                  <a:schemeClr val="tx1"/>
                </a:solidFill>
                <a:effectLst/>
                <a:latin typeface="+mn-lt"/>
                <a:ea typeface="+mn-ea"/>
                <a:cs typeface="+mn-cs"/>
              </a:rPr>
              <a:t>first</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mitigation</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step</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Additional</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resources</a:t>
            </a:r>
            <a:r>
              <a:rPr lang="hr-HR" sz="1200" b="0" i="0" kern="1200" dirty="0">
                <a:solidFill>
                  <a:schemeClr val="tx1"/>
                </a:solidFill>
                <a:effectLst/>
                <a:latin typeface="+mn-lt"/>
                <a:ea typeface="+mn-ea"/>
                <a:cs typeface="+mn-cs"/>
              </a:rPr>
              <a:t> https://www.inflectra.com/Ideas/Whitepaper/Agile-Transformation-Failure-Due-To-Management-Debt.aspx https://premieragile.com/why-agile-transformations-fail/ https://www.youtube.com/watch?v=4uB7z5ol-T0 https://docs.broadcom.com/doc/recognizing-the-twelve-failure-modes-in-agile-transformation </a:t>
            </a:r>
          </a:p>
          <a:p>
            <a:br>
              <a:rPr lang="hr-HR" sz="1200" b="0" i="0" kern="1200" dirty="0">
                <a:solidFill>
                  <a:schemeClr val="tx1"/>
                </a:solidFill>
                <a:effectLst/>
                <a:latin typeface="+mn-lt"/>
                <a:ea typeface="+mn-ea"/>
                <a:cs typeface="+mn-cs"/>
              </a:rPr>
            </a:br>
            <a:endParaRPr lang="hr-HR" sz="1200" b="0" i="0" kern="1200" dirty="0">
              <a:solidFill>
                <a:schemeClr val="tx1"/>
              </a:solidFill>
              <a:effectLst/>
              <a:latin typeface="+mn-lt"/>
              <a:ea typeface="+mn-ea"/>
              <a:cs typeface="+mn-cs"/>
            </a:endParaRPr>
          </a:p>
          <a:p>
            <a:r>
              <a:rPr lang="hr-HR" sz="1200" b="0" i="0" kern="1200" dirty="0">
                <a:solidFill>
                  <a:schemeClr val="tx1"/>
                </a:solidFill>
                <a:effectLst/>
                <a:latin typeface="+mn-lt"/>
                <a:ea typeface="+mn-ea"/>
                <a:cs typeface="+mn-cs"/>
              </a:rPr>
              <a:t>Napomene za facilitatora</a:t>
            </a:r>
          </a:p>
          <a:p>
            <a:r>
              <a:rPr lang="hr-HR" sz="1200" b="0" i="0" kern="1200" dirty="0">
                <a:solidFill>
                  <a:schemeClr val="tx1"/>
                </a:solidFill>
                <a:effectLst/>
                <a:latin typeface="+mn-lt"/>
                <a:ea typeface="+mn-ea"/>
                <a:cs typeface="+mn-cs"/>
              </a:rPr>
              <a:t>Pitajte polaznike: „Koja je tema najrizičnija i koji bi bio prvi korak ublažavanja tog rizika?”</a:t>
            </a:r>
          </a:p>
          <a:p>
            <a:r>
              <a:rPr lang="hr-HR" sz="1200" b="0" i="0" kern="1200" dirty="0">
                <a:solidFill>
                  <a:schemeClr val="tx1"/>
                </a:solidFill>
                <a:effectLst/>
                <a:latin typeface="+mn-lt"/>
                <a:ea typeface="+mn-ea"/>
                <a:cs typeface="+mn-cs"/>
              </a:rPr>
              <a:t>Dodatni resursi:</a:t>
            </a:r>
            <a:br>
              <a:rPr lang="hr-HR" sz="1200" b="0" i="0" kern="1200" dirty="0">
                <a:solidFill>
                  <a:schemeClr val="tx1"/>
                </a:solidFill>
                <a:effectLst/>
                <a:latin typeface="+mn-lt"/>
                <a:ea typeface="+mn-ea"/>
                <a:cs typeface="+mn-cs"/>
              </a:rPr>
            </a:br>
            <a:r>
              <a:rPr lang="hr-HR" sz="1200" b="0" i="0" kern="1200" dirty="0">
                <a:solidFill>
                  <a:schemeClr val="tx1"/>
                </a:solidFill>
                <a:effectLst/>
                <a:latin typeface="+mn-lt"/>
                <a:ea typeface="+mn-ea"/>
                <a:cs typeface="+mn-cs"/>
                <a:hlinkClick r:id="rId22"/>
              </a:rPr>
              <a:t>https://www.inflectra.com/Ideas/Whitepaper/Agile-Transformation-Failure-Due-To-Management-Debt.aspx</a:t>
            </a:r>
            <a:br>
              <a:rPr lang="hr-HR" sz="1200" b="0" i="0" kern="1200" dirty="0">
                <a:solidFill>
                  <a:schemeClr val="tx1"/>
                </a:solidFill>
                <a:effectLst/>
                <a:latin typeface="+mn-lt"/>
                <a:ea typeface="+mn-ea"/>
                <a:cs typeface="+mn-cs"/>
              </a:rPr>
            </a:br>
            <a:r>
              <a:rPr lang="hr-HR" sz="1200" b="0" i="0" kern="1200" dirty="0">
                <a:solidFill>
                  <a:schemeClr val="tx1"/>
                </a:solidFill>
                <a:effectLst/>
                <a:latin typeface="+mn-lt"/>
                <a:ea typeface="+mn-ea"/>
                <a:cs typeface="+mn-cs"/>
                <a:hlinkClick r:id="rId23"/>
              </a:rPr>
              <a:t>https://premieragile.com/why-agile-transformations-fail/</a:t>
            </a:r>
            <a:br>
              <a:rPr lang="hr-HR" sz="1200" b="0" i="0" kern="1200" dirty="0">
                <a:solidFill>
                  <a:schemeClr val="tx1"/>
                </a:solidFill>
                <a:effectLst/>
                <a:latin typeface="+mn-lt"/>
                <a:ea typeface="+mn-ea"/>
                <a:cs typeface="+mn-cs"/>
              </a:rPr>
            </a:br>
            <a:r>
              <a:rPr lang="hr-HR" sz="1200" b="0" i="0" kern="1200" dirty="0">
                <a:solidFill>
                  <a:schemeClr val="tx1"/>
                </a:solidFill>
                <a:effectLst/>
                <a:latin typeface="+mn-lt"/>
                <a:ea typeface="+mn-ea"/>
                <a:cs typeface="+mn-cs"/>
                <a:hlinkClick r:id="rId24"/>
              </a:rPr>
              <a:t>https://www.youtube.com/watch?v=4uB7z5ol-T0</a:t>
            </a:r>
            <a:br>
              <a:rPr lang="hr-HR" sz="1200" b="0" i="0" kern="1200" dirty="0">
                <a:solidFill>
                  <a:schemeClr val="tx1"/>
                </a:solidFill>
                <a:effectLst/>
                <a:latin typeface="+mn-lt"/>
                <a:ea typeface="+mn-ea"/>
                <a:cs typeface="+mn-cs"/>
              </a:rPr>
            </a:br>
            <a:r>
              <a:rPr lang="hr-HR" sz="1200" b="0" i="0" kern="1200" dirty="0">
                <a:solidFill>
                  <a:schemeClr val="tx1"/>
                </a:solidFill>
                <a:effectLst/>
                <a:latin typeface="+mn-lt"/>
                <a:ea typeface="+mn-ea"/>
                <a:cs typeface="+mn-cs"/>
                <a:hlinkClick r:id="rId25"/>
              </a:rPr>
              <a:t>https://docs.broadcom.com/doc/recognizing-the-twelve-failure-modes-in-agile-transformation</a:t>
            </a:r>
            <a:endParaRPr lang="hr-HR" sz="1200" b="0" i="0" kern="1200" dirty="0">
              <a:solidFill>
                <a:schemeClr val="tx1"/>
              </a:solidFill>
              <a:effectLst/>
              <a:latin typeface="+mn-lt"/>
              <a:ea typeface="+mn-ea"/>
              <a:cs typeface="+mn-cs"/>
            </a:endParaRPr>
          </a:p>
          <a:p>
            <a:br>
              <a:rPr lang="hr-HR" sz="1200" b="0" i="0" kern="1200" dirty="0">
                <a:solidFill>
                  <a:schemeClr val="tx1"/>
                </a:solidFill>
                <a:effectLst/>
                <a:latin typeface="+mn-lt"/>
                <a:ea typeface="+mn-ea"/>
                <a:cs typeface="+mn-cs"/>
              </a:rPr>
            </a:br>
            <a:endParaRPr lang="hr-HR" sz="1200" b="0" i="0" kern="1200" dirty="0">
              <a:solidFill>
                <a:schemeClr val="tx1"/>
              </a:solidFill>
              <a:effectLst/>
              <a:latin typeface="+mn-lt"/>
              <a:ea typeface="+mn-ea"/>
              <a:cs typeface="+mn-cs"/>
            </a:endParaRPr>
          </a:p>
          <a:p>
            <a:r>
              <a:rPr lang="hr-HR" sz="1200" b="0" i="0" kern="1200" dirty="0">
                <a:solidFill>
                  <a:schemeClr val="tx1"/>
                </a:solidFill>
                <a:effectLst/>
                <a:latin typeface="+mn-lt"/>
                <a:ea typeface="+mn-ea"/>
                <a:cs typeface="+mn-cs"/>
              </a:rPr>
              <a:t>prevedi: </a:t>
            </a:r>
            <a:r>
              <a:rPr lang="hr-HR" sz="1200" b="0" i="0" kern="1200" dirty="0" err="1">
                <a:solidFill>
                  <a:schemeClr val="tx1"/>
                </a:solidFill>
                <a:effectLst/>
                <a:latin typeface="+mn-lt"/>
                <a:ea typeface="+mn-ea"/>
                <a:cs typeface="+mn-cs"/>
              </a:rPr>
              <a:t>Typical</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causes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of</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failure</a:t>
            </a:r>
            <a:endParaRPr lang="hr-HR" sz="1200" b="0" i="0" kern="1200" dirty="0">
              <a:solidFill>
                <a:schemeClr val="tx1"/>
              </a:solidFill>
              <a:effectLst/>
              <a:latin typeface="+mn-lt"/>
              <a:ea typeface="+mn-ea"/>
              <a:cs typeface="+mn-cs"/>
            </a:endParaRPr>
          </a:p>
          <a:p>
            <a:br>
              <a:rPr lang="hr-HR" sz="1200" b="0" i="0" kern="1200" dirty="0">
                <a:solidFill>
                  <a:schemeClr val="tx1"/>
                </a:solidFill>
                <a:effectLst/>
                <a:latin typeface="+mn-lt"/>
                <a:ea typeface="+mn-ea"/>
                <a:cs typeface="+mn-cs"/>
              </a:rPr>
            </a:br>
            <a:endParaRPr lang="hr-HR" sz="1200" b="0" i="0" kern="1200" dirty="0">
              <a:solidFill>
                <a:schemeClr val="tx1"/>
              </a:solidFill>
              <a:effectLst/>
              <a:latin typeface="+mn-lt"/>
              <a:ea typeface="+mn-ea"/>
              <a:cs typeface="+mn-cs"/>
            </a:endParaRPr>
          </a:p>
          <a:p>
            <a:r>
              <a:rPr lang="hr-HR" sz="1200" b="0" i="0" kern="1200" dirty="0">
                <a:solidFill>
                  <a:schemeClr val="tx1"/>
                </a:solidFill>
                <a:effectLst/>
                <a:latin typeface="+mn-lt"/>
                <a:ea typeface="+mn-ea"/>
                <a:cs typeface="+mn-cs"/>
              </a:rPr>
              <a:t>Tipični uzroci neuspjeha</a:t>
            </a:r>
          </a:p>
          <a:p>
            <a:br>
              <a:rPr lang="hr-HR" sz="1200" b="0" i="0" kern="1200" dirty="0">
                <a:solidFill>
                  <a:schemeClr val="tx1"/>
                </a:solidFill>
                <a:effectLst/>
                <a:latin typeface="+mn-lt"/>
                <a:ea typeface="+mn-ea"/>
                <a:cs typeface="+mn-cs"/>
              </a:rPr>
            </a:br>
            <a:endParaRPr lang="hr-HR" sz="1200" b="0" i="0" kern="1200" dirty="0">
              <a:solidFill>
                <a:schemeClr val="tx1"/>
              </a:solidFill>
              <a:effectLst/>
              <a:latin typeface="+mn-lt"/>
              <a:ea typeface="+mn-ea"/>
              <a:cs typeface="+mn-cs"/>
            </a:endParaRPr>
          </a:p>
          <a:p>
            <a:r>
              <a:rPr lang="hr-HR" sz="1200" b="0" i="0" kern="1200" dirty="0">
                <a:solidFill>
                  <a:schemeClr val="tx1"/>
                </a:solidFill>
                <a:effectLst/>
                <a:latin typeface="+mn-lt"/>
                <a:ea typeface="+mn-ea"/>
                <a:cs typeface="+mn-cs"/>
              </a:rPr>
              <a:t>prevedi: 1. </a:t>
            </a:r>
            <a:r>
              <a:rPr lang="hr-HR" sz="1200" b="0" i="0" kern="1200" dirty="0" err="1">
                <a:solidFill>
                  <a:schemeClr val="tx1"/>
                </a:solidFill>
                <a:effectLst/>
                <a:latin typeface="+mn-lt"/>
                <a:ea typeface="+mn-ea"/>
                <a:cs typeface="+mn-cs"/>
              </a:rPr>
              <a:t>Contrasting</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organisational</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culture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Understanding</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that</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agile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impacts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organisational</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values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and</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facilitating</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transformation</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is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the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first</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step</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towards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wider</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adoption</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of</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agile</a:t>
            </a:r>
            <a:r>
              <a:rPr lang="hr-HR" sz="1200" b="0" i="0" kern="1200" dirty="0">
                <a:solidFill>
                  <a:schemeClr val="tx1"/>
                </a:solidFill>
                <a:effectLst/>
                <a:latin typeface="+mn-lt"/>
                <a:ea typeface="+mn-ea"/>
                <a:cs typeface="+mn-cs"/>
              </a:rPr>
              <a:t> 2. </a:t>
            </a:r>
            <a:r>
              <a:rPr lang="hr-HR" sz="1200" b="0" i="0" kern="1200" dirty="0" err="1">
                <a:solidFill>
                  <a:schemeClr val="tx1"/>
                </a:solidFill>
                <a:effectLst/>
                <a:latin typeface="+mn-lt"/>
                <a:ea typeface="+mn-ea"/>
                <a:cs typeface="+mn-cs"/>
              </a:rPr>
              <a:t>Lack</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of</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experience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with</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the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method</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Investing</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in</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solid</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training</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in</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basic</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agile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techniques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and</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coaching</a:t>
            </a:r>
            <a:r>
              <a:rPr lang="hr-HR" sz="1200" b="0" i="0" kern="1200" dirty="0">
                <a:solidFill>
                  <a:schemeClr val="tx1"/>
                </a:solidFill>
                <a:effectLst/>
                <a:latin typeface="+mn-lt"/>
                <a:ea typeface="+mn-ea"/>
                <a:cs typeface="+mn-cs"/>
              </a:rPr>
              <a:t> for </a:t>
            </a:r>
            <a:r>
              <a:rPr lang="hr-HR" sz="1200" b="0" i="0" kern="1200" dirty="0" err="1">
                <a:solidFill>
                  <a:schemeClr val="tx1"/>
                </a:solidFill>
                <a:effectLst/>
                <a:latin typeface="+mn-lt"/>
                <a:ea typeface="+mn-ea"/>
                <a:cs typeface="+mn-cs"/>
              </a:rPr>
              <a:t>their</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correct</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application</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is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money</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well</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spent</a:t>
            </a:r>
            <a:r>
              <a:rPr lang="hr-HR" sz="1200" b="0" i="0" kern="1200" dirty="0">
                <a:solidFill>
                  <a:schemeClr val="tx1"/>
                </a:solidFill>
                <a:effectLst/>
                <a:latin typeface="+mn-lt"/>
                <a:ea typeface="+mn-ea"/>
                <a:cs typeface="+mn-cs"/>
              </a:rPr>
              <a:t> </a:t>
            </a:r>
          </a:p>
          <a:p>
            <a:br>
              <a:rPr lang="hr-HR" sz="1200" b="0" i="0" kern="1200" dirty="0">
                <a:solidFill>
                  <a:schemeClr val="tx1"/>
                </a:solidFill>
                <a:effectLst/>
                <a:latin typeface="+mn-lt"/>
                <a:ea typeface="+mn-ea"/>
                <a:cs typeface="+mn-cs"/>
              </a:rPr>
            </a:br>
            <a:endParaRPr lang="hr-HR" sz="1200" b="0" i="0" kern="1200" dirty="0">
              <a:solidFill>
                <a:schemeClr val="tx1"/>
              </a:solidFill>
              <a:effectLst/>
              <a:latin typeface="+mn-lt"/>
              <a:ea typeface="+mn-ea"/>
              <a:cs typeface="+mn-cs"/>
            </a:endParaRPr>
          </a:p>
          <a:p>
            <a:r>
              <a:rPr lang="hr-HR" sz="1200" b="0" i="0" kern="1200" dirty="0">
                <a:solidFill>
                  <a:schemeClr val="tx1"/>
                </a:solidFill>
                <a:effectLst/>
                <a:latin typeface="+mn-lt"/>
                <a:ea typeface="+mn-ea"/>
                <a:cs typeface="+mn-cs"/>
              </a:rPr>
              <a:t>Suprotstavljena organizacijska kultura</a:t>
            </a:r>
            <a:br>
              <a:rPr lang="hr-HR" sz="1200" b="0" i="0" kern="1200" dirty="0">
                <a:solidFill>
                  <a:schemeClr val="tx1"/>
                </a:solidFill>
                <a:effectLst/>
                <a:latin typeface="+mn-lt"/>
                <a:ea typeface="+mn-ea"/>
                <a:cs typeface="+mn-cs"/>
              </a:rPr>
            </a:br>
            <a:r>
              <a:rPr lang="hr-HR" sz="1200" b="0" i="0" kern="1200" dirty="0">
                <a:solidFill>
                  <a:schemeClr val="tx1"/>
                </a:solidFill>
                <a:effectLst/>
                <a:latin typeface="+mn-lt"/>
                <a:ea typeface="+mn-ea"/>
                <a:cs typeface="+mn-cs"/>
              </a:rPr>
              <a:t>Razumijevanje da </a:t>
            </a:r>
            <a:r>
              <a:rPr lang="hr-HR" sz="1200" b="0" i="0" kern="1200" dirty="0" err="1">
                <a:solidFill>
                  <a:schemeClr val="tx1"/>
                </a:solidFill>
                <a:effectLst/>
                <a:latin typeface="+mn-lt"/>
                <a:ea typeface="+mn-ea"/>
                <a:cs typeface="+mn-cs"/>
              </a:rPr>
              <a:t>Agile</a:t>
            </a:r>
            <a:r>
              <a:rPr lang="hr-HR" sz="1200" b="0" i="0" kern="1200" dirty="0">
                <a:solidFill>
                  <a:schemeClr val="tx1"/>
                </a:solidFill>
                <a:effectLst/>
                <a:latin typeface="+mn-lt"/>
                <a:ea typeface="+mn-ea"/>
                <a:cs typeface="+mn-cs"/>
              </a:rPr>
              <a:t> utječe na organizacijske vrijednosti te omogućavanje transformacije prvi je korak prema širem usvajanju </a:t>
            </a:r>
            <a:r>
              <a:rPr lang="hr-HR" sz="1200" b="0" i="0" kern="1200" dirty="0" err="1">
                <a:solidFill>
                  <a:schemeClr val="tx1"/>
                </a:solidFill>
                <a:effectLst/>
                <a:latin typeface="+mn-lt"/>
                <a:ea typeface="+mn-ea"/>
                <a:cs typeface="+mn-cs"/>
              </a:rPr>
              <a:t>Agile</a:t>
            </a:r>
            <a:r>
              <a:rPr lang="hr-HR" sz="1200" b="0" i="0" kern="1200" dirty="0">
                <a:solidFill>
                  <a:schemeClr val="tx1"/>
                </a:solidFill>
                <a:effectLst/>
                <a:latin typeface="+mn-lt"/>
                <a:ea typeface="+mn-ea"/>
                <a:cs typeface="+mn-cs"/>
              </a:rPr>
              <a:t> pristupa.</a:t>
            </a:r>
          </a:p>
          <a:p>
            <a:r>
              <a:rPr lang="hr-HR" sz="1200" b="0" i="0" kern="1200" dirty="0">
                <a:solidFill>
                  <a:schemeClr val="tx1"/>
                </a:solidFill>
                <a:effectLst/>
                <a:latin typeface="+mn-lt"/>
                <a:ea typeface="+mn-ea"/>
                <a:cs typeface="+mn-cs"/>
              </a:rPr>
              <a:t>Nedostatak iskustva s metodom</a:t>
            </a:r>
            <a:br>
              <a:rPr lang="hr-HR" sz="1200" b="0" i="0" kern="1200" dirty="0">
                <a:solidFill>
                  <a:schemeClr val="tx1"/>
                </a:solidFill>
                <a:effectLst/>
                <a:latin typeface="+mn-lt"/>
                <a:ea typeface="+mn-ea"/>
                <a:cs typeface="+mn-cs"/>
              </a:rPr>
            </a:br>
            <a:r>
              <a:rPr lang="hr-HR" sz="1200" b="0" i="0" kern="1200" dirty="0">
                <a:solidFill>
                  <a:schemeClr val="tx1"/>
                </a:solidFill>
                <a:effectLst/>
                <a:latin typeface="+mn-lt"/>
                <a:ea typeface="+mn-ea"/>
                <a:cs typeface="+mn-cs"/>
              </a:rPr>
              <a:t>Ulaganje u kvalitetnu edukaciju o osnovnim </a:t>
            </a:r>
            <a:r>
              <a:rPr lang="hr-HR" sz="1200" b="0" i="0" kern="1200" dirty="0" err="1">
                <a:solidFill>
                  <a:schemeClr val="tx1"/>
                </a:solidFill>
                <a:effectLst/>
                <a:latin typeface="+mn-lt"/>
                <a:ea typeface="+mn-ea"/>
                <a:cs typeface="+mn-cs"/>
              </a:rPr>
              <a:t>Agile</a:t>
            </a:r>
            <a:r>
              <a:rPr lang="hr-HR" sz="1200" b="0" i="0" kern="1200" dirty="0">
                <a:solidFill>
                  <a:schemeClr val="tx1"/>
                </a:solidFill>
                <a:effectLst/>
                <a:latin typeface="+mn-lt"/>
                <a:ea typeface="+mn-ea"/>
                <a:cs typeface="+mn-cs"/>
              </a:rPr>
              <a:t> tehnikama i </a:t>
            </a:r>
            <a:r>
              <a:rPr lang="hr-HR" sz="1200" b="0" i="0" kern="1200" dirty="0" err="1">
                <a:solidFill>
                  <a:schemeClr val="tx1"/>
                </a:solidFill>
                <a:effectLst/>
                <a:latin typeface="+mn-lt"/>
                <a:ea typeface="+mn-ea"/>
                <a:cs typeface="+mn-cs"/>
              </a:rPr>
              <a:t>coaching</a:t>
            </a:r>
            <a:r>
              <a:rPr lang="hr-HR" sz="1200" b="0" i="0" kern="1200" dirty="0">
                <a:solidFill>
                  <a:schemeClr val="tx1"/>
                </a:solidFill>
                <a:effectLst/>
                <a:latin typeface="+mn-lt"/>
                <a:ea typeface="+mn-ea"/>
                <a:cs typeface="+mn-cs"/>
              </a:rPr>
              <a:t> za njihovu ispravnu primjenu predstavlja dobro uložen novac.</a:t>
            </a:r>
          </a:p>
          <a:p>
            <a:br>
              <a:rPr lang="hr-HR" sz="1200" b="0" i="0" kern="1200" dirty="0">
                <a:solidFill>
                  <a:schemeClr val="tx1"/>
                </a:solidFill>
                <a:effectLst/>
                <a:latin typeface="+mn-lt"/>
                <a:ea typeface="+mn-ea"/>
                <a:cs typeface="+mn-cs"/>
              </a:rPr>
            </a:br>
            <a:endParaRPr lang="hr-HR" sz="1200" b="0" i="0" kern="1200" dirty="0">
              <a:solidFill>
                <a:schemeClr val="tx1"/>
              </a:solidFill>
              <a:effectLst/>
              <a:latin typeface="+mn-lt"/>
              <a:ea typeface="+mn-ea"/>
              <a:cs typeface="+mn-cs"/>
            </a:endParaRPr>
          </a:p>
          <a:p>
            <a:r>
              <a:rPr lang="hr-HR" sz="1200" b="0" i="0" kern="1200" dirty="0">
                <a:solidFill>
                  <a:schemeClr val="tx1"/>
                </a:solidFill>
                <a:effectLst/>
                <a:latin typeface="+mn-lt"/>
                <a:ea typeface="+mn-ea"/>
                <a:cs typeface="+mn-cs"/>
              </a:rPr>
              <a:t>prevedi: Facilitator notes </a:t>
            </a:r>
            <a:r>
              <a:rPr lang="hr-HR" sz="1200" b="0" i="0" kern="1200" dirty="0" err="1">
                <a:solidFill>
                  <a:schemeClr val="tx1"/>
                </a:solidFill>
                <a:effectLst/>
                <a:latin typeface="+mn-lt"/>
                <a:ea typeface="+mn-ea"/>
                <a:cs typeface="+mn-cs"/>
              </a:rPr>
              <a:t>Don’t</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rush</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the</a:t>
            </a:r>
            <a:r>
              <a:rPr lang="hr-HR" sz="1200" b="0" i="0" kern="1200" dirty="0">
                <a:solidFill>
                  <a:schemeClr val="tx1"/>
                </a:solidFill>
                <a:effectLst/>
                <a:latin typeface="+mn-lt"/>
                <a:ea typeface="+mn-ea"/>
                <a:cs typeface="+mn-cs"/>
              </a:rPr>
              <a:t> list. </a:t>
            </a:r>
            <a:r>
              <a:rPr lang="hr-HR" sz="1200" b="0" i="0" kern="1200" dirty="0" err="1">
                <a:solidFill>
                  <a:schemeClr val="tx1"/>
                </a:solidFill>
                <a:effectLst/>
                <a:latin typeface="+mn-lt"/>
                <a:ea typeface="+mn-ea"/>
                <a:cs typeface="+mn-cs"/>
              </a:rPr>
              <a:t>Cluster</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causes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into</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themes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Culture</a:t>
            </a:r>
            <a:r>
              <a:rPr lang="hr-HR" sz="1200" b="0" i="0" kern="1200" dirty="0">
                <a:solidFill>
                  <a:schemeClr val="tx1"/>
                </a:solidFill>
                <a:effectLst/>
                <a:latin typeface="+mn-lt"/>
                <a:ea typeface="+mn-ea"/>
                <a:cs typeface="+mn-cs"/>
              </a:rPr>
              <a:t> &amp; </a:t>
            </a:r>
            <a:r>
              <a:rPr lang="hr-HR" sz="1200" b="0" i="0" kern="1200" dirty="0" err="1">
                <a:solidFill>
                  <a:schemeClr val="tx1"/>
                </a:solidFill>
                <a:effectLst/>
                <a:latin typeface="+mn-lt"/>
                <a:ea typeface="+mn-ea"/>
                <a:cs typeface="+mn-cs"/>
              </a:rPr>
              <a:t>leadership</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Capability</a:t>
            </a:r>
            <a:r>
              <a:rPr lang="hr-HR" sz="1200" b="0" i="0" kern="1200" dirty="0">
                <a:solidFill>
                  <a:schemeClr val="tx1"/>
                </a:solidFill>
                <a:effectLst/>
                <a:latin typeface="+mn-lt"/>
                <a:ea typeface="+mn-ea"/>
                <a:cs typeface="+mn-cs"/>
              </a:rPr>
              <a:t> &amp; </a:t>
            </a:r>
            <a:r>
              <a:rPr lang="hr-HR" sz="1200" b="0" i="0" kern="1200" dirty="0" err="1">
                <a:solidFill>
                  <a:schemeClr val="tx1"/>
                </a:solidFill>
                <a:effectLst/>
                <a:latin typeface="+mn-lt"/>
                <a:ea typeface="+mn-ea"/>
                <a:cs typeface="+mn-cs"/>
              </a:rPr>
              <a:t>training</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Interfaces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with</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non-Agile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parts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of</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the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organization</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Communication</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and</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team</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dynamics</a:t>
            </a:r>
            <a:r>
              <a:rPr lang="hr-HR" sz="1200" b="0" i="0" kern="1200" dirty="0">
                <a:solidFill>
                  <a:schemeClr val="tx1"/>
                </a:solidFill>
                <a:effectLst/>
                <a:latin typeface="+mn-lt"/>
                <a:ea typeface="+mn-ea"/>
                <a:cs typeface="+mn-cs"/>
              </a:rPr>
              <a:t> </a:t>
            </a:r>
          </a:p>
          <a:p>
            <a:br>
              <a:rPr lang="hr-HR" sz="1200" b="0" i="0" kern="1200" dirty="0">
                <a:solidFill>
                  <a:schemeClr val="tx1"/>
                </a:solidFill>
                <a:effectLst/>
                <a:latin typeface="+mn-lt"/>
                <a:ea typeface="+mn-ea"/>
                <a:cs typeface="+mn-cs"/>
              </a:rPr>
            </a:br>
            <a:endParaRPr lang="hr-HR" sz="1200" b="0" i="0" kern="1200" dirty="0">
              <a:solidFill>
                <a:schemeClr val="tx1"/>
              </a:solidFill>
              <a:effectLst/>
              <a:latin typeface="+mn-lt"/>
              <a:ea typeface="+mn-ea"/>
              <a:cs typeface="+mn-cs"/>
            </a:endParaRPr>
          </a:p>
          <a:p>
            <a:r>
              <a:rPr lang="hr-HR" sz="1200" b="0" i="0" kern="1200" dirty="0">
                <a:solidFill>
                  <a:schemeClr val="tx1"/>
                </a:solidFill>
                <a:effectLst/>
                <a:latin typeface="+mn-lt"/>
                <a:ea typeface="+mn-ea"/>
                <a:cs typeface="+mn-cs"/>
              </a:rPr>
              <a:t>Napomene za facilitatora</a:t>
            </a:r>
          </a:p>
          <a:p>
            <a:r>
              <a:rPr lang="hr-HR" sz="1200" b="0" i="0" kern="1200" dirty="0">
                <a:solidFill>
                  <a:schemeClr val="tx1"/>
                </a:solidFill>
                <a:effectLst/>
                <a:latin typeface="+mn-lt"/>
                <a:ea typeface="+mn-ea"/>
                <a:cs typeface="+mn-cs"/>
              </a:rPr>
              <a:t>Nemojte žuriti kroz popis. Grupirajte uzroke u teme:</a:t>
            </a:r>
          </a:p>
          <a:p>
            <a:r>
              <a:rPr lang="hr-HR" sz="1200" b="0" i="0" kern="1200" dirty="0">
                <a:solidFill>
                  <a:schemeClr val="tx1"/>
                </a:solidFill>
                <a:effectLst/>
                <a:latin typeface="+mn-lt"/>
                <a:ea typeface="+mn-ea"/>
                <a:cs typeface="+mn-cs"/>
              </a:rPr>
              <a:t>Kultura i vodstvo</a:t>
            </a:r>
          </a:p>
          <a:p>
            <a:r>
              <a:rPr lang="hr-HR" sz="1200" b="0" i="0" kern="1200" dirty="0">
                <a:solidFill>
                  <a:schemeClr val="tx1"/>
                </a:solidFill>
                <a:effectLst/>
                <a:latin typeface="+mn-lt"/>
                <a:ea typeface="+mn-ea"/>
                <a:cs typeface="+mn-cs"/>
              </a:rPr>
              <a:t>Kompetencije i edukacija</a:t>
            </a:r>
          </a:p>
          <a:p>
            <a:r>
              <a:rPr lang="hr-HR" sz="1200" b="0" i="0" kern="1200" dirty="0">
                <a:solidFill>
                  <a:schemeClr val="tx1"/>
                </a:solidFill>
                <a:effectLst/>
                <a:latin typeface="+mn-lt"/>
                <a:ea typeface="+mn-ea"/>
                <a:cs typeface="+mn-cs"/>
              </a:rPr>
              <a:t>Sučelja s ne-</a:t>
            </a:r>
            <a:r>
              <a:rPr lang="hr-HR" sz="1200" b="0" i="0" kern="1200" dirty="0" err="1">
                <a:solidFill>
                  <a:schemeClr val="tx1"/>
                </a:solidFill>
                <a:effectLst/>
                <a:latin typeface="+mn-lt"/>
                <a:ea typeface="+mn-ea"/>
                <a:cs typeface="+mn-cs"/>
              </a:rPr>
              <a:t>Agile</a:t>
            </a:r>
            <a:r>
              <a:rPr lang="hr-HR" sz="1200" b="0" i="0" kern="1200" dirty="0">
                <a:solidFill>
                  <a:schemeClr val="tx1"/>
                </a:solidFill>
                <a:effectLst/>
                <a:latin typeface="+mn-lt"/>
                <a:ea typeface="+mn-ea"/>
                <a:cs typeface="+mn-cs"/>
              </a:rPr>
              <a:t> dijelovima organizacije</a:t>
            </a:r>
          </a:p>
          <a:p>
            <a:r>
              <a:rPr lang="hr-HR" sz="1200" b="0" i="0" kern="1200" dirty="0">
                <a:solidFill>
                  <a:schemeClr val="tx1"/>
                </a:solidFill>
                <a:effectLst/>
                <a:latin typeface="+mn-lt"/>
                <a:ea typeface="+mn-ea"/>
                <a:cs typeface="+mn-cs"/>
              </a:rPr>
              <a:t>Komunikacija i timska dinamika</a:t>
            </a:r>
          </a:p>
          <a:p>
            <a:br>
              <a:rPr lang="hr-HR" sz="1200" b="0" i="0" kern="1200" dirty="0">
                <a:solidFill>
                  <a:schemeClr val="tx1"/>
                </a:solidFill>
                <a:effectLst/>
                <a:latin typeface="+mn-lt"/>
                <a:ea typeface="+mn-ea"/>
                <a:cs typeface="+mn-cs"/>
              </a:rPr>
            </a:br>
            <a:endParaRPr lang="hr-HR" sz="1200" b="0" i="0" kern="1200" dirty="0">
              <a:solidFill>
                <a:schemeClr val="tx1"/>
              </a:solidFill>
              <a:effectLst/>
              <a:latin typeface="+mn-lt"/>
              <a:ea typeface="+mn-ea"/>
              <a:cs typeface="+mn-cs"/>
            </a:endParaRPr>
          </a:p>
          <a:p>
            <a:r>
              <a:rPr lang="hr-HR" sz="1200" b="0" i="0" kern="1200" dirty="0">
                <a:solidFill>
                  <a:schemeClr val="tx1"/>
                </a:solidFill>
                <a:effectLst/>
                <a:latin typeface="+mn-lt"/>
                <a:ea typeface="+mn-ea"/>
                <a:cs typeface="+mn-cs"/>
              </a:rPr>
              <a:t>3. </a:t>
            </a:r>
            <a:r>
              <a:rPr lang="hr-HR" sz="1200" b="0" i="0" kern="1200" dirty="0" err="1">
                <a:solidFill>
                  <a:schemeClr val="tx1"/>
                </a:solidFill>
                <a:effectLst/>
                <a:latin typeface="+mn-lt"/>
                <a:ea typeface="+mn-ea"/>
                <a:cs typeface="+mn-cs"/>
              </a:rPr>
              <a:t>Poor</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support</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in</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cultural</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transition</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Tangible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and</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active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involvement</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of</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all</a:t>
            </a:r>
            <a:r>
              <a:rPr lang="hr-HR" sz="1200" b="0" i="0" kern="1200" dirty="0">
                <a:solidFill>
                  <a:schemeClr val="tx1"/>
                </a:solidFill>
                <a:effectLst/>
                <a:latin typeface="+mn-lt"/>
                <a:ea typeface="+mn-ea"/>
                <a:cs typeface="+mn-cs"/>
              </a:rPr>
              <a:t> management </a:t>
            </a:r>
            <a:r>
              <a:rPr lang="hr-HR" sz="1200" b="0" i="0" kern="1200" dirty="0" err="1">
                <a:solidFill>
                  <a:schemeClr val="tx1"/>
                </a:solidFill>
                <a:effectLst/>
                <a:latin typeface="+mn-lt"/>
                <a:ea typeface="+mn-ea"/>
                <a:cs typeface="+mn-cs"/>
              </a:rPr>
              <a:t>is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crucial</a:t>
            </a:r>
            <a:r>
              <a:rPr lang="hr-HR" sz="1200" b="0" i="0" kern="1200" dirty="0">
                <a:solidFill>
                  <a:schemeClr val="tx1"/>
                </a:solidFill>
                <a:effectLst/>
                <a:latin typeface="+mn-lt"/>
                <a:ea typeface="+mn-ea"/>
                <a:cs typeface="+mn-cs"/>
              </a:rPr>
              <a:t> for </a:t>
            </a:r>
            <a:r>
              <a:rPr lang="hr-HR" sz="1200" b="0" i="0" kern="1200" dirty="0" err="1">
                <a:solidFill>
                  <a:schemeClr val="tx1"/>
                </a:solidFill>
                <a:effectLst/>
                <a:latin typeface="+mn-lt"/>
                <a:ea typeface="+mn-ea"/>
                <a:cs typeface="+mn-cs"/>
              </a:rPr>
              <a:t>cultural</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transformation</a:t>
            </a:r>
            <a:r>
              <a:rPr lang="hr-HR" sz="1200" b="0" i="0" kern="1200" dirty="0">
                <a:solidFill>
                  <a:schemeClr val="tx1"/>
                </a:solidFill>
                <a:effectLst/>
                <a:latin typeface="+mn-lt"/>
                <a:ea typeface="+mn-ea"/>
                <a:cs typeface="+mn-cs"/>
              </a:rPr>
              <a:t> 4. </a:t>
            </a:r>
            <a:r>
              <a:rPr lang="hr-HR" sz="1200" b="0" i="0" kern="1200" dirty="0" err="1">
                <a:solidFill>
                  <a:schemeClr val="tx1"/>
                </a:solidFill>
                <a:effectLst/>
                <a:latin typeface="+mn-lt"/>
                <a:ea typeface="+mn-ea"/>
                <a:cs typeface="+mn-cs"/>
              </a:rPr>
              <a:t>External</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pressure</a:t>
            </a:r>
            <a:r>
              <a:rPr lang="hr-HR" sz="1200" b="0" i="0" kern="1200" dirty="0">
                <a:solidFill>
                  <a:schemeClr val="tx1"/>
                </a:solidFill>
                <a:effectLst/>
                <a:latin typeface="+mn-lt"/>
                <a:ea typeface="+mn-ea"/>
                <a:cs typeface="+mn-cs"/>
              </a:rPr>
              <a:t> to </a:t>
            </a:r>
            <a:r>
              <a:rPr lang="hr-HR" sz="1200" b="0" i="0" kern="1200" dirty="0" err="1">
                <a:solidFill>
                  <a:schemeClr val="tx1"/>
                </a:solidFill>
                <a:effectLst/>
                <a:latin typeface="+mn-lt"/>
                <a:ea typeface="+mn-ea"/>
                <a:cs typeface="+mn-cs"/>
              </a:rPr>
              <a:t>Waterfall</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Especially</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in</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large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organisations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in</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order</a:t>
            </a:r>
            <a:r>
              <a:rPr lang="hr-HR" sz="1200" b="0" i="0" kern="1200" dirty="0">
                <a:solidFill>
                  <a:schemeClr val="tx1"/>
                </a:solidFill>
                <a:effectLst/>
                <a:latin typeface="+mn-lt"/>
                <a:ea typeface="+mn-ea"/>
                <a:cs typeface="+mn-cs"/>
              </a:rPr>
              <a:t> to </a:t>
            </a:r>
            <a:r>
              <a:rPr lang="hr-HR" sz="1200" b="0" i="0" kern="1200" dirty="0" err="1">
                <a:solidFill>
                  <a:schemeClr val="tx1"/>
                </a:solidFill>
                <a:effectLst/>
                <a:latin typeface="+mn-lt"/>
                <a:ea typeface="+mn-ea"/>
                <a:cs typeface="+mn-cs"/>
              </a:rPr>
              <a:t>facilitate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coexistence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between</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Agile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and</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Waterfall</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teams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it</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is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useful</a:t>
            </a:r>
            <a:r>
              <a:rPr lang="hr-HR" sz="1200" b="0" i="0" kern="1200" dirty="0">
                <a:solidFill>
                  <a:schemeClr val="tx1"/>
                </a:solidFill>
                <a:effectLst/>
                <a:latin typeface="+mn-lt"/>
                <a:ea typeface="+mn-ea"/>
                <a:cs typeface="+mn-cs"/>
              </a:rPr>
              <a:t> to </a:t>
            </a:r>
            <a:r>
              <a:rPr lang="hr-HR" sz="1200" b="0" i="0" kern="1200" dirty="0" err="1">
                <a:solidFill>
                  <a:schemeClr val="tx1"/>
                </a:solidFill>
                <a:effectLst/>
                <a:latin typeface="+mn-lt"/>
                <a:ea typeface="+mn-ea"/>
                <a:cs typeface="+mn-cs"/>
              </a:rPr>
              <a:t>involve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people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outside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Agile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in</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meetings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and</a:t>
            </a:r>
            <a:r>
              <a:rPr lang="hr-HR" sz="1200" b="0" i="0" kern="1200" dirty="0">
                <a:solidFill>
                  <a:schemeClr val="tx1"/>
                </a:solidFill>
                <a:effectLst/>
                <a:latin typeface="+mn-lt"/>
                <a:ea typeface="+mn-ea"/>
                <a:cs typeface="+mn-cs"/>
              </a:rPr>
              <a:t> to </a:t>
            </a:r>
            <a:r>
              <a:rPr lang="hr-HR" sz="1200" b="0" i="0" kern="1200" dirty="0" err="1">
                <a:solidFill>
                  <a:schemeClr val="tx1"/>
                </a:solidFill>
                <a:effectLst/>
                <a:latin typeface="+mn-lt"/>
                <a:ea typeface="+mn-ea"/>
                <a:cs typeface="+mn-cs"/>
              </a:rPr>
              <a:t>agree</a:t>
            </a:r>
            <a:r>
              <a:rPr lang="hr-HR" sz="1200" b="0" i="0" kern="1200" dirty="0">
                <a:solidFill>
                  <a:schemeClr val="tx1"/>
                </a:solidFill>
                <a:effectLst/>
                <a:latin typeface="+mn-lt"/>
                <a:ea typeface="+mn-ea"/>
                <a:cs typeface="+mn-cs"/>
              </a:rPr>
              <a:t> on </a:t>
            </a:r>
            <a:r>
              <a:rPr lang="hr-HR" sz="1200" b="0" i="0" kern="1200" dirty="0" err="1">
                <a:solidFill>
                  <a:schemeClr val="tx1"/>
                </a:solidFill>
                <a:effectLst/>
                <a:latin typeface="+mn-lt"/>
                <a:ea typeface="+mn-ea"/>
                <a:cs typeface="+mn-cs"/>
              </a:rPr>
              <a:t>mutual</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interfaces</a:t>
            </a:r>
            <a:r>
              <a:rPr lang="hr-HR" sz="1200" b="0" i="0" kern="1200" dirty="0">
                <a:solidFill>
                  <a:schemeClr val="tx1"/>
                </a:solidFill>
                <a:effectLst/>
                <a:latin typeface="+mn-lt"/>
                <a:ea typeface="+mn-ea"/>
                <a:cs typeface="+mn-cs"/>
              </a:rPr>
              <a:t>' for </a:t>
            </a:r>
            <a:r>
              <a:rPr lang="hr-HR" sz="1200" b="0" i="0" kern="1200" dirty="0" err="1">
                <a:solidFill>
                  <a:schemeClr val="tx1"/>
                </a:solidFill>
                <a:effectLst/>
                <a:latin typeface="+mn-lt"/>
                <a:ea typeface="+mn-ea"/>
                <a:cs typeface="+mn-cs"/>
              </a:rPr>
              <a:t>exchanging</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information</a:t>
            </a:r>
            <a:r>
              <a:rPr lang="hr-HR" sz="1200" b="0" i="0" kern="1200" dirty="0">
                <a:solidFill>
                  <a:schemeClr val="tx1"/>
                </a:solidFill>
                <a:effectLst/>
                <a:latin typeface="+mn-lt"/>
                <a:ea typeface="+mn-ea"/>
                <a:cs typeface="+mn-cs"/>
              </a:rPr>
              <a:t> </a:t>
            </a:r>
          </a:p>
          <a:p>
            <a:br>
              <a:rPr lang="hr-HR" sz="1200" b="0" i="0" kern="1200" dirty="0">
                <a:solidFill>
                  <a:schemeClr val="tx1"/>
                </a:solidFill>
                <a:effectLst/>
                <a:latin typeface="+mn-lt"/>
                <a:ea typeface="+mn-ea"/>
                <a:cs typeface="+mn-cs"/>
              </a:rPr>
            </a:br>
            <a:endParaRPr lang="hr-HR" sz="1200" b="0" i="0" kern="1200" dirty="0">
              <a:solidFill>
                <a:schemeClr val="tx1"/>
              </a:solidFill>
              <a:effectLst/>
              <a:latin typeface="+mn-lt"/>
              <a:ea typeface="+mn-ea"/>
              <a:cs typeface="+mn-cs"/>
            </a:endParaRPr>
          </a:p>
          <a:p>
            <a:r>
              <a:rPr lang="hr-HR" sz="1200" b="0" i="0" kern="1200" dirty="0">
                <a:solidFill>
                  <a:schemeClr val="tx1"/>
                </a:solidFill>
                <a:effectLst/>
                <a:latin typeface="+mn-lt"/>
                <a:ea typeface="+mn-ea"/>
                <a:cs typeface="+mn-cs"/>
              </a:rPr>
              <a:t>Slaba podrška u kulturnoj tranziciji</a:t>
            </a:r>
            <a:br>
              <a:rPr lang="hr-HR" sz="1200" b="0" i="0" kern="1200" dirty="0">
                <a:solidFill>
                  <a:schemeClr val="tx1"/>
                </a:solidFill>
                <a:effectLst/>
                <a:latin typeface="+mn-lt"/>
                <a:ea typeface="+mn-ea"/>
                <a:cs typeface="+mn-cs"/>
              </a:rPr>
            </a:br>
            <a:r>
              <a:rPr lang="hr-HR" sz="1200" b="0" i="0" kern="1200" dirty="0">
                <a:solidFill>
                  <a:schemeClr val="tx1"/>
                </a:solidFill>
                <a:effectLst/>
                <a:latin typeface="+mn-lt"/>
                <a:ea typeface="+mn-ea"/>
                <a:cs typeface="+mn-cs"/>
              </a:rPr>
              <a:t>Opipljivo i aktivno sudjelovanje svih razina menadžmenta ključno je za kulturnu transformaciju.</a:t>
            </a:r>
          </a:p>
          <a:p>
            <a:r>
              <a:rPr lang="hr-HR" sz="1200" b="0" i="0" kern="1200" dirty="0">
                <a:solidFill>
                  <a:schemeClr val="tx1"/>
                </a:solidFill>
                <a:effectLst/>
                <a:latin typeface="+mn-lt"/>
                <a:ea typeface="+mn-ea"/>
                <a:cs typeface="+mn-cs"/>
              </a:rPr>
              <a:t>Vanjski pritisak na </a:t>
            </a:r>
            <a:r>
              <a:rPr lang="hr-HR" sz="1200" b="0" i="0" kern="1200" dirty="0" err="1">
                <a:solidFill>
                  <a:schemeClr val="tx1"/>
                </a:solidFill>
                <a:effectLst/>
                <a:latin typeface="+mn-lt"/>
                <a:ea typeface="+mn-ea"/>
                <a:cs typeface="+mn-cs"/>
              </a:rPr>
              <a:t>Waterfall</a:t>
            </a:r>
            <a:br>
              <a:rPr lang="hr-HR" sz="1200" b="0" i="0" kern="1200" dirty="0">
                <a:solidFill>
                  <a:schemeClr val="tx1"/>
                </a:solidFill>
                <a:effectLst/>
                <a:latin typeface="+mn-lt"/>
                <a:ea typeface="+mn-ea"/>
                <a:cs typeface="+mn-cs"/>
              </a:rPr>
            </a:br>
            <a:r>
              <a:rPr lang="hr-HR" sz="1200" b="0" i="0" kern="1200" dirty="0">
                <a:solidFill>
                  <a:schemeClr val="tx1"/>
                </a:solidFill>
                <a:effectLst/>
                <a:latin typeface="+mn-lt"/>
                <a:ea typeface="+mn-ea"/>
                <a:cs typeface="+mn-cs"/>
              </a:rPr>
              <a:t>Posebno u velikim organizacijama, kako bi se olakšala koegzistencija </a:t>
            </a:r>
            <a:r>
              <a:rPr lang="hr-HR" sz="1200" b="0" i="0" kern="1200" dirty="0" err="1">
                <a:solidFill>
                  <a:schemeClr val="tx1"/>
                </a:solidFill>
                <a:effectLst/>
                <a:latin typeface="+mn-lt"/>
                <a:ea typeface="+mn-ea"/>
                <a:cs typeface="+mn-cs"/>
              </a:rPr>
              <a:t>Agile</a:t>
            </a:r>
            <a:r>
              <a:rPr lang="hr-HR" sz="1200" b="0" i="0" kern="1200" dirty="0">
                <a:solidFill>
                  <a:schemeClr val="tx1"/>
                </a:solidFill>
                <a:effectLst/>
                <a:latin typeface="+mn-lt"/>
                <a:ea typeface="+mn-ea"/>
                <a:cs typeface="+mn-cs"/>
              </a:rPr>
              <a:t> i </a:t>
            </a:r>
            <a:r>
              <a:rPr lang="hr-HR" sz="1200" b="0" i="0" kern="1200" dirty="0" err="1">
                <a:solidFill>
                  <a:schemeClr val="tx1"/>
                </a:solidFill>
                <a:effectLst/>
                <a:latin typeface="+mn-lt"/>
                <a:ea typeface="+mn-ea"/>
                <a:cs typeface="+mn-cs"/>
              </a:rPr>
              <a:t>Waterfall</a:t>
            </a:r>
            <a:r>
              <a:rPr lang="hr-HR" sz="1200" b="0" i="0" kern="1200" dirty="0">
                <a:solidFill>
                  <a:schemeClr val="tx1"/>
                </a:solidFill>
                <a:effectLst/>
                <a:latin typeface="+mn-lt"/>
                <a:ea typeface="+mn-ea"/>
                <a:cs typeface="+mn-cs"/>
              </a:rPr>
              <a:t> timova, korisno je uključiti ljude „izvan” </a:t>
            </a:r>
            <a:r>
              <a:rPr lang="hr-HR" sz="1200" b="0" i="0" kern="1200" dirty="0" err="1">
                <a:solidFill>
                  <a:schemeClr val="tx1"/>
                </a:solidFill>
                <a:effectLst/>
                <a:latin typeface="+mn-lt"/>
                <a:ea typeface="+mn-ea"/>
                <a:cs typeface="+mn-cs"/>
              </a:rPr>
              <a:t>Agilea</a:t>
            </a:r>
            <a:r>
              <a:rPr lang="hr-HR" sz="1200" b="0" i="0" kern="1200" dirty="0">
                <a:solidFill>
                  <a:schemeClr val="tx1"/>
                </a:solidFill>
                <a:effectLst/>
                <a:latin typeface="+mn-lt"/>
                <a:ea typeface="+mn-ea"/>
                <a:cs typeface="+mn-cs"/>
              </a:rPr>
              <a:t> u sastanke te dogovoriti međusobne „sučelne točke” (interfacee) za razmjenu informacija.</a:t>
            </a:r>
          </a:p>
          <a:p>
            <a:br>
              <a:rPr lang="hr-HR" sz="1200" b="0" i="0" kern="1200" dirty="0">
                <a:solidFill>
                  <a:schemeClr val="tx1"/>
                </a:solidFill>
                <a:effectLst/>
                <a:latin typeface="+mn-lt"/>
                <a:ea typeface="+mn-ea"/>
                <a:cs typeface="+mn-cs"/>
              </a:rPr>
            </a:br>
            <a:endParaRPr lang="hr-HR" sz="1200" b="0" i="0" kern="1200" dirty="0">
              <a:solidFill>
                <a:schemeClr val="tx1"/>
              </a:solidFill>
              <a:effectLst/>
              <a:latin typeface="+mn-lt"/>
              <a:ea typeface="+mn-ea"/>
              <a:cs typeface="+mn-cs"/>
            </a:endParaRPr>
          </a:p>
          <a:p>
            <a:r>
              <a:rPr lang="hr-HR" sz="1200" b="0" i="0" kern="1200" dirty="0">
                <a:solidFill>
                  <a:schemeClr val="tx1"/>
                </a:solidFill>
                <a:effectLst/>
                <a:latin typeface="+mn-lt"/>
                <a:ea typeface="+mn-ea"/>
                <a:cs typeface="+mn-cs"/>
              </a:rPr>
              <a:t>5. </a:t>
            </a:r>
            <a:r>
              <a:rPr lang="hr-HR" sz="1200" b="0" i="0" kern="1200" dirty="0" err="1">
                <a:solidFill>
                  <a:schemeClr val="tx1"/>
                </a:solidFill>
                <a:effectLst/>
                <a:latin typeface="+mn-lt"/>
                <a:ea typeface="+mn-ea"/>
                <a:cs typeface="+mn-cs"/>
              </a:rPr>
              <a:t>Organisational</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and</a:t>
            </a:r>
            <a:r>
              <a:rPr lang="hr-HR" sz="1200" b="0" i="0" kern="1200" dirty="0">
                <a:solidFill>
                  <a:schemeClr val="tx1"/>
                </a:solidFill>
                <a:effectLst/>
                <a:latin typeface="+mn-lt"/>
                <a:ea typeface="+mn-ea"/>
                <a:cs typeface="+mn-cs"/>
              </a:rPr>
              <a:t>/</a:t>
            </a:r>
            <a:r>
              <a:rPr lang="hr-HR" sz="1200" b="0" i="0" kern="1200" dirty="0" err="1">
                <a:solidFill>
                  <a:schemeClr val="tx1"/>
                </a:solidFill>
                <a:effectLst/>
                <a:latin typeface="+mn-lt"/>
                <a:ea typeface="+mn-ea"/>
                <a:cs typeface="+mn-cs"/>
              </a:rPr>
              <a:t>or</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communicational</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issues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The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effectiveness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of</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Agile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depends</a:t>
            </a:r>
            <a:r>
              <a:rPr lang="hr-HR" sz="1200" b="0" i="0" kern="1200" dirty="0">
                <a:solidFill>
                  <a:schemeClr val="tx1"/>
                </a:solidFill>
                <a:effectLst/>
                <a:latin typeface="+mn-lt"/>
                <a:ea typeface="+mn-ea"/>
                <a:cs typeface="+mn-cs"/>
              </a:rPr>
              <a:t> on a </a:t>
            </a:r>
            <a:r>
              <a:rPr lang="hr-HR" sz="1200" b="0" i="0" kern="1200" dirty="0" err="1">
                <a:solidFill>
                  <a:schemeClr val="tx1"/>
                </a:solidFill>
                <a:effectLst/>
                <a:latin typeface="+mn-lt"/>
                <a:ea typeface="+mn-ea"/>
                <a:cs typeface="+mn-cs"/>
              </a:rPr>
              <a:t>broad</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and</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deep</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acquisition</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of</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values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and</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principles</a:t>
            </a:r>
            <a:r>
              <a:rPr lang="hr-HR" sz="1200" b="0" i="0" kern="1200" dirty="0">
                <a:solidFill>
                  <a:schemeClr val="tx1"/>
                </a:solidFill>
                <a:effectLst/>
                <a:latin typeface="+mn-lt"/>
                <a:ea typeface="+mn-ea"/>
                <a:cs typeface="+mn-cs"/>
              </a:rPr>
              <a:t> at </a:t>
            </a:r>
            <a:r>
              <a:rPr lang="hr-HR" sz="1200" b="0" i="0" kern="1200" dirty="0" err="1">
                <a:solidFill>
                  <a:schemeClr val="tx1"/>
                </a:solidFill>
                <a:effectLst/>
                <a:latin typeface="+mn-lt"/>
                <a:ea typeface="+mn-ea"/>
                <a:cs typeface="+mn-cs"/>
              </a:rPr>
              <a:t>organisational</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level</a:t>
            </a:r>
            <a:r>
              <a:rPr lang="hr-HR" sz="1200" b="0" i="0" kern="1200" dirty="0">
                <a:solidFill>
                  <a:schemeClr val="tx1"/>
                </a:solidFill>
                <a:effectLst/>
                <a:latin typeface="+mn-lt"/>
                <a:ea typeface="+mn-ea"/>
                <a:cs typeface="+mn-cs"/>
              </a:rPr>
              <a:t> 6. Team </a:t>
            </a:r>
            <a:r>
              <a:rPr lang="hr-HR" sz="1200" b="0" i="0" kern="1200" dirty="0" err="1">
                <a:solidFill>
                  <a:schemeClr val="tx1"/>
                </a:solidFill>
                <a:effectLst/>
                <a:latin typeface="+mn-lt"/>
                <a:ea typeface="+mn-ea"/>
                <a:cs typeface="+mn-cs"/>
              </a:rPr>
              <a:t>reluctance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Occurs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when</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team</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members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fear</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losing</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identity</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or</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control</a:t>
            </a:r>
            <a:r>
              <a:rPr lang="hr-HR" sz="1200" b="0" i="0" kern="1200" dirty="0">
                <a:solidFill>
                  <a:schemeClr val="tx1"/>
                </a:solidFill>
                <a:effectLst/>
                <a:latin typeface="+mn-lt"/>
                <a:ea typeface="+mn-ea"/>
                <a:cs typeface="+mn-cs"/>
              </a:rPr>
              <a:t> 7. </a:t>
            </a:r>
            <a:r>
              <a:rPr lang="hr-HR" sz="1200" b="0" i="0" kern="1200" dirty="0" err="1">
                <a:solidFill>
                  <a:schemeClr val="tx1"/>
                </a:solidFill>
                <a:effectLst/>
                <a:latin typeface="+mn-lt"/>
                <a:ea typeface="+mn-ea"/>
                <a:cs typeface="+mn-cs"/>
              </a:rPr>
              <a:t>Insufficient</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training</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Ensure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that</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all</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those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involved</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including</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leaders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receive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solid</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training</a:t>
            </a:r>
            <a:r>
              <a:rPr lang="hr-HR" sz="1200" b="0" i="0" kern="1200" dirty="0">
                <a:solidFill>
                  <a:schemeClr val="tx1"/>
                </a:solidFill>
                <a:effectLst/>
                <a:latin typeface="+mn-lt"/>
                <a:ea typeface="+mn-ea"/>
                <a:cs typeface="+mn-cs"/>
              </a:rPr>
              <a:t> on </a:t>
            </a:r>
            <a:r>
              <a:rPr lang="hr-HR" sz="1200" b="0" i="0" kern="1200" dirty="0" err="1">
                <a:solidFill>
                  <a:schemeClr val="tx1"/>
                </a:solidFill>
                <a:effectLst/>
                <a:latin typeface="+mn-lt"/>
                <a:ea typeface="+mn-ea"/>
                <a:cs typeface="+mn-cs"/>
              </a:rPr>
              <a:t>Agile</a:t>
            </a:r>
            <a:r>
              <a:rPr lang="hr-HR" sz="1200" b="0" i="0" kern="1200" dirty="0">
                <a:solidFill>
                  <a:schemeClr val="tx1"/>
                </a:solidFill>
                <a:effectLst/>
                <a:latin typeface="+mn-lt"/>
                <a:ea typeface="+mn-ea"/>
                <a:cs typeface="+mn-cs"/>
              </a:rPr>
              <a:t> </a:t>
            </a:r>
          </a:p>
          <a:p>
            <a:br>
              <a:rPr lang="hr-HR" sz="1200" b="0" i="0" kern="1200" dirty="0">
                <a:solidFill>
                  <a:schemeClr val="tx1"/>
                </a:solidFill>
                <a:effectLst/>
                <a:latin typeface="+mn-lt"/>
                <a:ea typeface="+mn-ea"/>
                <a:cs typeface="+mn-cs"/>
              </a:rPr>
            </a:br>
            <a:endParaRPr lang="hr-HR" sz="1200" b="0" i="0" kern="1200" dirty="0">
              <a:solidFill>
                <a:schemeClr val="tx1"/>
              </a:solidFill>
              <a:effectLst/>
              <a:latin typeface="+mn-lt"/>
              <a:ea typeface="+mn-ea"/>
              <a:cs typeface="+mn-cs"/>
            </a:endParaRPr>
          </a:p>
          <a:p>
            <a:r>
              <a:rPr lang="hr-HR" sz="1200" b="0" i="0" kern="1200" dirty="0">
                <a:solidFill>
                  <a:schemeClr val="tx1"/>
                </a:solidFill>
                <a:effectLst/>
                <a:latin typeface="+mn-lt"/>
                <a:ea typeface="+mn-ea"/>
                <a:cs typeface="+mn-cs"/>
              </a:rPr>
              <a:t>Organizacijski i/ili komunikacijski problemi</a:t>
            </a:r>
            <a:br>
              <a:rPr lang="hr-HR" sz="1200" b="0" i="0" kern="1200" dirty="0">
                <a:solidFill>
                  <a:schemeClr val="tx1"/>
                </a:solidFill>
                <a:effectLst/>
                <a:latin typeface="+mn-lt"/>
                <a:ea typeface="+mn-ea"/>
                <a:cs typeface="+mn-cs"/>
              </a:rPr>
            </a:br>
            <a:r>
              <a:rPr lang="hr-HR" sz="1200" b="0" i="0" kern="1200" dirty="0">
                <a:solidFill>
                  <a:schemeClr val="tx1"/>
                </a:solidFill>
                <a:effectLst/>
                <a:latin typeface="+mn-lt"/>
                <a:ea typeface="+mn-ea"/>
                <a:cs typeface="+mn-cs"/>
              </a:rPr>
              <a:t>Učinkovitost </a:t>
            </a:r>
            <a:r>
              <a:rPr lang="hr-HR" sz="1200" b="0" i="0" kern="1200" dirty="0" err="1">
                <a:solidFill>
                  <a:schemeClr val="tx1"/>
                </a:solidFill>
                <a:effectLst/>
                <a:latin typeface="+mn-lt"/>
                <a:ea typeface="+mn-ea"/>
                <a:cs typeface="+mn-cs"/>
              </a:rPr>
              <a:t>Agilea</a:t>
            </a:r>
            <a:r>
              <a:rPr lang="hr-HR" sz="1200" b="0" i="0" kern="1200" dirty="0">
                <a:solidFill>
                  <a:schemeClr val="tx1"/>
                </a:solidFill>
                <a:effectLst/>
                <a:latin typeface="+mn-lt"/>
                <a:ea typeface="+mn-ea"/>
                <a:cs typeface="+mn-cs"/>
              </a:rPr>
              <a:t> ovisi o širokom i dubokom usvajanju vrijednosti i principa na organizacijskoj razini.</a:t>
            </a:r>
          </a:p>
          <a:p>
            <a:r>
              <a:rPr lang="hr-HR" sz="1200" b="0" i="0" kern="1200" dirty="0">
                <a:solidFill>
                  <a:schemeClr val="tx1"/>
                </a:solidFill>
                <a:effectLst/>
                <a:latin typeface="+mn-lt"/>
                <a:ea typeface="+mn-ea"/>
                <a:cs typeface="+mn-cs"/>
              </a:rPr>
              <a:t>Otpornost tima</a:t>
            </a:r>
            <a:br>
              <a:rPr lang="hr-HR" sz="1200" b="0" i="0" kern="1200" dirty="0">
                <a:solidFill>
                  <a:schemeClr val="tx1"/>
                </a:solidFill>
                <a:effectLst/>
                <a:latin typeface="+mn-lt"/>
                <a:ea typeface="+mn-ea"/>
                <a:cs typeface="+mn-cs"/>
              </a:rPr>
            </a:br>
            <a:r>
              <a:rPr lang="hr-HR" sz="1200" b="0" i="0" kern="1200" dirty="0">
                <a:solidFill>
                  <a:schemeClr val="tx1"/>
                </a:solidFill>
                <a:effectLst/>
                <a:latin typeface="+mn-lt"/>
                <a:ea typeface="+mn-ea"/>
                <a:cs typeface="+mn-cs"/>
              </a:rPr>
              <a:t>Javlja se kada se članovi tima boje gubitka identiteta ili kontrole.</a:t>
            </a:r>
          </a:p>
          <a:p>
            <a:r>
              <a:rPr lang="hr-HR" sz="1200" b="0" i="0" kern="1200" dirty="0">
                <a:solidFill>
                  <a:schemeClr val="tx1"/>
                </a:solidFill>
                <a:effectLst/>
                <a:latin typeface="+mn-lt"/>
                <a:ea typeface="+mn-ea"/>
                <a:cs typeface="+mn-cs"/>
              </a:rPr>
              <a:t>Nedovoljna edukacija</a:t>
            </a:r>
            <a:br>
              <a:rPr lang="hr-HR" sz="1200" b="0" i="0" kern="1200" dirty="0">
                <a:solidFill>
                  <a:schemeClr val="tx1"/>
                </a:solidFill>
                <a:effectLst/>
                <a:latin typeface="+mn-lt"/>
                <a:ea typeface="+mn-ea"/>
                <a:cs typeface="+mn-cs"/>
              </a:rPr>
            </a:br>
            <a:r>
              <a:rPr lang="hr-HR" sz="1200" b="0" i="0" kern="1200" dirty="0">
                <a:solidFill>
                  <a:schemeClr val="tx1"/>
                </a:solidFill>
                <a:effectLst/>
                <a:latin typeface="+mn-lt"/>
                <a:ea typeface="+mn-ea"/>
                <a:cs typeface="+mn-cs"/>
              </a:rPr>
              <a:t>Potrebno je osigurati da svi uključeni (uključujući vodstvo) prođu kvalitetnu edukaciju o </a:t>
            </a:r>
            <a:r>
              <a:rPr lang="hr-HR" sz="1200" b="0" i="0" kern="1200" dirty="0" err="1">
                <a:solidFill>
                  <a:schemeClr val="tx1"/>
                </a:solidFill>
                <a:effectLst/>
                <a:latin typeface="+mn-lt"/>
                <a:ea typeface="+mn-ea"/>
                <a:cs typeface="+mn-cs"/>
              </a:rPr>
              <a:t>Agile</a:t>
            </a:r>
            <a:r>
              <a:rPr lang="hr-HR" sz="1200" b="0" i="0" kern="1200" dirty="0">
                <a:solidFill>
                  <a:schemeClr val="tx1"/>
                </a:solidFill>
                <a:effectLst/>
                <a:latin typeface="+mn-lt"/>
                <a:ea typeface="+mn-ea"/>
                <a:cs typeface="+mn-cs"/>
              </a:rPr>
              <a:t> pristupu.</a:t>
            </a:r>
          </a:p>
          <a:p>
            <a:br>
              <a:rPr lang="hr-HR" sz="1200" b="0" i="0" kern="1200" dirty="0">
                <a:solidFill>
                  <a:schemeClr val="tx1"/>
                </a:solidFill>
                <a:effectLst/>
                <a:latin typeface="+mn-lt"/>
                <a:ea typeface="+mn-ea"/>
                <a:cs typeface="+mn-cs"/>
              </a:rPr>
            </a:br>
            <a:endParaRPr lang="hr-HR" sz="1200" b="0" i="0" kern="1200" dirty="0">
              <a:solidFill>
                <a:schemeClr val="tx1"/>
              </a:solidFill>
              <a:effectLst/>
              <a:latin typeface="+mn-lt"/>
              <a:ea typeface="+mn-ea"/>
              <a:cs typeface="+mn-cs"/>
            </a:endParaRPr>
          </a:p>
          <a:p>
            <a:r>
              <a:rPr lang="hr-HR" sz="1200" b="0" i="0" kern="1200" dirty="0">
                <a:solidFill>
                  <a:schemeClr val="tx1"/>
                </a:solidFill>
                <a:effectLst/>
                <a:latin typeface="+mn-lt"/>
                <a:ea typeface="+mn-ea"/>
                <a:cs typeface="+mn-cs"/>
              </a:rPr>
              <a:t>prevedi: A model for </a:t>
            </a:r>
            <a:r>
              <a:rPr lang="hr-HR" sz="1200" b="0" i="0" kern="1200" dirty="0" err="1">
                <a:solidFill>
                  <a:schemeClr val="tx1"/>
                </a:solidFill>
                <a:effectLst/>
                <a:latin typeface="+mn-lt"/>
                <a:ea typeface="+mn-ea"/>
                <a:cs typeface="+mn-cs"/>
              </a:rPr>
              <a:t>change</a:t>
            </a:r>
            <a:r>
              <a:rPr lang="hr-HR" sz="1200" b="0" i="0" kern="1200" dirty="0">
                <a:solidFill>
                  <a:schemeClr val="tx1"/>
                </a:solidFill>
                <a:effectLst/>
                <a:latin typeface="+mn-lt"/>
                <a:ea typeface="+mn-ea"/>
                <a:cs typeface="+mn-cs"/>
              </a:rPr>
              <a:t> management</a:t>
            </a:r>
          </a:p>
          <a:p>
            <a:br>
              <a:rPr lang="hr-HR" sz="1200" b="0" i="0" kern="1200" dirty="0">
                <a:solidFill>
                  <a:schemeClr val="tx1"/>
                </a:solidFill>
                <a:effectLst/>
                <a:latin typeface="+mn-lt"/>
                <a:ea typeface="+mn-ea"/>
                <a:cs typeface="+mn-cs"/>
              </a:rPr>
            </a:br>
            <a:endParaRPr lang="hr-HR" sz="1200" b="0" i="0" kern="1200" dirty="0">
              <a:solidFill>
                <a:schemeClr val="tx1"/>
              </a:solidFill>
              <a:effectLst/>
              <a:latin typeface="+mn-lt"/>
              <a:ea typeface="+mn-ea"/>
              <a:cs typeface="+mn-cs"/>
            </a:endParaRPr>
          </a:p>
          <a:p>
            <a:r>
              <a:rPr lang="hr-HR" sz="1200" b="0" i="0" kern="1200" dirty="0">
                <a:solidFill>
                  <a:schemeClr val="tx1"/>
                </a:solidFill>
                <a:effectLst/>
                <a:latin typeface="+mn-lt"/>
                <a:ea typeface="+mn-ea"/>
                <a:cs typeface="+mn-cs"/>
              </a:rPr>
              <a:t>Model upravljanja promjenama</a:t>
            </a:r>
          </a:p>
          <a:p>
            <a:br>
              <a:rPr lang="hr-HR" sz="1200" b="0" i="0" kern="1200" dirty="0">
                <a:solidFill>
                  <a:schemeClr val="tx1"/>
                </a:solidFill>
                <a:effectLst/>
                <a:latin typeface="+mn-lt"/>
                <a:ea typeface="+mn-ea"/>
                <a:cs typeface="+mn-cs"/>
              </a:rPr>
            </a:br>
            <a:endParaRPr lang="hr-HR" sz="1200" b="0" i="0" kern="1200" dirty="0">
              <a:solidFill>
                <a:schemeClr val="tx1"/>
              </a:solidFill>
              <a:effectLst/>
              <a:latin typeface="+mn-lt"/>
              <a:ea typeface="+mn-ea"/>
              <a:cs typeface="+mn-cs"/>
            </a:endParaRPr>
          </a:p>
          <a:p>
            <a:r>
              <a:rPr lang="hr-HR" sz="1200" b="0" i="0" kern="1200" dirty="0">
                <a:solidFill>
                  <a:schemeClr val="tx1"/>
                </a:solidFill>
                <a:effectLst/>
                <a:latin typeface="+mn-lt"/>
                <a:ea typeface="+mn-ea"/>
                <a:cs typeface="+mn-cs"/>
              </a:rPr>
              <a:t>prevedi: Facilitator notes Provide a </a:t>
            </a:r>
            <a:r>
              <a:rPr lang="hr-HR" sz="1200" b="0" i="0" kern="1200" dirty="0" err="1">
                <a:solidFill>
                  <a:schemeClr val="tx1"/>
                </a:solidFill>
                <a:effectLst/>
                <a:latin typeface="+mn-lt"/>
                <a:ea typeface="+mn-ea"/>
                <a:cs typeface="+mn-cs"/>
              </a:rPr>
              <a:t>simple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change</a:t>
            </a:r>
            <a:r>
              <a:rPr lang="hr-HR" sz="1200" b="0" i="0" kern="1200" dirty="0">
                <a:solidFill>
                  <a:schemeClr val="tx1"/>
                </a:solidFill>
                <a:effectLst/>
                <a:latin typeface="+mn-lt"/>
                <a:ea typeface="+mn-ea"/>
                <a:cs typeface="+mn-cs"/>
              </a:rPr>
              <a:t>-management </a:t>
            </a:r>
            <a:r>
              <a:rPr lang="hr-HR" sz="1200" b="0" i="0" kern="1200" dirty="0" err="1">
                <a:solidFill>
                  <a:schemeClr val="tx1"/>
                </a:solidFill>
                <a:effectLst/>
                <a:latin typeface="+mn-lt"/>
                <a:ea typeface="+mn-ea"/>
                <a:cs typeface="+mn-cs"/>
              </a:rPr>
              <a:t>lens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when</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key</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ingredients</a:t>
            </a:r>
            <a:r>
              <a:rPr lang="hr-HR" sz="1200" b="0" i="0" kern="1200" dirty="0">
                <a:solidFill>
                  <a:schemeClr val="tx1"/>
                </a:solidFill>
                <a:effectLst/>
                <a:latin typeface="+mn-lt"/>
                <a:ea typeface="+mn-ea"/>
                <a:cs typeface="+mn-cs"/>
              </a:rPr>
              <a:t> are </a:t>
            </a:r>
            <a:r>
              <a:rPr lang="hr-HR" sz="1200" b="0" i="0" kern="1200" dirty="0" err="1">
                <a:solidFill>
                  <a:schemeClr val="tx1"/>
                </a:solidFill>
                <a:effectLst/>
                <a:latin typeface="+mn-lt"/>
                <a:ea typeface="+mn-ea"/>
                <a:cs typeface="+mn-cs"/>
              </a:rPr>
              <a:t>missing</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change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outcomes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fail</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Walk</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through</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the</a:t>
            </a:r>
            <a:r>
              <a:rPr lang="hr-HR" sz="1200" b="0" i="0" kern="1200" dirty="0">
                <a:solidFill>
                  <a:schemeClr val="tx1"/>
                </a:solidFill>
                <a:effectLst/>
                <a:latin typeface="+mn-lt"/>
                <a:ea typeface="+mn-ea"/>
                <a:cs typeface="+mn-cs"/>
              </a:rPr>
              <a:t> model </a:t>
            </a:r>
            <a:r>
              <a:rPr lang="hr-HR" sz="1200" b="0" i="0" kern="1200" dirty="0" err="1">
                <a:solidFill>
                  <a:schemeClr val="tx1"/>
                </a:solidFill>
                <a:effectLst/>
                <a:latin typeface="+mn-lt"/>
                <a:ea typeface="+mn-ea"/>
                <a:cs typeface="+mn-cs"/>
              </a:rPr>
              <a:t>and</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translate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it</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Vision</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why</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Skills</a:t>
            </a:r>
            <a:r>
              <a:rPr lang="hr-HR" sz="1200" b="0" i="0" kern="1200" dirty="0">
                <a:solidFill>
                  <a:schemeClr val="tx1"/>
                </a:solidFill>
                <a:effectLst/>
                <a:latin typeface="+mn-lt"/>
                <a:ea typeface="+mn-ea"/>
                <a:cs typeface="+mn-cs"/>
              </a:rPr>
              <a:t> (how) </a:t>
            </a:r>
            <a:r>
              <a:rPr lang="hr-HR" sz="1200" b="0" i="0" kern="1200" dirty="0" err="1">
                <a:solidFill>
                  <a:schemeClr val="tx1"/>
                </a:solidFill>
                <a:effectLst/>
                <a:latin typeface="+mn-lt"/>
                <a:ea typeface="+mn-ea"/>
                <a:cs typeface="+mn-cs"/>
              </a:rPr>
              <a:t>Incentives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motivation</a:t>
            </a:r>
            <a:r>
              <a:rPr lang="hr-HR" sz="1200" b="0" i="0" kern="1200" dirty="0">
                <a:solidFill>
                  <a:schemeClr val="tx1"/>
                </a:solidFill>
                <a:effectLst/>
                <a:latin typeface="+mn-lt"/>
                <a:ea typeface="+mn-ea"/>
                <a:cs typeface="+mn-cs"/>
              </a:rPr>
              <a:t>) Resources (</a:t>
            </a:r>
            <a:r>
              <a:rPr lang="hr-HR" sz="1200" b="0" i="0" kern="1200" dirty="0" err="1">
                <a:solidFill>
                  <a:schemeClr val="tx1"/>
                </a:solidFill>
                <a:effectLst/>
                <a:latin typeface="+mn-lt"/>
                <a:ea typeface="+mn-ea"/>
                <a:cs typeface="+mn-cs"/>
              </a:rPr>
              <a:t>capacity</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Action</a:t>
            </a:r>
            <a:r>
              <a:rPr lang="hr-HR" sz="1200" b="0" i="0" kern="1200" dirty="0">
                <a:solidFill>
                  <a:schemeClr val="tx1"/>
                </a:solidFill>
                <a:effectLst/>
                <a:latin typeface="+mn-lt"/>
                <a:ea typeface="+mn-ea"/>
                <a:cs typeface="+mn-cs"/>
              </a:rPr>
              <a:t> plan (</a:t>
            </a:r>
            <a:r>
              <a:rPr lang="hr-HR" sz="1200" b="0" i="0" kern="1200" dirty="0" err="1">
                <a:solidFill>
                  <a:schemeClr val="tx1"/>
                </a:solidFill>
                <a:effectLst/>
                <a:latin typeface="+mn-lt"/>
                <a:ea typeface="+mn-ea"/>
                <a:cs typeface="+mn-cs"/>
              </a:rPr>
              <a:t>steps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Missing</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any</a:t>
            </a:r>
            <a:r>
              <a:rPr lang="hr-HR" sz="1200" b="0" i="0" kern="1200" dirty="0">
                <a:solidFill>
                  <a:schemeClr val="tx1"/>
                </a:solidFill>
                <a:effectLst/>
                <a:latin typeface="+mn-lt"/>
                <a:ea typeface="+mn-ea"/>
                <a:cs typeface="+mn-cs"/>
              </a:rPr>
              <a:t> element </a:t>
            </a:r>
            <a:r>
              <a:rPr lang="hr-HR" sz="1200" b="0" i="0" kern="1200" dirty="0" err="1">
                <a:solidFill>
                  <a:schemeClr val="tx1"/>
                </a:solidFill>
                <a:effectLst/>
                <a:latin typeface="+mn-lt"/>
                <a:ea typeface="+mn-ea"/>
                <a:cs typeface="+mn-cs"/>
              </a:rPr>
              <a:t>creates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predictable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failure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models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Additional</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resources</a:t>
            </a:r>
            <a:r>
              <a:rPr lang="hr-HR" sz="1200" b="0" i="0" kern="1200" dirty="0">
                <a:solidFill>
                  <a:schemeClr val="tx1"/>
                </a:solidFill>
                <a:effectLst/>
                <a:latin typeface="+mn-lt"/>
                <a:ea typeface="+mn-ea"/>
                <a:cs typeface="+mn-cs"/>
              </a:rPr>
              <a:t> https://whoek.com/b/knoster_managing-change.html https://agilityportal.io/blog/knoster-model-for-change?tmpl=component&amp;print=1&amp;format=print </a:t>
            </a:r>
          </a:p>
          <a:p>
            <a:br>
              <a:rPr lang="hr-HR" sz="1200" b="0" i="0" kern="1200" dirty="0">
                <a:solidFill>
                  <a:schemeClr val="tx1"/>
                </a:solidFill>
                <a:effectLst/>
                <a:latin typeface="+mn-lt"/>
                <a:ea typeface="+mn-ea"/>
                <a:cs typeface="+mn-cs"/>
              </a:rPr>
            </a:br>
            <a:endParaRPr lang="hr-HR" sz="1200" b="0" i="0" kern="1200" dirty="0">
              <a:solidFill>
                <a:schemeClr val="tx1"/>
              </a:solidFill>
              <a:effectLst/>
              <a:latin typeface="+mn-lt"/>
              <a:ea typeface="+mn-ea"/>
              <a:cs typeface="+mn-cs"/>
            </a:endParaRPr>
          </a:p>
          <a:p>
            <a:r>
              <a:rPr lang="hr-HR" sz="1200" b="0" i="0" kern="1200" dirty="0">
                <a:solidFill>
                  <a:schemeClr val="tx1"/>
                </a:solidFill>
                <a:effectLst/>
                <a:latin typeface="+mn-lt"/>
                <a:ea typeface="+mn-ea"/>
                <a:cs typeface="+mn-cs"/>
              </a:rPr>
              <a:t>Napomene za facilitatora</a:t>
            </a:r>
          </a:p>
          <a:p>
            <a:r>
              <a:rPr lang="hr-HR" sz="1200" b="0" i="0" kern="1200" dirty="0">
                <a:solidFill>
                  <a:schemeClr val="tx1"/>
                </a:solidFill>
                <a:effectLst/>
                <a:latin typeface="+mn-lt"/>
                <a:ea typeface="+mn-ea"/>
                <a:cs typeface="+mn-cs"/>
              </a:rPr>
              <a:t>Prikažite jednostavan okvir upravljanja promjenama: kada nedostaju ključni elementi, promjena ne uspijeva.</a:t>
            </a:r>
          </a:p>
          <a:p>
            <a:r>
              <a:rPr lang="hr-HR" sz="1200" b="0" i="0" kern="1200" dirty="0">
                <a:solidFill>
                  <a:schemeClr val="tx1"/>
                </a:solidFill>
                <a:effectLst/>
                <a:latin typeface="+mn-lt"/>
                <a:ea typeface="+mn-ea"/>
                <a:cs typeface="+mn-cs"/>
              </a:rPr>
              <a:t>Prođite kroz model i prevedite ga:</a:t>
            </a:r>
          </a:p>
          <a:p>
            <a:r>
              <a:rPr lang="hr-HR" sz="1200" b="0" i="0" kern="1200" dirty="0">
                <a:solidFill>
                  <a:schemeClr val="tx1"/>
                </a:solidFill>
                <a:effectLst/>
                <a:latin typeface="+mn-lt"/>
                <a:ea typeface="+mn-ea"/>
                <a:cs typeface="+mn-cs"/>
              </a:rPr>
              <a:t>Vizija (zašto)</a:t>
            </a:r>
          </a:p>
          <a:p>
            <a:r>
              <a:rPr lang="hr-HR" sz="1200" b="0" i="0" kern="1200" dirty="0">
                <a:solidFill>
                  <a:schemeClr val="tx1"/>
                </a:solidFill>
                <a:effectLst/>
                <a:latin typeface="+mn-lt"/>
                <a:ea typeface="+mn-ea"/>
                <a:cs typeface="+mn-cs"/>
              </a:rPr>
              <a:t>Vještine (kako)</a:t>
            </a:r>
          </a:p>
          <a:p>
            <a:r>
              <a:rPr lang="hr-HR" sz="1200" b="0" i="0" kern="1200" dirty="0">
                <a:solidFill>
                  <a:schemeClr val="tx1"/>
                </a:solidFill>
                <a:effectLst/>
                <a:latin typeface="+mn-lt"/>
                <a:ea typeface="+mn-ea"/>
                <a:cs typeface="+mn-cs"/>
              </a:rPr>
              <a:t>Poticaji (motivacija)</a:t>
            </a:r>
          </a:p>
          <a:p>
            <a:r>
              <a:rPr lang="hr-HR" sz="1200" b="0" i="0" kern="1200" dirty="0">
                <a:solidFill>
                  <a:schemeClr val="tx1"/>
                </a:solidFill>
                <a:effectLst/>
                <a:latin typeface="+mn-lt"/>
                <a:ea typeface="+mn-ea"/>
                <a:cs typeface="+mn-cs"/>
              </a:rPr>
              <a:t>Resursi (kapacitet)</a:t>
            </a:r>
          </a:p>
          <a:p>
            <a:r>
              <a:rPr lang="hr-HR" sz="1200" b="0" i="0" kern="1200" dirty="0">
                <a:solidFill>
                  <a:schemeClr val="tx1"/>
                </a:solidFill>
                <a:effectLst/>
                <a:latin typeface="+mn-lt"/>
                <a:ea typeface="+mn-ea"/>
                <a:cs typeface="+mn-cs"/>
              </a:rPr>
              <a:t>Akcijski plan (koraci)</a:t>
            </a:r>
          </a:p>
          <a:p>
            <a:r>
              <a:rPr lang="hr-HR" sz="1200" b="0" i="0" kern="1200" dirty="0">
                <a:solidFill>
                  <a:schemeClr val="tx1"/>
                </a:solidFill>
                <a:effectLst/>
                <a:latin typeface="+mn-lt"/>
                <a:ea typeface="+mn-ea"/>
                <a:cs typeface="+mn-cs"/>
              </a:rPr>
              <a:t>Nedostatak bilo kojeg elementa dovodi do predvidljivih obrazaca neuspjeha!</a:t>
            </a:r>
          </a:p>
          <a:p>
            <a:r>
              <a:rPr lang="hr-HR" sz="1200" b="0" i="0" kern="1200" dirty="0">
                <a:solidFill>
                  <a:schemeClr val="tx1"/>
                </a:solidFill>
                <a:effectLst/>
                <a:latin typeface="+mn-lt"/>
                <a:ea typeface="+mn-ea"/>
                <a:cs typeface="+mn-cs"/>
              </a:rPr>
              <a:t>Dodatni resursi:</a:t>
            </a:r>
            <a:br>
              <a:rPr lang="hr-HR" sz="1200" b="0" i="0" kern="1200" dirty="0">
                <a:solidFill>
                  <a:schemeClr val="tx1"/>
                </a:solidFill>
                <a:effectLst/>
                <a:latin typeface="+mn-lt"/>
                <a:ea typeface="+mn-ea"/>
                <a:cs typeface="+mn-cs"/>
              </a:rPr>
            </a:br>
            <a:r>
              <a:rPr lang="hr-HR" sz="1200" b="0" i="0" kern="1200" dirty="0">
                <a:solidFill>
                  <a:schemeClr val="tx1"/>
                </a:solidFill>
                <a:effectLst/>
                <a:latin typeface="+mn-lt"/>
                <a:ea typeface="+mn-ea"/>
                <a:cs typeface="+mn-cs"/>
                <a:hlinkClick r:id="rId26"/>
              </a:rPr>
              <a:t>https://whoek.com/b/knoster_managing-change.html</a:t>
            </a:r>
            <a:br>
              <a:rPr lang="hr-HR" sz="1200" b="0" i="0" kern="1200" dirty="0">
                <a:solidFill>
                  <a:schemeClr val="tx1"/>
                </a:solidFill>
                <a:effectLst/>
                <a:latin typeface="+mn-lt"/>
                <a:ea typeface="+mn-ea"/>
                <a:cs typeface="+mn-cs"/>
              </a:rPr>
            </a:br>
            <a:r>
              <a:rPr lang="hr-HR" sz="1200" b="0" i="0" kern="1200" dirty="0">
                <a:solidFill>
                  <a:schemeClr val="tx1"/>
                </a:solidFill>
                <a:effectLst/>
                <a:latin typeface="+mn-lt"/>
                <a:ea typeface="+mn-ea"/>
                <a:cs typeface="+mn-cs"/>
                <a:hlinkClick r:id="rId27"/>
              </a:rPr>
              <a:t>https://agilityportal.io/blog/knoster-model-for-change?tmpl=component&amp;print=1&amp;format=print</a:t>
            </a:r>
            <a:endParaRPr lang="hr-HR" sz="1200" b="0" i="0" kern="1200" dirty="0">
              <a:solidFill>
                <a:schemeClr val="tx1"/>
              </a:solidFill>
              <a:effectLst/>
              <a:latin typeface="+mn-lt"/>
              <a:ea typeface="+mn-ea"/>
              <a:cs typeface="+mn-cs"/>
            </a:endParaRPr>
          </a:p>
          <a:p>
            <a:br>
              <a:rPr lang="hr-HR" sz="1200" b="0" i="0" kern="1200" dirty="0">
                <a:solidFill>
                  <a:schemeClr val="tx1"/>
                </a:solidFill>
                <a:effectLst/>
                <a:latin typeface="+mn-lt"/>
                <a:ea typeface="+mn-ea"/>
                <a:cs typeface="+mn-cs"/>
              </a:rPr>
            </a:br>
            <a:endParaRPr lang="hr-HR" sz="1200" b="0" i="0" kern="1200" dirty="0">
              <a:solidFill>
                <a:schemeClr val="tx1"/>
              </a:solidFill>
              <a:effectLst/>
              <a:latin typeface="+mn-lt"/>
              <a:ea typeface="+mn-ea"/>
              <a:cs typeface="+mn-cs"/>
            </a:endParaRPr>
          </a:p>
          <a:p>
            <a:r>
              <a:rPr lang="hr-HR" sz="1200" b="0" i="0" kern="1200" dirty="0">
                <a:solidFill>
                  <a:schemeClr val="tx1"/>
                </a:solidFill>
                <a:effectLst/>
                <a:latin typeface="+mn-lt"/>
                <a:ea typeface="+mn-ea"/>
                <a:cs typeface="+mn-cs"/>
              </a:rPr>
              <a:t>prevedi: </a:t>
            </a:r>
            <a:r>
              <a:rPr lang="hr-HR" sz="1200" b="0" i="0" kern="1200" dirty="0" err="1">
                <a:solidFill>
                  <a:schemeClr val="tx1"/>
                </a:solidFill>
                <a:effectLst/>
                <a:latin typeface="+mn-lt"/>
                <a:ea typeface="+mn-ea"/>
                <a:cs typeface="+mn-cs"/>
              </a:rPr>
              <a:t>Agile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adoption</a:t>
            </a:r>
            <a:r>
              <a:rPr lang="hr-HR" sz="1200" b="0" i="0" kern="1200" dirty="0">
                <a:solidFill>
                  <a:schemeClr val="tx1"/>
                </a:solidFill>
                <a:effectLst/>
                <a:latin typeface="+mn-lt"/>
                <a:ea typeface="+mn-ea"/>
                <a:cs typeface="+mn-cs"/>
              </a:rPr>
              <a:t> vs </a:t>
            </a:r>
            <a:r>
              <a:rPr lang="hr-HR" sz="1200" b="0" i="0" kern="1200" dirty="0" err="1">
                <a:solidFill>
                  <a:schemeClr val="tx1"/>
                </a:solidFill>
                <a:effectLst/>
                <a:latin typeface="+mn-lt"/>
                <a:ea typeface="+mn-ea"/>
                <a:cs typeface="+mn-cs"/>
              </a:rPr>
              <a:t>Agile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transformation</a:t>
            </a:r>
            <a:endParaRPr lang="hr-HR" sz="1200" b="0" i="0" kern="1200" dirty="0">
              <a:solidFill>
                <a:schemeClr val="tx1"/>
              </a:solidFill>
              <a:effectLst/>
              <a:latin typeface="+mn-lt"/>
              <a:ea typeface="+mn-ea"/>
              <a:cs typeface="+mn-cs"/>
            </a:endParaRPr>
          </a:p>
          <a:p>
            <a:br>
              <a:rPr lang="hr-HR" sz="1200" b="0" i="0" kern="1200" dirty="0">
                <a:solidFill>
                  <a:schemeClr val="tx1"/>
                </a:solidFill>
                <a:effectLst/>
                <a:latin typeface="+mn-lt"/>
                <a:ea typeface="+mn-ea"/>
                <a:cs typeface="+mn-cs"/>
              </a:rPr>
            </a:br>
            <a:endParaRPr lang="hr-HR" sz="1200" b="0" i="0" kern="1200" dirty="0">
              <a:solidFill>
                <a:schemeClr val="tx1"/>
              </a:solidFill>
              <a:effectLst/>
              <a:latin typeface="+mn-lt"/>
              <a:ea typeface="+mn-ea"/>
              <a:cs typeface="+mn-cs"/>
            </a:endParaRPr>
          </a:p>
          <a:p>
            <a:r>
              <a:rPr lang="hr-HR" sz="1200" b="0" i="0" kern="1200" dirty="0">
                <a:solidFill>
                  <a:schemeClr val="tx1"/>
                </a:solidFill>
                <a:effectLst/>
                <a:latin typeface="+mn-lt"/>
                <a:ea typeface="+mn-ea"/>
                <a:cs typeface="+mn-cs"/>
              </a:rPr>
              <a:t>Usvajanje </a:t>
            </a:r>
            <a:r>
              <a:rPr lang="hr-HR" sz="1200" b="0" i="0" kern="1200" dirty="0" err="1">
                <a:solidFill>
                  <a:schemeClr val="tx1"/>
                </a:solidFill>
                <a:effectLst/>
                <a:latin typeface="+mn-lt"/>
                <a:ea typeface="+mn-ea"/>
                <a:cs typeface="+mn-cs"/>
              </a:rPr>
              <a:t>Agilea</a:t>
            </a:r>
            <a:r>
              <a:rPr lang="hr-HR" sz="1200" b="0" i="0" kern="1200" dirty="0">
                <a:solidFill>
                  <a:schemeClr val="tx1"/>
                </a:solidFill>
                <a:effectLst/>
                <a:latin typeface="+mn-lt"/>
                <a:ea typeface="+mn-ea"/>
                <a:cs typeface="+mn-cs"/>
              </a:rPr>
              <a:t> naspram </a:t>
            </a:r>
            <a:r>
              <a:rPr lang="hr-HR" sz="1200" b="0" i="0" kern="1200" dirty="0" err="1">
                <a:solidFill>
                  <a:schemeClr val="tx1"/>
                </a:solidFill>
                <a:effectLst/>
                <a:latin typeface="+mn-lt"/>
                <a:ea typeface="+mn-ea"/>
                <a:cs typeface="+mn-cs"/>
              </a:rPr>
              <a:t>Agile</a:t>
            </a:r>
            <a:r>
              <a:rPr lang="hr-HR" sz="1200" b="0" i="0" kern="1200" dirty="0">
                <a:solidFill>
                  <a:schemeClr val="tx1"/>
                </a:solidFill>
                <a:effectLst/>
                <a:latin typeface="+mn-lt"/>
                <a:ea typeface="+mn-ea"/>
                <a:cs typeface="+mn-cs"/>
              </a:rPr>
              <a:t> transformacije</a:t>
            </a:r>
          </a:p>
          <a:p>
            <a:br>
              <a:rPr lang="hr-HR" sz="1200" b="0" i="0" kern="1200" dirty="0">
                <a:solidFill>
                  <a:schemeClr val="tx1"/>
                </a:solidFill>
                <a:effectLst/>
                <a:latin typeface="+mn-lt"/>
                <a:ea typeface="+mn-ea"/>
                <a:cs typeface="+mn-cs"/>
              </a:rPr>
            </a:br>
            <a:endParaRPr lang="hr-HR" sz="1200" b="0" i="0" kern="1200" dirty="0">
              <a:solidFill>
                <a:schemeClr val="tx1"/>
              </a:solidFill>
              <a:effectLst/>
              <a:latin typeface="+mn-lt"/>
              <a:ea typeface="+mn-ea"/>
              <a:cs typeface="+mn-cs"/>
            </a:endParaRPr>
          </a:p>
          <a:p>
            <a:r>
              <a:rPr lang="hr-HR" sz="1200" b="0" i="0" kern="1200" dirty="0">
                <a:solidFill>
                  <a:schemeClr val="tx1"/>
                </a:solidFill>
                <a:effectLst/>
                <a:latin typeface="+mn-lt"/>
                <a:ea typeface="+mn-ea"/>
                <a:cs typeface="+mn-cs"/>
              </a:rPr>
              <a:t>prevedi: </a:t>
            </a:r>
            <a:r>
              <a:rPr lang="hr-HR" sz="1200" b="0" i="0" kern="1200" dirty="0" err="1">
                <a:solidFill>
                  <a:schemeClr val="tx1"/>
                </a:solidFill>
                <a:effectLst/>
                <a:latin typeface="+mn-lt"/>
                <a:ea typeface="+mn-ea"/>
                <a:cs typeface="+mn-cs"/>
              </a:rPr>
              <a:t>Agile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adoption</a:t>
            </a:r>
            <a:r>
              <a:rPr lang="hr-HR" sz="1200" b="0" i="0" kern="1200" dirty="0">
                <a:solidFill>
                  <a:schemeClr val="tx1"/>
                </a:solidFill>
                <a:effectLst/>
                <a:latin typeface="+mn-lt"/>
                <a:ea typeface="+mn-ea"/>
                <a:cs typeface="+mn-cs"/>
              </a:rPr>
              <a:t>: use </a:t>
            </a:r>
            <a:r>
              <a:rPr lang="hr-HR" sz="1200" b="0" i="0" kern="1200" dirty="0" err="1">
                <a:solidFill>
                  <a:schemeClr val="tx1"/>
                </a:solidFill>
                <a:effectLst/>
                <a:latin typeface="+mn-lt"/>
                <a:ea typeface="+mn-ea"/>
                <a:cs typeface="+mn-cs"/>
              </a:rPr>
              <a:t>of</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tools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and</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techniques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in</a:t>
            </a:r>
            <a:r>
              <a:rPr lang="hr-HR" sz="1200" b="0" i="0" kern="1200" dirty="0">
                <a:solidFill>
                  <a:schemeClr val="tx1"/>
                </a:solidFill>
                <a:effectLst/>
                <a:latin typeface="+mn-lt"/>
                <a:ea typeface="+mn-ea"/>
                <a:cs typeface="+mn-cs"/>
              </a:rPr>
              <a:t> line </a:t>
            </a:r>
            <a:r>
              <a:rPr lang="hr-HR" sz="1200" b="0" i="0" kern="1200" dirty="0" err="1">
                <a:solidFill>
                  <a:schemeClr val="tx1"/>
                </a:solidFill>
                <a:effectLst/>
                <a:latin typeface="+mn-lt"/>
                <a:ea typeface="+mn-ea"/>
                <a:cs typeface="+mn-cs"/>
              </a:rPr>
              <a:t>with</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Agile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principles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Agile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transformation</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process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of</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evolution</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of</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the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culture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and</a:t>
            </a:r>
            <a:r>
              <a:rPr lang="hr-HR" sz="1200" b="0" i="0" kern="1200" dirty="0">
                <a:solidFill>
                  <a:schemeClr val="tx1"/>
                </a:solidFill>
                <a:effectLst/>
                <a:latin typeface="+mn-lt"/>
                <a:ea typeface="+mn-ea"/>
                <a:cs typeface="+mn-cs"/>
              </a:rPr>
              <a:t> nature </a:t>
            </a:r>
            <a:r>
              <a:rPr lang="hr-HR" sz="1200" b="0" i="0" kern="1200" dirty="0" err="1">
                <a:solidFill>
                  <a:schemeClr val="tx1"/>
                </a:solidFill>
                <a:effectLst/>
                <a:latin typeface="+mn-lt"/>
                <a:ea typeface="+mn-ea"/>
                <a:cs typeface="+mn-cs"/>
              </a:rPr>
              <a:t>of</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the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organisation</a:t>
            </a:r>
            <a:r>
              <a:rPr lang="hr-HR" sz="1200" b="0" i="0" kern="1200" dirty="0">
                <a:solidFill>
                  <a:schemeClr val="tx1"/>
                </a:solidFill>
                <a:effectLst/>
                <a:latin typeface="+mn-lt"/>
                <a:ea typeface="+mn-ea"/>
                <a:cs typeface="+mn-cs"/>
              </a:rPr>
              <a:t>. </a:t>
            </a:r>
          </a:p>
          <a:p>
            <a:br>
              <a:rPr lang="hr-HR" sz="1200" b="0" i="0" kern="1200" dirty="0">
                <a:solidFill>
                  <a:schemeClr val="tx1"/>
                </a:solidFill>
                <a:effectLst/>
                <a:latin typeface="+mn-lt"/>
                <a:ea typeface="+mn-ea"/>
                <a:cs typeface="+mn-cs"/>
              </a:rPr>
            </a:br>
            <a:endParaRPr lang="hr-HR" sz="1200" b="0" i="0" kern="1200" dirty="0">
              <a:solidFill>
                <a:schemeClr val="tx1"/>
              </a:solidFill>
              <a:effectLst/>
              <a:latin typeface="+mn-lt"/>
              <a:ea typeface="+mn-ea"/>
              <a:cs typeface="+mn-cs"/>
            </a:endParaRPr>
          </a:p>
          <a:p>
            <a:r>
              <a:rPr lang="hr-HR" sz="1200" b="0" i="0" kern="1200" dirty="0">
                <a:solidFill>
                  <a:schemeClr val="tx1"/>
                </a:solidFill>
                <a:effectLst/>
                <a:latin typeface="+mn-lt"/>
                <a:ea typeface="+mn-ea"/>
                <a:cs typeface="+mn-cs"/>
              </a:rPr>
              <a:t>Usvajanje </a:t>
            </a:r>
            <a:r>
              <a:rPr lang="hr-HR" sz="1200" b="0" i="0" kern="1200" dirty="0" err="1">
                <a:solidFill>
                  <a:schemeClr val="tx1"/>
                </a:solidFill>
                <a:effectLst/>
                <a:latin typeface="+mn-lt"/>
                <a:ea typeface="+mn-ea"/>
                <a:cs typeface="+mn-cs"/>
              </a:rPr>
              <a:t>Agilea</a:t>
            </a:r>
            <a:r>
              <a:rPr lang="hr-HR" sz="1200" b="0" i="0" kern="1200" dirty="0">
                <a:solidFill>
                  <a:schemeClr val="tx1"/>
                </a:solidFill>
                <a:effectLst/>
                <a:latin typeface="+mn-lt"/>
                <a:ea typeface="+mn-ea"/>
                <a:cs typeface="+mn-cs"/>
              </a:rPr>
              <a:t>: korištenje alata i tehnika u skladu s </a:t>
            </a:r>
            <a:r>
              <a:rPr lang="hr-HR" sz="1200" b="0" i="0" kern="1200" dirty="0" err="1">
                <a:solidFill>
                  <a:schemeClr val="tx1"/>
                </a:solidFill>
                <a:effectLst/>
                <a:latin typeface="+mn-lt"/>
                <a:ea typeface="+mn-ea"/>
                <a:cs typeface="+mn-cs"/>
              </a:rPr>
              <a:t>Agile</a:t>
            </a:r>
            <a:r>
              <a:rPr lang="hr-HR" sz="1200" b="0" i="0" kern="1200" dirty="0">
                <a:solidFill>
                  <a:schemeClr val="tx1"/>
                </a:solidFill>
                <a:effectLst/>
                <a:latin typeface="+mn-lt"/>
                <a:ea typeface="+mn-ea"/>
                <a:cs typeface="+mn-cs"/>
              </a:rPr>
              <a:t> principima.</a:t>
            </a:r>
          </a:p>
          <a:p>
            <a:r>
              <a:rPr lang="hr-HR" sz="1200" b="0" i="0" kern="1200" dirty="0" err="1">
                <a:solidFill>
                  <a:schemeClr val="tx1"/>
                </a:solidFill>
                <a:effectLst/>
                <a:latin typeface="+mn-lt"/>
                <a:ea typeface="+mn-ea"/>
                <a:cs typeface="+mn-cs"/>
              </a:rPr>
              <a:t>Agile</a:t>
            </a:r>
            <a:r>
              <a:rPr lang="hr-HR" sz="1200" b="0" i="0" kern="1200" dirty="0">
                <a:solidFill>
                  <a:schemeClr val="tx1"/>
                </a:solidFill>
                <a:effectLst/>
                <a:latin typeface="+mn-lt"/>
                <a:ea typeface="+mn-ea"/>
                <a:cs typeface="+mn-cs"/>
              </a:rPr>
              <a:t> transformacija: proces razvoja kulture i prirode organizacije.</a:t>
            </a:r>
          </a:p>
          <a:p>
            <a:br>
              <a:rPr lang="hr-HR" sz="1200" b="0" i="0" kern="1200" dirty="0">
                <a:solidFill>
                  <a:schemeClr val="tx1"/>
                </a:solidFill>
                <a:effectLst/>
                <a:latin typeface="+mn-lt"/>
                <a:ea typeface="+mn-ea"/>
                <a:cs typeface="+mn-cs"/>
              </a:rPr>
            </a:br>
            <a:endParaRPr lang="hr-HR" sz="1200" b="0" i="0" kern="1200" dirty="0">
              <a:solidFill>
                <a:schemeClr val="tx1"/>
              </a:solidFill>
              <a:effectLst/>
              <a:latin typeface="+mn-lt"/>
              <a:ea typeface="+mn-ea"/>
              <a:cs typeface="+mn-cs"/>
            </a:endParaRPr>
          </a:p>
          <a:p>
            <a:r>
              <a:rPr lang="hr-HR" sz="1200" b="0" i="0" kern="1200" dirty="0">
                <a:solidFill>
                  <a:schemeClr val="tx1"/>
                </a:solidFill>
                <a:effectLst/>
                <a:latin typeface="+mn-lt"/>
                <a:ea typeface="+mn-ea"/>
                <a:cs typeface="+mn-cs"/>
              </a:rPr>
              <a:t>prevedi: Facilitator notes </a:t>
            </a:r>
            <a:r>
              <a:rPr lang="hr-HR" sz="1200" b="0" i="0" kern="1200" dirty="0" err="1">
                <a:solidFill>
                  <a:schemeClr val="tx1"/>
                </a:solidFill>
                <a:effectLst/>
                <a:latin typeface="+mn-lt"/>
                <a:ea typeface="+mn-ea"/>
                <a:cs typeface="+mn-cs"/>
              </a:rPr>
              <a:t>Clarify</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the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difference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between</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doing</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Agile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practices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and</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becoming</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an</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Agile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organization</a:t>
            </a:r>
            <a:r>
              <a:rPr lang="hr-HR" sz="1200" b="0" i="0" kern="1200" dirty="0">
                <a:solidFill>
                  <a:schemeClr val="tx1"/>
                </a:solidFill>
                <a:effectLst/>
                <a:latin typeface="+mn-lt"/>
                <a:ea typeface="+mn-ea"/>
                <a:cs typeface="+mn-cs"/>
              </a:rPr>
              <a:t>. Use </a:t>
            </a:r>
            <a:r>
              <a:rPr lang="hr-HR" sz="1200" b="0" i="0" kern="1200" dirty="0" err="1">
                <a:solidFill>
                  <a:schemeClr val="tx1"/>
                </a:solidFill>
                <a:effectLst/>
                <a:latin typeface="+mn-lt"/>
                <a:ea typeface="+mn-ea"/>
                <a:cs typeface="+mn-cs"/>
              </a:rPr>
              <a:t>simple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definitions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Adoption</a:t>
            </a:r>
            <a:r>
              <a:rPr lang="hr-HR" sz="1200" b="0" i="0" kern="1200" dirty="0">
                <a:solidFill>
                  <a:schemeClr val="tx1"/>
                </a:solidFill>
                <a:effectLst/>
                <a:latin typeface="+mn-lt"/>
                <a:ea typeface="+mn-ea"/>
                <a:cs typeface="+mn-cs"/>
              </a:rPr>
              <a:t> → </a:t>
            </a:r>
            <a:r>
              <a:rPr lang="hr-HR" sz="1200" b="0" i="0" kern="1200" dirty="0" err="1">
                <a:solidFill>
                  <a:schemeClr val="tx1"/>
                </a:solidFill>
                <a:effectLst/>
                <a:latin typeface="+mn-lt"/>
                <a:ea typeface="+mn-ea"/>
                <a:cs typeface="+mn-cs"/>
              </a:rPr>
              <a:t>using</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tools</a:t>
            </a:r>
            <a:r>
              <a:rPr lang="hr-HR" sz="1200" b="0" i="0" kern="1200" dirty="0">
                <a:solidFill>
                  <a:schemeClr val="tx1"/>
                </a:solidFill>
                <a:effectLst/>
                <a:latin typeface="+mn-lt"/>
                <a:ea typeface="+mn-ea"/>
                <a:cs typeface="+mn-cs"/>
              </a:rPr>
              <a:t>/</a:t>
            </a:r>
            <a:r>
              <a:rPr lang="hr-HR" sz="1200" b="0" i="0" kern="1200" dirty="0" err="1">
                <a:solidFill>
                  <a:schemeClr val="tx1"/>
                </a:solidFill>
                <a:effectLst/>
                <a:latin typeface="+mn-lt"/>
                <a:ea typeface="+mn-ea"/>
                <a:cs typeface="+mn-cs"/>
              </a:rPr>
              <a:t>ceremonies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aligned</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with</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Agile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principles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Transformation</a:t>
            </a:r>
            <a:r>
              <a:rPr lang="hr-HR" sz="1200" b="0" i="0" kern="1200" dirty="0">
                <a:solidFill>
                  <a:schemeClr val="tx1"/>
                </a:solidFill>
                <a:effectLst/>
                <a:latin typeface="+mn-lt"/>
                <a:ea typeface="+mn-ea"/>
                <a:cs typeface="+mn-cs"/>
              </a:rPr>
              <a:t> → </a:t>
            </a:r>
            <a:r>
              <a:rPr lang="hr-HR" sz="1200" b="0" i="0" kern="1200" dirty="0" err="1">
                <a:solidFill>
                  <a:schemeClr val="tx1"/>
                </a:solidFill>
                <a:effectLst/>
                <a:latin typeface="+mn-lt"/>
                <a:ea typeface="+mn-ea"/>
                <a:cs typeface="+mn-cs"/>
              </a:rPr>
              <a:t>changing</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culture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structures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incentives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and</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decision-making</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Additional</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resources</a:t>
            </a:r>
            <a:r>
              <a:rPr lang="hr-HR" sz="1200" b="0" i="0" kern="1200" dirty="0">
                <a:solidFill>
                  <a:schemeClr val="tx1"/>
                </a:solidFill>
                <a:effectLst/>
                <a:latin typeface="+mn-lt"/>
                <a:ea typeface="+mn-ea"/>
                <a:cs typeface="+mn-cs"/>
              </a:rPr>
              <a:t> https://www.agilesherpas.com/blog/agile-transformation-vs-agile-adoption </a:t>
            </a:r>
          </a:p>
          <a:p>
            <a:br>
              <a:rPr lang="hr-HR" sz="1200" b="0" i="0" kern="1200" dirty="0">
                <a:solidFill>
                  <a:schemeClr val="tx1"/>
                </a:solidFill>
                <a:effectLst/>
                <a:latin typeface="+mn-lt"/>
                <a:ea typeface="+mn-ea"/>
                <a:cs typeface="+mn-cs"/>
              </a:rPr>
            </a:br>
            <a:endParaRPr lang="hr-HR" sz="1200" b="0" i="0" kern="1200" dirty="0">
              <a:solidFill>
                <a:schemeClr val="tx1"/>
              </a:solidFill>
              <a:effectLst/>
              <a:latin typeface="+mn-lt"/>
              <a:ea typeface="+mn-ea"/>
              <a:cs typeface="+mn-cs"/>
            </a:endParaRPr>
          </a:p>
          <a:p>
            <a:r>
              <a:rPr lang="hr-HR" sz="1200" b="0" i="0" kern="1200" dirty="0">
                <a:solidFill>
                  <a:schemeClr val="tx1"/>
                </a:solidFill>
                <a:effectLst/>
                <a:latin typeface="+mn-lt"/>
                <a:ea typeface="+mn-ea"/>
                <a:cs typeface="+mn-cs"/>
              </a:rPr>
              <a:t>Napomene za facilitatora</a:t>
            </a:r>
          </a:p>
          <a:p>
            <a:r>
              <a:rPr lang="hr-HR" sz="1200" b="0" i="0" kern="1200" dirty="0">
                <a:solidFill>
                  <a:schemeClr val="tx1"/>
                </a:solidFill>
                <a:effectLst/>
                <a:latin typeface="+mn-lt"/>
                <a:ea typeface="+mn-ea"/>
                <a:cs typeface="+mn-cs"/>
              </a:rPr>
              <a:t>Razjasnite razliku između provođenja </a:t>
            </a:r>
            <a:r>
              <a:rPr lang="hr-HR" sz="1200" b="0" i="0" kern="1200" dirty="0" err="1">
                <a:solidFill>
                  <a:schemeClr val="tx1"/>
                </a:solidFill>
                <a:effectLst/>
                <a:latin typeface="+mn-lt"/>
                <a:ea typeface="+mn-ea"/>
                <a:cs typeface="+mn-cs"/>
              </a:rPr>
              <a:t>Agile</a:t>
            </a:r>
            <a:r>
              <a:rPr lang="hr-HR" sz="1200" b="0" i="0" kern="1200" dirty="0">
                <a:solidFill>
                  <a:schemeClr val="tx1"/>
                </a:solidFill>
                <a:effectLst/>
                <a:latin typeface="+mn-lt"/>
                <a:ea typeface="+mn-ea"/>
                <a:cs typeface="+mn-cs"/>
              </a:rPr>
              <a:t> praksi i postajanja </a:t>
            </a:r>
            <a:r>
              <a:rPr lang="hr-HR" sz="1200" b="0" i="0" kern="1200" dirty="0" err="1">
                <a:solidFill>
                  <a:schemeClr val="tx1"/>
                </a:solidFill>
                <a:effectLst/>
                <a:latin typeface="+mn-lt"/>
                <a:ea typeface="+mn-ea"/>
                <a:cs typeface="+mn-cs"/>
              </a:rPr>
              <a:t>Agile</a:t>
            </a:r>
            <a:r>
              <a:rPr lang="hr-HR" sz="1200" b="0" i="0" kern="1200" dirty="0">
                <a:solidFill>
                  <a:schemeClr val="tx1"/>
                </a:solidFill>
                <a:effectLst/>
                <a:latin typeface="+mn-lt"/>
                <a:ea typeface="+mn-ea"/>
                <a:cs typeface="+mn-cs"/>
              </a:rPr>
              <a:t> organizacijom.</a:t>
            </a:r>
          </a:p>
          <a:p>
            <a:r>
              <a:rPr lang="hr-HR" sz="1200" b="0" i="0" kern="1200" dirty="0">
                <a:solidFill>
                  <a:schemeClr val="tx1"/>
                </a:solidFill>
                <a:effectLst/>
                <a:latin typeface="+mn-lt"/>
                <a:ea typeface="+mn-ea"/>
                <a:cs typeface="+mn-cs"/>
              </a:rPr>
              <a:t>Koristite jednostavne definicije:</a:t>
            </a:r>
          </a:p>
          <a:p>
            <a:r>
              <a:rPr lang="hr-HR" sz="1200" b="0" i="0" kern="1200" dirty="0">
                <a:solidFill>
                  <a:schemeClr val="tx1"/>
                </a:solidFill>
                <a:effectLst/>
                <a:latin typeface="+mn-lt"/>
                <a:ea typeface="+mn-ea"/>
                <a:cs typeface="+mn-cs"/>
              </a:rPr>
              <a:t>Usvajanje (</a:t>
            </a:r>
            <a:r>
              <a:rPr lang="hr-HR" sz="1200" b="0" i="0" kern="1200" dirty="0" err="1">
                <a:solidFill>
                  <a:schemeClr val="tx1"/>
                </a:solidFill>
                <a:effectLst/>
                <a:latin typeface="+mn-lt"/>
                <a:ea typeface="+mn-ea"/>
                <a:cs typeface="+mn-cs"/>
              </a:rPr>
              <a:t>adoption</a:t>
            </a:r>
            <a:r>
              <a:rPr lang="hr-HR" sz="1200" b="0" i="0" kern="1200" dirty="0">
                <a:solidFill>
                  <a:schemeClr val="tx1"/>
                </a:solidFill>
                <a:effectLst/>
                <a:latin typeface="+mn-lt"/>
                <a:ea typeface="+mn-ea"/>
                <a:cs typeface="+mn-cs"/>
              </a:rPr>
              <a:t>) → korištenje alata i ceremonija usklađenih s </a:t>
            </a:r>
            <a:r>
              <a:rPr lang="hr-HR" sz="1200" b="0" i="0" kern="1200" dirty="0" err="1">
                <a:solidFill>
                  <a:schemeClr val="tx1"/>
                </a:solidFill>
                <a:effectLst/>
                <a:latin typeface="+mn-lt"/>
                <a:ea typeface="+mn-ea"/>
                <a:cs typeface="+mn-cs"/>
              </a:rPr>
              <a:t>Agile</a:t>
            </a:r>
            <a:r>
              <a:rPr lang="hr-HR" sz="1200" b="0" i="0" kern="1200" dirty="0">
                <a:solidFill>
                  <a:schemeClr val="tx1"/>
                </a:solidFill>
                <a:effectLst/>
                <a:latin typeface="+mn-lt"/>
                <a:ea typeface="+mn-ea"/>
                <a:cs typeface="+mn-cs"/>
              </a:rPr>
              <a:t> principima</a:t>
            </a:r>
          </a:p>
          <a:p>
            <a:r>
              <a:rPr lang="hr-HR" sz="1200" b="0" i="0" kern="1200" dirty="0">
                <a:solidFill>
                  <a:schemeClr val="tx1"/>
                </a:solidFill>
                <a:effectLst/>
                <a:latin typeface="+mn-lt"/>
                <a:ea typeface="+mn-ea"/>
                <a:cs typeface="+mn-cs"/>
              </a:rPr>
              <a:t>Transformacija → promjena kulture, struktura, poticaja i načina donošenja odluka</a:t>
            </a:r>
          </a:p>
          <a:p>
            <a:r>
              <a:rPr lang="hr-HR" sz="1200" b="0" i="0" kern="1200" dirty="0">
                <a:solidFill>
                  <a:schemeClr val="tx1"/>
                </a:solidFill>
                <a:effectLst/>
                <a:latin typeface="+mn-lt"/>
                <a:ea typeface="+mn-ea"/>
                <a:cs typeface="+mn-cs"/>
              </a:rPr>
              <a:t>Dodatni resursi:</a:t>
            </a:r>
            <a:br>
              <a:rPr lang="hr-HR" sz="1200" b="0" i="0" kern="1200" dirty="0">
                <a:solidFill>
                  <a:schemeClr val="tx1"/>
                </a:solidFill>
                <a:effectLst/>
                <a:latin typeface="+mn-lt"/>
                <a:ea typeface="+mn-ea"/>
                <a:cs typeface="+mn-cs"/>
              </a:rPr>
            </a:br>
            <a:r>
              <a:rPr lang="hr-HR" sz="1200" b="0" i="0" kern="1200" dirty="0">
                <a:solidFill>
                  <a:schemeClr val="tx1"/>
                </a:solidFill>
                <a:effectLst/>
                <a:latin typeface="+mn-lt"/>
                <a:ea typeface="+mn-ea"/>
                <a:cs typeface="+mn-cs"/>
                <a:hlinkClick r:id="rId28"/>
              </a:rPr>
              <a:t>https://www.agilesherpas.com/blog/agile-transformation-vs-agile-adoption</a:t>
            </a:r>
            <a:endParaRPr lang="hr-HR" sz="1200" b="0" i="0" kern="1200" dirty="0">
              <a:solidFill>
                <a:schemeClr val="tx1"/>
              </a:solidFill>
              <a:effectLst/>
              <a:latin typeface="+mn-lt"/>
              <a:ea typeface="+mn-ea"/>
              <a:cs typeface="+mn-cs"/>
            </a:endParaRPr>
          </a:p>
          <a:p>
            <a:br>
              <a:rPr lang="hr-HR" sz="1200" b="0" i="0" kern="1200" dirty="0">
                <a:solidFill>
                  <a:schemeClr val="tx1"/>
                </a:solidFill>
                <a:effectLst/>
                <a:latin typeface="+mn-lt"/>
                <a:ea typeface="+mn-ea"/>
                <a:cs typeface="+mn-cs"/>
              </a:rPr>
            </a:br>
            <a:endParaRPr lang="hr-HR" sz="1200" b="0" i="0" kern="1200" dirty="0">
              <a:solidFill>
                <a:schemeClr val="tx1"/>
              </a:solidFill>
              <a:effectLst/>
              <a:latin typeface="+mn-lt"/>
              <a:ea typeface="+mn-ea"/>
              <a:cs typeface="+mn-cs"/>
            </a:endParaRPr>
          </a:p>
          <a:p>
            <a:r>
              <a:rPr lang="hr-HR" sz="1200" b="0" i="0" kern="1200" dirty="0">
                <a:solidFill>
                  <a:schemeClr val="tx1"/>
                </a:solidFill>
                <a:effectLst/>
                <a:latin typeface="+mn-lt"/>
                <a:ea typeface="+mn-ea"/>
                <a:cs typeface="+mn-cs"/>
              </a:rPr>
              <a:t>prevedi: time </a:t>
            </a:r>
            <a:r>
              <a:rPr lang="hr-HR" sz="1200" b="0" i="0" kern="1200" dirty="0" err="1">
                <a:solidFill>
                  <a:schemeClr val="tx1"/>
                </a:solidFill>
                <a:effectLst/>
                <a:latin typeface="+mn-lt"/>
                <a:ea typeface="+mn-ea"/>
                <a:cs typeface="+mn-cs"/>
              </a:rPr>
              <a:t>horizon</a:t>
            </a:r>
            <a:endParaRPr lang="hr-HR" sz="1200" b="0" i="0" kern="1200" dirty="0">
              <a:solidFill>
                <a:schemeClr val="tx1"/>
              </a:solidFill>
              <a:effectLst/>
              <a:latin typeface="+mn-lt"/>
              <a:ea typeface="+mn-ea"/>
              <a:cs typeface="+mn-cs"/>
            </a:endParaRPr>
          </a:p>
          <a:p>
            <a:br>
              <a:rPr lang="hr-HR" sz="1200" b="0" i="0" kern="1200" dirty="0">
                <a:solidFill>
                  <a:schemeClr val="tx1"/>
                </a:solidFill>
                <a:effectLst/>
                <a:latin typeface="+mn-lt"/>
                <a:ea typeface="+mn-ea"/>
                <a:cs typeface="+mn-cs"/>
              </a:rPr>
            </a:br>
            <a:endParaRPr lang="hr-HR" sz="1200" b="0" i="0" kern="1200" dirty="0">
              <a:solidFill>
                <a:schemeClr val="tx1"/>
              </a:solidFill>
              <a:effectLst/>
              <a:latin typeface="+mn-lt"/>
              <a:ea typeface="+mn-ea"/>
              <a:cs typeface="+mn-cs"/>
            </a:endParaRPr>
          </a:p>
          <a:p>
            <a:r>
              <a:rPr lang="hr-HR" sz="1200" b="0" i="0" kern="1200" dirty="0">
                <a:solidFill>
                  <a:schemeClr val="tx1"/>
                </a:solidFill>
                <a:effectLst/>
                <a:latin typeface="+mn-lt"/>
                <a:ea typeface="+mn-ea"/>
                <a:cs typeface="+mn-cs"/>
              </a:rPr>
              <a:t>vremenski horizont</a:t>
            </a:r>
          </a:p>
          <a:p>
            <a:br>
              <a:rPr lang="hr-HR" sz="1200" b="0" i="0" kern="1200" dirty="0">
                <a:solidFill>
                  <a:schemeClr val="tx1"/>
                </a:solidFill>
                <a:effectLst/>
                <a:latin typeface="+mn-lt"/>
                <a:ea typeface="+mn-ea"/>
                <a:cs typeface="+mn-cs"/>
              </a:rPr>
            </a:br>
            <a:endParaRPr lang="hr-HR" sz="1200" b="0" i="0" kern="1200" dirty="0">
              <a:solidFill>
                <a:schemeClr val="tx1"/>
              </a:solidFill>
              <a:effectLst/>
              <a:latin typeface="+mn-lt"/>
              <a:ea typeface="+mn-ea"/>
              <a:cs typeface="+mn-cs"/>
            </a:endParaRPr>
          </a:p>
          <a:p>
            <a:r>
              <a:rPr lang="hr-HR" sz="1200" b="0" i="0" kern="1200" dirty="0">
                <a:solidFill>
                  <a:schemeClr val="tx1"/>
                </a:solidFill>
                <a:effectLst/>
                <a:latin typeface="+mn-lt"/>
                <a:ea typeface="+mn-ea"/>
                <a:cs typeface="+mn-cs"/>
              </a:rPr>
              <a:t>prevedi: At most </a:t>
            </a:r>
            <a:r>
              <a:rPr lang="hr-HR" sz="1200" b="0" i="0" kern="1200" dirty="0" err="1">
                <a:solidFill>
                  <a:schemeClr val="tx1"/>
                </a:solidFill>
                <a:effectLst/>
                <a:latin typeface="+mn-lt"/>
                <a:ea typeface="+mn-ea"/>
                <a:cs typeface="+mn-cs"/>
              </a:rPr>
              <a:t>localised</a:t>
            </a:r>
            <a:r>
              <a:rPr lang="hr-HR" sz="1200" b="0" i="0" kern="1200" dirty="0">
                <a:solidFill>
                  <a:schemeClr val="tx1"/>
                </a:solidFill>
                <a:effectLst/>
                <a:latin typeface="+mn-lt"/>
                <a:ea typeface="+mn-ea"/>
                <a:cs typeface="+mn-cs"/>
              </a:rPr>
              <a:t> </a:t>
            </a:r>
          </a:p>
          <a:p>
            <a:br>
              <a:rPr lang="hr-HR" sz="1200" b="0" i="0" kern="1200" dirty="0">
                <a:solidFill>
                  <a:schemeClr val="tx1"/>
                </a:solidFill>
                <a:effectLst/>
                <a:latin typeface="+mn-lt"/>
                <a:ea typeface="+mn-ea"/>
                <a:cs typeface="+mn-cs"/>
              </a:rPr>
            </a:br>
            <a:endParaRPr lang="hr-HR" sz="1200" b="0" i="0" kern="1200" dirty="0">
              <a:solidFill>
                <a:schemeClr val="tx1"/>
              </a:solidFill>
              <a:effectLst/>
              <a:latin typeface="+mn-lt"/>
              <a:ea typeface="+mn-ea"/>
              <a:cs typeface="+mn-cs"/>
            </a:endParaRPr>
          </a:p>
          <a:p>
            <a:r>
              <a:rPr lang="hr-HR" sz="1200" b="0" i="0" kern="1200" dirty="0">
                <a:solidFill>
                  <a:schemeClr val="tx1"/>
                </a:solidFill>
                <a:effectLst/>
                <a:latin typeface="+mn-lt"/>
                <a:ea typeface="+mn-ea"/>
                <a:cs typeface="+mn-cs"/>
              </a:rPr>
              <a:t>najviše lokalizirano</a:t>
            </a:r>
          </a:p>
          <a:p>
            <a:br>
              <a:rPr lang="hr-HR" sz="1200" b="0" i="0" kern="1200" dirty="0">
                <a:solidFill>
                  <a:schemeClr val="tx1"/>
                </a:solidFill>
                <a:effectLst/>
                <a:latin typeface="+mn-lt"/>
                <a:ea typeface="+mn-ea"/>
                <a:cs typeface="+mn-cs"/>
              </a:rPr>
            </a:br>
            <a:endParaRPr lang="hr-HR" sz="1200" b="0" i="0" kern="1200" dirty="0">
              <a:solidFill>
                <a:schemeClr val="tx1"/>
              </a:solidFill>
              <a:effectLst/>
              <a:latin typeface="+mn-lt"/>
              <a:ea typeface="+mn-ea"/>
              <a:cs typeface="+mn-cs"/>
            </a:endParaRPr>
          </a:p>
          <a:p>
            <a:r>
              <a:rPr lang="hr-HR" sz="1200" b="0" i="0" kern="1200" dirty="0">
                <a:solidFill>
                  <a:schemeClr val="tx1"/>
                </a:solidFill>
                <a:effectLst/>
                <a:latin typeface="+mn-lt"/>
                <a:ea typeface="+mn-ea"/>
                <a:cs typeface="+mn-cs"/>
              </a:rPr>
              <a:t>prevedi: Facilitator notes </a:t>
            </a:r>
            <a:r>
              <a:rPr lang="hr-HR" sz="1200" b="0" i="0" kern="1200" dirty="0" err="1">
                <a:solidFill>
                  <a:schemeClr val="tx1"/>
                </a:solidFill>
                <a:effectLst/>
                <a:latin typeface="+mn-lt"/>
                <a:ea typeface="+mn-ea"/>
                <a:cs typeface="+mn-cs"/>
              </a:rPr>
              <a:t>Key</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messages</a:t>
            </a:r>
            <a:r>
              <a:rPr lang="hr-HR" sz="1200" b="0" i="0" kern="1200" dirty="0">
                <a:solidFill>
                  <a:schemeClr val="tx1"/>
                </a:solidFill>
                <a:effectLst/>
                <a:latin typeface="+mn-lt"/>
                <a:ea typeface="+mn-ea"/>
                <a:cs typeface="+mn-cs"/>
              </a:rPr>
              <a:t> to </a:t>
            </a:r>
            <a:r>
              <a:rPr lang="hr-HR" sz="1200" b="0" i="0" kern="1200" dirty="0" err="1">
                <a:solidFill>
                  <a:schemeClr val="tx1"/>
                </a:solidFill>
                <a:effectLst/>
                <a:latin typeface="+mn-lt"/>
                <a:ea typeface="+mn-ea"/>
                <a:cs typeface="+mn-cs"/>
              </a:rPr>
              <a:t>emphasize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Adoption</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without</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transformation</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often</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plateaus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Transformation</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requires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leadership</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patience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and</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systemic</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change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Additional</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resources</a:t>
            </a:r>
            <a:r>
              <a:rPr lang="hr-HR" sz="1200" b="0" i="0" kern="1200" dirty="0">
                <a:solidFill>
                  <a:schemeClr val="tx1"/>
                </a:solidFill>
                <a:effectLst/>
                <a:latin typeface="+mn-lt"/>
                <a:ea typeface="+mn-ea"/>
                <a:cs typeface="+mn-cs"/>
              </a:rPr>
              <a:t> https://www.agilityarabia.com/blog/agile-adoption-vs-agile-transformation-are-you-truly-embracing-agility https://www.youtube.com/watch?v=w3YmH9_KNDQ </a:t>
            </a:r>
          </a:p>
          <a:p>
            <a:br>
              <a:rPr lang="hr-HR" sz="1200" b="0" i="0" kern="1200" dirty="0">
                <a:solidFill>
                  <a:schemeClr val="tx1"/>
                </a:solidFill>
                <a:effectLst/>
                <a:latin typeface="+mn-lt"/>
                <a:ea typeface="+mn-ea"/>
                <a:cs typeface="+mn-cs"/>
              </a:rPr>
            </a:br>
            <a:endParaRPr lang="hr-HR" sz="1200" b="0" i="0" kern="1200" dirty="0">
              <a:solidFill>
                <a:schemeClr val="tx1"/>
              </a:solidFill>
              <a:effectLst/>
              <a:latin typeface="+mn-lt"/>
              <a:ea typeface="+mn-ea"/>
              <a:cs typeface="+mn-cs"/>
            </a:endParaRPr>
          </a:p>
          <a:p>
            <a:r>
              <a:rPr lang="hr-HR" sz="1200" b="0" i="0" kern="1200" dirty="0">
                <a:solidFill>
                  <a:schemeClr val="tx1"/>
                </a:solidFill>
                <a:effectLst/>
                <a:latin typeface="+mn-lt"/>
                <a:ea typeface="+mn-ea"/>
                <a:cs typeface="+mn-cs"/>
              </a:rPr>
              <a:t>Napomene za facilitatora</a:t>
            </a:r>
          </a:p>
          <a:p>
            <a:r>
              <a:rPr lang="hr-HR" sz="1200" b="0" i="0" kern="1200" dirty="0">
                <a:solidFill>
                  <a:schemeClr val="tx1"/>
                </a:solidFill>
                <a:effectLst/>
                <a:latin typeface="+mn-lt"/>
                <a:ea typeface="+mn-ea"/>
                <a:cs typeface="+mn-cs"/>
              </a:rPr>
              <a:t>Ključne poruke koje treba naglasiti:</a:t>
            </a:r>
          </a:p>
          <a:p>
            <a:r>
              <a:rPr lang="hr-HR" sz="1200" b="0" i="0" kern="1200" dirty="0">
                <a:solidFill>
                  <a:schemeClr val="tx1"/>
                </a:solidFill>
                <a:effectLst/>
                <a:latin typeface="+mn-lt"/>
                <a:ea typeface="+mn-ea"/>
                <a:cs typeface="+mn-cs"/>
              </a:rPr>
              <a:t>Usvajanje (</a:t>
            </a:r>
            <a:r>
              <a:rPr lang="hr-HR" sz="1200" b="0" i="0" kern="1200" dirty="0" err="1">
                <a:solidFill>
                  <a:schemeClr val="tx1"/>
                </a:solidFill>
                <a:effectLst/>
                <a:latin typeface="+mn-lt"/>
                <a:ea typeface="+mn-ea"/>
                <a:cs typeface="+mn-cs"/>
              </a:rPr>
              <a:t>adoption</a:t>
            </a:r>
            <a:r>
              <a:rPr lang="hr-HR" sz="1200" b="0" i="0" kern="1200" dirty="0">
                <a:solidFill>
                  <a:schemeClr val="tx1"/>
                </a:solidFill>
                <a:effectLst/>
                <a:latin typeface="+mn-lt"/>
                <a:ea typeface="+mn-ea"/>
                <a:cs typeface="+mn-cs"/>
              </a:rPr>
              <a:t>) bez transformacije često dolazi do zasićenja i zaustavlja se na određenoj razini.</a:t>
            </a:r>
          </a:p>
          <a:p>
            <a:r>
              <a:rPr lang="hr-HR" sz="1200" b="0" i="0" kern="1200" dirty="0">
                <a:solidFill>
                  <a:schemeClr val="tx1"/>
                </a:solidFill>
                <a:effectLst/>
                <a:latin typeface="+mn-lt"/>
                <a:ea typeface="+mn-ea"/>
                <a:cs typeface="+mn-cs"/>
              </a:rPr>
              <a:t>Transformacija zahtijeva vodstvo, strpljenje i sustavnu promjenu.</a:t>
            </a:r>
          </a:p>
          <a:p>
            <a:r>
              <a:rPr lang="hr-HR" sz="1200" b="0" i="0" kern="1200" dirty="0">
                <a:solidFill>
                  <a:schemeClr val="tx1"/>
                </a:solidFill>
                <a:effectLst/>
                <a:latin typeface="+mn-lt"/>
                <a:ea typeface="+mn-ea"/>
                <a:cs typeface="+mn-cs"/>
              </a:rPr>
              <a:t>Dodatni resursi:</a:t>
            </a:r>
            <a:br>
              <a:rPr lang="hr-HR" sz="1200" b="0" i="0" kern="1200" dirty="0">
                <a:solidFill>
                  <a:schemeClr val="tx1"/>
                </a:solidFill>
                <a:effectLst/>
                <a:latin typeface="+mn-lt"/>
                <a:ea typeface="+mn-ea"/>
                <a:cs typeface="+mn-cs"/>
              </a:rPr>
            </a:br>
            <a:r>
              <a:rPr lang="hr-HR" sz="1200" b="0" i="0" kern="1200" dirty="0">
                <a:solidFill>
                  <a:schemeClr val="tx1"/>
                </a:solidFill>
                <a:effectLst/>
                <a:latin typeface="+mn-lt"/>
                <a:ea typeface="+mn-ea"/>
                <a:cs typeface="+mn-cs"/>
                <a:hlinkClick r:id="rId29"/>
              </a:rPr>
              <a:t>https://www.agilityarabia.com/blog/agile-adoption-vs-agile-transformation-are-you-truly-embracing-agility</a:t>
            </a:r>
            <a:br>
              <a:rPr lang="hr-HR" sz="1200" b="0" i="0" kern="1200" dirty="0">
                <a:solidFill>
                  <a:schemeClr val="tx1"/>
                </a:solidFill>
                <a:effectLst/>
                <a:latin typeface="+mn-lt"/>
                <a:ea typeface="+mn-ea"/>
                <a:cs typeface="+mn-cs"/>
              </a:rPr>
            </a:br>
            <a:r>
              <a:rPr lang="hr-HR" sz="1200" b="0" i="0" kern="1200" dirty="0">
                <a:solidFill>
                  <a:schemeClr val="tx1"/>
                </a:solidFill>
                <a:effectLst/>
                <a:latin typeface="+mn-lt"/>
                <a:ea typeface="+mn-ea"/>
                <a:cs typeface="+mn-cs"/>
                <a:hlinkClick r:id="rId30"/>
              </a:rPr>
              <a:t>https://www.youtube.com/watch?v=w3YmH9_KNDQ</a:t>
            </a:r>
            <a:endParaRPr lang="hr-HR" sz="1200" b="0" i="0" kern="1200" dirty="0">
              <a:solidFill>
                <a:schemeClr val="tx1"/>
              </a:solidFill>
              <a:effectLst/>
              <a:latin typeface="+mn-lt"/>
              <a:ea typeface="+mn-ea"/>
              <a:cs typeface="+mn-cs"/>
            </a:endParaRPr>
          </a:p>
          <a:p>
            <a:br>
              <a:rPr lang="hr-HR" sz="1200" b="0" i="0" kern="1200" dirty="0">
                <a:solidFill>
                  <a:schemeClr val="tx1"/>
                </a:solidFill>
                <a:effectLst/>
                <a:latin typeface="+mn-lt"/>
                <a:ea typeface="+mn-ea"/>
                <a:cs typeface="+mn-cs"/>
              </a:rPr>
            </a:br>
            <a:endParaRPr lang="hr-HR" sz="1200" b="0" i="0" kern="1200" dirty="0">
              <a:solidFill>
                <a:schemeClr val="tx1"/>
              </a:solidFill>
              <a:effectLst/>
              <a:latin typeface="+mn-lt"/>
              <a:ea typeface="+mn-ea"/>
              <a:cs typeface="+mn-cs"/>
            </a:endParaRPr>
          </a:p>
          <a:p>
            <a:r>
              <a:rPr lang="hr-HR" sz="1200" b="0" i="0" kern="1200" dirty="0">
                <a:solidFill>
                  <a:schemeClr val="tx1"/>
                </a:solidFill>
                <a:effectLst/>
                <a:latin typeface="+mn-lt"/>
                <a:ea typeface="+mn-ea"/>
                <a:cs typeface="+mn-cs"/>
              </a:rPr>
              <a:t>prevedi: </a:t>
            </a:r>
            <a:r>
              <a:rPr lang="hr-HR" sz="1200" b="0" i="0" kern="1200" dirty="0" err="1">
                <a:solidFill>
                  <a:schemeClr val="tx1"/>
                </a:solidFill>
                <a:effectLst/>
                <a:latin typeface="+mn-lt"/>
                <a:ea typeface="+mn-ea"/>
                <a:cs typeface="+mn-cs"/>
              </a:rPr>
              <a:t>Reconciling</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Waterfall</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and</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Agile</a:t>
            </a:r>
            <a:endParaRPr lang="hr-HR" sz="1200" b="0" i="0" kern="1200" dirty="0">
              <a:solidFill>
                <a:schemeClr val="tx1"/>
              </a:solidFill>
              <a:effectLst/>
              <a:latin typeface="+mn-lt"/>
              <a:ea typeface="+mn-ea"/>
              <a:cs typeface="+mn-cs"/>
            </a:endParaRPr>
          </a:p>
          <a:p>
            <a:br>
              <a:rPr lang="hr-HR" sz="1200" b="0" i="0" kern="1200" dirty="0">
                <a:solidFill>
                  <a:schemeClr val="tx1"/>
                </a:solidFill>
                <a:effectLst/>
                <a:latin typeface="+mn-lt"/>
                <a:ea typeface="+mn-ea"/>
                <a:cs typeface="+mn-cs"/>
              </a:rPr>
            </a:br>
            <a:endParaRPr lang="hr-HR" sz="1200" b="0" i="0" kern="1200" dirty="0">
              <a:solidFill>
                <a:schemeClr val="tx1"/>
              </a:solidFill>
              <a:effectLst/>
              <a:latin typeface="+mn-lt"/>
              <a:ea typeface="+mn-ea"/>
              <a:cs typeface="+mn-cs"/>
            </a:endParaRPr>
          </a:p>
          <a:p>
            <a:r>
              <a:rPr lang="hr-HR" sz="1200" b="0" i="0" kern="1200" dirty="0">
                <a:solidFill>
                  <a:schemeClr val="tx1"/>
                </a:solidFill>
                <a:effectLst/>
                <a:latin typeface="+mn-lt"/>
                <a:ea typeface="+mn-ea"/>
                <a:cs typeface="+mn-cs"/>
              </a:rPr>
              <a:t>Usklađivanje </a:t>
            </a:r>
            <a:r>
              <a:rPr lang="hr-HR" sz="1200" b="0" i="0" kern="1200" dirty="0" err="1">
                <a:solidFill>
                  <a:schemeClr val="tx1"/>
                </a:solidFill>
                <a:effectLst/>
                <a:latin typeface="+mn-lt"/>
                <a:ea typeface="+mn-ea"/>
                <a:cs typeface="+mn-cs"/>
              </a:rPr>
              <a:t>Waterfall</a:t>
            </a:r>
            <a:r>
              <a:rPr lang="hr-HR" sz="1200" b="0" i="0" kern="1200" dirty="0">
                <a:solidFill>
                  <a:schemeClr val="tx1"/>
                </a:solidFill>
                <a:effectLst/>
                <a:latin typeface="+mn-lt"/>
                <a:ea typeface="+mn-ea"/>
                <a:cs typeface="+mn-cs"/>
              </a:rPr>
              <a:t> i </a:t>
            </a:r>
            <a:r>
              <a:rPr lang="hr-HR" sz="1200" b="0" i="0" kern="1200" dirty="0" err="1">
                <a:solidFill>
                  <a:schemeClr val="tx1"/>
                </a:solidFill>
                <a:effectLst/>
                <a:latin typeface="+mn-lt"/>
                <a:ea typeface="+mn-ea"/>
                <a:cs typeface="+mn-cs"/>
              </a:rPr>
              <a:t>Agile</a:t>
            </a:r>
            <a:r>
              <a:rPr lang="hr-HR" sz="1200" b="0" i="0" kern="1200" dirty="0">
                <a:solidFill>
                  <a:schemeClr val="tx1"/>
                </a:solidFill>
                <a:effectLst/>
                <a:latin typeface="+mn-lt"/>
                <a:ea typeface="+mn-ea"/>
                <a:cs typeface="+mn-cs"/>
              </a:rPr>
              <a:t> pristupa</a:t>
            </a:r>
          </a:p>
          <a:p>
            <a:br>
              <a:rPr lang="hr-HR" sz="1200" b="0" i="0" kern="1200" dirty="0">
                <a:solidFill>
                  <a:schemeClr val="tx1"/>
                </a:solidFill>
                <a:effectLst/>
                <a:latin typeface="+mn-lt"/>
                <a:ea typeface="+mn-ea"/>
                <a:cs typeface="+mn-cs"/>
              </a:rPr>
            </a:br>
            <a:endParaRPr lang="hr-HR" sz="1200" b="0" i="0" kern="1200" dirty="0">
              <a:solidFill>
                <a:schemeClr val="tx1"/>
              </a:solidFill>
              <a:effectLst/>
              <a:latin typeface="+mn-lt"/>
              <a:ea typeface="+mn-ea"/>
              <a:cs typeface="+mn-cs"/>
            </a:endParaRPr>
          </a:p>
          <a:p>
            <a:r>
              <a:rPr lang="hr-HR" sz="1200" b="0" i="0" kern="1200" dirty="0">
                <a:solidFill>
                  <a:schemeClr val="tx1"/>
                </a:solidFill>
                <a:effectLst/>
                <a:latin typeface="+mn-lt"/>
                <a:ea typeface="+mn-ea"/>
                <a:cs typeface="+mn-cs"/>
              </a:rPr>
              <a:t>prevedi: </a:t>
            </a:r>
            <a:r>
              <a:rPr lang="hr-HR" sz="1200" b="0" i="0" kern="1200" dirty="0" err="1">
                <a:solidFill>
                  <a:schemeClr val="tx1"/>
                </a:solidFill>
                <a:effectLst/>
                <a:latin typeface="+mn-lt"/>
                <a:ea typeface="+mn-ea"/>
                <a:cs typeface="+mn-cs"/>
              </a:rPr>
              <a:t>Creating</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the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Gantt</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from</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cards</a:t>
            </a:r>
            <a:endParaRPr lang="hr-HR" sz="1200" b="0" i="0" kern="1200" dirty="0">
              <a:solidFill>
                <a:schemeClr val="tx1"/>
              </a:solidFill>
              <a:effectLst/>
              <a:latin typeface="+mn-lt"/>
              <a:ea typeface="+mn-ea"/>
              <a:cs typeface="+mn-cs"/>
            </a:endParaRPr>
          </a:p>
          <a:p>
            <a:br>
              <a:rPr lang="hr-HR" sz="1200" b="0" i="0" kern="1200" dirty="0">
                <a:solidFill>
                  <a:schemeClr val="tx1"/>
                </a:solidFill>
                <a:effectLst/>
                <a:latin typeface="+mn-lt"/>
                <a:ea typeface="+mn-ea"/>
                <a:cs typeface="+mn-cs"/>
              </a:rPr>
            </a:br>
            <a:endParaRPr lang="hr-HR" sz="1200" b="0" i="0" kern="1200" dirty="0">
              <a:solidFill>
                <a:schemeClr val="tx1"/>
              </a:solidFill>
              <a:effectLst/>
              <a:latin typeface="+mn-lt"/>
              <a:ea typeface="+mn-ea"/>
              <a:cs typeface="+mn-cs"/>
            </a:endParaRPr>
          </a:p>
          <a:p>
            <a:r>
              <a:rPr lang="hr-HR" sz="1200" b="0" i="0" kern="1200" dirty="0">
                <a:solidFill>
                  <a:schemeClr val="tx1"/>
                </a:solidFill>
                <a:effectLst/>
                <a:latin typeface="+mn-lt"/>
                <a:ea typeface="+mn-ea"/>
                <a:cs typeface="+mn-cs"/>
              </a:rPr>
              <a:t>Izrada </a:t>
            </a:r>
            <a:r>
              <a:rPr lang="hr-HR" sz="1200" b="0" i="0" kern="1200" dirty="0" err="1">
                <a:solidFill>
                  <a:schemeClr val="tx1"/>
                </a:solidFill>
                <a:effectLst/>
                <a:latin typeface="+mn-lt"/>
                <a:ea typeface="+mn-ea"/>
                <a:cs typeface="+mn-cs"/>
              </a:rPr>
              <a:t>Gantt</a:t>
            </a:r>
            <a:r>
              <a:rPr lang="hr-HR" sz="1200" b="0" i="0" kern="1200" dirty="0">
                <a:solidFill>
                  <a:schemeClr val="tx1"/>
                </a:solidFill>
                <a:effectLst/>
                <a:latin typeface="+mn-lt"/>
                <a:ea typeface="+mn-ea"/>
                <a:cs typeface="+mn-cs"/>
              </a:rPr>
              <a:t> dijagrama iz kartica</a:t>
            </a:r>
          </a:p>
          <a:p>
            <a:br>
              <a:rPr lang="hr-HR" sz="1200" b="0" i="0" kern="1200" dirty="0">
                <a:solidFill>
                  <a:schemeClr val="tx1"/>
                </a:solidFill>
                <a:effectLst/>
                <a:latin typeface="+mn-lt"/>
                <a:ea typeface="+mn-ea"/>
                <a:cs typeface="+mn-cs"/>
              </a:rPr>
            </a:br>
            <a:endParaRPr lang="hr-HR" sz="1200" b="0" i="0" kern="1200" dirty="0">
              <a:solidFill>
                <a:schemeClr val="tx1"/>
              </a:solidFill>
              <a:effectLst/>
              <a:latin typeface="+mn-lt"/>
              <a:ea typeface="+mn-ea"/>
              <a:cs typeface="+mn-cs"/>
            </a:endParaRPr>
          </a:p>
          <a:p>
            <a:r>
              <a:rPr lang="hr-HR" sz="1200" b="0" i="0" kern="1200" dirty="0">
                <a:solidFill>
                  <a:schemeClr val="tx1"/>
                </a:solidFill>
                <a:effectLst/>
                <a:latin typeface="+mn-lt"/>
                <a:ea typeface="+mn-ea"/>
                <a:cs typeface="+mn-cs"/>
              </a:rPr>
              <a:t>prevedi: </a:t>
            </a:r>
            <a:r>
              <a:rPr lang="hr-HR" sz="1200" b="0" i="0" kern="1200" dirty="0" err="1">
                <a:solidFill>
                  <a:schemeClr val="tx1"/>
                </a:solidFill>
                <a:effectLst/>
                <a:latin typeface="+mn-lt"/>
                <a:ea typeface="+mn-ea"/>
                <a:cs typeface="+mn-cs"/>
              </a:rPr>
              <a:t>Regardless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of</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the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approach</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taken</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we</a:t>
            </a:r>
            <a:r>
              <a:rPr lang="hr-HR" sz="1200" b="0" i="0" kern="1200" dirty="0">
                <a:solidFill>
                  <a:schemeClr val="tx1"/>
                </a:solidFill>
                <a:effectLst/>
                <a:latin typeface="+mn-lt"/>
                <a:ea typeface="+mn-ea"/>
                <a:cs typeface="+mn-cs"/>
              </a:rPr>
              <a:t> are </a:t>
            </a:r>
            <a:r>
              <a:rPr lang="hr-HR" sz="1200" b="0" i="0" kern="1200" dirty="0" err="1">
                <a:solidFill>
                  <a:schemeClr val="tx1"/>
                </a:solidFill>
                <a:effectLst/>
                <a:latin typeface="+mn-lt"/>
                <a:ea typeface="+mn-ea"/>
                <a:cs typeface="+mn-cs"/>
              </a:rPr>
              <a:t>often</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asked</a:t>
            </a:r>
            <a:r>
              <a:rPr lang="hr-HR" sz="1200" b="0" i="0" kern="1200" dirty="0">
                <a:solidFill>
                  <a:schemeClr val="tx1"/>
                </a:solidFill>
                <a:effectLst/>
                <a:latin typeface="+mn-lt"/>
                <a:ea typeface="+mn-ea"/>
                <a:cs typeface="+mn-cs"/>
              </a:rPr>
              <a:t> to </a:t>
            </a:r>
            <a:r>
              <a:rPr lang="hr-HR" sz="1200" b="0" i="0" kern="1200" dirty="0" err="1">
                <a:solidFill>
                  <a:schemeClr val="tx1"/>
                </a:solidFill>
                <a:effectLst/>
                <a:latin typeface="+mn-lt"/>
                <a:ea typeface="+mn-ea"/>
                <a:cs typeface="+mn-cs"/>
              </a:rPr>
              <a:t>produce</a:t>
            </a:r>
            <a:r>
              <a:rPr lang="hr-HR" sz="1200" b="0" i="0" kern="1200" dirty="0">
                <a:solidFill>
                  <a:schemeClr val="tx1"/>
                </a:solidFill>
                <a:effectLst/>
                <a:latin typeface="+mn-lt"/>
                <a:ea typeface="+mn-ea"/>
                <a:cs typeface="+mn-cs"/>
              </a:rPr>
              <a:t> a </a:t>
            </a:r>
            <a:r>
              <a:rPr lang="hr-HR" sz="1200" b="0" i="0" kern="1200" dirty="0" err="1">
                <a:solidFill>
                  <a:schemeClr val="tx1"/>
                </a:solidFill>
                <a:effectLst/>
                <a:latin typeface="+mn-lt"/>
                <a:ea typeface="+mn-ea"/>
                <a:cs typeface="+mn-cs"/>
              </a:rPr>
              <a:t>project</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Gantt</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With</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respect</a:t>
            </a:r>
            <a:r>
              <a:rPr lang="hr-HR" sz="1200" b="0" i="0" kern="1200" dirty="0">
                <a:solidFill>
                  <a:schemeClr val="tx1"/>
                </a:solidFill>
                <a:effectLst/>
                <a:latin typeface="+mn-lt"/>
                <a:ea typeface="+mn-ea"/>
                <a:cs typeface="+mn-cs"/>
              </a:rPr>
              <a:t> to </a:t>
            </a:r>
            <a:r>
              <a:rPr lang="hr-HR" sz="1200" b="0" i="0" kern="1200" dirty="0" err="1">
                <a:solidFill>
                  <a:schemeClr val="tx1"/>
                </a:solidFill>
                <a:effectLst/>
                <a:latin typeface="+mn-lt"/>
                <a:ea typeface="+mn-ea"/>
                <a:cs typeface="+mn-cs"/>
              </a:rPr>
              <a:t>Agile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we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can</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try</a:t>
            </a:r>
            <a:r>
              <a:rPr lang="hr-HR" sz="1200" b="0" i="0" kern="1200" dirty="0">
                <a:solidFill>
                  <a:schemeClr val="tx1"/>
                </a:solidFill>
                <a:effectLst/>
                <a:latin typeface="+mn-lt"/>
                <a:ea typeface="+mn-ea"/>
                <a:cs typeface="+mn-cs"/>
              </a:rPr>
              <a:t> to do </a:t>
            </a:r>
            <a:r>
              <a:rPr lang="hr-HR" sz="1200" b="0" i="0" kern="1200" dirty="0" err="1">
                <a:solidFill>
                  <a:schemeClr val="tx1"/>
                </a:solidFill>
                <a:effectLst/>
                <a:latin typeface="+mn-lt"/>
                <a:ea typeface="+mn-ea"/>
                <a:cs typeface="+mn-cs"/>
              </a:rPr>
              <a:t>this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by</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starting</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with</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the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very</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cards</a:t>
            </a:r>
            <a:r>
              <a:rPr lang="hr-HR" sz="1200" b="0" i="0" kern="1200" dirty="0">
                <a:solidFill>
                  <a:schemeClr val="tx1"/>
                </a:solidFill>
                <a:effectLst/>
                <a:latin typeface="+mn-lt"/>
                <a:ea typeface="+mn-ea"/>
                <a:cs typeface="+mn-cs"/>
              </a:rPr>
              <a:t> on </a:t>
            </a:r>
            <a:r>
              <a:rPr lang="hr-HR" sz="1200" b="0" i="0" kern="1200" dirty="0" err="1">
                <a:solidFill>
                  <a:schemeClr val="tx1"/>
                </a:solidFill>
                <a:effectLst/>
                <a:latin typeface="+mn-lt"/>
                <a:ea typeface="+mn-ea"/>
                <a:cs typeface="+mn-cs"/>
              </a:rPr>
              <a:t>the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board</a:t>
            </a:r>
            <a:r>
              <a:rPr lang="hr-HR" sz="1200" b="0" i="0" kern="1200" dirty="0">
                <a:solidFill>
                  <a:schemeClr val="tx1"/>
                </a:solidFill>
                <a:effectLst/>
                <a:latin typeface="+mn-lt"/>
                <a:ea typeface="+mn-ea"/>
                <a:cs typeface="+mn-cs"/>
              </a:rPr>
              <a:t>. </a:t>
            </a:r>
          </a:p>
          <a:p>
            <a:br>
              <a:rPr lang="hr-HR" sz="1200" b="0" i="0" kern="1200" dirty="0">
                <a:solidFill>
                  <a:schemeClr val="tx1"/>
                </a:solidFill>
                <a:effectLst/>
                <a:latin typeface="+mn-lt"/>
                <a:ea typeface="+mn-ea"/>
                <a:cs typeface="+mn-cs"/>
              </a:rPr>
            </a:br>
            <a:endParaRPr lang="hr-HR" sz="1200" b="0" i="0" kern="1200" dirty="0">
              <a:solidFill>
                <a:schemeClr val="tx1"/>
              </a:solidFill>
              <a:effectLst/>
              <a:latin typeface="+mn-lt"/>
              <a:ea typeface="+mn-ea"/>
              <a:cs typeface="+mn-cs"/>
            </a:endParaRPr>
          </a:p>
          <a:p>
            <a:r>
              <a:rPr lang="hr-HR" sz="1200" b="0" i="0" kern="1200" dirty="0">
                <a:solidFill>
                  <a:schemeClr val="tx1"/>
                </a:solidFill>
                <a:effectLst/>
                <a:latin typeface="+mn-lt"/>
                <a:ea typeface="+mn-ea"/>
                <a:cs typeface="+mn-cs"/>
              </a:rPr>
              <a:t>Bez obzira na pristup koji se koristi, često se od nas traži izrada </a:t>
            </a:r>
            <a:r>
              <a:rPr lang="hr-HR" sz="1200" b="0" i="0" kern="1200" dirty="0" err="1">
                <a:solidFill>
                  <a:schemeClr val="tx1"/>
                </a:solidFill>
                <a:effectLst/>
                <a:latin typeface="+mn-lt"/>
                <a:ea typeface="+mn-ea"/>
                <a:cs typeface="+mn-cs"/>
              </a:rPr>
              <a:t>Gantt</a:t>
            </a:r>
            <a:r>
              <a:rPr lang="hr-HR" sz="1200" b="0" i="0" kern="1200" dirty="0">
                <a:solidFill>
                  <a:schemeClr val="tx1"/>
                </a:solidFill>
                <a:effectLst/>
                <a:latin typeface="+mn-lt"/>
                <a:ea typeface="+mn-ea"/>
                <a:cs typeface="+mn-cs"/>
              </a:rPr>
              <a:t> dijagrama projekta. U kontekstu </a:t>
            </a:r>
            <a:r>
              <a:rPr lang="hr-HR" sz="1200" b="0" i="0" kern="1200" dirty="0" err="1">
                <a:solidFill>
                  <a:schemeClr val="tx1"/>
                </a:solidFill>
                <a:effectLst/>
                <a:latin typeface="+mn-lt"/>
                <a:ea typeface="+mn-ea"/>
                <a:cs typeface="+mn-cs"/>
              </a:rPr>
              <a:t>Agilea</a:t>
            </a:r>
            <a:r>
              <a:rPr lang="hr-HR" sz="1200" b="0" i="0" kern="1200" dirty="0">
                <a:solidFill>
                  <a:schemeClr val="tx1"/>
                </a:solidFill>
                <a:effectLst/>
                <a:latin typeface="+mn-lt"/>
                <a:ea typeface="+mn-ea"/>
                <a:cs typeface="+mn-cs"/>
              </a:rPr>
              <a:t>, to možemo pokušati napraviti polazeći upravo od kartica na </a:t>
            </a:r>
            <a:r>
              <a:rPr lang="hr-HR" sz="1200" b="0" i="0" kern="1200" dirty="0" err="1">
                <a:solidFill>
                  <a:schemeClr val="tx1"/>
                </a:solidFill>
                <a:effectLst/>
                <a:latin typeface="+mn-lt"/>
                <a:ea typeface="+mn-ea"/>
                <a:cs typeface="+mn-cs"/>
              </a:rPr>
              <a:t>boardu</a:t>
            </a:r>
            <a:r>
              <a:rPr lang="hr-HR" sz="1200" b="0" i="0" kern="1200" dirty="0">
                <a:solidFill>
                  <a:schemeClr val="tx1"/>
                </a:solidFill>
                <a:effectLst/>
                <a:latin typeface="+mn-lt"/>
                <a:ea typeface="+mn-ea"/>
                <a:cs typeface="+mn-cs"/>
              </a:rPr>
              <a:t>.</a:t>
            </a:r>
          </a:p>
          <a:p>
            <a:br>
              <a:rPr lang="hr-HR" sz="1200" b="0" i="0" kern="1200" dirty="0">
                <a:solidFill>
                  <a:schemeClr val="tx1"/>
                </a:solidFill>
                <a:effectLst/>
                <a:latin typeface="+mn-lt"/>
                <a:ea typeface="+mn-ea"/>
                <a:cs typeface="+mn-cs"/>
              </a:rPr>
            </a:br>
            <a:endParaRPr lang="hr-HR" sz="1200" b="0" i="0" kern="1200" dirty="0">
              <a:solidFill>
                <a:schemeClr val="tx1"/>
              </a:solidFill>
              <a:effectLst/>
              <a:latin typeface="+mn-lt"/>
              <a:ea typeface="+mn-ea"/>
              <a:cs typeface="+mn-cs"/>
            </a:endParaRPr>
          </a:p>
          <a:p>
            <a:r>
              <a:rPr lang="hr-HR" sz="1200" b="0" i="0" kern="1200" dirty="0">
                <a:solidFill>
                  <a:schemeClr val="tx1"/>
                </a:solidFill>
                <a:effectLst/>
                <a:latin typeface="+mn-lt"/>
                <a:ea typeface="+mn-ea"/>
                <a:cs typeface="+mn-cs"/>
              </a:rPr>
              <a:t>prevedi: Facilitator notes </a:t>
            </a:r>
            <a:r>
              <a:rPr lang="hr-HR" sz="1200" b="0" i="0" kern="1200" dirty="0" err="1">
                <a:solidFill>
                  <a:schemeClr val="tx1"/>
                </a:solidFill>
                <a:effectLst/>
                <a:latin typeface="+mn-lt"/>
                <a:ea typeface="+mn-ea"/>
                <a:cs typeface="+mn-cs"/>
              </a:rPr>
              <a:t>Emphasize</a:t>
            </a:r>
            <a:r>
              <a:rPr lang="hr-HR" sz="1200" b="0" i="0" kern="1200" dirty="0">
                <a:solidFill>
                  <a:schemeClr val="tx1"/>
                </a:solidFill>
                <a:effectLst/>
                <a:latin typeface="+mn-lt"/>
                <a:ea typeface="+mn-ea"/>
                <a:cs typeface="+mn-cs"/>
              </a:rPr>
              <a:t>: A </a:t>
            </a:r>
            <a:r>
              <a:rPr lang="hr-HR" sz="1200" b="0" i="0" kern="1200" dirty="0" err="1">
                <a:solidFill>
                  <a:schemeClr val="tx1"/>
                </a:solidFill>
                <a:effectLst/>
                <a:latin typeface="+mn-lt"/>
                <a:ea typeface="+mn-ea"/>
                <a:cs typeface="+mn-cs"/>
              </a:rPr>
              <a:t>Gantt</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can</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be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derived</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from</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backlog</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items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and</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dependencies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It</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should</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be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updated</a:t>
            </a:r>
            <a:r>
              <a:rPr lang="hr-HR" sz="1200" b="0" i="0" kern="1200" dirty="0">
                <a:solidFill>
                  <a:schemeClr val="tx1"/>
                </a:solidFill>
                <a:effectLst/>
                <a:latin typeface="+mn-lt"/>
                <a:ea typeface="+mn-ea"/>
                <a:cs typeface="+mn-cs"/>
              </a:rPr>
              <a:t> as </a:t>
            </a:r>
            <a:r>
              <a:rPr lang="hr-HR" sz="1200" b="0" i="0" kern="1200" dirty="0" err="1">
                <a:solidFill>
                  <a:schemeClr val="tx1"/>
                </a:solidFill>
                <a:effectLst/>
                <a:latin typeface="+mn-lt"/>
                <a:ea typeface="+mn-ea"/>
                <a:cs typeface="+mn-cs"/>
              </a:rPr>
              <a:t>evidence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changes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not</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treated</a:t>
            </a:r>
            <a:r>
              <a:rPr lang="hr-HR" sz="1200" b="0" i="0" kern="1200" dirty="0">
                <a:solidFill>
                  <a:schemeClr val="tx1"/>
                </a:solidFill>
                <a:effectLst/>
                <a:latin typeface="+mn-lt"/>
                <a:ea typeface="+mn-ea"/>
                <a:cs typeface="+mn-cs"/>
              </a:rPr>
              <a:t> as a </a:t>
            </a:r>
            <a:r>
              <a:rPr lang="hr-HR" sz="1200" b="0" i="0" kern="1200" dirty="0" err="1">
                <a:solidFill>
                  <a:schemeClr val="tx1"/>
                </a:solidFill>
                <a:effectLst/>
                <a:latin typeface="+mn-lt"/>
                <a:ea typeface="+mn-ea"/>
                <a:cs typeface="+mn-cs"/>
              </a:rPr>
              <a:t>fixed</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promise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The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goal</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is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transparency</a:t>
            </a:r>
            <a:r>
              <a:rPr lang="hr-HR" sz="1200" b="0" i="0" kern="1200" dirty="0">
                <a:solidFill>
                  <a:schemeClr val="tx1"/>
                </a:solidFill>
                <a:effectLst/>
                <a:latin typeface="+mn-lt"/>
                <a:ea typeface="+mn-ea"/>
                <a:cs typeface="+mn-cs"/>
              </a:rPr>
              <a:t>: use </a:t>
            </a:r>
            <a:r>
              <a:rPr lang="hr-HR" sz="1200" b="0" i="0" kern="1200" dirty="0" err="1">
                <a:solidFill>
                  <a:schemeClr val="tx1"/>
                </a:solidFill>
                <a:effectLst/>
                <a:latin typeface="+mn-lt"/>
                <a:ea typeface="+mn-ea"/>
                <a:cs typeface="+mn-cs"/>
              </a:rPr>
              <a:t>the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Gantt</a:t>
            </a:r>
            <a:r>
              <a:rPr lang="hr-HR" sz="1200" b="0" i="0" kern="1200" dirty="0">
                <a:solidFill>
                  <a:schemeClr val="tx1"/>
                </a:solidFill>
                <a:effectLst/>
                <a:latin typeface="+mn-lt"/>
                <a:ea typeface="+mn-ea"/>
                <a:cs typeface="+mn-cs"/>
              </a:rPr>
              <a:t> to </a:t>
            </a:r>
            <a:r>
              <a:rPr lang="hr-HR" sz="1200" b="0" i="0" kern="1200" dirty="0" err="1">
                <a:solidFill>
                  <a:schemeClr val="tx1"/>
                </a:solidFill>
                <a:effectLst/>
                <a:latin typeface="+mn-lt"/>
                <a:ea typeface="+mn-ea"/>
                <a:cs typeface="+mn-cs"/>
              </a:rPr>
              <a:t>communicate</a:t>
            </a:r>
            <a:r>
              <a:rPr lang="hr-HR" sz="1200" b="0" i="0" kern="1200" dirty="0">
                <a:solidFill>
                  <a:schemeClr val="tx1"/>
                </a:solidFill>
                <a:effectLst/>
                <a:latin typeface="+mn-lt"/>
                <a:ea typeface="+mn-ea"/>
                <a:cs typeface="+mn-cs"/>
              </a:rPr>
              <a:t> at </a:t>
            </a:r>
            <a:r>
              <a:rPr lang="hr-HR" sz="1200" b="0" i="0" kern="1200" dirty="0" err="1">
                <a:solidFill>
                  <a:schemeClr val="tx1"/>
                </a:solidFill>
                <a:effectLst/>
                <a:latin typeface="+mn-lt"/>
                <a:ea typeface="+mn-ea"/>
                <a:cs typeface="+mn-cs"/>
              </a:rPr>
              <a:t>macro</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level</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and</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the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board</a:t>
            </a:r>
            <a:r>
              <a:rPr lang="hr-HR" sz="1200" b="0" i="0" kern="1200" dirty="0">
                <a:solidFill>
                  <a:schemeClr val="tx1"/>
                </a:solidFill>
                <a:effectLst/>
                <a:latin typeface="+mn-lt"/>
                <a:ea typeface="+mn-ea"/>
                <a:cs typeface="+mn-cs"/>
              </a:rPr>
              <a:t>/</a:t>
            </a:r>
            <a:r>
              <a:rPr lang="hr-HR" sz="1200" b="0" i="0" kern="1200" dirty="0" err="1">
                <a:solidFill>
                  <a:schemeClr val="tx1"/>
                </a:solidFill>
                <a:effectLst/>
                <a:latin typeface="+mn-lt"/>
                <a:ea typeface="+mn-ea"/>
                <a:cs typeface="+mn-cs"/>
              </a:rPr>
              <a:t>backlog</a:t>
            </a:r>
            <a:r>
              <a:rPr lang="hr-HR" sz="1200" b="0" i="0" kern="1200" dirty="0">
                <a:solidFill>
                  <a:schemeClr val="tx1"/>
                </a:solidFill>
                <a:effectLst/>
                <a:latin typeface="+mn-lt"/>
                <a:ea typeface="+mn-ea"/>
                <a:cs typeface="+mn-cs"/>
              </a:rPr>
              <a:t> for </a:t>
            </a:r>
            <a:r>
              <a:rPr lang="hr-HR" sz="1200" b="0" i="0" kern="1200" dirty="0" err="1">
                <a:solidFill>
                  <a:schemeClr val="tx1"/>
                </a:solidFill>
                <a:effectLst/>
                <a:latin typeface="+mn-lt"/>
                <a:ea typeface="+mn-ea"/>
                <a:cs typeface="+mn-cs"/>
              </a:rPr>
              <a:t>day</a:t>
            </a:r>
            <a:r>
              <a:rPr lang="hr-HR" sz="1200" b="0" i="0" kern="1200" dirty="0">
                <a:solidFill>
                  <a:schemeClr val="tx1"/>
                </a:solidFill>
                <a:effectLst/>
                <a:latin typeface="+mn-lt"/>
                <a:ea typeface="+mn-ea"/>
                <a:cs typeface="+mn-cs"/>
              </a:rPr>
              <a:t>-to-</a:t>
            </a:r>
            <a:r>
              <a:rPr lang="hr-HR" sz="1200" b="0" i="0" kern="1200" dirty="0" err="1">
                <a:solidFill>
                  <a:schemeClr val="tx1"/>
                </a:solidFill>
                <a:effectLst/>
                <a:latin typeface="+mn-lt"/>
                <a:ea typeface="+mn-ea"/>
                <a:cs typeface="+mn-cs"/>
              </a:rPr>
              <a:t>day</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delivery</a:t>
            </a:r>
            <a:r>
              <a:rPr lang="hr-HR" sz="1200" b="0" i="0" kern="1200" dirty="0">
                <a:solidFill>
                  <a:schemeClr val="tx1"/>
                </a:solidFill>
                <a:effectLst/>
                <a:latin typeface="+mn-lt"/>
                <a:ea typeface="+mn-ea"/>
                <a:cs typeface="+mn-cs"/>
              </a:rPr>
              <a:t>. </a:t>
            </a:r>
          </a:p>
          <a:p>
            <a:br>
              <a:rPr lang="hr-HR" sz="1200" b="0" i="0" kern="1200" dirty="0">
                <a:solidFill>
                  <a:schemeClr val="tx1"/>
                </a:solidFill>
                <a:effectLst/>
                <a:latin typeface="+mn-lt"/>
                <a:ea typeface="+mn-ea"/>
                <a:cs typeface="+mn-cs"/>
              </a:rPr>
            </a:br>
            <a:endParaRPr lang="hr-HR" sz="1200" b="0" i="0" kern="1200" dirty="0">
              <a:solidFill>
                <a:schemeClr val="tx1"/>
              </a:solidFill>
              <a:effectLst/>
              <a:latin typeface="+mn-lt"/>
              <a:ea typeface="+mn-ea"/>
              <a:cs typeface="+mn-cs"/>
            </a:endParaRPr>
          </a:p>
          <a:p>
            <a:r>
              <a:rPr lang="hr-HR" sz="1200" b="0" i="0" kern="1200" dirty="0">
                <a:solidFill>
                  <a:schemeClr val="tx1"/>
                </a:solidFill>
                <a:effectLst/>
                <a:latin typeface="+mn-lt"/>
                <a:ea typeface="+mn-ea"/>
                <a:cs typeface="+mn-cs"/>
              </a:rPr>
              <a:t>Napomene za facilitatora</a:t>
            </a:r>
          </a:p>
          <a:p>
            <a:r>
              <a:rPr lang="hr-HR" sz="1200" b="0" i="0" kern="1200" dirty="0">
                <a:solidFill>
                  <a:schemeClr val="tx1"/>
                </a:solidFill>
                <a:effectLst/>
                <a:latin typeface="+mn-lt"/>
                <a:ea typeface="+mn-ea"/>
                <a:cs typeface="+mn-cs"/>
              </a:rPr>
              <a:t>Naglasite:</a:t>
            </a:r>
          </a:p>
          <a:p>
            <a:r>
              <a:rPr lang="hr-HR" sz="1200" b="0" i="0" kern="1200" dirty="0" err="1">
                <a:solidFill>
                  <a:schemeClr val="tx1"/>
                </a:solidFill>
                <a:effectLst/>
                <a:latin typeface="+mn-lt"/>
                <a:ea typeface="+mn-ea"/>
                <a:cs typeface="+mn-cs"/>
              </a:rPr>
              <a:t>Gantt</a:t>
            </a:r>
            <a:r>
              <a:rPr lang="hr-HR" sz="1200" b="0" i="0" kern="1200" dirty="0">
                <a:solidFill>
                  <a:schemeClr val="tx1"/>
                </a:solidFill>
                <a:effectLst/>
                <a:latin typeface="+mn-lt"/>
                <a:ea typeface="+mn-ea"/>
                <a:cs typeface="+mn-cs"/>
              </a:rPr>
              <a:t> dijagram se može izvesti iz </a:t>
            </a:r>
            <a:r>
              <a:rPr lang="hr-HR" sz="1200" b="0" i="0" kern="1200" dirty="0" err="1">
                <a:solidFill>
                  <a:schemeClr val="tx1"/>
                </a:solidFill>
                <a:effectLst/>
                <a:latin typeface="+mn-lt"/>
                <a:ea typeface="+mn-ea"/>
                <a:cs typeface="+mn-cs"/>
              </a:rPr>
              <a:t>backlog</a:t>
            </a:r>
            <a:r>
              <a:rPr lang="hr-HR" sz="1200" b="0" i="0" kern="1200" dirty="0">
                <a:solidFill>
                  <a:schemeClr val="tx1"/>
                </a:solidFill>
                <a:effectLst/>
                <a:latin typeface="+mn-lt"/>
                <a:ea typeface="+mn-ea"/>
                <a:cs typeface="+mn-cs"/>
              </a:rPr>
              <a:t> stavki i njihovih ovisnosti.</a:t>
            </a:r>
          </a:p>
          <a:p>
            <a:r>
              <a:rPr lang="hr-HR" sz="1200" b="0" i="0" kern="1200" dirty="0">
                <a:solidFill>
                  <a:schemeClr val="tx1"/>
                </a:solidFill>
                <a:effectLst/>
                <a:latin typeface="+mn-lt"/>
                <a:ea typeface="+mn-ea"/>
                <a:cs typeface="+mn-cs"/>
              </a:rPr>
              <a:t>Treba ga ažurirati kako se mijenjaju stvarni podaci (ne tretirati ga kao fiksno obećanje).</a:t>
            </a:r>
          </a:p>
          <a:p>
            <a:r>
              <a:rPr lang="hr-HR" sz="1200" b="0" i="0" kern="1200" dirty="0">
                <a:solidFill>
                  <a:schemeClr val="tx1"/>
                </a:solidFill>
                <a:effectLst/>
                <a:latin typeface="+mn-lt"/>
                <a:ea typeface="+mn-ea"/>
                <a:cs typeface="+mn-cs"/>
              </a:rPr>
              <a:t>Cilj je transparentnost: koristiti </a:t>
            </a:r>
            <a:r>
              <a:rPr lang="hr-HR" sz="1200" b="0" i="0" kern="1200" dirty="0" err="1">
                <a:solidFill>
                  <a:schemeClr val="tx1"/>
                </a:solidFill>
                <a:effectLst/>
                <a:latin typeface="+mn-lt"/>
                <a:ea typeface="+mn-ea"/>
                <a:cs typeface="+mn-cs"/>
              </a:rPr>
              <a:t>Gantt</a:t>
            </a:r>
            <a:r>
              <a:rPr lang="hr-HR" sz="1200" b="0" i="0" kern="1200" dirty="0">
                <a:solidFill>
                  <a:schemeClr val="tx1"/>
                </a:solidFill>
                <a:effectLst/>
                <a:latin typeface="+mn-lt"/>
                <a:ea typeface="+mn-ea"/>
                <a:cs typeface="+mn-cs"/>
              </a:rPr>
              <a:t> za komunikaciju na </a:t>
            </a:r>
            <a:r>
              <a:rPr lang="hr-HR" sz="1200" b="0" i="0" kern="1200" dirty="0" err="1">
                <a:solidFill>
                  <a:schemeClr val="tx1"/>
                </a:solidFill>
                <a:effectLst/>
                <a:latin typeface="+mn-lt"/>
                <a:ea typeface="+mn-ea"/>
                <a:cs typeface="+mn-cs"/>
              </a:rPr>
              <a:t>makrorazini</a:t>
            </a:r>
            <a:r>
              <a:rPr lang="hr-HR" sz="1200" b="0" i="0" kern="1200" dirty="0">
                <a:solidFill>
                  <a:schemeClr val="tx1"/>
                </a:solidFill>
                <a:effectLst/>
                <a:latin typeface="+mn-lt"/>
                <a:ea typeface="+mn-ea"/>
                <a:cs typeface="+mn-cs"/>
              </a:rPr>
              <a:t>, a </a:t>
            </a:r>
            <a:r>
              <a:rPr lang="hr-HR" sz="1200" b="0" i="0" kern="1200" dirty="0" err="1">
                <a:solidFill>
                  <a:schemeClr val="tx1"/>
                </a:solidFill>
                <a:effectLst/>
                <a:latin typeface="+mn-lt"/>
                <a:ea typeface="+mn-ea"/>
                <a:cs typeface="+mn-cs"/>
              </a:rPr>
              <a:t>board</a:t>
            </a:r>
            <a:r>
              <a:rPr lang="hr-HR" sz="1200" b="0" i="0" kern="1200" dirty="0">
                <a:solidFill>
                  <a:schemeClr val="tx1"/>
                </a:solidFill>
                <a:effectLst/>
                <a:latin typeface="+mn-lt"/>
                <a:ea typeface="+mn-ea"/>
                <a:cs typeface="+mn-cs"/>
              </a:rPr>
              <a:t>/</a:t>
            </a:r>
            <a:r>
              <a:rPr lang="hr-HR" sz="1200" b="0" i="0" kern="1200" dirty="0" err="1">
                <a:solidFill>
                  <a:schemeClr val="tx1"/>
                </a:solidFill>
                <a:effectLst/>
                <a:latin typeface="+mn-lt"/>
                <a:ea typeface="+mn-ea"/>
                <a:cs typeface="+mn-cs"/>
              </a:rPr>
              <a:t>backlog</a:t>
            </a:r>
            <a:r>
              <a:rPr lang="hr-HR" sz="1200" b="0" i="0" kern="1200" dirty="0">
                <a:solidFill>
                  <a:schemeClr val="tx1"/>
                </a:solidFill>
                <a:effectLst/>
                <a:latin typeface="+mn-lt"/>
                <a:ea typeface="+mn-ea"/>
                <a:cs typeface="+mn-cs"/>
              </a:rPr>
              <a:t> za svakodnevnu isporuku.</a:t>
            </a:r>
          </a:p>
          <a:p>
            <a:br>
              <a:rPr lang="hr-HR" sz="1200" b="0" i="0" kern="1200" dirty="0">
                <a:solidFill>
                  <a:schemeClr val="tx1"/>
                </a:solidFill>
                <a:effectLst/>
                <a:latin typeface="+mn-lt"/>
                <a:ea typeface="+mn-ea"/>
                <a:cs typeface="+mn-cs"/>
              </a:rPr>
            </a:br>
            <a:endParaRPr lang="hr-HR" sz="1200" b="0" i="0" kern="1200" dirty="0">
              <a:solidFill>
                <a:schemeClr val="tx1"/>
              </a:solidFill>
              <a:effectLst/>
              <a:latin typeface="+mn-lt"/>
              <a:ea typeface="+mn-ea"/>
              <a:cs typeface="+mn-cs"/>
            </a:endParaRPr>
          </a:p>
          <a:p>
            <a:r>
              <a:rPr lang="hr-HR" sz="1200" b="0" i="0" kern="1200" dirty="0">
                <a:solidFill>
                  <a:schemeClr val="tx1"/>
                </a:solidFill>
                <a:effectLst/>
                <a:latin typeface="+mn-lt"/>
                <a:ea typeface="+mn-ea"/>
                <a:cs typeface="+mn-cs"/>
              </a:rPr>
              <a:t>prevedi: </a:t>
            </a:r>
            <a:r>
              <a:rPr lang="hr-HR" sz="1200" b="0" i="0" kern="1200" dirty="0" err="1">
                <a:solidFill>
                  <a:schemeClr val="tx1"/>
                </a:solidFill>
                <a:effectLst/>
                <a:latin typeface="+mn-lt"/>
                <a:ea typeface="+mn-ea"/>
                <a:cs typeface="+mn-cs"/>
              </a:rPr>
              <a:t>TeamGantt</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is</a:t>
            </a:r>
            <a:r>
              <a:rPr lang="hr-HR" sz="1200" b="0" i="0" kern="1200" dirty="0">
                <a:solidFill>
                  <a:schemeClr val="tx1"/>
                </a:solidFill>
                <a:effectLst/>
                <a:latin typeface="+mn-lt"/>
                <a:ea typeface="+mn-ea"/>
                <a:cs typeface="+mn-cs"/>
              </a:rPr>
              <a:t> a </a:t>
            </a:r>
            <a:r>
              <a:rPr lang="hr-HR" sz="1200" b="0" i="0" kern="1200" dirty="0" err="1">
                <a:solidFill>
                  <a:schemeClr val="tx1"/>
                </a:solidFill>
                <a:effectLst/>
                <a:latin typeface="+mn-lt"/>
                <a:ea typeface="+mn-ea"/>
                <a:cs typeface="+mn-cs"/>
              </a:rPr>
              <a:t>digital</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tool</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that</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allows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you</a:t>
            </a:r>
            <a:r>
              <a:rPr lang="hr-HR" sz="1200" b="0" i="0" kern="1200" dirty="0">
                <a:solidFill>
                  <a:schemeClr val="tx1"/>
                </a:solidFill>
                <a:effectLst/>
                <a:latin typeface="+mn-lt"/>
                <a:ea typeface="+mn-ea"/>
                <a:cs typeface="+mn-cs"/>
              </a:rPr>
              <a:t> to: </a:t>
            </a:r>
            <a:r>
              <a:rPr lang="hr-HR" sz="1200" b="0" i="0" kern="1200" dirty="0" err="1">
                <a:solidFill>
                  <a:schemeClr val="tx1"/>
                </a:solidFill>
                <a:effectLst/>
                <a:latin typeface="+mn-lt"/>
                <a:ea typeface="+mn-ea"/>
                <a:cs typeface="+mn-cs"/>
              </a:rPr>
              <a:t>create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share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update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Gantt</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reorganise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tasks</a:t>
            </a:r>
            <a:r>
              <a:rPr lang="hr-HR" sz="1200" b="0" i="0" kern="1200" dirty="0">
                <a:solidFill>
                  <a:schemeClr val="tx1"/>
                </a:solidFill>
                <a:effectLst/>
                <a:latin typeface="+mn-lt"/>
                <a:ea typeface="+mn-ea"/>
                <a:cs typeface="+mn-cs"/>
              </a:rPr>
              <a:t> display </a:t>
            </a:r>
            <a:r>
              <a:rPr lang="hr-HR" sz="1200" b="0" i="0" kern="1200" dirty="0" err="1">
                <a:solidFill>
                  <a:schemeClr val="tx1"/>
                </a:solidFill>
                <a:effectLst/>
                <a:latin typeface="+mn-lt"/>
                <a:ea typeface="+mn-ea"/>
                <a:cs typeface="+mn-cs"/>
              </a:rPr>
              <a:t>all</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projects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in</a:t>
            </a:r>
            <a:r>
              <a:rPr lang="hr-HR" sz="1200" b="0" i="0" kern="1200" dirty="0">
                <a:solidFill>
                  <a:schemeClr val="tx1"/>
                </a:solidFill>
                <a:effectLst/>
                <a:latin typeface="+mn-lt"/>
                <a:ea typeface="+mn-ea"/>
                <a:cs typeface="+mn-cs"/>
              </a:rPr>
              <a:t> one </a:t>
            </a:r>
            <a:r>
              <a:rPr lang="hr-HR" sz="1200" b="0" i="0" kern="1200" dirty="0" err="1">
                <a:solidFill>
                  <a:schemeClr val="tx1"/>
                </a:solidFill>
                <a:effectLst/>
                <a:latin typeface="+mn-lt"/>
                <a:ea typeface="+mn-ea"/>
                <a:cs typeface="+mn-cs"/>
              </a:rPr>
              <a:t>view</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manage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resources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control</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budget</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and</a:t>
            </a:r>
            <a:r>
              <a:rPr lang="hr-HR" sz="1200" b="0" i="0" kern="1200" dirty="0">
                <a:solidFill>
                  <a:schemeClr val="tx1"/>
                </a:solidFill>
                <a:effectLst/>
                <a:latin typeface="+mn-lt"/>
                <a:ea typeface="+mn-ea"/>
                <a:cs typeface="+mn-cs"/>
              </a:rPr>
              <a:t> make sure to </a:t>
            </a:r>
            <a:r>
              <a:rPr lang="hr-HR" sz="1200" b="0" i="0" kern="1200" dirty="0" err="1">
                <a:solidFill>
                  <a:schemeClr val="tx1"/>
                </a:solidFill>
                <a:effectLst/>
                <a:latin typeface="+mn-lt"/>
                <a:ea typeface="+mn-ea"/>
                <a:cs typeface="+mn-cs"/>
              </a:rPr>
              <a:t>avoid</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overload</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create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reports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check</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progress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against</a:t>
            </a:r>
            <a:r>
              <a:rPr lang="hr-HR" sz="1200" b="0" i="0" kern="1200" dirty="0">
                <a:solidFill>
                  <a:schemeClr val="tx1"/>
                </a:solidFill>
                <a:effectLst/>
                <a:latin typeface="+mn-lt"/>
                <a:ea typeface="+mn-ea"/>
                <a:cs typeface="+mn-cs"/>
              </a:rPr>
              <a:t> plan </a:t>
            </a:r>
            <a:r>
              <a:rPr lang="hr-HR" sz="1200" b="0" i="0" kern="1200" dirty="0" err="1">
                <a:solidFill>
                  <a:schemeClr val="tx1"/>
                </a:solidFill>
                <a:effectLst/>
                <a:latin typeface="+mn-lt"/>
                <a:ea typeface="+mn-ea"/>
                <a:cs typeface="+mn-cs"/>
              </a:rPr>
              <a:t>and</a:t>
            </a:r>
            <a:r>
              <a:rPr lang="hr-HR" sz="1200" b="0" i="0" kern="1200" dirty="0">
                <a:solidFill>
                  <a:schemeClr val="tx1"/>
                </a:solidFill>
                <a:effectLst/>
                <a:latin typeface="+mn-lt"/>
                <a:ea typeface="+mn-ea"/>
                <a:cs typeface="+mn-cs"/>
              </a:rPr>
              <a:t> make </a:t>
            </a:r>
            <a:r>
              <a:rPr lang="hr-HR" sz="1200" b="0" i="0" kern="1200" dirty="0" err="1">
                <a:solidFill>
                  <a:schemeClr val="tx1"/>
                </a:solidFill>
                <a:effectLst/>
                <a:latin typeface="+mn-lt"/>
                <a:ea typeface="+mn-ea"/>
                <a:cs typeface="+mn-cs"/>
              </a:rPr>
              <a:t>projections</a:t>
            </a:r>
            <a:r>
              <a:rPr lang="hr-HR" sz="1200" b="0" i="0" kern="1200" dirty="0">
                <a:solidFill>
                  <a:schemeClr val="tx1"/>
                </a:solidFill>
                <a:effectLst/>
                <a:latin typeface="+mn-lt"/>
                <a:ea typeface="+mn-ea"/>
                <a:cs typeface="+mn-cs"/>
              </a:rPr>
              <a:t> list </a:t>
            </a:r>
            <a:r>
              <a:rPr lang="hr-HR" sz="1200" b="0" i="0" kern="1200" dirty="0" err="1">
                <a:solidFill>
                  <a:schemeClr val="tx1"/>
                </a:solidFill>
                <a:effectLst/>
                <a:latin typeface="+mn-lt"/>
                <a:ea typeface="+mn-ea"/>
                <a:cs typeface="+mn-cs"/>
              </a:rPr>
              <a:t>tasks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and</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schedule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them</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track</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activities</a:t>
            </a:r>
            <a:r>
              <a:rPr lang="hr-HR" sz="1200" b="0" i="0" kern="1200" dirty="0">
                <a:solidFill>
                  <a:schemeClr val="tx1"/>
                </a:solidFill>
                <a:effectLst/>
                <a:latin typeface="+mn-lt"/>
                <a:ea typeface="+mn-ea"/>
                <a:cs typeface="+mn-cs"/>
              </a:rPr>
              <a:t> </a:t>
            </a:r>
          </a:p>
          <a:p>
            <a:br>
              <a:rPr lang="hr-HR" sz="1200" b="0" i="0" kern="1200" dirty="0">
                <a:solidFill>
                  <a:schemeClr val="tx1"/>
                </a:solidFill>
                <a:effectLst/>
                <a:latin typeface="+mn-lt"/>
                <a:ea typeface="+mn-ea"/>
                <a:cs typeface="+mn-cs"/>
              </a:rPr>
            </a:br>
            <a:endParaRPr lang="hr-HR" sz="1200" b="0" i="0" kern="1200" dirty="0">
              <a:solidFill>
                <a:schemeClr val="tx1"/>
              </a:solidFill>
              <a:effectLst/>
              <a:latin typeface="+mn-lt"/>
              <a:ea typeface="+mn-ea"/>
              <a:cs typeface="+mn-cs"/>
            </a:endParaRPr>
          </a:p>
          <a:p>
            <a:r>
              <a:rPr lang="hr-HR" sz="1200" b="0" i="0" kern="1200" dirty="0" err="1">
                <a:solidFill>
                  <a:schemeClr val="tx1"/>
                </a:solidFill>
                <a:effectLst/>
                <a:latin typeface="+mn-lt"/>
                <a:ea typeface="+mn-ea"/>
                <a:cs typeface="+mn-cs"/>
              </a:rPr>
              <a:t>TeamGantt</a:t>
            </a:r>
            <a:r>
              <a:rPr lang="hr-HR" sz="1200" b="0" i="0" kern="1200" dirty="0">
                <a:solidFill>
                  <a:schemeClr val="tx1"/>
                </a:solidFill>
                <a:effectLst/>
                <a:latin typeface="+mn-lt"/>
                <a:ea typeface="+mn-ea"/>
                <a:cs typeface="+mn-cs"/>
              </a:rPr>
              <a:t> je digitalni alat koji omogućuje:</a:t>
            </a:r>
          </a:p>
          <a:p>
            <a:r>
              <a:rPr lang="hr-HR" sz="1200" b="0" i="0" kern="1200" dirty="0">
                <a:solidFill>
                  <a:schemeClr val="tx1"/>
                </a:solidFill>
                <a:effectLst/>
                <a:latin typeface="+mn-lt"/>
                <a:ea typeface="+mn-ea"/>
                <a:cs typeface="+mn-cs"/>
              </a:rPr>
              <a:t>izradu, dijeljenje i ažuriranje </a:t>
            </a:r>
            <a:r>
              <a:rPr lang="hr-HR" sz="1200" b="0" i="0" kern="1200" dirty="0" err="1">
                <a:solidFill>
                  <a:schemeClr val="tx1"/>
                </a:solidFill>
                <a:effectLst/>
                <a:latin typeface="+mn-lt"/>
                <a:ea typeface="+mn-ea"/>
                <a:cs typeface="+mn-cs"/>
              </a:rPr>
              <a:t>Gantt</a:t>
            </a:r>
            <a:r>
              <a:rPr lang="hr-HR" sz="1200" b="0" i="0" kern="1200" dirty="0">
                <a:solidFill>
                  <a:schemeClr val="tx1"/>
                </a:solidFill>
                <a:effectLst/>
                <a:latin typeface="+mn-lt"/>
                <a:ea typeface="+mn-ea"/>
                <a:cs typeface="+mn-cs"/>
              </a:rPr>
              <a:t> dijagrama</a:t>
            </a:r>
          </a:p>
          <a:p>
            <a:r>
              <a:rPr lang="hr-HR" sz="1200" b="0" i="0" kern="1200" dirty="0">
                <a:solidFill>
                  <a:schemeClr val="tx1"/>
                </a:solidFill>
                <a:effectLst/>
                <a:latin typeface="+mn-lt"/>
                <a:ea typeface="+mn-ea"/>
                <a:cs typeface="+mn-cs"/>
              </a:rPr>
              <a:t>reorganizaciju zadataka</a:t>
            </a:r>
          </a:p>
          <a:p>
            <a:r>
              <a:rPr lang="hr-HR" sz="1200" b="0" i="0" kern="1200" dirty="0">
                <a:solidFill>
                  <a:schemeClr val="tx1"/>
                </a:solidFill>
                <a:effectLst/>
                <a:latin typeface="+mn-lt"/>
                <a:ea typeface="+mn-ea"/>
                <a:cs typeface="+mn-cs"/>
              </a:rPr>
              <a:t>prikaz svih projekata u jednom prikazu</a:t>
            </a:r>
          </a:p>
          <a:p>
            <a:r>
              <a:rPr lang="hr-HR" sz="1200" b="0" i="0" kern="1200" dirty="0">
                <a:solidFill>
                  <a:schemeClr val="tx1"/>
                </a:solidFill>
                <a:effectLst/>
                <a:latin typeface="+mn-lt"/>
                <a:ea typeface="+mn-ea"/>
                <a:cs typeface="+mn-cs"/>
              </a:rPr>
              <a:t>upravljanje resursima, kontrolu budžeta i sprječavanje preopterećenja</a:t>
            </a:r>
          </a:p>
          <a:p>
            <a:r>
              <a:rPr lang="hr-HR" sz="1200" b="0" i="0" kern="1200" dirty="0">
                <a:solidFill>
                  <a:schemeClr val="tx1"/>
                </a:solidFill>
                <a:effectLst/>
                <a:latin typeface="+mn-lt"/>
                <a:ea typeface="+mn-ea"/>
                <a:cs typeface="+mn-cs"/>
              </a:rPr>
              <a:t>izradu izvještaja</a:t>
            </a:r>
          </a:p>
          <a:p>
            <a:r>
              <a:rPr lang="hr-HR" sz="1200" b="0" i="0" kern="1200" dirty="0">
                <a:solidFill>
                  <a:schemeClr val="tx1"/>
                </a:solidFill>
                <a:effectLst/>
                <a:latin typeface="+mn-lt"/>
                <a:ea typeface="+mn-ea"/>
                <a:cs typeface="+mn-cs"/>
              </a:rPr>
              <a:t>praćenje napretka u odnosu na plan i izradu projekcija</a:t>
            </a:r>
          </a:p>
          <a:p>
            <a:r>
              <a:rPr lang="hr-HR" sz="1200" b="0" i="0" kern="1200" dirty="0">
                <a:solidFill>
                  <a:schemeClr val="tx1"/>
                </a:solidFill>
                <a:effectLst/>
                <a:latin typeface="+mn-lt"/>
                <a:ea typeface="+mn-ea"/>
                <a:cs typeface="+mn-cs"/>
              </a:rPr>
              <a:t>popisivanje zadataka i njihovo planiranje</a:t>
            </a:r>
          </a:p>
          <a:p>
            <a:r>
              <a:rPr lang="hr-HR" sz="1200" b="0" i="0" kern="1200" dirty="0">
                <a:solidFill>
                  <a:schemeClr val="tx1"/>
                </a:solidFill>
                <a:effectLst/>
                <a:latin typeface="+mn-lt"/>
                <a:ea typeface="+mn-ea"/>
                <a:cs typeface="+mn-cs"/>
              </a:rPr>
              <a:t>praćenje aktivnosti</a:t>
            </a:r>
          </a:p>
          <a:p>
            <a:br>
              <a:rPr lang="hr-HR" sz="1200" b="0" i="0" kern="1200" dirty="0">
                <a:solidFill>
                  <a:schemeClr val="tx1"/>
                </a:solidFill>
                <a:effectLst/>
                <a:latin typeface="+mn-lt"/>
                <a:ea typeface="+mn-ea"/>
                <a:cs typeface="+mn-cs"/>
              </a:rPr>
            </a:br>
            <a:endParaRPr lang="hr-HR" sz="1200" b="0" i="0" kern="1200" dirty="0">
              <a:solidFill>
                <a:schemeClr val="tx1"/>
              </a:solidFill>
              <a:effectLst/>
              <a:latin typeface="+mn-lt"/>
              <a:ea typeface="+mn-ea"/>
              <a:cs typeface="+mn-cs"/>
            </a:endParaRPr>
          </a:p>
          <a:p>
            <a:r>
              <a:rPr lang="hr-HR" sz="1200" b="0" i="0" kern="1200" dirty="0">
                <a:solidFill>
                  <a:schemeClr val="tx1"/>
                </a:solidFill>
                <a:effectLst/>
                <a:latin typeface="+mn-lt"/>
                <a:ea typeface="+mn-ea"/>
                <a:cs typeface="+mn-cs"/>
              </a:rPr>
              <a:t>prevedi: Facilitator notes </a:t>
            </a:r>
            <a:r>
              <a:rPr lang="hr-HR" sz="1200" b="0" i="0" kern="1200" dirty="0" err="1">
                <a:solidFill>
                  <a:schemeClr val="tx1"/>
                </a:solidFill>
                <a:effectLst/>
                <a:latin typeface="+mn-lt"/>
                <a:ea typeface="+mn-ea"/>
                <a:cs typeface="+mn-cs"/>
              </a:rPr>
              <a:t>Introduce</a:t>
            </a:r>
            <a:r>
              <a:rPr lang="hr-HR" sz="1200" b="0" i="0" kern="1200" dirty="0">
                <a:solidFill>
                  <a:schemeClr val="tx1"/>
                </a:solidFill>
                <a:effectLst/>
                <a:latin typeface="+mn-lt"/>
                <a:ea typeface="+mn-ea"/>
                <a:cs typeface="+mn-cs"/>
              </a:rPr>
              <a:t> a </a:t>
            </a:r>
            <a:r>
              <a:rPr lang="hr-HR" sz="1200" b="0" i="0" kern="1200" dirty="0" err="1">
                <a:solidFill>
                  <a:schemeClr val="tx1"/>
                </a:solidFill>
                <a:effectLst/>
                <a:latin typeface="+mn-lt"/>
                <a:ea typeface="+mn-ea"/>
                <a:cs typeface="+mn-cs"/>
              </a:rPr>
              <a:t>digital</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tool</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example</a:t>
            </a:r>
            <a:r>
              <a:rPr lang="hr-HR" sz="1200" b="0" i="0" kern="1200" dirty="0">
                <a:solidFill>
                  <a:schemeClr val="tx1"/>
                </a:solidFill>
                <a:effectLst/>
                <a:latin typeface="+mn-lt"/>
                <a:ea typeface="+mn-ea"/>
                <a:cs typeface="+mn-cs"/>
              </a:rPr>
              <a:t> for </a:t>
            </a:r>
            <a:r>
              <a:rPr lang="hr-HR" sz="1200" b="0" i="0" kern="1200" dirty="0" err="1">
                <a:solidFill>
                  <a:schemeClr val="tx1"/>
                </a:solidFill>
                <a:effectLst/>
                <a:latin typeface="+mn-lt"/>
                <a:ea typeface="+mn-ea"/>
                <a:cs typeface="+mn-cs"/>
              </a:rPr>
              <a:t>Gantt</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planning</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and</a:t>
            </a:r>
            <a:r>
              <a:rPr lang="hr-HR" sz="1200" b="0" i="0" kern="1200" dirty="0">
                <a:solidFill>
                  <a:schemeClr val="tx1"/>
                </a:solidFill>
                <a:effectLst/>
                <a:latin typeface="+mn-lt"/>
                <a:ea typeface="+mn-ea"/>
                <a:cs typeface="+mn-cs"/>
              </a:rPr>
              <a:t> portfolio </a:t>
            </a:r>
            <a:r>
              <a:rPr lang="hr-HR" sz="1200" b="0" i="0" kern="1200" dirty="0" err="1">
                <a:solidFill>
                  <a:schemeClr val="tx1"/>
                </a:solidFill>
                <a:effectLst/>
                <a:latin typeface="+mn-lt"/>
                <a:ea typeface="+mn-ea"/>
                <a:cs typeface="+mn-cs"/>
              </a:rPr>
              <a:t>visibility</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Focus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less</a:t>
            </a:r>
            <a:r>
              <a:rPr lang="hr-HR" sz="1200" b="0" i="0" kern="1200" dirty="0">
                <a:solidFill>
                  <a:schemeClr val="tx1"/>
                </a:solidFill>
                <a:effectLst/>
                <a:latin typeface="+mn-lt"/>
                <a:ea typeface="+mn-ea"/>
                <a:cs typeface="+mn-cs"/>
              </a:rPr>
              <a:t> on </a:t>
            </a:r>
            <a:r>
              <a:rPr lang="hr-HR" sz="1200" b="0" i="0" kern="1200" dirty="0" err="1">
                <a:solidFill>
                  <a:schemeClr val="tx1"/>
                </a:solidFill>
                <a:effectLst/>
                <a:latin typeface="+mn-lt"/>
                <a:ea typeface="+mn-ea"/>
                <a:cs typeface="+mn-cs"/>
              </a:rPr>
              <a:t>the</a:t>
            </a:r>
            <a:r>
              <a:rPr lang="hr-HR" sz="1200" b="0" i="0" kern="1200" dirty="0">
                <a:solidFill>
                  <a:schemeClr val="tx1"/>
                </a:solidFill>
                <a:effectLst/>
                <a:latin typeface="+mn-lt"/>
                <a:ea typeface="+mn-ea"/>
                <a:cs typeface="+mn-cs"/>
              </a:rPr>
              <a:t> brand, more on </a:t>
            </a:r>
            <a:r>
              <a:rPr lang="hr-HR" sz="1200" b="0" i="0" kern="1200" dirty="0" err="1">
                <a:solidFill>
                  <a:schemeClr val="tx1"/>
                </a:solidFill>
                <a:effectLst/>
                <a:latin typeface="+mn-lt"/>
                <a:ea typeface="+mn-ea"/>
                <a:cs typeface="+mn-cs"/>
              </a:rPr>
              <a:t>capabilities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sharing</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updating</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resource</a:t>
            </a:r>
            <a:r>
              <a:rPr lang="hr-HR" sz="1200" b="0" i="0" kern="1200" dirty="0">
                <a:solidFill>
                  <a:schemeClr val="tx1"/>
                </a:solidFill>
                <a:effectLst/>
                <a:latin typeface="+mn-lt"/>
                <a:ea typeface="+mn-ea"/>
                <a:cs typeface="+mn-cs"/>
              </a:rPr>
              <a:t> management, </a:t>
            </a:r>
            <a:r>
              <a:rPr lang="hr-HR" sz="1200" b="0" i="0" kern="1200" dirty="0" err="1">
                <a:solidFill>
                  <a:schemeClr val="tx1"/>
                </a:solidFill>
                <a:effectLst/>
                <a:latin typeface="+mn-lt"/>
                <a:ea typeface="+mn-ea"/>
                <a:cs typeface="+mn-cs"/>
              </a:rPr>
              <a:t>reporting</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projections</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Additional</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resources</a:t>
            </a:r>
            <a:r>
              <a:rPr lang="hr-HR" sz="1200" b="0" i="0" kern="1200" dirty="0">
                <a:solidFill>
                  <a:schemeClr val="tx1"/>
                </a:solidFill>
                <a:effectLst/>
                <a:latin typeface="+mn-lt"/>
                <a:ea typeface="+mn-ea"/>
                <a:cs typeface="+mn-cs"/>
              </a:rPr>
              <a:t> https://www.teamgantt.com/ https://www.youtube.com/watch?v=P1H8-OYuGkY </a:t>
            </a:r>
          </a:p>
          <a:p>
            <a:br>
              <a:rPr lang="hr-HR" sz="1200" b="0" i="0" kern="1200" dirty="0">
                <a:solidFill>
                  <a:schemeClr val="tx1"/>
                </a:solidFill>
                <a:effectLst/>
                <a:latin typeface="+mn-lt"/>
                <a:ea typeface="+mn-ea"/>
                <a:cs typeface="+mn-cs"/>
              </a:rPr>
            </a:br>
            <a:endParaRPr lang="hr-HR" sz="1200" b="0" i="0" kern="1200" dirty="0">
              <a:solidFill>
                <a:schemeClr val="tx1"/>
              </a:solidFill>
              <a:effectLst/>
              <a:latin typeface="+mn-lt"/>
              <a:ea typeface="+mn-ea"/>
              <a:cs typeface="+mn-cs"/>
            </a:endParaRPr>
          </a:p>
          <a:p>
            <a:r>
              <a:rPr lang="hr-HR" sz="1200" b="0" i="0" kern="1200" dirty="0">
                <a:solidFill>
                  <a:schemeClr val="tx1"/>
                </a:solidFill>
                <a:effectLst/>
                <a:latin typeface="+mn-lt"/>
                <a:ea typeface="+mn-ea"/>
                <a:cs typeface="+mn-cs"/>
              </a:rPr>
              <a:t>Napomene za facilitatora</a:t>
            </a:r>
          </a:p>
          <a:p>
            <a:r>
              <a:rPr lang="hr-HR" sz="1200" b="0" i="0" kern="1200" dirty="0">
                <a:solidFill>
                  <a:schemeClr val="tx1"/>
                </a:solidFill>
                <a:effectLst/>
                <a:latin typeface="+mn-lt"/>
                <a:ea typeface="+mn-ea"/>
                <a:cs typeface="+mn-cs"/>
              </a:rPr>
              <a:t>Predstavite primjer digitalnog alata za </a:t>
            </a:r>
            <a:r>
              <a:rPr lang="hr-HR" sz="1200" b="0" i="0" kern="1200" dirty="0" err="1">
                <a:solidFill>
                  <a:schemeClr val="tx1"/>
                </a:solidFill>
                <a:effectLst/>
                <a:latin typeface="+mn-lt"/>
                <a:ea typeface="+mn-ea"/>
                <a:cs typeface="+mn-cs"/>
              </a:rPr>
              <a:t>Gantt</a:t>
            </a:r>
            <a:r>
              <a:rPr lang="hr-HR" sz="1200" b="0" i="0" kern="1200" dirty="0">
                <a:solidFill>
                  <a:schemeClr val="tx1"/>
                </a:solidFill>
                <a:effectLst/>
                <a:latin typeface="+mn-lt"/>
                <a:ea typeface="+mn-ea"/>
                <a:cs typeface="+mn-cs"/>
              </a:rPr>
              <a:t> planiranje i pregled portfelja.</a:t>
            </a:r>
          </a:p>
          <a:p>
            <a:r>
              <a:rPr lang="hr-HR" sz="1200" b="0" i="0" kern="1200" dirty="0">
                <a:solidFill>
                  <a:schemeClr val="tx1"/>
                </a:solidFill>
                <a:effectLst/>
                <a:latin typeface="+mn-lt"/>
                <a:ea typeface="+mn-ea"/>
                <a:cs typeface="+mn-cs"/>
              </a:rPr>
              <a:t>Fokusirajte se manje na brend, a više na mogućnosti: dijeljenje, ažuriranje, upravljanje resursima, izvještavanje i izrada projekcija.</a:t>
            </a:r>
          </a:p>
          <a:p>
            <a:r>
              <a:rPr lang="hr-HR" sz="1200" b="0" i="0" kern="1200" dirty="0">
                <a:solidFill>
                  <a:schemeClr val="tx1"/>
                </a:solidFill>
                <a:effectLst/>
                <a:latin typeface="+mn-lt"/>
                <a:ea typeface="+mn-ea"/>
                <a:cs typeface="+mn-cs"/>
              </a:rPr>
              <a:t>Dodatni resursi:</a:t>
            </a:r>
            <a:br>
              <a:rPr lang="hr-HR" sz="1200" b="0" i="0" kern="1200" dirty="0">
                <a:solidFill>
                  <a:schemeClr val="tx1"/>
                </a:solidFill>
                <a:effectLst/>
                <a:latin typeface="+mn-lt"/>
                <a:ea typeface="+mn-ea"/>
                <a:cs typeface="+mn-cs"/>
              </a:rPr>
            </a:br>
            <a:r>
              <a:rPr lang="hr-HR" sz="1200" b="0" i="0" kern="1200" dirty="0">
                <a:solidFill>
                  <a:schemeClr val="tx1"/>
                </a:solidFill>
                <a:effectLst/>
                <a:latin typeface="+mn-lt"/>
                <a:ea typeface="+mn-ea"/>
                <a:cs typeface="+mn-cs"/>
                <a:hlinkClick r:id="rId31"/>
              </a:rPr>
              <a:t>https://www.teamgantt.com/</a:t>
            </a:r>
            <a:br>
              <a:rPr lang="hr-HR" sz="1200" b="0" i="0" kern="1200" dirty="0">
                <a:solidFill>
                  <a:schemeClr val="tx1"/>
                </a:solidFill>
                <a:effectLst/>
                <a:latin typeface="+mn-lt"/>
                <a:ea typeface="+mn-ea"/>
                <a:cs typeface="+mn-cs"/>
              </a:rPr>
            </a:br>
            <a:r>
              <a:rPr lang="hr-HR" sz="1200" b="0" i="0" kern="1200" dirty="0">
                <a:solidFill>
                  <a:schemeClr val="tx1"/>
                </a:solidFill>
                <a:effectLst/>
                <a:latin typeface="+mn-lt"/>
                <a:ea typeface="+mn-ea"/>
                <a:cs typeface="+mn-cs"/>
                <a:hlinkClick r:id="rId32"/>
              </a:rPr>
              <a:t>https://www.youtube.com/watch?v=P1H8-OYuGkY</a:t>
            </a:r>
            <a:endParaRPr lang="hr-HR" sz="1200" b="0" i="0" kern="1200" dirty="0">
              <a:solidFill>
                <a:schemeClr val="tx1"/>
              </a:solidFill>
              <a:effectLst/>
              <a:latin typeface="+mn-lt"/>
              <a:ea typeface="+mn-ea"/>
              <a:cs typeface="+mn-cs"/>
            </a:endParaRPr>
          </a:p>
          <a:p>
            <a:br>
              <a:rPr lang="hr-HR" dirty="0"/>
            </a:b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hr-HR" dirty="0"/>
              <a:t>Napomene za facilitatora</a:t>
            </a:r>
          </a:p>
          <a:p>
            <a:r>
              <a:rPr lang="hr-HR" dirty="0"/>
              <a:t>Prikažite primjer alata koji podržava i </a:t>
            </a:r>
            <a:r>
              <a:rPr lang="hr-HR" dirty="0" err="1"/>
              <a:t>Agile</a:t>
            </a:r>
            <a:r>
              <a:rPr lang="hr-HR" dirty="0"/>
              <a:t> artefakte (</a:t>
            </a:r>
            <a:r>
              <a:rPr lang="hr-HR" dirty="0" err="1"/>
              <a:t>backlog</a:t>
            </a:r>
            <a:r>
              <a:rPr lang="hr-HR" dirty="0"/>
              <a:t>, story </a:t>
            </a:r>
            <a:r>
              <a:rPr lang="hr-HR" dirty="0" err="1"/>
              <a:t>points</a:t>
            </a:r>
            <a:r>
              <a:rPr lang="hr-HR" dirty="0"/>
              <a:t>, </a:t>
            </a:r>
            <a:r>
              <a:rPr lang="hr-HR" dirty="0" err="1"/>
              <a:t>burndown</a:t>
            </a:r>
            <a:r>
              <a:rPr lang="hr-HR" dirty="0"/>
              <a:t>) i tradicionalnije prikaze upravljanja projektima.</a:t>
            </a:r>
          </a:p>
          <a:p>
            <a:r>
              <a:rPr lang="hr-HR" dirty="0"/>
              <a:t>Povežite funkcionalnosti s potrebama: upravljanje </a:t>
            </a:r>
            <a:r>
              <a:rPr lang="hr-HR" dirty="0" err="1"/>
              <a:t>backlogom</a:t>
            </a:r>
            <a:r>
              <a:rPr lang="hr-HR" dirty="0"/>
              <a:t>, procjena, </a:t>
            </a:r>
            <a:r>
              <a:rPr lang="hr-HR" dirty="0" err="1"/>
              <a:t>burndown</a:t>
            </a:r>
            <a:r>
              <a:rPr lang="hr-HR" dirty="0"/>
              <a:t>, praćenje prepreka (</a:t>
            </a:r>
            <a:r>
              <a:rPr lang="hr-HR" dirty="0" err="1"/>
              <a:t>impediments</a:t>
            </a:r>
            <a:r>
              <a:rPr lang="hr-HR" dirty="0"/>
              <a:t>), prikaz u kalendaru/</a:t>
            </a:r>
            <a:r>
              <a:rPr lang="hr-HR" dirty="0" err="1"/>
              <a:t>boardu</a:t>
            </a:r>
            <a:r>
              <a:rPr lang="hr-HR" dirty="0"/>
              <a:t>.</a:t>
            </a:r>
          </a:p>
          <a:p>
            <a:r>
              <a:rPr lang="hr-HR" dirty="0"/>
              <a:t>Dodatni resursi:</a:t>
            </a:r>
            <a:br>
              <a:rPr lang="hr-HR" dirty="0"/>
            </a:br>
            <a:r>
              <a:rPr lang="hr-HR" dirty="0">
                <a:hlinkClick r:id="rId3"/>
              </a:rPr>
              <a:t>https://www.openproject.org/</a:t>
            </a:r>
            <a:br>
              <a:rPr lang="hr-HR" dirty="0"/>
            </a:br>
            <a:r>
              <a:rPr lang="hr-HR" dirty="0">
                <a:hlinkClick r:id="rId4"/>
              </a:rPr>
              <a:t>https://www.youtube.com/watch?v=HloYka2zB8I</a:t>
            </a:r>
            <a:endParaRPr lang="hr-HR" dirty="0"/>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hr-HR" dirty="0"/>
              <a:t>Napomene za facilitatora</a:t>
            </a:r>
          </a:p>
          <a:p>
            <a:r>
              <a:rPr lang="hr-HR" dirty="0"/>
              <a:t>Objasnite Sprint ciljeve kao mini-</a:t>
            </a:r>
            <a:r>
              <a:rPr lang="hr-HR" dirty="0" err="1"/>
              <a:t>milestone</a:t>
            </a:r>
            <a:r>
              <a:rPr lang="hr-HR" dirty="0"/>
              <a:t> (često usklađene s epicima). Praćenje postotka dovršenosti služi kao alat za komunikaciju – a ne kao precizna metrika.</a:t>
            </a:r>
          </a:p>
          <a:p>
            <a:r>
              <a:rPr lang="hr-HR" dirty="0"/>
              <a:t>Potičite ograničenje na 3–5 Sprint ciljeva kako bi se zadržao fokus i izbjeglo pretvaranje u birokratsko izvještavanje.</a:t>
            </a:r>
          </a:p>
          <a:p>
            <a:r>
              <a:rPr lang="hr-HR" dirty="0"/>
              <a:t>Dodatni resursi:</a:t>
            </a:r>
            <a:br>
              <a:rPr lang="hr-HR" dirty="0"/>
            </a:br>
            <a:r>
              <a:rPr lang="hr-HR" dirty="0">
                <a:hlinkClick r:id="rId3"/>
              </a:rPr>
              <a:t>https://www.scrum.org/resources/what-sprint-goal</a:t>
            </a:r>
            <a:br>
              <a:rPr lang="hr-HR" dirty="0"/>
            </a:br>
            <a:r>
              <a:rPr lang="hr-HR" dirty="0">
                <a:hlinkClick r:id="rId4"/>
              </a:rPr>
              <a:t>https://www.mountaingoatsoftware.com/blog/the-sprint-goal-what-it-is-and-how-it-can-help</a:t>
            </a:r>
            <a:endParaRPr lang="hr-HR" dirty="0"/>
          </a:p>
        </p:txBody>
      </p:sp>
      <p:sp>
        <p:nvSpPr>
          <p:cNvPr id="4" name="Segnaposto numero diapositiva 3"/>
          <p:cNvSpPr>
            <a:spLocks noGrp="1"/>
          </p:cNvSpPr>
          <p:nvPr>
            <p:ph type="sldNum" sz="quarter" idx="5"/>
          </p:nvPr>
        </p:nvSpPr>
        <p:spPr/>
        <p:txBody>
          <a:bodyPr/>
          <a:lstStyle/>
          <a:p>
            <a:fld id="{E93233AA-5D9D-4B19-AE31-9919BB97DFE7}" type="slidenum">
              <a:rPr lang="en-GB" smtClean="0"/>
              <a:t>34</a:t>
            </a:fld>
            <a:endParaRPr lang="en-GB"/>
          </a:p>
        </p:txBody>
      </p:sp>
    </p:spTree>
    <p:extLst>
      <p:ext uri="{BB962C8B-B14F-4D97-AF65-F5344CB8AC3E}">
        <p14:creationId xmlns:p14="http://schemas.microsoft.com/office/powerpoint/2010/main" val="102993056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dirty="0"/>
          </a:p>
        </p:txBody>
      </p:sp>
      <p:sp>
        <p:nvSpPr>
          <p:cNvPr id="4" name="Segnaposto numero diapositiva 3"/>
          <p:cNvSpPr>
            <a:spLocks noGrp="1"/>
          </p:cNvSpPr>
          <p:nvPr>
            <p:ph type="sldNum" sz="quarter" idx="5"/>
          </p:nvPr>
        </p:nvSpPr>
        <p:spPr/>
        <p:txBody>
          <a:bodyPr/>
          <a:lstStyle/>
          <a:p>
            <a:fld id="{E93233AA-5D9D-4B19-AE31-9919BB97DFE7}" type="slidenum">
              <a:rPr lang="en-GB" smtClean="0"/>
              <a:t>35</a:t>
            </a:fld>
            <a:endParaRPr lang="en-GB"/>
          </a:p>
        </p:txBody>
      </p:sp>
    </p:spTree>
    <p:extLst>
      <p:ext uri="{BB962C8B-B14F-4D97-AF65-F5344CB8AC3E}">
        <p14:creationId xmlns:p14="http://schemas.microsoft.com/office/powerpoint/2010/main" val="257051829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hr-HR" dirty="0"/>
              <a:t>Napomene za facilitatora</a:t>
            </a:r>
          </a:p>
          <a:p>
            <a:r>
              <a:rPr lang="hr-HR" dirty="0"/>
              <a:t>Predstavite obrasce koordinacije za više timova.</a:t>
            </a:r>
          </a:p>
          <a:p>
            <a:r>
              <a:rPr lang="hr-HR" dirty="0"/>
              <a:t>Definirajte:</a:t>
            </a:r>
          </a:p>
          <a:p>
            <a:r>
              <a:rPr lang="hr-HR" dirty="0"/>
              <a:t>Opće značenje: skaliranje </a:t>
            </a:r>
            <a:r>
              <a:rPr lang="hr-HR" dirty="0" err="1"/>
              <a:t>Scruma</a:t>
            </a:r>
            <a:r>
              <a:rPr lang="hr-HR" dirty="0"/>
              <a:t> kroz </a:t>
            </a:r>
            <a:r>
              <a:rPr lang="hr-HR" dirty="0" err="1"/>
              <a:t>međutimske</a:t>
            </a:r>
            <a:r>
              <a:rPr lang="hr-HR" dirty="0"/>
              <a:t> koordinacije. </a:t>
            </a:r>
          </a:p>
          <a:p>
            <a:r>
              <a:rPr lang="hr-HR" dirty="0"/>
              <a:t>Specifično značenje: redoviti sastanak </a:t>
            </a:r>
            <a:r>
              <a:rPr lang="hr-HR" dirty="0" err="1"/>
              <a:t>Scrum</a:t>
            </a:r>
            <a:r>
              <a:rPr lang="hr-HR" dirty="0"/>
              <a:t> Mastera radi razmjene ovisnosti i prepreka. </a:t>
            </a:r>
          </a:p>
          <a:p>
            <a:r>
              <a:rPr lang="hr-HR" dirty="0" err="1"/>
              <a:t>Scrum</a:t>
            </a:r>
            <a:r>
              <a:rPr lang="hr-HR" dirty="0"/>
              <a:t> </a:t>
            </a:r>
            <a:r>
              <a:rPr lang="hr-HR" dirty="0" err="1"/>
              <a:t>of</a:t>
            </a:r>
            <a:r>
              <a:rPr lang="hr-HR" dirty="0"/>
              <a:t> </a:t>
            </a:r>
            <a:r>
              <a:rPr lang="hr-HR" dirty="0" err="1"/>
              <a:t>Scrums</a:t>
            </a:r>
            <a:r>
              <a:rPr lang="hr-HR" dirty="0"/>
              <a:t> nije statusni sastanak; on služi za upravljanje </a:t>
            </a:r>
            <a:r>
              <a:rPr lang="hr-HR" dirty="0" err="1"/>
              <a:t>međutimski</a:t>
            </a:r>
            <a:r>
              <a:rPr lang="hr-HR" dirty="0"/>
              <a:t> ovisnostima.</a:t>
            </a:r>
          </a:p>
          <a:p>
            <a:r>
              <a:rPr lang="hr-HR" dirty="0"/>
              <a:t>Dodatni resursi:</a:t>
            </a:r>
            <a:br>
              <a:rPr lang="hr-HR" dirty="0"/>
            </a:br>
            <a:r>
              <a:rPr lang="hr-HR" dirty="0">
                <a:hlinkClick r:id="rId3"/>
              </a:rPr>
              <a:t>https://www.scrumalliance.org/glossary/scrum-of-scrums</a:t>
            </a:r>
            <a:br>
              <a:rPr lang="hr-HR" dirty="0"/>
            </a:br>
            <a:r>
              <a:rPr lang="hr-HR" dirty="0">
                <a:hlinkClick r:id="rId4"/>
              </a:rPr>
              <a:t>https://echometerapp.com/en/scrum-of-scrums/</a:t>
            </a:r>
            <a:br>
              <a:rPr lang="hr-HR" dirty="0"/>
            </a:br>
            <a:r>
              <a:rPr lang="hr-HR" dirty="0">
                <a:hlinkClick r:id="rId5"/>
              </a:rPr>
              <a:t>https://www.atlassian.com/agile/scrum/scrum-of-scrums</a:t>
            </a:r>
            <a:endParaRPr lang="hr-HR" dirty="0"/>
          </a:p>
        </p:txBody>
      </p:sp>
      <p:sp>
        <p:nvSpPr>
          <p:cNvPr id="4" name="Segnaposto numero diapositiva 3"/>
          <p:cNvSpPr>
            <a:spLocks noGrp="1"/>
          </p:cNvSpPr>
          <p:nvPr>
            <p:ph type="sldNum" sz="quarter" idx="5"/>
          </p:nvPr>
        </p:nvSpPr>
        <p:spPr/>
        <p:txBody>
          <a:bodyPr/>
          <a:lstStyle/>
          <a:p>
            <a:fld id="{E93233AA-5D9D-4B19-AE31-9919BB97DFE7}" type="slidenum">
              <a:rPr lang="en-GB" smtClean="0"/>
              <a:t>36</a:t>
            </a:fld>
            <a:endParaRPr lang="en-GB"/>
          </a:p>
        </p:txBody>
      </p:sp>
    </p:spTree>
    <p:extLst>
      <p:ext uri="{BB962C8B-B14F-4D97-AF65-F5344CB8AC3E}">
        <p14:creationId xmlns:p14="http://schemas.microsoft.com/office/powerpoint/2010/main" val="283831308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dirty="0"/>
          </a:p>
        </p:txBody>
      </p:sp>
      <p:sp>
        <p:nvSpPr>
          <p:cNvPr id="4" name="Segnaposto numero diapositiva 3"/>
          <p:cNvSpPr>
            <a:spLocks noGrp="1"/>
          </p:cNvSpPr>
          <p:nvPr>
            <p:ph type="sldNum" sz="quarter" idx="5"/>
          </p:nvPr>
        </p:nvSpPr>
        <p:spPr/>
        <p:txBody>
          <a:bodyPr/>
          <a:lstStyle/>
          <a:p>
            <a:fld id="{E93233AA-5D9D-4B19-AE31-9919BB97DFE7}" type="slidenum">
              <a:rPr lang="en-GB" smtClean="0"/>
              <a:t>37</a:t>
            </a:fld>
            <a:endParaRPr lang="en-GB"/>
          </a:p>
        </p:txBody>
      </p:sp>
    </p:spTree>
    <p:extLst>
      <p:ext uri="{BB962C8B-B14F-4D97-AF65-F5344CB8AC3E}">
        <p14:creationId xmlns:p14="http://schemas.microsoft.com/office/powerpoint/2010/main" val="289758515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hr-HR" dirty="0"/>
              <a:t>Napomene za facilitatora</a:t>
            </a:r>
          </a:p>
          <a:p>
            <a:r>
              <a:rPr lang="hr-HR" dirty="0"/>
              <a:t>Naglasite dnevni red:</a:t>
            </a:r>
          </a:p>
          <a:p>
            <a:r>
              <a:rPr lang="hr-HR" dirty="0"/>
              <a:t>Što se dogodilo </a:t>
            </a:r>
          </a:p>
          <a:p>
            <a:r>
              <a:rPr lang="hr-HR" dirty="0"/>
              <a:t>Što slijedi </a:t>
            </a:r>
          </a:p>
          <a:p>
            <a:r>
              <a:rPr lang="hr-HR" dirty="0"/>
              <a:t>Blokade / ovisnosti </a:t>
            </a:r>
          </a:p>
          <a:p>
            <a:r>
              <a:rPr lang="hr-HR" dirty="0"/>
              <a:t>Rizici integracije </a:t>
            </a:r>
          </a:p>
          <a:p>
            <a:r>
              <a:rPr lang="hr-HR" dirty="0"/>
              <a:t>Održavajte sastanak kratkim i usmjerenim na akciju; bilježite odluke i odgovorne osobe.</a:t>
            </a:r>
          </a:p>
        </p:txBody>
      </p:sp>
      <p:sp>
        <p:nvSpPr>
          <p:cNvPr id="4" name="Segnaposto numero diapositiva 3"/>
          <p:cNvSpPr>
            <a:spLocks noGrp="1"/>
          </p:cNvSpPr>
          <p:nvPr>
            <p:ph type="sldNum" sz="quarter" idx="5"/>
          </p:nvPr>
        </p:nvSpPr>
        <p:spPr/>
        <p:txBody>
          <a:bodyPr/>
          <a:lstStyle/>
          <a:p>
            <a:fld id="{E93233AA-5D9D-4B19-AE31-9919BB97DFE7}" type="slidenum">
              <a:rPr lang="en-GB" smtClean="0"/>
              <a:t>38</a:t>
            </a:fld>
            <a:endParaRPr lang="en-GB"/>
          </a:p>
        </p:txBody>
      </p:sp>
    </p:spTree>
    <p:extLst>
      <p:ext uri="{BB962C8B-B14F-4D97-AF65-F5344CB8AC3E}">
        <p14:creationId xmlns:p14="http://schemas.microsoft.com/office/powerpoint/2010/main" val="73293393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hr-HR" dirty="0"/>
              <a:t>Napomene za facilitatora</a:t>
            </a:r>
          </a:p>
          <a:p>
            <a:r>
              <a:rPr lang="hr-HR" dirty="0"/>
              <a:t>Pojasnite da je ovaj sastanak namijenjen razmjeni informacija i usklađivanju, a ne detaljnom rješavanju problema.</a:t>
            </a:r>
          </a:p>
          <a:p>
            <a:r>
              <a:rPr lang="hr-HR" dirty="0"/>
              <a:t>Ako postane predug, podijelite ga u manje, tematski relevantne forume.</a:t>
            </a:r>
          </a:p>
        </p:txBody>
      </p:sp>
      <p:sp>
        <p:nvSpPr>
          <p:cNvPr id="4" name="Segnaposto numero diapositiva 3"/>
          <p:cNvSpPr>
            <a:spLocks noGrp="1"/>
          </p:cNvSpPr>
          <p:nvPr>
            <p:ph type="sldNum" sz="quarter" idx="5"/>
          </p:nvPr>
        </p:nvSpPr>
        <p:spPr/>
        <p:txBody>
          <a:bodyPr/>
          <a:lstStyle/>
          <a:p>
            <a:fld id="{E93233AA-5D9D-4B19-AE31-9919BB97DFE7}" type="slidenum">
              <a:rPr lang="en-GB" smtClean="0"/>
              <a:t>39</a:t>
            </a:fld>
            <a:endParaRPr lang="en-GB"/>
          </a:p>
        </p:txBody>
      </p:sp>
    </p:spTree>
    <p:extLst>
      <p:ext uri="{BB962C8B-B14F-4D97-AF65-F5344CB8AC3E}">
        <p14:creationId xmlns:p14="http://schemas.microsoft.com/office/powerpoint/2010/main" val="428594901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hr-HR" dirty="0"/>
              <a:t>Napomene za facilitatora</a:t>
            </a:r>
          </a:p>
          <a:p>
            <a:r>
              <a:rPr lang="hr-HR" dirty="0"/>
              <a:t>Objasnite zašto skaliranje povećava složenost koordinacije i zašto je struktura timova važna.</a:t>
            </a:r>
          </a:p>
          <a:p>
            <a:r>
              <a:rPr lang="hr-HR" dirty="0"/>
              <a:t>Naglasite princip: više ljudi → više komunikacijskih kanala → više trenja. Stoga timove treba dizajnirati namjerno i promišljeno.</a:t>
            </a:r>
          </a:p>
          <a:p>
            <a:r>
              <a:rPr lang="hr-HR" dirty="0"/>
              <a:t>Dodatni resursi:</a:t>
            </a:r>
            <a:br>
              <a:rPr lang="hr-HR" dirty="0"/>
            </a:br>
            <a:r>
              <a:rPr lang="hr-HR" dirty="0">
                <a:hlinkClick r:id="rId3"/>
              </a:rPr>
              <a:t>https://www.agilesocks.com/splitting-multiple-scrum-teams/h</a:t>
            </a:r>
            <a:endParaRPr lang="hr-HR" dirty="0"/>
          </a:p>
        </p:txBody>
      </p:sp>
      <p:sp>
        <p:nvSpPr>
          <p:cNvPr id="4" name="Segnaposto numero diapositiva 3"/>
          <p:cNvSpPr>
            <a:spLocks noGrp="1"/>
          </p:cNvSpPr>
          <p:nvPr>
            <p:ph type="sldNum" sz="quarter" idx="5"/>
          </p:nvPr>
        </p:nvSpPr>
        <p:spPr/>
        <p:txBody>
          <a:bodyPr/>
          <a:lstStyle/>
          <a:p>
            <a:fld id="{E93233AA-5D9D-4B19-AE31-9919BB97DFE7}" type="slidenum">
              <a:rPr lang="en-GB" smtClean="0"/>
              <a:t>40</a:t>
            </a:fld>
            <a:endParaRPr lang="en-GB"/>
          </a:p>
        </p:txBody>
      </p:sp>
    </p:spTree>
    <p:extLst>
      <p:ext uri="{BB962C8B-B14F-4D97-AF65-F5344CB8AC3E}">
        <p14:creationId xmlns:p14="http://schemas.microsoft.com/office/powerpoint/2010/main" val="122279354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dirty="0"/>
          </a:p>
        </p:txBody>
      </p:sp>
      <p:sp>
        <p:nvSpPr>
          <p:cNvPr id="4" name="Segnaposto numero diapositiva 3"/>
          <p:cNvSpPr>
            <a:spLocks noGrp="1"/>
          </p:cNvSpPr>
          <p:nvPr>
            <p:ph type="sldNum" sz="quarter" idx="5"/>
          </p:nvPr>
        </p:nvSpPr>
        <p:spPr/>
        <p:txBody>
          <a:bodyPr/>
          <a:lstStyle/>
          <a:p>
            <a:fld id="{E93233AA-5D9D-4B19-AE31-9919BB97DFE7}" type="slidenum">
              <a:rPr lang="en-GB" smtClean="0"/>
              <a:t>41</a:t>
            </a:fld>
            <a:endParaRPr lang="en-GB"/>
          </a:p>
        </p:txBody>
      </p:sp>
    </p:spTree>
    <p:extLst>
      <p:ext uri="{BB962C8B-B14F-4D97-AF65-F5344CB8AC3E}">
        <p14:creationId xmlns:p14="http://schemas.microsoft.com/office/powerpoint/2010/main" val="38292364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pl-PL" dirty="0"/>
              <a:t>Napomene za facilitatora</a:t>
            </a:r>
          </a:p>
          <a:p>
            <a:r>
              <a:rPr lang="pl-PL" dirty="0"/>
              <a:t>Dodatni resursi:</a:t>
            </a:r>
            <a:br>
              <a:rPr lang="pl-PL" dirty="0"/>
            </a:br>
            <a:r>
              <a:rPr lang="pl-PL" dirty="0">
                <a:hlinkClick r:id="rId3"/>
              </a:rPr>
              <a:t>https://attico.io/insights/synchronized-sprints</a:t>
            </a:r>
            <a:br>
              <a:rPr lang="pl-PL" dirty="0"/>
            </a:br>
            <a:r>
              <a:rPr lang="pl-PL" dirty="0">
                <a:hlinkClick r:id="rId4"/>
              </a:rPr>
              <a:t>https://medium.com/leadership-forge/when-to-synchronize-sprints-9606c3d7e55b</a:t>
            </a:r>
            <a:endParaRPr lang="pl-PL" dirty="0"/>
          </a:p>
        </p:txBody>
      </p:sp>
      <p:sp>
        <p:nvSpPr>
          <p:cNvPr id="4" name="Segnaposto numero diapositiva 3"/>
          <p:cNvSpPr>
            <a:spLocks noGrp="1"/>
          </p:cNvSpPr>
          <p:nvPr>
            <p:ph type="sldNum" sz="quarter" idx="5"/>
          </p:nvPr>
        </p:nvSpPr>
        <p:spPr/>
        <p:txBody>
          <a:bodyPr/>
          <a:lstStyle/>
          <a:p>
            <a:fld id="{E93233AA-5D9D-4B19-AE31-9919BB97DFE7}" type="slidenum">
              <a:rPr lang="en-GB" smtClean="0"/>
              <a:t>43</a:t>
            </a:fld>
            <a:endParaRPr lang="en-GB"/>
          </a:p>
        </p:txBody>
      </p:sp>
    </p:spTree>
    <p:extLst>
      <p:ext uri="{BB962C8B-B14F-4D97-AF65-F5344CB8AC3E}">
        <p14:creationId xmlns:p14="http://schemas.microsoft.com/office/powerpoint/2010/main" val="164767013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dirty="0"/>
          </a:p>
        </p:txBody>
      </p:sp>
      <p:sp>
        <p:nvSpPr>
          <p:cNvPr id="4" name="Segnaposto numero diapositiva 3"/>
          <p:cNvSpPr>
            <a:spLocks noGrp="1"/>
          </p:cNvSpPr>
          <p:nvPr>
            <p:ph type="sldNum" sz="quarter" idx="5"/>
          </p:nvPr>
        </p:nvSpPr>
        <p:spPr/>
        <p:txBody>
          <a:bodyPr/>
          <a:lstStyle/>
          <a:p>
            <a:fld id="{E93233AA-5D9D-4B19-AE31-9919BB97DFE7}" type="slidenum">
              <a:rPr lang="en-GB" smtClean="0"/>
              <a:t>44</a:t>
            </a:fld>
            <a:endParaRPr lang="en-GB"/>
          </a:p>
        </p:txBody>
      </p:sp>
    </p:spTree>
    <p:extLst>
      <p:ext uri="{BB962C8B-B14F-4D97-AF65-F5344CB8AC3E}">
        <p14:creationId xmlns:p14="http://schemas.microsoft.com/office/powerpoint/2010/main" val="160061578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dirty="0"/>
          </a:p>
        </p:txBody>
      </p:sp>
      <p:sp>
        <p:nvSpPr>
          <p:cNvPr id="4" name="Segnaposto numero diapositiva 3"/>
          <p:cNvSpPr>
            <a:spLocks noGrp="1"/>
          </p:cNvSpPr>
          <p:nvPr>
            <p:ph type="sldNum" sz="quarter" idx="5"/>
          </p:nvPr>
        </p:nvSpPr>
        <p:spPr/>
        <p:txBody>
          <a:bodyPr/>
          <a:lstStyle/>
          <a:p>
            <a:fld id="{E93233AA-5D9D-4B19-AE31-9919BB97DFE7}" type="slidenum">
              <a:rPr lang="en-GB" smtClean="0"/>
              <a:t>45</a:t>
            </a:fld>
            <a:endParaRPr lang="en-GB"/>
          </a:p>
        </p:txBody>
      </p:sp>
    </p:spTree>
    <p:extLst>
      <p:ext uri="{BB962C8B-B14F-4D97-AF65-F5344CB8AC3E}">
        <p14:creationId xmlns:p14="http://schemas.microsoft.com/office/powerpoint/2010/main" val="391235693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dirty="0"/>
          </a:p>
        </p:txBody>
      </p:sp>
      <p:sp>
        <p:nvSpPr>
          <p:cNvPr id="4" name="Segnaposto numero diapositiva 3"/>
          <p:cNvSpPr>
            <a:spLocks noGrp="1"/>
          </p:cNvSpPr>
          <p:nvPr>
            <p:ph type="sldNum" sz="quarter" idx="5"/>
          </p:nvPr>
        </p:nvSpPr>
        <p:spPr/>
        <p:txBody>
          <a:bodyPr/>
          <a:lstStyle/>
          <a:p>
            <a:fld id="{E93233AA-5D9D-4B19-AE31-9919BB97DFE7}" type="slidenum">
              <a:rPr lang="en-GB" smtClean="0"/>
              <a:t>46</a:t>
            </a:fld>
            <a:endParaRPr lang="en-GB"/>
          </a:p>
        </p:txBody>
      </p:sp>
    </p:spTree>
    <p:extLst>
      <p:ext uri="{BB962C8B-B14F-4D97-AF65-F5344CB8AC3E}">
        <p14:creationId xmlns:p14="http://schemas.microsoft.com/office/powerpoint/2010/main" val="248362475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dirty="0"/>
          </a:p>
        </p:txBody>
      </p:sp>
      <p:sp>
        <p:nvSpPr>
          <p:cNvPr id="4" name="Segnaposto numero diapositiva 3"/>
          <p:cNvSpPr>
            <a:spLocks noGrp="1"/>
          </p:cNvSpPr>
          <p:nvPr>
            <p:ph type="sldNum" sz="quarter" idx="5"/>
          </p:nvPr>
        </p:nvSpPr>
        <p:spPr/>
        <p:txBody>
          <a:bodyPr/>
          <a:lstStyle/>
          <a:p>
            <a:fld id="{E93233AA-5D9D-4B19-AE31-9919BB97DFE7}" type="slidenum">
              <a:rPr lang="en-GB" smtClean="0"/>
              <a:t>47</a:t>
            </a:fld>
            <a:endParaRPr lang="en-GB"/>
          </a:p>
        </p:txBody>
      </p:sp>
    </p:spTree>
    <p:extLst>
      <p:ext uri="{BB962C8B-B14F-4D97-AF65-F5344CB8AC3E}">
        <p14:creationId xmlns:p14="http://schemas.microsoft.com/office/powerpoint/2010/main" val="404701638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hr-HR" dirty="0"/>
              <a:t>Napomene za facilitatora</a:t>
            </a:r>
          </a:p>
          <a:p>
            <a:r>
              <a:rPr lang="hr-HR" dirty="0"/>
              <a:t>Prikažite praktičnu operativnu </a:t>
            </a:r>
            <a:r>
              <a:rPr lang="hr-HR" dirty="0" err="1"/>
              <a:t>check</a:t>
            </a:r>
            <a:r>
              <a:rPr lang="hr-HR" dirty="0"/>
              <a:t>-listu za nesmetano funkcioniranje </a:t>
            </a:r>
            <a:r>
              <a:rPr lang="hr-HR" dirty="0" err="1"/>
              <a:t>Scruma</a:t>
            </a:r>
            <a:r>
              <a:rPr lang="hr-HR" dirty="0"/>
              <a:t>.</a:t>
            </a:r>
          </a:p>
          <a:p>
            <a:r>
              <a:rPr lang="hr-HR" dirty="0"/>
              <a:t>Koristite je kao referencu, a ne kao kruti postupak. Naglasite nekoliko ključnih navika:</a:t>
            </a:r>
          </a:p>
          <a:p>
            <a:r>
              <a:rPr lang="hr-HR" dirty="0"/>
              <a:t>komunikacija početka sprinta i cilja </a:t>
            </a:r>
          </a:p>
          <a:p>
            <a:r>
              <a:rPr lang="hr-HR" dirty="0"/>
              <a:t>održavanje urednosti </a:t>
            </a:r>
            <a:r>
              <a:rPr lang="hr-HR" dirty="0" err="1"/>
              <a:t>backlog</a:t>
            </a:r>
            <a:r>
              <a:rPr lang="hr-HR" dirty="0"/>
              <a:t>-a </a:t>
            </a:r>
          </a:p>
          <a:p>
            <a:r>
              <a:rPr lang="hr-HR" dirty="0"/>
              <a:t>ažuriranje </a:t>
            </a:r>
            <a:r>
              <a:rPr lang="hr-HR" dirty="0" err="1"/>
              <a:t>burndowna</a:t>
            </a:r>
            <a:r>
              <a:rPr lang="hr-HR" dirty="0"/>
              <a:t>/</a:t>
            </a:r>
            <a:r>
              <a:rPr lang="hr-HR" dirty="0" err="1"/>
              <a:t>boarda</a:t>
            </a:r>
            <a:r>
              <a:rPr lang="hr-HR" dirty="0"/>
              <a:t> </a:t>
            </a:r>
          </a:p>
          <a:p>
            <a:r>
              <a:rPr lang="hr-HR" dirty="0"/>
              <a:t>osiguravanje vidljivosti prepreka (</a:t>
            </a:r>
            <a:r>
              <a:rPr lang="hr-HR" dirty="0" err="1"/>
              <a:t>impedimentsa</a:t>
            </a:r>
            <a:r>
              <a:rPr lang="hr-HR" dirty="0"/>
              <a:t>) </a:t>
            </a:r>
          </a:p>
          <a:p>
            <a:r>
              <a:rPr lang="hr-HR" dirty="0"/>
              <a:t>Pitajte polaznike koja bi stavka </a:t>
            </a:r>
            <a:r>
              <a:rPr lang="hr-HR" dirty="0" err="1"/>
              <a:t>check</a:t>
            </a:r>
            <a:r>
              <a:rPr lang="hr-HR" dirty="0"/>
              <a:t>-liste donijela najveće poboljšanje.</a:t>
            </a:r>
          </a:p>
          <a:p>
            <a:r>
              <a:rPr lang="hr-HR" dirty="0"/>
              <a:t>Dodatni resursi:</a:t>
            </a:r>
            <a:br>
              <a:rPr lang="hr-HR" dirty="0"/>
            </a:br>
            <a:r>
              <a:rPr lang="hr-HR" dirty="0">
                <a:hlinkClick r:id="rId3"/>
              </a:rPr>
              <a:t>https://www.scrumexpert.com/resources/scrummaster-checklists/</a:t>
            </a:r>
            <a:endParaRPr lang="hr-HR" dirty="0"/>
          </a:p>
        </p:txBody>
      </p:sp>
      <p:sp>
        <p:nvSpPr>
          <p:cNvPr id="4" name="Segnaposto numero diapositiva 3"/>
          <p:cNvSpPr>
            <a:spLocks noGrp="1"/>
          </p:cNvSpPr>
          <p:nvPr>
            <p:ph type="sldNum" sz="quarter" idx="5"/>
          </p:nvPr>
        </p:nvSpPr>
        <p:spPr/>
        <p:txBody>
          <a:bodyPr/>
          <a:lstStyle/>
          <a:p>
            <a:fld id="{E93233AA-5D9D-4B19-AE31-9919BB97DFE7}" type="slidenum">
              <a:rPr lang="en-GB" smtClean="0"/>
              <a:t>49</a:t>
            </a:fld>
            <a:endParaRPr lang="en-GB"/>
          </a:p>
        </p:txBody>
      </p:sp>
    </p:spTree>
    <p:extLst>
      <p:ext uri="{BB962C8B-B14F-4D97-AF65-F5344CB8AC3E}">
        <p14:creationId xmlns:p14="http://schemas.microsoft.com/office/powerpoint/2010/main" val="210189253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dirty="0"/>
          </a:p>
        </p:txBody>
      </p:sp>
      <p:sp>
        <p:nvSpPr>
          <p:cNvPr id="4" name="Segnaposto numero diapositiva 3"/>
          <p:cNvSpPr>
            <a:spLocks noGrp="1"/>
          </p:cNvSpPr>
          <p:nvPr>
            <p:ph type="sldNum" sz="quarter" idx="5"/>
          </p:nvPr>
        </p:nvSpPr>
        <p:spPr/>
        <p:txBody>
          <a:bodyPr/>
          <a:lstStyle/>
          <a:p>
            <a:fld id="{E93233AA-5D9D-4B19-AE31-9919BB97DFE7}" type="slidenum">
              <a:rPr lang="en-GB" smtClean="0"/>
              <a:t>50</a:t>
            </a:fld>
            <a:endParaRPr lang="en-GB"/>
          </a:p>
        </p:txBody>
      </p:sp>
    </p:spTree>
    <p:extLst>
      <p:ext uri="{BB962C8B-B14F-4D97-AF65-F5344CB8AC3E}">
        <p14:creationId xmlns:p14="http://schemas.microsoft.com/office/powerpoint/2010/main" val="35460686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dirty="0"/>
          </a:p>
        </p:txBody>
      </p:sp>
      <p:sp>
        <p:nvSpPr>
          <p:cNvPr id="4" name="Segnaposto numero diapositiva 3"/>
          <p:cNvSpPr>
            <a:spLocks noGrp="1"/>
          </p:cNvSpPr>
          <p:nvPr>
            <p:ph type="sldNum" sz="quarter" idx="5"/>
          </p:nvPr>
        </p:nvSpPr>
        <p:spPr/>
        <p:txBody>
          <a:bodyPr/>
          <a:lstStyle/>
          <a:p>
            <a:fld id="{E93233AA-5D9D-4B19-AE31-9919BB97DFE7}" type="slidenum">
              <a:rPr lang="en-GB" smtClean="0"/>
              <a:t>51</a:t>
            </a:fld>
            <a:endParaRPr lang="en-GB"/>
          </a:p>
        </p:txBody>
      </p:sp>
    </p:spTree>
    <p:extLst>
      <p:ext uri="{BB962C8B-B14F-4D97-AF65-F5344CB8AC3E}">
        <p14:creationId xmlns:p14="http://schemas.microsoft.com/office/powerpoint/2010/main" val="201125060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Naslovni slajd">
    <p:spTree>
      <p:nvGrpSpPr>
        <p:cNvPr id="1" name=""/>
        <p:cNvGrpSpPr/>
        <p:nvPr/>
      </p:nvGrpSpPr>
      <p:grpSpPr>
        <a:xfrm>
          <a:off x="0" y="0"/>
          <a:ext cx="0" cy="0"/>
          <a:chOff x="0" y="0"/>
          <a:chExt cx="0" cy="0"/>
        </a:xfrm>
      </p:grpSpPr>
      <p:pic>
        <p:nvPicPr>
          <p:cNvPr id="14" name="Slika 13">
            <a:extLst>
              <a:ext uri="{FF2B5EF4-FFF2-40B4-BE49-F238E27FC236}">
                <a16:creationId xmlns:a16="http://schemas.microsoft.com/office/drawing/2014/main" id="{8FBD081C-E6C2-807B-F622-45A52F57D623}"/>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428"/>
            <a:ext cx="12192000" cy="6857142"/>
          </a:xfrm>
          <a:prstGeom prst="rect">
            <a:avLst/>
          </a:prstGeom>
        </p:spPr>
      </p:pic>
      <p:sp>
        <p:nvSpPr>
          <p:cNvPr id="2" name="Naslov 1">
            <a:extLst>
              <a:ext uri="{FF2B5EF4-FFF2-40B4-BE49-F238E27FC236}">
                <a16:creationId xmlns:a16="http://schemas.microsoft.com/office/drawing/2014/main" id="{00F290A5-665D-F2E4-352E-051E267BCC19}"/>
              </a:ext>
            </a:extLst>
          </p:cNvPr>
          <p:cNvSpPr>
            <a:spLocks noGrp="1"/>
          </p:cNvSpPr>
          <p:nvPr>
            <p:ph type="ctrTitle" hasCustomPrompt="1"/>
          </p:nvPr>
        </p:nvSpPr>
        <p:spPr>
          <a:xfrm>
            <a:off x="2455653" y="2468084"/>
            <a:ext cx="9144000" cy="2387600"/>
          </a:xfrm>
        </p:spPr>
        <p:txBody>
          <a:bodyPr anchor="b"/>
          <a:lstStyle>
            <a:lvl1pPr algn="r">
              <a:defRPr sz="6000">
                <a:latin typeface="Montserrat" panose="00000500000000000000" pitchFamily="2" charset="-18"/>
              </a:defRPr>
            </a:lvl1pPr>
          </a:lstStyle>
          <a:p>
            <a:r>
              <a:rPr lang="hr-HR" dirty="0"/>
              <a:t>DOCUMENT TITLE</a:t>
            </a:r>
          </a:p>
        </p:txBody>
      </p:sp>
      <p:sp>
        <p:nvSpPr>
          <p:cNvPr id="3" name="Podnaslov 2">
            <a:extLst>
              <a:ext uri="{FF2B5EF4-FFF2-40B4-BE49-F238E27FC236}">
                <a16:creationId xmlns:a16="http://schemas.microsoft.com/office/drawing/2014/main" id="{7A61E420-EBAD-A9E6-F448-076E17D0F241}"/>
              </a:ext>
            </a:extLst>
          </p:cNvPr>
          <p:cNvSpPr>
            <a:spLocks noGrp="1"/>
          </p:cNvSpPr>
          <p:nvPr>
            <p:ph type="subTitle" idx="1" hasCustomPrompt="1"/>
          </p:nvPr>
        </p:nvSpPr>
        <p:spPr>
          <a:xfrm>
            <a:off x="2455653" y="4947759"/>
            <a:ext cx="9144000" cy="1655762"/>
          </a:xfrm>
        </p:spPr>
        <p:txBody>
          <a:bodyPr/>
          <a:lstStyle>
            <a:lvl1pPr marL="0" indent="0" algn="r">
              <a:buNone/>
              <a:defRPr sz="2400">
                <a:latin typeface="Montserrat" panose="00000500000000000000" pitchFamily="2" charset="-1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r-HR" dirty="0"/>
              <a:t>SUBHEADING</a:t>
            </a:r>
          </a:p>
        </p:txBody>
      </p:sp>
    </p:spTree>
    <p:extLst>
      <p:ext uri="{BB962C8B-B14F-4D97-AF65-F5344CB8AC3E}">
        <p14:creationId xmlns:p14="http://schemas.microsoft.com/office/powerpoint/2010/main" val="1637976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Naslovni slajd">
    <p:spTree>
      <p:nvGrpSpPr>
        <p:cNvPr id="1" name=""/>
        <p:cNvGrpSpPr/>
        <p:nvPr/>
      </p:nvGrpSpPr>
      <p:grpSpPr>
        <a:xfrm>
          <a:off x="0" y="0"/>
          <a:ext cx="0" cy="0"/>
          <a:chOff x="0" y="0"/>
          <a:chExt cx="0" cy="0"/>
        </a:xfrm>
      </p:grpSpPr>
      <p:pic>
        <p:nvPicPr>
          <p:cNvPr id="9" name="Slika 8">
            <a:extLst>
              <a:ext uri="{FF2B5EF4-FFF2-40B4-BE49-F238E27FC236}">
                <a16:creationId xmlns:a16="http://schemas.microsoft.com/office/drawing/2014/main" id="{1E9C26A1-6687-A87D-1AE0-CDCFC63DA5B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428"/>
            <a:ext cx="12192000" cy="6857142"/>
          </a:xfrm>
          <a:prstGeom prst="rect">
            <a:avLst/>
          </a:prstGeom>
        </p:spPr>
      </p:pic>
      <p:sp>
        <p:nvSpPr>
          <p:cNvPr id="2" name="Naslov 1">
            <a:extLst>
              <a:ext uri="{FF2B5EF4-FFF2-40B4-BE49-F238E27FC236}">
                <a16:creationId xmlns:a16="http://schemas.microsoft.com/office/drawing/2014/main" id="{00F290A5-665D-F2E4-352E-051E267BCC19}"/>
              </a:ext>
            </a:extLst>
          </p:cNvPr>
          <p:cNvSpPr>
            <a:spLocks noGrp="1"/>
          </p:cNvSpPr>
          <p:nvPr>
            <p:ph type="ctrTitle" hasCustomPrompt="1"/>
          </p:nvPr>
        </p:nvSpPr>
        <p:spPr>
          <a:xfrm>
            <a:off x="2455653" y="3382477"/>
            <a:ext cx="9144000" cy="2387600"/>
          </a:xfrm>
        </p:spPr>
        <p:txBody>
          <a:bodyPr anchor="b"/>
          <a:lstStyle>
            <a:lvl1pPr algn="r">
              <a:defRPr sz="4800">
                <a:latin typeface="Bahnschrift" panose="020B0502040204020203" pitchFamily="34" charset="0"/>
              </a:defRPr>
            </a:lvl1pPr>
          </a:lstStyle>
          <a:p>
            <a:r>
              <a:rPr lang="hr-HR" dirty="0"/>
              <a:t>HEADING</a:t>
            </a:r>
          </a:p>
        </p:txBody>
      </p:sp>
    </p:spTree>
    <p:extLst>
      <p:ext uri="{BB962C8B-B14F-4D97-AF65-F5344CB8AC3E}">
        <p14:creationId xmlns:p14="http://schemas.microsoft.com/office/powerpoint/2010/main" val="16266225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Naslov i sadržaj">
    <p:spTree>
      <p:nvGrpSpPr>
        <p:cNvPr id="1" name=""/>
        <p:cNvGrpSpPr/>
        <p:nvPr/>
      </p:nvGrpSpPr>
      <p:grpSpPr>
        <a:xfrm>
          <a:off x="0" y="0"/>
          <a:ext cx="0" cy="0"/>
          <a:chOff x="0" y="0"/>
          <a:chExt cx="0" cy="0"/>
        </a:xfrm>
      </p:grpSpPr>
      <p:pic>
        <p:nvPicPr>
          <p:cNvPr id="10" name="Slika 9" descr="Slika na kojoj se prikazuje crta, snimka zaslona, šarenilo, dizajn&#10;&#10;Opis je automatski generiran">
            <a:extLst>
              <a:ext uri="{FF2B5EF4-FFF2-40B4-BE49-F238E27FC236}">
                <a16:creationId xmlns:a16="http://schemas.microsoft.com/office/drawing/2014/main" id="{7D3E6235-77BD-81C2-1C4B-460BFF2AC56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Naslov 1">
            <a:extLst>
              <a:ext uri="{FF2B5EF4-FFF2-40B4-BE49-F238E27FC236}">
                <a16:creationId xmlns:a16="http://schemas.microsoft.com/office/drawing/2014/main" id="{3476ACE7-458A-DB79-D9F2-688CE21D2DDA}"/>
              </a:ext>
            </a:extLst>
          </p:cNvPr>
          <p:cNvSpPr>
            <a:spLocks noGrp="1"/>
          </p:cNvSpPr>
          <p:nvPr>
            <p:ph type="title"/>
          </p:nvPr>
        </p:nvSpPr>
        <p:spPr/>
        <p:txBody>
          <a:bodyPr>
            <a:normAutofit/>
          </a:bodyPr>
          <a:lstStyle>
            <a:lvl1pPr algn="r">
              <a:defRPr sz="3600">
                <a:latin typeface="Bahnschrift SemiBold" panose="020B0502040204020203" pitchFamily="34" charset="0"/>
              </a:defRPr>
            </a:lvl1pPr>
          </a:lstStyle>
          <a:p>
            <a:r>
              <a:rPr lang="hr-HR" dirty="0"/>
              <a:t>Kliknite da biste uredili stil naslova matrice</a:t>
            </a:r>
          </a:p>
        </p:txBody>
      </p:sp>
      <p:sp>
        <p:nvSpPr>
          <p:cNvPr id="3" name="Rezervirano mjesto sadržaja 2">
            <a:extLst>
              <a:ext uri="{FF2B5EF4-FFF2-40B4-BE49-F238E27FC236}">
                <a16:creationId xmlns:a16="http://schemas.microsoft.com/office/drawing/2014/main" id="{48EC462E-02D9-044A-298B-A009977EE7DD}"/>
              </a:ext>
            </a:extLst>
          </p:cNvPr>
          <p:cNvSpPr>
            <a:spLocks noGrp="1"/>
          </p:cNvSpPr>
          <p:nvPr>
            <p:ph idx="1"/>
          </p:nvPr>
        </p:nvSpPr>
        <p:spPr/>
        <p:txBody>
          <a:bodyPr/>
          <a:lstStyle>
            <a:lvl1pPr>
              <a:defRPr>
                <a:latin typeface="Bahnschrift SemiLight" panose="020B0502040204020203" pitchFamily="34" charset="0"/>
              </a:defRPr>
            </a:lvl1pPr>
            <a:lvl2pPr>
              <a:defRPr>
                <a:latin typeface="Bahnschrift SemiLight" panose="020B0502040204020203" pitchFamily="34" charset="0"/>
              </a:defRPr>
            </a:lvl2pPr>
            <a:lvl3pPr>
              <a:defRPr>
                <a:latin typeface="Bahnschrift SemiLight" panose="020B0502040204020203" pitchFamily="34" charset="0"/>
              </a:defRPr>
            </a:lvl3pPr>
            <a:lvl4pPr>
              <a:defRPr>
                <a:latin typeface="Bahnschrift SemiLight" panose="020B0502040204020203" pitchFamily="34" charset="0"/>
              </a:defRPr>
            </a:lvl4pPr>
            <a:lvl5pPr>
              <a:defRPr>
                <a:latin typeface="Bahnschrift SemiLight" panose="020B0502040204020203" pitchFamily="34" charset="0"/>
              </a:defRPr>
            </a:lvl5pPr>
          </a:lstStyle>
          <a:p>
            <a:pPr lvl="0"/>
            <a:r>
              <a:rPr lang="hr-HR" dirty="0"/>
              <a:t>Kliknite da biste uredili matrice</a:t>
            </a:r>
          </a:p>
        </p:txBody>
      </p:sp>
    </p:spTree>
    <p:extLst>
      <p:ext uri="{BB962C8B-B14F-4D97-AF65-F5344CB8AC3E}">
        <p14:creationId xmlns:p14="http://schemas.microsoft.com/office/powerpoint/2010/main" val="16012754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va sadržaja">
    <p:spTree>
      <p:nvGrpSpPr>
        <p:cNvPr id="1" name=""/>
        <p:cNvGrpSpPr/>
        <p:nvPr/>
      </p:nvGrpSpPr>
      <p:grpSpPr>
        <a:xfrm>
          <a:off x="0" y="0"/>
          <a:ext cx="0" cy="0"/>
          <a:chOff x="0" y="0"/>
          <a:chExt cx="0" cy="0"/>
        </a:xfrm>
      </p:grpSpPr>
      <p:pic>
        <p:nvPicPr>
          <p:cNvPr id="8" name="Slika 7" descr="Slika na kojoj se prikazuje crta, snimka zaslona, šarenilo, dizajn">
            <a:extLst>
              <a:ext uri="{FF2B5EF4-FFF2-40B4-BE49-F238E27FC236}">
                <a16:creationId xmlns:a16="http://schemas.microsoft.com/office/drawing/2014/main" id="{813DD7BB-6C45-D079-40C8-D9AAFA33515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Naslov 1">
            <a:extLst>
              <a:ext uri="{FF2B5EF4-FFF2-40B4-BE49-F238E27FC236}">
                <a16:creationId xmlns:a16="http://schemas.microsoft.com/office/drawing/2014/main" id="{E69C0126-D498-D7EF-F08C-471CA839C90A}"/>
              </a:ext>
            </a:extLst>
          </p:cNvPr>
          <p:cNvSpPr>
            <a:spLocks noGrp="1"/>
          </p:cNvSpPr>
          <p:nvPr>
            <p:ph type="title"/>
          </p:nvPr>
        </p:nvSpPr>
        <p:spPr/>
        <p:txBody>
          <a:bodyPr>
            <a:normAutofit/>
          </a:bodyPr>
          <a:lstStyle>
            <a:lvl1pPr algn="r">
              <a:defRPr sz="3600">
                <a:latin typeface="Bahnschrift SemiBold" panose="020B0502040204020203" pitchFamily="34" charset="0"/>
              </a:defRPr>
            </a:lvl1pPr>
          </a:lstStyle>
          <a:p>
            <a:r>
              <a:rPr lang="hr-HR" dirty="0"/>
              <a:t>Kliknite da biste uredili stil naslova matrice</a:t>
            </a:r>
          </a:p>
        </p:txBody>
      </p:sp>
      <p:sp>
        <p:nvSpPr>
          <p:cNvPr id="3" name="Rezervirano mjesto sadržaja 2">
            <a:extLst>
              <a:ext uri="{FF2B5EF4-FFF2-40B4-BE49-F238E27FC236}">
                <a16:creationId xmlns:a16="http://schemas.microsoft.com/office/drawing/2014/main" id="{E0915537-B2D1-B872-5BC6-E6A6498B822A}"/>
              </a:ext>
            </a:extLst>
          </p:cNvPr>
          <p:cNvSpPr>
            <a:spLocks noGrp="1"/>
          </p:cNvSpPr>
          <p:nvPr>
            <p:ph sz="half" idx="1"/>
          </p:nvPr>
        </p:nvSpPr>
        <p:spPr>
          <a:xfrm>
            <a:off x="838200" y="1825625"/>
            <a:ext cx="5181600" cy="4351338"/>
          </a:xfrm>
        </p:spPr>
        <p:txBody>
          <a:bodyPr/>
          <a:lstStyle>
            <a:lvl1pPr>
              <a:defRPr>
                <a:latin typeface="Bahnschrift SemiLight" panose="020B0502040204020203" pitchFamily="34" charset="0"/>
              </a:defRPr>
            </a:lvl1pPr>
          </a:lstStyle>
          <a:p>
            <a:pPr lvl="0"/>
            <a:r>
              <a:rPr lang="hr-HR" dirty="0"/>
              <a:t>Kliknite da biste uredili matrice</a:t>
            </a:r>
          </a:p>
        </p:txBody>
      </p:sp>
      <p:sp>
        <p:nvSpPr>
          <p:cNvPr id="4" name="Rezervirano mjesto sadržaja 3">
            <a:extLst>
              <a:ext uri="{FF2B5EF4-FFF2-40B4-BE49-F238E27FC236}">
                <a16:creationId xmlns:a16="http://schemas.microsoft.com/office/drawing/2014/main" id="{6E429AF7-3B52-7B21-C5E7-7BA86CDA8184}"/>
              </a:ext>
            </a:extLst>
          </p:cNvPr>
          <p:cNvSpPr>
            <a:spLocks noGrp="1"/>
          </p:cNvSpPr>
          <p:nvPr>
            <p:ph sz="half" idx="2"/>
          </p:nvPr>
        </p:nvSpPr>
        <p:spPr>
          <a:xfrm>
            <a:off x="6172200" y="1825625"/>
            <a:ext cx="5181600" cy="4351338"/>
          </a:xfrm>
        </p:spPr>
        <p:txBody>
          <a:bodyPr/>
          <a:lstStyle>
            <a:lvl1pPr marL="0" indent="0">
              <a:buNone/>
              <a:defRPr/>
            </a:lvl1pPr>
          </a:lstStyle>
          <a:p>
            <a:pPr lvl="0"/>
            <a:endParaRPr lang="hr-HR" dirty="0"/>
          </a:p>
        </p:txBody>
      </p:sp>
    </p:spTree>
    <p:extLst>
      <p:ext uri="{BB962C8B-B14F-4D97-AF65-F5344CB8AC3E}">
        <p14:creationId xmlns:p14="http://schemas.microsoft.com/office/powerpoint/2010/main" val="41308425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Naslovni slajd">
    <p:spTree>
      <p:nvGrpSpPr>
        <p:cNvPr id="1" name=""/>
        <p:cNvGrpSpPr/>
        <p:nvPr/>
      </p:nvGrpSpPr>
      <p:grpSpPr>
        <a:xfrm>
          <a:off x="0" y="0"/>
          <a:ext cx="0" cy="0"/>
          <a:chOff x="0" y="0"/>
          <a:chExt cx="0" cy="0"/>
        </a:xfrm>
      </p:grpSpPr>
      <p:pic>
        <p:nvPicPr>
          <p:cNvPr id="4" name="Slika 3">
            <a:extLst>
              <a:ext uri="{FF2B5EF4-FFF2-40B4-BE49-F238E27FC236}">
                <a16:creationId xmlns:a16="http://schemas.microsoft.com/office/drawing/2014/main" id="{5F67D23E-A28C-75D8-1345-0AB914675C65}"/>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428"/>
            <a:ext cx="12192000" cy="6857142"/>
          </a:xfrm>
          <a:prstGeom prst="rect">
            <a:avLst/>
          </a:prstGeom>
        </p:spPr>
      </p:pic>
      <p:sp>
        <p:nvSpPr>
          <p:cNvPr id="2" name="Naslov 1">
            <a:extLst>
              <a:ext uri="{FF2B5EF4-FFF2-40B4-BE49-F238E27FC236}">
                <a16:creationId xmlns:a16="http://schemas.microsoft.com/office/drawing/2014/main" id="{00F290A5-665D-F2E4-352E-051E267BCC19}"/>
              </a:ext>
            </a:extLst>
          </p:cNvPr>
          <p:cNvSpPr>
            <a:spLocks noGrp="1"/>
          </p:cNvSpPr>
          <p:nvPr>
            <p:ph type="ctrTitle" hasCustomPrompt="1"/>
          </p:nvPr>
        </p:nvSpPr>
        <p:spPr>
          <a:xfrm>
            <a:off x="2455653" y="3382477"/>
            <a:ext cx="9144000" cy="2387600"/>
          </a:xfrm>
        </p:spPr>
        <p:txBody>
          <a:bodyPr anchor="b"/>
          <a:lstStyle>
            <a:lvl1pPr algn="r">
              <a:defRPr sz="4800">
                <a:latin typeface="Bahnschrift" panose="020B0502040204020203" pitchFamily="34" charset="0"/>
              </a:defRPr>
            </a:lvl1pPr>
          </a:lstStyle>
          <a:p>
            <a:r>
              <a:rPr lang="hr-HR" dirty="0"/>
              <a:t>HEADING</a:t>
            </a:r>
          </a:p>
        </p:txBody>
      </p:sp>
    </p:spTree>
    <p:extLst>
      <p:ext uri="{BB962C8B-B14F-4D97-AF65-F5344CB8AC3E}">
        <p14:creationId xmlns:p14="http://schemas.microsoft.com/office/powerpoint/2010/main" val="2252550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3_Naslov i sadržaj">
    <p:spTree>
      <p:nvGrpSpPr>
        <p:cNvPr id="1" name=""/>
        <p:cNvGrpSpPr/>
        <p:nvPr/>
      </p:nvGrpSpPr>
      <p:grpSpPr>
        <a:xfrm>
          <a:off x="0" y="0"/>
          <a:ext cx="0" cy="0"/>
          <a:chOff x="0" y="0"/>
          <a:chExt cx="0" cy="0"/>
        </a:xfrm>
      </p:grpSpPr>
      <p:pic>
        <p:nvPicPr>
          <p:cNvPr id="6" name="Slika 5" descr="Slika na kojoj se prikazuje ljubičasto, Magenta, Jorgovan, ljubičica&#10;&#10;Opis je automatski generiran">
            <a:extLst>
              <a:ext uri="{FF2B5EF4-FFF2-40B4-BE49-F238E27FC236}">
                <a16:creationId xmlns:a16="http://schemas.microsoft.com/office/drawing/2014/main" id="{35DF2062-AC53-CC06-3408-F03D9B95BBE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Naslov 1">
            <a:extLst>
              <a:ext uri="{FF2B5EF4-FFF2-40B4-BE49-F238E27FC236}">
                <a16:creationId xmlns:a16="http://schemas.microsoft.com/office/drawing/2014/main" id="{3476ACE7-458A-DB79-D9F2-688CE21D2DDA}"/>
              </a:ext>
            </a:extLst>
          </p:cNvPr>
          <p:cNvSpPr>
            <a:spLocks noGrp="1"/>
          </p:cNvSpPr>
          <p:nvPr>
            <p:ph type="title"/>
          </p:nvPr>
        </p:nvSpPr>
        <p:spPr/>
        <p:txBody>
          <a:bodyPr>
            <a:normAutofit/>
          </a:bodyPr>
          <a:lstStyle>
            <a:lvl1pPr algn="r">
              <a:defRPr sz="3600">
                <a:latin typeface="Bahnschrift SemiBold" panose="020B0502040204020203" pitchFamily="34" charset="0"/>
              </a:defRPr>
            </a:lvl1pPr>
          </a:lstStyle>
          <a:p>
            <a:r>
              <a:rPr lang="hr-HR" dirty="0"/>
              <a:t>Kliknite da biste uredili stil naslova matrice</a:t>
            </a:r>
          </a:p>
        </p:txBody>
      </p:sp>
      <p:sp>
        <p:nvSpPr>
          <p:cNvPr id="3" name="Rezervirano mjesto sadržaja 2">
            <a:extLst>
              <a:ext uri="{FF2B5EF4-FFF2-40B4-BE49-F238E27FC236}">
                <a16:creationId xmlns:a16="http://schemas.microsoft.com/office/drawing/2014/main" id="{48EC462E-02D9-044A-298B-A009977EE7DD}"/>
              </a:ext>
            </a:extLst>
          </p:cNvPr>
          <p:cNvSpPr>
            <a:spLocks noGrp="1"/>
          </p:cNvSpPr>
          <p:nvPr>
            <p:ph idx="1"/>
          </p:nvPr>
        </p:nvSpPr>
        <p:spPr/>
        <p:txBody>
          <a:bodyPr/>
          <a:lstStyle>
            <a:lvl1pPr>
              <a:defRPr>
                <a:latin typeface="Bahnschrift SemiLight" panose="020B0502040204020203" pitchFamily="34" charset="0"/>
              </a:defRPr>
            </a:lvl1pPr>
            <a:lvl2pPr>
              <a:defRPr>
                <a:latin typeface="Bahnschrift SemiLight" panose="020B0502040204020203" pitchFamily="34" charset="0"/>
              </a:defRPr>
            </a:lvl2pPr>
            <a:lvl3pPr>
              <a:defRPr>
                <a:latin typeface="Bahnschrift SemiLight" panose="020B0502040204020203" pitchFamily="34" charset="0"/>
              </a:defRPr>
            </a:lvl3pPr>
            <a:lvl4pPr>
              <a:defRPr>
                <a:latin typeface="Bahnschrift SemiLight" panose="020B0502040204020203" pitchFamily="34" charset="0"/>
              </a:defRPr>
            </a:lvl4pPr>
            <a:lvl5pPr>
              <a:defRPr>
                <a:latin typeface="Bahnschrift SemiLight" panose="020B0502040204020203" pitchFamily="34" charset="0"/>
              </a:defRPr>
            </a:lvl5pPr>
          </a:lstStyle>
          <a:p>
            <a:pPr lvl="0"/>
            <a:r>
              <a:rPr lang="hr-HR" dirty="0"/>
              <a:t>Kliknite da biste uredili matrice</a:t>
            </a:r>
          </a:p>
        </p:txBody>
      </p:sp>
    </p:spTree>
    <p:extLst>
      <p:ext uri="{BB962C8B-B14F-4D97-AF65-F5344CB8AC3E}">
        <p14:creationId xmlns:p14="http://schemas.microsoft.com/office/powerpoint/2010/main" val="22262088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3_Dva sadržaja">
    <p:spTree>
      <p:nvGrpSpPr>
        <p:cNvPr id="1" name=""/>
        <p:cNvGrpSpPr/>
        <p:nvPr/>
      </p:nvGrpSpPr>
      <p:grpSpPr>
        <a:xfrm>
          <a:off x="0" y="0"/>
          <a:ext cx="0" cy="0"/>
          <a:chOff x="0" y="0"/>
          <a:chExt cx="0" cy="0"/>
        </a:xfrm>
      </p:grpSpPr>
      <p:pic>
        <p:nvPicPr>
          <p:cNvPr id="5" name="Slika 4" descr="Slika na kojoj se prikazuje ljubičasto, Magenta, Jorgovan, ljubičica&#10;&#10;Opis je automatski generiran">
            <a:extLst>
              <a:ext uri="{FF2B5EF4-FFF2-40B4-BE49-F238E27FC236}">
                <a16:creationId xmlns:a16="http://schemas.microsoft.com/office/drawing/2014/main" id="{9FAA237F-8481-A276-5DC5-A3FC50F5B1A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Naslov 1">
            <a:extLst>
              <a:ext uri="{FF2B5EF4-FFF2-40B4-BE49-F238E27FC236}">
                <a16:creationId xmlns:a16="http://schemas.microsoft.com/office/drawing/2014/main" id="{E69C0126-D498-D7EF-F08C-471CA839C90A}"/>
              </a:ext>
            </a:extLst>
          </p:cNvPr>
          <p:cNvSpPr>
            <a:spLocks noGrp="1"/>
          </p:cNvSpPr>
          <p:nvPr>
            <p:ph type="title"/>
          </p:nvPr>
        </p:nvSpPr>
        <p:spPr/>
        <p:txBody>
          <a:bodyPr>
            <a:normAutofit/>
          </a:bodyPr>
          <a:lstStyle>
            <a:lvl1pPr algn="r">
              <a:defRPr sz="3600">
                <a:latin typeface="Bahnschrift SemiBold" panose="020B0502040204020203" pitchFamily="34" charset="0"/>
              </a:defRPr>
            </a:lvl1pPr>
          </a:lstStyle>
          <a:p>
            <a:r>
              <a:rPr lang="hr-HR" dirty="0"/>
              <a:t>Kliknite da biste uredili stil naslova matrice</a:t>
            </a:r>
          </a:p>
        </p:txBody>
      </p:sp>
      <p:sp>
        <p:nvSpPr>
          <p:cNvPr id="3" name="Rezervirano mjesto sadržaja 2">
            <a:extLst>
              <a:ext uri="{FF2B5EF4-FFF2-40B4-BE49-F238E27FC236}">
                <a16:creationId xmlns:a16="http://schemas.microsoft.com/office/drawing/2014/main" id="{E0915537-B2D1-B872-5BC6-E6A6498B822A}"/>
              </a:ext>
            </a:extLst>
          </p:cNvPr>
          <p:cNvSpPr>
            <a:spLocks noGrp="1"/>
          </p:cNvSpPr>
          <p:nvPr>
            <p:ph sz="half" idx="1"/>
          </p:nvPr>
        </p:nvSpPr>
        <p:spPr>
          <a:xfrm>
            <a:off x="838200" y="1825625"/>
            <a:ext cx="5181600" cy="4351338"/>
          </a:xfrm>
        </p:spPr>
        <p:txBody>
          <a:bodyPr/>
          <a:lstStyle>
            <a:lvl1pPr>
              <a:defRPr>
                <a:latin typeface="Bahnschrift SemiLight" panose="020B0502040204020203" pitchFamily="34" charset="0"/>
              </a:defRPr>
            </a:lvl1pPr>
          </a:lstStyle>
          <a:p>
            <a:pPr lvl="0"/>
            <a:r>
              <a:rPr lang="hr-HR" dirty="0"/>
              <a:t>Kliknite da biste uredili matrice</a:t>
            </a:r>
          </a:p>
        </p:txBody>
      </p:sp>
      <p:sp>
        <p:nvSpPr>
          <p:cNvPr id="4" name="Rezervirano mjesto sadržaja 3">
            <a:extLst>
              <a:ext uri="{FF2B5EF4-FFF2-40B4-BE49-F238E27FC236}">
                <a16:creationId xmlns:a16="http://schemas.microsoft.com/office/drawing/2014/main" id="{6E429AF7-3B52-7B21-C5E7-7BA86CDA8184}"/>
              </a:ext>
            </a:extLst>
          </p:cNvPr>
          <p:cNvSpPr>
            <a:spLocks noGrp="1"/>
          </p:cNvSpPr>
          <p:nvPr>
            <p:ph sz="half" idx="2"/>
          </p:nvPr>
        </p:nvSpPr>
        <p:spPr>
          <a:xfrm>
            <a:off x="6172200" y="1825625"/>
            <a:ext cx="5181600" cy="4351338"/>
          </a:xfrm>
        </p:spPr>
        <p:txBody>
          <a:bodyPr/>
          <a:lstStyle>
            <a:lvl1pPr marL="0" indent="0">
              <a:buNone/>
              <a:defRPr/>
            </a:lvl1pPr>
          </a:lstStyle>
          <a:p>
            <a:pPr lvl="0"/>
            <a:endParaRPr lang="hr-HR" dirty="0"/>
          </a:p>
        </p:txBody>
      </p:sp>
    </p:spTree>
    <p:extLst>
      <p:ext uri="{BB962C8B-B14F-4D97-AF65-F5344CB8AC3E}">
        <p14:creationId xmlns:p14="http://schemas.microsoft.com/office/powerpoint/2010/main" val="18835754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Prilagođeni izgled">
    <p:spTree>
      <p:nvGrpSpPr>
        <p:cNvPr id="1" name=""/>
        <p:cNvGrpSpPr/>
        <p:nvPr/>
      </p:nvGrpSpPr>
      <p:grpSpPr>
        <a:xfrm>
          <a:off x="0" y="0"/>
          <a:ext cx="0" cy="0"/>
          <a:chOff x="0" y="0"/>
          <a:chExt cx="0" cy="0"/>
        </a:xfrm>
      </p:grpSpPr>
      <p:grpSp>
        <p:nvGrpSpPr>
          <p:cNvPr id="3" name="Gruppo 2">
            <a:extLst>
              <a:ext uri="{FF2B5EF4-FFF2-40B4-BE49-F238E27FC236}">
                <a16:creationId xmlns:a16="http://schemas.microsoft.com/office/drawing/2014/main" id="{F0B43500-2B0D-6E1A-B9B4-812DA8D0A84E}"/>
              </a:ext>
            </a:extLst>
          </p:cNvPr>
          <p:cNvGrpSpPr/>
          <p:nvPr userDrawn="1"/>
        </p:nvGrpSpPr>
        <p:grpSpPr>
          <a:xfrm>
            <a:off x="0" y="428"/>
            <a:ext cx="12192000" cy="6857143"/>
            <a:chOff x="0" y="428"/>
            <a:chExt cx="12192000" cy="6857143"/>
          </a:xfrm>
        </p:grpSpPr>
        <p:pic>
          <p:nvPicPr>
            <p:cNvPr id="4" name="Slika 5" descr="Slika na kojoj se prikazuje ljubičasto, Magenta, Jorgovan, ljubičica&#10;&#10;Opis je automatski generiran">
              <a:extLst>
                <a:ext uri="{FF2B5EF4-FFF2-40B4-BE49-F238E27FC236}">
                  <a16:creationId xmlns:a16="http://schemas.microsoft.com/office/drawing/2014/main" id="{F699EAC5-D790-B1A3-57FC-41C24823EF6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pic>
          <p:nvPicPr>
            <p:cNvPr id="8" name="Elemento grafico 7">
              <a:extLst>
                <a:ext uri="{FF2B5EF4-FFF2-40B4-BE49-F238E27FC236}">
                  <a16:creationId xmlns:a16="http://schemas.microsoft.com/office/drawing/2014/main" id="{DB5C4848-6547-71DA-CC8A-3F432396BA9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233024" y="385764"/>
              <a:ext cx="1470025" cy="1938912"/>
            </a:xfrm>
            <a:prstGeom prst="rect">
              <a:avLst/>
            </a:prstGeom>
          </p:spPr>
        </p:pic>
      </p:grpSp>
      <p:sp>
        <p:nvSpPr>
          <p:cNvPr id="2" name="Naslov 1">
            <a:extLst>
              <a:ext uri="{FF2B5EF4-FFF2-40B4-BE49-F238E27FC236}">
                <a16:creationId xmlns:a16="http://schemas.microsoft.com/office/drawing/2014/main" id="{BF2A96D7-17D5-D8FA-1A2A-53ABEC2070E7}"/>
              </a:ext>
            </a:extLst>
          </p:cNvPr>
          <p:cNvSpPr>
            <a:spLocks noGrp="1"/>
          </p:cNvSpPr>
          <p:nvPr>
            <p:ph type="title" hasCustomPrompt="1"/>
          </p:nvPr>
        </p:nvSpPr>
        <p:spPr/>
        <p:txBody>
          <a:bodyPr/>
          <a:lstStyle>
            <a:lvl1pPr>
              <a:defRPr sz="3600" b="0">
                <a:latin typeface="Bahnschrift SemiBold" panose="020B0502040204020203" pitchFamily="34" charset="0"/>
              </a:defRPr>
            </a:lvl1pPr>
          </a:lstStyle>
          <a:p>
            <a:r>
              <a:rPr lang="hr-HR" dirty="0"/>
              <a:t>SUMMARY</a:t>
            </a:r>
          </a:p>
        </p:txBody>
      </p:sp>
      <p:sp>
        <p:nvSpPr>
          <p:cNvPr id="5" name="Rezervirano mjesto sadržaja 2">
            <a:extLst>
              <a:ext uri="{FF2B5EF4-FFF2-40B4-BE49-F238E27FC236}">
                <a16:creationId xmlns:a16="http://schemas.microsoft.com/office/drawing/2014/main" id="{113D9402-1AF1-C3B9-7E4E-FB849F049A89}"/>
              </a:ext>
            </a:extLst>
          </p:cNvPr>
          <p:cNvSpPr>
            <a:spLocks noGrp="1"/>
          </p:cNvSpPr>
          <p:nvPr>
            <p:ph idx="1"/>
          </p:nvPr>
        </p:nvSpPr>
        <p:spPr>
          <a:xfrm>
            <a:off x="838200" y="1825625"/>
            <a:ext cx="10515600" cy="4351338"/>
          </a:xfrm>
        </p:spPr>
        <p:txBody>
          <a:bodyPr/>
          <a:lstStyle>
            <a:lvl1pPr>
              <a:defRPr>
                <a:latin typeface="Bahnschrift SemiLight" panose="020B0502040204020203" pitchFamily="34" charset="0"/>
              </a:defRPr>
            </a:lvl1pPr>
            <a:lvl2pPr>
              <a:defRPr>
                <a:latin typeface="Bahnschrift SemiLight" panose="020B0502040204020203" pitchFamily="34" charset="0"/>
              </a:defRPr>
            </a:lvl2pPr>
            <a:lvl3pPr>
              <a:defRPr>
                <a:latin typeface="Bahnschrift SemiLight" panose="020B0502040204020203" pitchFamily="34" charset="0"/>
              </a:defRPr>
            </a:lvl3pPr>
            <a:lvl4pPr>
              <a:defRPr>
                <a:latin typeface="Bahnschrift SemiLight" panose="020B0502040204020203" pitchFamily="34" charset="0"/>
              </a:defRPr>
            </a:lvl4pPr>
            <a:lvl5pPr>
              <a:defRPr>
                <a:latin typeface="Bahnschrift SemiLight" panose="020B0502040204020203" pitchFamily="34" charset="0"/>
              </a:defRPr>
            </a:lvl5pPr>
          </a:lstStyle>
          <a:p>
            <a:pPr lvl="0"/>
            <a:r>
              <a:rPr lang="hr-HR" dirty="0"/>
              <a:t>Kliknite da biste uredili matrice</a:t>
            </a:r>
          </a:p>
        </p:txBody>
      </p:sp>
    </p:spTree>
    <p:extLst>
      <p:ext uri="{BB962C8B-B14F-4D97-AF65-F5344CB8AC3E}">
        <p14:creationId xmlns:p14="http://schemas.microsoft.com/office/powerpoint/2010/main" val="374984911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17_Naslov i sadržaj">
    <p:spTree>
      <p:nvGrpSpPr>
        <p:cNvPr id="1" name=""/>
        <p:cNvGrpSpPr/>
        <p:nvPr/>
      </p:nvGrpSpPr>
      <p:grpSpPr>
        <a:xfrm>
          <a:off x="0" y="0"/>
          <a:ext cx="0" cy="0"/>
          <a:chOff x="0" y="0"/>
          <a:chExt cx="0" cy="0"/>
        </a:xfrm>
      </p:grpSpPr>
      <p:pic>
        <p:nvPicPr>
          <p:cNvPr id="7" name="Slika 6">
            <a:extLst>
              <a:ext uri="{FF2B5EF4-FFF2-40B4-BE49-F238E27FC236}">
                <a16:creationId xmlns:a16="http://schemas.microsoft.com/office/drawing/2014/main" id="{E1102532-B18A-F116-ED3D-C3E4F6576CC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 y="428"/>
            <a:ext cx="12191998" cy="6857141"/>
          </a:xfrm>
          <a:prstGeom prst="rect">
            <a:avLst/>
          </a:prstGeom>
        </p:spPr>
      </p:pic>
      <p:sp>
        <p:nvSpPr>
          <p:cNvPr id="2" name="Naslov 1">
            <a:extLst>
              <a:ext uri="{FF2B5EF4-FFF2-40B4-BE49-F238E27FC236}">
                <a16:creationId xmlns:a16="http://schemas.microsoft.com/office/drawing/2014/main" id="{3476ACE7-458A-DB79-D9F2-688CE21D2DDA}"/>
              </a:ext>
            </a:extLst>
          </p:cNvPr>
          <p:cNvSpPr>
            <a:spLocks noGrp="1"/>
          </p:cNvSpPr>
          <p:nvPr>
            <p:ph type="title" hasCustomPrompt="1"/>
          </p:nvPr>
        </p:nvSpPr>
        <p:spPr/>
        <p:txBody>
          <a:bodyPr>
            <a:normAutofit/>
          </a:bodyPr>
          <a:lstStyle>
            <a:lvl1pPr algn="l">
              <a:defRPr sz="3600">
                <a:latin typeface="Bahnschrift SemiBold" panose="020B0502040204020203" pitchFamily="34" charset="0"/>
              </a:defRPr>
            </a:lvl1pPr>
          </a:lstStyle>
          <a:p>
            <a:r>
              <a:rPr lang="hr-HR" dirty="0"/>
              <a:t>DISCUSSION</a:t>
            </a:r>
          </a:p>
        </p:txBody>
      </p:sp>
      <p:sp>
        <p:nvSpPr>
          <p:cNvPr id="3" name="Rezervirano mjesto sadržaja 2">
            <a:extLst>
              <a:ext uri="{FF2B5EF4-FFF2-40B4-BE49-F238E27FC236}">
                <a16:creationId xmlns:a16="http://schemas.microsoft.com/office/drawing/2014/main" id="{48EC462E-02D9-044A-298B-A009977EE7DD}"/>
              </a:ext>
            </a:extLst>
          </p:cNvPr>
          <p:cNvSpPr>
            <a:spLocks noGrp="1"/>
          </p:cNvSpPr>
          <p:nvPr>
            <p:ph idx="1"/>
          </p:nvPr>
        </p:nvSpPr>
        <p:spPr/>
        <p:txBody>
          <a:bodyPr/>
          <a:lstStyle>
            <a:lvl1pPr>
              <a:defRPr>
                <a:latin typeface="Bahnschrift SemiLight" panose="020B0502040204020203" pitchFamily="34" charset="0"/>
              </a:defRPr>
            </a:lvl1pPr>
            <a:lvl2pPr>
              <a:defRPr>
                <a:latin typeface="Bahnschrift SemiLight" panose="020B0502040204020203" pitchFamily="34" charset="0"/>
              </a:defRPr>
            </a:lvl2pPr>
            <a:lvl3pPr>
              <a:defRPr>
                <a:latin typeface="Bahnschrift SemiLight" panose="020B0502040204020203" pitchFamily="34" charset="0"/>
              </a:defRPr>
            </a:lvl3pPr>
            <a:lvl4pPr>
              <a:defRPr>
                <a:latin typeface="Bahnschrift SemiLight" panose="020B0502040204020203" pitchFamily="34" charset="0"/>
              </a:defRPr>
            </a:lvl4pPr>
            <a:lvl5pPr>
              <a:defRPr>
                <a:latin typeface="Bahnschrift SemiLight" panose="020B0502040204020203" pitchFamily="34" charset="0"/>
              </a:defRPr>
            </a:lvl5pPr>
          </a:lstStyle>
          <a:p>
            <a:pPr lvl="0"/>
            <a:r>
              <a:rPr lang="hr-HR" dirty="0"/>
              <a:t>Kliknite da biste uredili matrice</a:t>
            </a:r>
          </a:p>
        </p:txBody>
      </p:sp>
    </p:spTree>
    <p:extLst>
      <p:ext uri="{BB962C8B-B14F-4D97-AF65-F5344CB8AC3E}">
        <p14:creationId xmlns:p14="http://schemas.microsoft.com/office/powerpoint/2010/main" val="13716008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18_Naslov i sadržaj">
    <p:spTree>
      <p:nvGrpSpPr>
        <p:cNvPr id="1" name=""/>
        <p:cNvGrpSpPr/>
        <p:nvPr/>
      </p:nvGrpSpPr>
      <p:grpSpPr>
        <a:xfrm>
          <a:off x="0" y="0"/>
          <a:ext cx="0" cy="0"/>
          <a:chOff x="0" y="0"/>
          <a:chExt cx="0" cy="0"/>
        </a:xfrm>
      </p:grpSpPr>
      <p:pic>
        <p:nvPicPr>
          <p:cNvPr id="7" name="Slika 6">
            <a:extLst>
              <a:ext uri="{FF2B5EF4-FFF2-40B4-BE49-F238E27FC236}">
                <a16:creationId xmlns:a16="http://schemas.microsoft.com/office/drawing/2014/main" id="{E1102532-B18A-F116-ED3D-C3E4F6576CC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2" y="428"/>
            <a:ext cx="12191996" cy="6857141"/>
          </a:xfrm>
          <a:prstGeom prst="rect">
            <a:avLst/>
          </a:prstGeom>
        </p:spPr>
      </p:pic>
      <p:sp>
        <p:nvSpPr>
          <p:cNvPr id="2" name="Naslov 1">
            <a:extLst>
              <a:ext uri="{FF2B5EF4-FFF2-40B4-BE49-F238E27FC236}">
                <a16:creationId xmlns:a16="http://schemas.microsoft.com/office/drawing/2014/main" id="{3476ACE7-458A-DB79-D9F2-688CE21D2DDA}"/>
              </a:ext>
            </a:extLst>
          </p:cNvPr>
          <p:cNvSpPr>
            <a:spLocks noGrp="1"/>
          </p:cNvSpPr>
          <p:nvPr>
            <p:ph type="title" hasCustomPrompt="1"/>
          </p:nvPr>
        </p:nvSpPr>
        <p:spPr/>
        <p:txBody>
          <a:bodyPr>
            <a:normAutofit/>
          </a:bodyPr>
          <a:lstStyle>
            <a:lvl1pPr algn="l">
              <a:defRPr sz="3600">
                <a:latin typeface="Bahnschrift SemiBold" panose="020B0502040204020203" pitchFamily="34" charset="0"/>
              </a:defRPr>
            </a:lvl1pPr>
          </a:lstStyle>
          <a:p>
            <a:r>
              <a:rPr lang="hr-HR" dirty="0"/>
              <a:t>EXERCISE</a:t>
            </a:r>
          </a:p>
        </p:txBody>
      </p:sp>
      <p:sp>
        <p:nvSpPr>
          <p:cNvPr id="3" name="Rezervirano mjesto sadržaja 2">
            <a:extLst>
              <a:ext uri="{FF2B5EF4-FFF2-40B4-BE49-F238E27FC236}">
                <a16:creationId xmlns:a16="http://schemas.microsoft.com/office/drawing/2014/main" id="{48EC462E-02D9-044A-298B-A009977EE7DD}"/>
              </a:ext>
            </a:extLst>
          </p:cNvPr>
          <p:cNvSpPr>
            <a:spLocks noGrp="1"/>
          </p:cNvSpPr>
          <p:nvPr>
            <p:ph idx="1"/>
          </p:nvPr>
        </p:nvSpPr>
        <p:spPr/>
        <p:txBody>
          <a:bodyPr/>
          <a:lstStyle>
            <a:lvl1pPr>
              <a:defRPr>
                <a:latin typeface="Bahnschrift SemiLight" panose="020B0502040204020203" pitchFamily="34" charset="0"/>
              </a:defRPr>
            </a:lvl1pPr>
            <a:lvl2pPr>
              <a:defRPr>
                <a:latin typeface="Bahnschrift SemiLight" panose="020B0502040204020203" pitchFamily="34" charset="0"/>
              </a:defRPr>
            </a:lvl2pPr>
            <a:lvl3pPr>
              <a:defRPr>
                <a:latin typeface="Bahnschrift SemiLight" panose="020B0502040204020203" pitchFamily="34" charset="0"/>
              </a:defRPr>
            </a:lvl3pPr>
            <a:lvl4pPr>
              <a:defRPr>
                <a:latin typeface="Bahnschrift SemiLight" panose="020B0502040204020203" pitchFamily="34" charset="0"/>
              </a:defRPr>
            </a:lvl4pPr>
            <a:lvl5pPr>
              <a:defRPr>
                <a:latin typeface="Bahnschrift SemiLight" panose="020B0502040204020203" pitchFamily="34" charset="0"/>
              </a:defRPr>
            </a:lvl5pPr>
          </a:lstStyle>
          <a:p>
            <a:pPr lvl="0"/>
            <a:r>
              <a:rPr lang="hr-HR" dirty="0"/>
              <a:t>Kliknite da biste uredili matrice</a:t>
            </a:r>
          </a:p>
        </p:txBody>
      </p:sp>
    </p:spTree>
    <p:extLst>
      <p:ext uri="{BB962C8B-B14F-4D97-AF65-F5344CB8AC3E}">
        <p14:creationId xmlns:p14="http://schemas.microsoft.com/office/powerpoint/2010/main" val="35978036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19_Naslov i sadržaj">
    <p:spTree>
      <p:nvGrpSpPr>
        <p:cNvPr id="1" name=""/>
        <p:cNvGrpSpPr/>
        <p:nvPr/>
      </p:nvGrpSpPr>
      <p:grpSpPr>
        <a:xfrm>
          <a:off x="0" y="0"/>
          <a:ext cx="0" cy="0"/>
          <a:chOff x="0" y="0"/>
          <a:chExt cx="0" cy="0"/>
        </a:xfrm>
      </p:grpSpPr>
      <p:pic>
        <p:nvPicPr>
          <p:cNvPr id="7" name="Slika 6">
            <a:extLst>
              <a:ext uri="{FF2B5EF4-FFF2-40B4-BE49-F238E27FC236}">
                <a16:creationId xmlns:a16="http://schemas.microsoft.com/office/drawing/2014/main" id="{E1102532-B18A-F116-ED3D-C3E4F6576CC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2" y="428"/>
            <a:ext cx="12191996" cy="6857140"/>
          </a:xfrm>
          <a:prstGeom prst="rect">
            <a:avLst/>
          </a:prstGeom>
        </p:spPr>
      </p:pic>
      <p:sp>
        <p:nvSpPr>
          <p:cNvPr id="2" name="Naslov 1">
            <a:extLst>
              <a:ext uri="{FF2B5EF4-FFF2-40B4-BE49-F238E27FC236}">
                <a16:creationId xmlns:a16="http://schemas.microsoft.com/office/drawing/2014/main" id="{3476ACE7-458A-DB79-D9F2-688CE21D2DDA}"/>
              </a:ext>
            </a:extLst>
          </p:cNvPr>
          <p:cNvSpPr>
            <a:spLocks noGrp="1"/>
          </p:cNvSpPr>
          <p:nvPr>
            <p:ph type="title" hasCustomPrompt="1"/>
          </p:nvPr>
        </p:nvSpPr>
        <p:spPr/>
        <p:txBody>
          <a:bodyPr>
            <a:normAutofit/>
          </a:bodyPr>
          <a:lstStyle>
            <a:lvl1pPr algn="l">
              <a:defRPr sz="3600">
                <a:latin typeface="Bahnschrift SemiBold" panose="020B0502040204020203" pitchFamily="34" charset="0"/>
              </a:defRPr>
            </a:lvl1pPr>
          </a:lstStyle>
          <a:p>
            <a:r>
              <a:rPr lang="hr-HR" dirty="0"/>
              <a:t>HOMEWORK</a:t>
            </a:r>
          </a:p>
        </p:txBody>
      </p:sp>
      <p:sp>
        <p:nvSpPr>
          <p:cNvPr id="3" name="Rezervirano mjesto sadržaja 2">
            <a:extLst>
              <a:ext uri="{FF2B5EF4-FFF2-40B4-BE49-F238E27FC236}">
                <a16:creationId xmlns:a16="http://schemas.microsoft.com/office/drawing/2014/main" id="{48EC462E-02D9-044A-298B-A009977EE7DD}"/>
              </a:ext>
            </a:extLst>
          </p:cNvPr>
          <p:cNvSpPr>
            <a:spLocks noGrp="1"/>
          </p:cNvSpPr>
          <p:nvPr>
            <p:ph idx="1"/>
          </p:nvPr>
        </p:nvSpPr>
        <p:spPr/>
        <p:txBody>
          <a:bodyPr/>
          <a:lstStyle>
            <a:lvl1pPr>
              <a:defRPr>
                <a:latin typeface="Bahnschrift SemiLight" panose="020B0502040204020203" pitchFamily="34" charset="0"/>
              </a:defRPr>
            </a:lvl1pPr>
            <a:lvl2pPr>
              <a:defRPr>
                <a:latin typeface="Bahnschrift SemiLight" panose="020B0502040204020203" pitchFamily="34" charset="0"/>
              </a:defRPr>
            </a:lvl2pPr>
            <a:lvl3pPr>
              <a:defRPr>
                <a:latin typeface="Bahnschrift SemiLight" panose="020B0502040204020203" pitchFamily="34" charset="0"/>
              </a:defRPr>
            </a:lvl3pPr>
            <a:lvl4pPr>
              <a:defRPr>
                <a:latin typeface="Bahnschrift SemiLight" panose="020B0502040204020203" pitchFamily="34" charset="0"/>
              </a:defRPr>
            </a:lvl4pPr>
            <a:lvl5pPr>
              <a:defRPr>
                <a:latin typeface="Bahnschrift SemiLight" panose="020B0502040204020203" pitchFamily="34" charset="0"/>
              </a:defRPr>
            </a:lvl5pPr>
          </a:lstStyle>
          <a:p>
            <a:pPr lvl="0"/>
            <a:r>
              <a:rPr lang="hr-HR" dirty="0"/>
              <a:t>Kliknite da biste uredili matrice</a:t>
            </a:r>
          </a:p>
        </p:txBody>
      </p:sp>
    </p:spTree>
    <p:extLst>
      <p:ext uri="{BB962C8B-B14F-4D97-AF65-F5344CB8AC3E}">
        <p14:creationId xmlns:p14="http://schemas.microsoft.com/office/powerpoint/2010/main" val="30933618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20_Naslov i sadržaj">
    <p:spTree>
      <p:nvGrpSpPr>
        <p:cNvPr id="1" name=""/>
        <p:cNvGrpSpPr/>
        <p:nvPr/>
      </p:nvGrpSpPr>
      <p:grpSpPr>
        <a:xfrm>
          <a:off x="0" y="0"/>
          <a:ext cx="0" cy="0"/>
          <a:chOff x="0" y="0"/>
          <a:chExt cx="0" cy="0"/>
        </a:xfrm>
      </p:grpSpPr>
      <p:pic>
        <p:nvPicPr>
          <p:cNvPr id="7" name="Slika 6">
            <a:extLst>
              <a:ext uri="{FF2B5EF4-FFF2-40B4-BE49-F238E27FC236}">
                <a16:creationId xmlns:a16="http://schemas.microsoft.com/office/drawing/2014/main" id="{E1102532-B18A-F116-ED3D-C3E4F6576CC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3" y="428"/>
            <a:ext cx="12191994" cy="6857140"/>
          </a:xfrm>
          <a:prstGeom prst="rect">
            <a:avLst/>
          </a:prstGeom>
        </p:spPr>
      </p:pic>
      <p:sp>
        <p:nvSpPr>
          <p:cNvPr id="2" name="Naslov 1">
            <a:extLst>
              <a:ext uri="{FF2B5EF4-FFF2-40B4-BE49-F238E27FC236}">
                <a16:creationId xmlns:a16="http://schemas.microsoft.com/office/drawing/2014/main" id="{3476ACE7-458A-DB79-D9F2-688CE21D2DDA}"/>
              </a:ext>
            </a:extLst>
          </p:cNvPr>
          <p:cNvSpPr>
            <a:spLocks noGrp="1"/>
          </p:cNvSpPr>
          <p:nvPr>
            <p:ph type="title" hasCustomPrompt="1"/>
          </p:nvPr>
        </p:nvSpPr>
        <p:spPr/>
        <p:txBody>
          <a:bodyPr>
            <a:normAutofit/>
          </a:bodyPr>
          <a:lstStyle>
            <a:lvl1pPr algn="l">
              <a:defRPr sz="3600">
                <a:latin typeface="Bahnschrift SemiBold" panose="020B0502040204020203" pitchFamily="34" charset="0"/>
              </a:defRPr>
            </a:lvl1pPr>
          </a:lstStyle>
          <a:p>
            <a:r>
              <a:rPr lang="hr-HR" dirty="0"/>
              <a:t>ASSESSMENTS</a:t>
            </a:r>
          </a:p>
        </p:txBody>
      </p:sp>
      <p:sp>
        <p:nvSpPr>
          <p:cNvPr id="3" name="Rezervirano mjesto sadržaja 2">
            <a:extLst>
              <a:ext uri="{FF2B5EF4-FFF2-40B4-BE49-F238E27FC236}">
                <a16:creationId xmlns:a16="http://schemas.microsoft.com/office/drawing/2014/main" id="{48EC462E-02D9-044A-298B-A009977EE7DD}"/>
              </a:ext>
            </a:extLst>
          </p:cNvPr>
          <p:cNvSpPr>
            <a:spLocks noGrp="1"/>
          </p:cNvSpPr>
          <p:nvPr>
            <p:ph idx="1"/>
          </p:nvPr>
        </p:nvSpPr>
        <p:spPr/>
        <p:txBody>
          <a:bodyPr/>
          <a:lstStyle>
            <a:lvl1pPr>
              <a:defRPr>
                <a:latin typeface="Bahnschrift SemiLight" panose="020B0502040204020203" pitchFamily="34" charset="0"/>
              </a:defRPr>
            </a:lvl1pPr>
            <a:lvl2pPr>
              <a:defRPr>
                <a:latin typeface="Bahnschrift SemiLight" panose="020B0502040204020203" pitchFamily="34" charset="0"/>
              </a:defRPr>
            </a:lvl2pPr>
            <a:lvl3pPr>
              <a:defRPr>
                <a:latin typeface="Bahnschrift SemiLight" panose="020B0502040204020203" pitchFamily="34" charset="0"/>
              </a:defRPr>
            </a:lvl3pPr>
            <a:lvl4pPr>
              <a:defRPr>
                <a:latin typeface="Bahnschrift SemiLight" panose="020B0502040204020203" pitchFamily="34" charset="0"/>
              </a:defRPr>
            </a:lvl4pPr>
            <a:lvl5pPr>
              <a:defRPr>
                <a:latin typeface="Bahnschrift SemiLight" panose="020B0502040204020203" pitchFamily="34" charset="0"/>
              </a:defRPr>
            </a:lvl5pPr>
          </a:lstStyle>
          <a:p>
            <a:pPr lvl="0"/>
            <a:r>
              <a:rPr lang="hr-HR" dirty="0"/>
              <a:t>Kliknite da biste uredili matrice</a:t>
            </a:r>
          </a:p>
        </p:txBody>
      </p:sp>
    </p:spTree>
    <p:extLst>
      <p:ext uri="{BB962C8B-B14F-4D97-AF65-F5344CB8AC3E}">
        <p14:creationId xmlns:p14="http://schemas.microsoft.com/office/powerpoint/2010/main" val="58818543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21_Naslov i sadržaj">
    <p:spTree>
      <p:nvGrpSpPr>
        <p:cNvPr id="1" name=""/>
        <p:cNvGrpSpPr/>
        <p:nvPr/>
      </p:nvGrpSpPr>
      <p:grpSpPr>
        <a:xfrm>
          <a:off x="0" y="0"/>
          <a:ext cx="0" cy="0"/>
          <a:chOff x="0" y="0"/>
          <a:chExt cx="0" cy="0"/>
        </a:xfrm>
      </p:grpSpPr>
      <p:pic>
        <p:nvPicPr>
          <p:cNvPr id="7" name="Slika 6">
            <a:extLst>
              <a:ext uri="{FF2B5EF4-FFF2-40B4-BE49-F238E27FC236}">
                <a16:creationId xmlns:a16="http://schemas.microsoft.com/office/drawing/2014/main" id="{E1102532-B18A-F116-ED3D-C3E4F6576CC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3" y="428"/>
            <a:ext cx="12191994" cy="6857139"/>
          </a:xfrm>
          <a:prstGeom prst="rect">
            <a:avLst/>
          </a:prstGeom>
        </p:spPr>
      </p:pic>
      <p:sp>
        <p:nvSpPr>
          <p:cNvPr id="2" name="Naslov 1">
            <a:extLst>
              <a:ext uri="{FF2B5EF4-FFF2-40B4-BE49-F238E27FC236}">
                <a16:creationId xmlns:a16="http://schemas.microsoft.com/office/drawing/2014/main" id="{3476ACE7-458A-DB79-D9F2-688CE21D2DDA}"/>
              </a:ext>
            </a:extLst>
          </p:cNvPr>
          <p:cNvSpPr>
            <a:spLocks noGrp="1"/>
          </p:cNvSpPr>
          <p:nvPr>
            <p:ph type="title" hasCustomPrompt="1"/>
          </p:nvPr>
        </p:nvSpPr>
        <p:spPr/>
        <p:txBody>
          <a:bodyPr>
            <a:normAutofit/>
          </a:bodyPr>
          <a:lstStyle>
            <a:lvl1pPr algn="l">
              <a:defRPr sz="3600">
                <a:latin typeface="Bahnschrift SemiBold" panose="020B0502040204020203" pitchFamily="34" charset="0"/>
              </a:defRPr>
            </a:lvl1pPr>
          </a:lstStyle>
          <a:p>
            <a:r>
              <a:rPr lang="hr-HR" dirty="0"/>
              <a:t>ADDITIONAL READING</a:t>
            </a:r>
          </a:p>
        </p:txBody>
      </p:sp>
      <p:sp>
        <p:nvSpPr>
          <p:cNvPr id="3" name="Rezervirano mjesto sadržaja 2">
            <a:extLst>
              <a:ext uri="{FF2B5EF4-FFF2-40B4-BE49-F238E27FC236}">
                <a16:creationId xmlns:a16="http://schemas.microsoft.com/office/drawing/2014/main" id="{48EC462E-02D9-044A-298B-A009977EE7DD}"/>
              </a:ext>
            </a:extLst>
          </p:cNvPr>
          <p:cNvSpPr>
            <a:spLocks noGrp="1"/>
          </p:cNvSpPr>
          <p:nvPr>
            <p:ph idx="1"/>
          </p:nvPr>
        </p:nvSpPr>
        <p:spPr/>
        <p:txBody>
          <a:bodyPr/>
          <a:lstStyle>
            <a:lvl1pPr>
              <a:defRPr>
                <a:latin typeface="Bahnschrift SemiLight" panose="020B0502040204020203" pitchFamily="34" charset="0"/>
              </a:defRPr>
            </a:lvl1pPr>
            <a:lvl2pPr>
              <a:defRPr>
                <a:latin typeface="Bahnschrift SemiLight" panose="020B0502040204020203" pitchFamily="34" charset="0"/>
              </a:defRPr>
            </a:lvl2pPr>
            <a:lvl3pPr>
              <a:defRPr>
                <a:latin typeface="Bahnschrift SemiLight" panose="020B0502040204020203" pitchFamily="34" charset="0"/>
              </a:defRPr>
            </a:lvl3pPr>
            <a:lvl4pPr>
              <a:defRPr>
                <a:latin typeface="Bahnschrift SemiLight" panose="020B0502040204020203" pitchFamily="34" charset="0"/>
              </a:defRPr>
            </a:lvl4pPr>
            <a:lvl5pPr>
              <a:defRPr>
                <a:latin typeface="Bahnschrift SemiLight" panose="020B0502040204020203" pitchFamily="34" charset="0"/>
              </a:defRPr>
            </a:lvl5pPr>
          </a:lstStyle>
          <a:p>
            <a:pPr lvl="0"/>
            <a:r>
              <a:rPr lang="hr-HR" dirty="0"/>
              <a:t>Kliknite da biste uredili matrice</a:t>
            </a:r>
          </a:p>
        </p:txBody>
      </p:sp>
    </p:spTree>
    <p:extLst>
      <p:ext uri="{BB962C8B-B14F-4D97-AF65-F5344CB8AC3E}">
        <p14:creationId xmlns:p14="http://schemas.microsoft.com/office/powerpoint/2010/main" val="345538904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22_Naslov i sadržaj">
    <p:spTree>
      <p:nvGrpSpPr>
        <p:cNvPr id="1" name=""/>
        <p:cNvGrpSpPr/>
        <p:nvPr/>
      </p:nvGrpSpPr>
      <p:grpSpPr>
        <a:xfrm>
          <a:off x="0" y="0"/>
          <a:ext cx="0" cy="0"/>
          <a:chOff x="0" y="0"/>
          <a:chExt cx="0" cy="0"/>
        </a:xfrm>
      </p:grpSpPr>
      <p:pic>
        <p:nvPicPr>
          <p:cNvPr id="7" name="Slika 6">
            <a:extLst>
              <a:ext uri="{FF2B5EF4-FFF2-40B4-BE49-F238E27FC236}">
                <a16:creationId xmlns:a16="http://schemas.microsoft.com/office/drawing/2014/main" id="{E1102532-B18A-F116-ED3D-C3E4F6576CC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3" y="428"/>
            <a:ext cx="12191993" cy="6857139"/>
          </a:xfrm>
          <a:prstGeom prst="rect">
            <a:avLst/>
          </a:prstGeom>
        </p:spPr>
      </p:pic>
      <p:sp>
        <p:nvSpPr>
          <p:cNvPr id="2" name="Naslov 1">
            <a:extLst>
              <a:ext uri="{FF2B5EF4-FFF2-40B4-BE49-F238E27FC236}">
                <a16:creationId xmlns:a16="http://schemas.microsoft.com/office/drawing/2014/main" id="{3476ACE7-458A-DB79-D9F2-688CE21D2DDA}"/>
              </a:ext>
            </a:extLst>
          </p:cNvPr>
          <p:cNvSpPr>
            <a:spLocks noGrp="1"/>
          </p:cNvSpPr>
          <p:nvPr>
            <p:ph type="title" hasCustomPrompt="1"/>
          </p:nvPr>
        </p:nvSpPr>
        <p:spPr/>
        <p:txBody>
          <a:bodyPr>
            <a:normAutofit/>
          </a:bodyPr>
          <a:lstStyle>
            <a:lvl1pPr algn="l">
              <a:defRPr sz="3600">
                <a:latin typeface="Bahnschrift SemiBold" panose="020B0502040204020203" pitchFamily="34" charset="0"/>
              </a:defRPr>
            </a:lvl1pPr>
          </a:lstStyle>
          <a:p>
            <a:r>
              <a:rPr lang="hr-HR" dirty="0"/>
              <a:t>RESOURCES</a:t>
            </a:r>
          </a:p>
        </p:txBody>
      </p:sp>
      <p:sp>
        <p:nvSpPr>
          <p:cNvPr id="3" name="Rezervirano mjesto sadržaja 2">
            <a:extLst>
              <a:ext uri="{FF2B5EF4-FFF2-40B4-BE49-F238E27FC236}">
                <a16:creationId xmlns:a16="http://schemas.microsoft.com/office/drawing/2014/main" id="{48EC462E-02D9-044A-298B-A009977EE7DD}"/>
              </a:ext>
            </a:extLst>
          </p:cNvPr>
          <p:cNvSpPr>
            <a:spLocks noGrp="1"/>
          </p:cNvSpPr>
          <p:nvPr>
            <p:ph idx="1"/>
          </p:nvPr>
        </p:nvSpPr>
        <p:spPr/>
        <p:txBody>
          <a:bodyPr/>
          <a:lstStyle>
            <a:lvl1pPr>
              <a:defRPr>
                <a:latin typeface="Bahnschrift SemiLight" panose="020B0502040204020203" pitchFamily="34" charset="0"/>
              </a:defRPr>
            </a:lvl1pPr>
            <a:lvl2pPr>
              <a:defRPr>
                <a:latin typeface="Bahnschrift SemiLight" panose="020B0502040204020203" pitchFamily="34" charset="0"/>
              </a:defRPr>
            </a:lvl2pPr>
            <a:lvl3pPr>
              <a:defRPr>
                <a:latin typeface="Bahnschrift SemiLight" panose="020B0502040204020203" pitchFamily="34" charset="0"/>
              </a:defRPr>
            </a:lvl3pPr>
            <a:lvl4pPr>
              <a:defRPr>
                <a:latin typeface="Bahnschrift SemiLight" panose="020B0502040204020203" pitchFamily="34" charset="0"/>
              </a:defRPr>
            </a:lvl4pPr>
            <a:lvl5pPr>
              <a:defRPr>
                <a:latin typeface="Bahnschrift SemiLight" panose="020B0502040204020203" pitchFamily="34" charset="0"/>
              </a:defRPr>
            </a:lvl5pPr>
          </a:lstStyle>
          <a:p>
            <a:pPr lvl="0"/>
            <a:r>
              <a:rPr lang="hr-HR" dirty="0"/>
              <a:t>Kliknite da biste uredili matrice</a:t>
            </a:r>
          </a:p>
        </p:txBody>
      </p:sp>
    </p:spTree>
    <p:extLst>
      <p:ext uri="{BB962C8B-B14F-4D97-AF65-F5344CB8AC3E}">
        <p14:creationId xmlns:p14="http://schemas.microsoft.com/office/powerpoint/2010/main" val="101576552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Prilagođeni izgled">
    <p:spTree>
      <p:nvGrpSpPr>
        <p:cNvPr id="1" name=""/>
        <p:cNvGrpSpPr/>
        <p:nvPr/>
      </p:nvGrpSpPr>
      <p:grpSpPr>
        <a:xfrm>
          <a:off x="0" y="0"/>
          <a:ext cx="0" cy="0"/>
          <a:chOff x="0" y="0"/>
          <a:chExt cx="0" cy="0"/>
        </a:xfrm>
      </p:grpSpPr>
      <p:pic>
        <p:nvPicPr>
          <p:cNvPr id="7" name="Slika 6" descr="Slika na kojoj se prikazuje snimka zaslona, crta, dizajn&#10;&#10;Sadržaj generiran umjetnom inteligencijom može biti netočan.">
            <a:extLst>
              <a:ext uri="{FF2B5EF4-FFF2-40B4-BE49-F238E27FC236}">
                <a16:creationId xmlns:a16="http://schemas.microsoft.com/office/drawing/2014/main" id="{06B022C9-54E7-BB73-8A26-59E11FA9C35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Naslov 1">
            <a:extLst>
              <a:ext uri="{FF2B5EF4-FFF2-40B4-BE49-F238E27FC236}">
                <a16:creationId xmlns:a16="http://schemas.microsoft.com/office/drawing/2014/main" id="{BF2A96D7-17D5-D8FA-1A2A-53ABEC2070E7}"/>
              </a:ext>
            </a:extLst>
          </p:cNvPr>
          <p:cNvSpPr>
            <a:spLocks noGrp="1"/>
          </p:cNvSpPr>
          <p:nvPr>
            <p:ph type="title" hasCustomPrompt="1"/>
          </p:nvPr>
        </p:nvSpPr>
        <p:spPr/>
        <p:txBody>
          <a:bodyPr/>
          <a:lstStyle>
            <a:lvl1pPr>
              <a:defRPr/>
            </a:lvl1pPr>
          </a:lstStyle>
          <a:p>
            <a:r>
              <a:rPr lang="hr-HR" dirty="0"/>
              <a:t>SUMMARY</a:t>
            </a:r>
          </a:p>
        </p:txBody>
      </p:sp>
    </p:spTree>
    <p:extLst>
      <p:ext uri="{BB962C8B-B14F-4D97-AF65-F5344CB8AC3E}">
        <p14:creationId xmlns:p14="http://schemas.microsoft.com/office/powerpoint/2010/main" val="58817532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6_Završni slajd">
    <p:spTree>
      <p:nvGrpSpPr>
        <p:cNvPr id="1" name=""/>
        <p:cNvGrpSpPr/>
        <p:nvPr/>
      </p:nvGrpSpPr>
      <p:grpSpPr>
        <a:xfrm>
          <a:off x="0" y="0"/>
          <a:ext cx="0" cy="0"/>
          <a:chOff x="0" y="0"/>
          <a:chExt cx="0" cy="0"/>
        </a:xfrm>
      </p:grpSpPr>
      <p:pic>
        <p:nvPicPr>
          <p:cNvPr id="9" name="Slika 8">
            <a:extLst>
              <a:ext uri="{FF2B5EF4-FFF2-40B4-BE49-F238E27FC236}">
                <a16:creationId xmlns:a16="http://schemas.microsoft.com/office/drawing/2014/main" id="{1E9C26A1-6687-A87D-1AE0-CDCFC63DA5B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 y="428"/>
            <a:ext cx="12191998" cy="6857142"/>
          </a:xfrm>
          <a:prstGeom prst="rect">
            <a:avLst/>
          </a:prstGeom>
        </p:spPr>
      </p:pic>
    </p:spTree>
    <p:extLst>
      <p:ext uri="{BB962C8B-B14F-4D97-AF65-F5344CB8AC3E}">
        <p14:creationId xmlns:p14="http://schemas.microsoft.com/office/powerpoint/2010/main" val="20498270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Rezervirano mjesto naslova 1">
            <a:extLst>
              <a:ext uri="{FF2B5EF4-FFF2-40B4-BE49-F238E27FC236}">
                <a16:creationId xmlns:a16="http://schemas.microsoft.com/office/drawing/2014/main" id="{1B650DF9-2458-1434-6EFF-3D965EDC4A3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hr-HR" dirty="0"/>
              <a:t>Kliknite da biste uredili stil naslova matrice</a:t>
            </a:r>
          </a:p>
        </p:txBody>
      </p:sp>
      <p:sp>
        <p:nvSpPr>
          <p:cNvPr id="3" name="Rezervirano mjesto teksta 2">
            <a:extLst>
              <a:ext uri="{FF2B5EF4-FFF2-40B4-BE49-F238E27FC236}">
                <a16:creationId xmlns:a16="http://schemas.microsoft.com/office/drawing/2014/main" id="{76C6E5EE-2B8F-9019-690C-3AF0A69B8CC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hr-HR"/>
              <a:t>Kliknite da biste uredili matrice</a:t>
            </a:r>
          </a:p>
          <a:p>
            <a:pPr lvl="1"/>
            <a:r>
              <a:rPr lang="hr-HR"/>
              <a:t>Druga razina</a:t>
            </a:r>
          </a:p>
          <a:p>
            <a:pPr lvl="2"/>
            <a:r>
              <a:rPr lang="hr-HR"/>
              <a:t>Treća razina</a:t>
            </a:r>
          </a:p>
          <a:p>
            <a:pPr lvl="3"/>
            <a:r>
              <a:rPr lang="hr-HR"/>
              <a:t>Četvrta razina</a:t>
            </a:r>
          </a:p>
          <a:p>
            <a:pPr lvl="4"/>
            <a:r>
              <a:rPr lang="hr-HR"/>
              <a:t>Peta razina stilove teksta</a:t>
            </a:r>
          </a:p>
        </p:txBody>
      </p:sp>
      <p:sp>
        <p:nvSpPr>
          <p:cNvPr id="4" name="Rezervirano mjesto datuma 3">
            <a:extLst>
              <a:ext uri="{FF2B5EF4-FFF2-40B4-BE49-F238E27FC236}">
                <a16:creationId xmlns:a16="http://schemas.microsoft.com/office/drawing/2014/main" id="{470CF1CA-F427-A5AF-96AA-671002CD74C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963B997-549E-41F4-A1E4-B0CF42B49EF1}" type="datetimeFigureOut">
              <a:rPr lang="hr-HR" smtClean="0"/>
              <a:t>22.4.2026.</a:t>
            </a:fld>
            <a:endParaRPr lang="hr-HR"/>
          </a:p>
        </p:txBody>
      </p:sp>
      <p:sp>
        <p:nvSpPr>
          <p:cNvPr id="5" name="Rezervirano mjesto podnožja 4">
            <a:extLst>
              <a:ext uri="{FF2B5EF4-FFF2-40B4-BE49-F238E27FC236}">
                <a16:creationId xmlns:a16="http://schemas.microsoft.com/office/drawing/2014/main" id="{8D829544-1FE5-4ED0-6A51-373B245680A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hr-HR"/>
          </a:p>
        </p:txBody>
      </p:sp>
      <p:sp>
        <p:nvSpPr>
          <p:cNvPr id="6" name="Rezervirano mjesto broja slajda 5">
            <a:extLst>
              <a:ext uri="{FF2B5EF4-FFF2-40B4-BE49-F238E27FC236}">
                <a16:creationId xmlns:a16="http://schemas.microsoft.com/office/drawing/2014/main" id="{33A67201-5F88-A086-59F5-4A06FA6BE09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ACDD723-16A0-42C8-A963-6C8D73A0AD48}" type="slidenum">
              <a:rPr lang="hr-HR" smtClean="0"/>
              <a:t>‹#›</a:t>
            </a:fld>
            <a:endParaRPr lang="hr-HR"/>
          </a:p>
        </p:txBody>
      </p:sp>
    </p:spTree>
    <p:extLst>
      <p:ext uri="{BB962C8B-B14F-4D97-AF65-F5344CB8AC3E}">
        <p14:creationId xmlns:p14="http://schemas.microsoft.com/office/powerpoint/2010/main" val="897513809"/>
      </p:ext>
    </p:extLst>
  </p:cSld>
  <p:clrMap bg1="lt1" tx1="dk1" bg2="lt2" tx2="dk2" accent1="accent1" accent2="accent2" accent3="accent3" accent4="accent4" accent5="accent5" accent6="accent6" hlink="hlink" folHlink="folHlink"/>
  <p:sldLayoutIdLst>
    <p:sldLayoutId id="2147483649" r:id="rId1"/>
    <p:sldLayoutId id="2147483664" r:id="rId2"/>
    <p:sldLayoutId id="2147483650" r:id="rId3"/>
    <p:sldLayoutId id="2147483659" r:id="rId4"/>
    <p:sldLayoutId id="2147483667" r:id="rId5"/>
    <p:sldLayoutId id="2147483653" r:id="rId6"/>
    <p:sldLayoutId id="2147483662" r:id="rId7"/>
    <p:sldLayoutId id="2147483689" r:id="rId8"/>
    <p:sldLayoutId id="2147483682" r:id="rId9"/>
    <p:sldLayoutId id="2147483683" r:id="rId10"/>
    <p:sldLayoutId id="2147483684" r:id="rId11"/>
    <p:sldLayoutId id="2147483685" r:id="rId12"/>
    <p:sldLayoutId id="2147483686" r:id="rId13"/>
    <p:sldLayoutId id="2147483687" r:id="rId14"/>
    <p:sldLayoutId id="2147483688" r:id="rId15"/>
    <p:sldLayoutId id="2147483669" r:id="rId1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r-Latn-R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6.xml"/><Relationship Id="rId4" Type="http://schemas.openxmlformats.org/officeDocument/2006/relationships/hyperlink" Target="https://dzone.com/articles/variance-the-heartbeat-of-agile-metrics" TargetMode="Externa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hyperlink" Target="https://www.researchgate.net/figure/Sample-Release-Burn-Up-Chart_fig7_266049888" TargetMode="External"/><Relationship Id="rId2" Type="http://schemas.openxmlformats.org/officeDocument/2006/relationships/notesSlide" Target="../notesSlides/notesSlide10.xml"/><Relationship Id="rId1" Type="http://schemas.openxmlformats.org/officeDocument/2006/relationships/slideLayout" Target="../slideLayouts/slideLayout6.xml"/><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6.xml"/><Relationship Id="rId4" Type="http://schemas.openxmlformats.org/officeDocument/2006/relationships/hyperlink" Target="https://www.researchgate.net/figure/Sample-Release-Burn-Up-Chart_fig7_266049888"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2.xml"/><Relationship Id="rId1" Type="http://schemas.openxmlformats.org/officeDocument/2006/relationships/slideLayout" Target="../slideLayouts/slideLayout6.xml"/><Relationship Id="rId4" Type="http://schemas.openxmlformats.org/officeDocument/2006/relationships/hyperlink" Target="https://www.excella.com/insights/burndown-chart-vs-cumulative-flow-diagram-cfd"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13.xml"/><Relationship Id="rId1" Type="http://schemas.openxmlformats.org/officeDocument/2006/relationships/slideLayout" Target="../slideLayouts/slideLayout6.xml"/><Relationship Id="rId5" Type="http://schemas.openxmlformats.org/officeDocument/2006/relationships/hyperlink" Target="https://www.excella.com/insights/burndown-chart-vs-cumulative-flow-diagram-cfd" TargetMode="External"/><Relationship Id="rId4" Type="http://schemas.openxmlformats.org/officeDocument/2006/relationships/image" Target="../media/image20.jpg"/></Relationships>
</file>

<file path=ppt/slides/_rels/slide15.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14.xml"/><Relationship Id="rId1" Type="http://schemas.openxmlformats.org/officeDocument/2006/relationships/slideLayout" Target="../slideLayouts/slideLayout6.xml"/><Relationship Id="rId4" Type="http://schemas.openxmlformats.org/officeDocument/2006/relationships/hyperlink" Target="https://www.excella.com/insights/burndown-chart-vs-cumulative-flow-diagram-cfd"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6.xml"/><Relationship Id="rId4" Type="http://schemas.openxmlformats.org/officeDocument/2006/relationships/hyperlink" Target="https://www.researchgate.net/figure/Epic-and-release-burndown_fig2_321741375"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6.xml"/><Relationship Id="rId4" Type="http://schemas.openxmlformats.org/officeDocument/2006/relationships/hyperlink" Target="https://www.researchgate.net/figure/Epic-and-release-burndown_fig2_321741375" TargetMode="Externa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2.xml"/><Relationship Id="rId1" Type="http://schemas.openxmlformats.org/officeDocument/2006/relationships/slideLayout" Target="../slideLayouts/slideLayout6.xml"/><Relationship Id="rId4" Type="http://schemas.openxmlformats.org/officeDocument/2006/relationships/hyperlink" Target="https://www.inflectra.com/Ideas/Whitepaper/Agile-Transformation-Failure-Due-To-Management-Debt.aspx" TargetMode="Externa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6.xml"/><Relationship Id="rId1" Type="http://schemas.openxmlformats.org/officeDocument/2006/relationships/slideLayout" Target="../slideLayouts/slideLayout6.xml"/><Relationship Id="rId4" Type="http://schemas.openxmlformats.org/officeDocument/2006/relationships/hyperlink" Target="https://whoek.com/b/knoster_managing-change.html" TargetMode="Externa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hyperlink" Target="https://www.egina.eu/" TargetMode="External"/><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9.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3" Type="http://schemas.openxmlformats.org/officeDocument/2006/relationships/hyperlink" Target="https://www.mckinsey.com/capabilities/people-and-organizational-performance/our-insights/the-journey-to-an-agile-organization" TargetMode="External"/><Relationship Id="rId2" Type="http://schemas.openxmlformats.org/officeDocument/2006/relationships/notesSlide" Target="../notesSlides/notesSlide51.xml"/><Relationship Id="rId1" Type="http://schemas.openxmlformats.org/officeDocument/2006/relationships/slideLayout" Target="../slideLayouts/slideLayout13.xml"/><Relationship Id="rId4" Type="http://schemas.openxmlformats.org/officeDocument/2006/relationships/hyperlink" Target="https://www.agilefluency.org/" TargetMode="External"/></Relationships>
</file>

<file path=ppt/slides/_rels/slide53.xml.rels><?xml version="1.0" encoding="UTF-8" standalone="yes"?>
<Relationships xmlns="http://schemas.openxmlformats.org/package/2006/relationships"><Relationship Id="rId3" Type="http://schemas.openxmlformats.org/officeDocument/2006/relationships/hyperlink" Target="https://www.pmi.org/disciplined-agile" TargetMode="External"/><Relationship Id="rId2" Type="http://schemas.openxmlformats.org/officeDocument/2006/relationships/notesSlide" Target="../notesSlides/notesSlide52.xml"/><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3" Type="http://schemas.openxmlformats.org/officeDocument/2006/relationships/hyperlink" Target="https://www.pmi.org/disciplined-agile" TargetMode="External"/><Relationship Id="rId2" Type="http://schemas.openxmlformats.org/officeDocument/2006/relationships/notesSlide" Target="../notesSlides/notesSlide54.xml"/><Relationship Id="rId1" Type="http://schemas.openxmlformats.org/officeDocument/2006/relationships/slideLayout" Target="../slideLayouts/slideLayout14.xml"/><Relationship Id="rId6" Type="http://schemas.openxmlformats.org/officeDocument/2006/relationships/hyperlink" Target="https://aida.mitre.org/agile/agile-metrics/?utm_source=chatgpt.com" TargetMode="External"/><Relationship Id="rId5" Type="http://schemas.openxmlformats.org/officeDocument/2006/relationships/hyperlink" Target="https://plan.io/blog/burndown-chart-and-agile-metrics/" TargetMode="External"/><Relationship Id="rId4" Type="http://schemas.openxmlformats.org/officeDocument/2006/relationships/hyperlink" Target="https://www.atlassian.com/agile/project-management/metrics" TargetMode="External"/></Relationships>
</file>

<file path=ppt/slides/_rels/slide56.xml.rels><?xml version="1.0" encoding="UTF-8" standalone="yes"?>
<Relationships xmlns="http://schemas.openxmlformats.org/package/2006/relationships"><Relationship Id="rId3" Type="http://schemas.openxmlformats.org/officeDocument/2006/relationships/hyperlink" Target="https://www.ijtrd.com/papers/IJTRD28553.pdf" TargetMode="External"/><Relationship Id="rId2" Type="http://schemas.openxmlformats.org/officeDocument/2006/relationships/notesSlide" Target="../notesSlides/notesSlide55.xml"/><Relationship Id="rId1" Type="http://schemas.openxmlformats.org/officeDocument/2006/relationships/slideLayout" Target="../slideLayouts/slideLayout14.xml"/><Relationship Id="rId5" Type="http://schemas.openxmlformats.org/officeDocument/2006/relationships/hyperlink" Target="https://arxiv.org/pdf/2407.06357.pdf" TargetMode="External"/><Relationship Id="rId4" Type="http://schemas.openxmlformats.org/officeDocument/2006/relationships/hyperlink" Target="https://www.slideshare.net/slideshow/agile-metrics-50873631/50873631"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322E5EA-124E-EF47-9C36-2C4210DB3CF5}"/>
              </a:ext>
            </a:extLst>
          </p:cNvPr>
          <p:cNvSpPr>
            <a:spLocks noGrp="1"/>
          </p:cNvSpPr>
          <p:nvPr>
            <p:ph type="ctrTitle"/>
          </p:nvPr>
        </p:nvSpPr>
        <p:spPr/>
        <p:txBody>
          <a:bodyPr/>
          <a:lstStyle/>
          <a:p>
            <a:r>
              <a:rPr lang="it-IT" dirty="0"/>
              <a:t>SHIFT4IT</a:t>
            </a:r>
            <a:endParaRPr lang="en-GB" dirty="0"/>
          </a:p>
        </p:txBody>
      </p:sp>
      <p:sp>
        <p:nvSpPr>
          <p:cNvPr id="3" name="Sottotitolo 2">
            <a:extLst>
              <a:ext uri="{FF2B5EF4-FFF2-40B4-BE49-F238E27FC236}">
                <a16:creationId xmlns:a16="http://schemas.microsoft.com/office/drawing/2014/main" id="{5814B79D-9A0C-B0C4-18DB-6A811F26CEE9}"/>
              </a:ext>
            </a:extLst>
          </p:cNvPr>
          <p:cNvSpPr>
            <a:spLocks noGrp="1"/>
          </p:cNvSpPr>
          <p:nvPr>
            <p:ph type="subTitle" idx="1"/>
          </p:nvPr>
        </p:nvSpPr>
        <p:spPr/>
        <p:txBody>
          <a:bodyPr/>
          <a:lstStyle/>
          <a:p>
            <a:r>
              <a:rPr lang="en-GB" dirty="0"/>
              <a:t>Shifting the </a:t>
            </a:r>
            <a:r>
              <a:rPr lang="en-GB" dirty="0" err="1"/>
              <a:t>paradygm</a:t>
            </a:r>
            <a:r>
              <a:rPr lang="en-GB" dirty="0"/>
              <a:t> for women in IT sector​</a:t>
            </a:r>
          </a:p>
        </p:txBody>
      </p:sp>
    </p:spTree>
    <p:extLst>
      <p:ext uri="{BB962C8B-B14F-4D97-AF65-F5344CB8AC3E}">
        <p14:creationId xmlns:p14="http://schemas.microsoft.com/office/powerpoint/2010/main" val="3212817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Naslov 3">
            <a:extLst>
              <a:ext uri="{FF2B5EF4-FFF2-40B4-BE49-F238E27FC236}">
                <a16:creationId xmlns:a16="http://schemas.microsoft.com/office/drawing/2014/main" id="{4022C4E9-1E70-8866-3479-A24FD93D0CAC}"/>
              </a:ext>
            </a:extLst>
          </p:cNvPr>
          <p:cNvSpPr>
            <a:spLocks noGrp="1"/>
          </p:cNvSpPr>
          <p:nvPr>
            <p:ph type="ctrTitle"/>
          </p:nvPr>
        </p:nvSpPr>
        <p:spPr/>
        <p:txBody>
          <a:bodyPr>
            <a:normAutofit/>
          </a:bodyPr>
          <a:lstStyle/>
          <a:p>
            <a:r>
              <a:rPr lang="hr-HR" dirty="0"/>
              <a:t>Mjerenje uspješnosti i sprječavanje neuspjeha</a:t>
            </a:r>
          </a:p>
        </p:txBody>
      </p:sp>
    </p:spTree>
    <p:extLst>
      <p:ext uri="{BB962C8B-B14F-4D97-AF65-F5344CB8AC3E}">
        <p14:creationId xmlns:p14="http://schemas.microsoft.com/office/powerpoint/2010/main" val="4955189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4A2C3CA-D4C4-1EA8-19A8-B85959F45873}"/>
              </a:ext>
            </a:extLst>
          </p:cNvPr>
          <p:cNvSpPr>
            <a:spLocks noGrp="1"/>
          </p:cNvSpPr>
          <p:nvPr>
            <p:ph type="title"/>
          </p:nvPr>
        </p:nvSpPr>
        <p:spPr/>
        <p:txBody>
          <a:bodyPr/>
          <a:lstStyle/>
          <a:p>
            <a:r>
              <a:rPr lang="hr-HR" dirty="0"/>
              <a:t>Sažetak</a:t>
            </a:r>
            <a:endParaRPr lang="en-GB" dirty="0"/>
          </a:p>
        </p:txBody>
      </p:sp>
      <p:sp>
        <p:nvSpPr>
          <p:cNvPr id="3" name="Segnaposto contenuto 2">
            <a:extLst>
              <a:ext uri="{FF2B5EF4-FFF2-40B4-BE49-F238E27FC236}">
                <a16:creationId xmlns:a16="http://schemas.microsoft.com/office/drawing/2014/main" id="{89260683-E1B9-6822-1795-418D1B896D5C}"/>
              </a:ext>
            </a:extLst>
          </p:cNvPr>
          <p:cNvSpPr>
            <a:spLocks noGrp="1"/>
          </p:cNvSpPr>
          <p:nvPr>
            <p:ph idx="1"/>
          </p:nvPr>
        </p:nvSpPr>
        <p:spPr/>
        <p:txBody>
          <a:bodyPr/>
          <a:lstStyle/>
          <a:p>
            <a:pPr marL="0" indent="0">
              <a:buNone/>
            </a:pPr>
            <a:r>
              <a:rPr lang="hr-HR" dirty="0"/>
              <a:t>4.1 Kako mjeriti uspješnost (2,5 sata)</a:t>
            </a:r>
            <a:br>
              <a:rPr lang="hr-HR" dirty="0"/>
            </a:br>
            <a:r>
              <a:rPr lang="hr-HR" dirty="0"/>
              <a:t>4.2 Kako izbjeći neuspjeh (2,5 sata)</a:t>
            </a:r>
            <a:br>
              <a:rPr lang="hr-HR" dirty="0"/>
            </a:br>
            <a:r>
              <a:rPr lang="hr-HR" dirty="0"/>
              <a:t>4.3 Usklađivanje </a:t>
            </a:r>
            <a:r>
              <a:rPr lang="hr-HR" dirty="0" err="1"/>
              <a:t>Waterfall</a:t>
            </a:r>
            <a:r>
              <a:rPr lang="hr-HR" dirty="0"/>
              <a:t> i </a:t>
            </a:r>
            <a:r>
              <a:rPr lang="hr-HR" dirty="0" err="1"/>
              <a:t>Agile</a:t>
            </a:r>
            <a:r>
              <a:rPr lang="hr-HR" dirty="0"/>
              <a:t> pristupa (2,5 sata)</a:t>
            </a:r>
            <a:endParaRPr lang="en-GB" dirty="0"/>
          </a:p>
        </p:txBody>
      </p:sp>
    </p:spTree>
    <p:extLst>
      <p:ext uri="{BB962C8B-B14F-4D97-AF65-F5344CB8AC3E}">
        <p14:creationId xmlns:p14="http://schemas.microsoft.com/office/powerpoint/2010/main" val="5322153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2DCEE9-24D7-FDEE-D64C-735274B0F01A}"/>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31456EB0-F073-67EB-872A-FA736C06046D}"/>
              </a:ext>
            </a:extLst>
          </p:cNvPr>
          <p:cNvSpPr>
            <a:spLocks noGrp="1"/>
          </p:cNvSpPr>
          <p:nvPr>
            <p:ph type="title"/>
          </p:nvPr>
        </p:nvSpPr>
        <p:spPr/>
        <p:txBody>
          <a:bodyPr/>
          <a:lstStyle/>
          <a:p>
            <a:r>
              <a:rPr lang="hr-HR" dirty="0"/>
              <a:t>Uvod</a:t>
            </a:r>
            <a:endParaRPr lang="en-GB" dirty="0"/>
          </a:p>
        </p:txBody>
      </p:sp>
      <p:sp>
        <p:nvSpPr>
          <p:cNvPr id="3" name="Segnaposto contenuto 2">
            <a:extLst>
              <a:ext uri="{FF2B5EF4-FFF2-40B4-BE49-F238E27FC236}">
                <a16:creationId xmlns:a16="http://schemas.microsoft.com/office/drawing/2014/main" id="{EF995E98-0DFF-A428-7A22-92F984C94565}"/>
              </a:ext>
            </a:extLst>
          </p:cNvPr>
          <p:cNvSpPr>
            <a:spLocks noGrp="1"/>
          </p:cNvSpPr>
          <p:nvPr>
            <p:ph idx="1"/>
          </p:nvPr>
        </p:nvSpPr>
        <p:spPr/>
        <p:txBody>
          <a:bodyPr>
            <a:normAutofit/>
          </a:bodyPr>
          <a:lstStyle/>
          <a:p>
            <a:pPr marL="0" indent="0" algn="just">
              <a:buNone/>
            </a:pPr>
            <a:r>
              <a:rPr lang="pl-PL" sz="2400" dirty="0"/>
              <a:t>Ovaj modul edukacije usmjeren je na aspekt </a:t>
            </a:r>
            <a:r>
              <a:rPr lang="hr-HR" sz="2400" dirty="0">
                <a:solidFill>
                  <a:srgbClr val="DC56F5"/>
                </a:solidFill>
              </a:rPr>
              <a:t>kontrole i održivosti </a:t>
            </a:r>
            <a:r>
              <a:rPr lang="hr-HR" sz="2400" dirty="0"/>
              <a:t>u </a:t>
            </a:r>
            <a:r>
              <a:rPr lang="hr-HR" sz="2400" dirty="0" err="1"/>
              <a:t>Agile</a:t>
            </a:r>
            <a:r>
              <a:rPr lang="hr-HR" sz="2400" dirty="0"/>
              <a:t> upravljanju projektima: kako pratiti uspješnost, pravilno interpretirati značenje metrika i koristiti ih za kontinuirano unapređenje rezultata.</a:t>
            </a:r>
          </a:p>
          <a:p>
            <a:pPr marL="0" indent="0" algn="just">
              <a:buNone/>
            </a:pPr>
            <a:endParaRPr lang="en-GB" sz="2600" dirty="0"/>
          </a:p>
          <a:p>
            <a:pPr marL="0" indent="0" algn="just">
              <a:buNone/>
            </a:pPr>
            <a:r>
              <a:rPr lang="hr-HR" sz="2400" dirty="0"/>
              <a:t>Najprije ćete istražiti kako </a:t>
            </a:r>
            <a:r>
              <a:rPr lang="hr-HR" sz="2400" dirty="0">
                <a:solidFill>
                  <a:srgbClr val="DC56F5"/>
                </a:solidFill>
              </a:rPr>
              <a:t>mjeriti uspješnost u </a:t>
            </a:r>
            <a:r>
              <a:rPr lang="hr-HR" sz="2400" dirty="0" err="1">
                <a:solidFill>
                  <a:srgbClr val="DC56F5"/>
                </a:solidFill>
              </a:rPr>
              <a:t>Agile</a:t>
            </a:r>
            <a:r>
              <a:rPr lang="hr-HR" sz="2400" dirty="0">
                <a:solidFill>
                  <a:srgbClr val="DC56F5"/>
                </a:solidFill>
              </a:rPr>
              <a:t> okruženju</a:t>
            </a:r>
            <a:r>
              <a:rPr lang="en-US" altLang="en-US" sz="2600" dirty="0"/>
              <a:t>, </a:t>
            </a:r>
            <a:r>
              <a:rPr lang="hr-HR" sz="2400" dirty="0"/>
              <a:t>počevši od brzine (</a:t>
            </a:r>
            <a:r>
              <a:rPr lang="hr-HR" sz="2400" dirty="0" err="1"/>
              <a:t>velocity</a:t>
            </a:r>
            <a:r>
              <a:rPr lang="hr-HR" sz="2400" dirty="0"/>
              <a:t>) kao ključnog pokazatelja sposobnosti isporuke i predviđanja. Modul zatim uvodi najčešće korištene vizualne alate te objašnjava što svaki od njih otkriva o brzini tijeka rada, uskim grlima, širenju opsega (</a:t>
            </a:r>
            <a:r>
              <a:rPr lang="hr-HR" sz="2400" dirty="0" err="1"/>
              <a:t>scope</a:t>
            </a:r>
            <a:r>
              <a:rPr lang="hr-HR" sz="2400" dirty="0"/>
              <a:t> </a:t>
            </a:r>
            <a:r>
              <a:rPr lang="hr-HR" sz="2400" dirty="0" err="1"/>
              <a:t>creep</a:t>
            </a:r>
            <a:r>
              <a:rPr lang="hr-HR" sz="2400" dirty="0"/>
              <a:t>) i predvidljivosti.</a:t>
            </a:r>
            <a:endParaRPr lang="en-GB" dirty="0"/>
          </a:p>
          <a:p>
            <a:pPr marL="0" indent="0">
              <a:buNone/>
            </a:pPr>
            <a:endParaRPr lang="en-GB" dirty="0"/>
          </a:p>
          <a:p>
            <a:pPr marL="0" indent="0">
              <a:buNone/>
            </a:pPr>
            <a:endParaRPr lang="en-GB" dirty="0"/>
          </a:p>
        </p:txBody>
      </p:sp>
    </p:spTree>
    <p:extLst>
      <p:ext uri="{BB962C8B-B14F-4D97-AF65-F5344CB8AC3E}">
        <p14:creationId xmlns:p14="http://schemas.microsoft.com/office/powerpoint/2010/main" val="17097125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CA87B3-14DF-E8B8-C35A-D6422B5C0ABF}"/>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B237C998-D773-5C23-F154-FCD7F4888654}"/>
              </a:ext>
            </a:extLst>
          </p:cNvPr>
          <p:cNvSpPr>
            <a:spLocks noGrp="1"/>
          </p:cNvSpPr>
          <p:nvPr>
            <p:ph type="title"/>
          </p:nvPr>
        </p:nvSpPr>
        <p:spPr/>
        <p:txBody>
          <a:bodyPr/>
          <a:lstStyle/>
          <a:p>
            <a:r>
              <a:rPr lang="hr-HR" dirty="0"/>
              <a:t>Uvod</a:t>
            </a:r>
            <a:endParaRPr lang="en-GB" dirty="0"/>
          </a:p>
        </p:txBody>
      </p:sp>
      <p:sp>
        <p:nvSpPr>
          <p:cNvPr id="3" name="Segnaposto contenuto 2">
            <a:extLst>
              <a:ext uri="{FF2B5EF4-FFF2-40B4-BE49-F238E27FC236}">
                <a16:creationId xmlns:a16="http://schemas.microsoft.com/office/drawing/2014/main" id="{E05F92A8-C848-B556-BA2C-3AAE2CF99F2C}"/>
              </a:ext>
            </a:extLst>
          </p:cNvPr>
          <p:cNvSpPr>
            <a:spLocks noGrp="1"/>
          </p:cNvSpPr>
          <p:nvPr>
            <p:ph idx="1"/>
          </p:nvPr>
        </p:nvSpPr>
        <p:spPr/>
        <p:txBody>
          <a:bodyPr>
            <a:normAutofit/>
          </a:bodyPr>
          <a:lstStyle/>
          <a:p>
            <a:pPr marL="0" indent="0">
              <a:buNone/>
            </a:pPr>
            <a:r>
              <a:rPr lang="hr-HR" sz="2400" dirty="0"/>
              <a:t>Drugi dio bavi se razlozima zbog kojih </a:t>
            </a:r>
            <a:r>
              <a:rPr lang="hr-HR" sz="2400" dirty="0" err="1"/>
              <a:t>Agile</a:t>
            </a:r>
            <a:r>
              <a:rPr lang="hr-HR" sz="2400" dirty="0"/>
              <a:t> inicijative često nailaze na poteškoće, preusmjeravajući fokus s alata na organizacijsku stvarnost. Analizirat ćete tipične uzroke neuspjeha te razlikovati </a:t>
            </a:r>
            <a:r>
              <a:rPr lang="hr-HR" sz="2400" dirty="0" err="1"/>
              <a:t>Agile</a:t>
            </a:r>
            <a:r>
              <a:rPr lang="hr-HR" sz="2400" dirty="0"/>
              <a:t> usvajanje (korištenje praksi) od </a:t>
            </a:r>
            <a:r>
              <a:rPr lang="hr-HR" sz="2400" dirty="0" err="1"/>
              <a:t>Agile</a:t>
            </a:r>
            <a:r>
              <a:rPr lang="hr-HR" sz="2400" dirty="0"/>
              <a:t> transformacije (promjena organizacijske kulture).</a:t>
            </a:r>
          </a:p>
          <a:p>
            <a:pPr marL="0" indent="0">
              <a:buNone/>
            </a:pPr>
            <a:r>
              <a:rPr lang="hr-HR" sz="2400" dirty="0"/>
              <a:t>Na kraju, modul podržava praktično donošenje odluka u stvarnim projektima prikazujući kako uskladiti </a:t>
            </a:r>
            <a:r>
              <a:rPr lang="hr-HR" sz="2400" dirty="0" err="1"/>
              <a:t>Agile</a:t>
            </a:r>
            <a:r>
              <a:rPr lang="hr-HR" sz="2400" dirty="0"/>
              <a:t> i </a:t>
            </a:r>
            <a:r>
              <a:rPr lang="hr-HR" sz="2400" dirty="0" err="1"/>
              <a:t>Waterfall</a:t>
            </a:r>
            <a:r>
              <a:rPr lang="hr-HR" sz="2400" dirty="0"/>
              <a:t> pristupe kada dionici i dalje zahtijevaju tradicionalne planerske artefakte.</a:t>
            </a:r>
          </a:p>
        </p:txBody>
      </p:sp>
    </p:spTree>
    <p:extLst>
      <p:ext uri="{BB962C8B-B14F-4D97-AF65-F5344CB8AC3E}">
        <p14:creationId xmlns:p14="http://schemas.microsoft.com/office/powerpoint/2010/main" val="34392669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2F0CC9-8765-9DB8-4735-1BD033A0B1D1}"/>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A50C61DE-3C80-581A-DC9B-E7DDAA5C28B5}"/>
              </a:ext>
            </a:extLst>
          </p:cNvPr>
          <p:cNvSpPr>
            <a:spLocks noGrp="1"/>
          </p:cNvSpPr>
          <p:nvPr>
            <p:ph type="title"/>
          </p:nvPr>
        </p:nvSpPr>
        <p:spPr/>
        <p:txBody>
          <a:bodyPr/>
          <a:lstStyle/>
          <a:p>
            <a:r>
              <a:rPr lang="hr-HR" dirty="0"/>
              <a:t>Uvod</a:t>
            </a:r>
            <a:endParaRPr lang="en-GB" dirty="0"/>
          </a:p>
        </p:txBody>
      </p:sp>
      <p:sp>
        <p:nvSpPr>
          <p:cNvPr id="3" name="Segnaposto contenuto 2">
            <a:extLst>
              <a:ext uri="{FF2B5EF4-FFF2-40B4-BE49-F238E27FC236}">
                <a16:creationId xmlns:a16="http://schemas.microsoft.com/office/drawing/2014/main" id="{60CFC4F9-617F-7C9F-6346-4036D76FDD4B}"/>
              </a:ext>
            </a:extLst>
          </p:cNvPr>
          <p:cNvSpPr>
            <a:spLocks noGrp="1"/>
          </p:cNvSpPr>
          <p:nvPr>
            <p:ph idx="1"/>
          </p:nvPr>
        </p:nvSpPr>
        <p:spPr/>
        <p:txBody>
          <a:bodyPr>
            <a:normAutofit fontScale="92500"/>
          </a:bodyPr>
          <a:lstStyle/>
          <a:p>
            <a:pPr marL="0" indent="0">
              <a:buNone/>
            </a:pPr>
            <a:r>
              <a:rPr lang="hr-HR" dirty="0"/>
              <a:t>Na kraju ovog modula moći ćete:</a:t>
            </a:r>
          </a:p>
          <a:p>
            <a:r>
              <a:rPr lang="hr-HR" dirty="0"/>
              <a:t>razumjeti ključne metrike uspješnosti koje se koriste u </a:t>
            </a:r>
            <a:r>
              <a:rPr lang="hr-HR" dirty="0" err="1"/>
              <a:t>Agile</a:t>
            </a:r>
            <a:r>
              <a:rPr lang="hr-HR" dirty="0"/>
              <a:t> okruženjima </a:t>
            </a:r>
          </a:p>
          <a:p>
            <a:r>
              <a:rPr lang="hr-HR" dirty="0"/>
              <a:t>prepoznati i primijeniti odgovarajuće alate i tehnike mjerenja </a:t>
            </a:r>
          </a:p>
          <a:p>
            <a:r>
              <a:rPr lang="hr-HR" dirty="0"/>
              <a:t>raspravljati o važnosti kontinuiranog unapređenja i povratnih petlji </a:t>
            </a:r>
          </a:p>
          <a:p>
            <a:r>
              <a:rPr lang="hr-HR" dirty="0"/>
              <a:t>razumjeti koncept rizika u </a:t>
            </a:r>
            <a:r>
              <a:rPr lang="hr-HR" dirty="0" err="1"/>
              <a:t>Agile</a:t>
            </a:r>
            <a:r>
              <a:rPr lang="hr-HR" dirty="0"/>
              <a:t> kontekstu </a:t>
            </a:r>
          </a:p>
          <a:p>
            <a:r>
              <a:rPr lang="hr-HR" dirty="0"/>
              <a:t>prepoznati različite vrste rizika u </a:t>
            </a:r>
            <a:r>
              <a:rPr lang="hr-HR" dirty="0" err="1"/>
              <a:t>Agile</a:t>
            </a:r>
            <a:r>
              <a:rPr lang="hr-HR" dirty="0"/>
              <a:t> projektima </a:t>
            </a:r>
          </a:p>
          <a:p>
            <a:r>
              <a:rPr lang="hr-HR" dirty="0"/>
              <a:t>razlikovati </a:t>
            </a:r>
            <a:r>
              <a:rPr lang="hr-HR" dirty="0" err="1"/>
              <a:t>Waterfall</a:t>
            </a:r>
            <a:r>
              <a:rPr lang="hr-HR" dirty="0"/>
              <a:t> i </a:t>
            </a:r>
            <a:r>
              <a:rPr lang="hr-HR" dirty="0" err="1"/>
              <a:t>Agile</a:t>
            </a:r>
            <a:r>
              <a:rPr lang="hr-HR" dirty="0"/>
              <a:t> metodologije </a:t>
            </a:r>
          </a:p>
          <a:p>
            <a:r>
              <a:rPr lang="hr-HR" dirty="0"/>
              <a:t>prepoznati prednosti i slabosti svake metodologije</a:t>
            </a:r>
          </a:p>
        </p:txBody>
      </p:sp>
    </p:spTree>
    <p:extLst>
      <p:ext uri="{BB962C8B-B14F-4D97-AF65-F5344CB8AC3E}">
        <p14:creationId xmlns:p14="http://schemas.microsoft.com/office/powerpoint/2010/main" val="8632515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AF3553-01B7-B91F-DBDD-0393F55C2A48}"/>
              </a:ext>
            </a:extLst>
          </p:cNvPr>
          <p:cNvSpPr>
            <a:spLocks noGrp="1"/>
          </p:cNvSpPr>
          <p:nvPr>
            <p:ph type="ctrTitle"/>
          </p:nvPr>
        </p:nvSpPr>
        <p:spPr/>
        <p:txBody>
          <a:bodyPr/>
          <a:lstStyle/>
          <a:p>
            <a:r>
              <a:rPr lang="hr-HR" dirty="0"/>
              <a:t>Kako mjeriti uspješnost</a:t>
            </a:r>
            <a:endParaRPr lang="en-GB" dirty="0"/>
          </a:p>
        </p:txBody>
      </p:sp>
    </p:spTree>
    <p:extLst>
      <p:ext uri="{BB962C8B-B14F-4D97-AF65-F5344CB8AC3E}">
        <p14:creationId xmlns:p14="http://schemas.microsoft.com/office/powerpoint/2010/main" val="4013454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D5A9C02-CC83-6648-8D59-7D548345851E}"/>
              </a:ext>
            </a:extLst>
          </p:cNvPr>
          <p:cNvSpPr>
            <a:spLocks noGrp="1"/>
          </p:cNvSpPr>
          <p:nvPr>
            <p:ph type="title"/>
          </p:nvPr>
        </p:nvSpPr>
        <p:spPr/>
        <p:txBody>
          <a:bodyPr/>
          <a:lstStyle/>
          <a:p>
            <a:r>
              <a:rPr lang="en-GB" dirty="0"/>
              <a:t>Velocity: </a:t>
            </a:r>
            <a:r>
              <a:rPr lang="hr-HR" dirty="0"/>
              <a:t>ključna metrika</a:t>
            </a:r>
            <a:endParaRPr lang="en-GB" dirty="0"/>
          </a:p>
        </p:txBody>
      </p:sp>
      <p:sp>
        <p:nvSpPr>
          <p:cNvPr id="3" name="Segnaposto contenuto 2">
            <a:extLst>
              <a:ext uri="{FF2B5EF4-FFF2-40B4-BE49-F238E27FC236}">
                <a16:creationId xmlns:a16="http://schemas.microsoft.com/office/drawing/2014/main" id="{3FD4EE9D-3BD5-5FC6-6FFB-686702938D9B}"/>
              </a:ext>
            </a:extLst>
          </p:cNvPr>
          <p:cNvSpPr>
            <a:spLocks noGrp="1"/>
          </p:cNvSpPr>
          <p:nvPr>
            <p:ph idx="1"/>
          </p:nvPr>
        </p:nvSpPr>
        <p:spPr/>
        <p:txBody>
          <a:bodyPr/>
          <a:lstStyle/>
          <a:p>
            <a:pPr marL="0" indent="0">
              <a:buNone/>
            </a:pPr>
            <a:r>
              <a:rPr lang="hr-HR" dirty="0" err="1"/>
              <a:t>Velocity</a:t>
            </a:r>
            <a:r>
              <a:rPr lang="hr-HR" dirty="0"/>
              <a:t>: mjera količine posla koju tim uspije dovršiti tijekom jednog ciklusa/sprinta.</a:t>
            </a:r>
          </a:p>
          <a:p>
            <a:pPr marL="0" indent="0">
              <a:buNone/>
            </a:pPr>
            <a:r>
              <a:rPr lang="hr-HR" dirty="0"/>
              <a:t>Izračunava se za svaki ciklus zbrajanjem uloženog napora (u satima ili bodovima) potrebnog za dovršavanje zadataka označenih kao „</a:t>
            </a:r>
            <a:r>
              <a:rPr lang="hr-HR" dirty="0" err="1"/>
              <a:t>done</a:t>
            </a:r>
            <a:r>
              <a:rPr lang="hr-HR" dirty="0"/>
              <a:t>”.</a:t>
            </a:r>
          </a:p>
        </p:txBody>
      </p:sp>
    </p:spTree>
    <p:extLst>
      <p:ext uri="{BB962C8B-B14F-4D97-AF65-F5344CB8AC3E}">
        <p14:creationId xmlns:p14="http://schemas.microsoft.com/office/powerpoint/2010/main" val="343315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151C0C-A2AB-48F7-3279-323CECF5C708}"/>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F7729022-6050-E658-0151-A2C278B8AF80}"/>
              </a:ext>
            </a:extLst>
          </p:cNvPr>
          <p:cNvSpPr>
            <a:spLocks noGrp="1"/>
          </p:cNvSpPr>
          <p:nvPr>
            <p:ph type="title"/>
          </p:nvPr>
        </p:nvSpPr>
        <p:spPr/>
        <p:txBody>
          <a:bodyPr/>
          <a:lstStyle/>
          <a:p>
            <a:r>
              <a:rPr lang="hr-HR" dirty="0" err="1"/>
              <a:t>Velocity</a:t>
            </a:r>
            <a:r>
              <a:rPr lang="hr-HR" dirty="0"/>
              <a:t> </a:t>
            </a:r>
            <a:r>
              <a:rPr lang="hr-HR" dirty="0" err="1"/>
              <a:t>chart</a:t>
            </a:r>
            <a:endParaRPr lang="en-GB" dirty="0"/>
          </a:p>
        </p:txBody>
      </p:sp>
      <p:sp>
        <p:nvSpPr>
          <p:cNvPr id="3" name="Segnaposto contenuto 2">
            <a:extLst>
              <a:ext uri="{FF2B5EF4-FFF2-40B4-BE49-F238E27FC236}">
                <a16:creationId xmlns:a16="http://schemas.microsoft.com/office/drawing/2014/main" id="{201472BD-8CC5-C9AC-5131-A14A8531F1A0}"/>
              </a:ext>
            </a:extLst>
          </p:cNvPr>
          <p:cNvSpPr>
            <a:spLocks noGrp="1"/>
          </p:cNvSpPr>
          <p:nvPr>
            <p:ph idx="1"/>
          </p:nvPr>
        </p:nvSpPr>
        <p:spPr>
          <a:xfrm>
            <a:off x="7282403" y="2552573"/>
            <a:ext cx="4071397" cy="1752853"/>
          </a:xfrm>
        </p:spPr>
        <p:txBody>
          <a:bodyPr>
            <a:normAutofit fontScale="92500" lnSpcReduction="10000"/>
          </a:bodyPr>
          <a:lstStyle/>
          <a:p>
            <a:pPr marL="0" indent="0">
              <a:buNone/>
            </a:pPr>
            <a:r>
              <a:rPr lang="hr-HR" dirty="0"/>
              <a:t>Prikazuje brzinu tijeka rada i opterećenje tima po sprintu.</a:t>
            </a:r>
            <a:br>
              <a:rPr lang="hr-HR" dirty="0"/>
            </a:br>
            <a:r>
              <a:rPr lang="hr-HR" dirty="0"/>
              <a:t>Omogućuje izradu predviđanja za budućnost.</a:t>
            </a:r>
            <a:endParaRPr lang="en-GB" dirty="0"/>
          </a:p>
          <a:p>
            <a:endParaRPr lang="en-GB" dirty="0"/>
          </a:p>
        </p:txBody>
      </p:sp>
      <p:sp>
        <p:nvSpPr>
          <p:cNvPr id="6" name="object 5">
            <a:extLst>
              <a:ext uri="{FF2B5EF4-FFF2-40B4-BE49-F238E27FC236}">
                <a16:creationId xmlns:a16="http://schemas.microsoft.com/office/drawing/2014/main" id="{66302EB9-0196-D648-F9F4-C4769F14C7B7}"/>
              </a:ext>
            </a:extLst>
          </p:cNvPr>
          <p:cNvSpPr/>
          <p:nvPr/>
        </p:nvSpPr>
        <p:spPr>
          <a:xfrm>
            <a:off x="5325648" y="3845235"/>
            <a:ext cx="1672865" cy="294397"/>
          </a:xfrm>
          <a:custGeom>
            <a:avLst/>
            <a:gdLst/>
            <a:ahLst/>
            <a:cxnLst/>
            <a:rect l="l" t="t" r="r" b="b"/>
            <a:pathLst>
              <a:path w="1325245" h="229869">
                <a:moveTo>
                  <a:pt x="1325099" y="229799"/>
                </a:moveTo>
                <a:lnTo>
                  <a:pt x="0" y="229799"/>
                </a:lnTo>
                <a:lnTo>
                  <a:pt x="0" y="0"/>
                </a:lnTo>
                <a:lnTo>
                  <a:pt x="1325099" y="0"/>
                </a:lnTo>
                <a:lnTo>
                  <a:pt x="1325099" y="229799"/>
                </a:lnTo>
                <a:close/>
              </a:path>
            </a:pathLst>
          </a:custGeom>
          <a:solidFill>
            <a:srgbClr val="FFFFFF"/>
          </a:solidFill>
        </p:spPr>
        <p:txBody>
          <a:bodyPr wrap="square" lIns="0" tIns="0" rIns="0" bIns="0" rtlCol="0"/>
          <a:lstStyle/>
          <a:p>
            <a:endParaRPr/>
          </a:p>
        </p:txBody>
      </p:sp>
      <p:pic>
        <p:nvPicPr>
          <p:cNvPr id="1026" name="Picture 2" descr="Velocity chart">
            <a:extLst>
              <a:ext uri="{FF2B5EF4-FFF2-40B4-BE49-F238E27FC236}">
                <a16:creationId xmlns:a16="http://schemas.microsoft.com/office/drawing/2014/main" id="{66151792-8831-DCEC-D232-4A2DCC0A6C3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2391130"/>
            <a:ext cx="6244650" cy="3497004"/>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EAA1D849-C635-6F6D-65A5-603DA3A4771D}"/>
              </a:ext>
            </a:extLst>
          </p:cNvPr>
          <p:cNvSpPr txBox="1"/>
          <p:nvPr/>
        </p:nvSpPr>
        <p:spPr>
          <a:xfrm>
            <a:off x="1061884" y="5888134"/>
            <a:ext cx="5034116" cy="369332"/>
          </a:xfrm>
          <a:prstGeom prst="rect">
            <a:avLst/>
          </a:prstGeom>
          <a:noFill/>
        </p:spPr>
        <p:txBody>
          <a:bodyPr wrap="square" rtlCol="0">
            <a:spAutoFit/>
          </a:bodyPr>
          <a:lstStyle/>
          <a:p>
            <a:r>
              <a:rPr lang="hr-HR" sz="900" dirty="0">
                <a:latin typeface="Bahnschrift SemiLight" panose="020B0502040204020203" pitchFamily="34" charset="0"/>
              </a:rPr>
              <a:t>Izvor</a:t>
            </a:r>
            <a:r>
              <a:rPr lang="it-IT" sz="900" dirty="0">
                <a:latin typeface="Bahnschrift SemiLight" panose="020B0502040204020203" pitchFamily="34" charset="0"/>
              </a:rPr>
              <a:t>: </a:t>
            </a:r>
            <a:r>
              <a:rPr lang="it-IT" sz="900" i="1" dirty="0">
                <a:latin typeface="Bahnschrift SemiLight" panose="020B0502040204020203" pitchFamily="34" charset="0"/>
              </a:rPr>
              <a:t>Adrian Baker - </a:t>
            </a:r>
            <a:r>
              <a:rPr lang="it-IT" sz="900" i="1" dirty="0" err="1">
                <a:latin typeface="Bahnschrift SemiLight" panose="020B0502040204020203" pitchFamily="34" charset="0"/>
              </a:rPr>
              <a:t>DZone</a:t>
            </a:r>
            <a:r>
              <a:rPr lang="it-IT" sz="900" i="1" dirty="0">
                <a:latin typeface="Bahnschrift SemiLight" panose="020B0502040204020203" pitchFamily="34" charset="0"/>
              </a:rPr>
              <a:t> </a:t>
            </a:r>
            <a:r>
              <a:rPr lang="it-IT" sz="900" dirty="0">
                <a:latin typeface="Bahnschrift SemiLight" panose="020B0502040204020203" pitchFamily="34" charset="0"/>
              </a:rPr>
              <a:t>(</a:t>
            </a:r>
            <a:r>
              <a:rPr lang="it-IT" sz="900" dirty="0">
                <a:latin typeface="Bahnschrift SemiLight" panose="020B0502040204020203" pitchFamily="34" charset="0"/>
                <a:hlinkClick r:id="rId4"/>
              </a:rPr>
              <a:t>https://dzone.com/</a:t>
            </a:r>
            <a:r>
              <a:rPr lang="it-IT" sz="900" dirty="0" err="1">
                <a:latin typeface="Bahnschrift SemiLight" panose="020B0502040204020203" pitchFamily="34" charset="0"/>
                <a:hlinkClick r:id="rId4"/>
              </a:rPr>
              <a:t>articles</a:t>
            </a:r>
            <a:r>
              <a:rPr lang="it-IT" sz="900" dirty="0">
                <a:latin typeface="Bahnschrift SemiLight" panose="020B0502040204020203" pitchFamily="34" charset="0"/>
                <a:hlinkClick r:id="rId4"/>
              </a:rPr>
              <a:t>/</a:t>
            </a:r>
            <a:r>
              <a:rPr lang="it-IT" sz="900" dirty="0" err="1">
                <a:latin typeface="Bahnschrift SemiLight" panose="020B0502040204020203" pitchFamily="34" charset="0"/>
                <a:hlinkClick r:id="rId4"/>
              </a:rPr>
              <a:t>variance</a:t>
            </a:r>
            <a:r>
              <a:rPr lang="it-IT" sz="900" dirty="0">
                <a:latin typeface="Bahnschrift SemiLight" panose="020B0502040204020203" pitchFamily="34" charset="0"/>
                <a:hlinkClick r:id="rId4"/>
              </a:rPr>
              <a:t>-the-</a:t>
            </a:r>
            <a:r>
              <a:rPr lang="it-IT" sz="900" dirty="0" err="1">
                <a:latin typeface="Bahnschrift SemiLight" panose="020B0502040204020203" pitchFamily="34" charset="0"/>
                <a:hlinkClick r:id="rId4"/>
              </a:rPr>
              <a:t>heartbeat</a:t>
            </a:r>
            <a:r>
              <a:rPr lang="it-IT" sz="900" dirty="0">
                <a:latin typeface="Bahnschrift SemiLight" panose="020B0502040204020203" pitchFamily="34" charset="0"/>
                <a:hlinkClick r:id="rId4"/>
              </a:rPr>
              <a:t>-of-agile-</a:t>
            </a:r>
            <a:r>
              <a:rPr lang="it-IT" sz="900" dirty="0" err="1">
                <a:latin typeface="Bahnschrift SemiLight" panose="020B0502040204020203" pitchFamily="34" charset="0"/>
                <a:hlinkClick r:id="rId4"/>
              </a:rPr>
              <a:t>metrics</a:t>
            </a:r>
            <a:r>
              <a:rPr lang="it-IT" sz="900" dirty="0">
                <a:latin typeface="Bahnschrift SemiLight" panose="020B0502040204020203" pitchFamily="34" charset="0"/>
              </a:rPr>
              <a:t>) </a:t>
            </a:r>
            <a:endParaRPr lang="en-GB" sz="900" dirty="0">
              <a:latin typeface="Bahnschrift SemiLight" panose="020B0502040204020203" pitchFamily="34" charset="0"/>
            </a:endParaRPr>
          </a:p>
        </p:txBody>
      </p:sp>
    </p:spTree>
    <p:extLst>
      <p:ext uri="{BB962C8B-B14F-4D97-AF65-F5344CB8AC3E}">
        <p14:creationId xmlns:p14="http://schemas.microsoft.com/office/powerpoint/2010/main" val="15204807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348909-88DD-CFA1-A51D-707FF13E72D9}"/>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CCD6E405-E296-DA05-06EA-D9522C0AA6CB}"/>
              </a:ext>
            </a:extLst>
          </p:cNvPr>
          <p:cNvSpPr>
            <a:spLocks noGrp="1"/>
          </p:cNvSpPr>
          <p:nvPr>
            <p:ph type="title"/>
          </p:nvPr>
        </p:nvSpPr>
        <p:spPr/>
        <p:txBody>
          <a:bodyPr/>
          <a:lstStyle/>
          <a:p>
            <a:r>
              <a:rPr lang="hr-HR" dirty="0" err="1"/>
              <a:t>Velocity</a:t>
            </a:r>
            <a:r>
              <a:rPr lang="hr-HR" dirty="0"/>
              <a:t> </a:t>
            </a:r>
            <a:r>
              <a:rPr lang="hr-HR" dirty="0" err="1"/>
              <a:t>chart</a:t>
            </a:r>
            <a:endParaRPr lang="en-GB" dirty="0"/>
          </a:p>
        </p:txBody>
      </p:sp>
      <p:sp>
        <p:nvSpPr>
          <p:cNvPr id="3" name="Segnaposto contenuto 2">
            <a:extLst>
              <a:ext uri="{FF2B5EF4-FFF2-40B4-BE49-F238E27FC236}">
                <a16:creationId xmlns:a16="http://schemas.microsoft.com/office/drawing/2014/main" id="{E6386667-9A7C-DAAA-1AE1-7CC283DDE6E1}"/>
              </a:ext>
            </a:extLst>
          </p:cNvPr>
          <p:cNvSpPr>
            <a:spLocks noGrp="1"/>
          </p:cNvSpPr>
          <p:nvPr>
            <p:ph idx="1"/>
          </p:nvPr>
        </p:nvSpPr>
        <p:spPr/>
        <p:txBody>
          <a:bodyPr>
            <a:normAutofit fontScale="92500" lnSpcReduction="20000"/>
          </a:bodyPr>
          <a:lstStyle/>
          <a:p>
            <a:pPr marL="0" indent="0">
              <a:buNone/>
            </a:pPr>
            <a:r>
              <a:rPr lang="hr-HR" dirty="0"/>
              <a:t>Zahtjevi:</a:t>
            </a:r>
          </a:p>
          <a:p>
            <a:r>
              <a:rPr lang="hr-HR" dirty="0"/>
              <a:t>Definiranje jedinica rada (napora) za svaki zadatak i trajanja sprintova. </a:t>
            </a:r>
          </a:p>
          <a:p>
            <a:r>
              <a:rPr lang="hr-HR" dirty="0"/>
              <a:t>Kontinuirana komunikacija između članova tima o dovršenim i preostalim zadacima. </a:t>
            </a:r>
          </a:p>
          <a:p>
            <a:r>
              <a:rPr lang="hr-HR" dirty="0"/>
              <a:t>Na kraju svakog sprinta analiza broja dovršenih jedinica rada. </a:t>
            </a:r>
          </a:p>
          <a:p>
            <a:pPr marL="0" indent="0">
              <a:buNone/>
            </a:pPr>
            <a:r>
              <a:rPr lang="hr-HR" dirty="0"/>
              <a:t>Napomena: Stvarni </a:t>
            </a:r>
            <a:r>
              <a:rPr lang="hr-HR" dirty="0" err="1"/>
              <a:t>velocity</a:t>
            </a:r>
            <a:r>
              <a:rPr lang="hr-HR" dirty="0"/>
              <a:t> manji od procijenjenog može upućivati na:</a:t>
            </a:r>
          </a:p>
          <a:p>
            <a:r>
              <a:rPr lang="hr-HR" dirty="0"/>
              <a:t>prevelik faktor neizvjesnosti (FF) </a:t>
            </a:r>
          </a:p>
          <a:p>
            <a:r>
              <a:rPr lang="hr-HR" dirty="0"/>
              <a:t>preoptimistične procjene </a:t>
            </a:r>
          </a:p>
          <a:p>
            <a:pPr marL="0" indent="0">
              <a:buNone/>
            </a:pPr>
            <a:r>
              <a:rPr lang="hr-HR" dirty="0"/>
              <a:t>Savjet: za povećanje </a:t>
            </a:r>
            <a:r>
              <a:rPr lang="hr-HR" dirty="0" err="1"/>
              <a:t>velocityja</a:t>
            </a:r>
            <a:r>
              <a:rPr lang="hr-HR" dirty="0"/>
              <a:t> tima, započnite retrospektivu s „blokiranim” zadacima.</a:t>
            </a:r>
          </a:p>
        </p:txBody>
      </p:sp>
    </p:spTree>
    <p:extLst>
      <p:ext uri="{BB962C8B-B14F-4D97-AF65-F5344CB8AC3E}">
        <p14:creationId xmlns:p14="http://schemas.microsoft.com/office/powerpoint/2010/main" val="27190303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4AB6C5-35B6-C3AD-6A65-C843F8508685}"/>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D26279CF-C763-900D-2128-AE5ABD1AC77A}"/>
              </a:ext>
            </a:extLst>
          </p:cNvPr>
          <p:cNvSpPr>
            <a:spLocks noGrp="1"/>
          </p:cNvSpPr>
          <p:nvPr>
            <p:ph type="title"/>
          </p:nvPr>
        </p:nvSpPr>
        <p:spPr/>
        <p:txBody>
          <a:bodyPr/>
          <a:lstStyle/>
          <a:p>
            <a:r>
              <a:rPr lang="en-GB" sz="3600" dirty="0"/>
              <a:t>Burndown</a:t>
            </a:r>
            <a:r>
              <a:rPr lang="en-GB" sz="3600" spc="-135" dirty="0"/>
              <a:t> </a:t>
            </a:r>
            <a:r>
              <a:rPr lang="en-GB" sz="3600" spc="-10" dirty="0"/>
              <a:t>chart</a:t>
            </a:r>
            <a:endParaRPr lang="en-GB" dirty="0"/>
          </a:p>
        </p:txBody>
      </p:sp>
      <p:sp>
        <p:nvSpPr>
          <p:cNvPr id="3" name="Segnaposto contenuto 2">
            <a:extLst>
              <a:ext uri="{FF2B5EF4-FFF2-40B4-BE49-F238E27FC236}">
                <a16:creationId xmlns:a16="http://schemas.microsoft.com/office/drawing/2014/main" id="{4D081C03-AE54-1966-7697-AD374267D636}"/>
              </a:ext>
            </a:extLst>
          </p:cNvPr>
          <p:cNvSpPr>
            <a:spLocks noGrp="1"/>
          </p:cNvSpPr>
          <p:nvPr>
            <p:ph idx="1"/>
          </p:nvPr>
        </p:nvSpPr>
        <p:spPr>
          <a:xfrm>
            <a:off x="7104715" y="2157293"/>
            <a:ext cx="4344112" cy="3481313"/>
          </a:xfrm>
        </p:spPr>
        <p:txBody>
          <a:bodyPr>
            <a:normAutofit fontScale="85000" lnSpcReduction="20000"/>
          </a:bodyPr>
          <a:lstStyle/>
          <a:p>
            <a:pPr marL="0" indent="0">
              <a:buNone/>
            </a:pPr>
            <a:r>
              <a:rPr lang="hr-HR" dirty="0"/>
              <a:t>Grafički prikaz količine posla potrebnog za dovršetak projekta.</a:t>
            </a:r>
            <a:br>
              <a:rPr lang="hr-HR" dirty="0"/>
            </a:br>
            <a:r>
              <a:rPr lang="hr-HR" dirty="0"/>
              <a:t>Na vertikalnoj osi obično je prikazan preostali rad (ili </a:t>
            </a:r>
            <a:r>
              <a:rPr lang="hr-HR" dirty="0" err="1"/>
              <a:t>backlog</a:t>
            </a:r>
            <a:r>
              <a:rPr lang="hr-HR" dirty="0"/>
              <a:t>), a na horizontalnoj vrijeme.</a:t>
            </a:r>
            <a:br>
              <a:rPr lang="hr-HR" dirty="0"/>
            </a:br>
            <a:r>
              <a:rPr lang="hr-HR" dirty="0"/>
              <a:t>Dijagram predstavlja vremenski slijed zadataka koje je potrebno dovršiti.</a:t>
            </a:r>
            <a:br>
              <a:rPr lang="hr-HR" dirty="0"/>
            </a:br>
            <a:r>
              <a:rPr lang="hr-HR" dirty="0"/>
              <a:t>Koristan je za predviđanje kada će posao biti završen.</a:t>
            </a:r>
            <a:endParaRPr lang="en-GB" dirty="0"/>
          </a:p>
        </p:txBody>
      </p:sp>
      <p:sp>
        <p:nvSpPr>
          <p:cNvPr id="4" name="CasellaDiTesto 3">
            <a:extLst>
              <a:ext uri="{FF2B5EF4-FFF2-40B4-BE49-F238E27FC236}">
                <a16:creationId xmlns:a16="http://schemas.microsoft.com/office/drawing/2014/main" id="{ED88D1B3-C282-8663-FFF0-19616127AAD7}"/>
              </a:ext>
            </a:extLst>
          </p:cNvPr>
          <p:cNvSpPr txBox="1"/>
          <p:nvPr/>
        </p:nvSpPr>
        <p:spPr>
          <a:xfrm>
            <a:off x="838200" y="5457270"/>
            <a:ext cx="5034116" cy="369332"/>
          </a:xfrm>
          <a:prstGeom prst="rect">
            <a:avLst/>
          </a:prstGeom>
          <a:noFill/>
        </p:spPr>
        <p:txBody>
          <a:bodyPr wrap="square" rtlCol="0">
            <a:spAutoFit/>
          </a:bodyPr>
          <a:lstStyle/>
          <a:p>
            <a:r>
              <a:rPr lang="hr-HR" sz="900" dirty="0">
                <a:latin typeface="Bahnschrift SemiLight" panose="020B0502040204020203" pitchFamily="34" charset="0"/>
              </a:rPr>
              <a:t>Izvor</a:t>
            </a:r>
            <a:r>
              <a:rPr lang="it-IT" sz="900" dirty="0">
                <a:latin typeface="Bahnschrift SemiLight" panose="020B0502040204020203" pitchFamily="34" charset="0"/>
              </a:rPr>
              <a:t>: </a:t>
            </a:r>
            <a:r>
              <a:rPr lang="it-IT" sz="900" i="1" dirty="0">
                <a:latin typeface="Bahnschrift SemiLight" panose="020B0502040204020203" pitchFamily="34" charset="0"/>
              </a:rPr>
              <a:t>Timothy A. Chick - </a:t>
            </a:r>
            <a:r>
              <a:rPr lang="it-IT" sz="900" i="1" dirty="0" err="1">
                <a:latin typeface="Bahnschrift SemiLight" panose="020B0502040204020203" pitchFamily="34" charset="0"/>
              </a:rPr>
              <a:t>ResearchGate</a:t>
            </a:r>
            <a:r>
              <a:rPr lang="it-IT" sz="900" i="1" dirty="0">
                <a:latin typeface="Bahnschrift SemiLight" panose="020B0502040204020203" pitchFamily="34" charset="0"/>
              </a:rPr>
              <a:t> </a:t>
            </a:r>
            <a:r>
              <a:rPr lang="it-IT" sz="900" dirty="0">
                <a:latin typeface="Bahnschrift SemiLight" panose="020B0502040204020203" pitchFamily="34" charset="0"/>
              </a:rPr>
              <a:t>(</a:t>
            </a:r>
            <a:r>
              <a:rPr lang="it-IT" sz="900" dirty="0">
                <a:latin typeface="Bahnschrift SemiLight" panose="020B0502040204020203" pitchFamily="34" charset="0"/>
                <a:hlinkClick r:id="rId3"/>
              </a:rPr>
              <a:t>https://www.researchgate.net/figure/Sample-Release-Burn-Up-Chart_fig7_266049888</a:t>
            </a:r>
            <a:r>
              <a:rPr lang="it-IT" sz="900" dirty="0">
                <a:latin typeface="Bahnschrift SemiLight" panose="020B0502040204020203" pitchFamily="34" charset="0"/>
              </a:rPr>
              <a:t>) </a:t>
            </a:r>
            <a:endParaRPr lang="en-GB" sz="900" dirty="0">
              <a:latin typeface="Bahnschrift SemiLight" panose="020B0502040204020203" pitchFamily="34" charset="0"/>
            </a:endParaRPr>
          </a:p>
        </p:txBody>
      </p:sp>
      <p:pic>
        <p:nvPicPr>
          <p:cNvPr id="2050" name="Picture 2" descr="Sample Sprint Burn-Down Chart">
            <a:extLst>
              <a:ext uri="{FF2B5EF4-FFF2-40B4-BE49-F238E27FC236}">
                <a16:creationId xmlns:a16="http://schemas.microsoft.com/office/drawing/2014/main" id="{DB49B4A9-6000-0571-9EC4-3108AC1F800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8594" y="2157293"/>
            <a:ext cx="5306625" cy="32027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350681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AC10BBC-F90C-0A03-8DCE-4125434F387D}"/>
              </a:ext>
            </a:extLst>
          </p:cNvPr>
          <p:cNvSpPr>
            <a:spLocks noGrp="1"/>
          </p:cNvSpPr>
          <p:nvPr>
            <p:ph type="title"/>
          </p:nvPr>
        </p:nvSpPr>
        <p:spPr/>
        <p:txBody>
          <a:bodyPr/>
          <a:lstStyle/>
          <a:p>
            <a:r>
              <a:rPr lang="it-IT" dirty="0" err="1"/>
              <a:t>Burnup</a:t>
            </a:r>
            <a:r>
              <a:rPr lang="it-IT" dirty="0"/>
              <a:t> chart</a:t>
            </a:r>
            <a:endParaRPr lang="en-GB" dirty="0"/>
          </a:p>
        </p:txBody>
      </p:sp>
      <p:sp>
        <p:nvSpPr>
          <p:cNvPr id="3" name="Segnaposto contenuto 2">
            <a:extLst>
              <a:ext uri="{FF2B5EF4-FFF2-40B4-BE49-F238E27FC236}">
                <a16:creationId xmlns:a16="http://schemas.microsoft.com/office/drawing/2014/main" id="{BFE6BAF3-3447-8E23-5204-18B79C86BCB0}"/>
              </a:ext>
            </a:extLst>
          </p:cNvPr>
          <p:cNvSpPr>
            <a:spLocks noGrp="1"/>
          </p:cNvSpPr>
          <p:nvPr>
            <p:ph idx="1"/>
          </p:nvPr>
        </p:nvSpPr>
        <p:spPr>
          <a:xfrm>
            <a:off x="6580973" y="1999716"/>
            <a:ext cx="4422449" cy="3901778"/>
          </a:xfrm>
        </p:spPr>
        <p:txBody>
          <a:bodyPr>
            <a:normAutofit fontScale="62500" lnSpcReduction="20000"/>
          </a:bodyPr>
          <a:lstStyle/>
          <a:p>
            <a:pPr marL="0" indent="0">
              <a:buNone/>
            </a:pPr>
            <a:r>
              <a:rPr lang="hr-HR" dirty="0"/>
              <a:t>Postoje li alternative nezanimljivim „ravnim” </a:t>
            </a:r>
            <a:r>
              <a:rPr lang="hr-HR" dirty="0" err="1"/>
              <a:t>burndown</a:t>
            </a:r>
            <a:r>
              <a:rPr lang="hr-HR" dirty="0"/>
              <a:t> grafikonima? Postoje — </a:t>
            </a:r>
            <a:r>
              <a:rPr lang="hr-HR" dirty="0" err="1"/>
              <a:t>burnup</a:t>
            </a:r>
            <a:r>
              <a:rPr lang="hr-HR" dirty="0"/>
              <a:t> grafikoni.</a:t>
            </a:r>
          </a:p>
          <a:p>
            <a:pPr marL="0" indent="0">
              <a:buNone/>
            </a:pPr>
            <a:r>
              <a:rPr lang="hr-HR" dirty="0" err="1"/>
              <a:t>Burnup</a:t>
            </a:r>
            <a:r>
              <a:rPr lang="hr-HR" dirty="0"/>
              <a:t> grafikoni odgovaraju na suprotno pitanje: koliko je posla dovršeno?</a:t>
            </a:r>
            <a:br>
              <a:rPr lang="hr-HR" dirty="0"/>
            </a:br>
            <a:r>
              <a:rPr lang="hr-HR" dirty="0"/>
              <a:t>Dok bi </a:t>
            </a:r>
            <a:r>
              <a:rPr lang="hr-HR" dirty="0" err="1"/>
              <a:t>burndown</a:t>
            </a:r>
            <a:r>
              <a:rPr lang="hr-HR" dirty="0"/>
              <a:t> grafikon trebao stalno ići prema dolje, idealan </a:t>
            </a:r>
            <a:r>
              <a:rPr lang="hr-HR" dirty="0" err="1"/>
              <a:t>burnup</a:t>
            </a:r>
            <a:r>
              <a:rPr lang="hr-HR" dirty="0"/>
              <a:t> grafikon kreće se prema gore.</a:t>
            </a:r>
          </a:p>
          <a:p>
            <a:pPr marL="0" indent="0">
              <a:buNone/>
            </a:pPr>
            <a:r>
              <a:rPr lang="hr-HR" dirty="0"/>
              <a:t>No zašto ne volimo </a:t>
            </a:r>
            <a:r>
              <a:rPr lang="hr-HR" dirty="0" err="1"/>
              <a:t>burnup</a:t>
            </a:r>
            <a:r>
              <a:rPr lang="hr-HR" dirty="0"/>
              <a:t> grafikone?</a:t>
            </a:r>
          </a:p>
          <a:p>
            <a:r>
              <a:rPr lang="hr-HR" dirty="0"/>
              <a:t>Nemaju </a:t>
            </a:r>
            <a:r>
              <a:rPr lang="hr-HR" dirty="0" err="1"/>
              <a:t>prediktivnu</a:t>
            </a:r>
            <a:r>
              <a:rPr lang="hr-HR" dirty="0"/>
              <a:t> vrijednost </a:t>
            </a:r>
          </a:p>
          <a:p>
            <a:r>
              <a:rPr lang="hr-HR" dirty="0"/>
              <a:t>Ne potiču povećanje </a:t>
            </a:r>
            <a:r>
              <a:rPr lang="hr-HR" dirty="0" err="1"/>
              <a:t>velocityja</a:t>
            </a:r>
            <a:r>
              <a:rPr lang="hr-HR" dirty="0"/>
              <a:t> (ne znam koliko je još napora potrebno za dovršetak posla, pa se ne „ubrzavam”)</a:t>
            </a:r>
          </a:p>
          <a:p>
            <a:pPr marL="0" indent="0">
              <a:buNone/>
            </a:pPr>
            <a:endParaRPr lang="en-GB" dirty="0"/>
          </a:p>
          <a:p>
            <a:pPr marL="0" indent="0">
              <a:buNone/>
            </a:pPr>
            <a:endParaRPr lang="en-GB" dirty="0"/>
          </a:p>
        </p:txBody>
      </p:sp>
      <p:pic>
        <p:nvPicPr>
          <p:cNvPr id="3074" name="Picture 2" descr="Sample Release Burn-Up Chart">
            <a:extLst>
              <a:ext uri="{FF2B5EF4-FFF2-40B4-BE49-F238E27FC236}">
                <a16:creationId xmlns:a16="http://schemas.microsoft.com/office/drawing/2014/main" id="{CF2B3179-3A0A-AFC5-A9C3-1FE680A6F53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9600" y="1999716"/>
            <a:ext cx="5306400" cy="3183840"/>
          </a:xfrm>
          <a:prstGeom prst="rect">
            <a:avLst/>
          </a:prstGeom>
          <a:noFill/>
          <a:extLst>
            <a:ext uri="{909E8E84-426E-40DD-AFC4-6F175D3DCCD1}">
              <a14:hiddenFill xmlns:a14="http://schemas.microsoft.com/office/drawing/2010/main">
                <a:solidFill>
                  <a:srgbClr val="FFFFFF"/>
                </a:solidFill>
              </a14:hiddenFill>
            </a:ext>
          </a:extLst>
        </p:spPr>
      </p:pic>
      <p:sp>
        <p:nvSpPr>
          <p:cNvPr id="5" name="CasellaDiTesto 4">
            <a:extLst>
              <a:ext uri="{FF2B5EF4-FFF2-40B4-BE49-F238E27FC236}">
                <a16:creationId xmlns:a16="http://schemas.microsoft.com/office/drawing/2014/main" id="{9E36AD7B-80A5-A58E-0762-2AAACC0E6CFE}"/>
              </a:ext>
            </a:extLst>
          </p:cNvPr>
          <p:cNvSpPr txBox="1"/>
          <p:nvPr/>
        </p:nvSpPr>
        <p:spPr>
          <a:xfrm>
            <a:off x="925742" y="5307918"/>
            <a:ext cx="5034116" cy="369332"/>
          </a:xfrm>
          <a:prstGeom prst="rect">
            <a:avLst/>
          </a:prstGeom>
          <a:noFill/>
        </p:spPr>
        <p:txBody>
          <a:bodyPr wrap="square" rtlCol="0">
            <a:spAutoFit/>
          </a:bodyPr>
          <a:lstStyle/>
          <a:p>
            <a:r>
              <a:rPr lang="hr-HR" sz="900" dirty="0">
                <a:latin typeface="Bahnschrift SemiLight" panose="020B0502040204020203" pitchFamily="34" charset="0"/>
              </a:rPr>
              <a:t>Izvor</a:t>
            </a:r>
            <a:r>
              <a:rPr lang="it-IT" sz="900" dirty="0">
                <a:latin typeface="Bahnschrift SemiLight" panose="020B0502040204020203" pitchFamily="34" charset="0"/>
              </a:rPr>
              <a:t>: </a:t>
            </a:r>
            <a:r>
              <a:rPr lang="it-IT" sz="900" i="1" dirty="0">
                <a:latin typeface="Bahnschrift SemiLight" panose="020B0502040204020203" pitchFamily="34" charset="0"/>
              </a:rPr>
              <a:t>Timothy A. Chick - </a:t>
            </a:r>
            <a:r>
              <a:rPr lang="it-IT" sz="900" i="1" dirty="0" err="1">
                <a:latin typeface="Bahnschrift SemiLight" panose="020B0502040204020203" pitchFamily="34" charset="0"/>
              </a:rPr>
              <a:t>ResearchGate</a:t>
            </a:r>
            <a:r>
              <a:rPr lang="it-IT" sz="900" i="1" dirty="0">
                <a:latin typeface="Bahnschrift SemiLight" panose="020B0502040204020203" pitchFamily="34" charset="0"/>
              </a:rPr>
              <a:t> </a:t>
            </a:r>
            <a:r>
              <a:rPr lang="it-IT" sz="900" dirty="0">
                <a:latin typeface="Bahnschrift SemiLight" panose="020B0502040204020203" pitchFamily="34" charset="0"/>
              </a:rPr>
              <a:t>(</a:t>
            </a:r>
            <a:r>
              <a:rPr lang="it-IT" sz="900" dirty="0">
                <a:latin typeface="Bahnschrift SemiLight" panose="020B0502040204020203" pitchFamily="34" charset="0"/>
                <a:hlinkClick r:id="rId4"/>
              </a:rPr>
              <a:t>https://www.researchgate.net/figure/Sample-Release-Burn-Up-Chart_fig7_266049888</a:t>
            </a:r>
            <a:r>
              <a:rPr lang="it-IT" sz="900" dirty="0">
                <a:latin typeface="Bahnschrift SemiLight" panose="020B0502040204020203" pitchFamily="34" charset="0"/>
              </a:rPr>
              <a:t>) </a:t>
            </a:r>
            <a:endParaRPr lang="en-GB" sz="900" dirty="0">
              <a:latin typeface="Bahnschrift SemiLight" panose="020B0502040204020203" pitchFamily="34" charset="0"/>
            </a:endParaRPr>
          </a:p>
        </p:txBody>
      </p:sp>
    </p:spTree>
    <p:extLst>
      <p:ext uri="{BB962C8B-B14F-4D97-AF65-F5344CB8AC3E}">
        <p14:creationId xmlns:p14="http://schemas.microsoft.com/office/powerpoint/2010/main" val="37633929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4FBA05-64ED-1369-9DF5-A23C1B5F0197}"/>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D0A1C48A-0746-2BD1-8731-AB9D513BD41F}"/>
              </a:ext>
            </a:extLst>
          </p:cNvPr>
          <p:cNvSpPr>
            <a:spLocks noGrp="1"/>
          </p:cNvSpPr>
          <p:nvPr>
            <p:ph type="title"/>
          </p:nvPr>
        </p:nvSpPr>
        <p:spPr/>
        <p:txBody>
          <a:bodyPr/>
          <a:lstStyle/>
          <a:p>
            <a:r>
              <a:rPr lang="en-GB" sz="3600" spc="-40" dirty="0"/>
              <a:t>Cumulative</a:t>
            </a:r>
            <a:r>
              <a:rPr lang="en-GB" sz="3600" spc="-185" dirty="0"/>
              <a:t> </a:t>
            </a:r>
            <a:r>
              <a:rPr lang="en-GB" sz="3600" dirty="0"/>
              <a:t>Flow</a:t>
            </a:r>
            <a:r>
              <a:rPr lang="en-GB" sz="3600" spc="-185" dirty="0"/>
              <a:t> </a:t>
            </a:r>
            <a:r>
              <a:rPr lang="en-GB" sz="3600" spc="-35" dirty="0"/>
              <a:t>Diagram</a:t>
            </a:r>
            <a:r>
              <a:rPr lang="en-GB" sz="3600" spc="-180" dirty="0"/>
              <a:t> </a:t>
            </a:r>
            <a:r>
              <a:rPr lang="en-GB" sz="3600" spc="-85" dirty="0"/>
              <a:t>(CFD)</a:t>
            </a:r>
            <a:endParaRPr lang="en-GB" dirty="0"/>
          </a:p>
        </p:txBody>
      </p:sp>
      <p:sp>
        <p:nvSpPr>
          <p:cNvPr id="3" name="Segnaposto contenuto 2">
            <a:extLst>
              <a:ext uri="{FF2B5EF4-FFF2-40B4-BE49-F238E27FC236}">
                <a16:creationId xmlns:a16="http://schemas.microsoft.com/office/drawing/2014/main" id="{809EF948-37EE-F5BC-84FB-97E0209C2A02}"/>
              </a:ext>
            </a:extLst>
          </p:cNvPr>
          <p:cNvSpPr>
            <a:spLocks noGrp="1"/>
          </p:cNvSpPr>
          <p:nvPr>
            <p:ph idx="1"/>
          </p:nvPr>
        </p:nvSpPr>
        <p:spPr>
          <a:xfrm>
            <a:off x="6931351" y="2368192"/>
            <a:ext cx="3807749" cy="2897024"/>
          </a:xfrm>
        </p:spPr>
        <p:txBody>
          <a:bodyPr>
            <a:normAutofit fontScale="77500" lnSpcReduction="20000"/>
          </a:bodyPr>
          <a:lstStyle/>
          <a:p>
            <a:pPr marL="0" indent="0">
              <a:buNone/>
            </a:pPr>
            <a:r>
              <a:rPr lang="hr-HR" dirty="0"/>
              <a:t>Prednosti:</a:t>
            </a:r>
          </a:p>
          <a:p>
            <a:r>
              <a:rPr lang="hr-HR" dirty="0"/>
              <a:t>Nadilazi ograničenja </a:t>
            </a:r>
            <a:r>
              <a:rPr lang="hr-HR" dirty="0" err="1"/>
              <a:t>burndown</a:t>
            </a:r>
            <a:r>
              <a:rPr lang="hr-HR" dirty="0"/>
              <a:t> i </a:t>
            </a:r>
            <a:r>
              <a:rPr lang="hr-HR" dirty="0" err="1"/>
              <a:t>burnup</a:t>
            </a:r>
            <a:r>
              <a:rPr lang="hr-HR" dirty="0"/>
              <a:t> grafikona </a:t>
            </a:r>
          </a:p>
          <a:p>
            <a:r>
              <a:rPr lang="hr-HR" dirty="0"/>
              <a:t>Dodaje dodatne podatke </a:t>
            </a:r>
          </a:p>
          <a:p>
            <a:r>
              <a:rPr lang="hr-HR" dirty="0"/>
              <a:t>Prikazuje podatke na bolji način </a:t>
            </a:r>
          </a:p>
          <a:p>
            <a:r>
              <a:rPr lang="hr-HR" dirty="0"/>
              <a:t>Potiče donošenje kvalitetnijih odluka</a:t>
            </a:r>
          </a:p>
          <a:p>
            <a:pPr marL="0" indent="0">
              <a:buNone/>
            </a:pPr>
            <a:endParaRPr lang="en-GB" dirty="0"/>
          </a:p>
        </p:txBody>
      </p:sp>
      <p:pic>
        <p:nvPicPr>
          <p:cNvPr id="5" name="object 4">
            <a:extLst>
              <a:ext uri="{FF2B5EF4-FFF2-40B4-BE49-F238E27FC236}">
                <a16:creationId xmlns:a16="http://schemas.microsoft.com/office/drawing/2014/main" id="{27D3E26D-8157-A41F-1BD3-0819480AA83A}"/>
              </a:ext>
            </a:extLst>
          </p:cNvPr>
          <p:cNvPicPr/>
          <p:nvPr/>
        </p:nvPicPr>
        <p:blipFill>
          <a:blip r:embed="rId3" cstate="print"/>
          <a:stretch>
            <a:fillRect/>
          </a:stretch>
        </p:blipFill>
        <p:spPr>
          <a:xfrm>
            <a:off x="917273" y="2026333"/>
            <a:ext cx="5572017" cy="3580741"/>
          </a:xfrm>
          <a:prstGeom prst="rect">
            <a:avLst/>
          </a:prstGeom>
        </p:spPr>
      </p:pic>
      <p:sp>
        <p:nvSpPr>
          <p:cNvPr id="4" name="CasellaDiTesto 3">
            <a:extLst>
              <a:ext uri="{FF2B5EF4-FFF2-40B4-BE49-F238E27FC236}">
                <a16:creationId xmlns:a16="http://schemas.microsoft.com/office/drawing/2014/main" id="{CBCAEA78-1464-8B8C-1579-E6FEDBC78839}"/>
              </a:ext>
            </a:extLst>
          </p:cNvPr>
          <p:cNvSpPr txBox="1"/>
          <p:nvPr/>
        </p:nvSpPr>
        <p:spPr>
          <a:xfrm>
            <a:off x="1186223" y="5758053"/>
            <a:ext cx="5034116" cy="369332"/>
          </a:xfrm>
          <a:prstGeom prst="rect">
            <a:avLst/>
          </a:prstGeom>
          <a:noFill/>
        </p:spPr>
        <p:txBody>
          <a:bodyPr wrap="square" rtlCol="0">
            <a:spAutoFit/>
          </a:bodyPr>
          <a:lstStyle/>
          <a:p>
            <a:r>
              <a:rPr lang="hr-HR" sz="900" dirty="0">
                <a:latin typeface="Bahnschrift SemiLight" panose="020B0502040204020203" pitchFamily="34" charset="0"/>
              </a:rPr>
              <a:t>Izvor</a:t>
            </a:r>
            <a:r>
              <a:rPr lang="it-IT" sz="900" dirty="0">
                <a:latin typeface="Bahnschrift SemiLight" panose="020B0502040204020203" pitchFamily="34" charset="0"/>
              </a:rPr>
              <a:t>: </a:t>
            </a:r>
            <a:r>
              <a:rPr lang="it-IT" sz="900" i="1" dirty="0" err="1">
                <a:latin typeface="Bahnschrift SemiLight" panose="020B0502040204020203" pitchFamily="34" charset="0"/>
              </a:rPr>
              <a:t>Ken</a:t>
            </a:r>
            <a:r>
              <a:rPr lang="it-IT" sz="900" i="1" dirty="0">
                <a:latin typeface="Bahnschrift SemiLight" panose="020B0502040204020203" pitchFamily="34" charset="0"/>
              </a:rPr>
              <a:t> </a:t>
            </a:r>
            <a:r>
              <a:rPr lang="it-IT" sz="900" i="1" dirty="0" err="1">
                <a:latin typeface="Bahnschrift SemiLight" panose="020B0502040204020203" pitchFamily="34" charset="0"/>
              </a:rPr>
              <a:t>Furlong</a:t>
            </a:r>
            <a:r>
              <a:rPr lang="it-IT" sz="900" i="1" dirty="0">
                <a:latin typeface="Bahnschrift SemiLight" panose="020B0502040204020203" pitchFamily="34" charset="0"/>
              </a:rPr>
              <a:t> </a:t>
            </a:r>
            <a:r>
              <a:rPr lang="it-IT" sz="900" dirty="0">
                <a:latin typeface="Bahnschrift SemiLight" panose="020B0502040204020203" pitchFamily="34" charset="0"/>
              </a:rPr>
              <a:t>(</a:t>
            </a:r>
            <a:r>
              <a:rPr lang="it-IT" sz="900" dirty="0">
                <a:latin typeface="Bahnschrift SemiLight" panose="020B0502040204020203" pitchFamily="34" charset="0"/>
                <a:hlinkClick r:id="rId4"/>
              </a:rPr>
              <a:t>https://www.excella.com/insights/</a:t>
            </a:r>
            <a:r>
              <a:rPr lang="it-IT" sz="900" dirty="0" err="1">
                <a:latin typeface="Bahnschrift SemiLight" panose="020B0502040204020203" pitchFamily="34" charset="0"/>
                <a:hlinkClick r:id="rId4"/>
              </a:rPr>
              <a:t>burndown</a:t>
            </a:r>
            <a:r>
              <a:rPr lang="it-IT" sz="900" dirty="0">
                <a:latin typeface="Bahnschrift SemiLight" panose="020B0502040204020203" pitchFamily="34" charset="0"/>
                <a:hlinkClick r:id="rId4"/>
              </a:rPr>
              <a:t>-chart-vs-cumulative-flow-</a:t>
            </a:r>
            <a:r>
              <a:rPr lang="it-IT" sz="900" dirty="0" err="1">
                <a:latin typeface="Bahnschrift SemiLight" panose="020B0502040204020203" pitchFamily="34" charset="0"/>
                <a:hlinkClick r:id="rId4"/>
              </a:rPr>
              <a:t>diagram</a:t>
            </a:r>
            <a:r>
              <a:rPr lang="it-IT" sz="900" dirty="0">
                <a:latin typeface="Bahnschrift SemiLight" panose="020B0502040204020203" pitchFamily="34" charset="0"/>
                <a:hlinkClick r:id="rId4"/>
              </a:rPr>
              <a:t>-</a:t>
            </a:r>
            <a:r>
              <a:rPr lang="it-IT" sz="900" dirty="0" err="1">
                <a:latin typeface="Bahnschrift SemiLight" panose="020B0502040204020203" pitchFamily="34" charset="0"/>
                <a:hlinkClick r:id="rId4"/>
              </a:rPr>
              <a:t>cfd</a:t>
            </a:r>
            <a:r>
              <a:rPr lang="it-IT" sz="900" dirty="0">
                <a:latin typeface="Bahnschrift SemiLight" panose="020B0502040204020203" pitchFamily="34" charset="0"/>
              </a:rPr>
              <a:t>) </a:t>
            </a:r>
            <a:endParaRPr lang="en-GB" sz="900" dirty="0">
              <a:latin typeface="Bahnschrift SemiLight" panose="020B0502040204020203" pitchFamily="34" charset="0"/>
            </a:endParaRPr>
          </a:p>
        </p:txBody>
      </p:sp>
    </p:spTree>
    <p:extLst>
      <p:ext uri="{BB962C8B-B14F-4D97-AF65-F5344CB8AC3E}">
        <p14:creationId xmlns:p14="http://schemas.microsoft.com/office/powerpoint/2010/main" val="30585782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FD87B1-9D94-6DDD-8040-0989DBB4F096}"/>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E0CC762A-F04B-9A13-8A27-35B9B2854752}"/>
              </a:ext>
            </a:extLst>
          </p:cNvPr>
          <p:cNvSpPr>
            <a:spLocks noGrp="1"/>
          </p:cNvSpPr>
          <p:nvPr>
            <p:ph type="title"/>
          </p:nvPr>
        </p:nvSpPr>
        <p:spPr/>
        <p:txBody>
          <a:bodyPr/>
          <a:lstStyle/>
          <a:p>
            <a:r>
              <a:rPr lang="en-GB" sz="3600" spc="-40" dirty="0"/>
              <a:t>Cumulative</a:t>
            </a:r>
            <a:r>
              <a:rPr lang="en-GB" sz="3600" spc="-185" dirty="0"/>
              <a:t> </a:t>
            </a:r>
            <a:r>
              <a:rPr lang="en-GB" sz="3600" dirty="0"/>
              <a:t>Flow</a:t>
            </a:r>
            <a:r>
              <a:rPr lang="en-GB" sz="3600" spc="-185" dirty="0"/>
              <a:t> </a:t>
            </a:r>
            <a:r>
              <a:rPr lang="en-GB" sz="3600" spc="-35" dirty="0"/>
              <a:t>Diagram</a:t>
            </a:r>
            <a:r>
              <a:rPr lang="en-GB" sz="3600" spc="-180" dirty="0"/>
              <a:t> </a:t>
            </a:r>
            <a:r>
              <a:rPr lang="en-GB" sz="3600" spc="-85" dirty="0"/>
              <a:t>(CFD)</a:t>
            </a:r>
            <a:endParaRPr lang="en-GB" dirty="0"/>
          </a:p>
        </p:txBody>
      </p:sp>
      <p:pic>
        <p:nvPicPr>
          <p:cNvPr id="7" name="object 4">
            <a:extLst>
              <a:ext uri="{FF2B5EF4-FFF2-40B4-BE49-F238E27FC236}">
                <a16:creationId xmlns:a16="http://schemas.microsoft.com/office/drawing/2014/main" id="{6A6F164A-59B8-AE4E-B6D8-7088A56EB872}"/>
              </a:ext>
            </a:extLst>
          </p:cNvPr>
          <p:cNvPicPr/>
          <p:nvPr/>
        </p:nvPicPr>
        <p:blipFill>
          <a:blip r:embed="rId3" cstate="print"/>
          <a:stretch>
            <a:fillRect/>
          </a:stretch>
        </p:blipFill>
        <p:spPr>
          <a:xfrm>
            <a:off x="1318029" y="2329504"/>
            <a:ext cx="4145589" cy="3198249"/>
          </a:xfrm>
          <a:prstGeom prst="rect">
            <a:avLst/>
          </a:prstGeom>
        </p:spPr>
      </p:pic>
      <p:pic>
        <p:nvPicPr>
          <p:cNvPr id="8" name="object 2">
            <a:extLst>
              <a:ext uri="{FF2B5EF4-FFF2-40B4-BE49-F238E27FC236}">
                <a16:creationId xmlns:a16="http://schemas.microsoft.com/office/drawing/2014/main" id="{8A26616A-85C5-342C-BB35-B9B07CCBB5B0}"/>
              </a:ext>
            </a:extLst>
          </p:cNvPr>
          <p:cNvPicPr/>
          <p:nvPr/>
        </p:nvPicPr>
        <p:blipFill>
          <a:blip r:embed="rId4" cstate="print"/>
          <a:stretch>
            <a:fillRect/>
          </a:stretch>
        </p:blipFill>
        <p:spPr>
          <a:xfrm>
            <a:off x="6096000" y="2329508"/>
            <a:ext cx="4177300" cy="3198245"/>
          </a:xfrm>
          <a:prstGeom prst="rect">
            <a:avLst/>
          </a:prstGeom>
        </p:spPr>
      </p:pic>
      <p:sp>
        <p:nvSpPr>
          <p:cNvPr id="3" name="CasellaDiTesto 2">
            <a:extLst>
              <a:ext uri="{FF2B5EF4-FFF2-40B4-BE49-F238E27FC236}">
                <a16:creationId xmlns:a16="http://schemas.microsoft.com/office/drawing/2014/main" id="{5226CB22-CE14-5FFA-E9B6-287021DA4D26}"/>
              </a:ext>
            </a:extLst>
          </p:cNvPr>
          <p:cNvSpPr txBox="1"/>
          <p:nvPr/>
        </p:nvSpPr>
        <p:spPr>
          <a:xfrm>
            <a:off x="3578942" y="5797237"/>
            <a:ext cx="5034116" cy="369332"/>
          </a:xfrm>
          <a:prstGeom prst="rect">
            <a:avLst/>
          </a:prstGeom>
          <a:noFill/>
        </p:spPr>
        <p:txBody>
          <a:bodyPr wrap="square" rtlCol="0">
            <a:spAutoFit/>
          </a:bodyPr>
          <a:lstStyle/>
          <a:p>
            <a:r>
              <a:rPr lang="hr-HR" sz="900" dirty="0">
                <a:latin typeface="Bahnschrift SemiLight" panose="020B0502040204020203" pitchFamily="34" charset="0"/>
              </a:rPr>
              <a:t>Izvor</a:t>
            </a:r>
            <a:r>
              <a:rPr lang="it-IT" sz="900" dirty="0">
                <a:latin typeface="Bahnschrift SemiLight" panose="020B0502040204020203" pitchFamily="34" charset="0"/>
              </a:rPr>
              <a:t>: </a:t>
            </a:r>
            <a:r>
              <a:rPr lang="it-IT" sz="900" i="1" dirty="0" err="1">
                <a:latin typeface="Bahnschrift SemiLight" panose="020B0502040204020203" pitchFamily="34" charset="0"/>
              </a:rPr>
              <a:t>Ken</a:t>
            </a:r>
            <a:r>
              <a:rPr lang="it-IT" sz="900" i="1" dirty="0">
                <a:latin typeface="Bahnschrift SemiLight" panose="020B0502040204020203" pitchFamily="34" charset="0"/>
              </a:rPr>
              <a:t> </a:t>
            </a:r>
            <a:r>
              <a:rPr lang="it-IT" sz="900" i="1" dirty="0" err="1">
                <a:latin typeface="Bahnschrift SemiLight" panose="020B0502040204020203" pitchFamily="34" charset="0"/>
              </a:rPr>
              <a:t>Furlong</a:t>
            </a:r>
            <a:r>
              <a:rPr lang="it-IT" sz="900" i="1" dirty="0">
                <a:latin typeface="Bahnschrift SemiLight" panose="020B0502040204020203" pitchFamily="34" charset="0"/>
              </a:rPr>
              <a:t> </a:t>
            </a:r>
            <a:r>
              <a:rPr lang="it-IT" sz="900" dirty="0">
                <a:latin typeface="Bahnschrift SemiLight" panose="020B0502040204020203" pitchFamily="34" charset="0"/>
              </a:rPr>
              <a:t>(</a:t>
            </a:r>
            <a:r>
              <a:rPr lang="it-IT" sz="900" dirty="0">
                <a:latin typeface="Bahnschrift SemiLight" panose="020B0502040204020203" pitchFamily="34" charset="0"/>
                <a:hlinkClick r:id="rId5"/>
              </a:rPr>
              <a:t>https://www.excella.com/insights/</a:t>
            </a:r>
            <a:r>
              <a:rPr lang="it-IT" sz="900" dirty="0" err="1">
                <a:latin typeface="Bahnschrift SemiLight" panose="020B0502040204020203" pitchFamily="34" charset="0"/>
                <a:hlinkClick r:id="rId5"/>
              </a:rPr>
              <a:t>burndown</a:t>
            </a:r>
            <a:r>
              <a:rPr lang="it-IT" sz="900" dirty="0">
                <a:latin typeface="Bahnschrift SemiLight" panose="020B0502040204020203" pitchFamily="34" charset="0"/>
                <a:hlinkClick r:id="rId5"/>
              </a:rPr>
              <a:t>-chart-vs-cumulative-flow-</a:t>
            </a:r>
            <a:r>
              <a:rPr lang="it-IT" sz="900" dirty="0" err="1">
                <a:latin typeface="Bahnschrift SemiLight" panose="020B0502040204020203" pitchFamily="34" charset="0"/>
                <a:hlinkClick r:id="rId5"/>
              </a:rPr>
              <a:t>diagram</a:t>
            </a:r>
            <a:r>
              <a:rPr lang="it-IT" sz="900" dirty="0">
                <a:latin typeface="Bahnschrift SemiLight" panose="020B0502040204020203" pitchFamily="34" charset="0"/>
                <a:hlinkClick r:id="rId5"/>
              </a:rPr>
              <a:t>-</a:t>
            </a:r>
            <a:r>
              <a:rPr lang="it-IT" sz="900" dirty="0" err="1">
                <a:latin typeface="Bahnschrift SemiLight" panose="020B0502040204020203" pitchFamily="34" charset="0"/>
                <a:hlinkClick r:id="rId5"/>
              </a:rPr>
              <a:t>cfd</a:t>
            </a:r>
            <a:r>
              <a:rPr lang="it-IT" sz="900" dirty="0">
                <a:latin typeface="Bahnschrift SemiLight" panose="020B0502040204020203" pitchFamily="34" charset="0"/>
              </a:rPr>
              <a:t>) </a:t>
            </a:r>
            <a:endParaRPr lang="en-GB" sz="900" dirty="0">
              <a:latin typeface="Bahnschrift SemiLight" panose="020B0502040204020203" pitchFamily="34" charset="0"/>
            </a:endParaRPr>
          </a:p>
        </p:txBody>
      </p:sp>
    </p:spTree>
    <p:extLst>
      <p:ext uri="{BB962C8B-B14F-4D97-AF65-F5344CB8AC3E}">
        <p14:creationId xmlns:p14="http://schemas.microsoft.com/office/powerpoint/2010/main" val="25166474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D2D744-180C-6DCA-C188-542CBF211ADE}"/>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3D3ED217-8CF4-85A4-1964-27D232619DD7}"/>
              </a:ext>
            </a:extLst>
          </p:cNvPr>
          <p:cNvSpPr>
            <a:spLocks noGrp="1"/>
          </p:cNvSpPr>
          <p:nvPr>
            <p:ph type="title"/>
          </p:nvPr>
        </p:nvSpPr>
        <p:spPr/>
        <p:txBody>
          <a:bodyPr/>
          <a:lstStyle/>
          <a:p>
            <a:r>
              <a:rPr lang="en-GB" sz="3600" spc="-40" dirty="0"/>
              <a:t>Cumulative</a:t>
            </a:r>
            <a:r>
              <a:rPr lang="en-GB" sz="3600" spc="-185" dirty="0"/>
              <a:t> </a:t>
            </a:r>
            <a:r>
              <a:rPr lang="en-GB" sz="3600" dirty="0"/>
              <a:t>Flow</a:t>
            </a:r>
            <a:r>
              <a:rPr lang="en-GB" sz="3600" spc="-185" dirty="0"/>
              <a:t> </a:t>
            </a:r>
            <a:r>
              <a:rPr lang="en-GB" sz="3600" spc="-35" dirty="0"/>
              <a:t>Diagram</a:t>
            </a:r>
            <a:r>
              <a:rPr lang="en-GB" sz="3600" spc="-180" dirty="0"/>
              <a:t> </a:t>
            </a:r>
            <a:r>
              <a:rPr lang="en-GB" sz="3600" spc="-85" dirty="0"/>
              <a:t>(CFD)</a:t>
            </a:r>
            <a:endParaRPr lang="en-GB" dirty="0"/>
          </a:p>
        </p:txBody>
      </p:sp>
      <p:sp>
        <p:nvSpPr>
          <p:cNvPr id="3" name="Segnaposto contenuto 2">
            <a:extLst>
              <a:ext uri="{FF2B5EF4-FFF2-40B4-BE49-F238E27FC236}">
                <a16:creationId xmlns:a16="http://schemas.microsoft.com/office/drawing/2014/main" id="{E0CCDF82-C38C-8E16-0FAF-4551324264B2}"/>
              </a:ext>
            </a:extLst>
          </p:cNvPr>
          <p:cNvSpPr>
            <a:spLocks noGrp="1"/>
          </p:cNvSpPr>
          <p:nvPr>
            <p:ph idx="1"/>
          </p:nvPr>
        </p:nvSpPr>
        <p:spPr>
          <a:xfrm>
            <a:off x="6931351" y="2368192"/>
            <a:ext cx="3807749" cy="2897024"/>
          </a:xfrm>
        </p:spPr>
        <p:txBody>
          <a:bodyPr>
            <a:normAutofit/>
          </a:bodyPr>
          <a:lstStyle/>
          <a:p>
            <a:pPr marL="0" indent="0">
              <a:buNone/>
            </a:pPr>
            <a:r>
              <a:rPr lang="hr-HR" dirty="0"/>
              <a:t>CFD može imati onoliko „obojenih traka” koliko ima faza na koje je proces podijeljen (stupci na našem </a:t>
            </a:r>
            <a:r>
              <a:rPr lang="hr-HR" dirty="0" err="1"/>
              <a:t>boardu</a:t>
            </a:r>
            <a:r>
              <a:rPr lang="hr-HR" dirty="0"/>
              <a:t>).</a:t>
            </a:r>
            <a:endParaRPr lang="en-GB" dirty="0"/>
          </a:p>
        </p:txBody>
      </p:sp>
      <p:pic>
        <p:nvPicPr>
          <p:cNvPr id="4" name="object 4">
            <a:extLst>
              <a:ext uri="{FF2B5EF4-FFF2-40B4-BE49-F238E27FC236}">
                <a16:creationId xmlns:a16="http://schemas.microsoft.com/office/drawing/2014/main" id="{005FE964-2AA1-4F23-DD71-5B64DA2867D4}"/>
              </a:ext>
            </a:extLst>
          </p:cNvPr>
          <p:cNvPicPr/>
          <p:nvPr/>
        </p:nvPicPr>
        <p:blipFill>
          <a:blip r:embed="rId3" cstate="print"/>
          <a:stretch>
            <a:fillRect/>
          </a:stretch>
        </p:blipFill>
        <p:spPr>
          <a:xfrm>
            <a:off x="1251021" y="2086115"/>
            <a:ext cx="4756671" cy="3707934"/>
          </a:xfrm>
          <a:prstGeom prst="rect">
            <a:avLst/>
          </a:prstGeom>
        </p:spPr>
      </p:pic>
      <p:sp>
        <p:nvSpPr>
          <p:cNvPr id="5" name="CasellaDiTesto 4">
            <a:extLst>
              <a:ext uri="{FF2B5EF4-FFF2-40B4-BE49-F238E27FC236}">
                <a16:creationId xmlns:a16="http://schemas.microsoft.com/office/drawing/2014/main" id="{0513E61C-E1C0-810E-A117-52583BF8D061}"/>
              </a:ext>
            </a:extLst>
          </p:cNvPr>
          <p:cNvSpPr txBox="1"/>
          <p:nvPr/>
        </p:nvSpPr>
        <p:spPr>
          <a:xfrm>
            <a:off x="1061884" y="5895704"/>
            <a:ext cx="5034116" cy="369332"/>
          </a:xfrm>
          <a:prstGeom prst="rect">
            <a:avLst/>
          </a:prstGeom>
          <a:noFill/>
        </p:spPr>
        <p:txBody>
          <a:bodyPr wrap="square" rtlCol="0">
            <a:spAutoFit/>
          </a:bodyPr>
          <a:lstStyle/>
          <a:p>
            <a:r>
              <a:rPr lang="it-IT" sz="900" dirty="0">
                <a:latin typeface="Bahnschrift SemiLight" panose="020B0502040204020203" pitchFamily="34" charset="0"/>
              </a:rPr>
              <a:t>Source: </a:t>
            </a:r>
            <a:r>
              <a:rPr lang="it-IT" sz="900" i="1" dirty="0" err="1">
                <a:latin typeface="Bahnschrift SemiLight" panose="020B0502040204020203" pitchFamily="34" charset="0"/>
              </a:rPr>
              <a:t>Ken</a:t>
            </a:r>
            <a:r>
              <a:rPr lang="it-IT" sz="900" i="1" dirty="0">
                <a:latin typeface="Bahnschrift SemiLight" panose="020B0502040204020203" pitchFamily="34" charset="0"/>
              </a:rPr>
              <a:t> </a:t>
            </a:r>
            <a:r>
              <a:rPr lang="it-IT" sz="900" i="1" dirty="0" err="1">
                <a:latin typeface="Bahnschrift SemiLight" panose="020B0502040204020203" pitchFamily="34" charset="0"/>
              </a:rPr>
              <a:t>Furlong</a:t>
            </a:r>
            <a:r>
              <a:rPr lang="it-IT" sz="900" i="1" dirty="0">
                <a:latin typeface="Bahnschrift SemiLight" panose="020B0502040204020203" pitchFamily="34" charset="0"/>
              </a:rPr>
              <a:t> </a:t>
            </a:r>
            <a:r>
              <a:rPr lang="it-IT" sz="900" dirty="0">
                <a:latin typeface="Bahnschrift SemiLight" panose="020B0502040204020203" pitchFamily="34" charset="0"/>
              </a:rPr>
              <a:t>(</a:t>
            </a:r>
            <a:r>
              <a:rPr lang="it-IT" sz="900" dirty="0">
                <a:latin typeface="Bahnschrift SemiLight" panose="020B0502040204020203" pitchFamily="34" charset="0"/>
                <a:hlinkClick r:id="rId4"/>
              </a:rPr>
              <a:t>https://www.excella.com/insights/</a:t>
            </a:r>
            <a:r>
              <a:rPr lang="it-IT" sz="900" dirty="0" err="1">
                <a:latin typeface="Bahnschrift SemiLight" panose="020B0502040204020203" pitchFamily="34" charset="0"/>
                <a:hlinkClick r:id="rId4"/>
              </a:rPr>
              <a:t>burndown</a:t>
            </a:r>
            <a:r>
              <a:rPr lang="it-IT" sz="900" dirty="0">
                <a:latin typeface="Bahnschrift SemiLight" panose="020B0502040204020203" pitchFamily="34" charset="0"/>
                <a:hlinkClick r:id="rId4"/>
              </a:rPr>
              <a:t>-chart-vs-cumulative-flow-</a:t>
            </a:r>
            <a:r>
              <a:rPr lang="it-IT" sz="900" dirty="0" err="1">
                <a:latin typeface="Bahnschrift SemiLight" panose="020B0502040204020203" pitchFamily="34" charset="0"/>
                <a:hlinkClick r:id="rId4"/>
              </a:rPr>
              <a:t>diagram</a:t>
            </a:r>
            <a:r>
              <a:rPr lang="it-IT" sz="900" dirty="0">
                <a:latin typeface="Bahnschrift SemiLight" panose="020B0502040204020203" pitchFamily="34" charset="0"/>
                <a:hlinkClick r:id="rId4"/>
              </a:rPr>
              <a:t>-</a:t>
            </a:r>
            <a:r>
              <a:rPr lang="it-IT" sz="900" dirty="0" err="1">
                <a:latin typeface="Bahnschrift SemiLight" panose="020B0502040204020203" pitchFamily="34" charset="0"/>
                <a:hlinkClick r:id="rId4"/>
              </a:rPr>
              <a:t>cfd</a:t>
            </a:r>
            <a:r>
              <a:rPr lang="it-IT" sz="900" dirty="0">
                <a:latin typeface="Bahnschrift SemiLight" panose="020B0502040204020203" pitchFamily="34" charset="0"/>
              </a:rPr>
              <a:t>) </a:t>
            </a:r>
            <a:endParaRPr lang="en-GB" sz="900" dirty="0">
              <a:latin typeface="Bahnschrift SemiLight" panose="020B0502040204020203" pitchFamily="34" charset="0"/>
            </a:endParaRPr>
          </a:p>
        </p:txBody>
      </p:sp>
    </p:spTree>
    <p:extLst>
      <p:ext uri="{BB962C8B-B14F-4D97-AF65-F5344CB8AC3E}">
        <p14:creationId xmlns:p14="http://schemas.microsoft.com/office/powerpoint/2010/main" val="14554882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3DC655A-F088-00B0-E70B-2FFC140969B3}"/>
              </a:ext>
            </a:extLst>
          </p:cNvPr>
          <p:cNvSpPr>
            <a:spLocks noGrp="1"/>
          </p:cNvSpPr>
          <p:nvPr>
            <p:ph type="title"/>
          </p:nvPr>
        </p:nvSpPr>
        <p:spPr/>
        <p:txBody>
          <a:bodyPr/>
          <a:lstStyle/>
          <a:p>
            <a:r>
              <a:rPr lang="it-IT" dirty="0" err="1"/>
              <a:t>Epic</a:t>
            </a:r>
            <a:r>
              <a:rPr lang="it-IT" dirty="0"/>
              <a:t> </a:t>
            </a:r>
            <a:r>
              <a:rPr lang="hr-HR" dirty="0"/>
              <a:t>i</a:t>
            </a:r>
            <a:r>
              <a:rPr lang="it-IT" dirty="0"/>
              <a:t> release </a:t>
            </a:r>
            <a:r>
              <a:rPr lang="it-IT" dirty="0" err="1"/>
              <a:t>burndown</a:t>
            </a:r>
            <a:endParaRPr lang="en-GB" dirty="0"/>
          </a:p>
        </p:txBody>
      </p:sp>
      <p:sp>
        <p:nvSpPr>
          <p:cNvPr id="3" name="Segnaposto contenuto 2">
            <a:extLst>
              <a:ext uri="{FF2B5EF4-FFF2-40B4-BE49-F238E27FC236}">
                <a16:creationId xmlns:a16="http://schemas.microsoft.com/office/drawing/2014/main" id="{005DBCE1-F05C-B6C6-31B3-268087F44722}"/>
              </a:ext>
            </a:extLst>
          </p:cNvPr>
          <p:cNvSpPr>
            <a:spLocks noGrp="1"/>
          </p:cNvSpPr>
          <p:nvPr>
            <p:ph idx="1"/>
          </p:nvPr>
        </p:nvSpPr>
        <p:spPr>
          <a:xfrm>
            <a:off x="6881501" y="2355182"/>
            <a:ext cx="3911838" cy="2934665"/>
          </a:xfrm>
        </p:spPr>
        <p:txBody>
          <a:bodyPr>
            <a:normAutofit fontScale="77500" lnSpcReduction="20000"/>
          </a:bodyPr>
          <a:lstStyle/>
          <a:p>
            <a:r>
              <a:rPr lang="hr-HR" dirty="0"/>
              <a:t>Praćenje napretka projekta kroz različite </a:t>
            </a:r>
            <a:r>
              <a:rPr lang="hr-HR" dirty="0" err="1"/>
              <a:t>sprinteve</a:t>
            </a:r>
            <a:r>
              <a:rPr lang="hr-HR" dirty="0"/>
              <a:t>, uz isticanje tijeka rada i eventualnih dorada (</a:t>
            </a:r>
            <a:r>
              <a:rPr lang="hr-HR" dirty="0" err="1"/>
              <a:t>rework</a:t>
            </a:r>
            <a:r>
              <a:rPr lang="hr-HR" dirty="0"/>
              <a:t>) unutar jednog </a:t>
            </a:r>
            <a:r>
              <a:rPr lang="hr-HR" dirty="0" err="1"/>
              <a:t>epica</a:t>
            </a:r>
            <a:r>
              <a:rPr lang="hr-HR" dirty="0"/>
              <a:t> ili verzije (čak i kroz više sprintova).</a:t>
            </a:r>
          </a:p>
          <a:p>
            <a:r>
              <a:rPr lang="hr-HR" dirty="0" err="1"/>
              <a:t>Scope</a:t>
            </a:r>
            <a:r>
              <a:rPr lang="hr-HR" dirty="0"/>
              <a:t> </a:t>
            </a:r>
            <a:r>
              <a:rPr lang="hr-HR" dirty="0" err="1"/>
              <a:t>creep</a:t>
            </a:r>
            <a:r>
              <a:rPr lang="hr-HR" dirty="0"/>
              <a:t>: dodavanje novih zahtjeva na već definirani projekt.</a:t>
            </a:r>
          </a:p>
        </p:txBody>
      </p:sp>
      <p:pic>
        <p:nvPicPr>
          <p:cNvPr id="4100" name="Picture 4" descr="Epic and release burndown. ">
            <a:extLst>
              <a:ext uri="{FF2B5EF4-FFF2-40B4-BE49-F238E27FC236}">
                <a16:creationId xmlns:a16="http://schemas.microsoft.com/office/drawing/2014/main" id="{18132AFF-1C06-FE70-5F6B-3CC4D7FE425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913" r="1189" b="965"/>
          <a:stretch>
            <a:fillRect/>
          </a:stretch>
        </p:blipFill>
        <p:spPr bwMode="auto">
          <a:xfrm>
            <a:off x="1052052" y="2186788"/>
            <a:ext cx="4857135" cy="3397935"/>
          </a:xfrm>
          <a:prstGeom prst="rect">
            <a:avLst/>
          </a:prstGeom>
          <a:noFill/>
          <a:extLst>
            <a:ext uri="{909E8E84-426E-40DD-AFC4-6F175D3DCCD1}">
              <a14:hiddenFill xmlns:a14="http://schemas.microsoft.com/office/drawing/2010/main">
                <a:solidFill>
                  <a:srgbClr val="FFFFFF"/>
                </a:solidFill>
              </a14:hiddenFill>
            </a:ext>
          </a:extLst>
        </p:spPr>
      </p:pic>
      <p:sp>
        <p:nvSpPr>
          <p:cNvPr id="5" name="CasellaDiTesto 4">
            <a:extLst>
              <a:ext uri="{FF2B5EF4-FFF2-40B4-BE49-F238E27FC236}">
                <a16:creationId xmlns:a16="http://schemas.microsoft.com/office/drawing/2014/main" id="{4AD7FEB8-FFA8-AF2A-76BE-8F3B27B7474D}"/>
              </a:ext>
            </a:extLst>
          </p:cNvPr>
          <p:cNvSpPr txBox="1"/>
          <p:nvPr/>
        </p:nvSpPr>
        <p:spPr>
          <a:xfrm>
            <a:off x="1061884" y="5711491"/>
            <a:ext cx="5034116" cy="369332"/>
          </a:xfrm>
          <a:prstGeom prst="rect">
            <a:avLst/>
          </a:prstGeom>
          <a:noFill/>
        </p:spPr>
        <p:txBody>
          <a:bodyPr wrap="square" rtlCol="0">
            <a:spAutoFit/>
          </a:bodyPr>
          <a:lstStyle/>
          <a:p>
            <a:r>
              <a:rPr lang="hr-HR" sz="900" dirty="0">
                <a:latin typeface="Bahnschrift SemiLight" panose="020B0502040204020203" pitchFamily="34" charset="0"/>
              </a:rPr>
              <a:t>Izvor</a:t>
            </a:r>
            <a:r>
              <a:rPr lang="it-IT" sz="900" dirty="0">
                <a:latin typeface="Bahnschrift SemiLight" panose="020B0502040204020203" pitchFamily="34" charset="0"/>
              </a:rPr>
              <a:t>: </a:t>
            </a:r>
            <a:r>
              <a:rPr lang="it-IT" sz="900" i="1" dirty="0">
                <a:latin typeface="Bahnschrift SemiLight" panose="020B0502040204020203" pitchFamily="34" charset="0"/>
              </a:rPr>
              <a:t>Wael Mohsen – </a:t>
            </a:r>
            <a:r>
              <a:rPr lang="it-IT" sz="900" i="1" dirty="0" err="1">
                <a:latin typeface="Bahnschrift SemiLight" panose="020B0502040204020203" pitchFamily="34" charset="0"/>
              </a:rPr>
              <a:t>ResearchGate</a:t>
            </a:r>
            <a:r>
              <a:rPr lang="it-IT" sz="900" i="1" dirty="0">
                <a:latin typeface="Bahnschrift SemiLight" panose="020B0502040204020203" pitchFamily="34" charset="0"/>
              </a:rPr>
              <a:t> </a:t>
            </a:r>
            <a:r>
              <a:rPr lang="it-IT" sz="900" dirty="0">
                <a:latin typeface="Bahnschrift SemiLight" panose="020B0502040204020203" pitchFamily="34" charset="0"/>
              </a:rPr>
              <a:t>(</a:t>
            </a:r>
            <a:r>
              <a:rPr lang="it-IT" sz="900" dirty="0">
                <a:latin typeface="Bahnschrift SemiLight" panose="020B0502040204020203" pitchFamily="34" charset="0"/>
                <a:hlinkClick r:id="rId4"/>
              </a:rPr>
              <a:t>https://www.researchgate.net/figure/Epic-and-release-burndown_fig2_321741375</a:t>
            </a:r>
            <a:r>
              <a:rPr lang="it-IT" sz="900" dirty="0">
                <a:latin typeface="Bahnschrift SemiLight" panose="020B0502040204020203" pitchFamily="34" charset="0"/>
              </a:rPr>
              <a:t>) </a:t>
            </a:r>
            <a:endParaRPr lang="en-GB" sz="900" dirty="0">
              <a:latin typeface="Bahnschrift SemiLight" panose="020B0502040204020203" pitchFamily="34" charset="0"/>
            </a:endParaRPr>
          </a:p>
        </p:txBody>
      </p:sp>
    </p:spTree>
    <p:extLst>
      <p:ext uri="{BB962C8B-B14F-4D97-AF65-F5344CB8AC3E}">
        <p14:creationId xmlns:p14="http://schemas.microsoft.com/office/powerpoint/2010/main" val="25411900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F2D1C4-8238-F564-54F5-E69FC1760884}"/>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9D4E109C-16B4-C407-EDCB-86A015F5F3FB}"/>
              </a:ext>
            </a:extLst>
          </p:cNvPr>
          <p:cNvSpPr>
            <a:spLocks noGrp="1"/>
          </p:cNvSpPr>
          <p:nvPr>
            <p:ph type="title"/>
          </p:nvPr>
        </p:nvSpPr>
        <p:spPr/>
        <p:txBody>
          <a:bodyPr/>
          <a:lstStyle/>
          <a:p>
            <a:r>
              <a:rPr lang="it-IT" dirty="0" err="1"/>
              <a:t>Epic</a:t>
            </a:r>
            <a:r>
              <a:rPr lang="it-IT" dirty="0"/>
              <a:t> </a:t>
            </a:r>
            <a:r>
              <a:rPr lang="hr-HR" dirty="0"/>
              <a:t>i</a:t>
            </a:r>
            <a:r>
              <a:rPr lang="it-IT" dirty="0"/>
              <a:t> release </a:t>
            </a:r>
            <a:r>
              <a:rPr lang="it-IT" dirty="0" err="1"/>
              <a:t>burndown</a:t>
            </a:r>
            <a:endParaRPr lang="en-GB" dirty="0"/>
          </a:p>
        </p:txBody>
      </p:sp>
      <p:sp>
        <p:nvSpPr>
          <p:cNvPr id="3" name="Segnaposto contenuto 2">
            <a:extLst>
              <a:ext uri="{FF2B5EF4-FFF2-40B4-BE49-F238E27FC236}">
                <a16:creationId xmlns:a16="http://schemas.microsoft.com/office/drawing/2014/main" id="{67B4066D-9FD4-620B-E6D3-03427C52D14B}"/>
              </a:ext>
            </a:extLst>
          </p:cNvPr>
          <p:cNvSpPr>
            <a:spLocks noGrp="1"/>
          </p:cNvSpPr>
          <p:nvPr>
            <p:ph idx="1"/>
          </p:nvPr>
        </p:nvSpPr>
        <p:spPr>
          <a:xfrm>
            <a:off x="6881501" y="2355182"/>
            <a:ext cx="3911838" cy="2934665"/>
          </a:xfrm>
        </p:spPr>
        <p:txBody>
          <a:bodyPr>
            <a:normAutofit fontScale="85000" lnSpcReduction="20000"/>
          </a:bodyPr>
          <a:lstStyle/>
          <a:p>
            <a:pPr marL="0" indent="0">
              <a:buNone/>
            </a:pPr>
            <a:r>
              <a:rPr lang="hr-HR" dirty="0"/>
              <a:t>Napomena: Ako je širenje opsega (</a:t>
            </a:r>
            <a:r>
              <a:rPr lang="hr-HR" dirty="0" err="1"/>
              <a:t>scope</a:t>
            </a:r>
            <a:r>
              <a:rPr lang="hr-HR" dirty="0"/>
              <a:t> </a:t>
            </a:r>
            <a:r>
              <a:rPr lang="hr-HR" dirty="0" err="1"/>
              <a:t>creep</a:t>
            </a:r>
            <a:r>
              <a:rPr lang="hr-HR" dirty="0"/>
              <a:t>) između više </a:t>
            </a:r>
            <a:r>
              <a:rPr lang="hr-HR" dirty="0" err="1"/>
              <a:t>epica</a:t>
            </a:r>
            <a:r>
              <a:rPr lang="hr-HR" dirty="0"/>
              <a:t> problem tijekom sprinta, to je prirodna posljedica </a:t>
            </a:r>
            <a:r>
              <a:rPr lang="hr-HR" dirty="0" err="1"/>
              <a:t>Agile</a:t>
            </a:r>
            <a:r>
              <a:rPr lang="hr-HR" dirty="0"/>
              <a:t> razvoja (klijent može odlučiti hoće li prihvatiti ili ne prihvatiti obavljeni posao na temelju onoga što se pojavi tijekom projekta).</a:t>
            </a:r>
            <a:endParaRPr lang="en-GB" dirty="0"/>
          </a:p>
        </p:txBody>
      </p:sp>
      <p:pic>
        <p:nvPicPr>
          <p:cNvPr id="4100" name="Picture 4" descr="Epic and release burndown. ">
            <a:extLst>
              <a:ext uri="{FF2B5EF4-FFF2-40B4-BE49-F238E27FC236}">
                <a16:creationId xmlns:a16="http://schemas.microsoft.com/office/drawing/2014/main" id="{D3B4B9CD-0519-22B5-3A2B-4988D4A9A63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913" r="1189" b="965"/>
          <a:stretch>
            <a:fillRect/>
          </a:stretch>
        </p:blipFill>
        <p:spPr bwMode="auto">
          <a:xfrm>
            <a:off x="1052052" y="2186788"/>
            <a:ext cx="4857135" cy="3397935"/>
          </a:xfrm>
          <a:prstGeom prst="rect">
            <a:avLst/>
          </a:prstGeom>
          <a:noFill/>
          <a:extLst>
            <a:ext uri="{909E8E84-426E-40DD-AFC4-6F175D3DCCD1}">
              <a14:hiddenFill xmlns:a14="http://schemas.microsoft.com/office/drawing/2010/main">
                <a:solidFill>
                  <a:srgbClr val="FFFFFF"/>
                </a:solidFill>
              </a14:hiddenFill>
            </a:ext>
          </a:extLst>
        </p:spPr>
      </p:pic>
      <p:sp>
        <p:nvSpPr>
          <p:cNvPr id="5" name="CasellaDiTesto 4">
            <a:extLst>
              <a:ext uri="{FF2B5EF4-FFF2-40B4-BE49-F238E27FC236}">
                <a16:creationId xmlns:a16="http://schemas.microsoft.com/office/drawing/2014/main" id="{11E9EECB-38D0-D61A-8E0A-C83FC6BF322E}"/>
              </a:ext>
            </a:extLst>
          </p:cNvPr>
          <p:cNvSpPr txBox="1"/>
          <p:nvPr/>
        </p:nvSpPr>
        <p:spPr>
          <a:xfrm>
            <a:off x="1061884" y="5711491"/>
            <a:ext cx="5034116" cy="369332"/>
          </a:xfrm>
          <a:prstGeom prst="rect">
            <a:avLst/>
          </a:prstGeom>
          <a:noFill/>
        </p:spPr>
        <p:txBody>
          <a:bodyPr wrap="square" rtlCol="0">
            <a:spAutoFit/>
          </a:bodyPr>
          <a:lstStyle/>
          <a:p>
            <a:r>
              <a:rPr lang="hr-HR" sz="900" dirty="0">
                <a:latin typeface="Bahnschrift SemiLight" panose="020B0502040204020203" pitchFamily="34" charset="0"/>
              </a:rPr>
              <a:t>Izvor</a:t>
            </a:r>
            <a:r>
              <a:rPr lang="it-IT" sz="900" dirty="0">
                <a:latin typeface="Bahnschrift SemiLight" panose="020B0502040204020203" pitchFamily="34" charset="0"/>
              </a:rPr>
              <a:t>: </a:t>
            </a:r>
            <a:r>
              <a:rPr lang="it-IT" sz="900" i="1" dirty="0">
                <a:latin typeface="Bahnschrift SemiLight" panose="020B0502040204020203" pitchFamily="34" charset="0"/>
              </a:rPr>
              <a:t>Wael Mohsen – </a:t>
            </a:r>
            <a:r>
              <a:rPr lang="it-IT" sz="900" i="1" dirty="0" err="1">
                <a:latin typeface="Bahnschrift SemiLight" panose="020B0502040204020203" pitchFamily="34" charset="0"/>
              </a:rPr>
              <a:t>ResearchGate</a:t>
            </a:r>
            <a:r>
              <a:rPr lang="it-IT" sz="900" i="1" dirty="0">
                <a:latin typeface="Bahnschrift SemiLight" panose="020B0502040204020203" pitchFamily="34" charset="0"/>
              </a:rPr>
              <a:t> </a:t>
            </a:r>
            <a:r>
              <a:rPr lang="it-IT" sz="900" dirty="0">
                <a:latin typeface="Bahnschrift SemiLight" panose="020B0502040204020203" pitchFamily="34" charset="0"/>
              </a:rPr>
              <a:t>(</a:t>
            </a:r>
            <a:r>
              <a:rPr lang="it-IT" sz="900" dirty="0">
                <a:latin typeface="Bahnschrift SemiLight" panose="020B0502040204020203" pitchFamily="34" charset="0"/>
                <a:hlinkClick r:id="rId4"/>
              </a:rPr>
              <a:t>https://www.researchgate.net/figure/Epic-and-release-burndown_fig2_321741375</a:t>
            </a:r>
            <a:r>
              <a:rPr lang="it-IT" sz="900" dirty="0">
                <a:latin typeface="Bahnschrift SemiLight" panose="020B0502040204020203" pitchFamily="34" charset="0"/>
              </a:rPr>
              <a:t>) </a:t>
            </a:r>
            <a:endParaRPr lang="en-GB" sz="900" dirty="0">
              <a:latin typeface="Bahnschrift SemiLight" panose="020B0502040204020203" pitchFamily="34" charset="0"/>
            </a:endParaRPr>
          </a:p>
        </p:txBody>
      </p:sp>
    </p:spTree>
    <p:extLst>
      <p:ext uri="{BB962C8B-B14F-4D97-AF65-F5344CB8AC3E}">
        <p14:creationId xmlns:p14="http://schemas.microsoft.com/office/powerpoint/2010/main" val="27283042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F12CA3A-EE27-A6E3-FD20-804A4CC34717}"/>
              </a:ext>
            </a:extLst>
          </p:cNvPr>
          <p:cNvSpPr>
            <a:spLocks noGrp="1"/>
          </p:cNvSpPr>
          <p:nvPr>
            <p:ph type="title"/>
          </p:nvPr>
        </p:nvSpPr>
        <p:spPr/>
        <p:txBody>
          <a:bodyPr/>
          <a:lstStyle/>
          <a:p>
            <a:r>
              <a:rPr lang="it-IT" dirty="0"/>
              <a:t>Control chart</a:t>
            </a:r>
            <a:endParaRPr lang="en-GB" dirty="0"/>
          </a:p>
        </p:txBody>
      </p:sp>
      <p:sp>
        <p:nvSpPr>
          <p:cNvPr id="3" name="Segnaposto contenuto 2">
            <a:extLst>
              <a:ext uri="{FF2B5EF4-FFF2-40B4-BE49-F238E27FC236}">
                <a16:creationId xmlns:a16="http://schemas.microsoft.com/office/drawing/2014/main" id="{BF9EACD4-313D-C665-83CA-8AEABC70CD91}"/>
              </a:ext>
            </a:extLst>
          </p:cNvPr>
          <p:cNvSpPr>
            <a:spLocks noGrp="1"/>
          </p:cNvSpPr>
          <p:nvPr>
            <p:ph idx="1"/>
          </p:nvPr>
        </p:nvSpPr>
        <p:spPr/>
        <p:txBody>
          <a:bodyPr>
            <a:normAutofit lnSpcReduction="10000"/>
          </a:bodyPr>
          <a:lstStyle/>
          <a:p>
            <a:pPr marL="0" indent="0">
              <a:buNone/>
            </a:pPr>
            <a:r>
              <a:rPr lang="hr-HR" dirty="0"/>
              <a:t>Ističe vrijeme ciklusa zadataka (</a:t>
            </a:r>
            <a:r>
              <a:rPr lang="hr-HR" dirty="0" err="1"/>
              <a:t>cycle</a:t>
            </a:r>
            <a:r>
              <a:rPr lang="hr-HR" dirty="0"/>
              <a:t> time), odnosno vrijeme između faza „</a:t>
            </a:r>
            <a:r>
              <a:rPr lang="hr-HR" dirty="0" err="1"/>
              <a:t>doing</a:t>
            </a:r>
            <a:r>
              <a:rPr lang="hr-HR" dirty="0"/>
              <a:t>” i „</a:t>
            </a:r>
            <a:r>
              <a:rPr lang="hr-HR" dirty="0" err="1"/>
              <a:t>done</a:t>
            </a:r>
            <a:r>
              <a:rPr lang="hr-HR" dirty="0"/>
              <a:t>”.</a:t>
            </a:r>
            <a:br>
              <a:rPr lang="hr-HR" dirty="0"/>
            </a:br>
            <a:r>
              <a:rPr lang="hr-HR" dirty="0"/>
              <a:t>U idealnoj situaciji, svi zadaci (kartice/</a:t>
            </a:r>
            <a:r>
              <a:rPr lang="hr-HR" dirty="0" err="1"/>
              <a:t>issues</a:t>
            </a:r>
            <a:r>
              <a:rPr lang="hr-HR" dirty="0"/>
              <a:t>) trebali bi biti ispod crvene linije (prosječno vrijeme ciklusa).</a:t>
            </a:r>
          </a:p>
          <a:p>
            <a:pPr marL="0" indent="0">
              <a:buNone/>
            </a:pPr>
            <a:r>
              <a:rPr lang="hr-HR" dirty="0"/>
              <a:t>Općenito:</a:t>
            </a:r>
          </a:p>
          <a:p>
            <a:r>
              <a:rPr lang="hr-HR" dirty="0"/>
              <a:t>Kratko vrijeme ciklusa → visoka produktivnost </a:t>
            </a:r>
          </a:p>
          <a:p>
            <a:r>
              <a:rPr lang="hr-HR" dirty="0"/>
              <a:t>Stabilno (konstantno) vrijeme ciklusa → predvidivo vrijeme isporuke </a:t>
            </a:r>
          </a:p>
          <a:p>
            <a:pPr marL="0" indent="0">
              <a:buNone/>
            </a:pPr>
            <a:r>
              <a:rPr lang="hr-HR" dirty="0"/>
              <a:t>Idealna situacija je stoga imati timove s kratkim i stabilnim vremenima ciklusa.</a:t>
            </a:r>
          </a:p>
        </p:txBody>
      </p:sp>
    </p:spTree>
    <p:extLst>
      <p:ext uri="{BB962C8B-B14F-4D97-AF65-F5344CB8AC3E}">
        <p14:creationId xmlns:p14="http://schemas.microsoft.com/office/powerpoint/2010/main" val="28050890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1B7800-3404-969A-3170-968E1A67A057}"/>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B59E8042-C926-E32C-267E-E431CF3E3A98}"/>
              </a:ext>
            </a:extLst>
          </p:cNvPr>
          <p:cNvSpPr>
            <a:spLocks noGrp="1"/>
          </p:cNvSpPr>
          <p:nvPr>
            <p:ph type="title"/>
          </p:nvPr>
        </p:nvSpPr>
        <p:spPr/>
        <p:txBody>
          <a:bodyPr/>
          <a:lstStyle/>
          <a:p>
            <a:pPr marL="0" indent="0">
              <a:buNone/>
            </a:pPr>
            <a:r>
              <a:rPr lang="hr-HR" dirty="0"/>
              <a:t>Ostale metrike</a:t>
            </a:r>
            <a:endParaRPr lang="en-GB" dirty="0"/>
          </a:p>
        </p:txBody>
      </p:sp>
      <p:sp>
        <p:nvSpPr>
          <p:cNvPr id="3" name="Segnaposto contenuto 2">
            <a:extLst>
              <a:ext uri="{FF2B5EF4-FFF2-40B4-BE49-F238E27FC236}">
                <a16:creationId xmlns:a16="http://schemas.microsoft.com/office/drawing/2014/main" id="{65D212DD-5E28-D287-4C51-5026D2950A96}"/>
              </a:ext>
            </a:extLst>
          </p:cNvPr>
          <p:cNvSpPr>
            <a:spLocks noGrp="1"/>
          </p:cNvSpPr>
          <p:nvPr>
            <p:ph idx="1"/>
          </p:nvPr>
        </p:nvSpPr>
        <p:spPr>
          <a:xfrm>
            <a:off x="838912" y="1842716"/>
            <a:ext cx="10515600" cy="4351338"/>
          </a:xfrm>
        </p:spPr>
        <p:txBody>
          <a:bodyPr>
            <a:normAutofit/>
          </a:bodyPr>
          <a:lstStyle/>
          <a:p>
            <a:pPr marL="0" indent="0">
              <a:buNone/>
            </a:pPr>
            <a:r>
              <a:rPr lang="hr-HR" dirty="0"/>
              <a:t>Kvaliteta</a:t>
            </a:r>
          </a:p>
          <a:p>
            <a:r>
              <a:rPr lang="hr-HR" dirty="0"/>
              <a:t>broj prijavljenih grešaka (tijekom projekta, nakon objave, izvan tima) </a:t>
            </a:r>
          </a:p>
          <a:p>
            <a:r>
              <a:rPr lang="hr-HR" dirty="0"/>
              <a:t>broj korisnika koji podnose zahtjeve za podršku </a:t>
            </a:r>
          </a:p>
          <a:p>
            <a:r>
              <a:rPr lang="hr-HR" dirty="0"/>
              <a:t>postotak pokrivenosti testovima koji se provode automatski </a:t>
            </a:r>
          </a:p>
          <a:p>
            <a:pPr marL="0" indent="0">
              <a:buNone/>
            </a:pPr>
            <a:r>
              <a:rPr lang="hr-HR" dirty="0"/>
              <a:t>Učestalost, brzina i složenost izdanja</a:t>
            </a:r>
          </a:p>
        </p:txBody>
      </p:sp>
    </p:spTree>
    <p:extLst>
      <p:ext uri="{BB962C8B-B14F-4D97-AF65-F5344CB8AC3E}">
        <p14:creationId xmlns:p14="http://schemas.microsoft.com/office/powerpoint/2010/main" val="7148033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1D24DC-A8B3-C85F-40F0-FD7DA99A4614}"/>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2B2A32D8-F92F-92A8-E2AD-957DB07363B6}"/>
              </a:ext>
            </a:extLst>
          </p:cNvPr>
          <p:cNvSpPr>
            <a:spLocks noGrp="1"/>
          </p:cNvSpPr>
          <p:nvPr>
            <p:ph type="title"/>
          </p:nvPr>
        </p:nvSpPr>
        <p:spPr/>
        <p:txBody>
          <a:bodyPr/>
          <a:lstStyle/>
          <a:p>
            <a:pPr marL="0" indent="0">
              <a:buNone/>
            </a:pPr>
            <a:r>
              <a:rPr lang="hr-HR" dirty="0"/>
              <a:t>Ostale metrike</a:t>
            </a:r>
            <a:endParaRPr lang="en-GB" dirty="0"/>
          </a:p>
        </p:txBody>
      </p:sp>
      <p:sp>
        <p:nvSpPr>
          <p:cNvPr id="3" name="Segnaposto contenuto 2">
            <a:extLst>
              <a:ext uri="{FF2B5EF4-FFF2-40B4-BE49-F238E27FC236}">
                <a16:creationId xmlns:a16="http://schemas.microsoft.com/office/drawing/2014/main" id="{7D92219C-9CF6-1F02-09CA-ABB1BBDF1AD9}"/>
              </a:ext>
            </a:extLst>
          </p:cNvPr>
          <p:cNvSpPr>
            <a:spLocks noGrp="1"/>
          </p:cNvSpPr>
          <p:nvPr>
            <p:ph idx="1"/>
          </p:nvPr>
        </p:nvSpPr>
        <p:spPr>
          <a:xfrm>
            <a:off x="838912" y="1842716"/>
            <a:ext cx="10515600" cy="4351338"/>
          </a:xfrm>
        </p:spPr>
        <p:txBody>
          <a:bodyPr>
            <a:normAutofit/>
          </a:bodyPr>
          <a:lstStyle/>
          <a:p>
            <a:pPr marL="0" indent="0">
              <a:buNone/>
            </a:pPr>
            <a:r>
              <a:rPr lang="hr-HR" dirty="0"/>
              <a:t>Metrike su samo jedan korak u procesu izgradnje timske kulture.</a:t>
            </a:r>
            <a:br>
              <a:rPr lang="hr-HR" dirty="0"/>
            </a:br>
            <a:r>
              <a:rPr lang="hr-HR" dirty="0"/>
              <a:t>One pružaju dokaze o uspješnosti tima i mjerljive ciljeve za njegove članove, no važno je prikupljati povratne informacije tijekom retrospektiva kako bi se povećalo povjerenje u timu, kvaliteta proizvoda/usluga i brzina izvođenja aktivnosti.</a:t>
            </a:r>
          </a:p>
          <a:p>
            <a:pPr marL="0" indent="0">
              <a:buNone/>
            </a:pPr>
            <a:endParaRPr lang="hr-HR" dirty="0"/>
          </a:p>
          <a:p>
            <a:pPr marL="0" indent="0">
              <a:buNone/>
            </a:pPr>
            <a:r>
              <a:rPr lang="hr-HR" dirty="0"/>
              <a:t>Za poticanje promjena potrebni su i kvantitativni i kvalitativni podaci!</a:t>
            </a:r>
          </a:p>
        </p:txBody>
      </p:sp>
    </p:spTree>
    <p:extLst>
      <p:ext uri="{BB962C8B-B14F-4D97-AF65-F5344CB8AC3E}">
        <p14:creationId xmlns:p14="http://schemas.microsoft.com/office/powerpoint/2010/main" val="7475180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946370-305C-FDC6-E9A5-0C412DC7B987}"/>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537F01EE-49E0-7841-2E9C-74BB99CFF342}"/>
              </a:ext>
            </a:extLst>
          </p:cNvPr>
          <p:cNvSpPr>
            <a:spLocks noGrp="1"/>
          </p:cNvSpPr>
          <p:nvPr>
            <p:ph type="ctrTitle"/>
          </p:nvPr>
        </p:nvSpPr>
        <p:spPr/>
        <p:txBody>
          <a:bodyPr/>
          <a:lstStyle/>
          <a:p>
            <a:pPr marL="0" indent="0">
              <a:buNone/>
            </a:pPr>
            <a:r>
              <a:rPr lang="hr-HR" dirty="0"/>
              <a:t>Kako izbjeći neuspjeh</a:t>
            </a:r>
            <a:endParaRPr lang="en-GB" dirty="0"/>
          </a:p>
        </p:txBody>
      </p:sp>
    </p:spTree>
    <p:extLst>
      <p:ext uri="{BB962C8B-B14F-4D97-AF65-F5344CB8AC3E}">
        <p14:creationId xmlns:p14="http://schemas.microsoft.com/office/powerpoint/2010/main" val="31935931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72F1F0A-7B69-5115-1AC5-8F3050FA62C4}"/>
              </a:ext>
            </a:extLst>
          </p:cNvPr>
          <p:cNvSpPr>
            <a:spLocks noGrp="1"/>
          </p:cNvSpPr>
          <p:nvPr>
            <p:ph type="title"/>
          </p:nvPr>
        </p:nvSpPr>
        <p:spPr/>
        <p:txBody>
          <a:bodyPr/>
          <a:lstStyle/>
          <a:p>
            <a:r>
              <a:rPr lang="hr-HR" dirty="0"/>
              <a:t>Kako izbjeći neuspjeh</a:t>
            </a:r>
            <a:endParaRPr lang="en-GB" dirty="0"/>
          </a:p>
        </p:txBody>
      </p:sp>
      <p:sp>
        <p:nvSpPr>
          <p:cNvPr id="3" name="Segnaposto contenuto 2">
            <a:extLst>
              <a:ext uri="{FF2B5EF4-FFF2-40B4-BE49-F238E27FC236}">
                <a16:creationId xmlns:a16="http://schemas.microsoft.com/office/drawing/2014/main" id="{4EE21BE5-2A26-9B5B-3AE4-B491441B7601}"/>
              </a:ext>
            </a:extLst>
          </p:cNvPr>
          <p:cNvSpPr>
            <a:spLocks noGrp="1"/>
          </p:cNvSpPr>
          <p:nvPr>
            <p:ph idx="1"/>
          </p:nvPr>
        </p:nvSpPr>
        <p:spPr/>
        <p:txBody>
          <a:bodyPr/>
          <a:lstStyle/>
          <a:p>
            <a:pPr marL="0" indent="0">
              <a:buNone/>
            </a:pPr>
            <a:r>
              <a:rPr lang="hr-HR" dirty="0" err="1"/>
              <a:t>Agile</a:t>
            </a:r>
            <a:r>
              <a:rPr lang="hr-HR" dirty="0"/>
              <a:t> donosi brojne prednosti, od većeg angažmana zaposlenika do boljih rezultata — ali ne tako brzo.</a:t>
            </a:r>
          </a:p>
          <a:p>
            <a:pPr marL="0" indent="0">
              <a:buNone/>
            </a:pPr>
            <a:endParaRPr lang="hr-HR" dirty="0"/>
          </a:p>
          <a:p>
            <a:pPr marL="0" indent="0">
              <a:buNone/>
            </a:pPr>
            <a:r>
              <a:rPr lang="hr-HR" dirty="0"/>
              <a:t>Zašto projekti uvođenja </a:t>
            </a:r>
            <a:r>
              <a:rPr lang="hr-HR" dirty="0" err="1"/>
              <a:t>Agilea</a:t>
            </a:r>
            <a:r>
              <a:rPr lang="hr-HR" dirty="0"/>
              <a:t> često ne uspijevaju?</a:t>
            </a:r>
          </a:p>
        </p:txBody>
      </p:sp>
    </p:spTree>
    <p:extLst>
      <p:ext uri="{BB962C8B-B14F-4D97-AF65-F5344CB8AC3E}">
        <p14:creationId xmlns:p14="http://schemas.microsoft.com/office/powerpoint/2010/main" val="41446270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28CE63-666A-4242-0179-C7644DF3B314}"/>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B133416A-10CB-B4EB-DE67-A6343E39F276}"/>
              </a:ext>
            </a:extLst>
          </p:cNvPr>
          <p:cNvSpPr>
            <a:spLocks noGrp="1"/>
          </p:cNvSpPr>
          <p:nvPr>
            <p:ph type="title"/>
          </p:nvPr>
        </p:nvSpPr>
        <p:spPr/>
        <p:txBody>
          <a:bodyPr/>
          <a:lstStyle/>
          <a:p>
            <a:r>
              <a:rPr lang="hr-HR" dirty="0"/>
              <a:t>Najčešći uzroci neuspjeha</a:t>
            </a:r>
            <a:endParaRPr lang="en-GB" dirty="0"/>
          </a:p>
        </p:txBody>
      </p:sp>
      <p:sp>
        <p:nvSpPr>
          <p:cNvPr id="3" name="Segnaposto contenuto 2">
            <a:extLst>
              <a:ext uri="{FF2B5EF4-FFF2-40B4-BE49-F238E27FC236}">
                <a16:creationId xmlns:a16="http://schemas.microsoft.com/office/drawing/2014/main" id="{94E0B9E3-6C62-19A6-DDB0-41EBB4DD9A02}"/>
              </a:ext>
            </a:extLst>
          </p:cNvPr>
          <p:cNvSpPr>
            <a:spLocks noGrp="1"/>
          </p:cNvSpPr>
          <p:nvPr>
            <p:ph idx="1"/>
          </p:nvPr>
        </p:nvSpPr>
        <p:spPr>
          <a:xfrm>
            <a:off x="7897026" y="2633825"/>
            <a:ext cx="2674122" cy="1963812"/>
          </a:xfrm>
        </p:spPr>
        <p:txBody>
          <a:bodyPr>
            <a:normAutofit fontScale="85000" lnSpcReduction="10000"/>
          </a:bodyPr>
          <a:lstStyle/>
          <a:p>
            <a:pPr marL="0" indent="0">
              <a:buNone/>
            </a:pPr>
            <a:r>
              <a:rPr lang="hr-HR" dirty="0"/>
              <a:t>Studija provedena na više od 4.000 ispitanika istaknula je glavne uzroke neuspjeha </a:t>
            </a:r>
            <a:r>
              <a:rPr lang="hr-HR" dirty="0" err="1"/>
              <a:t>Agilea</a:t>
            </a:r>
            <a:r>
              <a:rPr lang="hr-HR" dirty="0"/>
              <a:t>.</a:t>
            </a:r>
            <a:endParaRPr lang="en-GB" dirty="0"/>
          </a:p>
        </p:txBody>
      </p:sp>
      <p:pic>
        <p:nvPicPr>
          <p:cNvPr id="8194" name="Picture 2">
            <a:extLst>
              <a:ext uri="{FF2B5EF4-FFF2-40B4-BE49-F238E27FC236}">
                <a16:creationId xmlns:a16="http://schemas.microsoft.com/office/drawing/2014/main" id="{912E9233-2F6C-B768-C2DD-4409022EA7D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395" y="2020558"/>
            <a:ext cx="6157657" cy="3765725"/>
          </a:xfrm>
          <a:prstGeom prst="rect">
            <a:avLst/>
          </a:prstGeom>
          <a:noFill/>
          <a:extLst>
            <a:ext uri="{909E8E84-426E-40DD-AFC4-6F175D3DCCD1}">
              <a14:hiddenFill xmlns:a14="http://schemas.microsoft.com/office/drawing/2010/main">
                <a:solidFill>
                  <a:srgbClr val="FFFFFF"/>
                </a:solidFill>
              </a14:hiddenFill>
            </a:ext>
          </a:extLst>
        </p:spPr>
      </p:pic>
      <p:sp>
        <p:nvSpPr>
          <p:cNvPr id="5" name="CasellaDiTesto 4">
            <a:extLst>
              <a:ext uri="{FF2B5EF4-FFF2-40B4-BE49-F238E27FC236}">
                <a16:creationId xmlns:a16="http://schemas.microsoft.com/office/drawing/2014/main" id="{4A28000A-09A1-ED59-3262-ECC2DB38733A}"/>
              </a:ext>
            </a:extLst>
          </p:cNvPr>
          <p:cNvSpPr txBox="1"/>
          <p:nvPr/>
        </p:nvSpPr>
        <p:spPr>
          <a:xfrm>
            <a:off x="1552165" y="5931487"/>
            <a:ext cx="5034116" cy="369332"/>
          </a:xfrm>
          <a:prstGeom prst="rect">
            <a:avLst/>
          </a:prstGeom>
          <a:noFill/>
        </p:spPr>
        <p:txBody>
          <a:bodyPr wrap="square" rtlCol="0">
            <a:spAutoFit/>
          </a:bodyPr>
          <a:lstStyle/>
          <a:p>
            <a:r>
              <a:rPr lang="it-IT" sz="900" dirty="0">
                <a:latin typeface="Bahnschrift SemiLight" panose="020B0502040204020203" pitchFamily="34" charset="0"/>
              </a:rPr>
              <a:t>Source: </a:t>
            </a:r>
            <a:r>
              <a:rPr lang="it-IT" sz="900" i="1" dirty="0">
                <a:latin typeface="Bahnschrift SemiLight" panose="020B0502040204020203" pitchFamily="34" charset="0"/>
              </a:rPr>
              <a:t>Adam M. Sandman </a:t>
            </a:r>
            <a:r>
              <a:rPr lang="it-IT" sz="900" dirty="0">
                <a:latin typeface="Bahnschrift SemiLight" panose="020B0502040204020203" pitchFamily="34" charset="0"/>
              </a:rPr>
              <a:t>(</a:t>
            </a:r>
            <a:r>
              <a:rPr lang="it-IT" sz="900" i="1" dirty="0">
                <a:latin typeface="Bahnschrift SemiLight" panose="020B0502040204020203" pitchFamily="34" charset="0"/>
                <a:hlinkClick r:id="rId4"/>
              </a:rPr>
              <a:t>https://www.inflectra.com/</a:t>
            </a:r>
            <a:r>
              <a:rPr lang="it-IT" sz="900" i="1" dirty="0" err="1">
                <a:latin typeface="Bahnschrift SemiLight" panose="020B0502040204020203" pitchFamily="34" charset="0"/>
                <a:hlinkClick r:id="rId4"/>
              </a:rPr>
              <a:t>Ideas</a:t>
            </a:r>
            <a:r>
              <a:rPr lang="it-IT" sz="900" i="1" dirty="0">
                <a:latin typeface="Bahnschrift SemiLight" panose="020B0502040204020203" pitchFamily="34" charset="0"/>
                <a:hlinkClick r:id="rId4"/>
              </a:rPr>
              <a:t>/</a:t>
            </a:r>
            <a:r>
              <a:rPr lang="it-IT" sz="900" i="1" dirty="0" err="1">
                <a:latin typeface="Bahnschrift SemiLight" panose="020B0502040204020203" pitchFamily="34" charset="0"/>
                <a:hlinkClick r:id="rId4"/>
              </a:rPr>
              <a:t>Whitepaper</a:t>
            </a:r>
            <a:r>
              <a:rPr lang="it-IT" sz="900" i="1" dirty="0">
                <a:latin typeface="Bahnschrift SemiLight" panose="020B0502040204020203" pitchFamily="34" charset="0"/>
                <a:hlinkClick r:id="rId4"/>
              </a:rPr>
              <a:t>/Agile-Transformation-Failure-Due-To-Management-Debt.aspx</a:t>
            </a:r>
            <a:r>
              <a:rPr lang="it-IT" sz="900" i="1" dirty="0">
                <a:latin typeface="Bahnschrift SemiLight" panose="020B0502040204020203" pitchFamily="34" charset="0"/>
              </a:rPr>
              <a:t>) </a:t>
            </a:r>
            <a:endParaRPr lang="en-GB" sz="900" dirty="0">
              <a:latin typeface="Bahnschrift SemiLight" panose="020B0502040204020203" pitchFamily="34" charset="0"/>
            </a:endParaRPr>
          </a:p>
        </p:txBody>
      </p:sp>
    </p:spTree>
    <p:extLst>
      <p:ext uri="{BB962C8B-B14F-4D97-AF65-F5344CB8AC3E}">
        <p14:creationId xmlns:p14="http://schemas.microsoft.com/office/powerpoint/2010/main" val="8797025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876C90-FA35-CA69-00A1-0C8A93BF53B6}"/>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9E55F9EC-55B4-348B-CE65-8A411B20BEE0}"/>
              </a:ext>
            </a:extLst>
          </p:cNvPr>
          <p:cNvSpPr>
            <a:spLocks noGrp="1"/>
          </p:cNvSpPr>
          <p:nvPr>
            <p:ph type="title"/>
          </p:nvPr>
        </p:nvSpPr>
        <p:spPr/>
        <p:txBody>
          <a:bodyPr/>
          <a:lstStyle/>
          <a:p>
            <a:r>
              <a:rPr lang="hr-HR" dirty="0"/>
              <a:t>Najčešći uzroci neuspjeha</a:t>
            </a:r>
            <a:endParaRPr lang="en-GB" dirty="0"/>
          </a:p>
        </p:txBody>
      </p:sp>
      <p:sp>
        <p:nvSpPr>
          <p:cNvPr id="3" name="Segnaposto contenuto 2">
            <a:extLst>
              <a:ext uri="{FF2B5EF4-FFF2-40B4-BE49-F238E27FC236}">
                <a16:creationId xmlns:a16="http://schemas.microsoft.com/office/drawing/2014/main" id="{9E68712F-15CF-4D3A-1367-D22E19B72B13}"/>
              </a:ext>
            </a:extLst>
          </p:cNvPr>
          <p:cNvSpPr>
            <a:spLocks noGrp="1"/>
          </p:cNvSpPr>
          <p:nvPr>
            <p:ph idx="1"/>
          </p:nvPr>
        </p:nvSpPr>
        <p:spPr/>
        <p:txBody>
          <a:bodyPr/>
          <a:lstStyle/>
          <a:p>
            <a:pPr marL="0" indent="0">
              <a:buNone/>
            </a:pPr>
            <a:r>
              <a:rPr lang="hr-HR" dirty="0"/>
              <a:t>1. Suprotstavljena organizacijska kultura</a:t>
            </a:r>
            <a:br>
              <a:rPr lang="hr-HR" dirty="0"/>
            </a:br>
            <a:r>
              <a:rPr lang="hr-HR" dirty="0"/>
              <a:t>Razumijevanje da </a:t>
            </a:r>
            <a:r>
              <a:rPr lang="hr-HR" dirty="0" err="1"/>
              <a:t>Agile</a:t>
            </a:r>
            <a:r>
              <a:rPr lang="hr-HR" dirty="0"/>
              <a:t> utječe na organizacijske vrijednosti te omogućavanje transformacije prvi je korak prema širem usvajanju </a:t>
            </a:r>
            <a:r>
              <a:rPr lang="hr-HR" dirty="0" err="1"/>
              <a:t>Agile</a:t>
            </a:r>
            <a:r>
              <a:rPr lang="hr-HR" dirty="0"/>
              <a:t> pristupa.</a:t>
            </a:r>
          </a:p>
          <a:p>
            <a:pPr marL="0" indent="0">
              <a:buNone/>
            </a:pPr>
            <a:endParaRPr lang="en-GB" dirty="0"/>
          </a:p>
          <a:p>
            <a:pPr marL="0" indent="0">
              <a:buNone/>
            </a:pPr>
            <a:r>
              <a:rPr lang="en-GB" dirty="0"/>
              <a:t>2. </a:t>
            </a:r>
            <a:r>
              <a:rPr lang="hr-HR" dirty="0"/>
              <a:t>Nedostatak iskustva s metodom</a:t>
            </a:r>
            <a:br>
              <a:rPr lang="hr-HR" dirty="0"/>
            </a:br>
            <a:r>
              <a:rPr lang="hr-HR" dirty="0"/>
              <a:t>Ulaganje u kvalitetnu edukaciju o osnovnim </a:t>
            </a:r>
            <a:r>
              <a:rPr lang="hr-HR" dirty="0" err="1"/>
              <a:t>Agile</a:t>
            </a:r>
            <a:r>
              <a:rPr lang="hr-HR" dirty="0"/>
              <a:t> tehnikama i </a:t>
            </a:r>
            <a:r>
              <a:rPr lang="hr-HR" dirty="0" err="1"/>
              <a:t>coaching</a:t>
            </a:r>
            <a:r>
              <a:rPr lang="hr-HR" dirty="0"/>
              <a:t> za njihovu ispravnu primjenu predstavlja dobro uložen novac.</a:t>
            </a:r>
            <a:endParaRPr lang="en-GB" dirty="0"/>
          </a:p>
        </p:txBody>
      </p:sp>
    </p:spTree>
    <p:extLst>
      <p:ext uri="{BB962C8B-B14F-4D97-AF65-F5344CB8AC3E}">
        <p14:creationId xmlns:p14="http://schemas.microsoft.com/office/powerpoint/2010/main" val="27688534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7F7B0A-B713-E03B-0F44-ACB9DC02C70F}"/>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9B1A883F-6DD2-6964-F01B-5A1866ACD171}"/>
              </a:ext>
            </a:extLst>
          </p:cNvPr>
          <p:cNvSpPr>
            <a:spLocks noGrp="1"/>
          </p:cNvSpPr>
          <p:nvPr>
            <p:ph type="title"/>
          </p:nvPr>
        </p:nvSpPr>
        <p:spPr/>
        <p:txBody>
          <a:bodyPr/>
          <a:lstStyle/>
          <a:p>
            <a:r>
              <a:rPr lang="hr-HR" dirty="0"/>
              <a:t>Najčešći uzroci neuspjeha</a:t>
            </a:r>
            <a:endParaRPr lang="en-GB" dirty="0"/>
          </a:p>
        </p:txBody>
      </p:sp>
      <p:sp>
        <p:nvSpPr>
          <p:cNvPr id="3" name="Segnaposto contenuto 2">
            <a:extLst>
              <a:ext uri="{FF2B5EF4-FFF2-40B4-BE49-F238E27FC236}">
                <a16:creationId xmlns:a16="http://schemas.microsoft.com/office/drawing/2014/main" id="{121CB271-745A-8113-43D2-7993AFE25C53}"/>
              </a:ext>
            </a:extLst>
          </p:cNvPr>
          <p:cNvSpPr>
            <a:spLocks noGrp="1"/>
          </p:cNvSpPr>
          <p:nvPr>
            <p:ph idx="1"/>
          </p:nvPr>
        </p:nvSpPr>
        <p:spPr/>
        <p:txBody>
          <a:bodyPr/>
          <a:lstStyle/>
          <a:p>
            <a:pPr marL="0" indent="0">
              <a:buNone/>
            </a:pPr>
            <a:r>
              <a:rPr lang="en-GB" dirty="0"/>
              <a:t>3. </a:t>
            </a:r>
            <a:r>
              <a:rPr lang="hr-HR" dirty="0"/>
              <a:t>Slaba podrška u kulturnoj tranziciji</a:t>
            </a:r>
            <a:br>
              <a:rPr lang="hr-HR" dirty="0"/>
            </a:br>
            <a:r>
              <a:rPr lang="hr-HR" dirty="0"/>
              <a:t>Opipljivo i aktivno sudjelovanje svih razina menadžmenta ključno je za kulturnu transformaciju.</a:t>
            </a:r>
          </a:p>
          <a:p>
            <a:pPr marL="0" indent="0">
              <a:buNone/>
            </a:pPr>
            <a:endParaRPr lang="en-GB" dirty="0"/>
          </a:p>
          <a:p>
            <a:pPr marL="0" indent="0">
              <a:buNone/>
            </a:pPr>
            <a:r>
              <a:rPr lang="en-GB" dirty="0"/>
              <a:t>4. </a:t>
            </a:r>
            <a:r>
              <a:rPr lang="hr-HR" dirty="0"/>
              <a:t>Vanjski pritisak na </a:t>
            </a:r>
            <a:r>
              <a:rPr lang="hr-HR" dirty="0" err="1"/>
              <a:t>Waterfall</a:t>
            </a:r>
            <a:br>
              <a:rPr lang="hr-HR" dirty="0"/>
            </a:br>
            <a:r>
              <a:rPr lang="hr-HR" dirty="0"/>
              <a:t>Posebno u velikim organizacijama, kako bi se olakšala koegzistencija </a:t>
            </a:r>
            <a:r>
              <a:rPr lang="hr-HR" dirty="0" err="1"/>
              <a:t>Agile</a:t>
            </a:r>
            <a:r>
              <a:rPr lang="hr-HR" dirty="0"/>
              <a:t> i </a:t>
            </a:r>
            <a:r>
              <a:rPr lang="hr-HR" dirty="0" err="1"/>
              <a:t>Waterfall</a:t>
            </a:r>
            <a:r>
              <a:rPr lang="hr-HR" dirty="0"/>
              <a:t> timova, korisno je uključiti ljude „izvan” </a:t>
            </a:r>
            <a:r>
              <a:rPr lang="hr-HR" dirty="0" err="1"/>
              <a:t>Agilea</a:t>
            </a:r>
            <a:r>
              <a:rPr lang="hr-HR" dirty="0"/>
              <a:t> u sastanke te dogovoriti međusobne „sučelne točke” (interfacee) za razmjenu informacija.</a:t>
            </a:r>
            <a:endParaRPr lang="en-GB" dirty="0"/>
          </a:p>
        </p:txBody>
      </p:sp>
    </p:spTree>
    <p:extLst>
      <p:ext uri="{BB962C8B-B14F-4D97-AF65-F5344CB8AC3E}">
        <p14:creationId xmlns:p14="http://schemas.microsoft.com/office/powerpoint/2010/main" val="36808105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2C55AA-4303-77E8-F827-021336793DBE}"/>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5FF94F6C-1C26-EBBB-E218-C675030201BB}"/>
              </a:ext>
            </a:extLst>
          </p:cNvPr>
          <p:cNvSpPr>
            <a:spLocks noGrp="1"/>
          </p:cNvSpPr>
          <p:nvPr>
            <p:ph type="title"/>
          </p:nvPr>
        </p:nvSpPr>
        <p:spPr/>
        <p:txBody>
          <a:bodyPr/>
          <a:lstStyle/>
          <a:p>
            <a:r>
              <a:rPr lang="hr-HR" dirty="0"/>
              <a:t>Najčešći uzroci neuspjeha</a:t>
            </a:r>
            <a:endParaRPr lang="en-GB" dirty="0"/>
          </a:p>
        </p:txBody>
      </p:sp>
      <p:sp>
        <p:nvSpPr>
          <p:cNvPr id="3" name="Segnaposto contenuto 2">
            <a:extLst>
              <a:ext uri="{FF2B5EF4-FFF2-40B4-BE49-F238E27FC236}">
                <a16:creationId xmlns:a16="http://schemas.microsoft.com/office/drawing/2014/main" id="{5B171018-2166-753C-4365-E763853863C5}"/>
              </a:ext>
            </a:extLst>
          </p:cNvPr>
          <p:cNvSpPr>
            <a:spLocks noGrp="1"/>
          </p:cNvSpPr>
          <p:nvPr>
            <p:ph idx="1"/>
          </p:nvPr>
        </p:nvSpPr>
        <p:spPr/>
        <p:txBody>
          <a:bodyPr>
            <a:normAutofit lnSpcReduction="10000"/>
          </a:bodyPr>
          <a:lstStyle/>
          <a:p>
            <a:pPr marL="0" indent="0">
              <a:buNone/>
            </a:pPr>
            <a:r>
              <a:rPr lang="en-GB" dirty="0"/>
              <a:t>5. </a:t>
            </a:r>
            <a:r>
              <a:rPr lang="hr-HR" dirty="0"/>
              <a:t>Organizacijski i/ili komunikacijski problemi</a:t>
            </a:r>
            <a:br>
              <a:rPr lang="hr-HR" dirty="0"/>
            </a:br>
            <a:r>
              <a:rPr lang="hr-HR" dirty="0"/>
              <a:t>Učinkovitost </a:t>
            </a:r>
            <a:r>
              <a:rPr lang="hr-HR" dirty="0" err="1"/>
              <a:t>Agilea</a:t>
            </a:r>
            <a:r>
              <a:rPr lang="hr-HR" dirty="0"/>
              <a:t> ovisi o širokom i dubokom usvajanju vrijednosti i principa na organizacijskoj razini.</a:t>
            </a:r>
          </a:p>
          <a:p>
            <a:pPr marL="0" indent="0">
              <a:buNone/>
            </a:pPr>
            <a:endParaRPr lang="en-GB" dirty="0"/>
          </a:p>
          <a:p>
            <a:pPr marL="0" indent="0">
              <a:buNone/>
            </a:pPr>
            <a:r>
              <a:rPr lang="en-GB" dirty="0"/>
              <a:t>6. </a:t>
            </a:r>
            <a:r>
              <a:rPr lang="hr-HR" dirty="0"/>
              <a:t>Otpornost tima</a:t>
            </a:r>
            <a:br>
              <a:rPr lang="hr-HR" dirty="0"/>
            </a:br>
            <a:r>
              <a:rPr lang="hr-HR" dirty="0"/>
              <a:t>Javlja se kada se članovi tima boje gubitka identiteta ili kontrole.</a:t>
            </a:r>
          </a:p>
          <a:p>
            <a:pPr marL="0" indent="0">
              <a:buNone/>
            </a:pPr>
            <a:endParaRPr lang="en-GB" dirty="0"/>
          </a:p>
          <a:p>
            <a:pPr marL="0" indent="0">
              <a:buNone/>
            </a:pPr>
            <a:r>
              <a:rPr lang="en-GB" dirty="0"/>
              <a:t>7. </a:t>
            </a:r>
            <a:r>
              <a:rPr lang="hr-HR" dirty="0"/>
              <a:t>Nedovoljna edukacija</a:t>
            </a:r>
            <a:br>
              <a:rPr lang="hr-HR" dirty="0"/>
            </a:br>
            <a:r>
              <a:rPr lang="hr-HR" dirty="0"/>
              <a:t>Potrebno je osigurati da svi uključeni (uključujući vodstvo) prođu kvalitetnu edukaciju o </a:t>
            </a:r>
            <a:r>
              <a:rPr lang="hr-HR" dirty="0" err="1"/>
              <a:t>Agile</a:t>
            </a:r>
            <a:r>
              <a:rPr lang="hr-HR" dirty="0"/>
              <a:t> pristupu.</a:t>
            </a:r>
            <a:endParaRPr lang="en-GB" dirty="0"/>
          </a:p>
          <a:p>
            <a:pPr marL="0" indent="0">
              <a:buNone/>
            </a:pPr>
            <a:endParaRPr lang="en-GB" dirty="0"/>
          </a:p>
        </p:txBody>
      </p:sp>
    </p:spTree>
    <p:extLst>
      <p:ext uri="{BB962C8B-B14F-4D97-AF65-F5344CB8AC3E}">
        <p14:creationId xmlns:p14="http://schemas.microsoft.com/office/powerpoint/2010/main" val="16182713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EBE388-71D7-1058-0D04-44B6CCF28093}"/>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EDEF6699-5D89-E622-0DE9-A7E6BEF049DB}"/>
              </a:ext>
            </a:extLst>
          </p:cNvPr>
          <p:cNvSpPr>
            <a:spLocks noGrp="1"/>
          </p:cNvSpPr>
          <p:nvPr>
            <p:ph type="title"/>
          </p:nvPr>
        </p:nvSpPr>
        <p:spPr/>
        <p:txBody>
          <a:bodyPr/>
          <a:lstStyle/>
          <a:p>
            <a:r>
              <a:rPr lang="hr-HR" dirty="0"/>
              <a:t>Model upravljanja promjenama</a:t>
            </a:r>
            <a:endParaRPr lang="en-GB" dirty="0"/>
          </a:p>
        </p:txBody>
      </p:sp>
      <p:sp>
        <p:nvSpPr>
          <p:cNvPr id="3" name="Segnaposto contenuto 2">
            <a:extLst>
              <a:ext uri="{FF2B5EF4-FFF2-40B4-BE49-F238E27FC236}">
                <a16:creationId xmlns:a16="http://schemas.microsoft.com/office/drawing/2014/main" id="{664DA742-41E8-11DE-B944-AA13D4E06D70}"/>
              </a:ext>
            </a:extLst>
          </p:cNvPr>
          <p:cNvSpPr>
            <a:spLocks noGrp="1"/>
          </p:cNvSpPr>
          <p:nvPr>
            <p:ph idx="1"/>
          </p:nvPr>
        </p:nvSpPr>
        <p:spPr/>
        <p:txBody>
          <a:bodyPr>
            <a:normAutofit/>
          </a:bodyPr>
          <a:lstStyle/>
          <a:p>
            <a:pPr marL="0" indent="0">
              <a:buNone/>
            </a:pPr>
            <a:endParaRPr lang="en-GB" dirty="0"/>
          </a:p>
          <a:p>
            <a:pPr marL="0" indent="0">
              <a:buNone/>
            </a:pPr>
            <a:endParaRPr lang="en-GB" dirty="0"/>
          </a:p>
        </p:txBody>
      </p:sp>
      <p:pic>
        <p:nvPicPr>
          <p:cNvPr id="9218" name="Picture 2" descr="Knoster change model">
            <a:extLst>
              <a:ext uri="{FF2B5EF4-FFF2-40B4-BE49-F238E27FC236}">
                <a16:creationId xmlns:a16="http://schemas.microsoft.com/office/drawing/2014/main" id="{578E5B96-BE19-0598-97A3-C8D1B1FD881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57425" y="1911146"/>
            <a:ext cx="7677150" cy="4038600"/>
          </a:xfrm>
          <a:prstGeom prst="rect">
            <a:avLst/>
          </a:prstGeom>
          <a:noFill/>
          <a:extLst>
            <a:ext uri="{909E8E84-426E-40DD-AFC4-6F175D3DCCD1}">
              <a14:hiddenFill xmlns:a14="http://schemas.microsoft.com/office/drawing/2010/main">
                <a:solidFill>
                  <a:srgbClr val="FFFFFF"/>
                </a:solidFill>
              </a14:hiddenFill>
            </a:ext>
          </a:extLst>
        </p:spPr>
      </p:pic>
      <p:sp>
        <p:nvSpPr>
          <p:cNvPr id="5" name="CasellaDiTesto 4">
            <a:extLst>
              <a:ext uri="{FF2B5EF4-FFF2-40B4-BE49-F238E27FC236}">
                <a16:creationId xmlns:a16="http://schemas.microsoft.com/office/drawing/2014/main" id="{9699F13A-E303-9716-F092-D427D47D26DA}"/>
              </a:ext>
            </a:extLst>
          </p:cNvPr>
          <p:cNvSpPr txBox="1"/>
          <p:nvPr/>
        </p:nvSpPr>
        <p:spPr>
          <a:xfrm>
            <a:off x="4050224" y="5994628"/>
            <a:ext cx="4091551" cy="230832"/>
          </a:xfrm>
          <a:prstGeom prst="rect">
            <a:avLst/>
          </a:prstGeom>
          <a:noFill/>
        </p:spPr>
        <p:txBody>
          <a:bodyPr wrap="square" rtlCol="0">
            <a:spAutoFit/>
          </a:bodyPr>
          <a:lstStyle/>
          <a:p>
            <a:r>
              <a:rPr lang="hr-HR" sz="900" dirty="0">
                <a:latin typeface="Bahnschrift SemiLight" panose="020B0502040204020203" pitchFamily="34" charset="0"/>
              </a:rPr>
              <a:t>Izvor</a:t>
            </a:r>
            <a:r>
              <a:rPr lang="it-IT" sz="900" dirty="0">
                <a:latin typeface="Bahnschrift SemiLight" panose="020B0502040204020203" pitchFamily="34" charset="0"/>
              </a:rPr>
              <a:t>: </a:t>
            </a:r>
            <a:r>
              <a:rPr lang="it-IT" sz="900" i="1" dirty="0">
                <a:latin typeface="Bahnschrift SemiLight" panose="020B0502040204020203" pitchFamily="34" charset="0"/>
              </a:rPr>
              <a:t>Willem </a:t>
            </a:r>
            <a:r>
              <a:rPr lang="it-IT" sz="900" i="1" dirty="0" err="1">
                <a:latin typeface="Bahnschrift SemiLight" panose="020B0502040204020203" pitchFamily="34" charset="0"/>
              </a:rPr>
              <a:t>Hoek</a:t>
            </a:r>
            <a:r>
              <a:rPr lang="it-IT" sz="900" i="1" dirty="0">
                <a:latin typeface="Bahnschrift SemiLight" panose="020B0502040204020203" pitchFamily="34" charset="0"/>
              </a:rPr>
              <a:t> </a:t>
            </a:r>
            <a:r>
              <a:rPr lang="it-IT" sz="900" dirty="0">
                <a:latin typeface="Bahnschrift SemiLight" panose="020B0502040204020203" pitchFamily="34" charset="0"/>
              </a:rPr>
              <a:t>(</a:t>
            </a:r>
            <a:r>
              <a:rPr lang="it-IT" sz="900" dirty="0">
                <a:latin typeface="Bahnschrift SemiLight" panose="020B0502040204020203" pitchFamily="34" charset="0"/>
                <a:hlinkClick r:id="rId4"/>
              </a:rPr>
              <a:t>https://whoek.com/b/knoster_managing-change.html</a:t>
            </a:r>
            <a:r>
              <a:rPr lang="it-IT" sz="900" dirty="0">
                <a:latin typeface="Bahnschrift SemiLight" panose="020B0502040204020203" pitchFamily="34" charset="0"/>
              </a:rPr>
              <a:t>) </a:t>
            </a:r>
            <a:endParaRPr lang="en-GB" sz="900" dirty="0">
              <a:latin typeface="Bahnschrift SemiLight" panose="020B0502040204020203" pitchFamily="34" charset="0"/>
            </a:endParaRPr>
          </a:p>
        </p:txBody>
      </p:sp>
    </p:spTree>
    <p:extLst>
      <p:ext uri="{BB962C8B-B14F-4D97-AF65-F5344CB8AC3E}">
        <p14:creationId xmlns:p14="http://schemas.microsoft.com/office/powerpoint/2010/main" val="82966031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ED8286-85D5-C934-E13C-9BA4E3035683}"/>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628E2AD2-45A3-299A-6142-FECB8E3DE565}"/>
              </a:ext>
            </a:extLst>
          </p:cNvPr>
          <p:cNvSpPr>
            <a:spLocks noGrp="1"/>
          </p:cNvSpPr>
          <p:nvPr>
            <p:ph type="title"/>
          </p:nvPr>
        </p:nvSpPr>
        <p:spPr/>
        <p:txBody>
          <a:bodyPr/>
          <a:lstStyle/>
          <a:p>
            <a:r>
              <a:rPr lang="pt-BR" dirty="0"/>
              <a:t>Usvajanje Agilea naspram Agile transformacije</a:t>
            </a:r>
            <a:endParaRPr lang="en-GB" dirty="0"/>
          </a:p>
        </p:txBody>
      </p:sp>
      <p:sp>
        <p:nvSpPr>
          <p:cNvPr id="5" name="Segnaposto contenuto 4">
            <a:extLst>
              <a:ext uri="{FF2B5EF4-FFF2-40B4-BE49-F238E27FC236}">
                <a16:creationId xmlns:a16="http://schemas.microsoft.com/office/drawing/2014/main" id="{4D975922-8AE2-F00C-EA78-A7CFF3A968D7}"/>
              </a:ext>
            </a:extLst>
          </p:cNvPr>
          <p:cNvSpPr>
            <a:spLocks noGrp="1"/>
          </p:cNvSpPr>
          <p:nvPr>
            <p:ph idx="1"/>
          </p:nvPr>
        </p:nvSpPr>
        <p:spPr/>
        <p:txBody>
          <a:bodyPr/>
          <a:lstStyle/>
          <a:p>
            <a:r>
              <a:rPr lang="hr-HR" dirty="0"/>
              <a:t>Usvajanje </a:t>
            </a:r>
            <a:r>
              <a:rPr lang="hr-HR" dirty="0" err="1"/>
              <a:t>Agilea</a:t>
            </a:r>
            <a:r>
              <a:rPr lang="hr-HR" dirty="0"/>
              <a:t>: korištenje alata i tehnika u skladu s </a:t>
            </a:r>
            <a:r>
              <a:rPr lang="hr-HR" dirty="0" err="1"/>
              <a:t>Agile</a:t>
            </a:r>
            <a:r>
              <a:rPr lang="hr-HR" dirty="0"/>
              <a:t> principima.</a:t>
            </a:r>
          </a:p>
          <a:p>
            <a:r>
              <a:rPr lang="hr-HR" dirty="0" err="1"/>
              <a:t>Agile</a:t>
            </a:r>
            <a:r>
              <a:rPr lang="hr-HR" dirty="0"/>
              <a:t> transformacija: proces razvoja kulture i prirode organizacije.</a:t>
            </a:r>
          </a:p>
        </p:txBody>
      </p:sp>
    </p:spTree>
    <p:extLst>
      <p:ext uri="{BB962C8B-B14F-4D97-AF65-F5344CB8AC3E}">
        <p14:creationId xmlns:p14="http://schemas.microsoft.com/office/powerpoint/2010/main" val="347910399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86B273-659C-09B9-65AD-FBCB66161894}"/>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D889B376-4569-0CC1-6797-878F2F16CED1}"/>
              </a:ext>
            </a:extLst>
          </p:cNvPr>
          <p:cNvSpPr>
            <a:spLocks noGrp="1"/>
          </p:cNvSpPr>
          <p:nvPr>
            <p:ph type="title"/>
          </p:nvPr>
        </p:nvSpPr>
        <p:spPr/>
        <p:txBody>
          <a:bodyPr/>
          <a:lstStyle/>
          <a:p>
            <a:r>
              <a:rPr lang="pt-BR" dirty="0"/>
              <a:t>Usvajanje Agilea naspram Agile transformacije</a:t>
            </a:r>
            <a:endParaRPr lang="en-GB" dirty="0"/>
          </a:p>
        </p:txBody>
      </p:sp>
      <p:graphicFrame>
        <p:nvGraphicFramePr>
          <p:cNvPr id="6" name="object 3">
            <a:extLst>
              <a:ext uri="{FF2B5EF4-FFF2-40B4-BE49-F238E27FC236}">
                <a16:creationId xmlns:a16="http://schemas.microsoft.com/office/drawing/2014/main" id="{716A504C-B430-D423-F404-5562A7123DF2}"/>
              </a:ext>
            </a:extLst>
          </p:cNvPr>
          <p:cNvGraphicFramePr>
            <a:graphicFrameLocks noGrp="1"/>
          </p:cNvGraphicFramePr>
          <p:nvPr>
            <p:extLst>
              <p:ext uri="{D42A27DB-BD31-4B8C-83A1-F6EECF244321}">
                <p14:modId xmlns:p14="http://schemas.microsoft.com/office/powerpoint/2010/main" val="2059382516"/>
              </p:ext>
            </p:extLst>
          </p:nvPr>
        </p:nvGraphicFramePr>
        <p:xfrm>
          <a:off x="1209007" y="2003431"/>
          <a:ext cx="9208315" cy="3844003"/>
        </p:xfrm>
        <a:graphic>
          <a:graphicData uri="http://schemas.openxmlformats.org/drawingml/2006/table">
            <a:tbl>
              <a:tblPr firstRow="1" bandRow="1">
                <a:tableStyleId>{2D5ABB26-0587-4C30-8999-92F81FD0307C}</a:tableStyleId>
              </a:tblPr>
              <a:tblGrid>
                <a:gridCol w="3679528">
                  <a:extLst>
                    <a:ext uri="{9D8B030D-6E8A-4147-A177-3AD203B41FA5}">
                      <a16:colId xmlns:a16="http://schemas.microsoft.com/office/drawing/2014/main" val="20000"/>
                    </a:ext>
                  </a:extLst>
                </a:gridCol>
                <a:gridCol w="2764394">
                  <a:extLst>
                    <a:ext uri="{9D8B030D-6E8A-4147-A177-3AD203B41FA5}">
                      <a16:colId xmlns:a16="http://schemas.microsoft.com/office/drawing/2014/main" val="20001"/>
                    </a:ext>
                  </a:extLst>
                </a:gridCol>
                <a:gridCol w="2764393">
                  <a:extLst>
                    <a:ext uri="{9D8B030D-6E8A-4147-A177-3AD203B41FA5}">
                      <a16:colId xmlns:a16="http://schemas.microsoft.com/office/drawing/2014/main" val="20002"/>
                    </a:ext>
                  </a:extLst>
                </a:gridCol>
              </a:tblGrid>
              <a:tr h="484584">
                <a:tc>
                  <a:txBody>
                    <a:bodyPr/>
                    <a:lstStyle/>
                    <a:p>
                      <a:pPr>
                        <a:lnSpc>
                          <a:spcPct val="100000"/>
                        </a:lnSpc>
                      </a:pPr>
                      <a:endParaRPr sz="1400" dirty="0">
                        <a:latin typeface="Bahnschrift SemiLight" panose="020B0502040204020203" pitchFamily="34" charset="0"/>
                        <a:cs typeface="Times New Roman"/>
                      </a:endParaRPr>
                    </a:p>
                  </a:txBody>
                  <a:tcPr marL="0" marR="0" marT="0" marB="0">
                    <a:lnR w="9525">
                      <a:solidFill>
                        <a:srgbClr val="FFFFFF"/>
                      </a:solidFill>
                      <a:prstDash val="solid"/>
                    </a:lnR>
                    <a:lnT w="9525">
                      <a:solidFill>
                        <a:srgbClr val="FFFFFF"/>
                      </a:solidFill>
                      <a:prstDash val="solid"/>
                    </a:lnT>
                    <a:lnB w="9525">
                      <a:solidFill>
                        <a:srgbClr val="FFFFFF"/>
                      </a:solidFill>
                      <a:prstDash val="solid"/>
                    </a:lnB>
                  </a:tcPr>
                </a:tc>
                <a:tc>
                  <a:txBody>
                    <a:bodyPr/>
                    <a:lstStyle/>
                    <a:p>
                      <a:pPr algn="ctr">
                        <a:lnSpc>
                          <a:spcPct val="100000"/>
                        </a:lnSpc>
                        <a:spcBef>
                          <a:spcPts val="615"/>
                        </a:spcBef>
                      </a:pPr>
                      <a:r>
                        <a:rPr lang="hr-HR" sz="2000" b="1" spc="-10" dirty="0">
                          <a:solidFill>
                            <a:schemeClr val="bg1"/>
                          </a:solidFill>
                          <a:latin typeface="Bahnschrift SemiBold" panose="020B0502040204020203" pitchFamily="34" charset="0"/>
                          <a:cs typeface="Arial"/>
                        </a:rPr>
                        <a:t>USVAJANJE</a:t>
                      </a:r>
                      <a:endParaRPr sz="2000" dirty="0">
                        <a:solidFill>
                          <a:schemeClr val="bg1"/>
                        </a:solidFill>
                        <a:latin typeface="Bahnschrift SemiBold" panose="020B0502040204020203" pitchFamily="34" charset="0"/>
                        <a:cs typeface="Arial"/>
                      </a:endParaRPr>
                    </a:p>
                  </a:txBody>
                  <a:tcPr marL="0" marR="0" marT="78105" marB="0">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DC56F5"/>
                    </a:solidFill>
                  </a:tcPr>
                </a:tc>
                <a:tc>
                  <a:txBody>
                    <a:bodyPr/>
                    <a:lstStyle/>
                    <a:p>
                      <a:pPr algn="ctr">
                        <a:lnSpc>
                          <a:spcPct val="100000"/>
                        </a:lnSpc>
                        <a:spcBef>
                          <a:spcPts val="615"/>
                        </a:spcBef>
                      </a:pPr>
                      <a:r>
                        <a:rPr sz="2000" b="1" spc="-10" dirty="0">
                          <a:solidFill>
                            <a:schemeClr val="bg1"/>
                          </a:solidFill>
                          <a:latin typeface="Bahnschrift SemiBold" panose="020B0502040204020203" pitchFamily="34" charset="0"/>
                          <a:cs typeface="Arial"/>
                        </a:rPr>
                        <a:t>TRANSFORMA</a:t>
                      </a:r>
                      <a:r>
                        <a:rPr lang="hr-HR" sz="2000" b="1" spc="-10" dirty="0">
                          <a:solidFill>
                            <a:schemeClr val="bg1"/>
                          </a:solidFill>
                          <a:latin typeface="Bahnschrift SemiBold" panose="020B0502040204020203" pitchFamily="34" charset="0"/>
                          <a:cs typeface="Arial"/>
                        </a:rPr>
                        <a:t>CIJA</a:t>
                      </a:r>
                      <a:endParaRPr sz="2000" dirty="0">
                        <a:solidFill>
                          <a:schemeClr val="bg1"/>
                        </a:solidFill>
                        <a:latin typeface="Bahnschrift SemiBold" panose="020B0502040204020203" pitchFamily="34" charset="0"/>
                        <a:cs typeface="Arial"/>
                      </a:endParaRPr>
                    </a:p>
                  </a:txBody>
                  <a:tcPr marL="0" marR="0" marT="78105" marB="0">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DC56F5"/>
                    </a:solidFill>
                  </a:tcPr>
                </a:tc>
                <a:extLst>
                  <a:ext uri="{0D108BD9-81ED-4DB2-BD59-A6C34878D82A}">
                    <a16:rowId xmlns:a16="http://schemas.microsoft.com/office/drawing/2014/main" val="10000"/>
                  </a:ext>
                </a:extLst>
              </a:tr>
              <a:tr h="479917">
                <a:tc>
                  <a:txBody>
                    <a:bodyPr/>
                    <a:lstStyle/>
                    <a:p>
                      <a:pPr marR="221615" algn="r">
                        <a:lnSpc>
                          <a:spcPct val="100000"/>
                        </a:lnSpc>
                        <a:spcBef>
                          <a:spcPts val="615"/>
                        </a:spcBef>
                      </a:pPr>
                      <a:r>
                        <a:rPr lang="hr-HR" sz="1400" b="1" dirty="0">
                          <a:latin typeface="Bahnschrift SemiLight" panose="020B0502040204020203" pitchFamily="34" charset="0"/>
                          <a:cs typeface="Arial"/>
                        </a:rPr>
                        <a:t>Odgovara na pitanja</a:t>
                      </a:r>
                      <a:endParaRPr lang="en-GB" sz="1400" b="1" dirty="0">
                        <a:latin typeface="Bahnschrift SemiLight" panose="020B0502040204020203" pitchFamily="34" charset="0"/>
                        <a:cs typeface="Arial"/>
                      </a:endParaRPr>
                    </a:p>
                  </a:txBody>
                  <a:tcPr marL="0" marR="0" marT="78105" marB="0">
                    <a:lnR w="9525">
                      <a:solidFill>
                        <a:srgbClr val="FFFFFF"/>
                      </a:solidFill>
                      <a:prstDash val="solid"/>
                    </a:lnR>
                    <a:lnT w="9525">
                      <a:solidFill>
                        <a:srgbClr val="FFFFFF"/>
                      </a:solidFill>
                      <a:prstDash val="solid"/>
                    </a:lnT>
                    <a:lnB w="9525">
                      <a:solidFill>
                        <a:srgbClr val="FFFFFF"/>
                      </a:solidFill>
                      <a:prstDash val="solid"/>
                    </a:lnB>
                  </a:tcPr>
                </a:tc>
                <a:tc>
                  <a:txBody>
                    <a:bodyPr/>
                    <a:lstStyle/>
                    <a:p>
                      <a:pPr algn="ctr">
                        <a:lnSpc>
                          <a:spcPct val="100000"/>
                        </a:lnSpc>
                        <a:spcBef>
                          <a:spcPts val="615"/>
                        </a:spcBef>
                      </a:pPr>
                      <a:r>
                        <a:rPr lang="hr-HR" sz="1400" dirty="0">
                          <a:latin typeface="Bahnschrift SemiLight" panose="020B0502040204020203" pitchFamily="34" charset="0"/>
                          <a:cs typeface="Arial MT"/>
                        </a:rPr>
                        <a:t>Što radimo</a:t>
                      </a:r>
                      <a:r>
                        <a:rPr lang="en-GB" sz="1400" dirty="0">
                          <a:latin typeface="Bahnschrift SemiLight" panose="020B0502040204020203" pitchFamily="34" charset="0"/>
                          <a:cs typeface="Arial MT"/>
                        </a:rPr>
                        <a:t>?</a:t>
                      </a:r>
                    </a:p>
                  </a:txBody>
                  <a:tcPr marL="0" marR="0" marT="78105" marB="0">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DC56F5">
                        <a:alpha val="24319"/>
                      </a:srgbClr>
                    </a:solidFill>
                  </a:tcPr>
                </a:tc>
                <a:tc>
                  <a:txBody>
                    <a:bodyPr/>
                    <a:lstStyle/>
                    <a:p>
                      <a:pPr algn="ctr">
                        <a:lnSpc>
                          <a:spcPct val="100000"/>
                        </a:lnSpc>
                        <a:spcBef>
                          <a:spcPts val="615"/>
                        </a:spcBef>
                      </a:pPr>
                      <a:r>
                        <a:rPr lang="hr-HR" sz="1400" dirty="0">
                          <a:latin typeface="Bahnschrift SemiLight" panose="020B0502040204020203" pitchFamily="34" charset="0"/>
                          <a:cs typeface="Arial MT"/>
                        </a:rPr>
                        <a:t>Tko smo</a:t>
                      </a:r>
                      <a:r>
                        <a:rPr lang="en-GB" sz="1400" dirty="0">
                          <a:latin typeface="Bahnschrift SemiLight" panose="020B0502040204020203" pitchFamily="34" charset="0"/>
                          <a:cs typeface="Arial MT"/>
                        </a:rPr>
                        <a:t>?</a:t>
                      </a:r>
                    </a:p>
                  </a:txBody>
                  <a:tcPr marL="0" marR="0" marT="78105" marB="0">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DC56F5">
                        <a:alpha val="24319"/>
                      </a:srgbClr>
                    </a:solidFill>
                  </a:tcPr>
                </a:tc>
                <a:extLst>
                  <a:ext uri="{0D108BD9-81ED-4DB2-BD59-A6C34878D82A}">
                    <a16:rowId xmlns:a16="http://schemas.microsoft.com/office/drawing/2014/main" val="10001"/>
                  </a:ext>
                </a:extLst>
              </a:tr>
              <a:tr h="479917">
                <a:tc>
                  <a:txBody>
                    <a:bodyPr/>
                    <a:lstStyle/>
                    <a:p>
                      <a:pPr marR="222885" algn="r">
                        <a:lnSpc>
                          <a:spcPct val="100000"/>
                        </a:lnSpc>
                        <a:spcBef>
                          <a:spcPts val="620"/>
                        </a:spcBef>
                      </a:pPr>
                      <a:r>
                        <a:rPr lang="hr-HR" sz="1400" b="1" dirty="0">
                          <a:latin typeface="Bahnschrift SemiLight" panose="020B0502040204020203" pitchFamily="34" charset="0"/>
                          <a:cs typeface="Arial"/>
                        </a:rPr>
                        <a:t>Naglasak na</a:t>
                      </a:r>
                      <a:endParaRPr lang="en-GB" sz="1400" b="1" dirty="0">
                        <a:latin typeface="Bahnschrift SemiLight" panose="020B0502040204020203" pitchFamily="34" charset="0"/>
                        <a:cs typeface="Arial"/>
                      </a:endParaRPr>
                    </a:p>
                  </a:txBody>
                  <a:tcPr marL="0" marR="0" marT="78740" marB="0">
                    <a:lnR w="9525">
                      <a:solidFill>
                        <a:srgbClr val="FFFFFF"/>
                      </a:solidFill>
                      <a:prstDash val="solid"/>
                    </a:lnR>
                    <a:lnT w="9525">
                      <a:solidFill>
                        <a:srgbClr val="FFFFFF"/>
                      </a:solidFill>
                      <a:prstDash val="solid"/>
                    </a:lnT>
                    <a:lnB w="9525">
                      <a:solidFill>
                        <a:srgbClr val="FFFFFF"/>
                      </a:solidFill>
                      <a:prstDash val="solid"/>
                    </a:lnB>
                  </a:tcPr>
                </a:tc>
                <a:tc>
                  <a:txBody>
                    <a:bodyPr/>
                    <a:lstStyle/>
                    <a:p>
                      <a:pPr algn="ctr">
                        <a:lnSpc>
                          <a:spcPct val="100000"/>
                        </a:lnSpc>
                        <a:spcBef>
                          <a:spcPts val="620"/>
                        </a:spcBef>
                      </a:pPr>
                      <a:r>
                        <a:rPr lang="hr-HR" sz="1400" spc="-10" dirty="0">
                          <a:latin typeface="Bahnschrift SemiLight" panose="020B0502040204020203" pitchFamily="34" charset="0"/>
                          <a:cs typeface="Arial MT"/>
                        </a:rPr>
                        <a:t>Praksi</a:t>
                      </a:r>
                      <a:endParaRPr sz="1400" dirty="0">
                        <a:latin typeface="Bahnschrift SemiLight" panose="020B0502040204020203" pitchFamily="34" charset="0"/>
                        <a:cs typeface="Arial MT"/>
                      </a:endParaRPr>
                    </a:p>
                  </a:txBody>
                  <a:tcPr marL="0" marR="0" marT="78740" marB="0">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DC56F5">
                        <a:alpha val="24319"/>
                      </a:srgbClr>
                    </a:solidFill>
                  </a:tcPr>
                </a:tc>
                <a:tc>
                  <a:txBody>
                    <a:bodyPr/>
                    <a:lstStyle/>
                    <a:p>
                      <a:pPr algn="ctr">
                        <a:lnSpc>
                          <a:spcPct val="100000"/>
                        </a:lnSpc>
                        <a:spcBef>
                          <a:spcPts val="620"/>
                        </a:spcBef>
                      </a:pPr>
                      <a:r>
                        <a:rPr lang="hr-HR" sz="1400" spc="-10" dirty="0">
                          <a:latin typeface="Bahnschrift SemiLight" panose="020B0502040204020203" pitchFamily="34" charset="0"/>
                          <a:cs typeface="Arial MT"/>
                        </a:rPr>
                        <a:t>Vrijednostima i principima</a:t>
                      </a:r>
                      <a:endParaRPr lang="en-GB" sz="1400" spc="-10" dirty="0">
                        <a:latin typeface="Bahnschrift SemiLight" panose="020B0502040204020203" pitchFamily="34" charset="0"/>
                        <a:cs typeface="Arial MT"/>
                      </a:endParaRPr>
                    </a:p>
                  </a:txBody>
                  <a:tcPr marL="0" marR="0" marT="78740" marB="0">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DC56F5">
                        <a:alpha val="24319"/>
                      </a:srgbClr>
                    </a:solidFill>
                  </a:tcPr>
                </a:tc>
                <a:extLst>
                  <a:ext uri="{0D108BD9-81ED-4DB2-BD59-A6C34878D82A}">
                    <a16:rowId xmlns:a16="http://schemas.microsoft.com/office/drawing/2014/main" val="10002"/>
                  </a:ext>
                </a:extLst>
              </a:tr>
              <a:tr h="479917">
                <a:tc>
                  <a:txBody>
                    <a:bodyPr/>
                    <a:lstStyle/>
                    <a:p>
                      <a:pPr marR="223520" algn="r">
                        <a:lnSpc>
                          <a:spcPct val="100000"/>
                        </a:lnSpc>
                        <a:spcBef>
                          <a:spcPts val="620"/>
                        </a:spcBef>
                      </a:pPr>
                      <a:r>
                        <a:rPr lang="hr-HR" sz="1400" b="1" spc="-10" dirty="0">
                          <a:latin typeface="Bahnschrift SemiLight" panose="020B0502040204020203" pitchFamily="34" charset="0"/>
                          <a:cs typeface="Arial"/>
                        </a:rPr>
                        <a:t>Brzina promjene</a:t>
                      </a:r>
                      <a:endParaRPr lang="en-GB" sz="1400" b="1" spc="-10" dirty="0">
                        <a:latin typeface="Bahnschrift SemiLight" panose="020B0502040204020203" pitchFamily="34" charset="0"/>
                        <a:cs typeface="Arial"/>
                      </a:endParaRPr>
                    </a:p>
                  </a:txBody>
                  <a:tcPr marL="0" marR="0" marT="78740" marB="0">
                    <a:lnR w="9525">
                      <a:solidFill>
                        <a:srgbClr val="FFFFFF"/>
                      </a:solidFill>
                      <a:prstDash val="solid"/>
                    </a:lnR>
                    <a:lnT w="9525">
                      <a:solidFill>
                        <a:srgbClr val="FFFFFF"/>
                      </a:solidFill>
                      <a:prstDash val="solid"/>
                    </a:lnT>
                    <a:lnB w="9525">
                      <a:solidFill>
                        <a:srgbClr val="FFFFFF"/>
                      </a:solidFill>
                      <a:prstDash val="solid"/>
                    </a:lnB>
                  </a:tcPr>
                </a:tc>
                <a:tc>
                  <a:txBody>
                    <a:bodyPr/>
                    <a:lstStyle/>
                    <a:p>
                      <a:pPr algn="ctr">
                        <a:lnSpc>
                          <a:spcPct val="100000"/>
                        </a:lnSpc>
                        <a:spcBef>
                          <a:spcPts val="620"/>
                        </a:spcBef>
                      </a:pPr>
                      <a:r>
                        <a:rPr lang="hr-HR" sz="1400" spc="-10" dirty="0">
                          <a:latin typeface="Bahnschrift SemiLight" panose="020B0502040204020203" pitchFamily="34" charset="0"/>
                          <a:cs typeface="Arial MT"/>
                        </a:rPr>
                        <a:t>Brza</a:t>
                      </a:r>
                      <a:endParaRPr sz="1400" dirty="0">
                        <a:latin typeface="Bahnschrift SemiLight" panose="020B0502040204020203" pitchFamily="34" charset="0"/>
                        <a:cs typeface="Arial MT"/>
                      </a:endParaRPr>
                    </a:p>
                  </a:txBody>
                  <a:tcPr marL="0" marR="0" marT="78740" marB="0">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DC56F5">
                        <a:alpha val="24319"/>
                      </a:srgbClr>
                    </a:solidFill>
                  </a:tcPr>
                </a:tc>
                <a:tc>
                  <a:txBody>
                    <a:bodyPr/>
                    <a:lstStyle/>
                    <a:p>
                      <a:pPr algn="ctr">
                        <a:lnSpc>
                          <a:spcPct val="100000"/>
                        </a:lnSpc>
                        <a:spcBef>
                          <a:spcPts val="620"/>
                        </a:spcBef>
                      </a:pPr>
                      <a:r>
                        <a:rPr lang="hr-HR" sz="1400" spc="-10" dirty="0">
                          <a:latin typeface="Bahnschrift SemiLight" panose="020B0502040204020203" pitchFamily="34" charset="0"/>
                          <a:cs typeface="Arial MT"/>
                        </a:rPr>
                        <a:t>Spora</a:t>
                      </a:r>
                      <a:endParaRPr sz="1400" dirty="0">
                        <a:latin typeface="Bahnschrift SemiLight" panose="020B0502040204020203" pitchFamily="34" charset="0"/>
                        <a:cs typeface="Arial MT"/>
                      </a:endParaRPr>
                    </a:p>
                  </a:txBody>
                  <a:tcPr marL="0" marR="0" marT="78740" marB="0">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DC56F5">
                        <a:alpha val="24319"/>
                      </a:srgbClr>
                    </a:solidFill>
                  </a:tcPr>
                </a:tc>
                <a:extLst>
                  <a:ext uri="{0D108BD9-81ED-4DB2-BD59-A6C34878D82A}">
                    <a16:rowId xmlns:a16="http://schemas.microsoft.com/office/drawing/2014/main" val="10003"/>
                  </a:ext>
                </a:extLst>
              </a:tr>
              <a:tr h="479917">
                <a:tc>
                  <a:txBody>
                    <a:bodyPr/>
                    <a:lstStyle/>
                    <a:p>
                      <a:pPr marR="221615" algn="r">
                        <a:lnSpc>
                          <a:spcPct val="100000"/>
                        </a:lnSpc>
                        <a:spcBef>
                          <a:spcPts val="615"/>
                        </a:spcBef>
                      </a:pPr>
                      <a:r>
                        <a:rPr lang="hr-HR" sz="1400" b="1" dirty="0">
                          <a:latin typeface="Bahnschrift SemiLight" panose="020B0502040204020203" pitchFamily="34" charset="0"/>
                          <a:cs typeface="Arial"/>
                        </a:rPr>
                        <a:t>Vremenski okvir</a:t>
                      </a:r>
                      <a:endParaRPr lang="en-GB" sz="1400" b="1" dirty="0">
                        <a:latin typeface="Bahnschrift SemiLight" panose="020B0502040204020203" pitchFamily="34" charset="0"/>
                        <a:cs typeface="Arial"/>
                      </a:endParaRPr>
                    </a:p>
                  </a:txBody>
                  <a:tcPr marL="0" marR="0" marT="78105" marB="0">
                    <a:lnR w="9525">
                      <a:solidFill>
                        <a:srgbClr val="FFFFFF"/>
                      </a:solidFill>
                      <a:prstDash val="solid"/>
                    </a:lnR>
                    <a:lnT w="9525">
                      <a:solidFill>
                        <a:srgbClr val="FFFFFF"/>
                      </a:solidFill>
                      <a:prstDash val="solid"/>
                    </a:lnT>
                    <a:lnB w="9525">
                      <a:solidFill>
                        <a:srgbClr val="FFFFFF"/>
                      </a:solidFill>
                      <a:prstDash val="solid"/>
                    </a:lnB>
                  </a:tcPr>
                </a:tc>
                <a:tc>
                  <a:txBody>
                    <a:bodyPr/>
                    <a:lstStyle/>
                    <a:p>
                      <a:pPr algn="ctr">
                        <a:lnSpc>
                          <a:spcPct val="100000"/>
                        </a:lnSpc>
                        <a:spcBef>
                          <a:spcPts val="615"/>
                        </a:spcBef>
                      </a:pPr>
                      <a:r>
                        <a:rPr lang="hr-HR" sz="1400" dirty="0">
                          <a:latin typeface="Bahnschrift SemiLight" panose="020B0502040204020203" pitchFamily="34" charset="0"/>
                          <a:cs typeface="Arial MT"/>
                        </a:rPr>
                        <a:t>Kratak period</a:t>
                      </a:r>
                      <a:endParaRPr lang="en-GB" sz="1400" dirty="0">
                        <a:latin typeface="Bahnschrift SemiLight" panose="020B0502040204020203" pitchFamily="34" charset="0"/>
                        <a:cs typeface="Arial MT"/>
                      </a:endParaRPr>
                    </a:p>
                  </a:txBody>
                  <a:tcPr marL="0" marR="0" marT="78105" marB="0">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DC56F5">
                        <a:alpha val="24319"/>
                      </a:srgbClr>
                    </a:solidFill>
                  </a:tcPr>
                </a:tc>
                <a:tc>
                  <a:txBody>
                    <a:bodyPr/>
                    <a:lstStyle/>
                    <a:p>
                      <a:pPr algn="ctr">
                        <a:lnSpc>
                          <a:spcPct val="100000"/>
                        </a:lnSpc>
                        <a:spcBef>
                          <a:spcPts val="615"/>
                        </a:spcBef>
                      </a:pPr>
                      <a:r>
                        <a:rPr lang="hr-HR" sz="1400" dirty="0">
                          <a:latin typeface="Bahnschrift SemiLight" panose="020B0502040204020203" pitchFamily="34" charset="0"/>
                          <a:cs typeface="Arial MT"/>
                        </a:rPr>
                        <a:t>Dugi period</a:t>
                      </a:r>
                      <a:endParaRPr lang="en-GB" sz="1400" dirty="0">
                        <a:latin typeface="Bahnschrift SemiLight" panose="020B0502040204020203" pitchFamily="34" charset="0"/>
                        <a:cs typeface="Arial MT"/>
                      </a:endParaRPr>
                    </a:p>
                  </a:txBody>
                  <a:tcPr marL="0" marR="0" marT="78105" marB="0">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DC56F5">
                        <a:alpha val="24319"/>
                      </a:srgbClr>
                    </a:solidFill>
                  </a:tcPr>
                </a:tc>
                <a:extLst>
                  <a:ext uri="{0D108BD9-81ED-4DB2-BD59-A6C34878D82A}">
                    <a16:rowId xmlns:a16="http://schemas.microsoft.com/office/drawing/2014/main" val="10004"/>
                  </a:ext>
                </a:extLst>
              </a:tr>
              <a:tr h="479917">
                <a:tc>
                  <a:txBody>
                    <a:bodyPr/>
                    <a:lstStyle/>
                    <a:p>
                      <a:pPr marR="223520" algn="r">
                        <a:lnSpc>
                          <a:spcPct val="100000"/>
                        </a:lnSpc>
                        <a:spcBef>
                          <a:spcPts val="620"/>
                        </a:spcBef>
                      </a:pPr>
                      <a:r>
                        <a:rPr lang="hr-HR" sz="1400" b="1" dirty="0">
                          <a:latin typeface="Bahnschrift SemiLight" panose="020B0502040204020203" pitchFamily="34" charset="0"/>
                          <a:cs typeface="Arial"/>
                        </a:rPr>
                        <a:t>Utjecaj na rezultate </a:t>
                      </a:r>
                      <a:r>
                        <a:rPr lang="en-GB" sz="1400" b="1" dirty="0">
                          <a:latin typeface="Bahnschrift SemiLight" panose="020B0502040204020203" pitchFamily="34" charset="0"/>
                          <a:cs typeface="Arial"/>
                        </a:rPr>
                        <a:t>(</a:t>
                      </a:r>
                      <a:r>
                        <a:rPr lang="en-GB" sz="1400" b="1" dirty="0" err="1">
                          <a:latin typeface="Bahnschrift SemiLight" panose="020B0502040204020203" pitchFamily="34" charset="0"/>
                          <a:cs typeface="Arial"/>
                        </a:rPr>
                        <a:t>produ</a:t>
                      </a:r>
                      <a:r>
                        <a:rPr lang="hr-HR" sz="1400" b="1" dirty="0" err="1">
                          <a:latin typeface="Bahnschrift SemiLight" panose="020B0502040204020203" pitchFamily="34" charset="0"/>
                          <a:cs typeface="Arial"/>
                        </a:rPr>
                        <a:t>ktivnost</a:t>
                      </a:r>
                      <a:r>
                        <a:rPr lang="en-GB" sz="1400" b="1" dirty="0">
                          <a:latin typeface="Bahnschrift SemiLight" panose="020B0502040204020203" pitchFamily="34" charset="0"/>
                          <a:cs typeface="Arial"/>
                        </a:rPr>
                        <a:t>)</a:t>
                      </a:r>
                    </a:p>
                  </a:txBody>
                  <a:tcPr marL="0" marR="0" marT="78740" marB="0">
                    <a:lnR w="9525">
                      <a:solidFill>
                        <a:srgbClr val="FFFFFF"/>
                      </a:solidFill>
                      <a:prstDash val="solid"/>
                    </a:lnR>
                    <a:lnT w="9525">
                      <a:solidFill>
                        <a:srgbClr val="FFFFFF"/>
                      </a:solidFill>
                      <a:prstDash val="solid"/>
                    </a:lnT>
                    <a:lnB w="9525">
                      <a:solidFill>
                        <a:srgbClr val="FFFFFF"/>
                      </a:solidFill>
                      <a:prstDash val="solid"/>
                    </a:lnB>
                  </a:tcPr>
                </a:tc>
                <a:tc>
                  <a:txBody>
                    <a:bodyPr/>
                    <a:lstStyle/>
                    <a:p>
                      <a:pPr algn="ctr">
                        <a:lnSpc>
                          <a:spcPct val="100000"/>
                        </a:lnSpc>
                        <a:spcBef>
                          <a:spcPts val="620"/>
                        </a:spcBef>
                      </a:pPr>
                      <a:r>
                        <a:rPr sz="1400" spc="-20" dirty="0">
                          <a:latin typeface="Bahnschrift SemiLight" panose="020B0502040204020203" pitchFamily="34" charset="0"/>
                          <a:cs typeface="Arial MT"/>
                        </a:rPr>
                        <a:t>100%</a:t>
                      </a:r>
                      <a:endParaRPr sz="1400" dirty="0">
                        <a:latin typeface="Bahnschrift SemiLight" panose="020B0502040204020203" pitchFamily="34" charset="0"/>
                        <a:cs typeface="Arial MT"/>
                      </a:endParaRPr>
                    </a:p>
                  </a:txBody>
                  <a:tcPr marL="0" marR="0" marT="78740" marB="0">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DC56F5">
                        <a:alpha val="24319"/>
                      </a:srgbClr>
                    </a:solidFill>
                  </a:tcPr>
                </a:tc>
                <a:tc>
                  <a:txBody>
                    <a:bodyPr/>
                    <a:lstStyle/>
                    <a:p>
                      <a:pPr algn="ctr">
                        <a:lnSpc>
                          <a:spcPct val="100000"/>
                        </a:lnSpc>
                        <a:spcBef>
                          <a:spcPts val="620"/>
                        </a:spcBef>
                      </a:pPr>
                      <a:r>
                        <a:rPr sz="1400" spc="-20" dirty="0">
                          <a:latin typeface="Bahnschrift SemiLight" panose="020B0502040204020203" pitchFamily="34" charset="0"/>
                          <a:cs typeface="Arial MT"/>
                        </a:rPr>
                        <a:t>300%</a:t>
                      </a:r>
                      <a:endParaRPr sz="1400" dirty="0">
                        <a:latin typeface="Bahnschrift SemiLight" panose="020B0502040204020203" pitchFamily="34" charset="0"/>
                        <a:cs typeface="Arial MT"/>
                      </a:endParaRPr>
                    </a:p>
                  </a:txBody>
                  <a:tcPr marL="0" marR="0" marT="78740" marB="0">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DC56F5">
                        <a:alpha val="24319"/>
                      </a:srgbClr>
                    </a:solidFill>
                  </a:tcPr>
                </a:tc>
                <a:extLst>
                  <a:ext uri="{0D108BD9-81ED-4DB2-BD59-A6C34878D82A}">
                    <a16:rowId xmlns:a16="http://schemas.microsoft.com/office/drawing/2014/main" val="10005"/>
                  </a:ext>
                </a:extLst>
              </a:tr>
              <a:tr h="479917">
                <a:tc>
                  <a:txBody>
                    <a:bodyPr/>
                    <a:lstStyle/>
                    <a:p>
                      <a:pPr marR="221615" algn="r">
                        <a:lnSpc>
                          <a:spcPct val="100000"/>
                        </a:lnSpc>
                        <a:spcBef>
                          <a:spcPts val="615"/>
                        </a:spcBef>
                      </a:pPr>
                      <a:r>
                        <a:rPr lang="hr-HR" sz="1400" b="1" dirty="0">
                          <a:latin typeface="Bahnschrift SemiLight" panose="020B0502040204020203" pitchFamily="34" charset="0"/>
                          <a:cs typeface="Arial"/>
                        </a:rPr>
                        <a:t>Promjene u organizacijskoj strukturi</a:t>
                      </a:r>
                      <a:endParaRPr lang="en-GB" sz="1400" b="1" dirty="0">
                        <a:latin typeface="Bahnschrift SemiLight" panose="020B0502040204020203" pitchFamily="34" charset="0"/>
                        <a:cs typeface="Arial"/>
                      </a:endParaRPr>
                    </a:p>
                  </a:txBody>
                  <a:tcPr marL="0" marR="0" marT="78105" marB="0">
                    <a:lnR w="9525">
                      <a:solidFill>
                        <a:srgbClr val="FFFFFF"/>
                      </a:solidFill>
                      <a:prstDash val="solid"/>
                    </a:lnR>
                    <a:lnT w="9525">
                      <a:solidFill>
                        <a:srgbClr val="FFFFFF"/>
                      </a:solidFill>
                      <a:prstDash val="solid"/>
                    </a:lnT>
                    <a:lnB w="9525">
                      <a:solidFill>
                        <a:srgbClr val="FFFFFF"/>
                      </a:solidFill>
                      <a:prstDash val="solid"/>
                    </a:lnB>
                  </a:tcPr>
                </a:tc>
                <a:tc>
                  <a:txBody>
                    <a:bodyPr/>
                    <a:lstStyle/>
                    <a:p>
                      <a:pPr algn="ctr">
                        <a:lnSpc>
                          <a:spcPct val="100000"/>
                        </a:lnSpc>
                        <a:spcBef>
                          <a:spcPts val="615"/>
                        </a:spcBef>
                      </a:pPr>
                      <a:r>
                        <a:rPr lang="hr-HR" sz="1400" dirty="0">
                          <a:latin typeface="Bahnschrift SemiLight" panose="020B0502040204020203" pitchFamily="34" charset="0"/>
                          <a:cs typeface="Arial MT"/>
                        </a:rPr>
                        <a:t>Male ili ih ni nema</a:t>
                      </a:r>
                      <a:endParaRPr lang="en-GB" sz="1400" dirty="0">
                        <a:latin typeface="Bahnschrift SemiLight" panose="020B0502040204020203" pitchFamily="34" charset="0"/>
                        <a:cs typeface="Arial MT"/>
                      </a:endParaRPr>
                    </a:p>
                  </a:txBody>
                  <a:tcPr marL="0" marR="0" marT="78105" marB="0">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DC56F5">
                        <a:alpha val="24319"/>
                      </a:srgbClr>
                    </a:solidFill>
                  </a:tcPr>
                </a:tc>
                <a:tc>
                  <a:txBody>
                    <a:bodyPr/>
                    <a:lstStyle/>
                    <a:p>
                      <a:pPr algn="ctr">
                        <a:lnSpc>
                          <a:spcPct val="100000"/>
                        </a:lnSpc>
                        <a:spcBef>
                          <a:spcPts val="615"/>
                        </a:spcBef>
                      </a:pPr>
                      <a:r>
                        <a:rPr lang="hr-HR" sz="1400" spc="-10" dirty="0">
                          <a:latin typeface="Bahnschrift SemiLight" panose="020B0502040204020203" pitchFamily="34" charset="0"/>
                          <a:cs typeface="Arial MT"/>
                        </a:rPr>
                        <a:t>Značajne</a:t>
                      </a:r>
                      <a:endParaRPr lang="en-GB" sz="1400" spc="-10" dirty="0">
                        <a:latin typeface="Bahnschrift SemiLight" panose="020B0502040204020203" pitchFamily="34" charset="0"/>
                        <a:cs typeface="Arial MT"/>
                      </a:endParaRPr>
                    </a:p>
                  </a:txBody>
                  <a:tcPr marL="0" marR="0" marT="78105" marB="0">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DC56F5">
                        <a:alpha val="24319"/>
                      </a:srgbClr>
                    </a:solidFill>
                  </a:tcPr>
                </a:tc>
                <a:extLst>
                  <a:ext uri="{0D108BD9-81ED-4DB2-BD59-A6C34878D82A}">
                    <a16:rowId xmlns:a16="http://schemas.microsoft.com/office/drawing/2014/main" val="10006"/>
                  </a:ext>
                </a:extLst>
              </a:tr>
              <a:tr h="479917">
                <a:tc>
                  <a:txBody>
                    <a:bodyPr/>
                    <a:lstStyle/>
                    <a:p>
                      <a:pPr marR="221615" algn="r">
                        <a:lnSpc>
                          <a:spcPct val="100000"/>
                        </a:lnSpc>
                        <a:spcBef>
                          <a:spcPts val="620"/>
                        </a:spcBef>
                      </a:pPr>
                      <a:r>
                        <a:rPr lang="hr-HR" sz="1400" b="1" dirty="0">
                          <a:latin typeface="Bahnschrift SemiLight" panose="020B0502040204020203" pitchFamily="34" charset="0"/>
                          <a:cs typeface="Arial"/>
                        </a:rPr>
                        <a:t>Promjene u organizacijskoj kulturi</a:t>
                      </a:r>
                      <a:endParaRPr lang="en-GB" sz="1400" b="1" dirty="0">
                        <a:latin typeface="Bahnschrift SemiLight" panose="020B0502040204020203" pitchFamily="34" charset="0"/>
                        <a:cs typeface="Arial"/>
                      </a:endParaRPr>
                    </a:p>
                  </a:txBody>
                  <a:tcPr marL="0" marR="0" marT="78740" marB="0">
                    <a:lnR w="9525">
                      <a:solidFill>
                        <a:srgbClr val="FFFFFF"/>
                      </a:solidFill>
                      <a:prstDash val="solid"/>
                    </a:lnR>
                    <a:lnT w="9525">
                      <a:solidFill>
                        <a:srgbClr val="FFFFFF"/>
                      </a:solidFill>
                      <a:prstDash val="solid"/>
                    </a:lnT>
                    <a:lnB w="9525">
                      <a:solidFill>
                        <a:srgbClr val="FFFFFF"/>
                      </a:solidFill>
                      <a:prstDash val="solid"/>
                    </a:lnB>
                  </a:tcPr>
                </a:tc>
                <a:tc>
                  <a:txBody>
                    <a:bodyPr/>
                    <a:lstStyle/>
                    <a:p>
                      <a:pPr algn="ctr">
                        <a:lnSpc>
                          <a:spcPct val="100000"/>
                        </a:lnSpc>
                        <a:spcBef>
                          <a:spcPts val="620"/>
                        </a:spcBef>
                      </a:pPr>
                      <a:r>
                        <a:rPr lang="hr-HR" sz="1400" dirty="0">
                          <a:latin typeface="Bahnschrift SemiLight" panose="020B0502040204020203" pitchFamily="34" charset="0"/>
                          <a:cs typeface="Arial MT"/>
                        </a:rPr>
                        <a:t>Najviše lokalizirano</a:t>
                      </a:r>
                      <a:endParaRPr lang="en-GB" sz="1400" dirty="0">
                        <a:latin typeface="Bahnschrift SemiLight" panose="020B0502040204020203" pitchFamily="34" charset="0"/>
                        <a:cs typeface="Arial MT"/>
                      </a:endParaRPr>
                    </a:p>
                  </a:txBody>
                  <a:tcPr marL="0" marR="0" marT="78740" marB="0">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DC56F5">
                        <a:alpha val="24319"/>
                      </a:srgbClr>
                    </a:solidFill>
                  </a:tcPr>
                </a:tc>
                <a:tc>
                  <a:txBody>
                    <a:bodyPr/>
                    <a:lstStyle/>
                    <a:p>
                      <a:pPr algn="ctr">
                        <a:lnSpc>
                          <a:spcPct val="100000"/>
                        </a:lnSpc>
                        <a:spcBef>
                          <a:spcPts val="620"/>
                        </a:spcBef>
                      </a:pPr>
                      <a:r>
                        <a:rPr lang="hr-HR" sz="1400" dirty="0">
                          <a:latin typeface="Bahnschrift SemiLight" panose="020B0502040204020203" pitchFamily="34" charset="0"/>
                          <a:cs typeface="Arial MT"/>
                        </a:rPr>
                        <a:t>Širokih razmjera</a:t>
                      </a:r>
                      <a:endParaRPr lang="en-GB" sz="1400" dirty="0">
                        <a:latin typeface="Bahnschrift SemiLight" panose="020B0502040204020203" pitchFamily="34" charset="0"/>
                        <a:cs typeface="Arial MT"/>
                      </a:endParaRPr>
                    </a:p>
                  </a:txBody>
                  <a:tcPr marL="0" marR="0" marT="78740" marB="0">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DC56F5">
                        <a:alpha val="24319"/>
                      </a:srgbClr>
                    </a:solidFill>
                  </a:tcPr>
                </a:tc>
                <a:extLst>
                  <a:ext uri="{0D108BD9-81ED-4DB2-BD59-A6C34878D82A}">
                    <a16:rowId xmlns:a16="http://schemas.microsoft.com/office/drawing/2014/main" val="10007"/>
                  </a:ext>
                </a:extLst>
              </a:tr>
            </a:tbl>
          </a:graphicData>
        </a:graphic>
      </p:graphicFrame>
      <p:sp>
        <p:nvSpPr>
          <p:cNvPr id="3" name="CasellaDiTesto 2">
            <a:extLst>
              <a:ext uri="{FF2B5EF4-FFF2-40B4-BE49-F238E27FC236}">
                <a16:creationId xmlns:a16="http://schemas.microsoft.com/office/drawing/2014/main" id="{0F975471-066D-F63B-D53B-D7AEBE76B070}"/>
              </a:ext>
            </a:extLst>
          </p:cNvPr>
          <p:cNvSpPr txBox="1"/>
          <p:nvPr/>
        </p:nvSpPr>
        <p:spPr>
          <a:xfrm>
            <a:off x="6096000" y="6044761"/>
            <a:ext cx="4091551" cy="230832"/>
          </a:xfrm>
          <a:prstGeom prst="rect">
            <a:avLst/>
          </a:prstGeom>
          <a:noFill/>
        </p:spPr>
        <p:txBody>
          <a:bodyPr wrap="square" rtlCol="0">
            <a:spAutoFit/>
          </a:bodyPr>
          <a:lstStyle/>
          <a:p>
            <a:r>
              <a:rPr lang="it-IT" sz="900" dirty="0">
                <a:latin typeface="Bahnschrift SemiLight" panose="020B0502040204020203" pitchFamily="34" charset="0"/>
              </a:rPr>
              <a:t>Source: chart </a:t>
            </a:r>
            <a:r>
              <a:rPr lang="it-IT" sz="900" dirty="0" err="1">
                <a:latin typeface="Bahnschrift SemiLight" panose="020B0502040204020203" pitchFamily="34" charset="0"/>
              </a:rPr>
              <a:t>produced</a:t>
            </a:r>
            <a:r>
              <a:rPr lang="it-IT" sz="900" dirty="0">
                <a:latin typeface="Bahnschrift SemiLight" panose="020B0502040204020203" pitchFamily="34" charset="0"/>
              </a:rPr>
              <a:t> by </a:t>
            </a:r>
            <a:r>
              <a:rPr lang="it-IT" sz="900" i="1" dirty="0" err="1">
                <a:latin typeface="Bahnschrift SemiLight" panose="020B0502040204020203" pitchFamily="34" charset="0"/>
              </a:rPr>
              <a:t>EGInA</a:t>
            </a:r>
            <a:r>
              <a:rPr lang="it-IT" sz="900" i="1" dirty="0">
                <a:latin typeface="Bahnschrift SemiLight" panose="020B0502040204020203" pitchFamily="34" charset="0"/>
              </a:rPr>
              <a:t> </a:t>
            </a:r>
            <a:r>
              <a:rPr lang="it-IT" sz="900" i="1" dirty="0" err="1">
                <a:latin typeface="Bahnschrift SemiLight" panose="020B0502040204020203" pitchFamily="34" charset="0"/>
              </a:rPr>
              <a:t>Srl</a:t>
            </a:r>
            <a:r>
              <a:rPr lang="it-IT" sz="900" i="1" dirty="0">
                <a:latin typeface="Bahnschrift SemiLight" panose="020B0502040204020203" pitchFamily="34" charset="0"/>
              </a:rPr>
              <a:t> </a:t>
            </a:r>
            <a:r>
              <a:rPr lang="it-IT" sz="900" dirty="0">
                <a:latin typeface="Bahnschrift SemiLight" panose="020B0502040204020203" pitchFamily="34" charset="0"/>
              </a:rPr>
              <a:t> (</a:t>
            </a:r>
            <a:r>
              <a:rPr lang="it-IT" sz="900" dirty="0">
                <a:latin typeface="Bahnschrift SemiLight" panose="020B0502040204020203" pitchFamily="34" charset="0"/>
                <a:hlinkClick r:id="rId3"/>
              </a:rPr>
              <a:t>https://www.egina.eu/</a:t>
            </a:r>
            <a:r>
              <a:rPr lang="it-IT" sz="900" dirty="0">
                <a:latin typeface="Bahnschrift SemiLight" panose="020B0502040204020203" pitchFamily="34" charset="0"/>
              </a:rPr>
              <a:t>) </a:t>
            </a:r>
            <a:endParaRPr lang="en-GB" sz="900" dirty="0">
              <a:latin typeface="Bahnschrift SemiLight" panose="020B0502040204020203" pitchFamily="34" charset="0"/>
            </a:endParaRPr>
          </a:p>
        </p:txBody>
      </p:sp>
    </p:spTree>
    <p:extLst>
      <p:ext uri="{BB962C8B-B14F-4D97-AF65-F5344CB8AC3E}">
        <p14:creationId xmlns:p14="http://schemas.microsoft.com/office/powerpoint/2010/main" val="24496918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B1F758-9E23-3EBE-EC52-A3E78BB2D28D}"/>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5879E6F1-D015-02B5-79E7-0CE0D9AE8EEC}"/>
              </a:ext>
            </a:extLst>
          </p:cNvPr>
          <p:cNvSpPr>
            <a:spLocks noGrp="1"/>
          </p:cNvSpPr>
          <p:nvPr>
            <p:ph type="ctrTitle"/>
          </p:nvPr>
        </p:nvSpPr>
        <p:spPr/>
        <p:txBody>
          <a:bodyPr/>
          <a:lstStyle/>
          <a:p>
            <a:r>
              <a:rPr lang="hr-HR" dirty="0"/>
              <a:t>Usklađivanje </a:t>
            </a:r>
            <a:r>
              <a:rPr lang="hr-HR" dirty="0" err="1"/>
              <a:t>Waterfall</a:t>
            </a:r>
            <a:r>
              <a:rPr lang="hr-HR" dirty="0"/>
              <a:t> i </a:t>
            </a:r>
            <a:r>
              <a:rPr lang="hr-HR" dirty="0" err="1"/>
              <a:t>Agile</a:t>
            </a:r>
            <a:r>
              <a:rPr lang="hr-HR" dirty="0"/>
              <a:t> pristupa</a:t>
            </a:r>
            <a:endParaRPr lang="en-GB" dirty="0"/>
          </a:p>
        </p:txBody>
      </p:sp>
    </p:spTree>
    <p:extLst>
      <p:ext uri="{BB962C8B-B14F-4D97-AF65-F5344CB8AC3E}">
        <p14:creationId xmlns:p14="http://schemas.microsoft.com/office/powerpoint/2010/main" val="352426376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74D2458-188F-35B4-6A0F-2A780B2BB8B9}"/>
              </a:ext>
            </a:extLst>
          </p:cNvPr>
          <p:cNvSpPr>
            <a:spLocks noGrp="1"/>
          </p:cNvSpPr>
          <p:nvPr>
            <p:ph type="title"/>
          </p:nvPr>
        </p:nvSpPr>
        <p:spPr/>
        <p:txBody>
          <a:bodyPr/>
          <a:lstStyle/>
          <a:p>
            <a:r>
              <a:rPr lang="hr-HR" dirty="0"/>
              <a:t>Izrada </a:t>
            </a:r>
            <a:r>
              <a:rPr lang="hr-HR" dirty="0" err="1"/>
              <a:t>Gantt</a:t>
            </a:r>
            <a:r>
              <a:rPr lang="hr-HR" dirty="0"/>
              <a:t> dijagrama iz kartica</a:t>
            </a:r>
            <a:endParaRPr lang="en-GB" dirty="0"/>
          </a:p>
        </p:txBody>
      </p:sp>
      <p:sp>
        <p:nvSpPr>
          <p:cNvPr id="3" name="Segnaposto contenuto 2">
            <a:extLst>
              <a:ext uri="{FF2B5EF4-FFF2-40B4-BE49-F238E27FC236}">
                <a16:creationId xmlns:a16="http://schemas.microsoft.com/office/drawing/2014/main" id="{52C96FD9-AA5B-443F-28B4-0A23EEB5CAF9}"/>
              </a:ext>
            </a:extLst>
          </p:cNvPr>
          <p:cNvSpPr>
            <a:spLocks noGrp="1"/>
          </p:cNvSpPr>
          <p:nvPr>
            <p:ph idx="1"/>
          </p:nvPr>
        </p:nvSpPr>
        <p:spPr/>
        <p:txBody>
          <a:bodyPr/>
          <a:lstStyle/>
          <a:p>
            <a:pPr marL="0" indent="0">
              <a:buNone/>
            </a:pPr>
            <a:r>
              <a:rPr lang="hr-HR" dirty="0"/>
              <a:t>Bez obzira na pristup koji se koristi, često se od nas traži izrada </a:t>
            </a:r>
            <a:r>
              <a:rPr lang="hr-HR" dirty="0" err="1"/>
              <a:t>Gantt</a:t>
            </a:r>
            <a:r>
              <a:rPr lang="hr-HR" dirty="0"/>
              <a:t> dijagrama projekta. U kontekstu </a:t>
            </a:r>
            <a:r>
              <a:rPr lang="hr-HR" dirty="0" err="1"/>
              <a:t>Agilea</a:t>
            </a:r>
            <a:r>
              <a:rPr lang="hr-HR" dirty="0"/>
              <a:t>, to možemo pokušati napraviti polazeći upravo od kartica na </a:t>
            </a:r>
            <a:r>
              <a:rPr lang="hr-HR" dirty="0" err="1"/>
              <a:t>boardu</a:t>
            </a:r>
            <a:r>
              <a:rPr lang="hr-HR" dirty="0"/>
              <a:t>.</a:t>
            </a:r>
            <a:endParaRPr lang="en-GB" dirty="0"/>
          </a:p>
        </p:txBody>
      </p:sp>
    </p:spTree>
    <p:extLst>
      <p:ext uri="{BB962C8B-B14F-4D97-AF65-F5344CB8AC3E}">
        <p14:creationId xmlns:p14="http://schemas.microsoft.com/office/powerpoint/2010/main" val="107619394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B0582E-72CC-A838-1284-375B6CB45561}"/>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9C7A4D91-A23B-D365-32BB-6C0CEFDFEC1C}"/>
              </a:ext>
            </a:extLst>
          </p:cNvPr>
          <p:cNvSpPr>
            <a:spLocks noGrp="1"/>
          </p:cNvSpPr>
          <p:nvPr>
            <p:ph type="title"/>
          </p:nvPr>
        </p:nvSpPr>
        <p:spPr/>
        <p:txBody>
          <a:bodyPr/>
          <a:lstStyle/>
          <a:p>
            <a:r>
              <a:rPr lang="hr-HR" dirty="0"/>
              <a:t>Digitalni alat</a:t>
            </a:r>
            <a:r>
              <a:rPr lang="en-GB" dirty="0"/>
              <a:t>: </a:t>
            </a:r>
            <a:r>
              <a:rPr lang="en-GB" dirty="0" err="1"/>
              <a:t>TeamGantt</a:t>
            </a:r>
            <a:endParaRPr lang="en-GB" dirty="0"/>
          </a:p>
        </p:txBody>
      </p:sp>
      <p:sp>
        <p:nvSpPr>
          <p:cNvPr id="3" name="Segnaposto contenuto 2">
            <a:extLst>
              <a:ext uri="{FF2B5EF4-FFF2-40B4-BE49-F238E27FC236}">
                <a16:creationId xmlns:a16="http://schemas.microsoft.com/office/drawing/2014/main" id="{133F72AA-3BB7-F50F-7465-E8FED34912DB}"/>
              </a:ext>
            </a:extLst>
          </p:cNvPr>
          <p:cNvSpPr>
            <a:spLocks noGrp="1"/>
          </p:cNvSpPr>
          <p:nvPr>
            <p:ph idx="1"/>
          </p:nvPr>
        </p:nvSpPr>
        <p:spPr/>
        <p:txBody>
          <a:bodyPr>
            <a:normAutofit fontScale="92500" lnSpcReduction="10000"/>
          </a:bodyPr>
          <a:lstStyle/>
          <a:p>
            <a:pPr marL="0" indent="0">
              <a:buNone/>
            </a:pPr>
            <a:r>
              <a:rPr lang="hr-HR" dirty="0" err="1"/>
              <a:t>TeamGantt</a:t>
            </a:r>
            <a:r>
              <a:rPr lang="hr-HR" dirty="0"/>
              <a:t> je digitalni alat koji omogućuje:</a:t>
            </a:r>
          </a:p>
          <a:p>
            <a:r>
              <a:rPr lang="hr-HR" dirty="0"/>
              <a:t>izradu, dijeljenje i ažuriranje </a:t>
            </a:r>
            <a:r>
              <a:rPr lang="hr-HR" dirty="0" err="1"/>
              <a:t>Gantt</a:t>
            </a:r>
            <a:r>
              <a:rPr lang="hr-HR" dirty="0"/>
              <a:t> dijagrama </a:t>
            </a:r>
          </a:p>
          <a:p>
            <a:r>
              <a:rPr lang="hr-HR" dirty="0"/>
              <a:t>reorganizaciju zadataka </a:t>
            </a:r>
          </a:p>
          <a:p>
            <a:r>
              <a:rPr lang="hr-HR" dirty="0"/>
              <a:t>prikaz svih projekata u jednom prikazu </a:t>
            </a:r>
          </a:p>
          <a:p>
            <a:r>
              <a:rPr lang="hr-HR" dirty="0"/>
              <a:t>upravljanje resursima, kontrolu budžeta i sprječavanje preopterećenja </a:t>
            </a:r>
          </a:p>
          <a:p>
            <a:r>
              <a:rPr lang="hr-HR" dirty="0"/>
              <a:t>izradu izvještaja </a:t>
            </a:r>
          </a:p>
          <a:p>
            <a:r>
              <a:rPr lang="hr-HR" dirty="0"/>
              <a:t>praćenje napretka u odnosu na plan i izradu projekcija </a:t>
            </a:r>
          </a:p>
          <a:p>
            <a:r>
              <a:rPr lang="hr-HR" dirty="0"/>
              <a:t>popisivanje zadataka i njihovo planiranje </a:t>
            </a:r>
          </a:p>
          <a:p>
            <a:r>
              <a:rPr lang="hr-HR" dirty="0"/>
              <a:t>praćenje aktivnosti</a:t>
            </a:r>
          </a:p>
        </p:txBody>
      </p:sp>
    </p:spTree>
    <p:extLst>
      <p:ext uri="{BB962C8B-B14F-4D97-AF65-F5344CB8AC3E}">
        <p14:creationId xmlns:p14="http://schemas.microsoft.com/office/powerpoint/2010/main" val="271862575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E25B44-AE8E-8D91-5048-1808FC0AFF21}"/>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3F4D9B23-71F9-21F2-8D27-9F06D19DC5AB}"/>
              </a:ext>
            </a:extLst>
          </p:cNvPr>
          <p:cNvSpPr>
            <a:spLocks noGrp="1"/>
          </p:cNvSpPr>
          <p:nvPr>
            <p:ph type="title"/>
          </p:nvPr>
        </p:nvSpPr>
        <p:spPr/>
        <p:txBody>
          <a:bodyPr/>
          <a:lstStyle/>
          <a:p>
            <a:r>
              <a:rPr lang="hr-HR" dirty="0"/>
              <a:t>Digitalni alat</a:t>
            </a:r>
            <a:r>
              <a:rPr lang="en-GB" dirty="0"/>
              <a:t>: </a:t>
            </a:r>
            <a:r>
              <a:rPr lang="en-GB" dirty="0" err="1"/>
              <a:t>OpenProject</a:t>
            </a:r>
            <a:endParaRPr lang="en-GB" dirty="0"/>
          </a:p>
        </p:txBody>
      </p:sp>
      <p:sp>
        <p:nvSpPr>
          <p:cNvPr id="3" name="Segnaposto contenuto 2">
            <a:extLst>
              <a:ext uri="{FF2B5EF4-FFF2-40B4-BE49-F238E27FC236}">
                <a16:creationId xmlns:a16="http://schemas.microsoft.com/office/drawing/2014/main" id="{675E25C2-61F1-A1E7-0297-30AE7361AF21}"/>
              </a:ext>
            </a:extLst>
          </p:cNvPr>
          <p:cNvSpPr>
            <a:spLocks noGrp="1"/>
          </p:cNvSpPr>
          <p:nvPr>
            <p:ph idx="1"/>
          </p:nvPr>
        </p:nvSpPr>
        <p:spPr/>
        <p:txBody>
          <a:bodyPr>
            <a:normAutofit lnSpcReduction="10000"/>
          </a:bodyPr>
          <a:lstStyle/>
          <a:p>
            <a:pPr marL="0" indent="0">
              <a:buNone/>
            </a:pPr>
            <a:r>
              <a:rPr lang="hr-HR" dirty="0" err="1"/>
              <a:t>OpenProject</a:t>
            </a:r>
            <a:r>
              <a:rPr lang="hr-HR" dirty="0"/>
              <a:t> je digitalni alat za upravljanje projektima koji omogućuje:</a:t>
            </a:r>
          </a:p>
          <a:p>
            <a:r>
              <a:rPr lang="hr-HR" dirty="0"/>
              <a:t>izradu </a:t>
            </a:r>
            <a:r>
              <a:rPr lang="hr-HR" dirty="0" err="1"/>
              <a:t>product</a:t>
            </a:r>
            <a:r>
              <a:rPr lang="hr-HR" dirty="0"/>
              <a:t> i sprint </a:t>
            </a:r>
            <a:r>
              <a:rPr lang="hr-HR" dirty="0" err="1"/>
              <a:t>backlogova</a:t>
            </a:r>
            <a:r>
              <a:rPr lang="hr-HR" dirty="0"/>
              <a:t> </a:t>
            </a:r>
          </a:p>
          <a:p>
            <a:r>
              <a:rPr lang="hr-HR" dirty="0"/>
              <a:t>procjenu aktivnosti u story </a:t>
            </a:r>
            <a:r>
              <a:rPr lang="hr-HR" dirty="0" err="1"/>
              <a:t>pointima</a:t>
            </a:r>
            <a:r>
              <a:rPr lang="hr-HR" dirty="0"/>
              <a:t> </a:t>
            </a:r>
          </a:p>
          <a:p>
            <a:r>
              <a:rPr lang="hr-HR" dirty="0"/>
              <a:t>korištenje predložaka kartica </a:t>
            </a:r>
          </a:p>
          <a:p>
            <a:r>
              <a:rPr lang="hr-HR" dirty="0"/>
              <a:t>izradu </a:t>
            </a:r>
            <a:r>
              <a:rPr lang="hr-HR" dirty="0" err="1"/>
              <a:t>burndown</a:t>
            </a:r>
            <a:r>
              <a:rPr lang="hr-HR" dirty="0"/>
              <a:t> grafikona </a:t>
            </a:r>
          </a:p>
          <a:p>
            <a:r>
              <a:rPr lang="hr-HR" dirty="0"/>
              <a:t>praćenje „</a:t>
            </a:r>
            <a:r>
              <a:rPr lang="hr-HR" dirty="0" err="1"/>
              <a:t>impedimenta</a:t>
            </a:r>
            <a:r>
              <a:rPr lang="hr-HR" dirty="0"/>
              <a:t>” (prepreka) u sprintovima </a:t>
            </a:r>
          </a:p>
          <a:p>
            <a:r>
              <a:rPr lang="hr-HR" dirty="0"/>
              <a:t>dodjeljivanje i </a:t>
            </a:r>
            <a:r>
              <a:rPr lang="hr-HR" dirty="0" err="1"/>
              <a:t>prioritizaciju</a:t>
            </a:r>
            <a:r>
              <a:rPr lang="hr-HR" dirty="0"/>
              <a:t> aktivnosti </a:t>
            </a:r>
          </a:p>
          <a:p>
            <a:r>
              <a:rPr lang="hr-HR" dirty="0"/>
              <a:t>prikaz aktivnosti u kalendaru ili na </a:t>
            </a:r>
            <a:r>
              <a:rPr lang="hr-HR" dirty="0" err="1"/>
              <a:t>boardu</a:t>
            </a:r>
            <a:r>
              <a:rPr lang="hr-HR" dirty="0"/>
              <a:t> </a:t>
            </a:r>
          </a:p>
        </p:txBody>
      </p:sp>
    </p:spTree>
    <p:extLst>
      <p:ext uri="{BB962C8B-B14F-4D97-AF65-F5344CB8AC3E}">
        <p14:creationId xmlns:p14="http://schemas.microsoft.com/office/powerpoint/2010/main" val="321034747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273489-8E2C-6650-7655-A9EAE108C34F}"/>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265976F6-6597-8F7C-4D5A-2AD14AEEEEE7}"/>
              </a:ext>
            </a:extLst>
          </p:cNvPr>
          <p:cNvSpPr>
            <a:spLocks noGrp="1"/>
          </p:cNvSpPr>
          <p:nvPr>
            <p:ph type="title"/>
          </p:nvPr>
        </p:nvSpPr>
        <p:spPr/>
        <p:txBody>
          <a:bodyPr/>
          <a:lstStyle/>
          <a:p>
            <a:r>
              <a:rPr lang="nn-NO" dirty="0"/>
              <a:t>Praćenje napretka kroz ciljeve sprinta</a:t>
            </a:r>
            <a:endParaRPr lang="en-GB" dirty="0"/>
          </a:p>
        </p:txBody>
      </p:sp>
      <p:sp>
        <p:nvSpPr>
          <p:cNvPr id="3" name="Segnaposto contenuto 2">
            <a:extLst>
              <a:ext uri="{FF2B5EF4-FFF2-40B4-BE49-F238E27FC236}">
                <a16:creationId xmlns:a16="http://schemas.microsoft.com/office/drawing/2014/main" id="{A10D35F8-0758-D612-1CE8-B4D25DF3A33B}"/>
              </a:ext>
            </a:extLst>
          </p:cNvPr>
          <p:cNvSpPr>
            <a:spLocks noGrp="1"/>
          </p:cNvSpPr>
          <p:nvPr>
            <p:ph idx="1"/>
          </p:nvPr>
        </p:nvSpPr>
        <p:spPr/>
        <p:txBody>
          <a:bodyPr>
            <a:normAutofit/>
          </a:bodyPr>
          <a:lstStyle/>
          <a:p>
            <a:pPr marL="0" indent="0">
              <a:buNone/>
            </a:pPr>
            <a:r>
              <a:rPr lang="hr-HR" dirty="0"/>
              <a:t>Kako pratiti napredak aktivnosti?</a:t>
            </a:r>
          </a:p>
          <a:p>
            <a:pPr marL="0" indent="0">
              <a:buNone/>
            </a:pPr>
            <a:endParaRPr lang="hr-HR" dirty="0"/>
          </a:p>
          <a:p>
            <a:pPr marL="0" indent="0">
              <a:buNone/>
            </a:pPr>
            <a:r>
              <a:rPr lang="hr-HR" dirty="0"/>
              <a:t>Definirajte ciljeve sprinta (maksimalno 3 do 5) i zamolite voditelja projekta da označi postotak ostvarenja svakog od njih.</a:t>
            </a:r>
          </a:p>
          <a:p>
            <a:pPr marL="0" indent="0">
              <a:buNone/>
            </a:pPr>
            <a:endParaRPr lang="hr-HR" dirty="0"/>
          </a:p>
          <a:p>
            <a:pPr marL="0" indent="0">
              <a:buNone/>
            </a:pPr>
            <a:r>
              <a:rPr lang="hr-HR" dirty="0"/>
              <a:t>Ciljevi sprinta: </a:t>
            </a:r>
            <a:r>
              <a:rPr lang="hr-HR" dirty="0" err="1"/>
              <a:t>podciljevi</a:t>
            </a:r>
            <a:r>
              <a:rPr lang="hr-HR" dirty="0"/>
              <a:t> koji odgovaraju skupovima kartica (≈ </a:t>
            </a:r>
            <a:r>
              <a:rPr lang="hr-HR" dirty="0" err="1"/>
              <a:t>epic</a:t>
            </a:r>
            <a:r>
              <a:rPr lang="hr-HR" dirty="0"/>
              <a:t>)</a:t>
            </a:r>
          </a:p>
        </p:txBody>
      </p:sp>
    </p:spTree>
    <p:extLst>
      <p:ext uri="{BB962C8B-B14F-4D97-AF65-F5344CB8AC3E}">
        <p14:creationId xmlns:p14="http://schemas.microsoft.com/office/powerpoint/2010/main" val="93505928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FB9D15-AB5F-2ED4-3434-3B1967A9919B}"/>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1543A3ED-FF28-A346-840A-B480FB6903DD}"/>
              </a:ext>
            </a:extLst>
          </p:cNvPr>
          <p:cNvSpPr>
            <a:spLocks noGrp="1"/>
          </p:cNvSpPr>
          <p:nvPr>
            <p:ph type="title"/>
          </p:nvPr>
        </p:nvSpPr>
        <p:spPr/>
        <p:txBody>
          <a:bodyPr/>
          <a:lstStyle/>
          <a:p>
            <a:r>
              <a:rPr lang="nn-NO" dirty="0"/>
              <a:t>Praćenje napretka kroz ciljeve sprinta</a:t>
            </a:r>
            <a:endParaRPr lang="en-GB" dirty="0"/>
          </a:p>
        </p:txBody>
      </p:sp>
      <p:sp>
        <p:nvSpPr>
          <p:cNvPr id="3" name="Segnaposto contenuto 2">
            <a:extLst>
              <a:ext uri="{FF2B5EF4-FFF2-40B4-BE49-F238E27FC236}">
                <a16:creationId xmlns:a16="http://schemas.microsoft.com/office/drawing/2014/main" id="{EFD0D286-35C6-69F1-DB9C-ECEF1A1C2993}"/>
              </a:ext>
            </a:extLst>
          </p:cNvPr>
          <p:cNvSpPr>
            <a:spLocks noGrp="1"/>
          </p:cNvSpPr>
          <p:nvPr>
            <p:ph idx="1"/>
          </p:nvPr>
        </p:nvSpPr>
        <p:spPr/>
        <p:txBody>
          <a:bodyPr>
            <a:normAutofit/>
          </a:bodyPr>
          <a:lstStyle/>
          <a:p>
            <a:pPr marL="0" indent="0">
              <a:buNone/>
            </a:pPr>
            <a:r>
              <a:rPr lang="hr-HR" dirty="0"/>
              <a:t>Koristite </a:t>
            </a:r>
            <a:r>
              <a:rPr lang="hr-HR" dirty="0" err="1"/>
              <a:t>Agile</a:t>
            </a:r>
            <a:r>
              <a:rPr lang="hr-HR" dirty="0"/>
              <a:t> kao alat za mikro-upravljanje timom (čak i u </a:t>
            </a:r>
            <a:r>
              <a:rPr lang="hr-HR" dirty="0" err="1"/>
              <a:t>Waterfall</a:t>
            </a:r>
            <a:r>
              <a:rPr lang="hr-HR" dirty="0"/>
              <a:t> projektima):</a:t>
            </a:r>
          </a:p>
          <a:p>
            <a:r>
              <a:rPr lang="hr-HR" dirty="0"/>
              <a:t>Organizirajte rad tima u tjedne sprintove i održavajte redovite sastanke (1 planiranje i 1 retrospektiva)! </a:t>
            </a:r>
          </a:p>
          <a:p>
            <a:r>
              <a:rPr lang="hr-HR" dirty="0"/>
              <a:t>Kontrolirajte </a:t>
            </a:r>
            <a:r>
              <a:rPr lang="hr-HR" dirty="0" err="1"/>
              <a:t>velocity</a:t>
            </a:r>
            <a:r>
              <a:rPr lang="hr-HR" dirty="0"/>
              <a:t> tima </a:t>
            </a:r>
          </a:p>
          <a:p>
            <a:r>
              <a:rPr lang="hr-HR" dirty="0"/>
              <a:t>Koristite ciljeve kao </a:t>
            </a:r>
            <a:r>
              <a:rPr lang="hr-HR" dirty="0" err="1"/>
              <a:t>milestoneove</a:t>
            </a:r>
            <a:r>
              <a:rPr lang="hr-HR" dirty="0"/>
              <a:t> i procjenjujte ukupni napredak prema postotku njihove ostvarenosti</a:t>
            </a:r>
          </a:p>
          <a:p>
            <a:endParaRPr lang="en-GB" dirty="0"/>
          </a:p>
          <a:p>
            <a:pPr marL="0" indent="0">
              <a:buNone/>
            </a:pPr>
            <a:endParaRPr lang="en-GB" dirty="0"/>
          </a:p>
        </p:txBody>
      </p:sp>
    </p:spTree>
    <p:extLst>
      <p:ext uri="{BB962C8B-B14F-4D97-AF65-F5344CB8AC3E}">
        <p14:creationId xmlns:p14="http://schemas.microsoft.com/office/powerpoint/2010/main" val="216177975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FF852E-37CC-E2D9-CFD1-26A618ED8731}"/>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4E6080CA-2E1D-1FB5-25F1-D921E61C461B}"/>
              </a:ext>
            </a:extLst>
          </p:cNvPr>
          <p:cNvSpPr>
            <a:spLocks noGrp="1"/>
          </p:cNvSpPr>
          <p:nvPr>
            <p:ph type="title"/>
          </p:nvPr>
        </p:nvSpPr>
        <p:spPr/>
        <p:txBody>
          <a:bodyPr/>
          <a:lstStyle/>
          <a:p>
            <a:r>
              <a:rPr lang="en-GB" dirty="0"/>
              <a:t>Scrum of scrums</a:t>
            </a:r>
          </a:p>
        </p:txBody>
      </p:sp>
      <p:sp>
        <p:nvSpPr>
          <p:cNvPr id="3" name="Segnaposto contenuto 2">
            <a:extLst>
              <a:ext uri="{FF2B5EF4-FFF2-40B4-BE49-F238E27FC236}">
                <a16:creationId xmlns:a16="http://schemas.microsoft.com/office/drawing/2014/main" id="{C4D3F96A-68DD-6E54-316D-91D5CB62FB08}"/>
              </a:ext>
            </a:extLst>
          </p:cNvPr>
          <p:cNvSpPr>
            <a:spLocks noGrp="1"/>
          </p:cNvSpPr>
          <p:nvPr>
            <p:ph idx="1"/>
          </p:nvPr>
        </p:nvSpPr>
        <p:spPr/>
        <p:txBody>
          <a:bodyPr>
            <a:normAutofit/>
          </a:bodyPr>
          <a:lstStyle/>
          <a:p>
            <a:pPr marL="0" indent="0">
              <a:buNone/>
            </a:pPr>
            <a:r>
              <a:rPr lang="hr-HR" dirty="0"/>
              <a:t>Kako primijeniti </a:t>
            </a:r>
            <a:r>
              <a:rPr lang="hr-HR" dirty="0" err="1"/>
              <a:t>Agile</a:t>
            </a:r>
            <a:r>
              <a:rPr lang="hr-HR" dirty="0"/>
              <a:t> na projekte koji uključuju velik broj ljudi?</a:t>
            </a:r>
          </a:p>
          <a:p>
            <a:pPr marL="0" indent="0">
              <a:buNone/>
            </a:pPr>
            <a:endParaRPr lang="hr-HR" dirty="0"/>
          </a:p>
          <a:p>
            <a:pPr marL="0" indent="0">
              <a:buNone/>
            </a:pPr>
            <a:r>
              <a:rPr lang="hr-HR" dirty="0" err="1"/>
              <a:t>Scrum</a:t>
            </a:r>
            <a:r>
              <a:rPr lang="hr-HR" dirty="0"/>
              <a:t> </a:t>
            </a:r>
            <a:r>
              <a:rPr lang="hr-HR" dirty="0" err="1"/>
              <a:t>of</a:t>
            </a:r>
            <a:r>
              <a:rPr lang="hr-HR" dirty="0"/>
              <a:t> </a:t>
            </a:r>
            <a:r>
              <a:rPr lang="hr-HR" dirty="0" err="1"/>
              <a:t>scrums</a:t>
            </a:r>
            <a:r>
              <a:rPr lang="hr-HR" dirty="0"/>
              <a:t> (opće značenje): tehnika primjene </a:t>
            </a:r>
            <a:r>
              <a:rPr lang="hr-HR" dirty="0" err="1"/>
              <a:t>Agilea</a:t>
            </a:r>
            <a:r>
              <a:rPr lang="hr-HR" dirty="0"/>
              <a:t> u velikim organizacijama.</a:t>
            </a:r>
          </a:p>
          <a:p>
            <a:pPr marL="0" indent="0">
              <a:buNone/>
            </a:pPr>
            <a:endParaRPr lang="hr-HR" dirty="0"/>
          </a:p>
          <a:p>
            <a:pPr marL="0" indent="0">
              <a:buNone/>
            </a:pPr>
            <a:r>
              <a:rPr lang="hr-HR" dirty="0" err="1"/>
              <a:t>Scrum</a:t>
            </a:r>
            <a:r>
              <a:rPr lang="hr-HR" dirty="0"/>
              <a:t> </a:t>
            </a:r>
            <a:r>
              <a:rPr lang="hr-HR" dirty="0" err="1"/>
              <a:t>of</a:t>
            </a:r>
            <a:r>
              <a:rPr lang="hr-HR" dirty="0"/>
              <a:t> </a:t>
            </a:r>
            <a:r>
              <a:rPr lang="hr-HR" dirty="0" err="1"/>
              <a:t>scrums</a:t>
            </a:r>
            <a:r>
              <a:rPr lang="hr-HR" dirty="0"/>
              <a:t> (specifično značenje): redoviti sastanak između predstavnika (MS) svakog tima radi razmjene informacija.</a:t>
            </a:r>
          </a:p>
        </p:txBody>
      </p:sp>
    </p:spTree>
    <p:extLst>
      <p:ext uri="{BB962C8B-B14F-4D97-AF65-F5344CB8AC3E}">
        <p14:creationId xmlns:p14="http://schemas.microsoft.com/office/powerpoint/2010/main" val="370027271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143921-A324-D3AA-DC03-A36DFD58981B}"/>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68CB007B-F3C4-E8AD-8796-6FB4E46FCB84}"/>
              </a:ext>
            </a:extLst>
          </p:cNvPr>
          <p:cNvSpPr>
            <a:spLocks noGrp="1"/>
          </p:cNvSpPr>
          <p:nvPr>
            <p:ph type="title"/>
          </p:nvPr>
        </p:nvSpPr>
        <p:spPr/>
        <p:txBody>
          <a:bodyPr/>
          <a:lstStyle/>
          <a:p>
            <a:r>
              <a:rPr lang="en-GB" dirty="0"/>
              <a:t>Scrum of scrums</a:t>
            </a:r>
          </a:p>
        </p:txBody>
      </p:sp>
      <p:sp>
        <p:nvSpPr>
          <p:cNvPr id="3" name="Segnaposto contenuto 2">
            <a:extLst>
              <a:ext uri="{FF2B5EF4-FFF2-40B4-BE49-F238E27FC236}">
                <a16:creationId xmlns:a16="http://schemas.microsoft.com/office/drawing/2014/main" id="{ADA4F356-1FC7-0FB4-FE46-7C9F07A20EE4}"/>
              </a:ext>
            </a:extLst>
          </p:cNvPr>
          <p:cNvSpPr>
            <a:spLocks noGrp="1"/>
          </p:cNvSpPr>
          <p:nvPr>
            <p:ph idx="1"/>
          </p:nvPr>
        </p:nvSpPr>
        <p:spPr>
          <a:xfrm>
            <a:off x="838200" y="2165771"/>
            <a:ext cx="10655710" cy="2526457"/>
          </a:xfrm>
        </p:spPr>
        <p:txBody>
          <a:bodyPr>
            <a:normAutofit/>
          </a:bodyPr>
          <a:lstStyle/>
          <a:p>
            <a:pPr marL="0" indent="0">
              <a:buNone/>
            </a:pPr>
            <a:r>
              <a:rPr lang="hr-HR" dirty="0"/>
              <a:t>Dvije različite razine:</a:t>
            </a:r>
          </a:p>
          <a:p>
            <a:r>
              <a:rPr lang="hr-HR" dirty="0"/>
              <a:t>Korporativni </a:t>
            </a:r>
            <a:r>
              <a:rPr lang="hr-HR" dirty="0" err="1"/>
              <a:t>Scrum</a:t>
            </a:r>
            <a:r>
              <a:rPr lang="hr-HR" dirty="0"/>
              <a:t> </a:t>
            </a:r>
            <a:r>
              <a:rPr lang="hr-HR" dirty="0" err="1"/>
              <a:t>of</a:t>
            </a:r>
            <a:r>
              <a:rPr lang="hr-HR" dirty="0"/>
              <a:t> </a:t>
            </a:r>
            <a:r>
              <a:rPr lang="hr-HR" dirty="0" err="1"/>
              <a:t>Scrums</a:t>
            </a:r>
            <a:r>
              <a:rPr lang="hr-HR" dirty="0"/>
              <a:t> (svi </a:t>
            </a:r>
            <a:r>
              <a:rPr lang="hr-HR" dirty="0" err="1"/>
              <a:t>Scrum</a:t>
            </a:r>
            <a:r>
              <a:rPr lang="hr-HR" dirty="0"/>
              <a:t> Masteri svih proizvoda) </a:t>
            </a:r>
          </a:p>
          <a:p>
            <a:r>
              <a:rPr lang="hr-HR" dirty="0" err="1"/>
              <a:t>Product</a:t>
            </a:r>
            <a:r>
              <a:rPr lang="hr-HR" dirty="0"/>
              <a:t> </a:t>
            </a:r>
            <a:r>
              <a:rPr lang="hr-HR" dirty="0" err="1"/>
              <a:t>Scrum</a:t>
            </a:r>
            <a:r>
              <a:rPr lang="hr-HR" dirty="0"/>
              <a:t> (svi </a:t>
            </a:r>
            <a:r>
              <a:rPr lang="hr-HR" dirty="0" err="1"/>
              <a:t>Scrum</a:t>
            </a:r>
            <a:r>
              <a:rPr lang="hr-HR" dirty="0"/>
              <a:t> Masteri određenog proizvoda)</a:t>
            </a:r>
          </a:p>
        </p:txBody>
      </p:sp>
    </p:spTree>
    <p:extLst>
      <p:ext uri="{BB962C8B-B14F-4D97-AF65-F5344CB8AC3E}">
        <p14:creationId xmlns:p14="http://schemas.microsoft.com/office/powerpoint/2010/main" val="229372284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E6A272-B79F-71C1-958E-6336D2CD786E}"/>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0E604A7D-6CBA-6B69-4A10-8007DF7CCC58}"/>
              </a:ext>
            </a:extLst>
          </p:cNvPr>
          <p:cNvSpPr>
            <a:spLocks noGrp="1"/>
          </p:cNvSpPr>
          <p:nvPr>
            <p:ph type="title"/>
          </p:nvPr>
        </p:nvSpPr>
        <p:spPr/>
        <p:txBody>
          <a:bodyPr/>
          <a:lstStyle/>
          <a:p>
            <a:r>
              <a:rPr lang="hr-HR" dirty="0" err="1"/>
              <a:t>Scrum</a:t>
            </a:r>
            <a:r>
              <a:rPr lang="hr-HR" dirty="0"/>
              <a:t> proizvoda/projekta</a:t>
            </a:r>
            <a:endParaRPr lang="en-GB" dirty="0"/>
          </a:p>
        </p:txBody>
      </p:sp>
      <p:sp>
        <p:nvSpPr>
          <p:cNvPr id="3" name="Segnaposto contenuto 2">
            <a:extLst>
              <a:ext uri="{FF2B5EF4-FFF2-40B4-BE49-F238E27FC236}">
                <a16:creationId xmlns:a16="http://schemas.microsoft.com/office/drawing/2014/main" id="{16FE6CDC-BDA1-5898-E9FC-9993E9186EA0}"/>
              </a:ext>
            </a:extLst>
          </p:cNvPr>
          <p:cNvSpPr>
            <a:spLocks noGrp="1"/>
          </p:cNvSpPr>
          <p:nvPr>
            <p:ph idx="1"/>
          </p:nvPr>
        </p:nvSpPr>
        <p:spPr/>
        <p:txBody>
          <a:bodyPr>
            <a:normAutofit/>
          </a:bodyPr>
          <a:lstStyle/>
          <a:p>
            <a:pPr marL="0" indent="0">
              <a:buNone/>
            </a:pPr>
            <a:r>
              <a:rPr lang="hr-HR" dirty="0"/>
              <a:t>30-minutni sastanak, jednom tjedno na kojem:</a:t>
            </a:r>
          </a:p>
          <a:p>
            <a:r>
              <a:rPr lang="hr-HR" dirty="0"/>
              <a:t>svaki </a:t>
            </a:r>
            <a:r>
              <a:rPr lang="hr-HR" dirty="0" err="1"/>
              <a:t>Scrum</a:t>
            </a:r>
            <a:r>
              <a:rPr lang="hr-HR" dirty="0"/>
              <a:t> Master (SM) opisuje što je tim radio prošli tjedan, što će raditi u tekućem tjednu i koje prepreke predviđa </a:t>
            </a:r>
          </a:p>
          <a:p>
            <a:r>
              <a:rPr lang="hr-HR" dirty="0" err="1"/>
              <a:t>Scrum</a:t>
            </a:r>
            <a:r>
              <a:rPr lang="hr-HR" dirty="0"/>
              <a:t> Masteri dijele probleme koji utječu na sve timove (npr. vezane uz integraciju)</a:t>
            </a:r>
          </a:p>
        </p:txBody>
      </p:sp>
    </p:spTree>
    <p:extLst>
      <p:ext uri="{BB962C8B-B14F-4D97-AF65-F5344CB8AC3E}">
        <p14:creationId xmlns:p14="http://schemas.microsoft.com/office/powerpoint/2010/main" val="152133644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C751C8-7F6A-B794-B066-6A9A0A656D02}"/>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1AC01F23-114D-3600-983F-631C09CEE681}"/>
              </a:ext>
            </a:extLst>
          </p:cNvPr>
          <p:cNvSpPr>
            <a:spLocks noGrp="1"/>
          </p:cNvSpPr>
          <p:nvPr>
            <p:ph type="title"/>
          </p:nvPr>
        </p:nvSpPr>
        <p:spPr/>
        <p:txBody>
          <a:bodyPr/>
          <a:lstStyle/>
          <a:p>
            <a:r>
              <a:rPr lang="hr-HR" dirty="0"/>
              <a:t>Korporativni </a:t>
            </a:r>
            <a:r>
              <a:rPr lang="hr-HR" dirty="0" err="1"/>
              <a:t>Scrum</a:t>
            </a:r>
            <a:endParaRPr lang="en-GB" dirty="0"/>
          </a:p>
        </p:txBody>
      </p:sp>
      <p:sp>
        <p:nvSpPr>
          <p:cNvPr id="3" name="Segnaposto contenuto 2">
            <a:extLst>
              <a:ext uri="{FF2B5EF4-FFF2-40B4-BE49-F238E27FC236}">
                <a16:creationId xmlns:a16="http://schemas.microsoft.com/office/drawing/2014/main" id="{B80661BC-D497-11CE-68FA-8ABD2A7CA438}"/>
              </a:ext>
            </a:extLst>
          </p:cNvPr>
          <p:cNvSpPr>
            <a:spLocks noGrp="1"/>
          </p:cNvSpPr>
          <p:nvPr>
            <p:ph idx="1"/>
          </p:nvPr>
        </p:nvSpPr>
        <p:spPr/>
        <p:txBody>
          <a:bodyPr>
            <a:normAutofit lnSpcReduction="10000"/>
          </a:bodyPr>
          <a:lstStyle/>
          <a:p>
            <a:pPr marL="0" indent="0">
              <a:buNone/>
            </a:pPr>
            <a:r>
              <a:rPr lang="hr-HR" dirty="0"/>
              <a:t>15–30 minutni plenarni sastanak, možda jednom tjedno, na kojem:</a:t>
            </a:r>
          </a:p>
          <a:p>
            <a:r>
              <a:rPr lang="hr-HR" dirty="0"/>
              <a:t>Svi članovi tima primaju informacije od uprave (npr. o nadolazećim događanjima opće prirode) </a:t>
            </a:r>
          </a:p>
          <a:p>
            <a:r>
              <a:rPr lang="hr-HR" dirty="0"/>
              <a:t>„</a:t>
            </a:r>
            <a:r>
              <a:rPr lang="hr-HR" dirty="0" err="1"/>
              <a:t>Round-robin</a:t>
            </a:r>
            <a:r>
              <a:rPr lang="hr-HR" dirty="0"/>
              <a:t>”: redom, jedan član izvještava što je njegov tim radio prošli tjedan, što će raditi u tekućem tjednu i koje probleme predviđa </a:t>
            </a:r>
          </a:p>
          <a:p>
            <a:r>
              <a:rPr lang="hr-HR" dirty="0"/>
              <a:t>Svi ostali mogu slobodno dodati informacije ili postaviti pitanja </a:t>
            </a:r>
          </a:p>
          <a:p>
            <a:pPr marL="0" indent="0">
              <a:buNone/>
            </a:pPr>
            <a:r>
              <a:rPr lang="hr-HR" dirty="0"/>
              <a:t>Napomena: Rasporediti sastanke tako da oni koji moraju sudjeluju na više sastanaka mogu to izvesti bez preklapanja.</a:t>
            </a:r>
          </a:p>
        </p:txBody>
      </p:sp>
    </p:spTree>
    <p:extLst>
      <p:ext uri="{BB962C8B-B14F-4D97-AF65-F5344CB8AC3E}">
        <p14:creationId xmlns:p14="http://schemas.microsoft.com/office/powerpoint/2010/main" val="373621079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627086-DDA4-96CF-53B3-9F757D7D0656}"/>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068F5819-DEC2-348C-560C-2F29B9F10455}"/>
              </a:ext>
            </a:extLst>
          </p:cNvPr>
          <p:cNvSpPr>
            <a:spLocks noGrp="1"/>
          </p:cNvSpPr>
          <p:nvPr>
            <p:ph type="title"/>
          </p:nvPr>
        </p:nvSpPr>
        <p:spPr/>
        <p:txBody>
          <a:bodyPr/>
          <a:lstStyle/>
          <a:p>
            <a:r>
              <a:rPr lang="hr-HR" dirty="0"/>
              <a:t>Višestruki </a:t>
            </a:r>
            <a:r>
              <a:rPr lang="en-GB" dirty="0"/>
              <a:t>Scrum</a:t>
            </a:r>
            <a:r>
              <a:rPr lang="hr-HR" dirty="0"/>
              <a:t>ovi</a:t>
            </a:r>
            <a:endParaRPr lang="en-GB" dirty="0"/>
          </a:p>
        </p:txBody>
      </p:sp>
      <p:sp>
        <p:nvSpPr>
          <p:cNvPr id="3" name="Segnaposto contenuto 2">
            <a:extLst>
              <a:ext uri="{FF2B5EF4-FFF2-40B4-BE49-F238E27FC236}">
                <a16:creationId xmlns:a16="http://schemas.microsoft.com/office/drawing/2014/main" id="{5F0F29F6-4264-8E39-39C9-A70061ED8DA6}"/>
              </a:ext>
            </a:extLst>
          </p:cNvPr>
          <p:cNvSpPr>
            <a:spLocks noGrp="1"/>
          </p:cNvSpPr>
          <p:nvPr>
            <p:ph idx="1"/>
          </p:nvPr>
        </p:nvSpPr>
        <p:spPr/>
        <p:txBody>
          <a:bodyPr>
            <a:normAutofit/>
          </a:bodyPr>
          <a:lstStyle/>
          <a:p>
            <a:pPr marL="0" indent="0">
              <a:buNone/>
            </a:pPr>
            <a:r>
              <a:rPr lang="hr-HR" dirty="0"/>
              <a:t>Što se događa kada nekoliko timova radi na istom projektu?</a:t>
            </a:r>
          </a:p>
          <a:p>
            <a:pPr marL="0" indent="0">
              <a:buNone/>
            </a:pPr>
            <a:r>
              <a:rPr lang="hr-HR" dirty="0"/>
              <a:t>Općenito vrijedi pravilo: više članova = više komplikacija.</a:t>
            </a:r>
          </a:p>
          <a:p>
            <a:pPr marL="0" indent="0">
              <a:buNone/>
            </a:pPr>
            <a:r>
              <a:rPr lang="hr-HR" dirty="0"/>
              <a:t>Zato je ključno razumjeti:</a:t>
            </a:r>
          </a:p>
          <a:p>
            <a:r>
              <a:rPr lang="hr-HR" dirty="0"/>
              <a:t>koliko timova koristiti </a:t>
            </a:r>
          </a:p>
          <a:p>
            <a:r>
              <a:rPr lang="hr-HR" dirty="0"/>
              <a:t>kako rasporediti ljude između timova </a:t>
            </a:r>
          </a:p>
        </p:txBody>
      </p:sp>
    </p:spTree>
    <p:extLst>
      <p:ext uri="{BB962C8B-B14F-4D97-AF65-F5344CB8AC3E}">
        <p14:creationId xmlns:p14="http://schemas.microsoft.com/office/powerpoint/2010/main" val="192106797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398A62-D23C-3559-A9CF-B57DE2AAF221}"/>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D628B576-8035-1494-EC3F-C1346CD7A0E5}"/>
              </a:ext>
            </a:extLst>
          </p:cNvPr>
          <p:cNvSpPr>
            <a:spLocks noGrp="1"/>
          </p:cNvSpPr>
          <p:nvPr>
            <p:ph type="title"/>
          </p:nvPr>
        </p:nvSpPr>
        <p:spPr/>
        <p:txBody>
          <a:bodyPr/>
          <a:lstStyle/>
          <a:p>
            <a:r>
              <a:rPr lang="hr-HR" dirty="0"/>
              <a:t>Višestruki </a:t>
            </a:r>
            <a:r>
              <a:rPr lang="en-GB" dirty="0"/>
              <a:t>Scrum</a:t>
            </a:r>
            <a:r>
              <a:rPr lang="hr-HR" dirty="0"/>
              <a:t>ovi</a:t>
            </a:r>
            <a:endParaRPr lang="en-GB" dirty="0"/>
          </a:p>
        </p:txBody>
      </p:sp>
      <p:sp>
        <p:nvSpPr>
          <p:cNvPr id="3" name="Segnaposto contenuto 2">
            <a:extLst>
              <a:ext uri="{FF2B5EF4-FFF2-40B4-BE49-F238E27FC236}">
                <a16:creationId xmlns:a16="http://schemas.microsoft.com/office/drawing/2014/main" id="{EF92BBE1-EED0-E8EF-EBCF-8651F9BA206E}"/>
              </a:ext>
            </a:extLst>
          </p:cNvPr>
          <p:cNvSpPr>
            <a:spLocks noGrp="1"/>
          </p:cNvSpPr>
          <p:nvPr>
            <p:ph idx="1"/>
          </p:nvPr>
        </p:nvSpPr>
        <p:spPr/>
        <p:txBody>
          <a:bodyPr>
            <a:normAutofit/>
          </a:bodyPr>
          <a:lstStyle/>
          <a:p>
            <a:pPr marL="0" indent="0">
              <a:buNone/>
            </a:pPr>
            <a:r>
              <a:rPr lang="hr-HR" dirty="0"/>
              <a:t>Kao pravilo, poželjno je da timovi ne budu veći od 9 osoba kako bi se izbjeglo:</a:t>
            </a:r>
          </a:p>
          <a:p>
            <a:r>
              <a:rPr lang="hr-HR" dirty="0"/>
              <a:t>dugi sastanci (&gt;15 min) </a:t>
            </a:r>
          </a:p>
          <a:p>
            <a:r>
              <a:rPr lang="hr-HR" dirty="0"/>
              <a:t>situacije u kojima ljudi ne znaju što drugi rade </a:t>
            </a:r>
          </a:p>
          <a:p>
            <a:r>
              <a:rPr lang="hr-HR" dirty="0"/>
              <a:t>distrakcije </a:t>
            </a:r>
          </a:p>
          <a:p>
            <a:r>
              <a:rPr lang="hr-HR" dirty="0"/>
              <a:t>kratki rokovi za rješavanje nepredviđenih problema</a:t>
            </a:r>
          </a:p>
        </p:txBody>
      </p:sp>
    </p:spTree>
    <p:extLst>
      <p:ext uri="{BB962C8B-B14F-4D97-AF65-F5344CB8AC3E}">
        <p14:creationId xmlns:p14="http://schemas.microsoft.com/office/powerpoint/2010/main" val="407583936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79093A-8B72-D027-157D-CB8025FAF5E9}"/>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49F55B92-AD99-7703-FAEB-80F2C9A10ED5}"/>
              </a:ext>
            </a:extLst>
          </p:cNvPr>
          <p:cNvSpPr>
            <a:spLocks noGrp="1"/>
          </p:cNvSpPr>
          <p:nvPr>
            <p:ph type="title"/>
          </p:nvPr>
        </p:nvSpPr>
        <p:spPr/>
        <p:txBody>
          <a:bodyPr/>
          <a:lstStyle/>
          <a:p>
            <a:r>
              <a:rPr lang="hr-HR" dirty="0"/>
              <a:t>Višestruki </a:t>
            </a:r>
            <a:r>
              <a:rPr lang="en-GB" dirty="0"/>
              <a:t>Scrum</a:t>
            </a:r>
            <a:r>
              <a:rPr lang="hr-HR" dirty="0"/>
              <a:t>ovi</a:t>
            </a:r>
            <a:endParaRPr lang="en-GB" dirty="0"/>
          </a:p>
        </p:txBody>
      </p:sp>
      <p:sp>
        <p:nvSpPr>
          <p:cNvPr id="3" name="Segnaposto contenuto 2">
            <a:extLst>
              <a:ext uri="{FF2B5EF4-FFF2-40B4-BE49-F238E27FC236}">
                <a16:creationId xmlns:a16="http://schemas.microsoft.com/office/drawing/2014/main" id="{50C61CF5-129F-101D-5147-56C609FD2D0E}"/>
              </a:ext>
            </a:extLst>
          </p:cNvPr>
          <p:cNvSpPr>
            <a:spLocks noGrp="1"/>
          </p:cNvSpPr>
          <p:nvPr>
            <p:ph idx="1"/>
          </p:nvPr>
        </p:nvSpPr>
        <p:spPr/>
        <p:txBody>
          <a:bodyPr>
            <a:normAutofit/>
          </a:bodyPr>
          <a:lstStyle/>
          <a:p>
            <a:pPr marL="0" indent="0">
              <a:buNone/>
            </a:pPr>
            <a:r>
              <a:rPr lang="hr-HR" dirty="0"/>
              <a:t>Je li dovoljno samo podijeliti veće timove?</a:t>
            </a:r>
          </a:p>
          <a:p>
            <a:pPr marL="0" indent="0">
              <a:buNone/>
            </a:pPr>
            <a:r>
              <a:rPr lang="hr-HR" dirty="0"/>
              <a:t>Ideja dijeljenja tima može biti učinkovita samo ako:</a:t>
            </a:r>
          </a:p>
          <a:p>
            <a:r>
              <a:rPr lang="hr-HR" dirty="0"/>
              <a:t>tim ima iskustva s </a:t>
            </a:r>
            <a:r>
              <a:rPr lang="hr-HR" dirty="0" err="1"/>
              <a:t>Agile</a:t>
            </a:r>
            <a:r>
              <a:rPr lang="hr-HR" dirty="0"/>
              <a:t> pristupom </a:t>
            </a:r>
          </a:p>
          <a:p>
            <a:r>
              <a:rPr lang="hr-HR" dirty="0" err="1"/>
              <a:t>roadmap</a:t>
            </a:r>
            <a:r>
              <a:rPr lang="hr-HR" dirty="0"/>
              <a:t> se može podijeliti (bez ugrožavanja ishoda) </a:t>
            </a:r>
          </a:p>
          <a:p>
            <a:pPr marL="0" indent="0">
              <a:buNone/>
            </a:pPr>
            <a:endParaRPr lang="hr-HR" dirty="0"/>
          </a:p>
          <a:p>
            <a:pPr marL="0" indent="0">
              <a:buNone/>
            </a:pPr>
            <a:r>
              <a:rPr lang="hr-HR" dirty="0"/>
              <a:t>Pazite na virtualne timove! Promatranjem kako i koliko članovi međusobno komuniciraju može se uočiti postojanje „virtualnih timova”.</a:t>
            </a:r>
          </a:p>
        </p:txBody>
      </p:sp>
    </p:spTree>
    <p:extLst>
      <p:ext uri="{BB962C8B-B14F-4D97-AF65-F5344CB8AC3E}">
        <p14:creationId xmlns:p14="http://schemas.microsoft.com/office/powerpoint/2010/main" val="333649009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C296C-12D5-56DB-4906-BEDA56B6C3B7}"/>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AD30B27E-F18A-789E-C0D0-43D120CCAFC4}"/>
              </a:ext>
            </a:extLst>
          </p:cNvPr>
          <p:cNvSpPr>
            <a:spLocks noGrp="1"/>
          </p:cNvSpPr>
          <p:nvPr>
            <p:ph type="title"/>
          </p:nvPr>
        </p:nvSpPr>
        <p:spPr/>
        <p:txBody>
          <a:bodyPr/>
          <a:lstStyle/>
          <a:p>
            <a:r>
              <a:rPr lang="hr-HR" dirty="0"/>
              <a:t>Višestruki </a:t>
            </a:r>
            <a:r>
              <a:rPr lang="en-GB" dirty="0"/>
              <a:t>Scrum</a:t>
            </a:r>
            <a:r>
              <a:rPr lang="hr-HR" dirty="0"/>
              <a:t>ovi</a:t>
            </a:r>
            <a:endParaRPr lang="en-GB" dirty="0"/>
          </a:p>
        </p:txBody>
      </p:sp>
      <p:sp>
        <p:nvSpPr>
          <p:cNvPr id="3" name="Segnaposto contenuto 2">
            <a:extLst>
              <a:ext uri="{FF2B5EF4-FFF2-40B4-BE49-F238E27FC236}">
                <a16:creationId xmlns:a16="http://schemas.microsoft.com/office/drawing/2014/main" id="{8C8AA91A-F477-5F1B-F229-0AEB9D76F906}"/>
              </a:ext>
            </a:extLst>
          </p:cNvPr>
          <p:cNvSpPr>
            <a:spLocks noGrp="1"/>
          </p:cNvSpPr>
          <p:nvPr>
            <p:ph idx="1"/>
          </p:nvPr>
        </p:nvSpPr>
        <p:spPr>
          <a:xfrm>
            <a:off x="695879" y="2001128"/>
            <a:ext cx="10800242" cy="3446255"/>
          </a:xfrm>
        </p:spPr>
        <p:txBody>
          <a:bodyPr>
            <a:normAutofit lnSpcReduction="10000"/>
          </a:bodyPr>
          <a:lstStyle/>
          <a:p>
            <a:pPr marL="0" indent="0">
              <a:buNone/>
            </a:pPr>
            <a:r>
              <a:rPr lang="hr-HR" dirty="0"/>
              <a:t>Što učiniti umjesto toga ako na istom projektu radi više timova?</a:t>
            </a:r>
          </a:p>
          <a:p>
            <a:pPr marL="514350" indent="-514350">
              <a:buFont typeface="+mj-lt"/>
              <a:buAutoNum type="arabicPeriod"/>
            </a:pPr>
            <a:r>
              <a:rPr lang="hr-HR" i="1" dirty="0"/>
              <a:t>Sinkronizacija sprintova </a:t>
            </a:r>
          </a:p>
          <a:p>
            <a:pPr marL="0" indent="0">
              <a:buNone/>
            </a:pPr>
            <a:endParaRPr lang="hr-HR" dirty="0"/>
          </a:p>
          <a:p>
            <a:pPr marL="0" indent="0">
              <a:buNone/>
            </a:pPr>
            <a:r>
              <a:rPr lang="hr-HR" dirty="0"/>
              <a:t>Prednosti:</a:t>
            </a:r>
          </a:p>
          <a:p>
            <a:r>
              <a:rPr lang="hr-HR" dirty="0"/>
              <a:t>zajednički sastanci </a:t>
            </a:r>
          </a:p>
          <a:p>
            <a:r>
              <a:rPr lang="hr-HR" dirty="0"/>
              <a:t>jedinstveni trenutak za redefiniranje timova (između sprintova) </a:t>
            </a:r>
          </a:p>
          <a:p>
            <a:r>
              <a:rPr lang="hr-HR" dirty="0"/>
              <a:t>manje administrativnih zadataka</a:t>
            </a:r>
          </a:p>
        </p:txBody>
      </p:sp>
    </p:spTree>
    <p:extLst>
      <p:ext uri="{BB962C8B-B14F-4D97-AF65-F5344CB8AC3E}">
        <p14:creationId xmlns:p14="http://schemas.microsoft.com/office/powerpoint/2010/main" val="350408418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B70FB-6508-B01C-F61E-041348D98BC2}"/>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74A23048-6A2E-D397-B028-3CC966D9075E}"/>
              </a:ext>
            </a:extLst>
          </p:cNvPr>
          <p:cNvSpPr>
            <a:spLocks noGrp="1"/>
          </p:cNvSpPr>
          <p:nvPr>
            <p:ph type="title"/>
          </p:nvPr>
        </p:nvSpPr>
        <p:spPr/>
        <p:txBody>
          <a:bodyPr/>
          <a:lstStyle/>
          <a:p>
            <a:r>
              <a:rPr lang="hr-HR" dirty="0"/>
              <a:t>Višestruki </a:t>
            </a:r>
            <a:r>
              <a:rPr lang="en-GB" dirty="0"/>
              <a:t>Scrum</a:t>
            </a:r>
            <a:r>
              <a:rPr lang="hr-HR" dirty="0"/>
              <a:t>ovi</a:t>
            </a:r>
            <a:endParaRPr lang="en-GB" dirty="0"/>
          </a:p>
        </p:txBody>
      </p:sp>
      <p:sp>
        <p:nvSpPr>
          <p:cNvPr id="3" name="Segnaposto contenuto 2">
            <a:extLst>
              <a:ext uri="{FF2B5EF4-FFF2-40B4-BE49-F238E27FC236}">
                <a16:creationId xmlns:a16="http://schemas.microsoft.com/office/drawing/2014/main" id="{B5C13FFB-B1E5-26A1-DB1F-F52E4B3CEF38}"/>
              </a:ext>
            </a:extLst>
          </p:cNvPr>
          <p:cNvSpPr>
            <a:spLocks noGrp="1"/>
          </p:cNvSpPr>
          <p:nvPr>
            <p:ph idx="1"/>
          </p:nvPr>
        </p:nvSpPr>
        <p:spPr>
          <a:xfrm>
            <a:off x="931492" y="2112406"/>
            <a:ext cx="10422308" cy="3446255"/>
          </a:xfrm>
        </p:spPr>
        <p:txBody>
          <a:bodyPr>
            <a:normAutofit fontScale="92500"/>
          </a:bodyPr>
          <a:lstStyle/>
          <a:p>
            <a:pPr marL="0" indent="0">
              <a:buNone/>
            </a:pPr>
            <a:r>
              <a:rPr lang="hr-HR" i="1" dirty="0"/>
              <a:t>2. Imenovati voditelja tima (</a:t>
            </a:r>
            <a:r>
              <a:rPr lang="hr-HR" i="1" dirty="0" err="1"/>
              <a:t>Scrum</a:t>
            </a:r>
            <a:r>
              <a:rPr lang="hr-HR" i="1" dirty="0"/>
              <a:t> Mastera svih timova) </a:t>
            </a:r>
          </a:p>
          <a:p>
            <a:r>
              <a:rPr lang="hr-HR" dirty="0"/>
              <a:t>Voditelj tima odlučuje o sastavu timova i njihovim promjenama između nekoliko sprintova.</a:t>
            </a:r>
          </a:p>
          <a:p>
            <a:r>
              <a:rPr lang="hr-HR" dirty="0"/>
              <a:t>Napomena: prije bilo kakve promjene u timu, ne podcjenjujte tzv. „timsku povezanost” (</a:t>
            </a:r>
            <a:r>
              <a:rPr lang="hr-HR" dirty="0" err="1"/>
              <a:t>team</a:t>
            </a:r>
            <a:r>
              <a:rPr lang="hr-HR" dirty="0"/>
              <a:t> gel) – odnose koji nastaju radom u timu.</a:t>
            </a:r>
          </a:p>
          <a:p>
            <a:r>
              <a:rPr lang="hr-HR" dirty="0"/>
              <a:t>Što je s članovima na pola radnog vremena? Općenito, nekoliko članova koji rade puno radno vrijeme bolja je opcija od većeg tima s članovima na pola radnog vremena.</a:t>
            </a:r>
          </a:p>
          <a:p>
            <a:pPr marL="0" indent="0">
              <a:buNone/>
            </a:pPr>
            <a:endParaRPr lang="en-GB" dirty="0"/>
          </a:p>
        </p:txBody>
      </p:sp>
    </p:spTree>
    <p:extLst>
      <p:ext uri="{BB962C8B-B14F-4D97-AF65-F5344CB8AC3E}">
        <p14:creationId xmlns:p14="http://schemas.microsoft.com/office/powerpoint/2010/main" val="236626324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20D48B-D0A9-28BF-2BB5-E4FB4EAE7AF8}"/>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FBDCB2BA-F660-990B-C6C2-A89BE4282A78}"/>
              </a:ext>
            </a:extLst>
          </p:cNvPr>
          <p:cNvSpPr>
            <a:spLocks noGrp="1"/>
          </p:cNvSpPr>
          <p:nvPr>
            <p:ph type="title"/>
          </p:nvPr>
        </p:nvSpPr>
        <p:spPr/>
        <p:txBody>
          <a:bodyPr/>
          <a:lstStyle/>
          <a:p>
            <a:r>
              <a:rPr lang="hr-HR" dirty="0"/>
              <a:t>Višestruki </a:t>
            </a:r>
            <a:r>
              <a:rPr lang="en-GB" dirty="0"/>
              <a:t>Scrum</a:t>
            </a:r>
            <a:r>
              <a:rPr lang="hr-HR" dirty="0"/>
              <a:t>ovi</a:t>
            </a:r>
            <a:endParaRPr lang="en-GB" dirty="0"/>
          </a:p>
        </p:txBody>
      </p:sp>
      <p:sp>
        <p:nvSpPr>
          <p:cNvPr id="3" name="Segnaposto contenuto 2">
            <a:extLst>
              <a:ext uri="{FF2B5EF4-FFF2-40B4-BE49-F238E27FC236}">
                <a16:creationId xmlns:a16="http://schemas.microsoft.com/office/drawing/2014/main" id="{631BAE7C-4B95-FFDF-D13D-8BC51D305FFD}"/>
              </a:ext>
            </a:extLst>
          </p:cNvPr>
          <p:cNvSpPr>
            <a:spLocks noGrp="1"/>
          </p:cNvSpPr>
          <p:nvPr>
            <p:ph idx="1"/>
          </p:nvPr>
        </p:nvSpPr>
        <p:spPr>
          <a:xfrm>
            <a:off x="931492" y="2112406"/>
            <a:ext cx="10422308" cy="3946562"/>
          </a:xfrm>
        </p:spPr>
        <p:txBody>
          <a:bodyPr>
            <a:normAutofit fontScale="85000" lnSpcReduction="20000"/>
          </a:bodyPr>
          <a:lstStyle/>
          <a:p>
            <a:pPr marL="0" indent="0">
              <a:buNone/>
            </a:pPr>
            <a:r>
              <a:rPr lang="hr-HR" dirty="0"/>
              <a:t>Kako održati ravnotežu između planiranih i </a:t>
            </a:r>
            <a:r>
              <a:rPr lang="hr-HR" dirty="0" err="1"/>
              <a:t>emergentnih</a:t>
            </a:r>
            <a:r>
              <a:rPr lang="hr-HR" dirty="0"/>
              <a:t> aktivnosti?</a:t>
            </a:r>
          </a:p>
          <a:p>
            <a:pPr marL="0" indent="0">
              <a:buNone/>
            </a:pPr>
            <a:endParaRPr lang="hr-HR" dirty="0"/>
          </a:p>
          <a:p>
            <a:pPr marL="0" indent="0">
              <a:buNone/>
            </a:pPr>
            <a:r>
              <a:rPr lang="hr-HR" dirty="0"/>
              <a:t>Jedno rješenje je stvaranje dviju vrsta timova:</a:t>
            </a:r>
          </a:p>
          <a:p>
            <a:r>
              <a:rPr lang="hr-HR" dirty="0" err="1"/>
              <a:t>Scrum</a:t>
            </a:r>
            <a:r>
              <a:rPr lang="hr-HR" dirty="0"/>
              <a:t> tim </a:t>
            </a:r>
          </a:p>
          <a:p>
            <a:r>
              <a:rPr lang="hr-HR" dirty="0" err="1"/>
              <a:t>Fire</a:t>
            </a:r>
            <a:r>
              <a:rPr lang="hr-HR" dirty="0"/>
              <a:t> tim </a:t>
            </a:r>
          </a:p>
          <a:p>
            <a:pPr marL="0" indent="0">
              <a:buNone/>
            </a:pPr>
            <a:endParaRPr lang="hr-HR" dirty="0"/>
          </a:p>
          <a:p>
            <a:pPr marL="0" indent="0">
              <a:buNone/>
            </a:pPr>
            <a:r>
              <a:rPr lang="hr-HR" dirty="0" err="1"/>
              <a:t>Scrum</a:t>
            </a:r>
            <a:r>
              <a:rPr lang="hr-HR" dirty="0"/>
              <a:t> tim: pod vodstvom voditelja projekta (PM) provodi aktivnosti nastojeći spriječiti hitne situacije.</a:t>
            </a:r>
          </a:p>
          <a:p>
            <a:pPr marL="0" indent="0">
              <a:buNone/>
            </a:pPr>
            <a:endParaRPr lang="hr-HR" dirty="0"/>
          </a:p>
          <a:p>
            <a:pPr marL="0" indent="0">
              <a:buNone/>
            </a:pPr>
            <a:r>
              <a:rPr lang="hr-HR" dirty="0" err="1"/>
              <a:t>Fire</a:t>
            </a:r>
            <a:r>
              <a:rPr lang="hr-HR" dirty="0"/>
              <a:t> tim: podržavajući tim posvećen rješavanju hitnih problema i zaštiti od drugih </a:t>
            </a:r>
            <a:r>
              <a:rPr lang="hr-HR" dirty="0" err="1"/>
              <a:t>disruptivnih</a:t>
            </a:r>
            <a:r>
              <a:rPr lang="hr-HR" dirty="0"/>
              <a:t> elemenata.</a:t>
            </a:r>
          </a:p>
        </p:txBody>
      </p:sp>
    </p:spTree>
    <p:extLst>
      <p:ext uri="{BB962C8B-B14F-4D97-AF65-F5344CB8AC3E}">
        <p14:creationId xmlns:p14="http://schemas.microsoft.com/office/powerpoint/2010/main" val="371629509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1D428-1360-AAA2-DF31-9C95895C6480}"/>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08F85D61-D278-EDE1-166F-A460985482AF}"/>
              </a:ext>
            </a:extLst>
          </p:cNvPr>
          <p:cNvSpPr>
            <a:spLocks noGrp="1"/>
          </p:cNvSpPr>
          <p:nvPr>
            <p:ph type="title"/>
          </p:nvPr>
        </p:nvSpPr>
        <p:spPr/>
        <p:txBody>
          <a:bodyPr/>
          <a:lstStyle/>
          <a:p>
            <a:r>
              <a:rPr lang="hr-HR" dirty="0"/>
              <a:t>Višestruki </a:t>
            </a:r>
            <a:r>
              <a:rPr lang="en-GB" dirty="0"/>
              <a:t>Scrum</a:t>
            </a:r>
            <a:r>
              <a:rPr lang="hr-HR" dirty="0"/>
              <a:t>ovi</a:t>
            </a:r>
            <a:endParaRPr lang="en-GB" dirty="0"/>
          </a:p>
        </p:txBody>
      </p:sp>
      <p:sp>
        <p:nvSpPr>
          <p:cNvPr id="3" name="Segnaposto contenuto 2">
            <a:extLst>
              <a:ext uri="{FF2B5EF4-FFF2-40B4-BE49-F238E27FC236}">
                <a16:creationId xmlns:a16="http://schemas.microsoft.com/office/drawing/2014/main" id="{E82DF3F1-B47D-3FF7-9CA1-E28A113D3433}"/>
              </a:ext>
            </a:extLst>
          </p:cNvPr>
          <p:cNvSpPr>
            <a:spLocks noGrp="1"/>
          </p:cNvSpPr>
          <p:nvPr>
            <p:ph idx="1"/>
          </p:nvPr>
        </p:nvSpPr>
        <p:spPr>
          <a:xfrm>
            <a:off x="931492" y="2112406"/>
            <a:ext cx="10422308" cy="3946562"/>
          </a:xfrm>
        </p:spPr>
        <p:txBody>
          <a:bodyPr>
            <a:normAutofit lnSpcReduction="10000"/>
          </a:bodyPr>
          <a:lstStyle/>
          <a:p>
            <a:pPr marL="0" indent="0">
              <a:buNone/>
            </a:pPr>
            <a:r>
              <a:rPr lang="hr-HR" dirty="0"/>
              <a:t>Kako upravljati geografski distribuiranim timovima?</a:t>
            </a:r>
          </a:p>
          <a:p>
            <a:pPr marL="0" indent="0">
              <a:buNone/>
            </a:pPr>
            <a:r>
              <a:rPr lang="hr-HR" dirty="0"/>
              <a:t>Ako učinkovitost </a:t>
            </a:r>
            <a:r>
              <a:rPr lang="hr-HR" dirty="0" err="1"/>
              <a:t>Agilea</a:t>
            </a:r>
            <a:r>
              <a:rPr lang="hr-HR" dirty="0"/>
              <a:t> uvelike ovisi o intenzivnoj i izravnoj suradnji tima, potrebno je omogućiti da se to može odvijati i na daljinu, omogućujući članovima da:</a:t>
            </a:r>
          </a:p>
          <a:p>
            <a:r>
              <a:rPr lang="hr-HR" dirty="0"/>
              <a:t>rade u isto vrijeme </a:t>
            </a:r>
          </a:p>
          <a:p>
            <a:r>
              <a:rPr lang="hr-HR" dirty="0"/>
              <a:t>sudjeluju u dnevnim sastancima </a:t>
            </a:r>
          </a:p>
          <a:p>
            <a:r>
              <a:rPr lang="hr-HR" dirty="0"/>
              <a:t>imaju izravne, spontane i trenutne kontakte </a:t>
            </a:r>
          </a:p>
          <a:p>
            <a:r>
              <a:rPr lang="hr-HR" dirty="0"/>
              <a:t>imaju vidljivost </a:t>
            </a:r>
            <a:r>
              <a:rPr lang="hr-HR" dirty="0" err="1"/>
              <a:t>boarda</a:t>
            </a:r>
            <a:r>
              <a:rPr lang="hr-HR" dirty="0"/>
              <a:t>, </a:t>
            </a:r>
            <a:r>
              <a:rPr lang="hr-HR" dirty="0" err="1"/>
              <a:t>backloga</a:t>
            </a:r>
            <a:r>
              <a:rPr lang="hr-HR" dirty="0"/>
              <a:t> i pristup svim korisnim informacijama (npr. dijagramima)</a:t>
            </a:r>
          </a:p>
        </p:txBody>
      </p:sp>
    </p:spTree>
    <p:extLst>
      <p:ext uri="{BB962C8B-B14F-4D97-AF65-F5344CB8AC3E}">
        <p14:creationId xmlns:p14="http://schemas.microsoft.com/office/powerpoint/2010/main" val="304332748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8D267C-6447-D9BB-AAC1-F16C2E28B10F}"/>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21E019F8-378C-8D3A-E754-E1BD9CC66E87}"/>
              </a:ext>
            </a:extLst>
          </p:cNvPr>
          <p:cNvSpPr>
            <a:spLocks noGrp="1"/>
          </p:cNvSpPr>
          <p:nvPr>
            <p:ph type="title"/>
          </p:nvPr>
        </p:nvSpPr>
        <p:spPr/>
        <p:txBody>
          <a:bodyPr/>
          <a:lstStyle/>
          <a:p>
            <a:r>
              <a:rPr lang="hr-HR" dirty="0"/>
              <a:t>Višestruki </a:t>
            </a:r>
            <a:r>
              <a:rPr lang="en-GB" dirty="0"/>
              <a:t>Scrum</a:t>
            </a:r>
            <a:r>
              <a:rPr lang="hr-HR" dirty="0"/>
              <a:t>ovi</a:t>
            </a:r>
            <a:endParaRPr lang="en-GB" dirty="0"/>
          </a:p>
        </p:txBody>
      </p:sp>
      <p:sp>
        <p:nvSpPr>
          <p:cNvPr id="3" name="Segnaposto contenuto 2">
            <a:extLst>
              <a:ext uri="{FF2B5EF4-FFF2-40B4-BE49-F238E27FC236}">
                <a16:creationId xmlns:a16="http://schemas.microsoft.com/office/drawing/2014/main" id="{DA615873-D632-ADC7-BDB6-3EA877686F1A}"/>
              </a:ext>
            </a:extLst>
          </p:cNvPr>
          <p:cNvSpPr>
            <a:spLocks noGrp="1"/>
          </p:cNvSpPr>
          <p:nvPr>
            <p:ph idx="1"/>
          </p:nvPr>
        </p:nvSpPr>
        <p:spPr>
          <a:xfrm>
            <a:off x="931492" y="2112406"/>
            <a:ext cx="10422308" cy="3946562"/>
          </a:xfrm>
        </p:spPr>
        <p:txBody>
          <a:bodyPr>
            <a:normAutofit/>
          </a:bodyPr>
          <a:lstStyle/>
          <a:p>
            <a:pPr marL="0" indent="0">
              <a:buNone/>
            </a:pPr>
            <a:r>
              <a:rPr lang="hr-HR" dirty="0"/>
              <a:t>Kako to napraviti?</a:t>
            </a:r>
          </a:p>
          <a:p>
            <a:r>
              <a:rPr lang="hr-HR" dirty="0"/>
              <a:t>Konferencijska soba s radnom stanicom (ili stanicama) opremljenom internetskom vezom, web kamerom, mikrofonom i softverom za suradnju </a:t>
            </a:r>
          </a:p>
          <a:p>
            <a:r>
              <a:rPr lang="hr-HR" dirty="0"/>
              <a:t>„</a:t>
            </a:r>
            <a:r>
              <a:rPr lang="hr-HR" dirty="0" err="1"/>
              <a:t>Remote</a:t>
            </a:r>
            <a:r>
              <a:rPr lang="hr-HR" dirty="0"/>
              <a:t> </a:t>
            </a:r>
            <a:r>
              <a:rPr lang="hr-HR" dirty="0" err="1"/>
              <a:t>windows</a:t>
            </a:r>
            <a:r>
              <a:rPr lang="hr-HR" dirty="0"/>
              <a:t>”: ekrani postavljeni na svakoj lokaciji koji prikazuju ostale članove i/ili podatke o napretku projekta </a:t>
            </a:r>
          </a:p>
          <a:p>
            <a:pPr marL="0" indent="0">
              <a:buNone/>
            </a:pPr>
            <a:r>
              <a:rPr lang="hr-HR" dirty="0"/>
              <a:t>Ako je moguće, poželjno je imati jedan distribuirani tim umjesto više „</a:t>
            </a:r>
            <a:r>
              <a:rPr lang="hr-HR" dirty="0" err="1"/>
              <a:t>co-located</a:t>
            </a:r>
            <a:r>
              <a:rPr lang="hr-HR" dirty="0"/>
              <a:t>” timova.</a:t>
            </a:r>
          </a:p>
        </p:txBody>
      </p:sp>
    </p:spTree>
    <p:extLst>
      <p:ext uri="{BB962C8B-B14F-4D97-AF65-F5344CB8AC3E}">
        <p14:creationId xmlns:p14="http://schemas.microsoft.com/office/powerpoint/2010/main" val="418255963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F4DEA8-9462-5008-4656-73250E501467}"/>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5B863ECE-F38C-1B85-2DCF-B63B94CF285D}"/>
              </a:ext>
            </a:extLst>
          </p:cNvPr>
          <p:cNvSpPr>
            <a:spLocks noGrp="1"/>
          </p:cNvSpPr>
          <p:nvPr>
            <p:ph type="title"/>
          </p:nvPr>
        </p:nvSpPr>
        <p:spPr/>
        <p:txBody>
          <a:bodyPr/>
          <a:lstStyle/>
          <a:p>
            <a:r>
              <a:rPr lang="hr-HR" dirty="0"/>
              <a:t>Višestruki </a:t>
            </a:r>
            <a:r>
              <a:rPr lang="en-GB" dirty="0"/>
              <a:t>Scrum</a:t>
            </a:r>
            <a:r>
              <a:rPr lang="hr-HR" dirty="0"/>
              <a:t>ovi</a:t>
            </a:r>
            <a:endParaRPr lang="en-GB" dirty="0"/>
          </a:p>
        </p:txBody>
      </p:sp>
      <p:sp>
        <p:nvSpPr>
          <p:cNvPr id="3" name="Segnaposto contenuto 2">
            <a:extLst>
              <a:ext uri="{FF2B5EF4-FFF2-40B4-BE49-F238E27FC236}">
                <a16:creationId xmlns:a16="http://schemas.microsoft.com/office/drawing/2014/main" id="{69971F24-B2D9-F45D-1A24-EBC41FDCE662}"/>
              </a:ext>
            </a:extLst>
          </p:cNvPr>
          <p:cNvSpPr>
            <a:spLocks noGrp="1"/>
          </p:cNvSpPr>
          <p:nvPr>
            <p:ph idx="1"/>
          </p:nvPr>
        </p:nvSpPr>
        <p:spPr>
          <a:xfrm>
            <a:off x="838200" y="2306888"/>
            <a:ext cx="10515600" cy="4351338"/>
          </a:xfrm>
        </p:spPr>
        <p:txBody>
          <a:bodyPr>
            <a:normAutofit/>
          </a:bodyPr>
          <a:lstStyle/>
          <a:p>
            <a:pPr marL="0" indent="0">
              <a:buNone/>
            </a:pPr>
            <a:r>
              <a:rPr lang="hr-HR" dirty="0"/>
              <a:t>Koji se alati trebaju koristiti za upravljanje višestrukim </a:t>
            </a:r>
            <a:r>
              <a:rPr lang="hr-HR" dirty="0" err="1"/>
              <a:t>Scrumovima</a:t>
            </a:r>
            <a:r>
              <a:rPr lang="hr-HR" dirty="0"/>
              <a:t>?</a:t>
            </a:r>
          </a:p>
          <a:p>
            <a:r>
              <a:rPr lang="hr-HR" dirty="0"/>
              <a:t>Kreirajte „To Do List” </a:t>
            </a:r>
            <a:r>
              <a:rPr lang="hr-HR" dirty="0" err="1"/>
              <a:t>board</a:t>
            </a:r>
            <a:r>
              <a:rPr lang="hr-HR" dirty="0"/>
              <a:t> na koji, u svakom sprintu, premještate (ili kopirate) kartice iz osobnih </a:t>
            </a:r>
            <a:r>
              <a:rPr lang="hr-HR" dirty="0" err="1"/>
              <a:t>boardova</a:t>
            </a:r>
            <a:r>
              <a:rPr lang="hr-HR" dirty="0"/>
              <a:t> </a:t>
            </a:r>
          </a:p>
          <a:p>
            <a:r>
              <a:rPr lang="hr-HR" dirty="0"/>
              <a:t>Kreirajte „repozitorij </a:t>
            </a:r>
            <a:r>
              <a:rPr lang="hr-HR" dirty="0" err="1"/>
              <a:t>boardova</a:t>
            </a:r>
            <a:r>
              <a:rPr lang="hr-HR" dirty="0"/>
              <a:t>” za pohranu projektnih materijala, resursa (i kartica) koji su zajednički svim članovima </a:t>
            </a:r>
          </a:p>
          <a:p>
            <a:r>
              <a:rPr lang="hr-HR" dirty="0"/>
              <a:t>Ako je korisno, kreirajte automatizacije za ponavljajuće premještanje kartica (npr. pomoću </a:t>
            </a:r>
            <a:r>
              <a:rPr lang="hr-HR" dirty="0" err="1"/>
              <a:t>Zapier</a:t>
            </a:r>
            <a:r>
              <a:rPr lang="hr-HR" dirty="0"/>
              <a:t>-a ili Butler-a)</a:t>
            </a:r>
          </a:p>
        </p:txBody>
      </p:sp>
    </p:spTree>
    <p:extLst>
      <p:ext uri="{BB962C8B-B14F-4D97-AF65-F5344CB8AC3E}">
        <p14:creationId xmlns:p14="http://schemas.microsoft.com/office/powerpoint/2010/main" val="91447252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2928F6-4005-1C6D-1BD5-47A7EACBD284}"/>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85D3F1D8-C5DF-9989-97F2-72BC2455A100}"/>
              </a:ext>
            </a:extLst>
          </p:cNvPr>
          <p:cNvSpPr>
            <a:spLocks noGrp="1"/>
          </p:cNvSpPr>
          <p:nvPr>
            <p:ph type="title"/>
          </p:nvPr>
        </p:nvSpPr>
        <p:spPr/>
        <p:txBody>
          <a:bodyPr/>
          <a:lstStyle/>
          <a:p>
            <a:r>
              <a:rPr lang="hr-HR" dirty="0"/>
              <a:t>Popis za provjeru (</a:t>
            </a:r>
            <a:r>
              <a:rPr lang="hr-HR" dirty="0" err="1"/>
              <a:t>Checklist</a:t>
            </a:r>
            <a:r>
              <a:rPr lang="hr-HR" dirty="0"/>
              <a:t>) za </a:t>
            </a:r>
            <a:r>
              <a:rPr lang="hr-HR" dirty="0" err="1"/>
              <a:t>Scrum</a:t>
            </a:r>
            <a:r>
              <a:rPr lang="hr-HR" dirty="0"/>
              <a:t> Mastera</a:t>
            </a:r>
          </a:p>
        </p:txBody>
      </p:sp>
      <p:sp>
        <p:nvSpPr>
          <p:cNvPr id="3" name="Segnaposto contenuto 2">
            <a:extLst>
              <a:ext uri="{FF2B5EF4-FFF2-40B4-BE49-F238E27FC236}">
                <a16:creationId xmlns:a16="http://schemas.microsoft.com/office/drawing/2014/main" id="{C71F6CC4-DC31-89FA-8839-2EADC7F5EDDD}"/>
              </a:ext>
            </a:extLst>
          </p:cNvPr>
          <p:cNvSpPr>
            <a:spLocks noGrp="1"/>
          </p:cNvSpPr>
          <p:nvPr>
            <p:ph idx="1"/>
          </p:nvPr>
        </p:nvSpPr>
        <p:spPr>
          <a:xfrm>
            <a:off x="931492" y="1984220"/>
            <a:ext cx="10422308" cy="4508655"/>
          </a:xfrm>
        </p:spPr>
        <p:txBody>
          <a:bodyPr>
            <a:normAutofit/>
          </a:bodyPr>
          <a:lstStyle/>
          <a:p>
            <a:pPr marL="0" indent="0">
              <a:buNone/>
            </a:pPr>
            <a:r>
              <a:rPr lang="en-US" dirty="0"/>
              <a:t>At the beginning of each sprint:</a:t>
            </a:r>
            <a:endParaRPr lang="hr-HR" dirty="0"/>
          </a:p>
          <a:p>
            <a:r>
              <a:rPr lang="en-US" dirty="0"/>
              <a:t>After Sprint Planning, create a sprint information document (estimated velocity, team size, duration, etc.), print it out and place it on the team’s most visible wall.</a:t>
            </a:r>
            <a:endParaRPr lang="hr-HR" dirty="0"/>
          </a:p>
          <a:p>
            <a:r>
              <a:rPr lang="en-US" dirty="0"/>
              <a:t>Send an email to all stakeholders announcing the start of the new sprint (include the sprint goal and a link to the information document).</a:t>
            </a:r>
            <a:endParaRPr lang="hr-HR" dirty="0"/>
          </a:p>
          <a:p>
            <a:r>
              <a:rPr lang="en-US" dirty="0"/>
              <a:t>Update the information document with sprint statistics.</a:t>
            </a:r>
            <a:endParaRPr lang="hr-HR" dirty="0"/>
          </a:p>
        </p:txBody>
      </p:sp>
    </p:spTree>
    <p:extLst>
      <p:ext uri="{BB962C8B-B14F-4D97-AF65-F5344CB8AC3E}">
        <p14:creationId xmlns:p14="http://schemas.microsoft.com/office/powerpoint/2010/main" val="19899895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F3F3F5-EF0F-6717-4970-DD659D525E6B}"/>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5E411263-6600-C6BA-A2F4-4E016061F0B3}"/>
              </a:ext>
            </a:extLst>
          </p:cNvPr>
          <p:cNvSpPr>
            <a:spLocks noGrp="1"/>
          </p:cNvSpPr>
          <p:nvPr>
            <p:ph type="title"/>
          </p:nvPr>
        </p:nvSpPr>
        <p:spPr/>
        <p:txBody>
          <a:bodyPr/>
          <a:lstStyle/>
          <a:p>
            <a:r>
              <a:rPr lang="hr-HR" dirty="0"/>
              <a:t>Popis za provjeru (</a:t>
            </a:r>
            <a:r>
              <a:rPr lang="hr-HR" dirty="0" err="1"/>
              <a:t>Checklist</a:t>
            </a:r>
            <a:r>
              <a:rPr lang="hr-HR" dirty="0"/>
              <a:t>) za </a:t>
            </a:r>
            <a:r>
              <a:rPr lang="hr-HR" dirty="0" err="1"/>
              <a:t>Scrum</a:t>
            </a:r>
            <a:r>
              <a:rPr lang="hr-HR" dirty="0"/>
              <a:t> Mastera</a:t>
            </a:r>
            <a:endParaRPr lang="en-GB" dirty="0"/>
          </a:p>
        </p:txBody>
      </p:sp>
      <p:sp>
        <p:nvSpPr>
          <p:cNvPr id="3" name="Segnaposto contenuto 2">
            <a:extLst>
              <a:ext uri="{FF2B5EF4-FFF2-40B4-BE49-F238E27FC236}">
                <a16:creationId xmlns:a16="http://schemas.microsoft.com/office/drawing/2014/main" id="{F4845196-EDB9-A2E6-9865-C11167954B20}"/>
              </a:ext>
            </a:extLst>
          </p:cNvPr>
          <p:cNvSpPr>
            <a:spLocks noGrp="1"/>
          </p:cNvSpPr>
          <p:nvPr>
            <p:ph idx="1"/>
          </p:nvPr>
        </p:nvSpPr>
        <p:spPr>
          <a:xfrm>
            <a:off x="931492" y="1984220"/>
            <a:ext cx="10422308" cy="4508655"/>
          </a:xfrm>
        </p:spPr>
        <p:txBody>
          <a:bodyPr>
            <a:normAutofit/>
          </a:bodyPr>
          <a:lstStyle/>
          <a:p>
            <a:r>
              <a:rPr lang="hr-HR" dirty="0"/>
              <a:t>Svaki dan:</a:t>
            </a:r>
          </a:p>
          <a:p>
            <a:r>
              <a:rPr lang="hr-HR" dirty="0"/>
              <a:t>Osigurajte da Daily </a:t>
            </a:r>
            <a:r>
              <a:rPr lang="hr-HR" dirty="0" err="1"/>
              <a:t>Scrum</a:t>
            </a:r>
            <a:r>
              <a:rPr lang="hr-HR" dirty="0"/>
              <a:t> započne i završi na vrijeme. </a:t>
            </a:r>
          </a:p>
          <a:p>
            <a:r>
              <a:rPr lang="hr-HR" dirty="0"/>
              <a:t>Osigurajte da se kartice dodaju/uklanjaju iz </a:t>
            </a:r>
            <a:r>
              <a:rPr lang="hr-HR" dirty="0" err="1"/>
              <a:t>backlog</a:t>
            </a:r>
            <a:r>
              <a:rPr lang="hr-HR" dirty="0"/>
              <a:t>-a samo kada je to potrebno te da je PM o tome informiran. </a:t>
            </a:r>
          </a:p>
          <a:p>
            <a:r>
              <a:rPr lang="hr-HR" dirty="0"/>
              <a:t>Osigurajte da tim održava sprint </a:t>
            </a:r>
            <a:r>
              <a:rPr lang="hr-HR" dirty="0" err="1"/>
              <a:t>backlog</a:t>
            </a:r>
            <a:r>
              <a:rPr lang="hr-HR" dirty="0"/>
              <a:t> i </a:t>
            </a:r>
            <a:r>
              <a:rPr lang="hr-HR" dirty="0" err="1"/>
              <a:t>burndown</a:t>
            </a:r>
            <a:r>
              <a:rPr lang="hr-HR" dirty="0"/>
              <a:t> ažurnima. </a:t>
            </a:r>
          </a:p>
          <a:p>
            <a:r>
              <a:rPr lang="hr-HR" dirty="0"/>
              <a:t>Osigurajte da se problemi rješavaju ili eskaliraju prema PM-u.</a:t>
            </a:r>
          </a:p>
          <a:p>
            <a:pPr marL="0" indent="0">
              <a:buNone/>
            </a:pPr>
            <a:endParaRPr lang="en-GB" dirty="0"/>
          </a:p>
        </p:txBody>
      </p:sp>
    </p:spTree>
    <p:extLst>
      <p:ext uri="{BB962C8B-B14F-4D97-AF65-F5344CB8AC3E}">
        <p14:creationId xmlns:p14="http://schemas.microsoft.com/office/powerpoint/2010/main" val="130407149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E1F89C-6CC8-FFAA-CF09-4D2D9162F0E1}"/>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0D95A6EE-A617-F48B-C35B-513E3E2D0C75}"/>
              </a:ext>
            </a:extLst>
          </p:cNvPr>
          <p:cNvSpPr>
            <a:spLocks noGrp="1"/>
          </p:cNvSpPr>
          <p:nvPr>
            <p:ph type="title"/>
          </p:nvPr>
        </p:nvSpPr>
        <p:spPr/>
        <p:txBody>
          <a:bodyPr/>
          <a:lstStyle/>
          <a:p>
            <a:r>
              <a:rPr lang="hr-HR" dirty="0"/>
              <a:t>Popis za provjeru (</a:t>
            </a:r>
            <a:r>
              <a:rPr lang="hr-HR" dirty="0" err="1"/>
              <a:t>Checklist</a:t>
            </a:r>
            <a:r>
              <a:rPr lang="hr-HR" dirty="0"/>
              <a:t>) za </a:t>
            </a:r>
            <a:r>
              <a:rPr lang="hr-HR" dirty="0" err="1"/>
              <a:t>Scrum</a:t>
            </a:r>
            <a:r>
              <a:rPr lang="hr-HR" dirty="0"/>
              <a:t> Mastera</a:t>
            </a:r>
            <a:endParaRPr lang="en-GB" dirty="0"/>
          </a:p>
        </p:txBody>
      </p:sp>
      <p:sp>
        <p:nvSpPr>
          <p:cNvPr id="3" name="Segnaposto contenuto 2">
            <a:extLst>
              <a:ext uri="{FF2B5EF4-FFF2-40B4-BE49-F238E27FC236}">
                <a16:creationId xmlns:a16="http://schemas.microsoft.com/office/drawing/2014/main" id="{BB2760A0-0368-B9C1-845A-D65D55191ECB}"/>
              </a:ext>
            </a:extLst>
          </p:cNvPr>
          <p:cNvSpPr>
            <a:spLocks noGrp="1"/>
          </p:cNvSpPr>
          <p:nvPr>
            <p:ph idx="1"/>
          </p:nvPr>
        </p:nvSpPr>
        <p:spPr>
          <a:xfrm>
            <a:off x="931492" y="1984220"/>
            <a:ext cx="10422308" cy="4508655"/>
          </a:xfrm>
        </p:spPr>
        <p:txBody>
          <a:bodyPr>
            <a:normAutofit/>
          </a:bodyPr>
          <a:lstStyle/>
          <a:p>
            <a:pPr marL="0" indent="0">
              <a:buNone/>
            </a:pPr>
            <a:r>
              <a:rPr lang="hr-HR" dirty="0"/>
              <a:t>Na kraju svakog sprinta:</a:t>
            </a:r>
          </a:p>
          <a:p>
            <a:r>
              <a:rPr lang="hr-HR" dirty="0"/>
              <a:t>Održite demo sprinta otvoren za sve i najavite ga 1–2 dana unaprijed. </a:t>
            </a:r>
          </a:p>
          <a:p>
            <a:r>
              <a:rPr lang="hr-HR" dirty="0"/>
              <a:t>Provedite retrospektivu sprinta s cijelim timom i PM-om. </a:t>
            </a:r>
          </a:p>
          <a:p>
            <a:r>
              <a:rPr lang="hr-HR" dirty="0"/>
              <a:t>Ažurirajte dokument sa statistikom sprinta. Dodajte stvarni </a:t>
            </a:r>
            <a:r>
              <a:rPr lang="hr-HR" dirty="0" err="1"/>
              <a:t>velocity</a:t>
            </a:r>
            <a:r>
              <a:rPr lang="hr-HR" dirty="0"/>
              <a:t> i ključne zaključke iz retrospektive.</a:t>
            </a:r>
          </a:p>
          <a:p>
            <a:endParaRPr lang="en-GB" dirty="0"/>
          </a:p>
          <a:p>
            <a:pPr marL="0" indent="0">
              <a:buNone/>
            </a:pPr>
            <a:endParaRPr lang="en-GB" dirty="0"/>
          </a:p>
        </p:txBody>
      </p:sp>
    </p:spTree>
    <p:extLst>
      <p:ext uri="{BB962C8B-B14F-4D97-AF65-F5344CB8AC3E}">
        <p14:creationId xmlns:p14="http://schemas.microsoft.com/office/powerpoint/2010/main" val="83893377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939A0A6-E763-6BAC-D6BC-E2FF381C0C37}"/>
              </a:ext>
            </a:extLst>
          </p:cNvPr>
          <p:cNvSpPr>
            <a:spLocks noGrp="1"/>
          </p:cNvSpPr>
          <p:nvPr>
            <p:ph type="title"/>
          </p:nvPr>
        </p:nvSpPr>
        <p:spPr/>
        <p:txBody>
          <a:bodyPr/>
          <a:lstStyle/>
          <a:p>
            <a:r>
              <a:rPr lang="hr-HR" dirty="0"/>
              <a:t>DODATNA LITERATURA</a:t>
            </a:r>
            <a:endParaRPr lang="en-GB" dirty="0"/>
          </a:p>
        </p:txBody>
      </p:sp>
      <p:sp>
        <p:nvSpPr>
          <p:cNvPr id="3" name="Segnaposto contenuto 2">
            <a:extLst>
              <a:ext uri="{FF2B5EF4-FFF2-40B4-BE49-F238E27FC236}">
                <a16:creationId xmlns:a16="http://schemas.microsoft.com/office/drawing/2014/main" id="{7EB0683F-E96E-ABCD-6293-1A6CBE9716B6}"/>
              </a:ext>
            </a:extLst>
          </p:cNvPr>
          <p:cNvSpPr>
            <a:spLocks noGrp="1"/>
          </p:cNvSpPr>
          <p:nvPr>
            <p:ph idx="1"/>
          </p:nvPr>
        </p:nvSpPr>
        <p:spPr/>
        <p:txBody>
          <a:bodyPr>
            <a:normAutofit lnSpcReduction="10000"/>
          </a:bodyPr>
          <a:lstStyle/>
          <a:p>
            <a:pPr marL="0" indent="0">
              <a:buNone/>
            </a:pPr>
            <a:r>
              <a:rPr lang="en-GB" u="sng" dirty="0"/>
              <a:t>ONLINE </a:t>
            </a:r>
            <a:r>
              <a:rPr lang="hr-HR" u="sng" dirty="0"/>
              <a:t>IZVORI</a:t>
            </a:r>
            <a:endParaRPr lang="en-GB" u="sng" dirty="0"/>
          </a:p>
          <a:p>
            <a:pPr marL="0" indent="0">
              <a:buNone/>
            </a:pPr>
            <a:endParaRPr lang="en-GB" b="1" dirty="0"/>
          </a:p>
          <a:p>
            <a:r>
              <a:rPr lang="en-GB" b="1" dirty="0"/>
              <a:t>Agile Transformation: What It Is and Why It Fails - </a:t>
            </a:r>
            <a:r>
              <a:rPr lang="hr-HR" dirty="0"/>
              <a:t>Objašnjava razliku između usvajanja (</a:t>
            </a:r>
            <a:r>
              <a:rPr lang="hr-HR" dirty="0" err="1"/>
              <a:t>adoption</a:t>
            </a:r>
            <a:r>
              <a:rPr lang="hr-HR" dirty="0"/>
              <a:t>) i transformacije te uobičajene organizacijske obrasce neuspjeha. </a:t>
            </a:r>
            <a:r>
              <a:rPr lang="en-GB" dirty="0">
                <a:hlinkClick r:id="rId3"/>
              </a:rPr>
              <a:t>https://www.mckinsey.com/capabilities/people-and-organizational-performance/our-insights/the-journey-to-an-agile-organization</a:t>
            </a:r>
            <a:endParaRPr lang="en-GB" dirty="0"/>
          </a:p>
          <a:p>
            <a:r>
              <a:rPr lang="en-GB" b="1" dirty="0"/>
              <a:t>Agile Fluency Model - </a:t>
            </a:r>
            <a:r>
              <a:rPr lang="hr-HR" dirty="0"/>
              <a:t>Okvir za razumijevanje različitih razina zrelosti i održivosti </a:t>
            </a:r>
            <a:r>
              <a:rPr lang="hr-HR" dirty="0" err="1"/>
              <a:t>Agilea</a:t>
            </a:r>
            <a:r>
              <a:rPr lang="hr-HR" dirty="0"/>
              <a:t>. </a:t>
            </a:r>
            <a:r>
              <a:rPr lang="en-GB" dirty="0">
                <a:hlinkClick r:id="rId4"/>
              </a:rPr>
              <a:t>https://www.agilefluency.org/</a:t>
            </a:r>
            <a:br>
              <a:rPr lang="en-GB" dirty="0"/>
            </a:br>
            <a:endParaRPr lang="en-GB" dirty="0"/>
          </a:p>
        </p:txBody>
      </p:sp>
    </p:spTree>
    <p:extLst>
      <p:ext uri="{BB962C8B-B14F-4D97-AF65-F5344CB8AC3E}">
        <p14:creationId xmlns:p14="http://schemas.microsoft.com/office/powerpoint/2010/main" val="34070283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C304E9-CECC-E658-E15A-34E80A202B63}"/>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F4B16259-44C2-8B9B-EE28-662D153A1B07}"/>
              </a:ext>
            </a:extLst>
          </p:cNvPr>
          <p:cNvSpPr>
            <a:spLocks noGrp="1"/>
          </p:cNvSpPr>
          <p:nvPr>
            <p:ph type="title"/>
          </p:nvPr>
        </p:nvSpPr>
        <p:spPr/>
        <p:txBody>
          <a:bodyPr/>
          <a:lstStyle/>
          <a:p>
            <a:r>
              <a:rPr lang="hr-HR" dirty="0"/>
              <a:t>DODATNA LITERATURA</a:t>
            </a:r>
            <a:endParaRPr lang="en-GB" dirty="0"/>
          </a:p>
        </p:txBody>
      </p:sp>
      <p:sp>
        <p:nvSpPr>
          <p:cNvPr id="3" name="Segnaposto contenuto 2">
            <a:extLst>
              <a:ext uri="{FF2B5EF4-FFF2-40B4-BE49-F238E27FC236}">
                <a16:creationId xmlns:a16="http://schemas.microsoft.com/office/drawing/2014/main" id="{45C73345-38B0-D7C8-8A12-D88DDB1D5727}"/>
              </a:ext>
            </a:extLst>
          </p:cNvPr>
          <p:cNvSpPr>
            <a:spLocks noGrp="1"/>
          </p:cNvSpPr>
          <p:nvPr>
            <p:ph idx="1"/>
          </p:nvPr>
        </p:nvSpPr>
        <p:spPr>
          <a:xfrm>
            <a:off x="838200" y="2141537"/>
            <a:ext cx="10515600" cy="4351338"/>
          </a:xfrm>
        </p:spPr>
        <p:txBody>
          <a:bodyPr>
            <a:normAutofit/>
          </a:bodyPr>
          <a:lstStyle/>
          <a:p>
            <a:r>
              <a:rPr lang="en-GB" b="1" dirty="0"/>
              <a:t>Disciplined Agile Toolkit - </a:t>
            </a:r>
            <a:r>
              <a:rPr lang="hr-HR" dirty="0"/>
              <a:t>Praktične smjernice za hibridne pristupe kada organizacije i dalje zahtijevaju tradicionalne artefakte. </a:t>
            </a:r>
            <a:r>
              <a:rPr lang="en-GB" dirty="0">
                <a:hlinkClick r:id="rId3"/>
              </a:rPr>
              <a:t>https://www.pmi.org/disciplined-agile</a:t>
            </a:r>
            <a:br>
              <a:rPr lang="en-GB" dirty="0"/>
            </a:br>
            <a:endParaRPr lang="en-GB" dirty="0"/>
          </a:p>
        </p:txBody>
      </p:sp>
    </p:spTree>
    <p:extLst>
      <p:ext uri="{BB962C8B-B14F-4D97-AF65-F5344CB8AC3E}">
        <p14:creationId xmlns:p14="http://schemas.microsoft.com/office/powerpoint/2010/main" val="303166133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87DBDD-44BD-59ED-1B5D-315BF953A5EC}"/>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C03AEAEB-E38E-2EE6-AFA7-35EC375AE941}"/>
              </a:ext>
            </a:extLst>
          </p:cNvPr>
          <p:cNvSpPr>
            <a:spLocks noGrp="1"/>
          </p:cNvSpPr>
          <p:nvPr>
            <p:ph type="title"/>
          </p:nvPr>
        </p:nvSpPr>
        <p:spPr/>
        <p:txBody>
          <a:bodyPr/>
          <a:lstStyle/>
          <a:p>
            <a:r>
              <a:rPr lang="hr-HR" dirty="0"/>
              <a:t>DODATNA LITERATURA</a:t>
            </a:r>
            <a:endParaRPr lang="en-GB" dirty="0"/>
          </a:p>
        </p:txBody>
      </p:sp>
      <p:sp>
        <p:nvSpPr>
          <p:cNvPr id="3" name="Segnaposto contenuto 2">
            <a:extLst>
              <a:ext uri="{FF2B5EF4-FFF2-40B4-BE49-F238E27FC236}">
                <a16:creationId xmlns:a16="http://schemas.microsoft.com/office/drawing/2014/main" id="{0E754391-24FF-36A4-4AC4-6BFD5BD964F9}"/>
              </a:ext>
            </a:extLst>
          </p:cNvPr>
          <p:cNvSpPr>
            <a:spLocks noGrp="1"/>
          </p:cNvSpPr>
          <p:nvPr>
            <p:ph idx="1"/>
          </p:nvPr>
        </p:nvSpPr>
        <p:spPr/>
        <p:txBody>
          <a:bodyPr>
            <a:normAutofit fontScale="92500" lnSpcReduction="10000"/>
          </a:bodyPr>
          <a:lstStyle/>
          <a:p>
            <a:pPr marL="0" indent="0">
              <a:buNone/>
            </a:pPr>
            <a:r>
              <a:rPr lang="hr-HR" u="sng" dirty="0"/>
              <a:t>KNJIGE</a:t>
            </a:r>
            <a:endParaRPr lang="it-IT" u="sng" dirty="0"/>
          </a:p>
          <a:p>
            <a:pPr marL="0" indent="0">
              <a:buNone/>
            </a:pPr>
            <a:endParaRPr lang="it-IT" dirty="0"/>
          </a:p>
          <a:p>
            <a:r>
              <a:rPr lang="en-GB" b="1" i="1" dirty="0"/>
              <a:t>“Actionable Agile Metrics for Predictability”</a:t>
            </a:r>
            <a:r>
              <a:rPr lang="en-GB" b="1" dirty="0"/>
              <a:t> - Daniel S. Vacanti</a:t>
            </a:r>
            <a:br>
              <a:rPr lang="en-GB" dirty="0"/>
            </a:br>
            <a:r>
              <a:rPr lang="hr-HR" dirty="0"/>
              <a:t>Najbolja knjiga za metrike poput </a:t>
            </a:r>
            <a:r>
              <a:rPr lang="hr-HR" dirty="0" err="1"/>
              <a:t>cycle</a:t>
            </a:r>
            <a:r>
              <a:rPr lang="hr-HR" dirty="0"/>
              <a:t> </a:t>
            </a:r>
            <a:r>
              <a:rPr lang="hr-HR" dirty="0" err="1"/>
              <a:t>timea</a:t>
            </a:r>
            <a:r>
              <a:rPr lang="hr-HR" dirty="0"/>
              <a:t>, CFD-a, predviđanja (</a:t>
            </a:r>
            <a:r>
              <a:rPr lang="hr-HR" dirty="0" err="1"/>
              <a:t>forecastinga</a:t>
            </a:r>
            <a:r>
              <a:rPr lang="hr-HR" dirty="0"/>
              <a:t>) i izbjegavanja pogrešne upotrebe metrika.</a:t>
            </a:r>
          </a:p>
          <a:p>
            <a:r>
              <a:rPr lang="en-GB" b="1" i="1" dirty="0"/>
              <a:t>“Accelerate”</a:t>
            </a:r>
            <a:r>
              <a:rPr lang="en-GB" b="1" dirty="0"/>
              <a:t> - Nicole Forsgren, Jez Humble, Gene Kim</a:t>
            </a:r>
            <a:br>
              <a:rPr lang="en-GB" dirty="0"/>
            </a:br>
            <a:r>
              <a:rPr lang="hr-HR" dirty="0"/>
              <a:t>Snažan, na dokazima utemeljen pogled na metrike uspješnosti, brzinu isporuke i kvalitetu.</a:t>
            </a:r>
            <a:endParaRPr lang="en-GB" dirty="0"/>
          </a:p>
          <a:p>
            <a:r>
              <a:rPr lang="en-GB" b="1" i="1" dirty="0"/>
              <a:t>“The Phoenix Project” </a:t>
            </a:r>
            <a:r>
              <a:rPr lang="en-GB" b="1" dirty="0"/>
              <a:t>- Gene Kim, Kevin Behr, George Spafford</a:t>
            </a:r>
            <a:br>
              <a:rPr lang="en-GB" dirty="0"/>
            </a:br>
            <a:r>
              <a:rPr lang="hr-HR" dirty="0"/>
              <a:t>Knjiga temeljena na priči koja čini uska grla, tijek rada i organizacijske neuspjehe vrlo lako razumljivima.</a:t>
            </a:r>
            <a:endParaRPr lang="en-GB" dirty="0"/>
          </a:p>
        </p:txBody>
      </p:sp>
    </p:spTree>
    <p:extLst>
      <p:ext uri="{BB962C8B-B14F-4D97-AF65-F5344CB8AC3E}">
        <p14:creationId xmlns:p14="http://schemas.microsoft.com/office/powerpoint/2010/main" val="181958354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51957B-9AF5-21ED-6260-FC5522D80032}"/>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783D9E65-95E8-5394-FD33-EB2D47E3D11C}"/>
              </a:ext>
            </a:extLst>
          </p:cNvPr>
          <p:cNvSpPr>
            <a:spLocks noGrp="1"/>
          </p:cNvSpPr>
          <p:nvPr>
            <p:ph type="title"/>
          </p:nvPr>
        </p:nvSpPr>
        <p:spPr/>
        <p:txBody>
          <a:bodyPr/>
          <a:lstStyle/>
          <a:p>
            <a:r>
              <a:rPr lang="hr-HR" dirty="0"/>
              <a:t>IZVORI</a:t>
            </a:r>
            <a:endParaRPr lang="en-GB" dirty="0"/>
          </a:p>
        </p:txBody>
      </p:sp>
      <p:sp>
        <p:nvSpPr>
          <p:cNvPr id="3" name="Segnaposto contenuto 2">
            <a:extLst>
              <a:ext uri="{FF2B5EF4-FFF2-40B4-BE49-F238E27FC236}">
                <a16:creationId xmlns:a16="http://schemas.microsoft.com/office/drawing/2014/main" id="{DA33F65C-9E7E-E0C6-4B4C-654048AC4209}"/>
              </a:ext>
            </a:extLst>
          </p:cNvPr>
          <p:cNvSpPr>
            <a:spLocks noGrp="1"/>
          </p:cNvSpPr>
          <p:nvPr>
            <p:ph idx="1"/>
          </p:nvPr>
        </p:nvSpPr>
        <p:spPr>
          <a:xfrm>
            <a:off x="838200" y="2678380"/>
            <a:ext cx="10072955" cy="4351338"/>
          </a:xfrm>
        </p:spPr>
        <p:txBody>
          <a:bodyPr>
            <a:normAutofit/>
          </a:bodyPr>
          <a:lstStyle/>
          <a:p>
            <a:r>
              <a:rPr lang="en-GB" sz="2600" i="1" dirty="0"/>
              <a:t>“Campus Agile Project Management” </a:t>
            </a:r>
            <a:r>
              <a:rPr lang="en-GB" sz="2600" dirty="0"/>
              <a:t>course</a:t>
            </a:r>
            <a:r>
              <a:rPr lang="en-GB" sz="2600" i="1" dirty="0"/>
              <a:t> </a:t>
            </a:r>
            <a:r>
              <a:rPr lang="en-GB" sz="2600" dirty="0"/>
              <a:t>– Fraticelli F., Ferranti P.</a:t>
            </a:r>
          </a:p>
          <a:p>
            <a:pPr eaLnBrk="0" fontAlgn="base" hangingPunct="0">
              <a:lnSpc>
                <a:spcPct val="100000"/>
              </a:lnSpc>
              <a:spcBef>
                <a:spcPct val="0"/>
              </a:spcBef>
              <a:spcAft>
                <a:spcPct val="0"/>
              </a:spcAft>
            </a:pPr>
            <a:r>
              <a:rPr lang="en-US" altLang="en-US" sz="2600" i="1" dirty="0"/>
              <a:t>Disciplined Agile (PMI) </a:t>
            </a:r>
            <a:r>
              <a:rPr lang="en-US" altLang="en-US" sz="2600" dirty="0"/>
              <a:t>- </a:t>
            </a:r>
            <a:r>
              <a:rPr lang="en-US" altLang="en-US" sz="2600" dirty="0">
                <a:hlinkClick r:id="rId3"/>
              </a:rPr>
              <a:t>https://www.pmi.org/disciplined-agile</a:t>
            </a:r>
            <a:endParaRPr lang="en-GB" altLang="en-US" sz="2600" dirty="0"/>
          </a:p>
          <a:p>
            <a:pPr eaLnBrk="0" fontAlgn="base" hangingPunct="0">
              <a:lnSpc>
                <a:spcPct val="100000"/>
              </a:lnSpc>
              <a:spcBef>
                <a:spcPct val="0"/>
              </a:spcBef>
              <a:spcAft>
                <a:spcPct val="0"/>
              </a:spcAft>
            </a:pPr>
            <a:r>
              <a:rPr lang="en-US" altLang="en-US" sz="2600" i="1" dirty="0"/>
              <a:t>Agile Metrics Overview </a:t>
            </a:r>
            <a:r>
              <a:rPr lang="en-US" altLang="en-US" sz="2600" dirty="0"/>
              <a:t>-</a:t>
            </a:r>
            <a:br>
              <a:rPr lang="en-US" altLang="en-US" sz="2600" dirty="0"/>
            </a:br>
            <a:r>
              <a:rPr lang="en-US" altLang="en-US" sz="2600" dirty="0">
                <a:hlinkClick r:id="rId4"/>
              </a:rPr>
              <a:t>https://www.atlassian.com/agile/project-management/metrics</a:t>
            </a:r>
            <a:endParaRPr lang="en-US" altLang="en-US" sz="2600" dirty="0"/>
          </a:p>
          <a:p>
            <a:pPr eaLnBrk="0" fontAlgn="base" hangingPunct="0">
              <a:lnSpc>
                <a:spcPct val="100000"/>
              </a:lnSpc>
              <a:spcBef>
                <a:spcPct val="0"/>
              </a:spcBef>
              <a:spcAft>
                <a:spcPct val="0"/>
              </a:spcAft>
            </a:pPr>
            <a:r>
              <a:rPr lang="en-US" altLang="en-US" sz="2400" i="1" dirty="0"/>
              <a:t>Understanding Agile Metrics </a:t>
            </a:r>
            <a:r>
              <a:rPr lang="en-US" altLang="en-US" sz="2400" dirty="0"/>
              <a:t>-</a:t>
            </a:r>
            <a:br>
              <a:rPr lang="en-US" altLang="en-US" sz="2400" dirty="0"/>
            </a:br>
            <a:r>
              <a:rPr lang="en-US" altLang="en-US" sz="2400" dirty="0">
                <a:hlinkClick r:id="rId5"/>
              </a:rPr>
              <a:t>https://plan.io/blog/burndown-chart-and-agile-metrics/</a:t>
            </a:r>
            <a:endParaRPr lang="en-US" altLang="en-US" sz="2400" dirty="0"/>
          </a:p>
          <a:p>
            <a:pPr eaLnBrk="0" fontAlgn="base" hangingPunct="0">
              <a:lnSpc>
                <a:spcPct val="100000"/>
              </a:lnSpc>
              <a:spcBef>
                <a:spcPct val="0"/>
              </a:spcBef>
              <a:spcAft>
                <a:spcPct val="0"/>
              </a:spcAft>
            </a:pPr>
            <a:r>
              <a:rPr lang="en-US" altLang="en-US" sz="2400" i="1" dirty="0"/>
              <a:t>Agile Metrics </a:t>
            </a:r>
            <a:r>
              <a:rPr lang="en-US" altLang="en-US" sz="2400" dirty="0"/>
              <a:t>-</a:t>
            </a:r>
            <a:br>
              <a:rPr lang="en-US" altLang="en-US" sz="2400" dirty="0"/>
            </a:br>
            <a:r>
              <a:rPr lang="en-US" altLang="en-US" sz="2400" dirty="0">
                <a:hlinkClick r:id="rId6"/>
              </a:rPr>
              <a:t>https://aida.mitre.org/agile/agile-metrics/</a:t>
            </a:r>
            <a:br>
              <a:rPr lang="en-US" altLang="en-US" sz="2400" dirty="0"/>
            </a:br>
            <a:br>
              <a:rPr lang="en-US" altLang="en-US" sz="2400" dirty="0"/>
            </a:br>
            <a:endParaRPr lang="en-US" altLang="en-US" sz="2600" dirty="0"/>
          </a:p>
        </p:txBody>
      </p:sp>
    </p:spTree>
    <p:extLst>
      <p:ext uri="{BB962C8B-B14F-4D97-AF65-F5344CB8AC3E}">
        <p14:creationId xmlns:p14="http://schemas.microsoft.com/office/powerpoint/2010/main" val="181563638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4B4926-E8B5-5D52-D146-13F160E304A5}"/>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0A7F3444-4850-EF06-CA25-6A653FE1E3BF}"/>
              </a:ext>
            </a:extLst>
          </p:cNvPr>
          <p:cNvSpPr>
            <a:spLocks noGrp="1"/>
          </p:cNvSpPr>
          <p:nvPr>
            <p:ph type="title"/>
          </p:nvPr>
        </p:nvSpPr>
        <p:spPr/>
        <p:txBody>
          <a:bodyPr/>
          <a:lstStyle/>
          <a:p>
            <a:r>
              <a:rPr lang="hr-HR"/>
              <a:t>IZVORI</a:t>
            </a:r>
            <a:endParaRPr lang="en-GB" dirty="0"/>
          </a:p>
        </p:txBody>
      </p:sp>
      <p:sp>
        <p:nvSpPr>
          <p:cNvPr id="3" name="Segnaposto contenuto 2">
            <a:extLst>
              <a:ext uri="{FF2B5EF4-FFF2-40B4-BE49-F238E27FC236}">
                <a16:creationId xmlns:a16="http://schemas.microsoft.com/office/drawing/2014/main" id="{9F9F7B78-6585-17C2-1600-C22CDA074153}"/>
              </a:ext>
            </a:extLst>
          </p:cNvPr>
          <p:cNvSpPr>
            <a:spLocks noGrp="1"/>
          </p:cNvSpPr>
          <p:nvPr>
            <p:ph idx="1"/>
          </p:nvPr>
        </p:nvSpPr>
        <p:spPr>
          <a:xfrm>
            <a:off x="838200" y="2485666"/>
            <a:ext cx="10515600" cy="2892579"/>
          </a:xfrm>
        </p:spPr>
        <p:txBody>
          <a:bodyPr>
            <a:normAutofit/>
          </a:bodyPr>
          <a:lstStyle/>
          <a:p>
            <a:r>
              <a:rPr lang="en-GB" sz="2600" i="1" dirty="0"/>
              <a:t>Building Agile Metrics Right </a:t>
            </a:r>
            <a:r>
              <a:rPr lang="en-GB" sz="2600" dirty="0"/>
              <a:t>-</a:t>
            </a:r>
            <a:br>
              <a:rPr lang="en-GB" sz="2600" dirty="0"/>
            </a:br>
            <a:r>
              <a:rPr lang="en-GB" sz="2600" dirty="0">
                <a:hlinkClick r:id="rId3"/>
              </a:rPr>
              <a:t>https://www.ijtrd.com/papers/IJTRD28553.pdf</a:t>
            </a:r>
            <a:endParaRPr lang="en-GB" sz="2600" dirty="0"/>
          </a:p>
          <a:p>
            <a:r>
              <a:rPr lang="en-GB" sz="2600" i="1" dirty="0"/>
              <a:t>Agile Metrics Summary </a:t>
            </a:r>
            <a:r>
              <a:rPr lang="en-GB" sz="2600" dirty="0"/>
              <a:t>-</a:t>
            </a:r>
            <a:br>
              <a:rPr lang="en-GB" sz="2600" dirty="0"/>
            </a:br>
            <a:r>
              <a:rPr lang="en-GB" sz="2600" dirty="0">
                <a:hlinkClick r:id="rId4"/>
              </a:rPr>
              <a:t>https://www.slideshare.net/slideshow/agile-metrics-50873631/50873631</a:t>
            </a:r>
            <a:endParaRPr lang="en-GB" sz="2600" dirty="0"/>
          </a:p>
          <a:p>
            <a:r>
              <a:rPr lang="en-GB" sz="2600" i="1" dirty="0"/>
              <a:t>How to Measure Performance in Agile </a:t>
            </a:r>
            <a:r>
              <a:rPr lang="en-GB" sz="2600" dirty="0"/>
              <a:t>-</a:t>
            </a:r>
            <a:br>
              <a:rPr lang="en-GB" sz="2600" dirty="0"/>
            </a:br>
            <a:r>
              <a:rPr lang="en-GB" sz="2600" dirty="0">
                <a:hlinkClick r:id="rId5"/>
              </a:rPr>
              <a:t>https://arxiv.org/pdf/2407.06357.pdf</a:t>
            </a:r>
            <a:endParaRPr lang="en-GB" sz="2600" dirty="0"/>
          </a:p>
          <a:p>
            <a:pPr marL="0" indent="0">
              <a:buNone/>
            </a:pPr>
            <a:endParaRPr lang="en-GB" dirty="0"/>
          </a:p>
        </p:txBody>
      </p:sp>
    </p:spTree>
    <p:extLst>
      <p:ext uri="{BB962C8B-B14F-4D97-AF65-F5344CB8AC3E}">
        <p14:creationId xmlns:p14="http://schemas.microsoft.com/office/powerpoint/2010/main" val="3234354589"/>
      </p:ext>
    </p:extLst>
  </p:cSld>
  <p:clrMapOvr>
    <a:masterClrMapping/>
  </p:clrMapOvr>
</p:sld>
</file>

<file path=ppt/theme/theme1.xml><?xml version="1.0" encoding="utf-8"?>
<a:theme xmlns:a="http://schemas.openxmlformats.org/drawingml/2006/main" name="Tema sustava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1082</TotalTime>
  <Words>11050</Words>
  <Application>Microsoft Office PowerPoint</Application>
  <PresentationFormat>Široki zaslon</PresentationFormat>
  <Paragraphs>877</Paragraphs>
  <Slides>56</Slides>
  <Notes>55</Notes>
  <HiddenSlides>0</HiddenSlides>
  <MMClips>0</MMClips>
  <ScaleCrop>false</ScaleCrop>
  <HeadingPairs>
    <vt:vector size="6" baseType="variant">
      <vt:variant>
        <vt:lpstr>Korišteni fontovi</vt:lpstr>
      </vt:variant>
      <vt:variant>
        <vt:i4>7</vt:i4>
      </vt:variant>
      <vt:variant>
        <vt:lpstr>Tema</vt:lpstr>
      </vt:variant>
      <vt:variant>
        <vt:i4>1</vt:i4>
      </vt:variant>
      <vt:variant>
        <vt:lpstr>Naslovi slajdova</vt:lpstr>
      </vt:variant>
      <vt:variant>
        <vt:i4>56</vt:i4>
      </vt:variant>
    </vt:vector>
  </HeadingPairs>
  <TitlesOfParts>
    <vt:vector size="64" baseType="lpstr">
      <vt:lpstr>Arial</vt:lpstr>
      <vt:lpstr>Bahnschrift</vt:lpstr>
      <vt:lpstr>Bahnschrift SemiBold</vt:lpstr>
      <vt:lpstr>Bahnschrift SemiLight</vt:lpstr>
      <vt:lpstr>Calibri</vt:lpstr>
      <vt:lpstr>Calibri Light</vt:lpstr>
      <vt:lpstr>Montserrat</vt:lpstr>
      <vt:lpstr>Tema sustava Office</vt:lpstr>
      <vt:lpstr>SHIFT4IT</vt:lpstr>
      <vt:lpstr>Mjerenje uspješnosti i sprječavanje neuspjeha</vt:lpstr>
      <vt:lpstr>Sažetak</vt:lpstr>
      <vt:lpstr>Uvod</vt:lpstr>
      <vt:lpstr>Uvod</vt:lpstr>
      <vt:lpstr>Uvod</vt:lpstr>
      <vt:lpstr>Kako mjeriti uspješnost</vt:lpstr>
      <vt:lpstr>Velocity: ključna metrika</vt:lpstr>
      <vt:lpstr>Velocity chart</vt:lpstr>
      <vt:lpstr>Velocity chart</vt:lpstr>
      <vt:lpstr>Burndown chart</vt:lpstr>
      <vt:lpstr>Burnup chart</vt:lpstr>
      <vt:lpstr>Cumulative Flow Diagram (CFD)</vt:lpstr>
      <vt:lpstr>Cumulative Flow Diagram (CFD)</vt:lpstr>
      <vt:lpstr>Cumulative Flow Diagram (CFD)</vt:lpstr>
      <vt:lpstr>Epic i release burndown</vt:lpstr>
      <vt:lpstr>Epic i release burndown</vt:lpstr>
      <vt:lpstr>Control chart</vt:lpstr>
      <vt:lpstr>Ostale metrike</vt:lpstr>
      <vt:lpstr>Ostale metrike</vt:lpstr>
      <vt:lpstr>Kako izbjeći neuspjeh</vt:lpstr>
      <vt:lpstr>Kako izbjeći neuspjeh</vt:lpstr>
      <vt:lpstr>Najčešći uzroci neuspjeha</vt:lpstr>
      <vt:lpstr>Najčešći uzroci neuspjeha</vt:lpstr>
      <vt:lpstr>Najčešći uzroci neuspjeha</vt:lpstr>
      <vt:lpstr>Najčešći uzroci neuspjeha</vt:lpstr>
      <vt:lpstr>Model upravljanja promjenama</vt:lpstr>
      <vt:lpstr>Usvajanje Agilea naspram Agile transformacije</vt:lpstr>
      <vt:lpstr>Usvajanje Agilea naspram Agile transformacije</vt:lpstr>
      <vt:lpstr>Usklađivanje Waterfall i Agile pristupa</vt:lpstr>
      <vt:lpstr>Izrada Gantt dijagrama iz kartica</vt:lpstr>
      <vt:lpstr>Digitalni alat: TeamGantt</vt:lpstr>
      <vt:lpstr>Digitalni alat: OpenProject</vt:lpstr>
      <vt:lpstr>Praćenje napretka kroz ciljeve sprinta</vt:lpstr>
      <vt:lpstr>Praćenje napretka kroz ciljeve sprinta</vt:lpstr>
      <vt:lpstr>Scrum of scrums</vt:lpstr>
      <vt:lpstr>Scrum of scrums</vt:lpstr>
      <vt:lpstr>Scrum proizvoda/projekta</vt:lpstr>
      <vt:lpstr>Korporativni Scrum</vt:lpstr>
      <vt:lpstr>Višestruki Scrumovi</vt:lpstr>
      <vt:lpstr>Višestruki Scrumovi</vt:lpstr>
      <vt:lpstr>Višestruki Scrumovi</vt:lpstr>
      <vt:lpstr>Višestruki Scrumovi</vt:lpstr>
      <vt:lpstr>Višestruki Scrumovi</vt:lpstr>
      <vt:lpstr>Višestruki Scrumovi</vt:lpstr>
      <vt:lpstr>Višestruki Scrumovi</vt:lpstr>
      <vt:lpstr>Višestruki Scrumovi</vt:lpstr>
      <vt:lpstr>Višestruki Scrumovi</vt:lpstr>
      <vt:lpstr>Popis za provjeru (Checklist) za Scrum Mastera</vt:lpstr>
      <vt:lpstr>Popis za provjeru (Checklist) za Scrum Mastera</vt:lpstr>
      <vt:lpstr>Popis za provjeru (Checklist) za Scrum Mastera</vt:lpstr>
      <vt:lpstr>DODATNA LITERATURA</vt:lpstr>
      <vt:lpstr>DODATNA LITERATURA</vt:lpstr>
      <vt:lpstr>DODATNA LITERATURA</vt:lpstr>
      <vt:lpstr>IZVORI</vt:lpstr>
      <vt:lpstr>IZVORI</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prezentacija</dc:title>
  <dc:creator>Božica Bajčić</dc:creator>
  <cp:lastModifiedBy>Diana Predrag Grlica</cp:lastModifiedBy>
  <cp:revision>164</cp:revision>
  <dcterms:created xsi:type="dcterms:W3CDTF">2024-02-12T13:35:47Z</dcterms:created>
  <dcterms:modified xsi:type="dcterms:W3CDTF">2026-04-22T12:47:07Z</dcterms:modified>
</cp:coreProperties>
</file>
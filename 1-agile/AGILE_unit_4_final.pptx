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340" r:id="rId2"/>
    <p:sldId id="256" r:id="rId3"/>
    <p:sldId id="257" r:id="rId4"/>
    <p:sldId id="327" r:id="rId5"/>
    <p:sldId id="330" r:id="rId6"/>
    <p:sldId id="329" r:id="rId7"/>
    <p:sldId id="258" r:id="rId8"/>
    <p:sldId id="261" r:id="rId9"/>
    <p:sldId id="264" r:id="rId10"/>
    <p:sldId id="266" r:id="rId11"/>
    <p:sldId id="267" r:id="rId12"/>
    <p:sldId id="278" r:id="rId13"/>
    <p:sldId id="279" r:id="rId14"/>
    <p:sldId id="280" r:id="rId15"/>
    <p:sldId id="281" r:id="rId16"/>
    <p:sldId id="282" r:id="rId17"/>
    <p:sldId id="339" r:id="rId18"/>
    <p:sldId id="285" r:id="rId19"/>
    <p:sldId id="286" r:id="rId20"/>
    <p:sldId id="287" r:id="rId21"/>
    <p:sldId id="259" r:id="rId22"/>
    <p:sldId id="288" r:id="rId23"/>
    <p:sldId id="289" r:id="rId24"/>
    <p:sldId id="290" r:id="rId25"/>
    <p:sldId id="291" r:id="rId26"/>
    <p:sldId id="292" r:id="rId27"/>
    <p:sldId id="293" r:id="rId28"/>
    <p:sldId id="294" r:id="rId29"/>
    <p:sldId id="295" r:id="rId30"/>
    <p:sldId id="260" r:id="rId31"/>
    <p:sldId id="296" r:id="rId32"/>
    <p:sldId id="298" r:id="rId33"/>
    <p:sldId id="302" r:id="rId34"/>
    <p:sldId id="303" r:id="rId35"/>
    <p:sldId id="304" r:id="rId36"/>
    <p:sldId id="305" r:id="rId37"/>
    <p:sldId id="306" r:id="rId38"/>
    <p:sldId id="309" r:id="rId39"/>
    <p:sldId id="310" r:id="rId40"/>
    <p:sldId id="311" r:id="rId41"/>
    <p:sldId id="312" r:id="rId42"/>
    <p:sldId id="313" r:id="rId43"/>
    <p:sldId id="316" r:id="rId44"/>
    <p:sldId id="317" r:id="rId45"/>
    <p:sldId id="318" r:id="rId46"/>
    <p:sldId id="319" r:id="rId47"/>
    <p:sldId id="320" r:id="rId48"/>
    <p:sldId id="322" r:id="rId49"/>
    <p:sldId id="324" r:id="rId50"/>
    <p:sldId id="325" r:id="rId51"/>
    <p:sldId id="326" r:id="rId52"/>
    <p:sldId id="331" r:id="rId53"/>
    <p:sldId id="333" r:id="rId54"/>
    <p:sldId id="334" r:id="rId55"/>
    <p:sldId id="335" r:id="rId56"/>
    <p:sldId id="338" r:id="rId57"/>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56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2785" autoAdjust="0"/>
  </p:normalViewPr>
  <p:slideViewPr>
    <p:cSldViewPr snapToGrid="0">
      <p:cViewPr varScale="1">
        <p:scale>
          <a:sx n="57" d="100"/>
          <a:sy n="57" d="100"/>
        </p:scale>
        <p:origin x="2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279437-FEB8-43EE-BF89-18AB5DF26EC5}" type="datetimeFigureOut">
              <a:rPr lang="en-GB" smtClean="0"/>
              <a:t>19/02/2026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233AA-5D9D-4B19-AE31-9919BB97DFE7}" type="slidenum">
              <a:rPr lang="en-GB" smtClean="0"/>
              <a:t>‹N›</a:t>
            </a:fld>
            <a:endParaRPr lang="en-GB"/>
          </a:p>
        </p:txBody>
      </p:sp>
    </p:spTree>
    <p:extLst>
      <p:ext uri="{BB962C8B-B14F-4D97-AF65-F5344CB8AC3E}">
        <p14:creationId xmlns:p14="http://schemas.microsoft.com/office/powerpoint/2010/main" val="523883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a:t>
            </a:fld>
            <a:endParaRPr lang="en-GB"/>
          </a:p>
        </p:txBody>
      </p:sp>
    </p:spTree>
    <p:extLst>
      <p:ext uri="{BB962C8B-B14F-4D97-AF65-F5344CB8AC3E}">
        <p14:creationId xmlns:p14="http://schemas.microsoft.com/office/powerpoint/2010/main" val="3225169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b="1" i="1" dirty="0"/>
              <a:t>Facilitator notes</a:t>
            </a:r>
            <a:endParaRPr b="1" i="1" dirty="0"/>
          </a:p>
          <a:p>
            <a:endParaRPr dirty="0"/>
          </a:p>
          <a:p>
            <a:r>
              <a:rPr dirty="0"/>
              <a:t>Introduce Unit 4 and frame it as the </a:t>
            </a:r>
            <a:r>
              <a:rPr lang="it-IT" dirty="0"/>
              <a:t>"</a:t>
            </a:r>
            <a:r>
              <a:rPr dirty="0"/>
              <a:t>control &amp; sustainability</a:t>
            </a:r>
            <a:r>
              <a:rPr lang="it-IT" dirty="0"/>
              <a:t>"</a:t>
            </a:r>
            <a:r>
              <a:rPr dirty="0"/>
              <a:t> part of Agile PM: using metrics to understand delivery, spotting risks early, and improving continuously.</a:t>
            </a:r>
          </a:p>
          <a:p>
            <a:endParaRPr dirty="0"/>
          </a:p>
          <a:p>
            <a:r>
              <a:rPr dirty="0"/>
              <a:t>Walk through the three sections:</a:t>
            </a:r>
          </a:p>
          <a:p>
            <a:pPr marL="171450" indent="-171450">
              <a:buFont typeface="Arial" panose="020B0604020202020204" pitchFamily="34" charset="0"/>
              <a:buChar char="•"/>
            </a:pPr>
            <a:r>
              <a:rPr dirty="0"/>
              <a:t>Metrics </a:t>
            </a:r>
            <a:r>
              <a:rPr lang="it-IT" dirty="0"/>
              <a:t>and</a:t>
            </a:r>
            <a:r>
              <a:rPr dirty="0"/>
              <a:t> measurement tools (what to track and how to read charts)</a:t>
            </a:r>
          </a:p>
          <a:p>
            <a:pPr marL="171450" indent="-171450">
              <a:buFont typeface="Arial" panose="020B0604020202020204" pitchFamily="34" charset="0"/>
              <a:buChar char="•"/>
            </a:pPr>
            <a:r>
              <a:rPr dirty="0"/>
              <a:t>Why Agile fails (organizational causes and change management)</a:t>
            </a:r>
          </a:p>
          <a:p>
            <a:pPr marL="171450" indent="-171450">
              <a:buFont typeface="Arial" panose="020B0604020202020204" pitchFamily="34" charset="0"/>
              <a:buChar char="•"/>
            </a:pPr>
            <a:r>
              <a:rPr dirty="0"/>
              <a:t>Hybrid / reconciling Agile &amp; Waterfall (practical coexistence)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Set expectations: learners will not just learn charts, but also how to avoid metric misuse and how to connect measurement to improvement.</a:t>
            </a:r>
          </a:p>
          <a:p>
            <a:endParaRPr dirty="0"/>
          </a:p>
          <a:p>
            <a:r>
              <a:rPr dirty="0"/>
              <a:t>Paraphrase the slide into a simple narrative:</a:t>
            </a:r>
          </a:p>
          <a:p>
            <a:pPr marL="171450" indent="-171450">
              <a:buFont typeface="Arial" panose="020B0604020202020204" pitchFamily="34" charset="0"/>
              <a:buChar char="•"/>
            </a:pPr>
            <a:r>
              <a:rPr dirty="0"/>
              <a:t>We measure delivery capability (velocity, cycle time, predictability).</a:t>
            </a:r>
          </a:p>
          <a:p>
            <a:pPr marL="171450" indent="-171450">
              <a:buFont typeface="Arial" panose="020B0604020202020204" pitchFamily="34" charset="0"/>
              <a:buChar char="•"/>
            </a:pPr>
            <a:r>
              <a:rPr dirty="0"/>
              <a:t>We visualize flow to see bottlenecks and scope changes.</a:t>
            </a:r>
          </a:p>
          <a:p>
            <a:pPr marL="171450" indent="-171450">
              <a:buFont typeface="Arial" panose="020B0604020202020204" pitchFamily="34" charset="0"/>
              <a:buChar char="•"/>
            </a:pPr>
            <a:r>
              <a:rPr dirty="0"/>
              <a:t>We use the evidence in retrospectives to improve.</a:t>
            </a:r>
          </a:p>
          <a:p>
            <a:endParaRPr dirty="0"/>
          </a:p>
          <a:p>
            <a:r>
              <a:rPr dirty="0"/>
              <a:t>Stress that metrics are tools for improvement, not surveillance.</a:t>
            </a:r>
          </a:p>
          <a:p>
            <a:endParaRPr lang="it-IT" dirty="0"/>
          </a:p>
          <a:p>
            <a:r>
              <a:rPr dirty="0"/>
              <a:t>Highlight that interpretation matters more than the metric itself.</a:t>
            </a:r>
          </a:p>
          <a:p>
            <a:endParaRPr lang="it-IT"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a:t>
            </a:fld>
            <a:endParaRPr lang="en-GB"/>
          </a:p>
        </p:txBody>
      </p:sp>
    </p:spTree>
    <p:extLst>
      <p:ext uri="{BB962C8B-B14F-4D97-AF65-F5344CB8AC3E}">
        <p14:creationId xmlns:p14="http://schemas.microsoft.com/office/powerpoint/2010/main" val="2067087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Learners may fear metrics will be used for control. Reassure: in Agile, metrics serve the team and the system, not individual surveillance.</a:t>
            </a:r>
          </a:p>
          <a:p>
            <a:endParaRPr dirty="0"/>
          </a:p>
          <a:p>
            <a:r>
              <a:rPr dirty="0"/>
              <a:t>Stress that metrics without culture do not create change.</a:t>
            </a:r>
            <a:endParaRPr lang="it-IT" dirty="0"/>
          </a:p>
          <a:p>
            <a:endParaRPr lang="it-IT" dirty="0"/>
          </a:p>
          <a:p>
            <a:r>
              <a:rPr lang="en-GB" dirty="0"/>
              <a:t>Highlight the link between measurement → feedback → improvement.</a:t>
            </a:r>
          </a:p>
          <a:p>
            <a:endParaRPr lang="en-GB" dirty="0"/>
          </a:p>
          <a:p>
            <a:r>
              <a:rPr lang="en-GB" dirty="0"/>
              <a:t>Reinforce that Waterfall vs Agile is not a binary choice.</a:t>
            </a:r>
          </a:p>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5</a:t>
            </a:fld>
            <a:endParaRPr lang="en-GB"/>
          </a:p>
        </p:txBody>
      </p:sp>
    </p:spTree>
    <p:extLst>
      <p:ext uri="{BB962C8B-B14F-4D97-AF65-F5344CB8AC3E}">
        <p14:creationId xmlns:p14="http://schemas.microsoft.com/office/powerpoint/2010/main" val="1845772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6</a:t>
            </a:fld>
            <a:endParaRPr lang="en-GB"/>
          </a:p>
        </p:txBody>
      </p:sp>
    </p:spTree>
    <p:extLst>
      <p:ext uri="{BB962C8B-B14F-4D97-AF65-F5344CB8AC3E}">
        <p14:creationId xmlns:p14="http://schemas.microsoft.com/office/powerpoint/2010/main" val="153347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i="1" dirty="0"/>
              <a:t>Facilitator notes</a:t>
            </a:r>
          </a:p>
          <a:p>
            <a:endParaRPr lang="en-GB" dirty="0"/>
          </a:p>
          <a:p>
            <a:r>
              <a:rPr lang="en-GB" u="sng" dirty="0"/>
              <a:t>Additional resources</a:t>
            </a:r>
          </a:p>
          <a:p>
            <a:r>
              <a:rPr lang="en-GB" dirty="0"/>
              <a:t>https://www.atlassian.com/agile/project-management/metrics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Define velocity as a </a:t>
            </a:r>
            <a:r>
              <a:rPr lang="it-IT" dirty="0"/>
              <a:t>"</a:t>
            </a:r>
            <a:r>
              <a:rPr dirty="0"/>
              <a:t>team-level</a:t>
            </a:r>
            <a:r>
              <a:rPr lang="it-IT" dirty="0"/>
              <a:t>"</a:t>
            </a:r>
            <a:r>
              <a:rPr dirty="0"/>
              <a:t> measure of completed work per sprint/cycle, used mainly for forecasting.</a:t>
            </a:r>
          </a:p>
          <a:p>
            <a:endParaRPr dirty="0"/>
          </a:p>
          <a:p>
            <a:r>
              <a:rPr dirty="0"/>
              <a:t>Emphasize:</a:t>
            </a:r>
          </a:p>
          <a:p>
            <a:pPr marL="171450" indent="-171450">
              <a:buFont typeface="Arial" panose="020B0604020202020204" pitchFamily="34" charset="0"/>
              <a:buChar char="•"/>
            </a:pPr>
            <a:r>
              <a:rPr dirty="0"/>
              <a:t>Velocity is historical evidence, not a goal.</a:t>
            </a:r>
          </a:p>
          <a:p>
            <a:pPr marL="171450" indent="-171450">
              <a:buFont typeface="Arial" panose="020B0604020202020204" pitchFamily="34" charset="0"/>
              <a:buChar char="•"/>
            </a:pPr>
            <a:r>
              <a:rPr dirty="0"/>
              <a:t>It only works if </a:t>
            </a:r>
            <a:r>
              <a:rPr lang="it-IT" dirty="0"/>
              <a:t>"</a:t>
            </a:r>
            <a:r>
              <a:rPr dirty="0"/>
              <a:t>Done</a:t>
            </a:r>
            <a:r>
              <a:rPr lang="it-IT" dirty="0"/>
              <a:t>"</a:t>
            </a:r>
            <a:r>
              <a:rPr dirty="0"/>
              <a:t> is consistent and work units are comparable.</a:t>
            </a:r>
          </a:p>
          <a:p>
            <a:pPr marL="171450" indent="-171450">
              <a:buFont typeface="Arial" panose="020B0604020202020204" pitchFamily="34" charset="0"/>
              <a:buChar char="•"/>
            </a:pPr>
            <a:r>
              <a:rPr dirty="0"/>
              <a:t>Use averages/trends over several sprints, not single-sprint fluctuations.</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it-IT" dirty="0"/>
              <a:t>https://www.izenbridge.com/blog/velocity-in-agile-scrum/</a:t>
            </a:r>
          </a:p>
          <a:p>
            <a:pPr marL="171450" indent="-171450">
              <a:buFont typeface="Arial" panose="020B0604020202020204" pitchFamily="34" charset="0"/>
              <a:buChar char="•"/>
            </a:pPr>
            <a:r>
              <a:rPr lang="it-IT" dirty="0"/>
              <a:t>https://www.atlassian.com/agile/project-management/velocity-scrum</a:t>
            </a:r>
          </a:p>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8</a:t>
            </a:fld>
            <a:endParaRPr lang="en-GB"/>
          </a:p>
        </p:txBody>
      </p:sp>
    </p:spTree>
    <p:extLst>
      <p:ext uri="{BB962C8B-B14F-4D97-AF65-F5344CB8AC3E}">
        <p14:creationId xmlns:p14="http://schemas.microsoft.com/office/powerpoint/2010/main" val="363300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endParaRPr b="1" i="1" dirty="0"/>
          </a:p>
          <a:p>
            <a:endParaRPr dirty="0"/>
          </a:p>
          <a:p>
            <a:r>
              <a:rPr dirty="0"/>
              <a:t>Common misconception to address:</a:t>
            </a:r>
            <a:r>
              <a:rPr lang="it-IT" dirty="0"/>
              <a:t> v</a:t>
            </a:r>
            <a:r>
              <a:rPr dirty="0" err="1"/>
              <a:t>elocity</a:t>
            </a:r>
            <a:r>
              <a:rPr dirty="0"/>
              <a:t> is not a productivity score for individuals; using it that way leads to gaming and lower quality.</a:t>
            </a:r>
          </a:p>
          <a:p>
            <a:endParaRPr lang="it-IT" dirty="0"/>
          </a:p>
          <a:p>
            <a:pPr marL="0" indent="0">
              <a:buFont typeface="Arial" panose="020B0604020202020204" pitchFamily="34" charset="0"/>
              <a:buNone/>
            </a:pPr>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https://axify.io/blog/velocity-chart</a:t>
            </a:r>
          </a:p>
          <a:p>
            <a:pPr marL="171450" indent="-171450">
              <a:buFont typeface="Arial" panose="020B0604020202020204" pitchFamily="34" charset="0"/>
              <a:buChar char="•"/>
            </a:pPr>
            <a:r>
              <a:rPr lang="en-GB" dirty="0"/>
              <a:t>https://nextagile.ai/blogs/agile/velocity-chart-in-agile/</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9</a:t>
            </a:fld>
            <a:endParaRPr lang="en-GB"/>
          </a:p>
        </p:txBody>
      </p:sp>
    </p:spTree>
    <p:extLst>
      <p:ext uri="{BB962C8B-B14F-4D97-AF65-F5344CB8AC3E}">
        <p14:creationId xmlns:p14="http://schemas.microsoft.com/office/powerpoint/2010/main" val="2959474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10</a:t>
            </a:fld>
            <a:endParaRPr lang="en-GB"/>
          </a:p>
        </p:txBody>
      </p:sp>
    </p:spTree>
    <p:extLst>
      <p:ext uri="{BB962C8B-B14F-4D97-AF65-F5344CB8AC3E}">
        <p14:creationId xmlns:p14="http://schemas.microsoft.com/office/powerpoint/2010/main" val="2308140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Explain burndown charts as a way to visualize remaining work over time and detect risk early.</a:t>
            </a:r>
          </a:p>
          <a:p>
            <a:endParaRPr dirty="0"/>
          </a:p>
          <a:p>
            <a:r>
              <a:rPr dirty="0"/>
              <a:t>Clarify axes (work remaining vs time) and what patterns mean:</a:t>
            </a:r>
          </a:p>
          <a:p>
            <a:pPr marL="171450" indent="-171450">
              <a:buFont typeface="Arial" panose="020B0604020202020204" pitchFamily="34" charset="0"/>
              <a:buChar char="•"/>
            </a:pPr>
            <a:r>
              <a:rPr lang="it-IT" dirty="0"/>
              <a:t>S</a:t>
            </a:r>
            <a:r>
              <a:rPr dirty="0" err="1"/>
              <a:t>teady</a:t>
            </a:r>
            <a:r>
              <a:rPr dirty="0"/>
              <a:t> downward line </a:t>
            </a:r>
            <a:r>
              <a:rPr lang="en-GB" dirty="0"/>
              <a:t>→</a:t>
            </a:r>
            <a:r>
              <a:rPr dirty="0"/>
              <a:t> healthy progress</a:t>
            </a:r>
            <a:r>
              <a:rPr lang="it-IT" dirty="0"/>
              <a:t>.</a:t>
            </a:r>
            <a:endParaRPr dirty="0"/>
          </a:p>
          <a:p>
            <a:pPr marL="171450" indent="-171450">
              <a:buFont typeface="Arial" panose="020B0604020202020204" pitchFamily="34" charset="0"/>
              <a:buChar char="•"/>
            </a:pPr>
            <a:r>
              <a:rPr lang="it-IT" dirty="0"/>
              <a:t>F</a:t>
            </a:r>
            <a:r>
              <a:rPr dirty="0" err="1"/>
              <a:t>lat</a:t>
            </a:r>
            <a:r>
              <a:rPr dirty="0"/>
              <a:t> segments </a:t>
            </a:r>
            <a:r>
              <a:rPr lang="en-GB" dirty="0"/>
              <a:t>→</a:t>
            </a:r>
            <a:r>
              <a:rPr dirty="0"/>
              <a:t> blockers/no completion</a:t>
            </a:r>
            <a:r>
              <a:rPr lang="it-IT" dirty="0"/>
              <a:t>.</a:t>
            </a:r>
            <a:endParaRPr dirty="0"/>
          </a:p>
          <a:p>
            <a:pPr marL="171450" indent="-171450">
              <a:buFont typeface="Arial" panose="020B0604020202020204" pitchFamily="34" charset="0"/>
              <a:buChar char="•"/>
            </a:pPr>
            <a:r>
              <a:rPr lang="it-IT" dirty="0"/>
              <a:t>U</a:t>
            </a:r>
            <a:r>
              <a:rPr dirty="0" err="1"/>
              <a:t>pward</a:t>
            </a:r>
            <a:r>
              <a:rPr dirty="0"/>
              <a:t> bumps </a:t>
            </a:r>
            <a:r>
              <a:rPr lang="en-GB" dirty="0"/>
              <a:t>→</a:t>
            </a:r>
            <a:r>
              <a:rPr dirty="0"/>
              <a:t> scope added or rework.</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it-IT" dirty="0"/>
              <a:t>https://www.projectmanager.com/blog/burndown-chart-what-is-it</a:t>
            </a:r>
          </a:p>
          <a:p>
            <a:pPr marL="171450" indent="-171450">
              <a:buFont typeface="Arial" panose="020B0604020202020204" pitchFamily="34" charset="0"/>
              <a:buChar char="•"/>
            </a:pPr>
            <a:r>
              <a:rPr lang="it-IT" dirty="0"/>
              <a:t>https://www.zenhub.com/blog-posts/tracking-sprint-progress-with-scrum-burndown-charts</a:t>
            </a:r>
          </a:p>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11</a:t>
            </a:fld>
            <a:endParaRPr lang="en-GB"/>
          </a:p>
        </p:txBody>
      </p:sp>
    </p:spTree>
    <p:extLst>
      <p:ext uri="{BB962C8B-B14F-4D97-AF65-F5344CB8AC3E}">
        <p14:creationId xmlns:p14="http://schemas.microsoft.com/office/powerpoint/2010/main" val="1756531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Explain burnup as the </a:t>
            </a:r>
            <a:r>
              <a:rPr lang="it-IT" dirty="0"/>
              <a:t>"</a:t>
            </a:r>
            <a:r>
              <a:rPr dirty="0"/>
              <a:t>mirror</a:t>
            </a:r>
            <a:r>
              <a:rPr lang="it-IT" dirty="0"/>
              <a:t>"</a:t>
            </a:r>
            <a:r>
              <a:rPr dirty="0"/>
              <a:t> of burndown: it shows completed work and can make scope changes more visible.</a:t>
            </a:r>
          </a:p>
          <a:p>
            <a:endParaRPr dirty="0"/>
          </a:p>
          <a:p>
            <a:r>
              <a:rPr dirty="0"/>
              <a:t>Emphasize:</a:t>
            </a:r>
          </a:p>
          <a:p>
            <a:pPr marL="171450" indent="-171450">
              <a:buFont typeface="Arial" panose="020B0604020202020204" pitchFamily="34" charset="0"/>
              <a:buChar char="•"/>
            </a:pPr>
            <a:r>
              <a:rPr dirty="0"/>
              <a:t>Burnup rises as work is completed.</a:t>
            </a:r>
          </a:p>
          <a:p>
            <a:pPr marL="171450" indent="-171450">
              <a:buFont typeface="Arial" panose="020B0604020202020204" pitchFamily="34" charset="0"/>
              <a:buChar char="•"/>
            </a:pPr>
            <a:r>
              <a:rPr dirty="0"/>
              <a:t>When scope changes, a second line (total scope) is often used to show the moving target.</a:t>
            </a:r>
          </a:p>
          <a:p>
            <a:endParaRPr dirty="0"/>
          </a:p>
          <a:p>
            <a:r>
              <a:rPr dirty="0"/>
              <a:t>If the slide critiques predictive utility, discuss when burnup is still useful: communicating progress and making scope creep explicit.</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https://www.projectmanagement.com/blog-post/40731/burndown-vs-burnup-chart#_</a:t>
            </a:r>
          </a:p>
          <a:p>
            <a:pPr marL="171450" indent="-171450">
              <a:buFont typeface="Arial" panose="020B0604020202020204" pitchFamily="34" charset="0"/>
              <a:buChar char="•"/>
            </a:pPr>
            <a:r>
              <a:rPr lang="en-GB" dirty="0"/>
              <a:t>https://clickup.com/blog/burnup-chart-vs-burndown-chart/?utm_source=google&amp;utm_medium=cpc&amp;utm_campaign=gs_cpc_emea-eea_nnc_nb_trial_all-devices_troas_lp_x_all-departments_x_project-management-agile_v2&amp;utm_content=all-countries_kw-target_text_x_all-features_all-use-cases_agile-software-development&amp;utm_term=agile%20development&amp;utm_creative=757775424637_product1_rsa&amp;utm_custom1=&amp;utm_custom2=&amp;utm_lptheme=&amp;utm_lpmod=&amp;utm_mt=p&amp;gad_source=1&amp;gad_campaignid=22660917507&amp;gbraid=0AAAAACR5vILcJmFtajy_tDrQkdY-jnze3&amp;gclid=Cj0KCQiA49XMBhDRARIsAOOKJHYf8efy6kK5kRGrewpvG4A-izeihBH4XfAiEUSpllUWrPGbdXhqnXgaAusREALw_wcB</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12</a:t>
            </a:fld>
            <a:endParaRPr lang="en-GB"/>
          </a:p>
        </p:txBody>
      </p:sp>
    </p:spTree>
    <p:extLst>
      <p:ext uri="{BB962C8B-B14F-4D97-AF65-F5344CB8AC3E}">
        <p14:creationId xmlns:p14="http://schemas.microsoft.com/office/powerpoint/2010/main" val="2338843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Teach CFD as a flow diagnostic tool: it shows how work accumulates in each state over time.</a:t>
            </a:r>
          </a:p>
          <a:p>
            <a:endParaRPr lang="it-IT" dirty="0"/>
          </a:p>
          <a:p>
            <a:r>
              <a:rPr dirty="0"/>
              <a:t>Key messages to emphasize:</a:t>
            </a:r>
          </a:p>
          <a:p>
            <a:pPr marL="171450" indent="-171450">
              <a:buFont typeface="Arial" panose="020B0604020202020204" pitchFamily="34" charset="0"/>
              <a:buChar char="•"/>
            </a:pPr>
            <a:r>
              <a:rPr dirty="0"/>
              <a:t>CFD helps see bottlenecks earlier than burndown.</a:t>
            </a:r>
          </a:p>
          <a:p>
            <a:pPr marL="171450" indent="-171450">
              <a:buFont typeface="Arial" panose="020B0604020202020204" pitchFamily="34" charset="0"/>
              <a:buChar char="•"/>
            </a:pPr>
            <a:r>
              <a:rPr dirty="0"/>
              <a:t>It supports robust decisions (where to add help, where to limit intake).</a:t>
            </a:r>
          </a:p>
          <a:p>
            <a:endParaRPr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dirty="0"/>
              <a:t>https://www.excella.com/insights/burndown-chart-vs-cumulative-flow-diagram-cfd</a:t>
            </a:r>
            <a:endParaRPr lang="it-IT" dirty="0"/>
          </a:p>
          <a:p>
            <a:pPr marL="171450" indent="-171450">
              <a:buFont typeface="Arial" panose="020B0604020202020204" pitchFamily="34" charset="0"/>
              <a:buChar char="•"/>
            </a:pPr>
            <a:r>
              <a:rPr lang="en-GB" dirty="0"/>
              <a:t>https://kanbantool.com/cumulative-flow-diagram</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13</a:t>
            </a:fld>
            <a:endParaRPr lang="en-GB"/>
          </a:p>
        </p:txBody>
      </p:sp>
    </p:spTree>
    <p:extLst>
      <p:ext uri="{BB962C8B-B14F-4D97-AF65-F5344CB8AC3E}">
        <p14:creationId xmlns:p14="http://schemas.microsoft.com/office/powerpoint/2010/main" val="1357173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fontAlgn="base"/>
            <a:r>
              <a:rPr lang="en-GB" sz="1200" b="1" i="1" kern="1200" dirty="0">
                <a:solidFill>
                  <a:schemeClr val="tx1"/>
                </a:solidFill>
                <a:effectLst/>
                <a:latin typeface="+mn-lt"/>
                <a:ea typeface="+mn-ea"/>
                <a:cs typeface="+mn-cs"/>
              </a:rPr>
              <a:t>Facilitator notes</a:t>
            </a:r>
          </a:p>
          <a:p>
            <a:pPr fontAlgn="base"/>
            <a:endParaRPr lang="en-GB" sz="1200" b="0" i="0" kern="1200" dirty="0">
              <a:solidFill>
                <a:schemeClr val="tx1"/>
              </a:solidFill>
              <a:effectLst/>
              <a:latin typeface="+mn-lt"/>
              <a:ea typeface="+mn-ea"/>
              <a:cs typeface="+mn-cs"/>
            </a:endParaRPr>
          </a:p>
          <a:p>
            <a:pPr fontAlgn="base"/>
            <a:r>
              <a:rPr lang="en-GB" sz="1200" b="0" i="0" kern="1200" dirty="0">
                <a:solidFill>
                  <a:schemeClr val="tx1"/>
                </a:solidFill>
                <a:effectLst/>
                <a:latin typeface="+mn-lt"/>
                <a:ea typeface="+mn-ea"/>
                <a:cs typeface="+mn-cs"/>
              </a:rPr>
              <a:t>We are now visualizing the amount of Work In Progress (WIP) at each interval. WIP is a critical concept in lean and agile thinking and focusing on it can dramatically improve a team’s ability to produce. The vertical height of each band is the amount of items (WIP) in that stage.</a:t>
            </a:r>
          </a:p>
          <a:p>
            <a:pPr fontAlgn="base"/>
            <a:endParaRPr lang="en-GB" sz="1200" b="0" i="0" kern="1200" dirty="0">
              <a:solidFill>
                <a:schemeClr val="tx1"/>
              </a:solidFill>
              <a:effectLst/>
              <a:latin typeface="+mn-lt"/>
              <a:ea typeface="+mn-ea"/>
              <a:cs typeface="+mn-cs"/>
            </a:endParaRPr>
          </a:p>
          <a:p>
            <a:pPr fontAlgn="base"/>
            <a:r>
              <a:rPr lang="en-GB" sz="1200" b="0" i="0" kern="1200" dirty="0">
                <a:solidFill>
                  <a:schemeClr val="tx1"/>
                </a:solidFill>
                <a:effectLst/>
                <a:latin typeface="+mn-lt"/>
                <a:ea typeface="+mn-ea"/>
                <a:cs typeface="+mn-cs"/>
              </a:rPr>
              <a:t>CFD also expose our average cycle time (the amount of time it takes, on average, for an item to get from one stage to another. Cycle time is often a critical measure of success since downstream stakeholders or customers often put a very high premium on responsiveness, i.e., how long it takes from the moment they submit a request to the moment it is fulfilled. </a:t>
            </a:r>
          </a:p>
          <a:p>
            <a:pPr fontAlgn="base"/>
            <a:endParaRPr lang="en-GB" sz="1200" b="0" i="0" kern="1200" dirty="0">
              <a:solidFill>
                <a:schemeClr val="tx1"/>
              </a:solidFill>
              <a:effectLst/>
              <a:latin typeface="+mn-lt"/>
              <a:ea typeface="+mn-ea"/>
              <a:cs typeface="+mn-cs"/>
            </a:endParaRPr>
          </a:p>
          <a:p>
            <a:pPr marL="0" indent="0" fontAlgn="base">
              <a:buFont typeface="Arial" panose="020B0604020202020204" pitchFamily="34" charset="0"/>
              <a:buNone/>
            </a:pPr>
            <a:r>
              <a:rPr lang="en-GB" u="sng" dirty="0"/>
              <a:t>Additional resources</a:t>
            </a:r>
            <a:endParaRPr lang="en-GB" dirty="0"/>
          </a:p>
          <a:p>
            <a:pPr marL="171450" indent="-171450" fontAlgn="base">
              <a:buFont typeface="Arial" panose="020B0604020202020204" pitchFamily="34" charset="0"/>
              <a:buChar char="•"/>
            </a:pPr>
            <a:r>
              <a:rPr lang="en-GB" dirty="0"/>
              <a:t>https://www.youtube.com/watch?v=t8zUD6UrzXU</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14</a:t>
            </a:fld>
            <a:endParaRPr lang="en-GB"/>
          </a:p>
        </p:txBody>
      </p:sp>
    </p:spTree>
    <p:extLst>
      <p:ext uri="{BB962C8B-B14F-4D97-AF65-F5344CB8AC3E}">
        <p14:creationId xmlns:p14="http://schemas.microsoft.com/office/powerpoint/2010/main" val="3042477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endParaRPr b="1" i="1" dirty="0"/>
          </a:p>
          <a:p>
            <a:endParaRPr dirty="0"/>
          </a:p>
          <a:p>
            <a:r>
              <a:rPr dirty="0"/>
              <a:t>Explain colored bands as workflow stages. The key interpretation is the *width* of each band:</a:t>
            </a:r>
          </a:p>
          <a:p>
            <a:pPr marL="171450" indent="-171450">
              <a:buFont typeface="Arial" panose="020B0604020202020204" pitchFamily="34" charset="0"/>
              <a:buChar char="•"/>
            </a:pPr>
            <a:r>
              <a:rPr lang="it-IT" dirty="0"/>
              <a:t>W</a:t>
            </a:r>
            <a:r>
              <a:rPr dirty="0" err="1"/>
              <a:t>idening</a:t>
            </a:r>
            <a:r>
              <a:rPr dirty="0"/>
              <a:t> band </a:t>
            </a:r>
            <a:r>
              <a:rPr lang="en-GB" dirty="0"/>
              <a:t>→</a:t>
            </a:r>
            <a:r>
              <a:rPr dirty="0"/>
              <a:t> bottleneck forming,</a:t>
            </a:r>
          </a:p>
          <a:p>
            <a:pPr marL="171450" indent="-171450">
              <a:buFont typeface="Arial" panose="020B0604020202020204" pitchFamily="34" charset="0"/>
              <a:buChar char="•"/>
            </a:pPr>
            <a:r>
              <a:rPr lang="it-IT" dirty="0"/>
              <a:t>S</a:t>
            </a:r>
            <a:r>
              <a:rPr dirty="0"/>
              <a:t>table bands </a:t>
            </a:r>
            <a:r>
              <a:rPr lang="en-GB" dirty="0"/>
              <a:t>→</a:t>
            </a:r>
            <a:r>
              <a:rPr dirty="0"/>
              <a:t> balanced flow,</a:t>
            </a:r>
          </a:p>
          <a:p>
            <a:pPr marL="171450" indent="-171450">
              <a:buFont typeface="Arial" panose="020B0604020202020204" pitchFamily="34" charset="0"/>
              <a:buChar char="•"/>
            </a:pPr>
            <a:r>
              <a:rPr lang="it-IT" dirty="0"/>
              <a:t>N</a:t>
            </a:r>
            <a:r>
              <a:rPr dirty="0"/>
              <a:t>arrowing </a:t>
            </a:r>
            <a:r>
              <a:rPr lang="en-GB" dirty="0"/>
              <a:t>→</a:t>
            </a:r>
            <a:r>
              <a:rPr dirty="0"/>
              <a:t> clearing backlog.</a:t>
            </a:r>
          </a:p>
          <a:p>
            <a:endParaRPr dirty="0"/>
          </a:p>
          <a:p>
            <a:r>
              <a:rPr dirty="0"/>
              <a:t>Key messages to emphasize:</a:t>
            </a:r>
          </a:p>
          <a:p>
            <a:pPr marL="171450" indent="-171450">
              <a:buFont typeface="Arial" panose="020B0604020202020204" pitchFamily="34" charset="0"/>
              <a:buChar char="•"/>
            </a:pPr>
            <a:r>
              <a:rPr dirty="0"/>
              <a:t>CFD helps see bottlenecks earlier than burndown.</a:t>
            </a:r>
          </a:p>
          <a:p>
            <a:pPr marL="171450" indent="-171450">
              <a:buFont typeface="Arial" panose="020B0604020202020204" pitchFamily="34" charset="0"/>
              <a:buChar char="•"/>
            </a:pPr>
            <a:r>
              <a:rPr dirty="0"/>
              <a:t>It supports robust decisions (where to add help, where to limit intake).</a:t>
            </a:r>
          </a:p>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15</a:t>
            </a:fld>
            <a:endParaRPr lang="en-GB"/>
          </a:p>
        </p:txBody>
      </p:sp>
    </p:spTree>
    <p:extLst>
      <p:ext uri="{BB962C8B-B14F-4D97-AF65-F5344CB8AC3E}">
        <p14:creationId xmlns:p14="http://schemas.microsoft.com/office/powerpoint/2010/main" val="1791186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Explain burndown charts as a way to visualize remaining work over time and detect risk early.</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https://linearb.io/blog/release-burndown-chart</a:t>
            </a:r>
          </a:p>
          <a:p>
            <a:pPr marL="171450" indent="-171450">
              <a:buFont typeface="Arial" panose="020B0604020202020204" pitchFamily="34" charset="0"/>
              <a:buChar char="•"/>
            </a:pPr>
            <a:r>
              <a:rPr lang="en-GB" dirty="0"/>
              <a:t>https://appfire.com/resources/blog/why-epic-burndowns-are-important</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16</a:t>
            </a:fld>
            <a:endParaRPr lang="en-GB"/>
          </a:p>
        </p:txBody>
      </p:sp>
    </p:spTree>
    <p:extLst>
      <p:ext uri="{BB962C8B-B14F-4D97-AF65-F5344CB8AC3E}">
        <p14:creationId xmlns:p14="http://schemas.microsoft.com/office/powerpoint/2010/main" val="1741924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5220E-6E1F-15D9-165C-F051D793C1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5670677-E862-37E8-9DEE-7276DDC9B5F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30D2146-EC61-659D-E2CC-739BD777F2D3}"/>
              </a:ext>
            </a:extLst>
          </p:cNvPr>
          <p:cNvSpPr>
            <a:spLocks noGrp="1"/>
          </p:cNvSpPr>
          <p:nvPr>
            <p:ph type="body" idx="1"/>
          </p:nvPr>
        </p:nvSpPr>
        <p:spPr/>
        <p:txBody>
          <a:bodyPr/>
          <a:lstStyle/>
          <a:p>
            <a:r>
              <a:rPr lang="it-IT" b="1" i="1" dirty="0"/>
              <a:t>Facilitator notes</a:t>
            </a:r>
            <a:endParaRPr b="1" i="1" dirty="0"/>
          </a:p>
          <a:p>
            <a:endParaRPr dirty="0"/>
          </a:p>
          <a:p>
            <a:r>
              <a:rPr dirty="0"/>
              <a:t>Burndown is most useful when scope is reasonably stable within a sprint; otherwise it will look </a:t>
            </a:r>
            <a:r>
              <a:rPr lang="it-IT" dirty="0"/>
              <a:t>"</a:t>
            </a:r>
            <a:r>
              <a:rPr dirty="0"/>
              <a:t>messy</a:t>
            </a:r>
            <a:r>
              <a:rPr lang="it-IT" dirty="0"/>
              <a:t>"</a:t>
            </a:r>
            <a:r>
              <a:rPr dirty="0"/>
              <a:t> and can demotivate.</a:t>
            </a:r>
          </a:p>
          <a:p>
            <a:endParaRPr lang="en-GB" dirty="0"/>
          </a:p>
          <a:p>
            <a:r>
              <a:rPr lang="en-GB" u="sng" dirty="0"/>
              <a:t>Additional resource</a:t>
            </a:r>
          </a:p>
          <a:p>
            <a:pPr marL="171450" indent="-171450">
              <a:buFont typeface="Arial" panose="020B0604020202020204" pitchFamily="34" charset="0"/>
              <a:buChar char="•"/>
            </a:pPr>
            <a:r>
              <a:rPr lang="en-GB" dirty="0"/>
              <a:t>https://www.ube.ac.uk/whats-happening/articles/scope-creep/</a:t>
            </a:r>
          </a:p>
        </p:txBody>
      </p:sp>
      <p:sp>
        <p:nvSpPr>
          <p:cNvPr id="4" name="Segnaposto numero diapositiva 3">
            <a:extLst>
              <a:ext uri="{FF2B5EF4-FFF2-40B4-BE49-F238E27FC236}">
                <a16:creationId xmlns:a16="http://schemas.microsoft.com/office/drawing/2014/main" id="{39D52A64-F665-9B90-C78F-B5790AC99244}"/>
              </a:ext>
            </a:extLst>
          </p:cNvPr>
          <p:cNvSpPr>
            <a:spLocks noGrp="1"/>
          </p:cNvSpPr>
          <p:nvPr>
            <p:ph type="sldNum" sz="quarter" idx="5"/>
          </p:nvPr>
        </p:nvSpPr>
        <p:spPr/>
        <p:txBody>
          <a:bodyPr/>
          <a:lstStyle/>
          <a:p>
            <a:fld id="{E93233AA-5D9D-4B19-AE31-9919BB97DFE7}" type="slidenum">
              <a:rPr lang="en-GB" smtClean="0"/>
              <a:t>17</a:t>
            </a:fld>
            <a:endParaRPr lang="en-GB"/>
          </a:p>
        </p:txBody>
      </p:sp>
    </p:spTree>
    <p:extLst>
      <p:ext uri="{BB962C8B-B14F-4D97-AF65-F5344CB8AC3E}">
        <p14:creationId xmlns:p14="http://schemas.microsoft.com/office/powerpoint/2010/main" val="2792325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Introduce control charts as a way to monitor cycle time (how long items take from start to finish).</a:t>
            </a:r>
          </a:p>
          <a:p>
            <a:endParaRPr dirty="0"/>
          </a:p>
          <a:p>
            <a:r>
              <a:rPr dirty="0"/>
              <a:t>Explain what </a:t>
            </a:r>
            <a:r>
              <a:rPr lang="it-IT" dirty="0"/>
              <a:t>"</a:t>
            </a:r>
            <a:r>
              <a:rPr dirty="0"/>
              <a:t>good</a:t>
            </a:r>
            <a:r>
              <a:rPr lang="it-IT" dirty="0"/>
              <a:t>"</a:t>
            </a:r>
            <a:r>
              <a:rPr dirty="0"/>
              <a:t> looks like:</a:t>
            </a:r>
          </a:p>
          <a:p>
            <a:pPr marL="171450" indent="-171450">
              <a:buFont typeface="Arial" panose="020B0604020202020204" pitchFamily="34" charset="0"/>
              <a:buChar char="•"/>
            </a:pPr>
            <a:r>
              <a:rPr lang="it-IT" dirty="0"/>
              <a:t>S</a:t>
            </a:r>
            <a:r>
              <a:rPr dirty="0" err="1"/>
              <a:t>hort</a:t>
            </a:r>
            <a:r>
              <a:rPr dirty="0"/>
              <a:t> cycle time </a:t>
            </a:r>
            <a:r>
              <a:rPr lang="en-GB" dirty="0"/>
              <a:t>→</a:t>
            </a:r>
            <a:r>
              <a:rPr dirty="0"/>
              <a:t> faster delivery</a:t>
            </a:r>
          </a:p>
          <a:p>
            <a:pPr marL="171450" indent="-171450">
              <a:buFont typeface="Arial" panose="020B0604020202020204" pitchFamily="34" charset="0"/>
              <a:buChar char="•"/>
            </a:pPr>
            <a:r>
              <a:rPr lang="it-IT" dirty="0"/>
              <a:t>C</a:t>
            </a:r>
            <a:r>
              <a:rPr dirty="0" err="1"/>
              <a:t>onsistent</a:t>
            </a:r>
            <a:r>
              <a:rPr dirty="0"/>
              <a:t> cycle time </a:t>
            </a:r>
            <a:r>
              <a:rPr lang="en-GB" dirty="0"/>
              <a:t>→</a:t>
            </a:r>
            <a:r>
              <a:rPr dirty="0"/>
              <a:t> predictability</a:t>
            </a:r>
            <a:endParaRPr lang="it-IT" dirty="0"/>
          </a:p>
          <a:p>
            <a:pPr marL="171450" indent="-171450">
              <a:buFont typeface="Arial" panose="020B0604020202020204" pitchFamily="34" charset="0"/>
              <a:buChar char="•"/>
            </a:pPr>
            <a:endParaRPr lang="it-IT" dirty="0"/>
          </a:p>
          <a:p>
            <a:pPr marL="0" indent="0">
              <a:buFont typeface="Arial" panose="020B0604020202020204" pitchFamily="34" charset="0"/>
              <a:buNone/>
            </a:pPr>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https://leanagiletools.com/control-chart/</a:t>
            </a:r>
          </a:p>
          <a:p>
            <a:pPr marL="171450" indent="-171450">
              <a:buFont typeface="Arial" panose="020B0604020202020204" pitchFamily="34" charset="0"/>
              <a:buChar char="•"/>
            </a:pPr>
            <a:r>
              <a:rPr lang="en-GB" dirty="0"/>
              <a:t>https://medium.com/design-bootcamp/agile-lesson-17-control-charts-what-they-are-and-how-to-spot-the-trouble-early-402d649abd35</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18</a:t>
            </a:fld>
            <a:endParaRPr lang="en-GB"/>
          </a:p>
        </p:txBody>
      </p:sp>
    </p:spTree>
    <p:extLst>
      <p:ext uri="{BB962C8B-B14F-4D97-AF65-F5344CB8AC3E}">
        <p14:creationId xmlns:p14="http://schemas.microsoft.com/office/powerpoint/2010/main" val="3265542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Broaden beyond speed: quality and reliability matter, otherwise ‘faster’ becomes ‘faster rework’.</a:t>
            </a:r>
          </a:p>
          <a:p>
            <a:endParaRPr lang="it-IT" dirty="0"/>
          </a:p>
          <a:p>
            <a:r>
              <a:rPr dirty="0"/>
              <a:t>Explain a balanced view:</a:t>
            </a:r>
          </a:p>
          <a:p>
            <a:pPr marL="171450" indent="-171450">
              <a:buFont typeface="Arial" panose="020B0604020202020204" pitchFamily="34" charset="0"/>
              <a:buChar char="•"/>
            </a:pPr>
            <a:r>
              <a:rPr dirty="0"/>
              <a:t>Quality indicators (defects, support requests, test coverage)</a:t>
            </a:r>
          </a:p>
          <a:p>
            <a:pPr marL="171450" indent="-171450">
              <a:buFont typeface="Arial" panose="020B0604020202020204" pitchFamily="34" charset="0"/>
              <a:buChar char="•"/>
            </a:pPr>
            <a:r>
              <a:rPr dirty="0"/>
              <a:t>Delivery indicators (release frequency, lead time)</a:t>
            </a:r>
          </a:p>
          <a:p>
            <a:pPr marL="171450" indent="-171450">
              <a:buFont typeface="Arial" panose="020B0604020202020204" pitchFamily="34" charset="0"/>
              <a:buChar char="•"/>
            </a:pPr>
            <a:r>
              <a:rPr dirty="0"/>
              <a:t>Difficulty indicators (deployment pain, rollback frequency)</a:t>
            </a:r>
          </a:p>
          <a:p>
            <a:endParaRPr dirty="0"/>
          </a:p>
          <a:p>
            <a:r>
              <a:rPr dirty="0"/>
              <a:t>Encourage teams to pick a small set of metrics that answer specific questions; too many metrics dilute focus.</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https://axify.io/blog/agile-metrics</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19</a:t>
            </a:fld>
            <a:endParaRPr lang="en-GB"/>
          </a:p>
        </p:txBody>
      </p:sp>
    </p:spTree>
    <p:extLst>
      <p:ext uri="{BB962C8B-B14F-4D97-AF65-F5344CB8AC3E}">
        <p14:creationId xmlns:p14="http://schemas.microsoft.com/office/powerpoint/2010/main" val="22196668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20</a:t>
            </a:fld>
            <a:endParaRPr lang="en-GB"/>
          </a:p>
        </p:txBody>
      </p:sp>
    </p:spTree>
    <p:extLst>
      <p:ext uri="{BB962C8B-B14F-4D97-AF65-F5344CB8AC3E}">
        <p14:creationId xmlns:p14="http://schemas.microsoft.com/office/powerpoint/2010/main" val="36326849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GB" b="1" i="1" dirty="0"/>
              <a:t>Facilitator notes</a:t>
            </a:r>
          </a:p>
          <a:p>
            <a:endParaRPr lang="en-GB" dirty="0"/>
          </a:p>
          <a:p>
            <a:r>
              <a:rPr lang="en-GB" dirty="0"/>
              <a:t>Transition from tools to organizational reality: Agile fails more often due to culture and leadership than due to boards and ceremonies.</a:t>
            </a:r>
          </a:p>
          <a:p>
            <a:endParaRPr lang="en-GB" dirty="0"/>
          </a:p>
          <a:p>
            <a:r>
              <a:rPr lang="en-GB" dirty="0"/>
              <a:t>Frame the discussion as ‘risk prevention’: if we know common failure patterns, we can proactively mitigate them.</a:t>
            </a:r>
          </a:p>
          <a:p>
            <a:endParaRPr lang="en-GB" dirty="0"/>
          </a:p>
          <a:p>
            <a:r>
              <a:rPr lang="en-GB" u="sng" dirty="0"/>
              <a:t>Additional resources</a:t>
            </a:r>
          </a:p>
          <a:p>
            <a:pPr marL="171450" indent="-171450">
              <a:buFont typeface="Arial" panose="020B0604020202020204" pitchFamily="34" charset="0"/>
              <a:buChar char="•"/>
            </a:pPr>
            <a:r>
              <a:rPr lang="en-GB" dirty="0"/>
              <a:t>https://www.scrum.org/resources/blog/why-agile-transformations-sometimes-fail</a:t>
            </a:r>
          </a:p>
        </p:txBody>
      </p:sp>
      <p:sp>
        <p:nvSpPr>
          <p:cNvPr id="4" name="Segnaposto numero diapositiva 3"/>
          <p:cNvSpPr>
            <a:spLocks noGrp="1"/>
          </p:cNvSpPr>
          <p:nvPr>
            <p:ph type="sldNum" sz="quarter" idx="5"/>
          </p:nvPr>
        </p:nvSpPr>
        <p:spPr/>
        <p:txBody>
          <a:bodyPr/>
          <a:lstStyle/>
          <a:p>
            <a:fld id="{E93233AA-5D9D-4B19-AE31-9919BB97DFE7}" type="slidenum">
              <a:rPr lang="en-GB" smtClean="0"/>
              <a:t>22</a:t>
            </a:fld>
            <a:endParaRPr lang="en-GB"/>
          </a:p>
        </p:txBody>
      </p:sp>
    </p:spTree>
    <p:extLst>
      <p:ext uri="{BB962C8B-B14F-4D97-AF65-F5344CB8AC3E}">
        <p14:creationId xmlns:p14="http://schemas.microsoft.com/office/powerpoint/2010/main" val="520030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t>Ask</a:t>
            </a:r>
            <a:r>
              <a:rPr lang="it-IT" dirty="0"/>
              <a:t> </a:t>
            </a:r>
            <a:r>
              <a:rPr lang="it-IT" dirty="0" err="1"/>
              <a:t>learners</a:t>
            </a:r>
            <a:r>
              <a:rPr lang="it-IT" dirty="0"/>
              <a:t>: </a:t>
            </a:r>
            <a:r>
              <a:rPr lang="en-GB" dirty="0"/>
              <a:t>”</a:t>
            </a:r>
            <a:r>
              <a:rPr dirty="0"/>
              <a:t>Which theme is most risk</a:t>
            </a:r>
            <a:r>
              <a:rPr lang="it-IT" dirty="0"/>
              <a:t>y</a:t>
            </a:r>
            <a:r>
              <a:rPr dirty="0"/>
              <a:t>, and what would be a first mitigation step?”</a:t>
            </a:r>
          </a:p>
          <a:p>
            <a:endParaRPr lang="it-IT" dirty="0"/>
          </a:p>
          <a:p>
            <a:r>
              <a:rPr lang="it-IT" i="0" u="sng" dirty="0" err="1"/>
              <a:t>Additional</a:t>
            </a:r>
            <a:r>
              <a:rPr lang="it-IT" i="0" u="sng" dirty="0"/>
              <a:t> </a:t>
            </a:r>
            <a:r>
              <a:rPr lang="it-IT" i="0" u="sng" dirty="0" err="1"/>
              <a:t>resources</a:t>
            </a:r>
            <a:endParaRPr lang="it-IT" i="0" u="sng"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https://www.inflectra.com/Ideas/Whitepaper/Agile-Transformation-Failure-Due-To-Management-Debt.aspx</a:t>
            </a:r>
          </a:p>
          <a:p>
            <a:pPr marL="171450" indent="-171450">
              <a:buFont typeface="Arial" panose="020B0604020202020204" pitchFamily="34" charset="0"/>
              <a:buChar char="•"/>
            </a:pPr>
            <a:r>
              <a:rPr lang="en-GB" dirty="0"/>
              <a:t>https://premieragile.com/why-agile-transformations-fail/</a:t>
            </a:r>
          </a:p>
          <a:p>
            <a:pPr marL="171450" indent="-171450">
              <a:buFont typeface="Arial" panose="020B0604020202020204" pitchFamily="34" charset="0"/>
              <a:buChar char="•"/>
            </a:pPr>
            <a:r>
              <a:rPr lang="en-GB" dirty="0"/>
              <a:t>https://www.youtube.com/watch?v=4uB7z5ol-T0</a:t>
            </a:r>
          </a:p>
          <a:p>
            <a:pPr marL="171450" indent="-171450">
              <a:buFont typeface="Arial" panose="020B0604020202020204" pitchFamily="34" charset="0"/>
              <a:buChar char="•"/>
            </a:pPr>
            <a:r>
              <a:rPr lang="en-GB" dirty="0"/>
              <a:t>https://docs.broadcom.com/doc/recognizing-the-twelve-failure-modes-in-agile-transformation</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23</a:t>
            </a:fld>
            <a:endParaRPr lang="en-GB"/>
          </a:p>
        </p:txBody>
      </p:sp>
    </p:spTree>
    <p:extLst>
      <p:ext uri="{BB962C8B-B14F-4D97-AF65-F5344CB8AC3E}">
        <p14:creationId xmlns:p14="http://schemas.microsoft.com/office/powerpoint/2010/main" val="6462501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endParaRPr b="1" i="1" dirty="0"/>
          </a:p>
          <a:p>
            <a:endParaRPr lang="en-GB" dirty="0"/>
          </a:p>
          <a:p>
            <a:r>
              <a:rPr lang="en-GB" dirty="0"/>
              <a:t>Don’t rush the list. Cluster causes into themes:</a:t>
            </a:r>
          </a:p>
          <a:p>
            <a:pPr marL="171450" indent="-171450">
              <a:buFont typeface="Arial" panose="020B0604020202020204" pitchFamily="34" charset="0"/>
              <a:buChar char="•"/>
            </a:pPr>
            <a:r>
              <a:rPr lang="en-GB" dirty="0"/>
              <a:t>Culture &amp; leadership</a:t>
            </a:r>
          </a:p>
          <a:p>
            <a:pPr marL="171450" indent="-171450">
              <a:buFont typeface="Arial" panose="020B0604020202020204" pitchFamily="34" charset="0"/>
              <a:buChar char="•"/>
            </a:pPr>
            <a:r>
              <a:rPr lang="en-GB" dirty="0"/>
              <a:t>Capability &amp; training</a:t>
            </a:r>
          </a:p>
          <a:p>
            <a:pPr marL="171450" indent="-171450">
              <a:buFont typeface="Arial" panose="020B0604020202020204" pitchFamily="34" charset="0"/>
              <a:buChar char="•"/>
            </a:pPr>
            <a:r>
              <a:rPr lang="en-GB" dirty="0"/>
              <a:t>Interfaces with non-Agile parts of the organization</a:t>
            </a:r>
          </a:p>
          <a:p>
            <a:pPr marL="171450" indent="-171450">
              <a:buFont typeface="Arial" panose="020B0604020202020204" pitchFamily="34" charset="0"/>
              <a:buChar char="•"/>
            </a:pPr>
            <a:r>
              <a:rPr lang="en-GB" dirty="0"/>
              <a:t>Communication and team dynamics</a:t>
            </a:r>
          </a:p>
        </p:txBody>
      </p:sp>
      <p:sp>
        <p:nvSpPr>
          <p:cNvPr id="4" name="Segnaposto numero diapositiva 3"/>
          <p:cNvSpPr>
            <a:spLocks noGrp="1"/>
          </p:cNvSpPr>
          <p:nvPr>
            <p:ph type="sldNum" sz="quarter" idx="5"/>
          </p:nvPr>
        </p:nvSpPr>
        <p:spPr/>
        <p:txBody>
          <a:bodyPr/>
          <a:lstStyle/>
          <a:p>
            <a:fld id="{E93233AA-5D9D-4B19-AE31-9919BB97DFE7}" type="slidenum">
              <a:rPr lang="en-GB" smtClean="0"/>
              <a:t>24</a:t>
            </a:fld>
            <a:endParaRPr lang="en-GB"/>
          </a:p>
        </p:txBody>
      </p:sp>
    </p:spTree>
    <p:extLst>
      <p:ext uri="{BB962C8B-B14F-4D97-AF65-F5344CB8AC3E}">
        <p14:creationId xmlns:p14="http://schemas.microsoft.com/office/powerpoint/2010/main" val="32571386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26</a:t>
            </a:fld>
            <a:endParaRPr lang="en-GB"/>
          </a:p>
        </p:txBody>
      </p:sp>
    </p:spTree>
    <p:extLst>
      <p:ext uri="{BB962C8B-B14F-4D97-AF65-F5344CB8AC3E}">
        <p14:creationId xmlns:p14="http://schemas.microsoft.com/office/powerpoint/2010/main" val="31822678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Provide a simple change-management lens: when key ingredients are missing, change outcomes fail.</a:t>
            </a:r>
          </a:p>
          <a:p>
            <a:endParaRPr dirty="0"/>
          </a:p>
          <a:p>
            <a:r>
              <a:rPr dirty="0"/>
              <a:t>Walk through the model and translate it:</a:t>
            </a:r>
          </a:p>
          <a:p>
            <a:pPr marL="171450" indent="-171450">
              <a:buFont typeface="Arial" panose="020B0604020202020204" pitchFamily="34" charset="0"/>
              <a:buChar char="•"/>
            </a:pPr>
            <a:r>
              <a:rPr dirty="0"/>
              <a:t>Vision (why)</a:t>
            </a:r>
          </a:p>
          <a:p>
            <a:pPr marL="171450" indent="-171450">
              <a:buFont typeface="Arial" panose="020B0604020202020204" pitchFamily="34" charset="0"/>
              <a:buChar char="•"/>
            </a:pPr>
            <a:r>
              <a:rPr dirty="0"/>
              <a:t>Skills (how)</a:t>
            </a:r>
          </a:p>
          <a:p>
            <a:pPr marL="171450" indent="-171450">
              <a:buFont typeface="Arial" panose="020B0604020202020204" pitchFamily="34" charset="0"/>
              <a:buChar char="•"/>
            </a:pPr>
            <a:r>
              <a:rPr dirty="0"/>
              <a:t>Incentives (motivation)</a:t>
            </a:r>
            <a:endParaRPr lang="it-IT" dirty="0"/>
          </a:p>
          <a:p>
            <a:pPr marL="171450" indent="-171450">
              <a:buFont typeface="Arial" panose="020B0604020202020204" pitchFamily="34" charset="0"/>
              <a:buChar char="•"/>
            </a:pPr>
            <a:r>
              <a:rPr dirty="0"/>
              <a:t>Resources (capacity)</a:t>
            </a:r>
          </a:p>
          <a:p>
            <a:pPr marL="171450" indent="-171450">
              <a:buFont typeface="Arial" panose="020B0604020202020204" pitchFamily="34" charset="0"/>
              <a:buChar char="•"/>
            </a:pPr>
            <a:r>
              <a:rPr dirty="0"/>
              <a:t>Action plan (steps)</a:t>
            </a:r>
          </a:p>
          <a:p>
            <a:endParaRPr lang="it-IT" dirty="0"/>
          </a:p>
          <a:p>
            <a:r>
              <a:rPr dirty="0"/>
              <a:t>Missing any element creates predictable failure mode</a:t>
            </a:r>
            <a:r>
              <a:rPr lang="it-IT" dirty="0"/>
              <a:t>l</a:t>
            </a:r>
            <a:r>
              <a:rPr dirty="0"/>
              <a:t>s</a:t>
            </a:r>
            <a:r>
              <a:rPr lang="it-IT" dirty="0"/>
              <a:t>!</a:t>
            </a:r>
            <a:endParaRPr dirty="0"/>
          </a:p>
          <a:p>
            <a:endParaRPr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https://whoek.com/b/knoster_managing-change.html</a:t>
            </a:r>
            <a:endParaRPr dirty="0"/>
          </a:p>
          <a:p>
            <a:pPr marL="171450" indent="-171450">
              <a:buFont typeface="Arial" panose="020B0604020202020204" pitchFamily="34" charset="0"/>
              <a:buChar char="•"/>
            </a:pPr>
            <a:r>
              <a:rPr lang="en-GB" dirty="0"/>
              <a:t>https://agilityportal.io/blog/knoster-model-for-change?tmpl=component&amp;print=1&amp;format=print</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27</a:t>
            </a:fld>
            <a:endParaRPr lang="en-GB"/>
          </a:p>
        </p:txBody>
      </p:sp>
    </p:spTree>
    <p:extLst>
      <p:ext uri="{BB962C8B-B14F-4D97-AF65-F5344CB8AC3E}">
        <p14:creationId xmlns:p14="http://schemas.microsoft.com/office/powerpoint/2010/main" val="1316964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Clarify the difference between doing Agile practices and becoming an Agile organization.</a:t>
            </a:r>
          </a:p>
          <a:p>
            <a:endParaRPr dirty="0"/>
          </a:p>
          <a:p>
            <a:r>
              <a:rPr dirty="0"/>
              <a:t>Use simple definitions:</a:t>
            </a:r>
          </a:p>
          <a:p>
            <a:pPr marL="171450" indent="-171450">
              <a:buFont typeface="Arial" panose="020B0604020202020204" pitchFamily="34" charset="0"/>
              <a:buChar char="•"/>
            </a:pPr>
            <a:r>
              <a:rPr dirty="0"/>
              <a:t>Adoption </a:t>
            </a:r>
            <a:r>
              <a:rPr lang="en-GB" dirty="0"/>
              <a:t>→</a:t>
            </a:r>
            <a:r>
              <a:rPr dirty="0"/>
              <a:t> using tools/ceremonies aligned with Agile principles.</a:t>
            </a:r>
          </a:p>
          <a:p>
            <a:pPr marL="171450" indent="-171450">
              <a:buFont typeface="Arial" panose="020B0604020202020204" pitchFamily="34" charset="0"/>
              <a:buChar char="•"/>
            </a:pPr>
            <a:r>
              <a:rPr dirty="0"/>
              <a:t>Transformation</a:t>
            </a:r>
            <a:r>
              <a:rPr lang="it-IT" dirty="0"/>
              <a:t> </a:t>
            </a:r>
            <a:r>
              <a:rPr lang="en-GB" dirty="0"/>
              <a:t>→</a:t>
            </a:r>
            <a:r>
              <a:rPr dirty="0"/>
              <a:t> changing culture, structures, incentives, and decision-making.</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https://www.agilesherpas.com/blog/agile-transformation-vs-agile-adoption</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28</a:t>
            </a:fld>
            <a:endParaRPr lang="en-GB"/>
          </a:p>
        </p:txBody>
      </p:sp>
    </p:spTree>
    <p:extLst>
      <p:ext uri="{BB962C8B-B14F-4D97-AF65-F5344CB8AC3E}">
        <p14:creationId xmlns:p14="http://schemas.microsoft.com/office/powerpoint/2010/main" val="1470653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endParaRPr b="1" i="1" dirty="0"/>
          </a:p>
          <a:p>
            <a:endParaRPr dirty="0"/>
          </a:p>
          <a:p>
            <a:r>
              <a:rPr dirty="0"/>
              <a:t>Key messages to emphasize:</a:t>
            </a:r>
          </a:p>
          <a:p>
            <a:pPr marL="171450" indent="-171450">
              <a:buFont typeface="Arial" panose="020B0604020202020204" pitchFamily="34" charset="0"/>
              <a:buChar char="•"/>
            </a:pPr>
            <a:r>
              <a:rPr dirty="0"/>
              <a:t>Adoption without transformation often plateaus.</a:t>
            </a:r>
          </a:p>
          <a:p>
            <a:pPr marL="171450" indent="-171450">
              <a:buFont typeface="Arial" panose="020B0604020202020204" pitchFamily="34" charset="0"/>
              <a:buChar char="•"/>
            </a:pPr>
            <a:r>
              <a:rPr dirty="0"/>
              <a:t>Transformation requires leadership, patience, and systemic change.</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it-IT" u="none" dirty="0"/>
              <a:t>https://www.agilityarabia.com/blog/agile-adoption-vs-agile-transformation-are-you-truly-embracing-agility</a:t>
            </a:r>
          </a:p>
          <a:p>
            <a:pPr marL="171450" indent="-171450">
              <a:buFont typeface="Arial" panose="020B0604020202020204" pitchFamily="34" charset="0"/>
              <a:buChar char="•"/>
            </a:pPr>
            <a:r>
              <a:rPr lang="en-GB" dirty="0"/>
              <a:t>https://www.youtube.com/watch?v=w3YmH9_KNDQ</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29</a:t>
            </a:fld>
            <a:endParaRPr lang="en-GB"/>
          </a:p>
        </p:txBody>
      </p:sp>
    </p:spTree>
    <p:extLst>
      <p:ext uri="{BB962C8B-B14F-4D97-AF65-F5344CB8AC3E}">
        <p14:creationId xmlns:p14="http://schemas.microsoft.com/office/powerpoint/2010/main" val="4145016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endParaRPr b="1" i="1" dirty="0"/>
          </a:p>
          <a:p>
            <a:endParaRPr dirty="0"/>
          </a:p>
          <a:p>
            <a:r>
              <a:rPr dirty="0"/>
              <a:t>Emphasize:</a:t>
            </a:r>
          </a:p>
          <a:p>
            <a:pPr marL="171450" indent="-171450">
              <a:buFont typeface="Arial" panose="020B0604020202020204" pitchFamily="34" charset="0"/>
              <a:buChar char="•"/>
            </a:pPr>
            <a:r>
              <a:rPr dirty="0"/>
              <a:t>A Gantt can be derived from backlog items and dependencies.</a:t>
            </a:r>
          </a:p>
          <a:p>
            <a:pPr marL="171450" indent="-171450">
              <a:buFont typeface="Arial" panose="020B0604020202020204" pitchFamily="34" charset="0"/>
              <a:buChar char="•"/>
            </a:pPr>
            <a:r>
              <a:rPr dirty="0"/>
              <a:t>It should be updated as evidence changes (not treated as a fixed promise).</a:t>
            </a:r>
          </a:p>
          <a:p>
            <a:endParaRPr dirty="0"/>
          </a:p>
          <a:p>
            <a:r>
              <a:rPr dirty="0"/>
              <a:t>The goal is transparency: use the Gantt to communicate at macro level, and the board/backlog for day-to-day delivery.</a:t>
            </a:r>
          </a:p>
          <a:p>
            <a:endParaRPr lang="it-IT" dirty="0"/>
          </a:p>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31</a:t>
            </a:fld>
            <a:endParaRPr lang="en-GB"/>
          </a:p>
        </p:txBody>
      </p:sp>
    </p:spTree>
    <p:extLst>
      <p:ext uri="{BB962C8B-B14F-4D97-AF65-F5344CB8AC3E}">
        <p14:creationId xmlns:p14="http://schemas.microsoft.com/office/powerpoint/2010/main" val="1680790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b="1" i="1" dirty="0"/>
              <a:t>Facilitator notes</a:t>
            </a:r>
          </a:p>
          <a:p>
            <a:endParaRPr lang="it-IT" dirty="0"/>
          </a:p>
          <a:p>
            <a:r>
              <a:rPr dirty="0"/>
              <a:t>Introduce a digital tool example for Gantt planning and portfolio visibility.</a:t>
            </a:r>
          </a:p>
          <a:p>
            <a:endParaRPr lang="it-IT" dirty="0"/>
          </a:p>
          <a:p>
            <a:r>
              <a:rPr dirty="0"/>
              <a:t>Focus less on the brand, more on capabilities: sharing, updating, resource management, reporting, projections.</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https://www.teamgantt.com/</a:t>
            </a:r>
          </a:p>
          <a:p>
            <a:pPr marL="171450" indent="-171450">
              <a:buFont typeface="Arial" panose="020B0604020202020204" pitchFamily="34" charset="0"/>
              <a:buChar char="•"/>
            </a:pPr>
            <a:r>
              <a:rPr lang="en-GB" dirty="0"/>
              <a:t>https://www.youtube.com/watch?v=P1H8-OYuGkY</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b="1" i="1" dirty="0"/>
              <a:t>Facilitator notes</a:t>
            </a:r>
            <a:endParaRPr b="1" i="1" dirty="0"/>
          </a:p>
          <a:p>
            <a:endParaRPr dirty="0"/>
          </a:p>
          <a:p>
            <a:r>
              <a:rPr dirty="0"/>
              <a:t>Provide an example of a tool that supports both Agile artifacts (backlogs, points, burndown) and more traditional PM views.</a:t>
            </a:r>
          </a:p>
          <a:p>
            <a:endParaRPr dirty="0"/>
          </a:p>
          <a:p>
            <a:r>
              <a:rPr dirty="0"/>
              <a:t>Connect features to needs: backlog management, estimation, burndown, impediment tracking, calendar/board views.</a:t>
            </a:r>
            <a:endParaRPr lang="it-IT" dirty="0"/>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https://www.openproject.org/</a:t>
            </a:r>
          </a:p>
          <a:p>
            <a:pPr marL="171450" indent="-171450">
              <a:buFont typeface="Arial" panose="020B0604020202020204" pitchFamily="34" charset="0"/>
              <a:buChar char="•"/>
            </a:pPr>
            <a:r>
              <a:rPr lang="en-GB" dirty="0"/>
              <a:t>https://www.youtube.com/watch?v=HloYka2zB8I</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Explain Sprint Goals as mini-milestones (often aligned with epics). Tracking % completion is a communication device</a:t>
            </a:r>
            <a:r>
              <a:rPr lang="it-IT" dirty="0"/>
              <a:t> - </a:t>
            </a:r>
            <a:r>
              <a:rPr dirty="0"/>
              <a:t>not a precision metric.</a:t>
            </a:r>
          </a:p>
          <a:p>
            <a:endParaRPr lang="it-IT" dirty="0"/>
          </a:p>
          <a:p>
            <a:r>
              <a:rPr dirty="0"/>
              <a:t>Encourage 3–5 Sprint Goals max to keep focus and avoid turning it into a bureaucratic report.</a:t>
            </a:r>
          </a:p>
          <a:p>
            <a:endParaRPr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https://www.scrum.org/resources/what-sprint-goal</a:t>
            </a:r>
          </a:p>
          <a:p>
            <a:pPr marL="171450" indent="-171450">
              <a:buFont typeface="Arial" panose="020B0604020202020204" pitchFamily="34" charset="0"/>
              <a:buChar char="•"/>
            </a:pPr>
            <a:r>
              <a:rPr lang="en-GB" dirty="0"/>
              <a:t>https://www.mountaingoatsoftware.com/blog/the-sprint-goal-what-it-is-and-how-it-can-help</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34</a:t>
            </a:fld>
            <a:endParaRPr lang="en-GB"/>
          </a:p>
        </p:txBody>
      </p:sp>
    </p:spTree>
    <p:extLst>
      <p:ext uri="{BB962C8B-B14F-4D97-AF65-F5344CB8AC3E}">
        <p14:creationId xmlns:p14="http://schemas.microsoft.com/office/powerpoint/2010/main" val="10299305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35</a:t>
            </a:fld>
            <a:endParaRPr lang="en-GB"/>
          </a:p>
        </p:txBody>
      </p:sp>
    </p:spTree>
    <p:extLst>
      <p:ext uri="{BB962C8B-B14F-4D97-AF65-F5344CB8AC3E}">
        <p14:creationId xmlns:p14="http://schemas.microsoft.com/office/powerpoint/2010/main" val="25705182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Introduce coordination patterns for multiple teams.</a:t>
            </a:r>
          </a:p>
          <a:p>
            <a:endParaRPr dirty="0"/>
          </a:p>
          <a:p>
            <a:r>
              <a:rPr dirty="0"/>
              <a:t>Define:</a:t>
            </a:r>
          </a:p>
          <a:p>
            <a:pPr marL="171450" indent="-171450">
              <a:buFont typeface="Arial" panose="020B0604020202020204" pitchFamily="34" charset="0"/>
              <a:buChar char="•"/>
            </a:pPr>
            <a:r>
              <a:rPr dirty="0"/>
              <a:t>General meaning: scaling Scrum via cross-team coordination.</a:t>
            </a:r>
          </a:p>
          <a:p>
            <a:pPr marL="171450" indent="-171450">
              <a:buFont typeface="Arial" panose="020B0604020202020204" pitchFamily="34" charset="0"/>
              <a:buChar char="•"/>
            </a:pPr>
            <a:r>
              <a:rPr dirty="0"/>
              <a:t>Specific meaning: regular meeting of Scrum Masters to share dependencies and impediments.</a:t>
            </a:r>
          </a:p>
          <a:p>
            <a:endParaRPr dirty="0"/>
          </a:p>
          <a:p>
            <a:r>
              <a:rPr dirty="0"/>
              <a:t>Scrum of Scrums is not a status meeting; it is for managing cross-team dependencies.</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https://www.scrumalliance.org/glossary/scrum-of-scrums</a:t>
            </a:r>
          </a:p>
          <a:p>
            <a:pPr marL="171450" indent="-171450">
              <a:buFont typeface="Arial" panose="020B0604020202020204" pitchFamily="34" charset="0"/>
              <a:buChar char="•"/>
            </a:pPr>
            <a:r>
              <a:rPr lang="en-GB" dirty="0"/>
              <a:t>https://echometerapp.com/en/scrum-of-scrums/</a:t>
            </a:r>
          </a:p>
          <a:p>
            <a:pPr marL="171450" indent="-171450">
              <a:buFont typeface="Arial" panose="020B0604020202020204" pitchFamily="34" charset="0"/>
              <a:buChar char="•"/>
            </a:pPr>
            <a:r>
              <a:rPr lang="en-GB" dirty="0"/>
              <a:t>https://www.atlassian.com/agile/scrum/scrum-of-scrums</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36</a:t>
            </a:fld>
            <a:endParaRPr lang="en-GB"/>
          </a:p>
        </p:txBody>
      </p:sp>
    </p:spTree>
    <p:extLst>
      <p:ext uri="{BB962C8B-B14F-4D97-AF65-F5344CB8AC3E}">
        <p14:creationId xmlns:p14="http://schemas.microsoft.com/office/powerpoint/2010/main" val="28383130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37</a:t>
            </a:fld>
            <a:endParaRPr lang="en-GB"/>
          </a:p>
        </p:txBody>
      </p:sp>
    </p:spTree>
    <p:extLst>
      <p:ext uri="{BB962C8B-B14F-4D97-AF65-F5344CB8AC3E}">
        <p14:creationId xmlns:p14="http://schemas.microsoft.com/office/powerpoint/2010/main" val="28975851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Emphasize agenda:</a:t>
            </a:r>
          </a:p>
          <a:p>
            <a:pPr marL="171450" indent="-171450">
              <a:buFont typeface="Arial" panose="020B0604020202020204" pitchFamily="34" charset="0"/>
              <a:buChar char="•"/>
            </a:pPr>
            <a:r>
              <a:rPr lang="it-IT" dirty="0"/>
              <a:t>W</a:t>
            </a:r>
            <a:r>
              <a:rPr dirty="0"/>
              <a:t>hat happened,</a:t>
            </a:r>
          </a:p>
          <a:p>
            <a:pPr marL="171450" indent="-171450">
              <a:buFont typeface="Arial" panose="020B0604020202020204" pitchFamily="34" charset="0"/>
              <a:buChar char="•"/>
            </a:pPr>
            <a:r>
              <a:rPr lang="it-IT" dirty="0"/>
              <a:t>W</a:t>
            </a:r>
            <a:r>
              <a:rPr dirty="0"/>
              <a:t>hat’s next,</a:t>
            </a:r>
          </a:p>
          <a:p>
            <a:pPr marL="171450" indent="-171450">
              <a:buFont typeface="Arial" panose="020B0604020202020204" pitchFamily="34" charset="0"/>
              <a:buChar char="•"/>
            </a:pPr>
            <a:r>
              <a:rPr lang="it-IT" dirty="0"/>
              <a:t>B</a:t>
            </a:r>
            <a:r>
              <a:rPr dirty="0"/>
              <a:t>lockers/dependencies,</a:t>
            </a:r>
          </a:p>
          <a:p>
            <a:pPr marL="171450" indent="-171450">
              <a:buFont typeface="Arial" panose="020B0604020202020204" pitchFamily="34" charset="0"/>
              <a:buChar char="•"/>
            </a:pPr>
            <a:r>
              <a:rPr lang="it-IT" dirty="0"/>
              <a:t>I</a:t>
            </a:r>
            <a:r>
              <a:rPr dirty="0" err="1"/>
              <a:t>ntegration</a:t>
            </a:r>
            <a:r>
              <a:rPr dirty="0"/>
              <a:t> risks.</a:t>
            </a:r>
          </a:p>
          <a:p>
            <a:endParaRPr dirty="0"/>
          </a:p>
          <a:p>
            <a:r>
              <a:rPr dirty="0"/>
              <a:t>Keep it short and action-oriented; capture decisions and owners.</a:t>
            </a:r>
          </a:p>
          <a:p>
            <a:endParaRPr dirty="0"/>
          </a:p>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38</a:t>
            </a:fld>
            <a:endParaRPr lang="en-GB"/>
          </a:p>
        </p:txBody>
      </p:sp>
    </p:spTree>
    <p:extLst>
      <p:ext uri="{BB962C8B-B14F-4D97-AF65-F5344CB8AC3E}">
        <p14:creationId xmlns:p14="http://schemas.microsoft.com/office/powerpoint/2010/main" val="7329339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Clarify it’s for information sharing and alignment, not detailed problem-solving.</a:t>
            </a:r>
          </a:p>
          <a:p>
            <a:endParaRPr dirty="0"/>
          </a:p>
          <a:p>
            <a:r>
              <a:rPr dirty="0"/>
              <a:t>If it becomes too long, split into smaller relevant forums.</a:t>
            </a:r>
          </a:p>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39</a:t>
            </a:fld>
            <a:endParaRPr lang="en-GB"/>
          </a:p>
        </p:txBody>
      </p:sp>
    </p:spTree>
    <p:extLst>
      <p:ext uri="{BB962C8B-B14F-4D97-AF65-F5344CB8AC3E}">
        <p14:creationId xmlns:p14="http://schemas.microsoft.com/office/powerpoint/2010/main" val="42859490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Explain why scaling increases coordination complexity and why team structure matters.</a:t>
            </a:r>
          </a:p>
          <a:p>
            <a:endParaRPr dirty="0"/>
          </a:p>
          <a:p>
            <a:r>
              <a:rPr dirty="0"/>
              <a:t>Reinforce the principle: more people → more communication paths → more friction. Therefore, design teams intentionally.</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https://www.agilesocks.com/splitting-multiple-scrum-teams/</a:t>
            </a:r>
            <a:r>
              <a:rPr dirty="0"/>
              <a:t>h.</a:t>
            </a:r>
          </a:p>
        </p:txBody>
      </p:sp>
      <p:sp>
        <p:nvSpPr>
          <p:cNvPr id="4" name="Segnaposto numero diapositiva 3"/>
          <p:cNvSpPr>
            <a:spLocks noGrp="1"/>
          </p:cNvSpPr>
          <p:nvPr>
            <p:ph type="sldNum" sz="quarter" idx="5"/>
          </p:nvPr>
        </p:nvSpPr>
        <p:spPr/>
        <p:txBody>
          <a:bodyPr/>
          <a:lstStyle/>
          <a:p>
            <a:fld id="{E93233AA-5D9D-4B19-AE31-9919BB97DFE7}" type="slidenum">
              <a:rPr lang="en-GB" smtClean="0"/>
              <a:t>40</a:t>
            </a:fld>
            <a:endParaRPr lang="en-GB"/>
          </a:p>
        </p:txBody>
      </p:sp>
    </p:spTree>
    <p:extLst>
      <p:ext uri="{BB962C8B-B14F-4D97-AF65-F5344CB8AC3E}">
        <p14:creationId xmlns:p14="http://schemas.microsoft.com/office/powerpoint/2010/main" val="12227935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41</a:t>
            </a:fld>
            <a:endParaRPr lang="en-GB"/>
          </a:p>
        </p:txBody>
      </p:sp>
    </p:spTree>
    <p:extLst>
      <p:ext uri="{BB962C8B-B14F-4D97-AF65-F5344CB8AC3E}">
        <p14:creationId xmlns:p14="http://schemas.microsoft.com/office/powerpoint/2010/main" val="3829236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https://attico.io/insights/synchronized-sprints</a:t>
            </a:r>
          </a:p>
          <a:p>
            <a:pPr marL="171450" indent="-171450">
              <a:buFont typeface="Arial" panose="020B0604020202020204" pitchFamily="34" charset="0"/>
              <a:buChar char="•"/>
            </a:pPr>
            <a:r>
              <a:rPr lang="en-GB" dirty="0"/>
              <a:t>https://medium.com/leadership-forge/when-to-synchronize-sprints-9606c3d7e55b</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43</a:t>
            </a:fld>
            <a:endParaRPr lang="en-GB"/>
          </a:p>
        </p:txBody>
      </p:sp>
    </p:spTree>
    <p:extLst>
      <p:ext uri="{BB962C8B-B14F-4D97-AF65-F5344CB8AC3E}">
        <p14:creationId xmlns:p14="http://schemas.microsoft.com/office/powerpoint/2010/main" val="16476701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44</a:t>
            </a:fld>
            <a:endParaRPr lang="en-GB"/>
          </a:p>
        </p:txBody>
      </p:sp>
    </p:spTree>
    <p:extLst>
      <p:ext uri="{BB962C8B-B14F-4D97-AF65-F5344CB8AC3E}">
        <p14:creationId xmlns:p14="http://schemas.microsoft.com/office/powerpoint/2010/main" val="16006157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45</a:t>
            </a:fld>
            <a:endParaRPr lang="en-GB"/>
          </a:p>
        </p:txBody>
      </p:sp>
    </p:spTree>
    <p:extLst>
      <p:ext uri="{BB962C8B-B14F-4D97-AF65-F5344CB8AC3E}">
        <p14:creationId xmlns:p14="http://schemas.microsoft.com/office/powerpoint/2010/main" val="39123569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46</a:t>
            </a:fld>
            <a:endParaRPr lang="en-GB"/>
          </a:p>
        </p:txBody>
      </p:sp>
    </p:spTree>
    <p:extLst>
      <p:ext uri="{BB962C8B-B14F-4D97-AF65-F5344CB8AC3E}">
        <p14:creationId xmlns:p14="http://schemas.microsoft.com/office/powerpoint/2010/main" val="24836247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47</a:t>
            </a:fld>
            <a:endParaRPr lang="en-GB"/>
          </a:p>
        </p:txBody>
      </p:sp>
    </p:spTree>
    <p:extLst>
      <p:ext uri="{BB962C8B-B14F-4D97-AF65-F5344CB8AC3E}">
        <p14:creationId xmlns:p14="http://schemas.microsoft.com/office/powerpoint/2010/main" val="40470163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1" i="1" dirty="0"/>
              <a:t>Facilitator notes</a:t>
            </a:r>
          </a:p>
          <a:p>
            <a:endParaRPr lang="it-IT" dirty="0"/>
          </a:p>
          <a:p>
            <a:r>
              <a:rPr dirty="0"/>
              <a:t>Provide a practical operational checklist to keep Scrum running smoothly.</a:t>
            </a:r>
          </a:p>
          <a:p>
            <a:endParaRPr dirty="0"/>
          </a:p>
          <a:p>
            <a:r>
              <a:rPr dirty="0"/>
              <a:t>Use it as a </a:t>
            </a:r>
            <a:r>
              <a:rPr dirty="0" err="1"/>
              <a:t>referenc</a:t>
            </a:r>
            <a:r>
              <a:rPr lang="it-IT" dirty="0"/>
              <a:t>e</a:t>
            </a:r>
            <a:r>
              <a:rPr dirty="0"/>
              <a:t>, not as a rigid procedure. Highlight a few critical habits:</a:t>
            </a:r>
          </a:p>
          <a:p>
            <a:pPr marL="171450" indent="-171450">
              <a:buFont typeface="Arial" panose="020B0604020202020204" pitchFamily="34" charset="0"/>
              <a:buChar char="•"/>
            </a:pPr>
            <a:r>
              <a:rPr lang="it-IT" dirty="0"/>
              <a:t>C</a:t>
            </a:r>
            <a:r>
              <a:rPr dirty="0" err="1"/>
              <a:t>ommunicate</a:t>
            </a:r>
            <a:r>
              <a:rPr dirty="0"/>
              <a:t> sprint start and goal</a:t>
            </a:r>
          </a:p>
          <a:p>
            <a:pPr marL="171450" indent="-171450">
              <a:buFont typeface="Arial" panose="020B0604020202020204" pitchFamily="34" charset="0"/>
              <a:buChar char="•"/>
            </a:pPr>
            <a:r>
              <a:rPr lang="it-IT" dirty="0"/>
              <a:t>K</a:t>
            </a:r>
            <a:r>
              <a:rPr dirty="0" err="1"/>
              <a:t>eep</a:t>
            </a:r>
            <a:r>
              <a:rPr dirty="0"/>
              <a:t> backlog hygiene</a:t>
            </a:r>
          </a:p>
          <a:p>
            <a:pPr marL="171450" indent="-171450">
              <a:buFont typeface="Arial" panose="020B0604020202020204" pitchFamily="34" charset="0"/>
              <a:buChar char="•"/>
            </a:pPr>
            <a:r>
              <a:rPr lang="it-IT" dirty="0"/>
              <a:t>K</a:t>
            </a:r>
            <a:r>
              <a:rPr dirty="0" err="1"/>
              <a:t>eep</a:t>
            </a:r>
            <a:r>
              <a:rPr dirty="0"/>
              <a:t> burndown/board up to date</a:t>
            </a:r>
          </a:p>
          <a:p>
            <a:pPr marL="171450" indent="-171450">
              <a:buFont typeface="Arial" panose="020B0604020202020204" pitchFamily="34" charset="0"/>
              <a:buChar char="•"/>
            </a:pPr>
            <a:r>
              <a:rPr lang="it-IT" dirty="0"/>
              <a:t>E</a:t>
            </a:r>
            <a:r>
              <a:rPr dirty="0" err="1"/>
              <a:t>nsure</a:t>
            </a:r>
            <a:r>
              <a:rPr dirty="0"/>
              <a:t> impediments are surfaced</a:t>
            </a:r>
          </a:p>
          <a:p>
            <a:endParaRPr dirty="0"/>
          </a:p>
          <a:p>
            <a:r>
              <a:rPr dirty="0"/>
              <a:t>Ask learners which checklist item would create the biggest </a:t>
            </a:r>
            <a:r>
              <a:rPr dirty="0" err="1"/>
              <a:t>improvemen</a:t>
            </a:r>
            <a:r>
              <a:rPr lang="it-IT" dirty="0"/>
              <a:t>t.</a:t>
            </a:r>
            <a:endParaRPr dirty="0"/>
          </a:p>
          <a:p>
            <a:endParaRPr lang="it-IT" dirty="0"/>
          </a:p>
          <a:p>
            <a:r>
              <a:rPr lang="it-IT" u="sng" dirty="0" err="1"/>
              <a:t>Additional</a:t>
            </a:r>
            <a:r>
              <a:rPr lang="it-IT" u="sng" dirty="0"/>
              <a:t> </a:t>
            </a:r>
            <a:r>
              <a:rPr lang="it-IT" u="sng" dirty="0" err="1"/>
              <a:t>resources</a:t>
            </a:r>
            <a:endParaRPr lang="it-IT" u="sng" dirty="0"/>
          </a:p>
          <a:p>
            <a:pPr marL="171450" indent="-171450">
              <a:buFont typeface="Arial" panose="020B0604020202020204" pitchFamily="34" charset="0"/>
              <a:buChar char="•"/>
            </a:pPr>
            <a:r>
              <a:rPr lang="en-GB" dirty="0"/>
              <a:t>https://www.scrumexpert.com/resources/scrummaster-checklists/</a:t>
            </a:r>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49</a:t>
            </a:fld>
            <a:endParaRPr lang="en-GB"/>
          </a:p>
        </p:txBody>
      </p:sp>
    </p:spTree>
    <p:extLst>
      <p:ext uri="{BB962C8B-B14F-4D97-AF65-F5344CB8AC3E}">
        <p14:creationId xmlns:p14="http://schemas.microsoft.com/office/powerpoint/2010/main" val="21018925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50</a:t>
            </a:fld>
            <a:endParaRPr lang="en-GB"/>
          </a:p>
        </p:txBody>
      </p:sp>
    </p:spTree>
    <p:extLst>
      <p:ext uri="{BB962C8B-B14F-4D97-AF65-F5344CB8AC3E}">
        <p14:creationId xmlns:p14="http://schemas.microsoft.com/office/powerpoint/2010/main" val="3546068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51</a:t>
            </a:fld>
            <a:endParaRPr lang="en-GB"/>
          </a:p>
        </p:txBody>
      </p:sp>
    </p:spTree>
    <p:extLst>
      <p:ext uri="{BB962C8B-B14F-4D97-AF65-F5344CB8AC3E}">
        <p14:creationId xmlns:p14="http://schemas.microsoft.com/office/powerpoint/2010/main" val="20112506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dirty="0"/>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dirty="0"/>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Naslovni slajd">
    <p:spTree>
      <p:nvGrpSpPr>
        <p:cNvPr id="1" name=""/>
        <p:cNvGrpSpPr/>
        <p:nvPr/>
      </p:nvGrpSpPr>
      <p:grpSpPr>
        <a:xfrm>
          <a:off x="0" y="0"/>
          <a:ext cx="0" cy="0"/>
          <a:chOff x="0" y="0"/>
          <a:chExt cx="0" cy="0"/>
        </a:xfrm>
      </p:grpSpPr>
      <p:pic>
        <p:nvPicPr>
          <p:cNvPr id="4" name="Slika 3">
            <a:extLst>
              <a:ext uri="{FF2B5EF4-FFF2-40B4-BE49-F238E27FC236}">
                <a16:creationId xmlns:a16="http://schemas.microsoft.com/office/drawing/2014/main" id="{5F67D23E-A28C-75D8-1345-0AB914675C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225255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Naslov i sadržaj">
    <p:spTree>
      <p:nvGrpSpPr>
        <p:cNvPr id="1" name=""/>
        <p:cNvGrpSpPr/>
        <p:nvPr/>
      </p:nvGrpSpPr>
      <p:grpSpPr>
        <a:xfrm>
          <a:off x="0" y="0"/>
          <a:ext cx="0" cy="0"/>
          <a:chOff x="0" y="0"/>
          <a:chExt cx="0" cy="0"/>
        </a:xfrm>
      </p:grpSpPr>
      <p:pic>
        <p:nvPicPr>
          <p:cNvPr id="6" name="Slika 5" descr="Slika na kojoj se prikazuje ljubičasto, Magenta, Jorgovan, ljubičica&#10;&#10;Opis je automatski generiran">
            <a:extLst>
              <a:ext uri="{FF2B5EF4-FFF2-40B4-BE49-F238E27FC236}">
                <a16:creationId xmlns:a16="http://schemas.microsoft.com/office/drawing/2014/main" id="{35DF2062-AC53-CC06-3408-F03D9B95BB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226208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3_Dva sadržaja">
    <p:spTree>
      <p:nvGrpSpPr>
        <p:cNvPr id="1" name=""/>
        <p:cNvGrpSpPr/>
        <p:nvPr/>
      </p:nvGrpSpPr>
      <p:grpSpPr>
        <a:xfrm>
          <a:off x="0" y="0"/>
          <a:ext cx="0" cy="0"/>
          <a:chOff x="0" y="0"/>
          <a:chExt cx="0" cy="0"/>
        </a:xfrm>
      </p:grpSpPr>
      <p:pic>
        <p:nvPicPr>
          <p:cNvPr id="5" name="Slika 4" descr="Slika na kojoj se prikazuje ljubičasto, Magenta, Jorgovan, ljubičica&#10;&#10;Opis je automatski generiran">
            <a:extLst>
              <a:ext uri="{FF2B5EF4-FFF2-40B4-BE49-F238E27FC236}">
                <a16:creationId xmlns:a16="http://schemas.microsoft.com/office/drawing/2014/main" id="{9FAA237F-8481-A276-5DC5-A3FC50F5B1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1883575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Prilagođeni izgled">
    <p:spTree>
      <p:nvGrpSpPr>
        <p:cNvPr id="1" name=""/>
        <p:cNvGrpSpPr/>
        <p:nvPr/>
      </p:nvGrpSpPr>
      <p:grpSpPr>
        <a:xfrm>
          <a:off x="0" y="0"/>
          <a:ext cx="0" cy="0"/>
          <a:chOff x="0" y="0"/>
          <a:chExt cx="0" cy="0"/>
        </a:xfrm>
      </p:grpSpPr>
      <p:grpSp>
        <p:nvGrpSpPr>
          <p:cNvPr id="3" name="Gruppo 2">
            <a:extLst>
              <a:ext uri="{FF2B5EF4-FFF2-40B4-BE49-F238E27FC236}">
                <a16:creationId xmlns:a16="http://schemas.microsoft.com/office/drawing/2014/main" id="{F0B43500-2B0D-6E1A-B9B4-812DA8D0A84E}"/>
              </a:ext>
            </a:extLst>
          </p:cNvPr>
          <p:cNvGrpSpPr/>
          <p:nvPr userDrawn="1"/>
        </p:nvGrpSpPr>
        <p:grpSpPr>
          <a:xfrm>
            <a:off x="0" y="428"/>
            <a:ext cx="12192000" cy="6857143"/>
            <a:chOff x="0" y="428"/>
            <a:chExt cx="12192000" cy="6857143"/>
          </a:xfrm>
        </p:grpSpPr>
        <p:pic>
          <p:nvPicPr>
            <p:cNvPr id="4" name="Slika 5" descr="Slika na kojoj se prikazuje ljubičasto, Magenta, Jorgovan, ljubičica&#10;&#10;Opis je automatski generiran">
              <a:extLst>
                <a:ext uri="{FF2B5EF4-FFF2-40B4-BE49-F238E27FC236}">
                  <a16:creationId xmlns:a16="http://schemas.microsoft.com/office/drawing/2014/main" id="{F699EAC5-D790-B1A3-57FC-41C24823EF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pic>
          <p:nvPicPr>
            <p:cNvPr id="8" name="Elemento grafico 7">
              <a:extLst>
                <a:ext uri="{FF2B5EF4-FFF2-40B4-BE49-F238E27FC236}">
                  <a16:creationId xmlns:a16="http://schemas.microsoft.com/office/drawing/2014/main" id="{DB5C4848-6547-71DA-CC8A-3F432396BA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233024" y="385764"/>
              <a:ext cx="1470025" cy="1938912"/>
            </a:xfrm>
            <a:prstGeom prst="rect">
              <a:avLst/>
            </a:prstGeom>
          </p:spPr>
        </p:pic>
      </p:grpSp>
      <p:sp>
        <p:nvSpPr>
          <p:cNvPr id="2" name="Naslov 1">
            <a:extLst>
              <a:ext uri="{FF2B5EF4-FFF2-40B4-BE49-F238E27FC236}">
                <a16:creationId xmlns:a16="http://schemas.microsoft.com/office/drawing/2014/main" id="{BF2A96D7-17D5-D8FA-1A2A-53ABEC2070E7}"/>
              </a:ext>
            </a:extLst>
          </p:cNvPr>
          <p:cNvSpPr>
            <a:spLocks noGrp="1"/>
          </p:cNvSpPr>
          <p:nvPr>
            <p:ph type="title" hasCustomPrompt="1"/>
          </p:nvPr>
        </p:nvSpPr>
        <p:spPr/>
        <p:txBody>
          <a:bodyPr/>
          <a:lstStyle>
            <a:lvl1pPr>
              <a:defRPr sz="3600" b="0">
                <a:latin typeface="Bahnschrift SemiBold" panose="020B0502040204020203" pitchFamily="34" charset="0"/>
              </a:defRPr>
            </a:lvl1pPr>
          </a:lstStyle>
          <a:p>
            <a:r>
              <a:rPr lang="hr-HR" dirty="0"/>
              <a:t>SUMMARY</a:t>
            </a:r>
          </a:p>
        </p:txBody>
      </p:sp>
      <p:sp>
        <p:nvSpPr>
          <p:cNvPr id="5" name="Rezervirano mjesto sadržaja 2">
            <a:extLst>
              <a:ext uri="{FF2B5EF4-FFF2-40B4-BE49-F238E27FC236}">
                <a16:creationId xmlns:a16="http://schemas.microsoft.com/office/drawing/2014/main" id="{113D9402-1AF1-C3B9-7E4E-FB849F049A89}"/>
              </a:ext>
            </a:extLst>
          </p:cNvPr>
          <p:cNvSpPr>
            <a:spLocks noGrp="1"/>
          </p:cNvSpPr>
          <p:nvPr>
            <p:ph idx="1"/>
          </p:nvPr>
        </p:nvSpPr>
        <p:spPr>
          <a:xfrm>
            <a:off x="838200" y="1825625"/>
            <a:ext cx="10515600" cy="4351338"/>
          </a:xfrm>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7498491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7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371600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8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597803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9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093361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20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88185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21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455389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22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3"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015765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ilagođeni izgled">
    <p:spTree>
      <p:nvGrpSpPr>
        <p:cNvPr id="1" name=""/>
        <p:cNvGrpSpPr/>
        <p:nvPr/>
      </p:nvGrpSpPr>
      <p:grpSpPr>
        <a:xfrm>
          <a:off x="0" y="0"/>
          <a:ext cx="0" cy="0"/>
          <a:chOff x="0" y="0"/>
          <a:chExt cx="0" cy="0"/>
        </a:xfrm>
      </p:grpSpPr>
      <p:pic>
        <p:nvPicPr>
          <p:cNvPr id="7" name="Slika 6" descr="Slika na kojoj se prikazuje snimka zaslona, crta, dizajn&#10;&#10;Sadržaj generiran umjetnom inteligencijom može biti netočan.">
            <a:extLst>
              <a:ext uri="{FF2B5EF4-FFF2-40B4-BE49-F238E27FC236}">
                <a16:creationId xmlns:a16="http://schemas.microsoft.com/office/drawing/2014/main" id="{06B022C9-54E7-BB73-8A26-59E11FA9C3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BF2A96D7-17D5-D8FA-1A2A-53ABEC2070E7}"/>
              </a:ext>
            </a:extLst>
          </p:cNvPr>
          <p:cNvSpPr>
            <a:spLocks noGrp="1"/>
          </p:cNvSpPr>
          <p:nvPr>
            <p:ph type="title" hasCustomPrompt="1"/>
          </p:nvPr>
        </p:nvSpPr>
        <p:spPr/>
        <p:txBody>
          <a:bodyPr/>
          <a:lstStyle>
            <a:lvl1pPr>
              <a:defRPr/>
            </a:lvl1pPr>
          </a:lstStyle>
          <a:p>
            <a:r>
              <a:rPr lang="hr-HR" dirty="0"/>
              <a:t>SUMMARY</a:t>
            </a:r>
          </a:p>
        </p:txBody>
      </p:sp>
    </p:spTree>
    <p:extLst>
      <p:ext uri="{BB962C8B-B14F-4D97-AF65-F5344CB8AC3E}">
        <p14:creationId xmlns:p14="http://schemas.microsoft.com/office/powerpoint/2010/main" val="588175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dirty="0"/>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19.2.2026.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‹N›</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7" r:id="rId5"/>
    <p:sldLayoutId id="2147483653" r:id="rId6"/>
    <p:sldLayoutId id="2147483662" r:id="rId7"/>
    <p:sldLayoutId id="2147483689" r:id="rId8"/>
    <p:sldLayoutId id="2147483682" r:id="rId9"/>
    <p:sldLayoutId id="2147483683" r:id="rId10"/>
    <p:sldLayoutId id="2147483684" r:id="rId11"/>
    <p:sldLayoutId id="2147483685" r:id="rId12"/>
    <p:sldLayoutId id="2147483686" r:id="rId13"/>
    <p:sldLayoutId id="2147483687" r:id="rId14"/>
    <p:sldLayoutId id="2147483688" r:id="rId15"/>
    <p:sldLayoutId id="2147483669"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hyperlink" Target="https://dzone.com/articles/variance-the-heartbeat-of-agile-metrics"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researchgate.net/figure/Sample-Release-Burn-Up-Chart_fig7_266049888"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hyperlink" Target="https://www.researchgate.net/figure/Sample-Release-Burn-Up-Chart_fig7_266049888"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hyperlink" Target="https://www.excella.com/insights/burndown-chart-vs-cumulative-flow-diagram-cfd"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hyperlink" Target="https://www.excella.com/insights/burndown-chart-vs-cumulative-flow-diagram-cfd" TargetMode="External"/><Relationship Id="rId4" Type="http://schemas.openxmlformats.org/officeDocument/2006/relationships/image" Target="../media/image21.jpg"/></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hyperlink" Target="https://www.excella.com/insights/burndown-chart-vs-cumulative-flow-diagram-cfd"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hyperlink" Target="https://www.researchgate.net/figure/Epic-and-release-burndown_fig2_321741375"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s://www.researchgate.net/figure/Epic-and-release-burndown_fig2_321741375"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hyperlink" Target="https://www.inflectra.com/Ideas/Whitepaper/Agile-Transformation-Failure-Due-To-Management-Debt.aspx"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hyperlink" Target="https://whoek.com/b/knoster_managing-change.html"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s://www.egina.eu/" TargetMode="External"/><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hyperlink" Target="https://www.mckinsey.com/capabilities/people-and-organizational-performance/our-insights/the-journey-to-an-agile-organization" TargetMode="External"/><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hyperlink" Target="https://www.agilefluency.org/"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www.pmi.org/disciplined-agile" TargetMode="External"/><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hyperlink" Target="https://www.pmi.org/disciplined-agile" TargetMode="External"/><Relationship Id="rId2" Type="http://schemas.openxmlformats.org/officeDocument/2006/relationships/notesSlide" Target="../notesSlides/notesSlide54.xml"/><Relationship Id="rId1" Type="http://schemas.openxmlformats.org/officeDocument/2006/relationships/slideLayout" Target="../slideLayouts/slideLayout14.xml"/><Relationship Id="rId6" Type="http://schemas.openxmlformats.org/officeDocument/2006/relationships/hyperlink" Target="https://aida.mitre.org/agile/agile-metrics/?utm_source=chatgpt.com" TargetMode="External"/><Relationship Id="rId5" Type="http://schemas.openxmlformats.org/officeDocument/2006/relationships/hyperlink" Target="https://plan.io/blog/burndown-chart-and-agile-metrics/" TargetMode="External"/><Relationship Id="rId4" Type="http://schemas.openxmlformats.org/officeDocument/2006/relationships/hyperlink" Target="https://www.atlassian.com/agile/project-management/metrics"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www.ijtrd.com/papers/IJTRD28553.pdf" TargetMode="External"/><Relationship Id="rId2" Type="http://schemas.openxmlformats.org/officeDocument/2006/relationships/notesSlide" Target="../notesSlides/notesSlide55.xml"/><Relationship Id="rId1" Type="http://schemas.openxmlformats.org/officeDocument/2006/relationships/slideLayout" Target="../slideLayouts/slideLayout14.xml"/><Relationship Id="rId5" Type="http://schemas.openxmlformats.org/officeDocument/2006/relationships/hyperlink" Target="https://arxiv.org/pdf/2407.06357.pdf" TargetMode="External"/><Relationship Id="rId4" Type="http://schemas.openxmlformats.org/officeDocument/2006/relationships/hyperlink" Target="https://www.slideshare.net/slideshow/agile-metrics-50873631/5087363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22E5EA-124E-EF47-9C36-2C4210DB3CF5}"/>
              </a:ext>
            </a:extLst>
          </p:cNvPr>
          <p:cNvSpPr>
            <a:spLocks noGrp="1"/>
          </p:cNvSpPr>
          <p:nvPr>
            <p:ph type="ctrTitle"/>
          </p:nvPr>
        </p:nvSpPr>
        <p:spPr/>
        <p:txBody>
          <a:bodyPr/>
          <a:lstStyle/>
          <a:p>
            <a:r>
              <a:rPr lang="it-IT" dirty="0"/>
              <a:t>SHIFT4IT</a:t>
            </a:r>
            <a:endParaRPr lang="en-GB" dirty="0"/>
          </a:p>
        </p:txBody>
      </p:sp>
      <p:sp>
        <p:nvSpPr>
          <p:cNvPr id="3" name="Sottotitolo 2">
            <a:extLst>
              <a:ext uri="{FF2B5EF4-FFF2-40B4-BE49-F238E27FC236}">
                <a16:creationId xmlns:a16="http://schemas.microsoft.com/office/drawing/2014/main" id="{5814B79D-9A0C-B0C4-18DB-6A811F26CEE9}"/>
              </a:ext>
            </a:extLst>
          </p:cNvPr>
          <p:cNvSpPr>
            <a:spLocks noGrp="1"/>
          </p:cNvSpPr>
          <p:nvPr>
            <p:ph type="subTitle" idx="1"/>
          </p:nvPr>
        </p:nvSpPr>
        <p:spPr/>
        <p:txBody>
          <a:bodyPr/>
          <a:lstStyle/>
          <a:p>
            <a:r>
              <a:rPr lang="en-GB" dirty="0"/>
              <a:t>Shifting the </a:t>
            </a:r>
            <a:r>
              <a:rPr lang="en-GB" dirty="0" err="1"/>
              <a:t>paradygm</a:t>
            </a:r>
            <a:r>
              <a:rPr lang="en-GB" dirty="0"/>
              <a:t> for women in IT sector​</a:t>
            </a:r>
          </a:p>
        </p:txBody>
      </p:sp>
    </p:spTree>
    <p:extLst>
      <p:ext uri="{BB962C8B-B14F-4D97-AF65-F5344CB8AC3E}">
        <p14:creationId xmlns:p14="http://schemas.microsoft.com/office/powerpoint/2010/main" val="321281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slov 3">
            <a:extLst>
              <a:ext uri="{FF2B5EF4-FFF2-40B4-BE49-F238E27FC236}">
                <a16:creationId xmlns:a16="http://schemas.microsoft.com/office/drawing/2014/main" id="{4022C4E9-1E70-8866-3479-A24FD93D0CAC}"/>
              </a:ext>
            </a:extLst>
          </p:cNvPr>
          <p:cNvSpPr>
            <a:spLocks noGrp="1"/>
          </p:cNvSpPr>
          <p:nvPr>
            <p:ph type="ctrTitle"/>
          </p:nvPr>
        </p:nvSpPr>
        <p:spPr/>
        <p:txBody>
          <a:bodyPr>
            <a:normAutofit/>
          </a:bodyPr>
          <a:lstStyle/>
          <a:p>
            <a:r>
              <a:rPr lang="en-GB" dirty="0"/>
              <a:t>Measuring performance and preventing failure</a:t>
            </a:r>
            <a:endParaRPr lang="hr-HR" dirty="0"/>
          </a:p>
        </p:txBody>
      </p:sp>
    </p:spTree>
    <p:extLst>
      <p:ext uri="{BB962C8B-B14F-4D97-AF65-F5344CB8AC3E}">
        <p14:creationId xmlns:p14="http://schemas.microsoft.com/office/powerpoint/2010/main" val="49551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A2C3CA-D4C4-1EA8-19A8-B85959F45873}"/>
              </a:ext>
            </a:extLst>
          </p:cNvPr>
          <p:cNvSpPr>
            <a:spLocks noGrp="1"/>
          </p:cNvSpPr>
          <p:nvPr>
            <p:ph type="title"/>
          </p:nvPr>
        </p:nvSpPr>
        <p:spPr/>
        <p:txBody>
          <a:bodyPr/>
          <a:lstStyle/>
          <a:p>
            <a:r>
              <a:rPr lang="it-IT" dirty="0" err="1"/>
              <a:t>Summary</a:t>
            </a:r>
            <a:endParaRPr lang="en-GB" dirty="0"/>
          </a:p>
        </p:txBody>
      </p:sp>
      <p:sp>
        <p:nvSpPr>
          <p:cNvPr id="3" name="Segnaposto contenuto 2">
            <a:extLst>
              <a:ext uri="{FF2B5EF4-FFF2-40B4-BE49-F238E27FC236}">
                <a16:creationId xmlns:a16="http://schemas.microsoft.com/office/drawing/2014/main" id="{89260683-E1B9-6822-1795-418D1B896D5C}"/>
              </a:ext>
            </a:extLst>
          </p:cNvPr>
          <p:cNvSpPr>
            <a:spLocks noGrp="1"/>
          </p:cNvSpPr>
          <p:nvPr>
            <p:ph idx="1"/>
          </p:nvPr>
        </p:nvSpPr>
        <p:spPr/>
        <p:txBody>
          <a:bodyPr/>
          <a:lstStyle/>
          <a:p>
            <a:pPr marL="0" indent="0">
              <a:buNone/>
            </a:pPr>
            <a:r>
              <a:rPr lang="en-GB" dirty="0"/>
              <a:t>4.1 How to measure performance (2.5 hours)</a:t>
            </a:r>
          </a:p>
          <a:p>
            <a:pPr marL="0" indent="0">
              <a:buNone/>
            </a:pPr>
            <a:r>
              <a:rPr lang="en-GB" dirty="0"/>
              <a:t>4.2 How to avoid failure (2.5 hours)</a:t>
            </a:r>
          </a:p>
          <a:p>
            <a:pPr marL="0" indent="0">
              <a:buNone/>
            </a:pPr>
            <a:r>
              <a:rPr lang="en-GB" dirty="0"/>
              <a:t>4.3 Reconciling Waterfall and Agile (2.5 hours)</a:t>
            </a:r>
          </a:p>
        </p:txBody>
      </p:sp>
    </p:spTree>
    <p:extLst>
      <p:ext uri="{BB962C8B-B14F-4D97-AF65-F5344CB8AC3E}">
        <p14:creationId xmlns:p14="http://schemas.microsoft.com/office/powerpoint/2010/main" val="532215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DCEE9-24D7-FDEE-D64C-735274B0F01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1456EB0-F073-67EB-872A-FA736C06046D}"/>
              </a:ext>
            </a:extLst>
          </p:cNvPr>
          <p:cNvSpPr>
            <a:spLocks noGrp="1"/>
          </p:cNvSpPr>
          <p:nvPr>
            <p:ph type="title"/>
          </p:nvPr>
        </p:nvSpPr>
        <p:spPr/>
        <p:txBody>
          <a:bodyPr/>
          <a:lstStyle/>
          <a:p>
            <a:r>
              <a:rPr lang="it-IT" dirty="0" err="1"/>
              <a:t>Introduction</a:t>
            </a:r>
            <a:endParaRPr lang="en-GB" dirty="0"/>
          </a:p>
        </p:txBody>
      </p:sp>
      <p:sp>
        <p:nvSpPr>
          <p:cNvPr id="3" name="Segnaposto contenuto 2">
            <a:extLst>
              <a:ext uri="{FF2B5EF4-FFF2-40B4-BE49-F238E27FC236}">
                <a16:creationId xmlns:a16="http://schemas.microsoft.com/office/drawing/2014/main" id="{EF995E98-0DFF-A428-7A22-92F984C94565}"/>
              </a:ext>
            </a:extLst>
          </p:cNvPr>
          <p:cNvSpPr>
            <a:spLocks noGrp="1"/>
          </p:cNvSpPr>
          <p:nvPr>
            <p:ph idx="1"/>
          </p:nvPr>
        </p:nvSpPr>
        <p:spPr/>
        <p:txBody>
          <a:bodyPr>
            <a:normAutofit/>
          </a:bodyPr>
          <a:lstStyle/>
          <a:p>
            <a:pPr marL="0" indent="0" algn="just">
              <a:buNone/>
            </a:pPr>
            <a:r>
              <a:rPr lang="en-GB" sz="2600" dirty="0"/>
              <a:t>This training module focuses on the </a:t>
            </a:r>
            <a:r>
              <a:rPr lang="en-GB" sz="2600" b="1" dirty="0">
                <a:solidFill>
                  <a:srgbClr val="DC56F5"/>
                </a:solidFill>
              </a:rPr>
              <a:t>control and sustainability </a:t>
            </a:r>
            <a:r>
              <a:rPr lang="en-GB" sz="2600" dirty="0"/>
              <a:t>side of Agile project management: how to track performance, interpret what metrics really mean, and use them to continuously improve outcomes.</a:t>
            </a:r>
          </a:p>
          <a:p>
            <a:pPr marL="0" indent="0" algn="just">
              <a:buNone/>
            </a:pPr>
            <a:endParaRPr lang="en-GB" sz="2600" dirty="0"/>
          </a:p>
          <a:p>
            <a:pPr marL="0" indent="0" algn="just">
              <a:buNone/>
            </a:pPr>
            <a:r>
              <a:rPr lang="en-US" altLang="en-US" sz="2600" dirty="0"/>
              <a:t>You will first explore how to </a:t>
            </a:r>
            <a:r>
              <a:rPr lang="en-US" altLang="en-US" sz="2600" b="1" dirty="0"/>
              <a:t>m</a:t>
            </a:r>
            <a:r>
              <a:rPr lang="en-US" altLang="en-US" sz="2600" b="1" dirty="0">
                <a:solidFill>
                  <a:srgbClr val="DC56F5"/>
                </a:solidFill>
              </a:rPr>
              <a:t>easure performance in Agile environments</a:t>
            </a:r>
            <a:r>
              <a:rPr lang="en-US" altLang="en-US" sz="2600" dirty="0"/>
              <a:t>, starting from </a:t>
            </a:r>
            <a:r>
              <a:rPr lang="en-US" altLang="en-US" sz="2600" b="1" dirty="0">
                <a:solidFill>
                  <a:srgbClr val="DC56F5"/>
                </a:solidFill>
              </a:rPr>
              <a:t>velocity</a:t>
            </a:r>
            <a:r>
              <a:rPr lang="en-US" altLang="en-US" sz="2600" dirty="0"/>
              <a:t> as a key indicator of delivery capability and forecasting. The module then introduces the most commonly used visual tools showing what each one reveals about workflow speed, bottlenecks, scope creep, and predictability. </a:t>
            </a:r>
            <a:endParaRPr lang="en-GB" sz="2600" dirty="0"/>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1709712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A87B3-14DF-E8B8-C35A-D6422B5C0AB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237C998-D773-5C23-F154-FCD7F4888654}"/>
              </a:ext>
            </a:extLst>
          </p:cNvPr>
          <p:cNvSpPr>
            <a:spLocks noGrp="1"/>
          </p:cNvSpPr>
          <p:nvPr>
            <p:ph type="title"/>
          </p:nvPr>
        </p:nvSpPr>
        <p:spPr/>
        <p:txBody>
          <a:bodyPr/>
          <a:lstStyle/>
          <a:p>
            <a:r>
              <a:rPr lang="it-IT" dirty="0" err="1"/>
              <a:t>Introduction</a:t>
            </a:r>
            <a:endParaRPr lang="en-GB" dirty="0"/>
          </a:p>
        </p:txBody>
      </p:sp>
      <p:sp>
        <p:nvSpPr>
          <p:cNvPr id="3" name="Segnaposto contenuto 2">
            <a:extLst>
              <a:ext uri="{FF2B5EF4-FFF2-40B4-BE49-F238E27FC236}">
                <a16:creationId xmlns:a16="http://schemas.microsoft.com/office/drawing/2014/main" id="{E05F92A8-C848-B556-BA2C-3AAE2CF99F2C}"/>
              </a:ext>
            </a:extLst>
          </p:cNvPr>
          <p:cNvSpPr>
            <a:spLocks noGrp="1"/>
          </p:cNvSpPr>
          <p:nvPr>
            <p:ph idx="1"/>
          </p:nvPr>
        </p:nvSpPr>
        <p:spPr/>
        <p:txBody>
          <a:bodyPr>
            <a:normAutofit/>
          </a:bodyPr>
          <a:lstStyle/>
          <a:p>
            <a:pPr marL="0" indent="0" algn="just">
              <a:buNone/>
            </a:pPr>
            <a:r>
              <a:rPr lang="en-GB" sz="2600" dirty="0"/>
              <a:t>The second part addresses why Agile initiatives often struggle, shifting the focus from tools to </a:t>
            </a:r>
            <a:r>
              <a:rPr lang="en-GB" sz="2600" b="1" dirty="0">
                <a:solidFill>
                  <a:srgbClr val="DC56F5"/>
                </a:solidFill>
              </a:rPr>
              <a:t>organisational reality</a:t>
            </a:r>
            <a:r>
              <a:rPr lang="en-GB" sz="2600" dirty="0"/>
              <a:t>. You will analyse typical causes of failure and distinguish between </a:t>
            </a:r>
            <a:r>
              <a:rPr lang="en-GB" sz="2600" b="1" dirty="0">
                <a:solidFill>
                  <a:srgbClr val="DC56F5"/>
                </a:solidFill>
              </a:rPr>
              <a:t>Agile adoption</a:t>
            </a:r>
            <a:r>
              <a:rPr lang="en-GB" sz="2600" dirty="0">
                <a:solidFill>
                  <a:srgbClr val="DC56F5"/>
                </a:solidFill>
              </a:rPr>
              <a:t> </a:t>
            </a:r>
            <a:r>
              <a:rPr lang="en-GB" sz="2600" dirty="0"/>
              <a:t>(using practices) and </a:t>
            </a:r>
            <a:r>
              <a:rPr lang="en-GB" sz="2600" b="1" dirty="0">
                <a:solidFill>
                  <a:srgbClr val="DC56F5"/>
                </a:solidFill>
              </a:rPr>
              <a:t>Agile transformation</a:t>
            </a:r>
            <a:r>
              <a:rPr lang="en-GB" sz="2600" dirty="0">
                <a:solidFill>
                  <a:srgbClr val="DC56F5"/>
                </a:solidFill>
              </a:rPr>
              <a:t> </a:t>
            </a:r>
            <a:r>
              <a:rPr lang="en-GB" sz="2600" dirty="0"/>
              <a:t>(changing organisational culture).</a:t>
            </a:r>
          </a:p>
          <a:p>
            <a:pPr marL="0" indent="0" algn="just">
              <a:buNone/>
            </a:pPr>
            <a:endParaRPr lang="en-GB" sz="2600" dirty="0"/>
          </a:p>
          <a:p>
            <a:pPr marL="0" indent="0" algn="just">
              <a:buNone/>
            </a:pPr>
            <a:r>
              <a:rPr lang="en-GB" sz="2600" dirty="0"/>
              <a:t>Finally, the module supports practical decision-making in real projects by showing how to </a:t>
            </a:r>
            <a:r>
              <a:rPr lang="en-GB" sz="2600" b="1" dirty="0">
                <a:solidFill>
                  <a:srgbClr val="DC56F5"/>
                </a:solidFill>
              </a:rPr>
              <a:t>reconcile Agile and Waterfall</a:t>
            </a:r>
            <a:r>
              <a:rPr lang="en-GB" sz="2600" dirty="0">
                <a:solidFill>
                  <a:srgbClr val="DC56F5"/>
                </a:solidFill>
              </a:rPr>
              <a:t> </a:t>
            </a:r>
            <a:r>
              <a:rPr lang="en-GB" sz="2600" dirty="0"/>
              <a:t>when stakeholders still require traditional planning artifacts. </a:t>
            </a:r>
          </a:p>
        </p:txBody>
      </p:sp>
    </p:spTree>
    <p:extLst>
      <p:ext uri="{BB962C8B-B14F-4D97-AF65-F5344CB8AC3E}">
        <p14:creationId xmlns:p14="http://schemas.microsoft.com/office/powerpoint/2010/main" val="3439266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0CC9-8765-9DB8-4735-1BD033A0B1D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50C61DE-3C80-581A-DC9B-E7DDAA5C28B5}"/>
              </a:ext>
            </a:extLst>
          </p:cNvPr>
          <p:cNvSpPr>
            <a:spLocks noGrp="1"/>
          </p:cNvSpPr>
          <p:nvPr>
            <p:ph type="title"/>
          </p:nvPr>
        </p:nvSpPr>
        <p:spPr/>
        <p:txBody>
          <a:bodyPr/>
          <a:lstStyle/>
          <a:p>
            <a:r>
              <a:rPr lang="it-IT" dirty="0" err="1"/>
              <a:t>Introduction</a:t>
            </a:r>
            <a:endParaRPr lang="en-GB" dirty="0"/>
          </a:p>
        </p:txBody>
      </p:sp>
      <p:sp>
        <p:nvSpPr>
          <p:cNvPr id="3" name="Segnaposto contenuto 2">
            <a:extLst>
              <a:ext uri="{FF2B5EF4-FFF2-40B4-BE49-F238E27FC236}">
                <a16:creationId xmlns:a16="http://schemas.microsoft.com/office/drawing/2014/main" id="{60CFC4F9-617F-7C9F-6346-4036D76FDD4B}"/>
              </a:ext>
            </a:extLst>
          </p:cNvPr>
          <p:cNvSpPr>
            <a:spLocks noGrp="1"/>
          </p:cNvSpPr>
          <p:nvPr>
            <p:ph idx="1"/>
          </p:nvPr>
        </p:nvSpPr>
        <p:spPr/>
        <p:txBody>
          <a:bodyPr>
            <a:normAutofit fontScale="92500" lnSpcReduction="10000"/>
          </a:bodyPr>
          <a:lstStyle/>
          <a:p>
            <a:pPr marL="0" indent="0">
              <a:buNone/>
            </a:pPr>
            <a:r>
              <a:rPr lang="en-GB" dirty="0"/>
              <a:t>At the end of this module, you will be able to:</a:t>
            </a:r>
          </a:p>
          <a:p>
            <a:pPr marL="0" indent="0">
              <a:buNone/>
            </a:pPr>
            <a:endParaRPr lang="en-GB" dirty="0"/>
          </a:p>
          <a:p>
            <a:r>
              <a:rPr lang="en-GB" dirty="0"/>
              <a:t>Understand key performance metrics used in Agile environments</a:t>
            </a:r>
          </a:p>
          <a:p>
            <a:r>
              <a:rPr lang="en-GB" dirty="0"/>
              <a:t>Identify and apply appropriate measurement tools and techniques</a:t>
            </a:r>
          </a:p>
          <a:p>
            <a:r>
              <a:rPr lang="en-GB" dirty="0"/>
              <a:t>Discuss the importance of continuous improvement and feedback loops</a:t>
            </a:r>
          </a:p>
          <a:p>
            <a:r>
              <a:rPr lang="en-GB" dirty="0"/>
              <a:t>Understand the concept of risk in an Agile context</a:t>
            </a:r>
          </a:p>
          <a:p>
            <a:r>
              <a:rPr lang="en-GB" dirty="0"/>
              <a:t>Identify different types of risks in Agile projects</a:t>
            </a:r>
          </a:p>
          <a:p>
            <a:r>
              <a:rPr lang="en-GB" dirty="0"/>
              <a:t>Distinguish between Waterfall and Agile methodologies</a:t>
            </a:r>
          </a:p>
          <a:p>
            <a:r>
              <a:rPr lang="en-GB" dirty="0"/>
              <a:t>Identify the strengths and weaknesses of each methodology</a:t>
            </a:r>
          </a:p>
          <a:p>
            <a:endParaRPr lang="en-GB" dirty="0"/>
          </a:p>
          <a:p>
            <a:endParaRPr lang="en-GB" dirty="0"/>
          </a:p>
        </p:txBody>
      </p:sp>
    </p:spTree>
    <p:extLst>
      <p:ext uri="{BB962C8B-B14F-4D97-AF65-F5344CB8AC3E}">
        <p14:creationId xmlns:p14="http://schemas.microsoft.com/office/powerpoint/2010/main" val="863251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AF3553-01B7-B91F-DBDD-0393F55C2A48}"/>
              </a:ext>
            </a:extLst>
          </p:cNvPr>
          <p:cNvSpPr>
            <a:spLocks noGrp="1"/>
          </p:cNvSpPr>
          <p:nvPr>
            <p:ph type="ctrTitle"/>
          </p:nvPr>
        </p:nvSpPr>
        <p:spPr/>
        <p:txBody>
          <a:bodyPr/>
          <a:lstStyle/>
          <a:p>
            <a:r>
              <a:rPr lang="en-GB" dirty="0"/>
              <a:t>How to measure performance</a:t>
            </a:r>
          </a:p>
        </p:txBody>
      </p:sp>
    </p:spTree>
    <p:extLst>
      <p:ext uri="{BB962C8B-B14F-4D97-AF65-F5344CB8AC3E}">
        <p14:creationId xmlns:p14="http://schemas.microsoft.com/office/powerpoint/2010/main" val="401345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5A9C02-CC83-6648-8D59-7D548345851E}"/>
              </a:ext>
            </a:extLst>
          </p:cNvPr>
          <p:cNvSpPr>
            <a:spLocks noGrp="1"/>
          </p:cNvSpPr>
          <p:nvPr>
            <p:ph type="title"/>
          </p:nvPr>
        </p:nvSpPr>
        <p:spPr/>
        <p:txBody>
          <a:bodyPr/>
          <a:lstStyle/>
          <a:p>
            <a:r>
              <a:rPr lang="en-GB" dirty="0"/>
              <a:t>Velocity: the key metric</a:t>
            </a:r>
          </a:p>
        </p:txBody>
      </p:sp>
      <p:sp>
        <p:nvSpPr>
          <p:cNvPr id="3" name="Segnaposto contenuto 2">
            <a:extLst>
              <a:ext uri="{FF2B5EF4-FFF2-40B4-BE49-F238E27FC236}">
                <a16:creationId xmlns:a16="http://schemas.microsoft.com/office/drawing/2014/main" id="{3FD4EE9D-3BD5-5FC6-6FFB-686702938D9B}"/>
              </a:ext>
            </a:extLst>
          </p:cNvPr>
          <p:cNvSpPr>
            <a:spLocks noGrp="1"/>
          </p:cNvSpPr>
          <p:nvPr>
            <p:ph idx="1"/>
          </p:nvPr>
        </p:nvSpPr>
        <p:spPr/>
        <p:txBody>
          <a:bodyPr/>
          <a:lstStyle/>
          <a:p>
            <a:pPr marL="0" indent="0">
              <a:buNone/>
            </a:pPr>
            <a:r>
              <a:rPr lang="en-GB" dirty="0"/>
              <a:t>Velocity: measure of the amount of work a team manages to complete during a single cycle/sprint.</a:t>
            </a:r>
          </a:p>
          <a:p>
            <a:pPr marL="0" indent="0">
              <a:buNone/>
            </a:pPr>
            <a:endParaRPr lang="en-GB" dirty="0"/>
          </a:p>
          <a:p>
            <a:pPr marL="0" indent="0">
              <a:buNone/>
            </a:pPr>
            <a:r>
              <a:rPr lang="en-GB" dirty="0"/>
              <a:t>It is calculated for each cycle, summing up the effort (in hours or points) expended to complete the 'done' cards.</a:t>
            </a:r>
          </a:p>
          <a:p>
            <a:pPr marL="0" indent="0">
              <a:buNone/>
            </a:pPr>
            <a:endParaRPr lang="en-GB" dirty="0"/>
          </a:p>
          <a:p>
            <a:endParaRPr lang="en-GB" dirty="0"/>
          </a:p>
        </p:txBody>
      </p:sp>
    </p:spTree>
    <p:extLst>
      <p:ext uri="{BB962C8B-B14F-4D97-AF65-F5344CB8AC3E}">
        <p14:creationId xmlns:p14="http://schemas.microsoft.com/office/powerpoint/2010/main" val="34331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51C0C-A2AB-48F7-3279-323CECF5C70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7729022-6050-E658-0151-A2C278B8AF80}"/>
              </a:ext>
            </a:extLst>
          </p:cNvPr>
          <p:cNvSpPr>
            <a:spLocks noGrp="1"/>
          </p:cNvSpPr>
          <p:nvPr>
            <p:ph type="title"/>
          </p:nvPr>
        </p:nvSpPr>
        <p:spPr/>
        <p:txBody>
          <a:bodyPr/>
          <a:lstStyle/>
          <a:p>
            <a:r>
              <a:rPr lang="en-GB" dirty="0"/>
              <a:t>Velocity chart</a:t>
            </a:r>
          </a:p>
        </p:txBody>
      </p:sp>
      <p:sp>
        <p:nvSpPr>
          <p:cNvPr id="3" name="Segnaposto contenuto 2">
            <a:extLst>
              <a:ext uri="{FF2B5EF4-FFF2-40B4-BE49-F238E27FC236}">
                <a16:creationId xmlns:a16="http://schemas.microsoft.com/office/drawing/2014/main" id="{201472BD-8CC5-C9AC-5131-A14A8531F1A0}"/>
              </a:ext>
            </a:extLst>
          </p:cNvPr>
          <p:cNvSpPr>
            <a:spLocks noGrp="1"/>
          </p:cNvSpPr>
          <p:nvPr>
            <p:ph idx="1"/>
          </p:nvPr>
        </p:nvSpPr>
        <p:spPr>
          <a:xfrm>
            <a:off x="7282403" y="2552573"/>
            <a:ext cx="4071397" cy="1752853"/>
          </a:xfrm>
        </p:spPr>
        <p:txBody>
          <a:bodyPr>
            <a:normAutofit fontScale="92500" lnSpcReduction="20000"/>
          </a:bodyPr>
          <a:lstStyle/>
          <a:p>
            <a:pPr marL="0" indent="0">
              <a:buNone/>
            </a:pPr>
            <a:r>
              <a:rPr lang="en-GB" dirty="0"/>
              <a:t>Shows workﬂow speed and team workload per sprint.</a:t>
            </a:r>
          </a:p>
          <a:p>
            <a:pPr marL="0" indent="0">
              <a:buNone/>
            </a:pPr>
            <a:r>
              <a:rPr lang="en-GB" dirty="0"/>
              <a:t>Allows you to do forecasts for the future.</a:t>
            </a:r>
          </a:p>
          <a:p>
            <a:pPr marL="0" indent="0">
              <a:buNone/>
            </a:pPr>
            <a:endParaRPr lang="en-GB" dirty="0"/>
          </a:p>
          <a:p>
            <a:endParaRPr lang="en-GB" dirty="0"/>
          </a:p>
        </p:txBody>
      </p:sp>
      <p:sp>
        <p:nvSpPr>
          <p:cNvPr id="6" name="object 5">
            <a:extLst>
              <a:ext uri="{FF2B5EF4-FFF2-40B4-BE49-F238E27FC236}">
                <a16:creationId xmlns:a16="http://schemas.microsoft.com/office/drawing/2014/main" id="{66302EB9-0196-D648-F9F4-C4769F14C7B7}"/>
              </a:ext>
            </a:extLst>
          </p:cNvPr>
          <p:cNvSpPr/>
          <p:nvPr/>
        </p:nvSpPr>
        <p:spPr>
          <a:xfrm>
            <a:off x="5325648" y="3845235"/>
            <a:ext cx="1672865" cy="294397"/>
          </a:xfrm>
          <a:custGeom>
            <a:avLst/>
            <a:gdLst/>
            <a:ahLst/>
            <a:cxnLst/>
            <a:rect l="l" t="t" r="r" b="b"/>
            <a:pathLst>
              <a:path w="1325245" h="229869">
                <a:moveTo>
                  <a:pt x="1325099" y="229799"/>
                </a:moveTo>
                <a:lnTo>
                  <a:pt x="0" y="229799"/>
                </a:lnTo>
                <a:lnTo>
                  <a:pt x="0" y="0"/>
                </a:lnTo>
                <a:lnTo>
                  <a:pt x="1325099" y="0"/>
                </a:lnTo>
                <a:lnTo>
                  <a:pt x="1325099" y="229799"/>
                </a:lnTo>
                <a:close/>
              </a:path>
            </a:pathLst>
          </a:custGeom>
          <a:solidFill>
            <a:srgbClr val="FFFFFF"/>
          </a:solidFill>
        </p:spPr>
        <p:txBody>
          <a:bodyPr wrap="square" lIns="0" tIns="0" rIns="0" bIns="0" rtlCol="0"/>
          <a:lstStyle/>
          <a:p>
            <a:endParaRPr/>
          </a:p>
        </p:txBody>
      </p:sp>
      <p:pic>
        <p:nvPicPr>
          <p:cNvPr id="1026" name="Picture 2" descr="Velocity chart">
            <a:extLst>
              <a:ext uri="{FF2B5EF4-FFF2-40B4-BE49-F238E27FC236}">
                <a16:creationId xmlns:a16="http://schemas.microsoft.com/office/drawing/2014/main" id="{66151792-8831-DCEC-D232-4A2DCC0A6C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91130"/>
            <a:ext cx="6244650" cy="3497004"/>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EAA1D849-C635-6F6D-65A5-603DA3A4771D}"/>
              </a:ext>
            </a:extLst>
          </p:cNvPr>
          <p:cNvSpPr txBox="1"/>
          <p:nvPr/>
        </p:nvSpPr>
        <p:spPr>
          <a:xfrm>
            <a:off x="1061884" y="5888134"/>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a:latin typeface="Bahnschrift SemiLight" panose="020B0502040204020203" pitchFamily="34" charset="0"/>
              </a:rPr>
              <a:t>Adrian Baker - </a:t>
            </a:r>
            <a:r>
              <a:rPr lang="it-IT" sz="900" i="1" dirty="0" err="1">
                <a:latin typeface="Bahnschrift SemiLight" panose="020B0502040204020203" pitchFamily="34" charset="0"/>
              </a:rPr>
              <a:t>DZone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https://dzone.com/</a:t>
            </a:r>
            <a:r>
              <a:rPr lang="it-IT" sz="900" dirty="0" err="1">
                <a:latin typeface="Bahnschrift SemiLight" panose="020B0502040204020203" pitchFamily="34" charset="0"/>
                <a:hlinkClick r:id="rId4"/>
              </a:rPr>
              <a:t>articles</a:t>
            </a:r>
            <a:r>
              <a:rPr lang="it-IT" sz="900" dirty="0">
                <a:latin typeface="Bahnschrift SemiLight" panose="020B0502040204020203" pitchFamily="34" charset="0"/>
                <a:hlinkClick r:id="rId4"/>
              </a:rPr>
              <a:t>/</a:t>
            </a:r>
            <a:r>
              <a:rPr lang="it-IT" sz="900" dirty="0" err="1">
                <a:latin typeface="Bahnschrift SemiLight" panose="020B0502040204020203" pitchFamily="34" charset="0"/>
                <a:hlinkClick r:id="rId4"/>
              </a:rPr>
              <a:t>variance</a:t>
            </a:r>
            <a:r>
              <a:rPr lang="it-IT" sz="900" dirty="0">
                <a:latin typeface="Bahnschrift SemiLight" panose="020B0502040204020203" pitchFamily="34" charset="0"/>
                <a:hlinkClick r:id="rId4"/>
              </a:rPr>
              <a:t>-the-</a:t>
            </a:r>
            <a:r>
              <a:rPr lang="it-IT" sz="900" dirty="0" err="1">
                <a:latin typeface="Bahnschrift SemiLight" panose="020B0502040204020203" pitchFamily="34" charset="0"/>
                <a:hlinkClick r:id="rId4"/>
              </a:rPr>
              <a:t>heartbeat</a:t>
            </a:r>
            <a:r>
              <a:rPr lang="it-IT" sz="900" dirty="0">
                <a:latin typeface="Bahnschrift SemiLight" panose="020B0502040204020203" pitchFamily="34" charset="0"/>
                <a:hlinkClick r:id="rId4"/>
              </a:rPr>
              <a:t>-of-agile-</a:t>
            </a:r>
            <a:r>
              <a:rPr lang="it-IT" sz="900" dirty="0" err="1">
                <a:latin typeface="Bahnschrift SemiLight" panose="020B0502040204020203" pitchFamily="34" charset="0"/>
                <a:hlinkClick r:id="rId4"/>
              </a:rPr>
              <a:t>metrics</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152048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48909-88DD-CFA1-A51D-707FF13E72D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CD6E405-E296-DA05-06EA-D9522C0AA6CB}"/>
              </a:ext>
            </a:extLst>
          </p:cNvPr>
          <p:cNvSpPr>
            <a:spLocks noGrp="1"/>
          </p:cNvSpPr>
          <p:nvPr>
            <p:ph type="title"/>
          </p:nvPr>
        </p:nvSpPr>
        <p:spPr/>
        <p:txBody>
          <a:bodyPr/>
          <a:lstStyle/>
          <a:p>
            <a:r>
              <a:rPr lang="en-GB" dirty="0"/>
              <a:t>Velocity chart</a:t>
            </a:r>
          </a:p>
        </p:txBody>
      </p:sp>
      <p:sp>
        <p:nvSpPr>
          <p:cNvPr id="3" name="Segnaposto contenuto 2">
            <a:extLst>
              <a:ext uri="{FF2B5EF4-FFF2-40B4-BE49-F238E27FC236}">
                <a16:creationId xmlns:a16="http://schemas.microsoft.com/office/drawing/2014/main" id="{E6386667-9A7C-DAAA-1AE1-7CC283DDE6E1}"/>
              </a:ext>
            </a:extLst>
          </p:cNvPr>
          <p:cNvSpPr>
            <a:spLocks noGrp="1"/>
          </p:cNvSpPr>
          <p:nvPr>
            <p:ph idx="1"/>
          </p:nvPr>
        </p:nvSpPr>
        <p:spPr/>
        <p:txBody>
          <a:bodyPr>
            <a:normAutofit fontScale="85000" lnSpcReduction="20000"/>
          </a:bodyPr>
          <a:lstStyle/>
          <a:p>
            <a:pPr marL="0" indent="0">
              <a:buNone/>
            </a:pPr>
            <a:r>
              <a:rPr lang="en-GB" dirty="0"/>
              <a:t>Requirements:</a:t>
            </a:r>
          </a:p>
          <a:p>
            <a:r>
              <a:rPr lang="en-GB" dirty="0"/>
              <a:t>Definition of work units (effort) for each task and duration of sprints.</a:t>
            </a:r>
          </a:p>
          <a:p>
            <a:r>
              <a:rPr lang="en-GB" dirty="0"/>
              <a:t>Continuous communication between team members on completed/to-be-completed tasks.</a:t>
            </a:r>
          </a:p>
          <a:p>
            <a:r>
              <a:rPr lang="en-GB" dirty="0"/>
              <a:t>At the end of each sprint, analysis of the number of completed work units.</a:t>
            </a:r>
          </a:p>
          <a:p>
            <a:endParaRPr lang="en-GB" dirty="0"/>
          </a:p>
          <a:p>
            <a:pPr marL="0" indent="0">
              <a:buNone/>
            </a:pPr>
            <a:r>
              <a:rPr lang="en-GB" dirty="0"/>
              <a:t>Note: An actual velocity lower than the estimated one may denote:</a:t>
            </a:r>
          </a:p>
          <a:p>
            <a:r>
              <a:rPr lang="en-GB" dirty="0"/>
              <a:t>FF too high</a:t>
            </a:r>
          </a:p>
          <a:p>
            <a:r>
              <a:rPr lang="en-GB" dirty="0"/>
              <a:t>Optimistic estimates</a:t>
            </a:r>
          </a:p>
          <a:p>
            <a:endParaRPr lang="en-GB" dirty="0"/>
          </a:p>
          <a:p>
            <a:pPr marL="0" indent="0">
              <a:buNone/>
            </a:pPr>
            <a:r>
              <a:rPr lang="en-GB" dirty="0"/>
              <a:t>Tip: to increase team velocity, start the retrospective from the 'blocked' cards.</a:t>
            </a:r>
          </a:p>
          <a:p>
            <a:pPr marL="0" indent="0">
              <a:buNone/>
            </a:pPr>
            <a:endParaRPr lang="en-GB" dirty="0"/>
          </a:p>
        </p:txBody>
      </p:sp>
    </p:spTree>
    <p:extLst>
      <p:ext uri="{BB962C8B-B14F-4D97-AF65-F5344CB8AC3E}">
        <p14:creationId xmlns:p14="http://schemas.microsoft.com/office/powerpoint/2010/main" val="2719030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AB6C5-35B6-C3AD-6A65-C843F850868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26279CF-C763-900D-2128-AE5ABD1AC77A}"/>
              </a:ext>
            </a:extLst>
          </p:cNvPr>
          <p:cNvSpPr>
            <a:spLocks noGrp="1"/>
          </p:cNvSpPr>
          <p:nvPr>
            <p:ph type="title"/>
          </p:nvPr>
        </p:nvSpPr>
        <p:spPr/>
        <p:txBody>
          <a:bodyPr/>
          <a:lstStyle/>
          <a:p>
            <a:r>
              <a:rPr lang="en-GB" sz="3600" dirty="0"/>
              <a:t>Burndown</a:t>
            </a:r>
            <a:r>
              <a:rPr lang="en-GB" sz="3600" spc="-135" dirty="0"/>
              <a:t> </a:t>
            </a:r>
            <a:r>
              <a:rPr lang="en-GB" sz="3600" spc="-10" dirty="0"/>
              <a:t>chart</a:t>
            </a:r>
            <a:endParaRPr lang="en-GB" dirty="0"/>
          </a:p>
        </p:txBody>
      </p:sp>
      <p:sp>
        <p:nvSpPr>
          <p:cNvPr id="3" name="Segnaposto contenuto 2">
            <a:extLst>
              <a:ext uri="{FF2B5EF4-FFF2-40B4-BE49-F238E27FC236}">
                <a16:creationId xmlns:a16="http://schemas.microsoft.com/office/drawing/2014/main" id="{4D081C03-AE54-1966-7697-AD374267D636}"/>
              </a:ext>
            </a:extLst>
          </p:cNvPr>
          <p:cNvSpPr>
            <a:spLocks noGrp="1"/>
          </p:cNvSpPr>
          <p:nvPr>
            <p:ph idx="1"/>
          </p:nvPr>
        </p:nvSpPr>
        <p:spPr>
          <a:xfrm>
            <a:off x="7104715" y="2157293"/>
            <a:ext cx="4344112" cy="3481313"/>
          </a:xfrm>
        </p:spPr>
        <p:txBody>
          <a:bodyPr>
            <a:normAutofit fontScale="77500" lnSpcReduction="20000"/>
          </a:bodyPr>
          <a:lstStyle/>
          <a:p>
            <a:pPr marL="0" indent="0">
              <a:buNone/>
            </a:pPr>
            <a:r>
              <a:rPr lang="en-GB" dirty="0"/>
              <a:t>Graphical representation of the work required to complete a project.</a:t>
            </a:r>
          </a:p>
          <a:p>
            <a:pPr marL="0" indent="0">
              <a:buNone/>
            </a:pPr>
            <a:r>
              <a:rPr lang="en-GB" dirty="0"/>
              <a:t>Usually the remaining work (or backlog) is indicated on the vertical axis and the time on the horizontal axis.</a:t>
            </a:r>
          </a:p>
          <a:p>
            <a:pPr marL="0" indent="0">
              <a:buNone/>
            </a:pPr>
            <a:r>
              <a:rPr lang="en-GB" dirty="0"/>
              <a:t>The diagram represents a time series of tasks to be completed.</a:t>
            </a:r>
          </a:p>
          <a:p>
            <a:pPr marL="0" indent="0">
              <a:buNone/>
            </a:pPr>
            <a:r>
              <a:rPr lang="en-GB" dirty="0"/>
              <a:t>It is useful for predicting when the work will be completed.</a:t>
            </a:r>
          </a:p>
          <a:p>
            <a:pPr marL="0" indent="0">
              <a:buNone/>
            </a:pPr>
            <a:endParaRPr lang="en-GB" dirty="0"/>
          </a:p>
        </p:txBody>
      </p:sp>
      <p:sp>
        <p:nvSpPr>
          <p:cNvPr id="4" name="CasellaDiTesto 3">
            <a:extLst>
              <a:ext uri="{FF2B5EF4-FFF2-40B4-BE49-F238E27FC236}">
                <a16:creationId xmlns:a16="http://schemas.microsoft.com/office/drawing/2014/main" id="{ED88D1B3-C282-8663-FFF0-19616127AAD7}"/>
              </a:ext>
            </a:extLst>
          </p:cNvPr>
          <p:cNvSpPr txBox="1"/>
          <p:nvPr/>
        </p:nvSpPr>
        <p:spPr>
          <a:xfrm>
            <a:off x="838200" y="5457270"/>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a:latin typeface="Bahnschrift SemiLight" panose="020B0502040204020203" pitchFamily="34" charset="0"/>
              </a:rPr>
              <a:t>Timothy A. Chick - </a:t>
            </a:r>
            <a:r>
              <a:rPr lang="it-IT" sz="900" i="1" dirty="0" err="1">
                <a:latin typeface="Bahnschrift SemiLight" panose="020B0502040204020203" pitchFamily="34" charset="0"/>
              </a:rPr>
              <a:t>ResearchGate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3"/>
              </a:rPr>
              <a:t>https://www.researchgate.net/figure/Sample-Release-Burn-Up-Chart_fig7_266049888</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pic>
        <p:nvPicPr>
          <p:cNvPr id="2050" name="Picture 2" descr="Sample Sprint Burn-Down Chart">
            <a:extLst>
              <a:ext uri="{FF2B5EF4-FFF2-40B4-BE49-F238E27FC236}">
                <a16:creationId xmlns:a16="http://schemas.microsoft.com/office/drawing/2014/main" id="{DB49B4A9-6000-0571-9EC4-3108AC1F80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594" y="2157293"/>
            <a:ext cx="5306625" cy="3202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068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C10BBC-F90C-0A03-8DCE-4125434F387D}"/>
              </a:ext>
            </a:extLst>
          </p:cNvPr>
          <p:cNvSpPr>
            <a:spLocks noGrp="1"/>
          </p:cNvSpPr>
          <p:nvPr>
            <p:ph type="title"/>
          </p:nvPr>
        </p:nvSpPr>
        <p:spPr/>
        <p:txBody>
          <a:bodyPr/>
          <a:lstStyle/>
          <a:p>
            <a:r>
              <a:rPr lang="it-IT" dirty="0" err="1"/>
              <a:t>Burnup</a:t>
            </a:r>
            <a:r>
              <a:rPr lang="it-IT" dirty="0"/>
              <a:t> chart</a:t>
            </a:r>
            <a:endParaRPr lang="en-GB" dirty="0"/>
          </a:p>
        </p:txBody>
      </p:sp>
      <p:sp>
        <p:nvSpPr>
          <p:cNvPr id="3" name="Segnaposto contenuto 2">
            <a:extLst>
              <a:ext uri="{FF2B5EF4-FFF2-40B4-BE49-F238E27FC236}">
                <a16:creationId xmlns:a16="http://schemas.microsoft.com/office/drawing/2014/main" id="{BFE6BAF3-3447-8E23-5204-18B79C86BCB0}"/>
              </a:ext>
            </a:extLst>
          </p:cNvPr>
          <p:cNvSpPr>
            <a:spLocks noGrp="1"/>
          </p:cNvSpPr>
          <p:nvPr>
            <p:ph idx="1"/>
          </p:nvPr>
        </p:nvSpPr>
        <p:spPr>
          <a:xfrm>
            <a:off x="6580973" y="1999716"/>
            <a:ext cx="4422449" cy="3901778"/>
          </a:xfrm>
        </p:spPr>
        <p:txBody>
          <a:bodyPr>
            <a:normAutofit fontScale="62500" lnSpcReduction="20000"/>
          </a:bodyPr>
          <a:lstStyle/>
          <a:p>
            <a:pPr marL="0" indent="0">
              <a:buNone/>
            </a:pPr>
            <a:r>
              <a:rPr lang="en-GB" dirty="0"/>
              <a:t>Are there alternatives to the unedifying ‘flat’ burndown charts? The burnup charts. </a:t>
            </a:r>
          </a:p>
          <a:p>
            <a:pPr marL="0" indent="0">
              <a:buNone/>
            </a:pPr>
            <a:r>
              <a:rPr lang="en-GB" dirty="0"/>
              <a:t>Burnup charts answer the opposite question: how much work has been completed?</a:t>
            </a:r>
          </a:p>
          <a:p>
            <a:pPr marL="0" indent="0">
              <a:buNone/>
            </a:pPr>
            <a:r>
              <a:rPr lang="en-GB" dirty="0"/>
              <a:t>Whereas a Burndown chart should always tend downwards, an ideal Burnup chart moves upwards</a:t>
            </a:r>
          </a:p>
          <a:p>
            <a:pPr marL="0" indent="0">
              <a:buNone/>
            </a:pPr>
            <a:endParaRPr lang="en-GB" dirty="0"/>
          </a:p>
          <a:p>
            <a:pPr marL="0" indent="0">
              <a:buNone/>
            </a:pPr>
            <a:r>
              <a:rPr lang="en-GB" dirty="0"/>
              <a:t>But why don't we like burnup charts?</a:t>
            </a:r>
          </a:p>
          <a:p>
            <a:r>
              <a:rPr lang="en-GB" dirty="0"/>
              <a:t>They have no predictive utility</a:t>
            </a:r>
          </a:p>
          <a:p>
            <a:r>
              <a:rPr lang="en-GB" dirty="0"/>
              <a:t>They do not push velocity up (I do not know how much effort is left to finish the job, so I do not 'speed up')</a:t>
            </a:r>
          </a:p>
          <a:p>
            <a:pPr marL="0" indent="0">
              <a:buNone/>
            </a:pPr>
            <a:endParaRPr lang="en-GB" dirty="0"/>
          </a:p>
          <a:p>
            <a:pPr marL="0" indent="0">
              <a:buNone/>
            </a:pPr>
            <a:endParaRPr lang="en-GB" dirty="0"/>
          </a:p>
        </p:txBody>
      </p:sp>
      <p:pic>
        <p:nvPicPr>
          <p:cNvPr id="3074" name="Picture 2" descr="Sample Release Burn-Up Chart">
            <a:extLst>
              <a:ext uri="{FF2B5EF4-FFF2-40B4-BE49-F238E27FC236}">
                <a16:creationId xmlns:a16="http://schemas.microsoft.com/office/drawing/2014/main" id="{CF2B3179-3A0A-AFC5-A9C3-1FE680A6F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00" y="1999716"/>
            <a:ext cx="5306400" cy="3183840"/>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9E36AD7B-80A5-A58E-0762-2AAACC0E6CFE}"/>
              </a:ext>
            </a:extLst>
          </p:cNvPr>
          <p:cNvSpPr txBox="1"/>
          <p:nvPr/>
        </p:nvSpPr>
        <p:spPr>
          <a:xfrm>
            <a:off x="925742" y="5307918"/>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a:latin typeface="Bahnschrift SemiLight" panose="020B0502040204020203" pitchFamily="34" charset="0"/>
              </a:rPr>
              <a:t>Timothy A. Chick - </a:t>
            </a:r>
            <a:r>
              <a:rPr lang="it-IT" sz="900" i="1" dirty="0" err="1">
                <a:latin typeface="Bahnschrift SemiLight" panose="020B0502040204020203" pitchFamily="34" charset="0"/>
              </a:rPr>
              <a:t>ResearchGate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https://www.researchgate.net/figure/Sample-Release-Burn-Up-Chart_fig7_266049888</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3763392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FBA05-64ED-1369-9DF5-A23C1B5F019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0A1C48A-0746-2BD1-8731-AB9D513BD41F}"/>
              </a:ext>
            </a:extLst>
          </p:cNvPr>
          <p:cNvSpPr>
            <a:spLocks noGrp="1"/>
          </p:cNvSpPr>
          <p:nvPr>
            <p:ph type="title"/>
          </p:nvPr>
        </p:nvSpPr>
        <p:spPr/>
        <p:txBody>
          <a:bodyPr/>
          <a:lstStyle/>
          <a:p>
            <a:r>
              <a:rPr lang="en-GB" sz="3600" spc="-40" dirty="0"/>
              <a:t>Cumulative</a:t>
            </a:r>
            <a:r>
              <a:rPr lang="en-GB" sz="3600" spc="-185" dirty="0"/>
              <a:t> </a:t>
            </a:r>
            <a:r>
              <a:rPr lang="en-GB" sz="3600" dirty="0"/>
              <a:t>Flow</a:t>
            </a:r>
            <a:r>
              <a:rPr lang="en-GB" sz="3600" spc="-185" dirty="0"/>
              <a:t> </a:t>
            </a:r>
            <a:r>
              <a:rPr lang="en-GB" sz="3600" spc="-35" dirty="0"/>
              <a:t>Diagram</a:t>
            </a:r>
            <a:r>
              <a:rPr lang="en-GB" sz="3600" spc="-180" dirty="0"/>
              <a:t> </a:t>
            </a:r>
            <a:r>
              <a:rPr lang="en-GB" sz="3600" spc="-85" dirty="0"/>
              <a:t>(CFD)</a:t>
            </a:r>
            <a:endParaRPr lang="en-GB" dirty="0"/>
          </a:p>
        </p:txBody>
      </p:sp>
      <p:sp>
        <p:nvSpPr>
          <p:cNvPr id="3" name="Segnaposto contenuto 2">
            <a:extLst>
              <a:ext uri="{FF2B5EF4-FFF2-40B4-BE49-F238E27FC236}">
                <a16:creationId xmlns:a16="http://schemas.microsoft.com/office/drawing/2014/main" id="{809EF948-37EE-F5BC-84FB-97E0209C2A02}"/>
              </a:ext>
            </a:extLst>
          </p:cNvPr>
          <p:cNvSpPr>
            <a:spLocks noGrp="1"/>
          </p:cNvSpPr>
          <p:nvPr>
            <p:ph idx="1"/>
          </p:nvPr>
        </p:nvSpPr>
        <p:spPr>
          <a:xfrm>
            <a:off x="6931351" y="2368192"/>
            <a:ext cx="3807749" cy="2897024"/>
          </a:xfrm>
        </p:spPr>
        <p:txBody>
          <a:bodyPr>
            <a:normAutofit fontScale="77500" lnSpcReduction="20000"/>
          </a:bodyPr>
          <a:lstStyle/>
          <a:p>
            <a:pPr marL="0" indent="0">
              <a:buNone/>
            </a:pPr>
            <a:r>
              <a:rPr lang="en-GB" dirty="0"/>
              <a:t>Advantages:</a:t>
            </a:r>
          </a:p>
          <a:p>
            <a:r>
              <a:rPr lang="en-GB" dirty="0"/>
              <a:t>Exceeds the limits of Burndown and Burnup</a:t>
            </a:r>
          </a:p>
          <a:p>
            <a:r>
              <a:rPr lang="en-GB" dirty="0"/>
              <a:t>Adds some extra data</a:t>
            </a:r>
          </a:p>
          <a:p>
            <a:r>
              <a:rPr lang="en-GB" dirty="0"/>
              <a:t>Displays data in a better way</a:t>
            </a:r>
          </a:p>
          <a:p>
            <a:r>
              <a:rPr lang="en-GB" dirty="0"/>
              <a:t>Promotes more robust decision-making processes</a:t>
            </a:r>
          </a:p>
          <a:p>
            <a:pPr marL="0" indent="0">
              <a:buNone/>
            </a:pPr>
            <a:endParaRPr lang="en-GB" dirty="0"/>
          </a:p>
        </p:txBody>
      </p:sp>
      <p:pic>
        <p:nvPicPr>
          <p:cNvPr id="5" name="object 4">
            <a:extLst>
              <a:ext uri="{FF2B5EF4-FFF2-40B4-BE49-F238E27FC236}">
                <a16:creationId xmlns:a16="http://schemas.microsoft.com/office/drawing/2014/main" id="{27D3E26D-8157-A41F-1BD3-0819480AA83A}"/>
              </a:ext>
            </a:extLst>
          </p:cNvPr>
          <p:cNvPicPr/>
          <p:nvPr/>
        </p:nvPicPr>
        <p:blipFill>
          <a:blip r:embed="rId3" cstate="print"/>
          <a:stretch>
            <a:fillRect/>
          </a:stretch>
        </p:blipFill>
        <p:spPr>
          <a:xfrm>
            <a:off x="917273" y="2026333"/>
            <a:ext cx="5572017" cy="3580741"/>
          </a:xfrm>
          <a:prstGeom prst="rect">
            <a:avLst/>
          </a:prstGeom>
        </p:spPr>
      </p:pic>
      <p:sp>
        <p:nvSpPr>
          <p:cNvPr id="4" name="CasellaDiTesto 3">
            <a:extLst>
              <a:ext uri="{FF2B5EF4-FFF2-40B4-BE49-F238E27FC236}">
                <a16:creationId xmlns:a16="http://schemas.microsoft.com/office/drawing/2014/main" id="{CBCAEA78-1464-8B8C-1579-E6FEDBC78839}"/>
              </a:ext>
            </a:extLst>
          </p:cNvPr>
          <p:cNvSpPr txBox="1"/>
          <p:nvPr/>
        </p:nvSpPr>
        <p:spPr>
          <a:xfrm>
            <a:off x="1186223" y="5758053"/>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err="1">
                <a:latin typeface="Bahnschrift SemiLight" panose="020B0502040204020203" pitchFamily="34" charset="0"/>
              </a:rPr>
              <a:t>Ken</a:t>
            </a:r>
            <a:r>
              <a:rPr lang="it-IT" sz="900" i="1" dirty="0">
                <a:latin typeface="Bahnschrift SemiLight" panose="020B0502040204020203" pitchFamily="34" charset="0"/>
              </a:rPr>
              <a:t> </a:t>
            </a:r>
            <a:r>
              <a:rPr lang="it-IT" sz="900" i="1" dirty="0" err="1">
                <a:latin typeface="Bahnschrift SemiLight" panose="020B0502040204020203" pitchFamily="34" charset="0"/>
              </a:rPr>
              <a:t>Furlong</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https://www.excella.com/insights/</a:t>
            </a:r>
            <a:r>
              <a:rPr lang="it-IT" sz="900" dirty="0" err="1">
                <a:latin typeface="Bahnschrift SemiLight" panose="020B0502040204020203" pitchFamily="34" charset="0"/>
                <a:hlinkClick r:id="rId4"/>
              </a:rPr>
              <a:t>burndown</a:t>
            </a:r>
            <a:r>
              <a:rPr lang="it-IT" sz="900" dirty="0">
                <a:latin typeface="Bahnschrift SemiLight" panose="020B0502040204020203" pitchFamily="34" charset="0"/>
                <a:hlinkClick r:id="rId4"/>
              </a:rPr>
              <a:t>-chart-vs-cumulative-flow-</a:t>
            </a:r>
            <a:r>
              <a:rPr lang="it-IT" sz="900" dirty="0" err="1">
                <a:latin typeface="Bahnschrift SemiLight" panose="020B0502040204020203" pitchFamily="34" charset="0"/>
                <a:hlinkClick r:id="rId4"/>
              </a:rPr>
              <a:t>diagram</a:t>
            </a:r>
            <a:r>
              <a:rPr lang="it-IT" sz="900" dirty="0">
                <a:latin typeface="Bahnschrift SemiLight" panose="020B0502040204020203" pitchFamily="34" charset="0"/>
                <a:hlinkClick r:id="rId4"/>
              </a:rPr>
              <a:t>-</a:t>
            </a:r>
            <a:r>
              <a:rPr lang="it-IT" sz="900" dirty="0" err="1">
                <a:latin typeface="Bahnschrift SemiLight" panose="020B0502040204020203" pitchFamily="34" charset="0"/>
                <a:hlinkClick r:id="rId4"/>
              </a:rPr>
              <a:t>cfd</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3058578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D87B1-9D94-6DDD-8040-0989DBB4F09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0CC762A-F04B-9A13-8A27-35B9B2854752}"/>
              </a:ext>
            </a:extLst>
          </p:cNvPr>
          <p:cNvSpPr>
            <a:spLocks noGrp="1"/>
          </p:cNvSpPr>
          <p:nvPr>
            <p:ph type="title"/>
          </p:nvPr>
        </p:nvSpPr>
        <p:spPr/>
        <p:txBody>
          <a:bodyPr/>
          <a:lstStyle/>
          <a:p>
            <a:r>
              <a:rPr lang="en-GB" sz="3600" spc="-40" dirty="0"/>
              <a:t>Cumulative</a:t>
            </a:r>
            <a:r>
              <a:rPr lang="en-GB" sz="3600" spc="-185" dirty="0"/>
              <a:t> </a:t>
            </a:r>
            <a:r>
              <a:rPr lang="en-GB" sz="3600" dirty="0"/>
              <a:t>Flow</a:t>
            </a:r>
            <a:r>
              <a:rPr lang="en-GB" sz="3600" spc="-185" dirty="0"/>
              <a:t> </a:t>
            </a:r>
            <a:r>
              <a:rPr lang="en-GB" sz="3600" spc="-35" dirty="0"/>
              <a:t>Diagram</a:t>
            </a:r>
            <a:r>
              <a:rPr lang="en-GB" sz="3600" spc="-180" dirty="0"/>
              <a:t> </a:t>
            </a:r>
            <a:r>
              <a:rPr lang="en-GB" sz="3600" spc="-85" dirty="0"/>
              <a:t>(CFD)</a:t>
            </a:r>
            <a:endParaRPr lang="en-GB" dirty="0"/>
          </a:p>
        </p:txBody>
      </p:sp>
      <p:pic>
        <p:nvPicPr>
          <p:cNvPr id="7" name="object 4">
            <a:extLst>
              <a:ext uri="{FF2B5EF4-FFF2-40B4-BE49-F238E27FC236}">
                <a16:creationId xmlns:a16="http://schemas.microsoft.com/office/drawing/2014/main" id="{6A6F164A-59B8-AE4E-B6D8-7088A56EB872}"/>
              </a:ext>
            </a:extLst>
          </p:cNvPr>
          <p:cNvPicPr/>
          <p:nvPr/>
        </p:nvPicPr>
        <p:blipFill>
          <a:blip r:embed="rId3" cstate="print"/>
          <a:stretch>
            <a:fillRect/>
          </a:stretch>
        </p:blipFill>
        <p:spPr>
          <a:xfrm>
            <a:off x="1318029" y="2329504"/>
            <a:ext cx="4145589" cy="3198249"/>
          </a:xfrm>
          <a:prstGeom prst="rect">
            <a:avLst/>
          </a:prstGeom>
        </p:spPr>
      </p:pic>
      <p:pic>
        <p:nvPicPr>
          <p:cNvPr id="8" name="object 2">
            <a:extLst>
              <a:ext uri="{FF2B5EF4-FFF2-40B4-BE49-F238E27FC236}">
                <a16:creationId xmlns:a16="http://schemas.microsoft.com/office/drawing/2014/main" id="{8A26616A-85C5-342C-BB35-B9B07CCBB5B0}"/>
              </a:ext>
            </a:extLst>
          </p:cNvPr>
          <p:cNvPicPr/>
          <p:nvPr/>
        </p:nvPicPr>
        <p:blipFill>
          <a:blip r:embed="rId4" cstate="print"/>
          <a:stretch>
            <a:fillRect/>
          </a:stretch>
        </p:blipFill>
        <p:spPr>
          <a:xfrm>
            <a:off x="6096000" y="2329508"/>
            <a:ext cx="4177300" cy="3198245"/>
          </a:xfrm>
          <a:prstGeom prst="rect">
            <a:avLst/>
          </a:prstGeom>
        </p:spPr>
      </p:pic>
      <p:sp>
        <p:nvSpPr>
          <p:cNvPr id="3" name="CasellaDiTesto 2">
            <a:extLst>
              <a:ext uri="{FF2B5EF4-FFF2-40B4-BE49-F238E27FC236}">
                <a16:creationId xmlns:a16="http://schemas.microsoft.com/office/drawing/2014/main" id="{5226CB22-CE14-5FFA-E9B6-287021DA4D26}"/>
              </a:ext>
            </a:extLst>
          </p:cNvPr>
          <p:cNvSpPr txBox="1"/>
          <p:nvPr/>
        </p:nvSpPr>
        <p:spPr>
          <a:xfrm>
            <a:off x="3578942" y="5797237"/>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err="1">
                <a:latin typeface="Bahnschrift SemiLight" panose="020B0502040204020203" pitchFamily="34" charset="0"/>
              </a:rPr>
              <a:t>Ken</a:t>
            </a:r>
            <a:r>
              <a:rPr lang="it-IT" sz="900" i="1" dirty="0">
                <a:latin typeface="Bahnschrift SemiLight" panose="020B0502040204020203" pitchFamily="34" charset="0"/>
              </a:rPr>
              <a:t> </a:t>
            </a:r>
            <a:r>
              <a:rPr lang="it-IT" sz="900" i="1" dirty="0" err="1">
                <a:latin typeface="Bahnschrift SemiLight" panose="020B0502040204020203" pitchFamily="34" charset="0"/>
              </a:rPr>
              <a:t>Furlong</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5"/>
              </a:rPr>
              <a:t>https://www.excella.com/insights/</a:t>
            </a:r>
            <a:r>
              <a:rPr lang="it-IT" sz="900" dirty="0" err="1">
                <a:latin typeface="Bahnschrift SemiLight" panose="020B0502040204020203" pitchFamily="34" charset="0"/>
                <a:hlinkClick r:id="rId5"/>
              </a:rPr>
              <a:t>burndown</a:t>
            </a:r>
            <a:r>
              <a:rPr lang="it-IT" sz="900" dirty="0">
                <a:latin typeface="Bahnschrift SemiLight" panose="020B0502040204020203" pitchFamily="34" charset="0"/>
                <a:hlinkClick r:id="rId5"/>
              </a:rPr>
              <a:t>-chart-vs-cumulative-flow-</a:t>
            </a:r>
            <a:r>
              <a:rPr lang="it-IT" sz="900" dirty="0" err="1">
                <a:latin typeface="Bahnschrift SemiLight" panose="020B0502040204020203" pitchFamily="34" charset="0"/>
                <a:hlinkClick r:id="rId5"/>
              </a:rPr>
              <a:t>diagram</a:t>
            </a:r>
            <a:r>
              <a:rPr lang="it-IT" sz="900" dirty="0">
                <a:latin typeface="Bahnschrift SemiLight" panose="020B0502040204020203" pitchFamily="34" charset="0"/>
                <a:hlinkClick r:id="rId5"/>
              </a:rPr>
              <a:t>-</a:t>
            </a:r>
            <a:r>
              <a:rPr lang="it-IT" sz="900" dirty="0" err="1">
                <a:latin typeface="Bahnschrift SemiLight" panose="020B0502040204020203" pitchFamily="34" charset="0"/>
                <a:hlinkClick r:id="rId5"/>
              </a:rPr>
              <a:t>cfd</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2516647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2D744-180C-6DCA-C188-542CBF211AD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D3ED217-8CF4-85A4-1964-27D232619DD7}"/>
              </a:ext>
            </a:extLst>
          </p:cNvPr>
          <p:cNvSpPr>
            <a:spLocks noGrp="1"/>
          </p:cNvSpPr>
          <p:nvPr>
            <p:ph type="title"/>
          </p:nvPr>
        </p:nvSpPr>
        <p:spPr/>
        <p:txBody>
          <a:bodyPr/>
          <a:lstStyle/>
          <a:p>
            <a:r>
              <a:rPr lang="en-GB" sz="3600" spc="-40" dirty="0"/>
              <a:t>Cumulative</a:t>
            </a:r>
            <a:r>
              <a:rPr lang="en-GB" sz="3600" spc="-185" dirty="0"/>
              <a:t> </a:t>
            </a:r>
            <a:r>
              <a:rPr lang="en-GB" sz="3600" dirty="0"/>
              <a:t>Flow</a:t>
            </a:r>
            <a:r>
              <a:rPr lang="en-GB" sz="3600" spc="-185" dirty="0"/>
              <a:t> </a:t>
            </a:r>
            <a:r>
              <a:rPr lang="en-GB" sz="3600" spc="-35" dirty="0"/>
              <a:t>Diagram</a:t>
            </a:r>
            <a:r>
              <a:rPr lang="en-GB" sz="3600" spc="-180" dirty="0"/>
              <a:t> </a:t>
            </a:r>
            <a:r>
              <a:rPr lang="en-GB" sz="3600" spc="-85" dirty="0"/>
              <a:t>(CFD)</a:t>
            </a:r>
            <a:endParaRPr lang="en-GB" dirty="0"/>
          </a:p>
        </p:txBody>
      </p:sp>
      <p:sp>
        <p:nvSpPr>
          <p:cNvPr id="3" name="Segnaposto contenuto 2">
            <a:extLst>
              <a:ext uri="{FF2B5EF4-FFF2-40B4-BE49-F238E27FC236}">
                <a16:creationId xmlns:a16="http://schemas.microsoft.com/office/drawing/2014/main" id="{E0CCDF82-C38C-8E16-0FAF-4551324264B2}"/>
              </a:ext>
            </a:extLst>
          </p:cNvPr>
          <p:cNvSpPr>
            <a:spLocks noGrp="1"/>
          </p:cNvSpPr>
          <p:nvPr>
            <p:ph idx="1"/>
          </p:nvPr>
        </p:nvSpPr>
        <p:spPr>
          <a:xfrm>
            <a:off x="6931351" y="2368192"/>
            <a:ext cx="3807749" cy="2897024"/>
          </a:xfrm>
        </p:spPr>
        <p:txBody>
          <a:bodyPr>
            <a:normAutofit/>
          </a:bodyPr>
          <a:lstStyle/>
          <a:p>
            <a:pPr marL="0" indent="0">
              <a:buNone/>
            </a:pPr>
            <a:r>
              <a:rPr lang="en-GB" dirty="0"/>
              <a:t>A CFD can have as many 'coloured bands' as there are states into which the process is divided (the columns of our board)</a:t>
            </a:r>
          </a:p>
          <a:p>
            <a:pPr marL="0" indent="0">
              <a:buNone/>
            </a:pPr>
            <a:endParaRPr lang="en-GB" dirty="0"/>
          </a:p>
        </p:txBody>
      </p:sp>
      <p:pic>
        <p:nvPicPr>
          <p:cNvPr id="4" name="object 4">
            <a:extLst>
              <a:ext uri="{FF2B5EF4-FFF2-40B4-BE49-F238E27FC236}">
                <a16:creationId xmlns:a16="http://schemas.microsoft.com/office/drawing/2014/main" id="{005FE964-2AA1-4F23-DD71-5B64DA2867D4}"/>
              </a:ext>
            </a:extLst>
          </p:cNvPr>
          <p:cNvPicPr/>
          <p:nvPr/>
        </p:nvPicPr>
        <p:blipFill>
          <a:blip r:embed="rId3" cstate="print"/>
          <a:stretch>
            <a:fillRect/>
          </a:stretch>
        </p:blipFill>
        <p:spPr>
          <a:xfrm>
            <a:off x="1251021" y="2086115"/>
            <a:ext cx="4756671" cy="3707934"/>
          </a:xfrm>
          <a:prstGeom prst="rect">
            <a:avLst/>
          </a:prstGeom>
        </p:spPr>
      </p:pic>
      <p:sp>
        <p:nvSpPr>
          <p:cNvPr id="5" name="CasellaDiTesto 4">
            <a:extLst>
              <a:ext uri="{FF2B5EF4-FFF2-40B4-BE49-F238E27FC236}">
                <a16:creationId xmlns:a16="http://schemas.microsoft.com/office/drawing/2014/main" id="{0513E61C-E1C0-810E-A117-52583BF8D061}"/>
              </a:ext>
            </a:extLst>
          </p:cNvPr>
          <p:cNvSpPr txBox="1"/>
          <p:nvPr/>
        </p:nvSpPr>
        <p:spPr>
          <a:xfrm>
            <a:off x="1061884" y="5895704"/>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err="1">
                <a:latin typeface="Bahnschrift SemiLight" panose="020B0502040204020203" pitchFamily="34" charset="0"/>
              </a:rPr>
              <a:t>Ken</a:t>
            </a:r>
            <a:r>
              <a:rPr lang="it-IT" sz="900" i="1" dirty="0">
                <a:latin typeface="Bahnschrift SemiLight" panose="020B0502040204020203" pitchFamily="34" charset="0"/>
              </a:rPr>
              <a:t> </a:t>
            </a:r>
            <a:r>
              <a:rPr lang="it-IT" sz="900" i="1" dirty="0" err="1">
                <a:latin typeface="Bahnschrift SemiLight" panose="020B0502040204020203" pitchFamily="34" charset="0"/>
              </a:rPr>
              <a:t>Furlong</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https://www.excella.com/insights/</a:t>
            </a:r>
            <a:r>
              <a:rPr lang="it-IT" sz="900" dirty="0" err="1">
                <a:latin typeface="Bahnschrift SemiLight" panose="020B0502040204020203" pitchFamily="34" charset="0"/>
                <a:hlinkClick r:id="rId4"/>
              </a:rPr>
              <a:t>burndown</a:t>
            </a:r>
            <a:r>
              <a:rPr lang="it-IT" sz="900" dirty="0">
                <a:latin typeface="Bahnschrift SemiLight" panose="020B0502040204020203" pitchFamily="34" charset="0"/>
                <a:hlinkClick r:id="rId4"/>
              </a:rPr>
              <a:t>-chart-vs-cumulative-flow-</a:t>
            </a:r>
            <a:r>
              <a:rPr lang="it-IT" sz="900" dirty="0" err="1">
                <a:latin typeface="Bahnschrift SemiLight" panose="020B0502040204020203" pitchFamily="34" charset="0"/>
                <a:hlinkClick r:id="rId4"/>
              </a:rPr>
              <a:t>diagram</a:t>
            </a:r>
            <a:r>
              <a:rPr lang="it-IT" sz="900" dirty="0">
                <a:latin typeface="Bahnschrift SemiLight" panose="020B0502040204020203" pitchFamily="34" charset="0"/>
                <a:hlinkClick r:id="rId4"/>
              </a:rPr>
              <a:t>-</a:t>
            </a:r>
            <a:r>
              <a:rPr lang="it-IT" sz="900" dirty="0" err="1">
                <a:latin typeface="Bahnschrift SemiLight" panose="020B0502040204020203" pitchFamily="34" charset="0"/>
                <a:hlinkClick r:id="rId4"/>
              </a:rPr>
              <a:t>cfd</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1455488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DC655A-F088-00B0-E70B-2FFC140969B3}"/>
              </a:ext>
            </a:extLst>
          </p:cNvPr>
          <p:cNvSpPr>
            <a:spLocks noGrp="1"/>
          </p:cNvSpPr>
          <p:nvPr>
            <p:ph type="title"/>
          </p:nvPr>
        </p:nvSpPr>
        <p:spPr/>
        <p:txBody>
          <a:bodyPr/>
          <a:lstStyle/>
          <a:p>
            <a:r>
              <a:rPr lang="it-IT" dirty="0" err="1"/>
              <a:t>Epic</a:t>
            </a:r>
            <a:r>
              <a:rPr lang="it-IT" dirty="0"/>
              <a:t> and release </a:t>
            </a:r>
            <a:r>
              <a:rPr lang="it-IT" dirty="0" err="1"/>
              <a:t>burndown</a:t>
            </a:r>
            <a:endParaRPr lang="en-GB" dirty="0"/>
          </a:p>
        </p:txBody>
      </p:sp>
      <p:sp>
        <p:nvSpPr>
          <p:cNvPr id="3" name="Segnaposto contenuto 2">
            <a:extLst>
              <a:ext uri="{FF2B5EF4-FFF2-40B4-BE49-F238E27FC236}">
                <a16:creationId xmlns:a16="http://schemas.microsoft.com/office/drawing/2014/main" id="{005DBCE1-F05C-B6C6-31B3-268087F44722}"/>
              </a:ext>
            </a:extLst>
          </p:cNvPr>
          <p:cNvSpPr>
            <a:spLocks noGrp="1"/>
          </p:cNvSpPr>
          <p:nvPr>
            <p:ph idx="1"/>
          </p:nvPr>
        </p:nvSpPr>
        <p:spPr>
          <a:xfrm>
            <a:off x="6881501" y="2355182"/>
            <a:ext cx="3911838" cy="2934665"/>
          </a:xfrm>
        </p:spPr>
        <p:txBody>
          <a:bodyPr>
            <a:normAutofit fontScale="77500" lnSpcReduction="20000"/>
          </a:bodyPr>
          <a:lstStyle/>
          <a:p>
            <a:pPr marL="0" indent="0">
              <a:buNone/>
            </a:pPr>
            <a:r>
              <a:rPr lang="en-GB" dirty="0"/>
              <a:t>Track project progress over different sprints, highlighting the ﬂow of work and any rework within an epic or version (even spread over several sprints)</a:t>
            </a:r>
          </a:p>
          <a:p>
            <a:pPr marL="0" indent="0">
              <a:buNone/>
            </a:pPr>
            <a:endParaRPr lang="en-GB" dirty="0"/>
          </a:p>
          <a:p>
            <a:pPr marL="0" indent="0">
              <a:buNone/>
            </a:pPr>
            <a:r>
              <a:rPr lang="en-GB" dirty="0"/>
              <a:t>Scope creep: adding new requirements to an already defined project</a:t>
            </a:r>
          </a:p>
          <a:p>
            <a:pPr marL="0" indent="0">
              <a:buNone/>
            </a:pPr>
            <a:endParaRPr lang="en-GB" dirty="0"/>
          </a:p>
          <a:p>
            <a:endParaRPr lang="en-GB" dirty="0"/>
          </a:p>
        </p:txBody>
      </p:sp>
      <p:pic>
        <p:nvPicPr>
          <p:cNvPr id="4100" name="Picture 4" descr="Epic and release burndown. ">
            <a:extLst>
              <a:ext uri="{FF2B5EF4-FFF2-40B4-BE49-F238E27FC236}">
                <a16:creationId xmlns:a16="http://schemas.microsoft.com/office/drawing/2014/main" id="{18132AFF-1C06-FE70-5F6B-3CC4D7FE42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 r="1189" b="965"/>
          <a:stretch>
            <a:fillRect/>
          </a:stretch>
        </p:blipFill>
        <p:spPr bwMode="auto">
          <a:xfrm>
            <a:off x="1052052" y="2186788"/>
            <a:ext cx="4857135" cy="3397935"/>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4AD7FEB8-FFA8-AF2A-76BE-8F3B27B7474D}"/>
              </a:ext>
            </a:extLst>
          </p:cNvPr>
          <p:cNvSpPr txBox="1"/>
          <p:nvPr/>
        </p:nvSpPr>
        <p:spPr>
          <a:xfrm>
            <a:off x="1061884" y="5711491"/>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a:latin typeface="Bahnschrift SemiLight" panose="020B0502040204020203" pitchFamily="34" charset="0"/>
              </a:rPr>
              <a:t>Wael Mohsen – </a:t>
            </a:r>
            <a:r>
              <a:rPr lang="it-IT" sz="900" i="1" dirty="0" err="1">
                <a:latin typeface="Bahnschrift SemiLight" panose="020B0502040204020203" pitchFamily="34" charset="0"/>
              </a:rPr>
              <a:t>ResearchGate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https://www.researchgate.net/figure/Epic-and-release-burndown_fig2_321741375</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2541190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2D1C4-8238-F564-54F5-E69FC176088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D4E109C-16B4-C407-EDCB-86A015F5F3FB}"/>
              </a:ext>
            </a:extLst>
          </p:cNvPr>
          <p:cNvSpPr>
            <a:spLocks noGrp="1"/>
          </p:cNvSpPr>
          <p:nvPr>
            <p:ph type="title"/>
          </p:nvPr>
        </p:nvSpPr>
        <p:spPr/>
        <p:txBody>
          <a:bodyPr/>
          <a:lstStyle/>
          <a:p>
            <a:r>
              <a:rPr lang="it-IT" dirty="0" err="1"/>
              <a:t>Epic</a:t>
            </a:r>
            <a:r>
              <a:rPr lang="it-IT" dirty="0"/>
              <a:t> and release </a:t>
            </a:r>
            <a:r>
              <a:rPr lang="it-IT" dirty="0" err="1"/>
              <a:t>burndown</a:t>
            </a:r>
            <a:endParaRPr lang="en-GB" dirty="0"/>
          </a:p>
        </p:txBody>
      </p:sp>
      <p:sp>
        <p:nvSpPr>
          <p:cNvPr id="3" name="Segnaposto contenuto 2">
            <a:extLst>
              <a:ext uri="{FF2B5EF4-FFF2-40B4-BE49-F238E27FC236}">
                <a16:creationId xmlns:a16="http://schemas.microsoft.com/office/drawing/2014/main" id="{67B4066D-9FD4-620B-E6D3-03427C52D14B}"/>
              </a:ext>
            </a:extLst>
          </p:cNvPr>
          <p:cNvSpPr>
            <a:spLocks noGrp="1"/>
          </p:cNvSpPr>
          <p:nvPr>
            <p:ph idx="1"/>
          </p:nvPr>
        </p:nvSpPr>
        <p:spPr>
          <a:xfrm>
            <a:off x="6881501" y="2355182"/>
            <a:ext cx="3911838" cy="2934665"/>
          </a:xfrm>
        </p:spPr>
        <p:txBody>
          <a:bodyPr>
            <a:normAutofit fontScale="85000" lnSpcReduction="20000"/>
          </a:bodyPr>
          <a:lstStyle/>
          <a:p>
            <a:pPr marL="0" indent="0">
              <a:buNone/>
            </a:pPr>
            <a:r>
              <a:rPr lang="en-GB" dirty="0"/>
              <a:t>Note: If scope creep between several epic is a problem during the sprint, it is a natural consequence of Agile development (the client can decide to accept or not accept the work done based on what emerges during the project)</a:t>
            </a:r>
          </a:p>
          <a:p>
            <a:pPr marL="0" indent="0">
              <a:buNone/>
            </a:pPr>
            <a:endParaRPr lang="en-GB" dirty="0"/>
          </a:p>
          <a:p>
            <a:endParaRPr lang="en-GB" dirty="0"/>
          </a:p>
        </p:txBody>
      </p:sp>
      <p:pic>
        <p:nvPicPr>
          <p:cNvPr id="4100" name="Picture 4" descr="Epic and release burndown. ">
            <a:extLst>
              <a:ext uri="{FF2B5EF4-FFF2-40B4-BE49-F238E27FC236}">
                <a16:creationId xmlns:a16="http://schemas.microsoft.com/office/drawing/2014/main" id="{D3B4B9CD-0519-22B5-3A2B-4988D4A9A6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 r="1189" b="965"/>
          <a:stretch>
            <a:fillRect/>
          </a:stretch>
        </p:blipFill>
        <p:spPr bwMode="auto">
          <a:xfrm>
            <a:off x="1052052" y="2186788"/>
            <a:ext cx="4857135" cy="3397935"/>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11E9EECB-38D0-D61A-8E0A-C83FC6BF322E}"/>
              </a:ext>
            </a:extLst>
          </p:cNvPr>
          <p:cNvSpPr txBox="1"/>
          <p:nvPr/>
        </p:nvSpPr>
        <p:spPr>
          <a:xfrm>
            <a:off x="1061884" y="5711491"/>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a:latin typeface="Bahnschrift SemiLight" panose="020B0502040204020203" pitchFamily="34" charset="0"/>
              </a:rPr>
              <a:t>Wael Mohsen – </a:t>
            </a:r>
            <a:r>
              <a:rPr lang="it-IT" sz="900" i="1" dirty="0" err="1">
                <a:latin typeface="Bahnschrift SemiLight" panose="020B0502040204020203" pitchFamily="34" charset="0"/>
              </a:rPr>
              <a:t>ResearchGate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https://www.researchgate.net/figure/Epic-and-release-burndown_fig2_321741375</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272830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12CA3A-EE27-A6E3-FD20-804A4CC34717}"/>
              </a:ext>
            </a:extLst>
          </p:cNvPr>
          <p:cNvSpPr>
            <a:spLocks noGrp="1"/>
          </p:cNvSpPr>
          <p:nvPr>
            <p:ph type="title"/>
          </p:nvPr>
        </p:nvSpPr>
        <p:spPr/>
        <p:txBody>
          <a:bodyPr/>
          <a:lstStyle/>
          <a:p>
            <a:r>
              <a:rPr lang="it-IT" dirty="0"/>
              <a:t>Control chart</a:t>
            </a:r>
            <a:endParaRPr lang="en-GB" dirty="0"/>
          </a:p>
        </p:txBody>
      </p:sp>
      <p:sp>
        <p:nvSpPr>
          <p:cNvPr id="3" name="Segnaposto contenuto 2">
            <a:extLst>
              <a:ext uri="{FF2B5EF4-FFF2-40B4-BE49-F238E27FC236}">
                <a16:creationId xmlns:a16="http://schemas.microsoft.com/office/drawing/2014/main" id="{BF9EACD4-313D-C665-83CA-8AEABC70CD91}"/>
              </a:ext>
            </a:extLst>
          </p:cNvPr>
          <p:cNvSpPr>
            <a:spLocks noGrp="1"/>
          </p:cNvSpPr>
          <p:nvPr>
            <p:ph idx="1"/>
          </p:nvPr>
        </p:nvSpPr>
        <p:spPr/>
        <p:txBody>
          <a:bodyPr>
            <a:normAutofit fontScale="92500" lnSpcReduction="20000"/>
          </a:bodyPr>
          <a:lstStyle/>
          <a:p>
            <a:pPr marL="0" indent="0">
              <a:buNone/>
            </a:pPr>
            <a:r>
              <a:rPr lang="en-GB" dirty="0"/>
              <a:t>It highlights the cycle time of the cards, i.e. the time between 'doing' and 'done'.</a:t>
            </a:r>
          </a:p>
          <a:p>
            <a:pPr marL="0" indent="0">
              <a:buNone/>
            </a:pPr>
            <a:r>
              <a:rPr lang="en-GB" dirty="0"/>
              <a:t>In an ideal situation, all cards/issues should be below the red line (average cycle time)</a:t>
            </a:r>
          </a:p>
          <a:p>
            <a:pPr marL="0" indent="0">
              <a:buNone/>
            </a:pPr>
            <a:endParaRPr lang="en-GB" dirty="0"/>
          </a:p>
          <a:p>
            <a:pPr marL="0" indent="0">
              <a:buNone/>
            </a:pPr>
            <a:r>
              <a:rPr lang="en-GB" dirty="0"/>
              <a:t>In general:</a:t>
            </a:r>
          </a:p>
          <a:p>
            <a:r>
              <a:rPr lang="en-GB" dirty="0"/>
              <a:t>Short cycle time → High productivity.</a:t>
            </a:r>
          </a:p>
          <a:p>
            <a:r>
              <a:rPr lang="en-GB" dirty="0"/>
              <a:t>Constant cycle time → predictable delivery times.</a:t>
            </a:r>
          </a:p>
          <a:p>
            <a:pPr marL="0" indent="0">
              <a:buNone/>
            </a:pPr>
            <a:endParaRPr lang="en-GB" dirty="0"/>
          </a:p>
          <a:p>
            <a:pPr marL="0" indent="0">
              <a:buNone/>
            </a:pPr>
            <a:r>
              <a:rPr lang="en-GB" dirty="0"/>
              <a:t>The ideal situation is therefore to have teams with short cycle times and constant cycle times.</a:t>
            </a:r>
          </a:p>
          <a:p>
            <a:pPr marL="0" indent="0">
              <a:buNone/>
            </a:pPr>
            <a:endParaRPr lang="en-GB" dirty="0"/>
          </a:p>
          <a:p>
            <a:endParaRPr lang="en-GB" dirty="0"/>
          </a:p>
        </p:txBody>
      </p:sp>
    </p:spTree>
    <p:extLst>
      <p:ext uri="{BB962C8B-B14F-4D97-AF65-F5344CB8AC3E}">
        <p14:creationId xmlns:p14="http://schemas.microsoft.com/office/powerpoint/2010/main" val="2805089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B7800-3404-969A-3170-968E1A67A05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59E8042-C926-E32C-267E-E431CF3E3A98}"/>
              </a:ext>
            </a:extLst>
          </p:cNvPr>
          <p:cNvSpPr>
            <a:spLocks noGrp="1"/>
          </p:cNvSpPr>
          <p:nvPr>
            <p:ph type="title"/>
          </p:nvPr>
        </p:nvSpPr>
        <p:spPr/>
        <p:txBody>
          <a:bodyPr/>
          <a:lstStyle/>
          <a:p>
            <a:pPr marL="0" indent="0">
              <a:buNone/>
            </a:pPr>
            <a:r>
              <a:rPr lang="en-GB" dirty="0"/>
              <a:t>Other metrics</a:t>
            </a:r>
          </a:p>
        </p:txBody>
      </p:sp>
      <p:sp>
        <p:nvSpPr>
          <p:cNvPr id="3" name="Segnaposto contenuto 2">
            <a:extLst>
              <a:ext uri="{FF2B5EF4-FFF2-40B4-BE49-F238E27FC236}">
                <a16:creationId xmlns:a16="http://schemas.microsoft.com/office/drawing/2014/main" id="{65D212DD-5E28-D287-4C51-5026D2950A96}"/>
              </a:ext>
            </a:extLst>
          </p:cNvPr>
          <p:cNvSpPr>
            <a:spLocks noGrp="1"/>
          </p:cNvSpPr>
          <p:nvPr>
            <p:ph idx="1"/>
          </p:nvPr>
        </p:nvSpPr>
        <p:spPr>
          <a:xfrm>
            <a:off x="838912" y="1842716"/>
            <a:ext cx="10515600" cy="4351338"/>
          </a:xfrm>
        </p:spPr>
        <p:txBody>
          <a:bodyPr>
            <a:normAutofit/>
          </a:bodyPr>
          <a:lstStyle/>
          <a:p>
            <a:r>
              <a:rPr lang="en-GB" dirty="0"/>
              <a:t>Quality</a:t>
            </a:r>
          </a:p>
          <a:p>
            <a:pPr marL="0" indent="0">
              <a:buNone/>
            </a:pPr>
            <a:r>
              <a:rPr lang="en-GB" dirty="0"/>
              <a:t>	No. of reported defects (during the project, after release, from 	outside the team)</a:t>
            </a:r>
          </a:p>
          <a:p>
            <a:pPr marL="0" indent="0">
              <a:buNone/>
            </a:pPr>
            <a:r>
              <a:rPr lang="en-GB" dirty="0"/>
              <a:t>	No. of customers submitting support requests</a:t>
            </a:r>
          </a:p>
          <a:p>
            <a:pPr marL="0" indent="0">
              <a:buNone/>
            </a:pPr>
            <a:r>
              <a:rPr lang="en-GB" dirty="0"/>
              <a:t>	% coverage of tests carried out automatically</a:t>
            </a:r>
          </a:p>
          <a:p>
            <a:pPr marL="0" indent="0">
              <a:buNone/>
            </a:pPr>
            <a:endParaRPr lang="en-GB" dirty="0"/>
          </a:p>
          <a:p>
            <a:r>
              <a:rPr lang="en-GB" dirty="0"/>
              <a:t>Frequency, Speed and Diﬃculty of releases</a:t>
            </a:r>
          </a:p>
          <a:p>
            <a:pPr marL="0" indent="0">
              <a:buNone/>
            </a:pPr>
            <a:endParaRPr lang="en-GB" dirty="0"/>
          </a:p>
          <a:p>
            <a:endParaRPr lang="en-GB" dirty="0"/>
          </a:p>
        </p:txBody>
      </p:sp>
    </p:spTree>
    <p:extLst>
      <p:ext uri="{BB962C8B-B14F-4D97-AF65-F5344CB8AC3E}">
        <p14:creationId xmlns:p14="http://schemas.microsoft.com/office/powerpoint/2010/main" val="714803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24DC-A8B3-C85F-40F0-FD7DA99A461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B2A32D8-F92F-92A8-E2AD-957DB07363B6}"/>
              </a:ext>
            </a:extLst>
          </p:cNvPr>
          <p:cNvSpPr>
            <a:spLocks noGrp="1"/>
          </p:cNvSpPr>
          <p:nvPr>
            <p:ph type="title"/>
          </p:nvPr>
        </p:nvSpPr>
        <p:spPr/>
        <p:txBody>
          <a:bodyPr/>
          <a:lstStyle/>
          <a:p>
            <a:pPr marL="0" indent="0">
              <a:buNone/>
            </a:pPr>
            <a:r>
              <a:rPr lang="en-GB" dirty="0"/>
              <a:t>Other metrics</a:t>
            </a:r>
          </a:p>
        </p:txBody>
      </p:sp>
      <p:sp>
        <p:nvSpPr>
          <p:cNvPr id="3" name="Segnaposto contenuto 2">
            <a:extLst>
              <a:ext uri="{FF2B5EF4-FFF2-40B4-BE49-F238E27FC236}">
                <a16:creationId xmlns:a16="http://schemas.microsoft.com/office/drawing/2014/main" id="{7D92219C-9CF6-1F02-09CA-ABB1BBDF1AD9}"/>
              </a:ext>
            </a:extLst>
          </p:cNvPr>
          <p:cNvSpPr>
            <a:spLocks noGrp="1"/>
          </p:cNvSpPr>
          <p:nvPr>
            <p:ph idx="1"/>
          </p:nvPr>
        </p:nvSpPr>
        <p:spPr>
          <a:xfrm>
            <a:off x="838912" y="1842716"/>
            <a:ext cx="10515600" cy="4351338"/>
          </a:xfrm>
        </p:spPr>
        <p:txBody>
          <a:bodyPr>
            <a:normAutofit/>
          </a:bodyPr>
          <a:lstStyle/>
          <a:p>
            <a:pPr marL="0" indent="0">
              <a:buNone/>
            </a:pPr>
            <a:r>
              <a:rPr lang="en-GB" dirty="0"/>
              <a:t>Metrics are only one step in the process of building a team culture. </a:t>
            </a:r>
          </a:p>
          <a:p>
            <a:pPr marL="0" indent="0">
              <a:buNone/>
            </a:pPr>
            <a:r>
              <a:rPr lang="en-GB" dirty="0"/>
              <a:t>They provide evidence of the team's performance and measurable objectives for its members but it is important to be able to collect feedback during retrospectives to increase the team's confidence, the quality of products/services and speed of execution of activities.</a:t>
            </a:r>
          </a:p>
          <a:p>
            <a:pPr marL="0" indent="0">
              <a:buNone/>
            </a:pPr>
            <a:endParaRPr lang="en-GB" dirty="0"/>
          </a:p>
          <a:p>
            <a:pPr marL="0" indent="0">
              <a:buNone/>
            </a:pPr>
            <a:r>
              <a:rPr lang="en-GB" dirty="0"/>
              <a:t>Both quantitative and qualitative data are needed to drive change!</a:t>
            </a:r>
          </a:p>
          <a:p>
            <a:pPr marL="0" indent="0">
              <a:buNone/>
            </a:pPr>
            <a:endParaRPr lang="en-GB" dirty="0"/>
          </a:p>
          <a:p>
            <a:endParaRPr lang="en-GB" dirty="0"/>
          </a:p>
        </p:txBody>
      </p:sp>
    </p:spTree>
    <p:extLst>
      <p:ext uri="{BB962C8B-B14F-4D97-AF65-F5344CB8AC3E}">
        <p14:creationId xmlns:p14="http://schemas.microsoft.com/office/powerpoint/2010/main" val="747518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6370-305C-FDC6-E9A5-0C412DC7B98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37F01EE-49E0-7841-2E9C-74BB99CFF342}"/>
              </a:ext>
            </a:extLst>
          </p:cNvPr>
          <p:cNvSpPr>
            <a:spLocks noGrp="1"/>
          </p:cNvSpPr>
          <p:nvPr>
            <p:ph type="ctrTitle"/>
          </p:nvPr>
        </p:nvSpPr>
        <p:spPr/>
        <p:txBody>
          <a:bodyPr/>
          <a:lstStyle/>
          <a:p>
            <a:pPr marL="0" indent="0">
              <a:buNone/>
            </a:pPr>
            <a:r>
              <a:rPr lang="en-GB" dirty="0"/>
              <a:t>How to avoid failure</a:t>
            </a:r>
          </a:p>
        </p:txBody>
      </p:sp>
    </p:spTree>
    <p:extLst>
      <p:ext uri="{BB962C8B-B14F-4D97-AF65-F5344CB8AC3E}">
        <p14:creationId xmlns:p14="http://schemas.microsoft.com/office/powerpoint/2010/main" val="3193593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2F1F0A-7B69-5115-1AC5-8F3050FA62C4}"/>
              </a:ext>
            </a:extLst>
          </p:cNvPr>
          <p:cNvSpPr>
            <a:spLocks noGrp="1"/>
          </p:cNvSpPr>
          <p:nvPr>
            <p:ph type="title"/>
          </p:nvPr>
        </p:nvSpPr>
        <p:spPr/>
        <p:txBody>
          <a:bodyPr/>
          <a:lstStyle/>
          <a:p>
            <a:r>
              <a:rPr lang="en-GB" dirty="0"/>
              <a:t>How to avoid failure</a:t>
            </a:r>
          </a:p>
        </p:txBody>
      </p:sp>
      <p:sp>
        <p:nvSpPr>
          <p:cNvPr id="3" name="Segnaposto contenuto 2">
            <a:extLst>
              <a:ext uri="{FF2B5EF4-FFF2-40B4-BE49-F238E27FC236}">
                <a16:creationId xmlns:a16="http://schemas.microsoft.com/office/drawing/2014/main" id="{4EE21BE5-2A26-9B5B-3AE4-B491441B7601}"/>
              </a:ext>
            </a:extLst>
          </p:cNvPr>
          <p:cNvSpPr>
            <a:spLocks noGrp="1"/>
          </p:cNvSpPr>
          <p:nvPr>
            <p:ph idx="1"/>
          </p:nvPr>
        </p:nvSpPr>
        <p:spPr/>
        <p:txBody>
          <a:bodyPr/>
          <a:lstStyle/>
          <a:p>
            <a:pPr marL="0" indent="0">
              <a:buNone/>
            </a:pPr>
            <a:r>
              <a:rPr lang="en-GB" dirty="0"/>
              <a:t>Agile offers benefits ranging from more engaged employees to higher performance, but not so fast.</a:t>
            </a:r>
          </a:p>
          <a:p>
            <a:pPr marL="0" indent="0">
              <a:buNone/>
            </a:pPr>
            <a:endParaRPr lang="en-GB" dirty="0"/>
          </a:p>
          <a:p>
            <a:pPr marL="0" indent="0">
              <a:buNone/>
            </a:pPr>
            <a:r>
              <a:rPr lang="en-GB" dirty="0"/>
              <a:t>Why do Agile adoption projects often fail?</a:t>
            </a:r>
          </a:p>
        </p:txBody>
      </p:sp>
    </p:spTree>
    <p:extLst>
      <p:ext uri="{BB962C8B-B14F-4D97-AF65-F5344CB8AC3E}">
        <p14:creationId xmlns:p14="http://schemas.microsoft.com/office/powerpoint/2010/main" val="4144627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CE63-666A-4242-0179-C7644DF3B31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133416A-10CB-B4EB-DE67-A6343E39F276}"/>
              </a:ext>
            </a:extLst>
          </p:cNvPr>
          <p:cNvSpPr>
            <a:spLocks noGrp="1"/>
          </p:cNvSpPr>
          <p:nvPr>
            <p:ph type="title"/>
          </p:nvPr>
        </p:nvSpPr>
        <p:spPr/>
        <p:txBody>
          <a:bodyPr/>
          <a:lstStyle/>
          <a:p>
            <a:r>
              <a:rPr lang="en-GB" dirty="0"/>
              <a:t>Typical causes of failure</a:t>
            </a:r>
          </a:p>
        </p:txBody>
      </p:sp>
      <p:sp>
        <p:nvSpPr>
          <p:cNvPr id="3" name="Segnaposto contenuto 2">
            <a:extLst>
              <a:ext uri="{FF2B5EF4-FFF2-40B4-BE49-F238E27FC236}">
                <a16:creationId xmlns:a16="http://schemas.microsoft.com/office/drawing/2014/main" id="{94E0B9E3-6C62-19A6-DDB0-41EBB4DD9A02}"/>
              </a:ext>
            </a:extLst>
          </p:cNvPr>
          <p:cNvSpPr>
            <a:spLocks noGrp="1"/>
          </p:cNvSpPr>
          <p:nvPr>
            <p:ph idx="1"/>
          </p:nvPr>
        </p:nvSpPr>
        <p:spPr>
          <a:xfrm>
            <a:off x="7897026" y="2633825"/>
            <a:ext cx="2674122" cy="1963812"/>
          </a:xfrm>
        </p:spPr>
        <p:txBody>
          <a:bodyPr>
            <a:normAutofit fontScale="85000" lnSpcReduction="20000"/>
          </a:bodyPr>
          <a:lstStyle/>
          <a:p>
            <a:pPr marL="0" indent="0">
              <a:buNone/>
            </a:pPr>
            <a:r>
              <a:rPr lang="en-GB" dirty="0"/>
              <a:t>A study conducted on more than 4,000 individuals highlighted the main causes of Agile failure.</a:t>
            </a:r>
          </a:p>
        </p:txBody>
      </p:sp>
      <p:pic>
        <p:nvPicPr>
          <p:cNvPr id="8194" name="Picture 2">
            <a:extLst>
              <a:ext uri="{FF2B5EF4-FFF2-40B4-BE49-F238E27FC236}">
                <a16:creationId xmlns:a16="http://schemas.microsoft.com/office/drawing/2014/main" id="{912E9233-2F6C-B768-C2DD-4409022EA7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395" y="2020558"/>
            <a:ext cx="6157657" cy="3765725"/>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4A28000A-09A1-ED59-3262-ECC2DB38733A}"/>
              </a:ext>
            </a:extLst>
          </p:cNvPr>
          <p:cNvSpPr txBox="1"/>
          <p:nvPr/>
        </p:nvSpPr>
        <p:spPr>
          <a:xfrm>
            <a:off x="1552165" y="5931487"/>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a:latin typeface="Bahnschrift SemiLight" panose="020B0502040204020203" pitchFamily="34" charset="0"/>
              </a:rPr>
              <a:t>Adam M. Sandman </a:t>
            </a:r>
            <a:r>
              <a:rPr lang="it-IT" sz="900" dirty="0">
                <a:latin typeface="Bahnschrift SemiLight" panose="020B0502040204020203" pitchFamily="34" charset="0"/>
              </a:rPr>
              <a:t>(</a:t>
            </a:r>
            <a:r>
              <a:rPr lang="it-IT" sz="900" i="1" dirty="0">
                <a:latin typeface="Bahnschrift SemiLight" panose="020B0502040204020203" pitchFamily="34" charset="0"/>
                <a:hlinkClick r:id="rId4"/>
              </a:rPr>
              <a:t>https://www.inflectra.com/</a:t>
            </a:r>
            <a:r>
              <a:rPr lang="it-IT" sz="900" i="1" dirty="0" err="1">
                <a:latin typeface="Bahnschrift SemiLight" panose="020B0502040204020203" pitchFamily="34" charset="0"/>
                <a:hlinkClick r:id="rId4"/>
              </a:rPr>
              <a:t>Ideas</a:t>
            </a:r>
            <a:r>
              <a:rPr lang="it-IT" sz="900" i="1" dirty="0">
                <a:latin typeface="Bahnschrift SemiLight" panose="020B0502040204020203" pitchFamily="34" charset="0"/>
                <a:hlinkClick r:id="rId4"/>
              </a:rPr>
              <a:t>/</a:t>
            </a:r>
            <a:r>
              <a:rPr lang="it-IT" sz="900" i="1" dirty="0" err="1">
                <a:latin typeface="Bahnschrift SemiLight" panose="020B0502040204020203" pitchFamily="34" charset="0"/>
                <a:hlinkClick r:id="rId4"/>
              </a:rPr>
              <a:t>Whitepaper</a:t>
            </a:r>
            <a:r>
              <a:rPr lang="it-IT" sz="900" i="1" dirty="0">
                <a:latin typeface="Bahnschrift SemiLight" panose="020B0502040204020203" pitchFamily="34" charset="0"/>
                <a:hlinkClick r:id="rId4"/>
              </a:rPr>
              <a:t>/Agile-Transformation-Failure-Due-To-Management-Debt.aspx</a:t>
            </a:r>
            <a:r>
              <a:rPr lang="it-IT" sz="900" i="1"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879702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76C90-FA35-CA69-00A1-0C8A93BF53B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E55F9EC-55B4-348B-CE65-8A411B20BEE0}"/>
              </a:ext>
            </a:extLst>
          </p:cNvPr>
          <p:cNvSpPr>
            <a:spLocks noGrp="1"/>
          </p:cNvSpPr>
          <p:nvPr>
            <p:ph type="title"/>
          </p:nvPr>
        </p:nvSpPr>
        <p:spPr/>
        <p:txBody>
          <a:bodyPr/>
          <a:lstStyle/>
          <a:p>
            <a:r>
              <a:rPr lang="en-GB" dirty="0"/>
              <a:t>Typical causes of failure</a:t>
            </a:r>
          </a:p>
        </p:txBody>
      </p:sp>
      <p:sp>
        <p:nvSpPr>
          <p:cNvPr id="3" name="Segnaposto contenuto 2">
            <a:extLst>
              <a:ext uri="{FF2B5EF4-FFF2-40B4-BE49-F238E27FC236}">
                <a16:creationId xmlns:a16="http://schemas.microsoft.com/office/drawing/2014/main" id="{9E68712F-15CF-4D3A-1367-D22E19B72B13}"/>
              </a:ext>
            </a:extLst>
          </p:cNvPr>
          <p:cNvSpPr>
            <a:spLocks noGrp="1"/>
          </p:cNvSpPr>
          <p:nvPr>
            <p:ph idx="1"/>
          </p:nvPr>
        </p:nvSpPr>
        <p:spPr/>
        <p:txBody>
          <a:bodyPr/>
          <a:lstStyle/>
          <a:p>
            <a:pPr marL="0" indent="0">
              <a:buNone/>
            </a:pPr>
            <a:r>
              <a:rPr lang="en-GB" dirty="0"/>
              <a:t>1. Contrasting organisational culture</a:t>
            </a:r>
          </a:p>
          <a:p>
            <a:pPr marL="0" indent="0">
              <a:buNone/>
            </a:pPr>
            <a:r>
              <a:rPr lang="en-GB" dirty="0"/>
              <a:t>Understanding that agile impacts organisational values and facilitating transformation is the first step towards wider adoption of agile</a:t>
            </a:r>
          </a:p>
          <a:p>
            <a:pPr marL="0" indent="0">
              <a:buNone/>
            </a:pPr>
            <a:endParaRPr lang="en-GB" dirty="0"/>
          </a:p>
          <a:p>
            <a:pPr marL="0" indent="0">
              <a:buNone/>
            </a:pPr>
            <a:r>
              <a:rPr lang="en-GB" dirty="0"/>
              <a:t>2. Lack of experience with the method</a:t>
            </a:r>
          </a:p>
          <a:p>
            <a:pPr marL="0" indent="0">
              <a:buNone/>
            </a:pPr>
            <a:r>
              <a:rPr lang="en-GB" dirty="0"/>
              <a:t>Investing in solid training in basic agile techniques and coaching for their correct application is money well spent</a:t>
            </a:r>
          </a:p>
          <a:p>
            <a:pPr marL="0" indent="0">
              <a:buNone/>
            </a:pPr>
            <a:endParaRPr lang="en-GB" dirty="0"/>
          </a:p>
        </p:txBody>
      </p:sp>
    </p:spTree>
    <p:extLst>
      <p:ext uri="{BB962C8B-B14F-4D97-AF65-F5344CB8AC3E}">
        <p14:creationId xmlns:p14="http://schemas.microsoft.com/office/powerpoint/2010/main" val="2768853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F7B0A-B713-E03B-0F44-ACB9DC02C70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B1A883F-6DD2-6964-F01B-5A1866ACD171}"/>
              </a:ext>
            </a:extLst>
          </p:cNvPr>
          <p:cNvSpPr>
            <a:spLocks noGrp="1"/>
          </p:cNvSpPr>
          <p:nvPr>
            <p:ph type="title"/>
          </p:nvPr>
        </p:nvSpPr>
        <p:spPr/>
        <p:txBody>
          <a:bodyPr/>
          <a:lstStyle/>
          <a:p>
            <a:r>
              <a:rPr lang="en-GB" dirty="0"/>
              <a:t>Typical causes of failure</a:t>
            </a:r>
          </a:p>
        </p:txBody>
      </p:sp>
      <p:sp>
        <p:nvSpPr>
          <p:cNvPr id="3" name="Segnaposto contenuto 2">
            <a:extLst>
              <a:ext uri="{FF2B5EF4-FFF2-40B4-BE49-F238E27FC236}">
                <a16:creationId xmlns:a16="http://schemas.microsoft.com/office/drawing/2014/main" id="{121CB271-745A-8113-43D2-7993AFE25C53}"/>
              </a:ext>
            </a:extLst>
          </p:cNvPr>
          <p:cNvSpPr>
            <a:spLocks noGrp="1"/>
          </p:cNvSpPr>
          <p:nvPr>
            <p:ph idx="1"/>
          </p:nvPr>
        </p:nvSpPr>
        <p:spPr/>
        <p:txBody>
          <a:bodyPr/>
          <a:lstStyle/>
          <a:p>
            <a:pPr marL="0" indent="0">
              <a:buNone/>
            </a:pPr>
            <a:r>
              <a:rPr lang="en-GB" dirty="0"/>
              <a:t>3. Poor support in cultural transition</a:t>
            </a:r>
          </a:p>
          <a:p>
            <a:pPr marL="0" indent="0">
              <a:buNone/>
            </a:pPr>
            <a:r>
              <a:rPr lang="en-GB" dirty="0"/>
              <a:t>Tangible and active involvement of all management is crucial for cultural transformation</a:t>
            </a:r>
          </a:p>
          <a:p>
            <a:pPr marL="0" indent="0">
              <a:buNone/>
            </a:pPr>
            <a:endParaRPr lang="en-GB" dirty="0"/>
          </a:p>
          <a:p>
            <a:pPr marL="0" indent="0">
              <a:buNone/>
            </a:pPr>
            <a:r>
              <a:rPr lang="en-GB" dirty="0"/>
              <a:t>4. External pressure to Waterfall</a:t>
            </a:r>
          </a:p>
          <a:p>
            <a:pPr marL="0" indent="0">
              <a:buNone/>
            </a:pPr>
            <a:r>
              <a:rPr lang="en-GB" dirty="0"/>
              <a:t>Especially in large organisations, in order to facilitate coexistence between Agile and Waterfall teams, it is useful to involve people 'outside' Agile in meetings and to agree on mutual 'interfaces' for exchanging information</a:t>
            </a:r>
          </a:p>
          <a:p>
            <a:pPr marL="0" indent="0">
              <a:buNone/>
            </a:pPr>
            <a:endParaRPr lang="en-GB" dirty="0"/>
          </a:p>
        </p:txBody>
      </p:sp>
    </p:spTree>
    <p:extLst>
      <p:ext uri="{BB962C8B-B14F-4D97-AF65-F5344CB8AC3E}">
        <p14:creationId xmlns:p14="http://schemas.microsoft.com/office/powerpoint/2010/main" val="3680810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C55AA-4303-77E8-F827-021336793D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FF94F6C-1C26-EBBB-E218-C675030201BB}"/>
              </a:ext>
            </a:extLst>
          </p:cNvPr>
          <p:cNvSpPr>
            <a:spLocks noGrp="1"/>
          </p:cNvSpPr>
          <p:nvPr>
            <p:ph type="title"/>
          </p:nvPr>
        </p:nvSpPr>
        <p:spPr/>
        <p:txBody>
          <a:bodyPr/>
          <a:lstStyle/>
          <a:p>
            <a:r>
              <a:rPr lang="en-GB" dirty="0"/>
              <a:t>Typical causes of failure</a:t>
            </a:r>
          </a:p>
        </p:txBody>
      </p:sp>
      <p:sp>
        <p:nvSpPr>
          <p:cNvPr id="3" name="Segnaposto contenuto 2">
            <a:extLst>
              <a:ext uri="{FF2B5EF4-FFF2-40B4-BE49-F238E27FC236}">
                <a16:creationId xmlns:a16="http://schemas.microsoft.com/office/drawing/2014/main" id="{5B171018-2166-753C-4365-E763853863C5}"/>
              </a:ext>
            </a:extLst>
          </p:cNvPr>
          <p:cNvSpPr>
            <a:spLocks noGrp="1"/>
          </p:cNvSpPr>
          <p:nvPr>
            <p:ph idx="1"/>
          </p:nvPr>
        </p:nvSpPr>
        <p:spPr/>
        <p:txBody>
          <a:bodyPr>
            <a:normAutofit fontScale="92500" lnSpcReduction="10000"/>
          </a:bodyPr>
          <a:lstStyle/>
          <a:p>
            <a:pPr marL="0" indent="0">
              <a:buNone/>
            </a:pPr>
            <a:r>
              <a:rPr lang="en-GB" dirty="0"/>
              <a:t>5. Organisational and/or communicational issues</a:t>
            </a:r>
          </a:p>
          <a:p>
            <a:pPr marL="0" indent="0">
              <a:buNone/>
            </a:pPr>
            <a:r>
              <a:rPr lang="en-GB" dirty="0"/>
              <a:t>The effectiveness of Agile depends on a broad and deep acquisition of values and principles at organisational level</a:t>
            </a:r>
          </a:p>
          <a:p>
            <a:pPr marL="0" indent="0">
              <a:buNone/>
            </a:pPr>
            <a:endParaRPr lang="en-GB" dirty="0"/>
          </a:p>
          <a:p>
            <a:pPr marL="0" indent="0">
              <a:buNone/>
            </a:pPr>
            <a:r>
              <a:rPr lang="en-GB" dirty="0"/>
              <a:t>6. Team reluctance</a:t>
            </a:r>
          </a:p>
          <a:p>
            <a:pPr marL="0" indent="0">
              <a:buNone/>
            </a:pPr>
            <a:r>
              <a:rPr lang="en-GB" dirty="0"/>
              <a:t>Occurs when team members fear losing identity or control</a:t>
            </a:r>
          </a:p>
          <a:p>
            <a:pPr marL="0" indent="0">
              <a:buNone/>
            </a:pPr>
            <a:endParaRPr lang="en-GB" dirty="0"/>
          </a:p>
          <a:p>
            <a:pPr marL="0" indent="0">
              <a:buNone/>
            </a:pPr>
            <a:r>
              <a:rPr lang="en-GB" dirty="0"/>
              <a:t>7. Insufficient training</a:t>
            </a:r>
          </a:p>
          <a:p>
            <a:pPr marL="0" indent="0">
              <a:buNone/>
            </a:pPr>
            <a:r>
              <a:rPr lang="en-GB" dirty="0"/>
              <a:t>Ensure that all those involved (including leaders) receive solid training on Agile</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1618271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BE388-71D7-1058-0D04-44B6CCF2809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DEF6699-5D89-E622-0DE9-A7E6BEF049DB}"/>
              </a:ext>
            </a:extLst>
          </p:cNvPr>
          <p:cNvSpPr>
            <a:spLocks noGrp="1"/>
          </p:cNvSpPr>
          <p:nvPr>
            <p:ph type="title"/>
          </p:nvPr>
        </p:nvSpPr>
        <p:spPr/>
        <p:txBody>
          <a:bodyPr/>
          <a:lstStyle/>
          <a:p>
            <a:r>
              <a:rPr lang="en-GB" dirty="0"/>
              <a:t>A model for change management</a:t>
            </a:r>
          </a:p>
        </p:txBody>
      </p:sp>
      <p:sp>
        <p:nvSpPr>
          <p:cNvPr id="3" name="Segnaposto contenuto 2">
            <a:extLst>
              <a:ext uri="{FF2B5EF4-FFF2-40B4-BE49-F238E27FC236}">
                <a16:creationId xmlns:a16="http://schemas.microsoft.com/office/drawing/2014/main" id="{664DA742-41E8-11DE-B944-AA13D4E06D70}"/>
              </a:ext>
            </a:extLst>
          </p:cNvPr>
          <p:cNvSpPr>
            <a:spLocks noGrp="1"/>
          </p:cNvSpPr>
          <p:nvPr>
            <p:ph idx="1"/>
          </p:nvPr>
        </p:nvSpPr>
        <p:spPr/>
        <p:txBody>
          <a:bodyPr>
            <a:normAutofit/>
          </a:bodyPr>
          <a:lstStyle/>
          <a:p>
            <a:pPr marL="0" indent="0">
              <a:buNone/>
            </a:pPr>
            <a:endParaRPr lang="en-GB" dirty="0"/>
          </a:p>
          <a:p>
            <a:pPr marL="0" indent="0">
              <a:buNone/>
            </a:pPr>
            <a:endParaRPr lang="en-GB" dirty="0"/>
          </a:p>
        </p:txBody>
      </p:sp>
      <p:pic>
        <p:nvPicPr>
          <p:cNvPr id="9218" name="Picture 2" descr="Knoster change model">
            <a:extLst>
              <a:ext uri="{FF2B5EF4-FFF2-40B4-BE49-F238E27FC236}">
                <a16:creationId xmlns:a16="http://schemas.microsoft.com/office/drawing/2014/main" id="{578E5B96-BE19-0598-97A3-C8D1B1FD8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7425" y="1911146"/>
            <a:ext cx="7677150" cy="4038600"/>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9699F13A-E303-9716-F092-D427D47D26DA}"/>
              </a:ext>
            </a:extLst>
          </p:cNvPr>
          <p:cNvSpPr txBox="1"/>
          <p:nvPr/>
        </p:nvSpPr>
        <p:spPr>
          <a:xfrm>
            <a:off x="4050224" y="5994628"/>
            <a:ext cx="4091551" cy="2308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a:latin typeface="Bahnschrift SemiLight" panose="020B0502040204020203" pitchFamily="34" charset="0"/>
              </a:rPr>
              <a:t>Willem </a:t>
            </a:r>
            <a:r>
              <a:rPr lang="it-IT" sz="900" i="1" dirty="0" err="1">
                <a:latin typeface="Bahnschrift SemiLight" panose="020B0502040204020203" pitchFamily="34" charset="0"/>
              </a:rPr>
              <a:t>Hoek</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https://whoek.com/b/knoster_managing-change.html</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829660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D8286-85D5-C934-E13C-9BA4E303568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28E2AD2-45A3-299A-6142-FECB8E3DE565}"/>
              </a:ext>
            </a:extLst>
          </p:cNvPr>
          <p:cNvSpPr>
            <a:spLocks noGrp="1"/>
          </p:cNvSpPr>
          <p:nvPr>
            <p:ph type="title"/>
          </p:nvPr>
        </p:nvSpPr>
        <p:spPr/>
        <p:txBody>
          <a:bodyPr/>
          <a:lstStyle/>
          <a:p>
            <a:r>
              <a:rPr lang="en-GB" dirty="0"/>
              <a:t>Agile adoption vs Agile transformation</a:t>
            </a:r>
          </a:p>
        </p:txBody>
      </p:sp>
      <p:sp>
        <p:nvSpPr>
          <p:cNvPr id="5" name="Segnaposto contenuto 4">
            <a:extLst>
              <a:ext uri="{FF2B5EF4-FFF2-40B4-BE49-F238E27FC236}">
                <a16:creationId xmlns:a16="http://schemas.microsoft.com/office/drawing/2014/main" id="{4D975922-8AE2-F00C-EA78-A7CFF3A968D7}"/>
              </a:ext>
            </a:extLst>
          </p:cNvPr>
          <p:cNvSpPr>
            <a:spLocks noGrp="1"/>
          </p:cNvSpPr>
          <p:nvPr>
            <p:ph idx="1"/>
          </p:nvPr>
        </p:nvSpPr>
        <p:spPr/>
        <p:txBody>
          <a:bodyPr/>
          <a:lstStyle/>
          <a:p>
            <a:pPr marL="0" indent="0">
              <a:buNone/>
            </a:pPr>
            <a:r>
              <a:rPr lang="it-IT" dirty="0"/>
              <a:t>Agile adoption: </a:t>
            </a:r>
            <a:r>
              <a:rPr lang="en-GB" dirty="0"/>
              <a:t>use of tools and techniques in line with Agile principles.</a:t>
            </a:r>
          </a:p>
          <a:p>
            <a:pPr marL="0" indent="0">
              <a:buNone/>
            </a:pPr>
            <a:endParaRPr lang="en-GB" dirty="0"/>
          </a:p>
          <a:p>
            <a:pPr marL="0" indent="0">
              <a:buNone/>
            </a:pPr>
            <a:r>
              <a:rPr lang="en-GB" dirty="0"/>
              <a:t>Agile transformation: process of evolution of the culture and nature of the organisation.</a:t>
            </a:r>
          </a:p>
        </p:txBody>
      </p:sp>
    </p:spTree>
    <p:extLst>
      <p:ext uri="{BB962C8B-B14F-4D97-AF65-F5344CB8AC3E}">
        <p14:creationId xmlns:p14="http://schemas.microsoft.com/office/powerpoint/2010/main" val="3479103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6B273-659C-09B9-65AD-FBCB6616189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889B376-4569-0CC1-6797-878F2F16CED1}"/>
              </a:ext>
            </a:extLst>
          </p:cNvPr>
          <p:cNvSpPr>
            <a:spLocks noGrp="1"/>
          </p:cNvSpPr>
          <p:nvPr>
            <p:ph type="title"/>
          </p:nvPr>
        </p:nvSpPr>
        <p:spPr/>
        <p:txBody>
          <a:bodyPr/>
          <a:lstStyle/>
          <a:p>
            <a:r>
              <a:rPr lang="en-GB" dirty="0"/>
              <a:t>Agile adoption vs Agile transformation</a:t>
            </a:r>
          </a:p>
        </p:txBody>
      </p:sp>
      <p:graphicFrame>
        <p:nvGraphicFramePr>
          <p:cNvPr id="6" name="object 3">
            <a:extLst>
              <a:ext uri="{FF2B5EF4-FFF2-40B4-BE49-F238E27FC236}">
                <a16:creationId xmlns:a16="http://schemas.microsoft.com/office/drawing/2014/main" id="{716A504C-B430-D423-F404-5562A7123DF2}"/>
              </a:ext>
            </a:extLst>
          </p:cNvPr>
          <p:cNvGraphicFramePr>
            <a:graphicFrameLocks noGrp="1"/>
          </p:cNvGraphicFramePr>
          <p:nvPr>
            <p:extLst>
              <p:ext uri="{D42A27DB-BD31-4B8C-83A1-F6EECF244321}">
                <p14:modId xmlns:p14="http://schemas.microsoft.com/office/powerpoint/2010/main" val="1603073076"/>
              </p:ext>
            </p:extLst>
          </p:nvPr>
        </p:nvGraphicFramePr>
        <p:xfrm>
          <a:off x="1209007" y="2003431"/>
          <a:ext cx="9208315" cy="3844003"/>
        </p:xfrm>
        <a:graphic>
          <a:graphicData uri="http://schemas.openxmlformats.org/drawingml/2006/table">
            <a:tbl>
              <a:tblPr firstRow="1" bandRow="1">
                <a:tableStyleId>{2D5ABB26-0587-4C30-8999-92F81FD0307C}</a:tableStyleId>
              </a:tblPr>
              <a:tblGrid>
                <a:gridCol w="3679528">
                  <a:extLst>
                    <a:ext uri="{9D8B030D-6E8A-4147-A177-3AD203B41FA5}">
                      <a16:colId xmlns:a16="http://schemas.microsoft.com/office/drawing/2014/main" val="20000"/>
                    </a:ext>
                  </a:extLst>
                </a:gridCol>
                <a:gridCol w="2764394">
                  <a:extLst>
                    <a:ext uri="{9D8B030D-6E8A-4147-A177-3AD203B41FA5}">
                      <a16:colId xmlns:a16="http://schemas.microsoft.com/office/drawing/2014/main" val="20001"/>
                    </a:ext>
                  </a:extLst>
                </a:gridCol>
                <a:gridCol w="2764393">
                  <a:extLst>
                    <a:ext uri="{9D8B030D-6E8A-4147-A177-3AD203B41FA5}">
                      <a16:colId xmlns:a16="http://schemas.microsoft.com/office/drawing/2014/main" val="20002"/>
                    </a:ext>
                  </a:extLst>
                </a:gridCol>
              </a:tblGrid>
              <a:tr h="484584">
                <a:tc>
                  <a:txBody>
                    <a:bodyPr/>
                    <a:lstStyle/>
                    <a:p>
                      <a:pPr>
                        <a:lnSpc>
                          <a:spcPct val="100000"/>
                        </a:lnSpc>
                      </a:pPr>
                      <a:endParaRPr sz="1400" dirty="0">
                        <a:latin typeface="Bahnschrift SemiLight" panose="020B0502040204020203" pitchFamily="34" charset="0"/>
                        <a:cs typeface="Times New Roman"/>
                      </a:endParaRPr>
                    </a:p>
                  </a:txBody>
                  <a:tcPr marL="0" marR="0" marT="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15"/>
                        </a:spcBef>
                      </a:pPr>
                      <a:r>
                        <a:rPr sz="2000" b="1" spc="-10" dirty="0">
                          <a:solidFill>
                            <a:schemeClr val="bg1"/>
                          </a:solidFill>
                          <a:latin typeface="Bahnschrift SemiBold" panose="020B0502040204020203" pitchFamily="34" charset="0"/>
                          <a:cs typeface="Arial"/>
                        </a:rPr>
                        <a:t>ADOPTION</a:t>
                      </a:r>
                      <a:endParaRPr sz="2000" dirty="0">
                        <a:solidFill>
                          <a:schemeClr val="bg1"/>
                        </a:solidFill>
                        <a:latin typeface="Bahnschrift SemiBold" panose="020B0502040204020203" pitchFamily="34" charset="0"/>
                        <a:cs typeface="Arial"/>
                      </a:endParaRP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solidFill>
                  </a:tcPr>
                </a:tc>
                <a:tc>
                  <a:txBody>
                    <a:bodyPr/>
                    <a:lstStyle/>
                    <a:p>
                      <a:pPr algn="ctr">
                        <a:lnSpc>
                          <a:spcPct val="100000"/>
                        </a:lnSpc>
                        <a:spcBef>
                          <a:spcPts val="615"/>
                        </a:spcBef>
                      </a:pPr>
                      <a:r>
                        <a:rPr sz="2000" b="1" spc="-10" dirty="0">
                          <a:solidFill>
                            <a:schemeClr val="bg1"/>
                          </a:solidFill>
                          <a:latin typeface="Bahnschrift SemiBold" panose="020B0502040204020203" pitchFamily="34" charset="0"/>
                          <a:cs typeface="Arial"/>
                        </a:rPr>
                        <a:t>TRANSFORMATION</a:t>
                      </a:r>
                      <a:endParaRPr sz="2000" dirty="0">
                        <a:solidFill>
                          <a:schemeClr val="bg1"/>
                        </a:solidFill>
                        <a:latin typeface="Bahnschrift SemiBold" panose="020B0502040204020203" pitchFamily="34" charset="0"/>
                        <a:cs typeface="Arial"/>
                      </a:endParaRP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solidFill>
                  </a:tcPr>
                </a:tc>
                <a:extLst>
                  <a:ext uri="{0D108BD9-81ED-4DB2-BD59-A6C34878D82A}">
                    <a16:rowId xmlns:a16="http://schemas.microsoft.com/office/drawing/2014/main" val="10000"/>
                  </a:ext>
                </a:extLst>
              </a:tr>
              <a:tr h="479917">
                <a:tc>
                  <a:txBody>
                    <a:bodyPr/>
                    <a:lstStyle/>
                    <a:p>
                      <a:pPr marR="221615" algn="r">
                        <a:lnSpc>
                          <a:spcPct val="100000"/>
                        </a:lnSpc>
                        <a:spcBef>
                          <a:spcPts val="615"/>
                        </a:spcBef>
                      </a:pPr>
                      <a:r>
                        <a:rPr lang="en-GB" sz="1400" b="1" dirty="0">
                          <a:latin typeface="Bahnschrift SemiLight" panose="020B0502040204020203" pitchFamily="34" charset="0"/>
                          <a:cs typeface="Arial"/>
                        </a:rPr>
                        <a:t>Answers the question</a:t>
                      </a:r>
                    </a:p>
                  </a:txBody>
                  <a:tcPr marL="0" marR="0" marT="78105"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15"/>
                        </a:spcBef>
                      </a:pPr>
                      <a:r>
                        <a:rPr lang="en-GB" sz="1400" dirty="0">
                          <a:latin typeface="Bahnschrift SemiLight" panose="020B0502040204020203" pitchFamily="34" charset="0"/>
                          <a:cs typeface="Arial MT"/>
                        </a:rPr>
                        <a:t>What do we do?</a:t>
                      </a: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15"/>
                        </a:spcBef>
                      </a:pPr>
                      <a:r>
                        <a:rPr lang="en-GB" sz="1400" dirty="0">
                          <a:latin typeface="Bahnschrift SemiLight" panose="020B0502040204020203" pitchFamily="34" charset="0"/>
                          <a:cs typeface="Arial MT"/>
                        </a:rPr>
                        <a:t>Who are we?</a:t>
                      </a: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1"/>
                  </a:ext>
                </a:extLst>
              </a:tr>
              <a:tr h="479917">
                <a:tc>
                  <a:txBody>
                    <a:bodyPr/>
                    <a:lstStyle/>
                    <a:p>
                      <a:pPr marR="222885" algn="r">
                        <a:lnSpc>
                          <a:spcPct val="100000"/>
                        </a:lnSpc>
                        <a:spcBef>
                          <a:spcPts val="620"/>
                        </a:spcBef>
                      </a:pPr>
                      <a:r>
                        <a:rPr lang="en-GB" sz="1400" b="1" dirty="0">
                          <a:latin typeface="Bahnschrift SemiLight" panose="020B0502040204020203" pitchFamily="34" charset="0"/>
                          <a:cs typeface="Arial"/>
                        </a:rPr>
                        <a:t>Emphasis on</a:t>
                      </a:r>
                    </a:p>
                  </a:txBody>
                  <a:tcPr marL="0" marR="0" marT="7874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20"/>
                        </a:spcBef>
                      </a:pPr>
                      <a:r>
                        <a:rPr lang="en-GB" sz="1400" spc="-10" dirty="0">
                          <a:latin typeface="Bahnschrift SemiLight" panose="020B0502040204020203" pitchFamily="34" charset="0"/>
                          <a:cs typeface="Arial MT"/>
                        </a:rPr>
                        <a:t>Practices</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20"/>
                        </a:spcBef>
                      </a:pPr>
                      <a:r>
                        <a:rPr lang="en-GB" sz="1400" spc="-10" dirty="0">
                          <a:latin typeface="Bahnschrift SemiLight" panose="020B0502040204020203" pitchFamily="34" charset="0"/>
                          <a:cs typeface="Arial MT"/>
                        </a:rPr>
                        <a:t>Values and principles</a:t>
                      </a: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2"/>
                  </a:ext>
                </a:extLst>
              </a:tr>
              <a:tr h="479917">
                <a:tc>
                  <a:txBody>
                    <a:bodyPr/>
                    <a:lstStyle/>
                    <a:p>
                      <a:pPr marR="223520" algn="r">
                        <a:lnSpc>
                          <a:spcPct val="100000"/>
                        </a:lnSpc>
                        <a:spcBef>
                          <a:spcPts val="620"/>
                        </a:spcBef>
                      </a:pPr>
                      <a:r>
                        <a:rPr lang="en-GB" sz="1400" b="1" spc="-10" dirty="0">
                          <a:latin typeface="Bahnschrift SemiLight" panose="020B0502040204020203" pitchFamily="34" charset="0"/>
                          <a:cs typeface="Arial"/>
                        </a:rPr>
                        <a:t>Speed of change</a:t>
                      </a:r>
                    </a:p>
                  </a:txBody>
                  <a:tcPr marL="0" marR="0" marT="7874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20"/>
                        </a:spcBef>
                      </a:pPr>
                      <a:r>
                        <a:rPr lang="it-IT" sz="1400" spc="-10" dirty="0">
                          <a:latin typeface="Bahnschrift SemiLight" panose="020B0502040204020203" pitchFamily="34" charset="0"/>
                          <a:cs typeface="Arial MT"/>
                        </a:rPr>
                        <a:t>Fast</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20"/>
                        </a:spcBef>
                      </a:pPr>
                      <a:r>
                        <a:rPr lang="en-GB" sz="1400" spc="-10" dirty="0">
                          <a:latin typeface="Bahnschrift SemiLight" panose="020B0502040204020203" pitchFamily="34" charset="0"/>
                          <a:cs typeface="Arial MT"/>
                        </a:rPr>
                        <a:t>Slow</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3"/>
                  </a:ext>
                </a:extLst>
              </a:tr>
              <a:tr h="479917">
                <a:tc>
                  <a:txBody>
                    <a:bodyPr/>
                    <a:lstStyle/>
                    <a:p>
                      <a:pPr marR="221615" algn="r">
                        <a:lnSpc>
                          <a:spcPct val="100000"/>
                        </a:lnSpc>
                        <a:spcBef>
                          <a:spcPts val="615"/>
                        </a:spcBef>
                      </a:pPr>
                      <a:r>
                        <a:rPr lang="en-GB" sz="1400" b="1" dirty="0">
                          <a:latin typeface="Bahnschrift SemiLight" panose="020B0502040204020203" pitchFamily="34" charset="0"/>
                          <a:cs typeface="Arial"/>
                        </a:rPr>
                        <a:t>Time horizon</a:t>
                      </a:r>
                    </a:p>
                  </a:txBody>
                  <a:tcPr marL="0" marR="0" marT="78105"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15"/>
                        </a:spcBef>
                      </a:pPr>
                      <a:r>
                        <a:rPr lang="en-GB" sz="1400" dirty="0">
                          <a:latin typeface="Bahnschrift SemiLight" panose="020B0502040204020203" pitchFamily="34" charset="0"/>
                          <a:cs typeface="Arial MT"/>
                        </a:rPr>
                        <a:t>Short period</a:t>
                      </a: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15"/>
                        </a:spcBef>
                      </a:pPr>
                      <a:r>
                        <a:rPr lang="en-GB" sz="1400" dirty="0">
                          <a:latin typeface="Bahnschrift SemiLight" panose="020B0502040204020203" pitchFamily="34" charset="0"/>
                          <a:cs typeface="Arial MT"/>
                        </a:rPr>
                        <a:t>Long Period</a:t>
                      </a: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4"/>
                  </a:ext>
                </a:extLst>
              </a:tr>
              <a:tr h="479917">
                <a:tc>
                  <a:txBody>
                    <a:bodyPr/>
                    <a:lstStyle/>
                    <a:p>
                      <a:pPr marR="223520" algn="r">
                        <a:lnSpc>
                          <a:spcPct val="100000"/>
                        </a:lnSpc>
                        <a:spcBef>
                          <a:spcPts val="620"/>
                        </a:spcBef>
                      </a:pPr>
                      <a:r>
                        <a:rPr lang="en-GB" sz="1400" b="1" dirty="0">
                          <a:latin typeface="Bahnschrift SemiLight" panose="020B0502040204020203" pitchFamily="34" charset="0"/>
                          <a:cs typeface="Arial"/>
                        </a:rPr>
                        <a:t>Impact on results (productivity)</a:t>
                      </a:r>
                    </a:p>
                  </a:txBody>
                  <a:tcPr marL="0" marR="0" marT="7874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20"/>
                        </a:spcBef>
                      </a:pPr>
                      <a:r>
                        <a:rPr sz="1400" spc="-20" dirty="0">
                          <a:latin typeface="Bahnschrift SemiLight" panose="020B0502040204020203" pitchFamily="34" charset="0"/>
                          <a:cs typeface="Arial MT"/>
                        </a:rPr>
                        <a:t>100%</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20"/>
                        </a:spcBef>
                      </a:pPr>
                      <a:r>
                        <a:rPr sz="1400" spc="-20" dirty="0">
                          <a:latin typeface="Bahnschrift SemiLight" panose="020B0502040204020203" pitchFamily="34" charset="0"/>
                          <a:cs typeface="Arial MT"/>
                        </a:rPr>
                        <a:t>300%</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5"/>
                  </a:ext>
                </a:extLst>
              </a:tr>
              <a:tr h="479917">
                <a:tc>
                  <a:txBody>
                    <a:bodyPr/>
                    <a:lstStyle/>
                    <a:p>
                      <a:pPr marR="221615" algn="r">
                        <a:lnSpc>
                          <a:spcPct val="100000"/>
                        </a:lnSpc>
                        <a:spcBef>
                          <a:spcPts val="615"/>
                        </a:spcBef>
                      </a:pPr>
                      <a:r>
                        <a:rPr lang="en-GB" sz="1400" b="1" dirty="0">
                          <a:latin typeface="Bahnschrift SemiLight" panose="020B0502040204020203" pitchFamily="34" charset="0"/>
                          <a:cs typeface="Arial"/>
                        </a:rPr>
                        <a:t>Changes in organisational structure</a:t>
                      </a:r>
                    </a:p>
                  </a:txBody>
                  <a:tcPr marL="0" marR="0" marT="78105"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15"/>
                        </a:spcBef>
                      </a:pPr>
                      <a:r>
                        <a:rPr lang="en-GB" sz="1400" dirty="0">
                          <a:latin typeface="Bahnschrift SemiLight" panose="020B0502040204020203" pitchFamily="34" charset="0"/>
                          <a:cs typeface="Arial MT"/>
                        </a:rPr>
                        <a:t>Few or none</a:t>
                      </a: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15"/>
                        </a:spcBef>
                      </a:pPr>
                      <a:r>
                        <a:rPr lang="en-GB" sz="1400" spc="-10" dirty="0">
                          <a:latin typeface="Bahnschrift SemiLight" panose="020B0502040204020203" pitchFamily="34" charset="0"/>
                          <a:cs typeface="Arial MT"/>
                        </a:rPr>
                        <a:t>Significant</a:t>
                      </a: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6"/>
                  </a:ext>
                </a:extLst>
              </a:tr>
              <a:tr h="479917">
                <a:tc>
                  <a:txBody>
                    <a:bodyPr/>
                    <a:lstStyle/>
                    <a:p>
                      <a:pPr marR="221615" algn="r">
                        <a:lnSpc>
                          <a:spcPct val="100000"/>
                        </a:lnSpc>
                        <a:spcBef>
                          <a:spcPts val="620"/>
                        </a:spcBef>
                      </a:pPr>
                      <a:r>
                        <a:rPr lang="en-GB" sz="1400" b="1" dirty="0">
                          <a:latin typeface="Bahnschrift SemiLight" panose="020B0502040204020203" pitchFamily="34" charset="0"/>
                          <a:cs typeface="Arial"/>
                        </a:rPr>
                        <a:t>Changes in organisational culture</a:t>
                      </a:r>
                    </a:p>
                  </a:txBody>
                  <a:tcPr marL="0" marR="0" marT="7874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20"/>
                        </a:spcBef>
                      </a:pPr>
                      <a:r>
                        <a:rPr lang="en-GB" sz="1400" dirty="0">
                          <a:latin typeface="Bahnschrift SemiLight" panose="020B0502040204020203" pitchFamily="34" charset="0"/>
                          <a:cs typeface="Arial MT"/>
                        </a:rPr>
                        <a:t>At most localised</a:t>
                      </a: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20"/>
                        </a:spcBef>
                      </a:pPr>
                      <a:r>
                        <a:rPr lang="en-GB" sz="1400" dirty="0">
                          <a:latin typeface="Bahnschrift SemiLight" panose="020B0502040204020203" pitchFamily="34" charset="0"/>
                          <a:cs typeface="Arial MT"/>
                        </a:rPr>
                        <a:t>Broad-spectrum</a:t>
                      </a: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7"/>
                  </a:ext>
                </a:extLst>
              </a:tr>
            </a:tbl>
          </a:graphicData>
        </a:graphic>
      </p:graphicFrame>
      <p:sp>
        <p:nvSpPr>
          <p:cNvPr id="3" name="CasellaDiTesto 2">
            <a:extLst>
              <a:ext uri="{FF2B5EF4-FFF2-40B4-BE49-F238E27FC236}">
                <a16:creationId xmlns:a16="http://schemas.microsoft.com/office/drawing/2014/main" id="{0F975471-066D-F63B-D53B-D7AEBE76B070}"/>
              </a:ext>
            </a:extLst>
          </p:cNvPr>
          <p:cNvSpPr txBox="1"/>
          <p:nvPr/>
        </p:nvSpPr>
        <p:spPr>
          <a:xfrm>
            <a:off x="6096000" y="6044761"/>
            <a:ext cx="4091551" cy="230832"/>
          </a:xfrm>
          <a:prstGeom prst="rect">
            <a:avLst/>
          </a:prstGeom>
          <a:noFill/>
        </p:spPr>
        <p:txBody>
          <a:bodyPr wrap="square" rtlCol="0">
            <a:spAutoFit/>
          </a:bodyPr>
          <a:lstStyle/>
          <a:p>
            <a:r>
              <a:rPr lang="it-IT" sz="900" dirty="0">
                <a:latin typeface="Bahnschrift SemiLight" panose="020B0502040204020203" pitchFamily="34" charset="0"/>
              </a:rPr>
              <a:t>Source: chart </a:t>
            </a:r>
            <a:r>
              <a:rPr lang="it-IT" sz="900" dirty="0" err="1">
                <a:latin typeface="Bahnschrift SemiLight" panose="020B0502040204020203" pitchFamily="34" charset="0"/>
              </a:rPr>
              <a:t>produced</a:t>
            </a:r>
            <a:r>
              <a:rPr lang="it-IT" sz="900" dirty="0">
                <a:latin typeface="Bahnschrift SemiLight" panose="020B0502040204020203" pitchFamily="34" charset="0"/>
              </a:rPr>
              <a:t> by </a:t>
            </a:r>
            <a:r>
              <a:rPr lang="it-IT" sz="900" i="1" dirty="0" err="1">
                <a:latin typeface="Bahnschrift SemiLight" panose="020B0502040204020203" pitchFamily="34" charset="0"/>
              </a:rPr>
              <a:t>EGInA</a:t>
            </a:r>
            <a:r>
              <a:rPr lang="it-IT" sz="900" i="1" dirty="0">
                <a:latin typeface="Bahnschrift SemiLight" panose="020B0502040204020203" pitchFamily="34" charset="0"/>
              </a:rPr>
              <a:t> </a:t>
            </a:r>
            <a:r>
              <a:rPr lang="it-IT" sz="900" i="1" dirty="0" err="1">
                <a:latin typeface="Bahnschrift SemiLight" panose="020B0502040204020203" pitchFamily="34" charset="0"/>
              </a:rPr>
              <a:t>Srl</a:t>
            </a:r>
            <a:r>
              <a:rPr lang="it-IT" sz="900" i="1" dirty="0">
                <a:latin typeface="Bahnschrift SemiLight" panose="020B0502040204020203" pitchFamily="34" charset="0"/>
              </a:rPr>
              <a:t> </a:t>
            </a:r>
            <a:r>
              <a:rPr lang="it-IT" sz="900" dirty="0">
                <a:latin typeface="Bahnschrift SemiLight" panose="020B0502040204020203" pitchFamily="34" charset="0"/>
              </a:rPr>
              <a:t> (</a:t>
            </a:r>
            <a:r>
              <a:rPr lang="it-IT" sz="900" dirty="0">
                <a:latin typeface="Bahnschrift SemiLight" panose="020B0502040204020203" pitchFamily="34" charset="0"/>
                <a:hlinkClick r:id="rId3"/>
              </a:rPr>
              <a:t>https://www.egina.eu/</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244969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1F758-9E23-3EBE-EC52-A3E78BB2D28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879E6F1-D015-02B5-79E7-0CE0D9AE8EEC}"/>
              </a:ext>
            </a:extLst>
          </p:cNvPr>
          <p:cNvSpPr>
            <a:spLocks noGrp="1"/>
          </p:cNvSpPr>
          <p:nvPr>
            <p:ph type="ctrTitle"/>
          </p:nvPr>
        </p:nvSpPr>
        <p:spPr/>
        <p:txBody>
          <a:bodyPr/>
          <a:lstStyle/>
          <a:p>
            <a:pPr marL="0" indent="0">
              <a:buNone/>
            </a:pPr>
            <a:r>
              <a:rPr lang="en-GB" dirty="0"/>
              <a:t>Reconciling Waterfall and Agile</a:t>
            </a:r>
          </a:p>
        </p:txBody>
      </p:sp>
    </p:spTree>
    <p:extLst>
      <p:ext uri="{BB962C8B-B14F-4D97-AF65-F5344CB8AC3E}">
        <p14:creationId xmlns:p14="http://schemas.microsoft.com/office/powerpoint/2010/main" val="3524263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74D2458-188F-35B4-6A0F-2A780B2BB8B9}"/>
              </a:ext>
            </a:extLst>
          </p:cNvPr>
          <p:cNvSpPr>
            <a:spLocks noGrp="1"/>
          </p:cNvSpPr>
          <p:nvPr>
            <p:ph type="title"/>
          </p:nvPr>
        </p:nvSpPr>
        <p:spPr/>
        <p:txBody>
          <a:bodyPr/>
          <a:lstStyle/>
          <a:p>
            <a:r>
              <a:rPr lang="en-GB" dirty="0"/>
              <a:t>Creating the Gantt from cards</a:t>
            </a:r>
          </a:p>
        </p:txBody>
      </p:sp>
      <p:sp>
        <p:nvSpPr>
          <p:cNvPr id="3" name="Segnaposto contenuto 2">
            <a:extLst>
              <a:ext uri="{FF2B5EF4-FFF2-40B4-BE49-F238E27FC236}">
                <a16:creationId xmlns:a16="http://schemas.microsoft.com/office/drawing/2014/main" id="{52C96FD9-AA5B-443F-28B4-0A23EEB5CAF9}"/>
              </a:ext>
            </a:extLst>
          </p:cNvPr>
          <p:cNvSpPr>
            <a:spLocks noGrp="1"/>
          </p:cNvSpPr>
          <p:nvPr>
            <p:ph idx="1"/>
          </p:nvPr>
        </p:nvSpPr>
        <p:spPr/>
        <p:txBody>
          <a:bodyPr/>
          <a:lstStyle/>
          <a:p>
            <a:pPr marL="0" indent="0">
              <a:buNone/>
            </a:pPr>
            <a:r>
              <a:rPr lang="en-GB" dirty="0"/>
              <a:t>Regardless of the approach taken, we are often asked to produce a project Gantt. With respect to Agile, we can try to do this by starting with the very cards on the board. </a:t>
            </a:r>
          </a:p>
          <a:p>
            <a:endParaRPr lang="en-GB" dirty="0"/>
          </a:p>
        </p:txBody>
      </p:sp>
    </p:spTree>
    <p:extLst>
      <p:ext uri="{BB962C8B-B14F-4D97-AF65-F5344CB8AC3E}">
        <p14:creationId xmlns:p14="http://schemas.microsoft.com/office/powerpoint/2010/main" val="1076193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0582E-72CC-A838-1284-375B6CB4556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C7A4D91-A23B-D365-32BB-6C0CEFDFEC1C}"/>
              </a:ext>
            </a:extLst>
          </p:cNvPr>
          <p:cNvSpPr>
            <a:spLocks noGrp="1"/>
          </p:cNvSpPr>
          <p:nvPr>
            <p:ph type="title"/>
          </p:nvPr>
        </p:nvSpPr>
        <p:spPr/>
        <p:txBody>
          <a:bodyPr/>
          <a:lstStyle/>
          <a:p>
            <a:r>
              <a:rPr lang="en-GB" dirty="0"/>
              <a:t>A digital tool: </a:t>
            </a:r>
            <a:r>
              <a:rPr lang="en-GB" dirty="0" err="1"/>
              <a:t>TeamGantt</a:t>
            </a:r>
            <a:endParaRPr lang="en-GB" dirty="0"/>
          </a:p>
        </p:txBody>
      </p:sp>
      <p:sp>
        <p:nvSpPr>
          <p:cNvPr id="3" name="Segnaposto contenuto 2">
            <a:extLst>
              <a:ext uri="{FF2B5EF4-FFF2-40B4-BE49-F238E27FC236}">
                <a16:creationId xmlns:a16="http://schemas.microsoft.com/office/drawing/2014/main" id="{133F72AA-3BB7-F50F-7465-E8FED34912DB}"/>
              </a:ext>
            </a:extLst>
          </p:cNvPr>
          <p:cNvSpPr>
            <a:spLocks noGrp="1"/>
          </p:cNvSpPr>
          <p:nvPr>
            <p:ph idx="1"/>
          </p:nvPr>
        </p:nvSpPr>
        <p:spPr/>
        <p:txBody>
          <a:bodyPr>
            <a:normAutofit fontScale="92500"/>
          </a:bodyPr>
          <a:lstStyle/>
          <a:p>
            <a:pPr marL="0" indent="0">
              <a:buNone/>
            </a:pPr>
            <a:r>
              <a:rPr lang="en-GB" dirty="0" err="1"/>
              <a:t>TeamGantt</a:t>
            </a:r>
            <a:r>
              <a:rPr lang="en-GB" dirty="0"/>
              <a:t> is a digital tool that allows you to:</a:t>
            </a:r>
          </a:p>
          <a:p>
            <a:r>
              <a:rPr lang="en-GB" dirty="0"/>
              <a:t>create, share, update Gantt</a:t>
            </a:r>
          </a:p>
          <a:p>
            <a:r>
              <a:rPr lang="en-GB" dirty="0"/>
              <a:t>reorganise tasks</a:t>
            </a:r>
          </a:p>
          <a:p>
            <a:r>
              <a:rPr lang="en-GB" dirty="0"/>
              <a:t>display all projects in one view</a:t>
            </a:r>
          </a:p>
          <a:p>
            <a:r>
              <a:rPr lang="en-GB" dirty="0"/>
              <a:t>manage resources, control budget and make sure to avoid overload</a:t>
            </a:r>
          </a:p>
          <a:p>
            <a:r>
              <a:rPr lang="en-GB" dirty="0"/>
              <a:t>create reports</a:t>
            </a:r>
          </a:p>
          <a:p>
            <a:r>
              <a:rPr lang="en-GB" dirty="0"/>
              <a:t>check progress against plan and make projections</a:t>
            </a:r>
          </a:p>
          <a:p>
            <a:r>
              <a:rPr lang="en-GB" dirty="0"/>
              <a:t>list tasks and schedule them</a:t>
            </a:r>
          </a:p>
          <a:p>
            <a:r>
              <a:rPr lang="en-GB" dirty="0"/>
              <a:t>track activities</a:t>
            </a:r>
          </a:p>
        </p:txBody>
      </p:sp>
    </p:spTree>
    <p:extLst>
      <p:ext uri="{BB962C8B-B14F-4D97-AF65-F5344CB8AC3E}">
        <p14:creationId xmlns:p14="http://schemas.microsoft.com/office/powerpoint/2010/main" val="2718625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25B44-AE8E-8D91-5048-1808FC0AFF2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F4D9B23-71F9-21F2-8D27-9F06D19DC5AB}"/>
              </a:ext>
            </a:extLst>
          </p:cNvPr>
          <p:cNvSpPr>
            <a:spLocks noGrp="1"/>
          </p:cNvSpPr>
          <p:nvPr>
            <p:ph type="title"/>
          </p:nvPr>
        </p:nvSpPr>
        <p:spPr/>
        <p:txBody>
          <a:bodyPr/>
          <a:lstStyle/>
          <a:p>
            <a:r>
              <a:rPr lang="en-GB" dirty="0"/>
              <a:t>A digital tool: </a:t>
            </a:r>
            <a:r>
              <a:rPr lang="en-GB" dirty="0" err="1"/>
              <a:t>OpenProject</a:t>
            </a:r>
            <a:endParaRPr lang="en-GB" dirty="0"/>
          </a:p>
        </p:txBody>
      </p:sp>
      <p:sp>
        <p:nvSpPr>
          <p:cNvPr id="3" name="Segnaposto contenuto 2">
            <a:extLst>
              <a:ext uri="{FF2B5EF4-FFF2-40B4-BE49-F238E27FC236}">
                <a16:creationId xmlns:a16="http://schemas.microsoft.com/office/drawing/2014/main" id="{675E25C2-61F1-A1E7-0297-30AE7361AF21}"/>
              </a:ext>
            </a:extLst>
          </p:cNvPr>
          <p:cNvSpPr>
            <a:spLocks noGrp="1"/>
          </p:cNvSpPr>
          <p:nvPr>
            <p:ph idx="1"/>
          </p:nvPr>
        </p:nvSpPr>
        <p:spPr/>
        <p:txBody>
          <a:bodyPr>
            <a:normAutofit lnSpcReduction="10000"/>
          </a:bodyPr>
          <a:lstStyle/>
          <a:p>
            <a:pPr marL="0" indent="0">
              <a:buNone/>
            </a:pPr>
            <a:r>
              <a:rPr lang="en-GB" dirty="0" err="1"/>
              <a:t>OpenProject</a:t>
            </a:r>
            <a:r>
              <a:rPr lang="en-GB" dirty="0"/>
              <a:t> is a project management digital tool that allows you to:</a:t>
            </a:r>
          </a:p>
          <a:p>
            <a:r>
              <a:rPr lang="en-GB" dirty="0"/>
              <a:t>create product and sprint backlogs</a:t>
            </a:r>
          </a:p>
          <a:p>
            <a:r>
              <a:rPr lang="en-GB" dirty="0"/>
              <a:t>estimate activities in story points</a:t>
            </a:r>
          </a:p>
          <a:p>
            <a:r>
              <a:rPr lang="en-GB" dirty="0"/>
              <a:t>use card templates</a:t>
            </a:r>
          </a:p>
          <a:p>
            <a:r>
              <a:rPr lang="en-GB" dirty="0"/>
              <a:t>create burndown charts</a:t>
            </a:r>
          </a:p>
          <a:p>
            <a:r>
              <a:rPr lang="en-GB" dirty="0"/>
              <a:t>track 'impediments' for sprints</a:t>
            </a:r>
          </a:p>
          <a:p>
            <a:r>
              <a:rPr lang="en-GB" dirty="0"/>
              <a:t>assign and prioritise activities</a:t>
            </a:r>
          </a:p>
          <a:p>
            <a:r>
              <a:rPr lang="en-GB" dirty="0"/>
              <a:t>display activities on calendar or board</a:t>
            </a:r>
          </a:p>
        </p:txBody>
      </p:sp>
    </p:spTree>
    <p:extLst>
      <p:ext uri="{BB962C8B-B14F-4D97-AF65-F5344CB8AC3E}">
        <p14:creationId xmlns:p14="http://schemas.microsoft.com/office/powerpoint/2010/main" val="3210347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73489-8E2C-6650-7655-A9EAE108C3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65976F6-6597-8F7C-4D5A-2AD14AEEEEE7}"/>
              </a:ext>
            </a:extLst>
          </p:cNvPr>
          <p:cNvSpPr>
            <a:spLocks noGrp="1"/>
          </p:cNvSpPr>
          <p:nvPr>
            <p:ph type="title"/>
          </p:nvPr>
        </p:nvSpPr>
        <p:spPr/>
        <p:txBody>
          <a:bodyPr/>
          <a:lstStyle/>
          <a:p>
            <a:r>
              <a:rPr lang="en-GB" dirty="0"/>
              <a:t>Monitor progress with sprint goals</a:t>
            </a:r>
          </a:p>
        </p:txBody>
      </p:sp>
      <p:sp>
        <p:nvSpPr>
          <p:cNvPr id="3" name="Segnaposto contenuto 2">
            <a:extLst>
              <a:ext uri="{FF2B5EF4-FFF2-40B4-BE49-F238E27FC236}">
                <a16:creationId xmlns:a16="http://schemas.microsoft.com/office/drawing/2014/main" id="{A10D35F8-0758-D612-1CE8-B4D25DF3A33B}"/>
              </a:ext>
            </a:extLst>
          </p:cNvPr>
          <p:cNvSpPr>
            <a:spLocks noGrp="1"/>
          </p:cNvSpPr>
          <p:nvPr>
            <p:ph idx="1"/>
          </p:nvPr>
        </p:nvSpPr>
        <p:spPr/>
        <p:txBody>
          <a:bodyPr>
            <a:normAutofit/>
          </a:bodyPr>
          <a:lstStyle/>
          <a:p>
            <a:pPr marL="0" indent="0">
              <a:buNone/>
            </a:pPr>
            <a:r>
              <a:rPr lang="en-GB" dirty="0"/>
              <a:t>How to monitor the progress of activities?</a:t>
            </a:r>
          </a:p>
          <a:p>
            <a:pPr marL="0" indent="0">
              <a:buNone/>
            </a:pPr>
            <a:endParaRPr lang="en-GB" dirty="0"/>
          </a:p>
          <a:p>
            <a:pPr marL="0" indent="0">
              <a:buNone/>
            </a:pPr>
            <a:r>
              <a:rPr lang="en-GB" dirty="0"/>
              <a:t>Define Sprint Goals (max 3 or 5) and ask the PM to indicate the % achievement of each one.</a:t>
            </a:r>
          </a:p>
          <a:p>
            <a:pPr marL="0" indent="0">
              <a:buNone/>
            </a:pPr>
            <a:endParaRPr lang="en-GB" dirty="0"/>
          </a:p>
          <a:p>
            <a:pPr marL="0" indent="0">
              <a:buNone/>
            </a:pPr>
            <a:r>
              <a:rPr lang="en-GB" dirty="0"/>
              <a:t>Sprint Goals: sub-goals corresponding to sets of cards (≈ Epic)</a:t>
            </a:r>
          </a:p>
          <a:p>
            <a:pPr marL="0" indent="0">
              <a:buNone/>
            </a:pPr>
            <a:endParaRPr lang="en-GB" dirty="0"/>
          </a:p>
        </p:txBody>
      </p:sp>
    </p:spTree>
    <p:extLst>
      <p:ext uri="{BB962C8B-B14F-4D97-AF65-F5344CB8AC3E}">
        <p14:creationId xmlns:p14="http://schemas.microsoft.com/office/powerpoint/2010/main" val="935059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B9D15-AB5F-2ED4-3434-3B1967A9919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543A3ED-FF28-A346-840A-B480FB6903DD}"/>
              </a:ext>
            </a:extLst>
          </p:cNvPr>
          <p:cNvSpPr>
            <a:spLocks noGrp="1"/>
          </p:cNvSpPr>
          <p:nvPr>
            <p:ph type="title"/>
          </p:nvPr>
        </p:nvSpPr>
        <p:spPr/>
        <p:txBody>
          <a:bodyPr/>
          <a:lstStyle/>
          <a:p>
            <a:r>
              <a:rPr lang="en-GB" dirty="0"/>
              <a:t>Monitor progress with sprint goals</a:t>
            </a:r>
          </a:p>
        </p:txBody>
      </p:sp>
      <p:sp>
        <p:nvSpPr>
          <p:cNvPr id="3" name="Segnaposto contenuto 2">
            <a:extLst>
              <a:ext uri="{FF2B5EF4-FFF2-40B4-BE49-F238E27FC236}">
                <a16:creationId xmlns:a16="http://schemas.microsoft.com/office/drawing/2014/main" id="{EFD0D286-35C6-69F1-DB9C-ECEF1A1C2993}"/>
              </a:ext>
            </a:extLst>
          </p:cNvPr>
          <p:cNvSpPr>
            <a:spLocks noGrp="1"/>
          </p:cNvSpPr>
          <p:nvPr>
            <p:ph idx="1"/>
          </p:nvPr>
        </p:nvSpPr>
        <p:spPr/>
        <p:txBody>
          <a:bodyPr>
            <a:normAutofit/>
          </a:bodyPr>
          <a:lstStyle/>
          <a:p>
            <a:pPr marL="0" indent="0">
              <a:buNone/>
            </a:pPr>
            <a:r>
              <a:rPr lang="en-GB" dirty="0"/>
              <a:t>Use Agile as a tool for the micro-management of the team (also in waterfall projects):</a:t>
            </a:r>
          </a:p>
          <a:p>
            <a:r>
              <a:rPr lang="en-GB" dirty="0"/>
              <a:t>Organise team work by weekly sprints and hold regular meetings (1 planning and 1 retrospective)!</a:t>
            </a:r>
          </a:p>
          <a:p>
            <a:r>
              <a:rPr lang="en-GB" dirty="0"/>
              <a:t>Keep the team's velocity under control</a:t>
            </a:r>
          </a:p>
          <a:p>
            <a:r>
              <a:rPr lang="en-GB" dirty="0"/>
              <a:t>Use goals as milestones and evaluate overall progress by % of their completion</a:t>
            </a:r>
          </a:p>
          <a:p>
            <a:endParaRPr lang="en-GB" dirty="0"/>
          </a:p>
          <a:p>
            <a:pPr marL="0" indent="0">
              <a:buNone/>
            </a:pPr>
            <a:endParaRPr lang="en-GB" dirty="0"/>
          </a:p>
        </p:txBody>
      </p:sp>
    </p:spTree>
    <p:extLst>
      <p:ext uri="{BB962C8B-B14F-4D97-AF65-F5344CB8AC3E}">
        <p14:creationId xmlns:p14="http://schemas.microsoft.com/office/powerpoint/2010/main" val="2161779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F852E-37CC-E2D9-CFD1-26A618ED873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E6080CA-2E1D-1FB5-25F1-D921E61C461B}"/>
              </a:ext>
            </a:extLst>
          </p:cNvPr>
          <p:cNvSpPr>
            <a:spLocks noGrp="1"/>
          </p:cNvSpPr>
          <p:nvPr>
            <p:ph type="title"/>
          </p:nvPr>
        </p:nvSpPr>
        <p:spPr/>
        <p:txBody>
          <a:bodyPr/>
          <a:lstStyle/>
          <a:p>
            <a:r>
              <a:rPr lang="en-GB" dirty="0"/>
              <a:t>Scrum of scrums</a:t>
            </a:r>
          </a:p>
        </p:txBody>
      </p:sp>
      <p:sp>
        <p:nvSpPr>
          <p:cNvPr id="3" name="Segnaposto contenuto 2">
            <a:extLst>
              <a:ext uri="{FF2B5EF4-FFF2-40B4-BE49-F238E27FC236}">
                <a16:creationId xmlns:a16="http://schemas.microsoft.com/office/drawing/2014/main" id="{C4D3F96A-68DD-6E54-316D-91D5CB62FB08}"/>
              </a:ext>
            </a:extLst>
          </p:cNvPr>
          <p:cNvSpPr>
            <a:spLocks noGrp="1"/>
          </p:cNvSpPr>
          <p:nvPr>
            <p:ph idx="1"/>
          </p:nvPr>
        </p:nvSpPr>
        <p:spPr/>
        <p:txBody>
          <a:bodyPr>
            <a:normAutofit/>
          </a:bodyPr>
          <a:lstStyle/>
          <a:p>
            <a:pPr marL="0" indent="0">
              <a:buNone/>
            </a:pPr>
            <a:r>
              <a:rPr lang="en-GB" dirty="0"/>
              <a:t>How to apply Agile to projects involving many people?</a:t>
            </a:r>
          </a:p>
          <a:p>
            <a:endParaRPr lang="en-GB" dirty="0"/>
          </a:p>
          <a:p>
            <a:pPr marL="0" indent="0">
              <a:buNone/>
            </a:pPr>
            <a:r>
              <a:rPr lang="en-GB" dirty="0"/>
              <a:t>Scrum of scrums (general meaning): technique for applying Agile to large organisations.</a:t>
            </a:r>
          </a:p>
          <a:p>
            <a:pPr marL="0" indent="0">
              <a:buNone/>
            </a:pPr>
            <a:endParaRPr lang="en-GB" dirty="0"/>
          </a:p>
          <a:p>
            <a:pPr marL="0" indent="0">
              <a:buNone/>
            </a:pPr>
            <a:r>
              <a:rPr lang="en-GB" dirty="0"/>
              <a:t>Scrum of scrums (specific meaning): meeting held regularly between the MS of each team to share information.</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3700272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3921-A324-D3AA-DC03-A36DFD58981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8CB007B-F3C4-E8AD-8796-6FB4E46FCB84}"/>
              </a:ext>
            </a:extLst>
          </p:cNvPr>
          <p:cNvSpPr>
            <a:spLocks noGrp="1"/>
          </p:cNvSpPr>
          <p:nvPr>
            <p:ph type="title"/>
          </p:nvPr>
        </p:nvSpPr>
        <p:spPr/>
        <p:txBody>
          <a:bodyPr/>
          <a:lstStyle/>
          <a:p>
            <a:r>
              <a:rPr lang="en-GB" dirty="0"/>
              <a:t>Scrum of scrums</a:t>
            </a:r>
          </a:p>
        </p:txBody>
      </p:sp>
      <p:sp>
        <p:nvSpPr>
          <p:cNvPr id="3" name="Segnaposto contenuto 2">
            <a:extLst>
              <a:ext uri="{FF2B5EF4-FFF2-40B4-BE49-F238E27FC236}">
                <a16:creationId xmlns:a16="http://schemas.microsoft.com/office/drawing/2014/main" id="{ADA4F356-1FC7-0FB4-FE46-7C9F07A20EE4}"/>
              </a:ext>
            </a:extLst>
          </p:cNvPr>
          <p:cNvSpPr>
            <a:spLocks noGrp="1"/>
          </p:cNvSpPr>
          <p:nvPr>
            <p:ph idx="1"/>
          </p:nvPr>
        </p:nvSpPr>
        <p:spPr>
          <a:xfrm>
            <a:off x="838200" y="2165771"/>
            <a:ext cx="10655710" cy="2526457"/>
          </a:xfrm>
        </p:spPr>
        <p:txBody>
          <a:bodyPr>
            <a:normAutofit/>
          </a:bodyPr>
          <a:lstStyle/>
          <a:p>
            <a:pPr marL="0" indent="0">
              <a:buNone/>
            </a:pPr>
            <a:r>
              <a:rPr lang="en-GB" dirty="0"/>
              <a:t>Two levels different:</a:t>
            </a:r>
          </a:p>
          <a:p>
            <a:pPr marL="0" indent="0">
              <a:buNone/>
            </a:pPr>
            <a:endParaRPr lang="en-GB" dirty="0"/>
          </a:p>
          <a:p>
            <a:pPr marL="514350" indent="-514350">
              <a:buAutoNum type="arabicPeriod"/>
            </a:pPr>
            <a:r>
              <a:rPr lang="en-GB" i="1" dirty="0"/>
              <a:t>Corporate scrum of scrum </a:t>
            </a:r>
            <a:r>
              <a:rPr lang="en-GB" dirty="0"/>
              <a:t>(all Scrum Masters of all products)</a:t>
            </a:r>
          </a:p>
          <a:p>
            <a:pPr marL="514350" indent="-514350">
              <a:buFont typeface="Arial" panose="020B0604020202020204" pitchFamily="34" charset="0"/>
              <a:buAutoNum type="arabicPeriod"/>
            </a:pPr>
            <a:r>
              <a:rPr lang="en-GB" i="1" dirty="0"/>
              <a:t>Product scrum </a:t>
            </a:r>
            <a:r>
              <a:rPr lang="en-GB" dirty="0"/>
              <a:t>(all Scrum Masters of a specific product)</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22937228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6A272-B79F-71C1-958E-6336D2CD786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E604A7D-6CBA-6B69-4A10-8007DF7CCC58}"/>
              </a:ext>
            </a:extLst>
          </p:cNvPr>
          <p:cNvSpPr>
            <a:spLocks noGrp="1"/>
          </p:cNvSpPr>
          <p:nvPr>
            <p:ph type="title"/>
          </p:nvPr>
        </p:nvSpPr>
        <p:spPr/>
        <p:txBody>
          <a:bodyPr/>
          <a:lstStyle/>
          <a:p>
            <a:r>
              <a:rPr lang="en-GB" dirty="0"/>
              <a:t>Product/project scrum</a:t>
            </a:r>
          </a:p>
        </p:txBody>
      </p:sp>
      <p:sp>
        <p:nvSpPr>
          <p:cNvPr id="3" name="Segnaposto contenuto 2">
            <a:extLst>
              <a:ext uri="{FF2B5EF4-FFF2-40B4-BE49-F238E27FC236}">
                <a16:creationId xmlns:a16="http://schemas.microsoft.com/office/drawing/2014/main" id="{16FE6CDC-BDA1-5898-E9FC-9993E9186EA0}"/>
              </a:ext>
            </a:extLst>
          </p:cNvPr>
          <p:cNvSpPr>
            <a:spLocks noGrp="1"/>
          </p:cNvSpPr>
          <p:nvPr>
            <p:ph idx="1"/>
          </p:nvPr>
        </p:nvSpPr>
        <p:spPr/>
        <p:txBody>
          <a:bodyPr>
            <a:normAutofit/>
          </a:bodyPr>
          <a:lstStyle/>
          <a:p>
            <a:pPr marL="0" indent="0">
              <a:buNone/>
            </a:pPr>
            <a:r>
              <a:rPr lang="en-GB" dirty="0"/>
              <a:t>30-minute meeting, once a week where:</a:t>
            </a:r>
          </a:p>
          <a:p>
            <a:pPr marL="514350" indent="-514350">
              <a:buFont typeface="+mj-lt"/>
              <a:buAutoNum type="arabicPeriod"/>
            </a:pPr>
            <a:r>
              <a:rPr lang="en-GB" dirty="0"/>
              <a:t>Each MS describes what the team did last week, what it will do in the current week and what obstacles it foresees</a:t>
            </a:r>
          </a:p>
          <a:p>
            <a:pPr marL="514350" indent="-514350">
              <a:buFont typeface="+mj-lt"/>
              <a:buAutoNum type="arabicPeriod"/>
            </a:pPr>
            <a:r>
              <a:rPr lang="en-GB" dirty="0"/>
              <a:t>MS share issues that affect all teams (e.g. related to integration)</a:t>
            </a:r>
          </a:p>
          <a:p>
            <a:pPr marL="0" indent="0">
              <a:buNone/>
            </a:pPr>
            <a:endParaRPr lang="en-GB" dirty="0"/>
          </a:p>
        </p:txBody>
      </p:sp>
    </p:spTree>
    <p:extLst>
      <p:ext uri="{BB962C8B-B14F-4D97-AF65-F5344CB8AC3E}">
        <p14:creationId xmlns:p14="http://schemas.microsoft.com/office/powerpoint/2010/main" val="15213364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751C8-7F6A-B794-B066-6A9A0A656D0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AC01F23-114D-3600-983F-631C09CEE681}"/>
              </a:ext>
            </a:extLst>
          </p:cNvPr>
          <p:cNvSpPr>
            <a:spLocks noGrp="1"/>
          </p:cNvSpPr>
          <p:nvPr>
            <p:ph type="title"/>
          </p:nvPr>
        </p:nvSpPr>
        <p:spPr/>
        <p:txBody>
          <a:bodyPr/>
          <a:lstStyle/>
          <a:p>
            <a:r>
              <a:rPr lang="en-GB" dirty="0"/>
              <a:t>Corporate scrum</a:t>
            </a:r>
          </a:p>
        </p:txBody>
      </p:sp>
      <p:sp>
        <p:nvSpPr>
          <p:cNvPr id="3" name="Segnaposto contenuto 2">
            <a:extLst>
              <a:ext uri="{FF2B5EF4-FFF2-40B4-BE49-F238E27FC236}">
                <a16:creationId xmlns:a16="http://schemas.microsoft.com/office/drawing/2014/main" id="{B80661BC-D497-11CE-68FA-8ABD2A7CA438}"/>
              </a:ext>
            </a:extLst>
          </p:cNvPr>
          <p:cNvSpPr>
            <a:spLocks noGrp="1"/>
          </p:cNvSpPr>
          <p:nvPr>
            <p:ph idx="1"/>
          </p:nvPr>
        </p:nvSpPr>
        <p:spPr/>
        <p:txBody>
          <a:bodyPr>
            <a:normAutofit lnSpcReduction="10000"/>
          </a:bodyPr>
          <a:lstStyle/>
          <a:p>
            <a:pPr marL="0" indent="0">
              <a:buNone/>
            </a:pPr>
            <a:r>
              <a:rPr lang="en-GB" dirty="0"/>
              <a:t>15-30 minute plenary meeting, perhaps once a week where:</a:t>
            </a:r>
          </a:p>
          <a:p>
            <a:pPr marL="514350" indent="-514350">
              <a:buFont typeface="+mj-lt"/>
              <a:buAutoNum type="arabicPeriod"/>
            </a:pPr>
            <a:r>
              <a:rPr lang="en-GB" dirty="0"/>
              <a:t>All team members receive news from the management (e.g. about upcoming events of a general nature)</a:t>
            </a:r>
          </a:p>
          <a:p>
            <a:pPr marL="514350" indent="-514350">
              <a:buFont typeface="+mj-lt"/>
              <a:buAutoNum type="arabicPeriod"/>
            </a:pPr>
            <a:r>
              <a:rPr lang="en-GB" dirty="0"/>
              <a:t>"Round-robin': in turn, one member reports what their team did last week, what they will do in the present week, and what problems they foresee</a:t>
            </a:r>
          </a:p>
          <a:p>
            <a:pPr marL="514350" indent="-514350">
              <a:buFont typeface="+mj-lt"/>
              <a:buAutoNum type="arabicPeriod"/>
            </a:pPr>
            <a:r>
              <a:rPr lang="en-GB" dirty="0"/>
              <a:t>Anyone else is free to add information or ask questions</a:t>
            </a:r>
          </a:p>
          <a:p>
            <a:pPr marL="514350" indent="-514350">
              <a:buFont typeface="+mj-lt"/>
              <a:buAutoNum type="arabicPeriod"/>
            </a:pPr>
            <a:endParaRPr lang="en-GB" dirty="0"/>
          </a:p>
          <a:p>
            <a:pPr marL="0" indent="0">
              <a:buNone/>
            </a:pPr>
            <a:r>
              <a:rPr lang="en-GB" dirty="0"/>
              <a:t>Note: Intersperse the meetings, allowing those who must to participate in more than one meeting</a:t>
            </a:r>
          </a:p>
          <a:p>
            <a:pPr marL="0" indent="0">
              <a:buNone/>
            </a:pPr>
            <a:endParaRPr lang="en-GB" dirty="0"/>
          </a:p>
        </p:txBody>
      </p:sp>
    </p:spTree>
    <p:extLst>
      <p:ext uri="{BB962C8B-B14F-4D97-AF65-F5344CB8AC3E}">
        <p14:creationId xmlns:p14="http://schemas.microsoft.com/office/powerpoint/2010/main" val="37362107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27086-DDA4-96CF-53B3-9F757D7D065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68F5819-DEC2-348C-560C-2F29B9F10455}"/>
              </a:ext>
            </a:extLst>
          </p:cNvPr>
          <p:cNvSpPr>
            <a:spLocks noGrp="1"/>
          </p:cNvSpPr>
          <p:nvPr>
            <p:ph type="title"/>
          </p:nvPr>
        </p:nvSpPr>
        <p:spPr/>
        <p:txBody>
          <a:bodyPr/>
          <a:lstStyle/>
          <a:p>
            <a:r>
              <a:rPr lang="en-GB" dirty="0"/>
              <a:t>Multiple Scrums</a:t>
            </a:r>
          </a:p>
        </p:txBody>
      </p:sp>
      <p:sp>
        <p:nvSpPr>
          <p:cNvPr id="3" name="Segnaposto contenuto 2">
            <a:extLst>
              <a:ext uri="{FF2B5EF4-FFF2-40B4-BE49-F238E27FC236}">
                <a16:creationId xmlns:a16="http://schemas.microsoft.com/office/drawing/2014/main" id="{5F0F29F6-4264-8E39-39C9-A70061ED8DA6}"/>
              </a:ext>
            </a:extLst>
          </p:cNvPr>
          <p:cNvSpPr>
            <a:spLocks noGrp="1"/>
          </p:cNvSpPr>
          <p:nvPr>
            <p:ph idx="1"/>
          </p:nvPr>
        </p:nvSpPr>
        <p:spPr/>
        <p:txBody>
          <a:bodyPr>
            <a:normAutofit/>
          </a:bodyPr>
          <a:lstStyle/>
          <a:p>
            <a:pPr marL="0" indent="0">
              <a:buNone/>
            </a:pPr>
            <a:r>
              <a:rPr lang="en-GB" dirty="0"/>
              <a:t>What happens when several teams work on the same project?</a:t>
            </a:r>
          </a:p>
          <a:p>
            <a:pPr marL="0" indent="0">
              <a:buNone/>
            </a:pPr>
            <a:r>
              <a:rPr lang="en-GB" dirty="0"/>
              <a:t>In general, the rule applies: more members = more complications.</a:t>
            </a:r>
          </a:p>
          <a:p>
            <a:pPr marL="0" indent="0">
              <a:buNone/>
            </a:pPr>
            <a:endParaRPr lang="en-GB" dirty="0"/>
          </a:p>
          <a:p>
            <a:pPr marL="0" indent="0">
              <a:buNone/>
            </a:pPr>
            <a:r>
              <a:rPr lang="en-GB" dirty="0"/>
              <a:t>That is why it is essential to understand</a:t>
            </a:r>
          </a:p>
          <a:p>
            <a:r>
              <a:rPr lang="en-GB" dirty="0"/>
              <a:t>how many teams to use</a:t>
            </a:r>
          </a:p>
          <a:p>
            <a:r>
              <a:rPr lang="en-GB" dirty="0"/>
              <a:t>how to allocate people between teams</a:t>
            </a:r>
          </a:p>
        </p:txBody>
      </p:sp>
    </p:spTree>
    <p:extLst>
      <p:ext uri="{BB962C8B-B14F-4D97-AF65-F5344CB8AC3E}">
        <p14:creationId xmlns:p14="http://schemas.microsoft.com/office/powerpoint/2010/main" val="1921067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98A62-D23C-3559-A9CF-B57DE2AAF22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628B576-8035-1494-EC3F-C1346CD7A0E5}"/>
              </a:ext>
            </a:extLst>
          </p:cNvPr>
          <p:cNvSpPr>
            <a:spLocks noGrp="1"/>
          </p:cNvSpPr>
          <p:nvPr>
            <p:ph type="title"/>
          </p:nvPr>
        </p:nvSpPr>
        <p:spPr/>
        <p:txBody>
          <a:bodyPr/>
          <a:lstStyle/>
          <a:p>
            <a:r>
              <a:rPr lang="en-GB" dirty="0"/>
              <a:t>Multiple Scrums</a:t>
            </a:r>
          </a:p>
        </p:txBody>
      </p:sp>
      <p:sp>
        <p:nvSpPr>
          <p:cNvPr id="3" name="Segnaposto contenuto 2">
            <a:extLst>
              <a:ext uri="{FF2B5EF4-FFF2-40B4-BE49-F238E27FC236}">
                <a16:creationId xmlns:a16="http://schemas.microsoft.com/office/drawing/2014/main" id="{EF92BBE1-EED0-E8EF-EBCF-8651F9BA206E}"/>
              </a:ext>
            </a:extLst>
          </p:cNvPr>
          <p:cNvSpPr>
            <a:spLocks noGrp="1"/>
          </p:cNvSpPr>
          <p:nvPr>
            <p:ph idx="1"/>
          </p:nvPr>
        </p:nvSpPr>
        <p:spPr/>
        <p:txBody>
          <a:bodyPr>
            <a:normAutofit/>
          </a:bodyPr>
          <a:lstStyle/>
          <a:p>
            <a:pPr marL="0" indent="0">
              <a:buNone/>
            </a:pPr>
            <a:r>
              <a:rPr lang="en-GB" dirty="0"/>
              <a:t>As a rule, it is preferable not to have teams larger than 9 persons in order to avoid:</a:t>
            </a:r>
          </a:p>
          <a:p>
            <a:r>
              <a:rPr lang="en-GB" dirty="0"/>
              <a:t>Long meeting (&gt;15 min)</a:t>
            </a:r>
          </a:p>
          <a:p>
            <a:r>
              <a:rPr lang="en-GB" dirty="0"/>
              <a:t>People who don’t know what others do</a:t>
            </a:r>
          </a:p>
          <a:p>
            <a:r>
              <a:rPr lang="en-GB" dirty="0"/>
              <a:t>Distractions</a:t>
            </a:r>
          </a:p>
          <a:p>
            <a:r>
              <a:rPr lang="en-GB" dirty="0"/>
              <a:t>Tight deadlines to resolve unforeseen issues</a:t>
            </a:r>
          </a:p>
        </p:txBody>
      </p:sp>
    </p:spTree>
    <p:extLst>
      <p:ext uri="{BB962C8B-B14F-4D97-AF65-F5344CB8AC3E}">
        <p14:creationId xmlns:p14="http://schemas.microsoft.com/office/powerpoint/2010/main" val="40758393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9093A-8B72-D027-157D-CB8025FAF5E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9F55B92-AD99-7703-FAEB-80F2C9A10ED5}"/>
              </a:ext>
            </a:extLst>
          </p:cNvPr>
          <p:cNvSpPr>
            <a:spLocks noGrp="1"/>
          </p:cNvSpPr>
          <p:nvPr>
            <p:ph type="title"/>
          </p:nvPr>
        </p:nvSpPr>
        <p:spPr/>
        <p:txBody>
          <a:bodyPr/>
          <a:lstStyle/>
          <a:p>
            <a:r>
              <a:rPr lang="en-GB" dirty="0"/>
              <a:t>Multiple Scrums</a:t>
            </a:r>
          </a:p>
        </p:txBody>
      </p:sp>
      <p:sp>
        <p:nvSpPr>
          <p:cNvPr id="3" name="Segnaposto contenuto 2">
            <a:extLst>
              <a:ext uri="{FF2B5EF4-FFF2-40B4-BE49-F238E27FC236}">
                <a16:creationId xmlns:a16="http://schemas.microsoft.com/office/drawing/2014/main" id="{50C61CF5-129F-101D-5147-56C609FD2D0E}"/>
              </a:ext>
            </a:extLst>
          </p:cNvPr>
          <p:cNvSpPr>
            <a:spLocks noGrp="1"/>
          </p:cNvSpPr>
          <p:nvPr>
            <p:ph idx="1"/>
          </p:nvPr>
        </p:nvSpPr>
        <p:spPr/>
        <p:txBody>
          <a:bodyPr>
            <a:normAutofit/>
          </a:bodyPr>
          <a:lstStyle/>
          <a:p>
            <a:pPr marL="0" indent="0">
              <a:buNone/>
            </a:pPr>
            <a:r>
              <a:rPr lang="en-GB" dirty="0"/>
              <a:t>Is it enough to split up the larger teams?</a:t>
            </a:r>
          </a:p>
          <a:p>
            <a:pPr marL="0" indent="0">
              <a:buNone/>
            </a:pPr>
            <a:endParaRPr lang="en-GB" dirty="0"/>
          </a:p>
          <a:p>
            <a:pPr marL="0" indent="0">
              <a:buNone/>
            </a:pPr>
            <a:r>
              <a:rPr lang="en-GB" dirty="0"/>
              <a:t>The idea of splitting the team can only be effective if:</a:t>
            </a:r>
          </a:p>
          <a:p>
            <a:r>
              <a:rPr lang="en-GB" dirty="0"/>
              <a:t>The team has experience with Agile</a:t>
            </a:r>
          </a:p>
          <a:p>
            <a:r>
              <a:rPr lang="en-GB" dirty="0"/>
              <a:t>The roadmap can be subdivided (without compromising the output)</a:t>
            </a:r>
          </a:p>
          <a:p>
            <a:endParaRPr lang="en-GB" dirty="0"/>
          </a:p>
          <a:p>
            <a:pPr marL="0" indent="0">
              <a:buNone/>
            </a:pPr>
            <a:r>
              <a:rPr lang="en-GB" dirty="0"/>
              <a:t>Beware of virtual teams! By observing whether and how members interact, one can see the existence of 'virtual teams'.</a:t>
            </a:r>
          </a:p>
          <a:p>
            <a:pPr marL="0" indent="0">
              <a:buNone/>
            </a:pPr>
            <a:endParaRPr lang="en-GB" dirty="0"/>
          </a:p>
        </p:txBody>
      </p:sp>
    </p:spTree>
    <p:extLst>
      <p:ext uri="{BB962C8B-B14F-4D97-AF65-F5344CB8AC3E}">
        <p14:creationId xmlns:p14="http://schemas.microsoft.com/office/powerpoint/2010/main" val="33364900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C296C-12D5-56DB-4906-BEDA56B6C3B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D30B27E-F18A-789E-C0D0-43D120CCAFC4}"/>
              </a:ext>
            </a:extLst>
          </p:cNvPr>
          <p:cNvSpPr>
            <a:spLocks noGrp="1"/>
          </p:cNvSpPr>
          <p:nvPr>
            <p:ph type="title"/>
          </p:nvPr>
        </p:nvSpPr>
        <p:spPr/>
        <p:txBody>
          <a:bodyPr/>
          <a:lstStyle/>
          <a:p>
            <a:r>
              <a:rPr lang="en-GB" dirty="0"/>
              <a:t>Multiple Scrums</a:t>
            </a:r>
          </a:p>
        </p:txBody>
      </p:sp>
      <p:sp>
        <p:nvSpPr>
          <p:cNvPr id="3" name="Segnaposto contenuto 2">
            <a:extLst>
              <a:ext uri="{FF2B5EF4-FFF2-40B4-BE49-F238E27FC236}">
                <a16:creationId xmlns:a16="http://schemas.microsoft.com/office/drawing/2014/main" id="{8C8AA91A-F477-5F1B-F229-0AEB9D76F906}"/>
              </a:ext>
            </a:extLst>
          </p:cNvPr>
          <p:cNvSpPr>
            <a:spLocks noGrp="1"/>
          </p:cNvSpPr>
          <p:nvPr>
            <p:ph idx="1"/>
          </p:nvPr>
        </p:nvSpPr>
        <p:spPr>
          <a:xfrm>
            <a:off x="695879" y="2001128"/>
            <a:ext cx="10800242" cy="3446255"/>
          </a:xfrm>
        </p:spPr>
        <p:txBody>
          <a:bodyPr>
            <a:normAutofit fontScale="92500" lnSpcReduction="20000"/>
          </a:bodyPr>
          <a:lstStyle/>
          <a:p>
            <a:pPr marL="0" indent="0">
              <a:buNone/>
            </a:pPr>
            <a:r>
              <a:rPr lang="en-GB" dirty="0"/>
              <a:t>What to do instead if several teams are working on the same project?</a:t>
            </a:r>
          </a:p>
          <a:p>
            <a:pPr marL="0" indent="0">
              <a:buNone/>
            </a:pPr>
            <a:endParaRPr lang="en-GB" dirty="0"/>
          </a:p>
          <a:p>
            <a:pPr marL="0" indent="0">
              <a:buNone/>
            </a:pPr>
            <a:r>
              <a:rPr lang="en-GB" i="1" dirty="0"/>
              <a:t>1. Synchronising Sprints</a:t>
            </a:r>
          </a:p>
          <a:p>
            <a:pPr marL="0" indent="0">
              <a:buNone/>
            </a:pPr>
            <a:endParaRPr lang="en-GB" dirty="0"/>
          </a:p>
          <a:p>
            <a:pPr marL="0" indent="0">
              <a:buNone/>
            </a:pPr>
            <a:r>
              <a:rPr lang="en-GB" dirty="0"/>
              <a:t>Advantages:</a:t>
            </a:r>
          </a:p>
          <a:p>
            <a:r>
              <a:rPr lang="en-GB" dirty="0"/>
              <a:t>Shared meetings</a:t>
            </a:r>
          </a:p>
          <a:p>
            <a:r>
              <a:rPr lang="en-GB" dirty="0"/>
              <a:t>A single moment to redefine teams (between sprints)</a:t>
            </a:r>
          </a:p>
          <a:p>
            <a:r>
              <a:rPr lang="en-GB" dirty="0"/>
              <a:t>Fewer administrative tasks</a:t>
            </a:r>
          </a:p>
          <a:p>
            <a:endParaRPr lang="en-GB" dirty="0"/>
          </a:p>
        </p:txBody>
      </p:sp>
    </p:spTree>
    <p:extLst>
      <p:ext uri="{BB962C8B-B14F-4D97-AF65-F5344CB8AC3E}">
        <p14:creationId xmlns:p14="http://schemas.microsoft.com/office/powerpoint/2010/main" val="35040841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B70FB-6508-B01C-F61E-041348D98BC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4A23048-6A2E-D397-B028-3CC966D9075E}"/>
              </a:ext>
            </a:extLst>
          </p:cNvPr>
          <p:cNvSpPr>
            <a:spLocks noGrp="1"/>
          </p:cNvSpPr>
          <p:nvPr>
            <p:ph type="title"/>
          </p:nvPr>
        </p:nvSpPr>
        <p:spPr/>
        <p:txBody>
          <a:bodyPr/>
          <a:lstStyle/>
          <a:p>
            <a:r>
              <a:rPr lang="en-GB" dirty="0"/>
              <a:t>Multiple Scrums</a:t>
            </a:r>
          </a:p>
        </p:txBody>
      </p:sp>
      <p:sp>
        <p:nvSpPr>
          <p:cNvPr id="3" name="Segnaposto contenuto 2">
            <a:extLst>
              <a:ext uri="{FF2B5EF4-FFF2-40B4-BE49-F238E27FC236}">
                <a16:creationId xmlns:a16="http://schemas.microsoft.com/office/drawing/2014/main" id="{B5C13FFB-B1E5-26A1-DB1F-F52E4B3CEF38}"/>
              </a:ext>
            </a:extLst>
          </p:cNvPr>
          <p:cNvSpPr>
            <a:spLocks noGrp="1"/>
          </p:cNvSpPr>
          <p:nvPr>
            <p:ph idx="1"/>
          </p:nvPr>
        </p:nvSpPr>
        <p:spPr>
          <a:xfrm>
            <a:off x="931492" y="2112406"/>
            <a:ext cx="10422308" cy="3446255"/>
          </a:xfrm>
        </p:spPr>
        <p:txBody>
          <a:bodyPr>
            <a:normAutofit fontScale="92500" lnSpcReduction="20000"/>
          </a:bodyPr>
          <a:lstStyle/>
          <a:p>
            <a:pPr marL="0" indent="0">
              <a:buNone/>
            </a:pPr>
            <a:r>
              <a:rPr lang="en-GB" i="1" dirty="0"/>
              <a:t>2. Appoint a Team Lead (Scrum Master of all teams)</a:t>
            </a:r>
          </a:p>
          <a:p>
            <a:pPr marL="0" indent="0">
              <a:buNone/>
            </a:pPr>
            <a:r>
              <a:rPr lang="en-GB" dirty="0"/>
              <a:t>The Team Lead decides on the composition of the teams and their changes between several sprints.</a:t>
            </a:r>
          </a:p>
          <a:p>
            <a:pPr marL="0" indent="0">
              <a:buNone/>
            </a:pPr>
            <a:endParaRPr lang="en-GB" dirty="0"/>
          </a:p>
          <a:p>
            <a:pPr marL="0" indent="0">
              <a:buNone/>
            </a:pPr>
            <a:r>
              <a:rPr lang="en-GB" dirty="0"/>
              <a:t>Note: before any change to the team, do not underestimate the so-called 'team gel' (bonds created by working in a team)</a:t>
            </a:r>
          </a:p>
          <a:p>
            <a:pPr marL="0" indent="0">
              <a:buNone/>
            </a:pPr>
            <a:endParaRPr lang="en-GB" dirty="0"/>
          </a:p>
          <a:p>
            <a:pPr marL="0" indent="0">
              <a:buNone/>
            </a:pPr>
            <a:r>
              <a:rPr lang="en-GB" dirty="0"/>
              <a:t>What about part-time members? In general, a few full-time people are better than a larger team of part-time members</a:t>
            </a:r>
          </a:p>
          <a:p>
            <a:pPr marL="0" indent="0">
              <a:buNone/>
            </a:pPr>
            <a:endParaRPr lang="en-GB" dirty="0"/>
          </a:p>
        </p:txBody>
      </p:sp>
    </p:spTree>
    <p:extLst>
      <p:ext uri="{BB962C8B-B14F-4D97-AF65-F5344CB8AC3E}">
        <p14:creationId xmlns:p14="http://schemas.microsoft.com/office/powerpoint/2010/main" val="2366263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0D48B-D0A9-28BF-2BB5-E4FB4EAE7AF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BDCB2BA-F660-990B-C6C2-A89BE4282A78}"/>
              </a:ext>
            </a:extLst>
          </p:cNvPr>
          <p:cNvSpPr>
            <a:spLocks noGrp="1"/>
          </p:cNvSpPr>
          <p:nvPr>
            <p:ph type="title"/>
          </p:nvPr>
        </p:nvSpPr>
        <p:spPr/>
        <p:txBody>
          <a:bodyPr/>
          <a:lstStyle/>
          <a:p>
            <a:pPr marL="0" indent="0">
              <a:buNone/>
            </a:pPr>
            <a:r>
              <a:rPr lang="en-GB" dirty="0"/>
              <a:t>Multiple Scrums</a:t>
            </a:r>
          </a:p>
        </p:txBody>
      </p:sp>
      <p:sp>
        <p:nvSpPr>
          <p:cNvPr id="3" name="Segnaposto contenuto 2">
            <a:extLst>
              <a:ext uri="{FF2B5EF4-FFF2-40B4-BE49-F238E27FC236}">
                <a16:creationId xmlns:a16="http://schemas.microsoft.com/office/drawing/2014/main" id="{631BAE7C-4B95-FFDF-D13D-8BC51D305FFD}"/>
              </a:ext>
            </a:extLst>
          </p:cNvPr>
          <p:cNvSpPr>
            <a:spLocks noGrp="1"/>
          </p:cNvSpPr>
          <p:nvPr>
            <p:ph idx="1"/>
          </p:nvPr>
        </p:nvSpPr>
        <p:spPr>
          <a:xfrm>
            <a:off x="931492" y="2112406"/>
            <a:ext cx="10422308" cy="3946562"/>
          </a:xfrm>
        </p:spPr>
        <p:txBody>
          <a:bodyPr>
            <a:normAutofit fontScale="85000" lnSpcReduction="10000"/>
          </a:bodyPr>
          <a:lstStyle/>
          <a:p>
            <a:pPr marL="0" indent="0">
              <a:buNone/>
            </a:pPr>
            <a:r>
              <a:rPr lang="en-GB" dirty="0"/>
              <a:t>How to maintain the balance between planned and emerging activities?</a:t>
            </a:r>
          </a:p>
          <a:p>
            <a:pPr marL="0" indent="0">
              <a:buNone/>
            </a:pPr>
            <a:r>
              <a:rPr lang="en-GB" dirty="0"/>
              <a:t>One solution is to create 2 types of teams:</a:t>
            </a:r>
          </a:p>
          <a:p>
            <a:r>
              <a:rPr lang="en-GB" dirty="0"/>
              <a:t>Scrum Team</a:t>
            </a:r>
          </a:p>
          <a:p>
            <a:r>
              <a:rPr lang="en-GB" dirty="0"/>
              <a:t>Fire Team</a:t>
            </a:r>
          </a:p>
          <a:p>
            <a:endParaRPr lang="en-GB" dirty="0"/>
          </a:p>
          <a:p>
            <a:pPr marL="0" indent="0">
              <a:buNone/>
            </a:pPr>
            <a:r>
              <a:rPr lang="en-GB" dirty="0"/>
              <a:t>Scrum Team: under the guidance of the PM carries out activities trying to prevent emergencies.</a:t>
            </a:r>
          </a:p>
          <a:p>
            <a:pPr marL="0" indent="0">
              <a:buNone/>
            </a:pPr>
            <a:endParaRPr lang="en-GB" dirty="0"/>
          </a:p>
          <a:p>
            <a:pPr marL="0" indent="0">
              <a:buNone/>
            </a:pPr>
            <a:r>
              <a:rPr lang="en-GB" dirty="0"/>
              <a:t>Fire Team: support team dedicated to resolving emergencies and protecting against other disruptive elements</a:t>
            </a:r>
          </a:p>
          <a:p>
            <a:endParaRPr lang="en-GB" dirty="0"/>
          </a:p>
          <a:p>
            <a:pPr marL="0" indent="0">
              <a:buNone/>
            </a:pPr>
            <a:endParaRPr lang="en-GB" dirty="0"/>
          </a:p>
        </p:txBody>
      </p:sp>
    </p:spTree>
    <p:extLst>
      <p:ext uri="{BB962C8B-B14F-4D97-AF65-F5344CB8AC3E}">
        <p14:creationId xmlns:p14="http://schemas.microsoft.com/office/powerpoint/2010/main" val="3716295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1D428-1360-AAA2-DF31-9C95895C648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8F85D61-D278-EDE1-166F-A460985482AF}"/>
              </a:ext>
            </a:extLst>
          </p:cNvPr>
          <p:cNvSpPr>
            <a:spLocks noGrp="1"/>
          </p:cNvSpPr>
          <p:nvPr>
            <p:ph type="title"/>
          </p:nvPr>
        </p:nvSpPr>
        <p:spPr/>
        <p:txBody>
          <a:bodyPr/>
          <a:lstStyle/>
          <a:p>
            <a:pPr marL="0" indent="0">
              <a:buNone/>
            </a:pPr>
            <a:r>
              <a:rPr lang="en-GB" dirty="0"/>
              <a:t>Multiple Scrums</a:t>
            </a:r>
          </a:p>
        </p:txBody>
      </p:sp>
      <p:sp>
        <p:nvSpPr>
          <p:cNvPr id="3" name="Segnaposto contenuto 2">
            <a:extLst>
              <a:ext uri="{FF2B5EF4-FFF2-40B4-BE49-F238E27FC236}">
                <a16:creationId xmlns:a16="http://schemas.microsoft.com/office/drawing/2014/main" id="{E82DF3F1-B47D-3FF7-9CA1-E28A113D3433}"/>
              </a:ext>
            </a:extLst>
          </p:cNvPr>
          <p:cNvSpPr>
            <a:spLocks noGrp="1"/>
          </p:cNvSpPr>
          <p:nvPr>
            <p:ph idx="1"/>
          </p:nvPr>
        </p:nvSpPr>
        <p:spPr>
          <a:xfrm>
            <a:off x="931492" y="2112406"/>
            <a:ext cx="10422308" cy="3946562"/>
          </a:xfrm>
        </p:spPr>
        <p:txBody>
          <a:bodyPr>
            <a:normAutofit fontScale="92500" lnSpcReduction="20000"/>
          </a:bodyPr>
          <a:lstStyle/>
          <a:p>
            <a:pPr marL="0" indent="0">
              <a:buNone/>
            </a:pPr>
            <a:r>
              <a:rPr lang="en-GB" dirty="0"/>
              <a:t>How to manage geographically distributed teams?</a:t>
            </a:r>
          </a:p>
          <a:p>
            <a:pPr marL="0" indent="0">
              <a:buNone/>
            </a:pPr>
            <a:endParaRPr lang="en-GB" dirty="0"/>
          </a:p>
          <a:p>
            <a:pPr marL="0" indent="0">
              <a:buNone/>
            </a:pPr>
            <a:r>
              <a:rPr lang="en-GB" dirty="0"/>
              <a:t>If the effectiveness of Agile depends a lot on the intensive and direct collaboration of the team it is necessary that this can also be done remotely, enabling members to:</a:t>
            </a:r>
          </a:p>
          <a:p>
            <a:r>
              <a:rPr lang="en-GB" dirty="0"/>
              <a:t>working at the same time</a:t>
            </a:r>
          </a:p>
          <a:p>
            <a:r>
              <a:rPr lang="en-GB" dirty="0"/>
              <a:t>participate in daily meetings</a:t>
            </a:r>
          </a:p>
          <a:p>
            <a:r>
              <a:rPr lang="en-GB" dirty="0"/>
              <a:t>have direct, spontaneous and immediate contacts</a:t>
            </a:r>
          </a:p>
          <a:p>
            <a:r>
              <a:rPr lang="en-GB" dirty="0"/>
              <a:t>have visibility of the board, the backlog and access to all useful information (e.g. diagrams)</a:t>
            </a:r>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30433274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D267C-6447-D9BB-AAC1-F16C2E28B10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1E019F8-378C-8D3A-E754-E1BD9CC66E87}"/>
              </a:ext>
            </a:extLst>
          </p:cNvPr>
          <p:cNvSpPr>
            <a:spLocks noGrp="1"/>
          </p:cNvSpPr>
          <p:nvPr>
            <p:ph type="title"/>
          </p:nvPr>
        </p:nvSpPr>
        <p:spPr/>
        <p:txBody>
          <a:bodyPr/>
          <a:lstStyle/>
          <a:p>
            <a:r>
              <a:rPr lang="en-GB" dirty="0"/>
              <a:t>Multiple Scrums</a:t>
            </a:r>
          </a:p>
        </p:txBody>
      </p:sp>
      <p:sp>
        <p:nvSpPr>
          <p:cNvPr id="3" name="Segnaposto contenuto 2">
            <a:extLst>
              <a:ext uri="{FF2B5EF4-FFF2-40B4-BE49-F238E27FC236}">
                <a16:creationId xmlns:a16="http://schemas.microsoft.com/office/drawing/2014/main" id="{DA615873-D632-ADC7-BDB6-3EA877686F1A}"/>
              </a:ext>
            </a:extLst>
          </p:cNvPr>
          <p:cNvSpPr>
            <a:spLocks noGrp="1"/>
          </p:cNvSpPr>
          <p:nvPr>
            <p:ph idx="1"/>
          </p:nvPr>
        </p:nvSpPr>
        <p:spPr>
          <a:xfrm>
            <a:off x="931492" y="2112406"/>
            <a:ext cx="10422308" cy="3946562"/>
          </a:xfrm>
        </p:spPr>
        <p:txBody>
          <a:bodyPr>
            <a:normAutofit/>
          </a:bodyPr>
          <a:lstStyle/>
          <a:p>
            <a:pPr marL="0" indent="0">
              <a:buNone/>
            </a:pPr>
            <a:r>
              <a:rPr lang="en-GB" dirty="0"/>
              <a:t>How to do it?</a:t>
            </a:r>
          </a:p>
          <a:p>
            <a:r>
              <a:rPr lang="en-GB" dirty="0"/>
              <a:t>Conference room with workstation(s) equipped with connection, webcam, microphone, collaboration software</a:t>
            </a:r>
          </a:p>
          <a:p>
            <a:r>
              <a:rPr lang="en-GB" dirty="0"/>
              <a:t>Remote windows: screens placed in each location showing other members and/or project progress data</a:t>
            </a:r>
          </a:p>
          <a:p>
            <a:pPr marL="0" indent="0">
              <a:buNone/>
            </a:pPr>
            <a:endParaRPr lang="en-GB" dirty="0"/>
          </a:p>
          <a:p>
            <a:pPr marL="0" indent="0">
              <a:buNone/>
            </a:pPr>
            <a:r>
              <a:rPr lang="en-GB" dirty="0"/>
              <a:t>If possible, it is preferable to have one dispersed team rather than several 'co-located' teams</a:t>
            </a:r>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4182559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DEA8-9462-5008-4656-73250E50146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B863ECE-F38C-1B85-2DCF-B63B94CF285D}"/>
              </a:ext>
            </a:extLst>
          </p:cNvPr>
          <p:cNvSpPr>
            <a:spLocks noGrp="1"/>
          </p:cNvSpPr>
          <p:nvPr>
            <p:ph type="title"/>
          </p:nvPr>
        </p:nvSpPr>
        <p:spPr/>
        <p:txBody>
          <a:bodyPr/>
          <a:lstStyle/>
          <a:p>
            <a:r>
              <a:rPr lang="en-GB" dirty="0"/>
              <a:t>Multiple Scrums</a:t>
            </a:r>
          </a:p>
        </p:txBody>
      </p:sp>
      <p:sp>
        <p:nvSpPr>
          <p:cNvPr id="3" name="Segnaposto contenuto 2">
            <a:extLst>
              <a:ext uri="{FF2B5EF4-FFF2-40B4-BE49-F238E27FC236}">
                <a16:creationId xmlns:a16="http://schemas.microsoft.com/office/drawing/2014/main" id="{69971F24-B2D9-F45D-1A24-EBC41FDCE662}"/>
              </a:ext>
            </a:extLst>
          </p:cNvPr>
          <p:cNvSpPr>
            <a:spLocks noGrp="1"/>
          </p:cNvSpPr>
          <p:nvPr>
            <p:ph idx="1"/>
          </p:nvPr>
        </p:nvSpPr>
        <p:spPr>
          <a:xfrm>
            <a:off x="838200" y="2306888"/>
            <a:ext cx="10515600" cy="4351338"/>
          </a:xfrm>
        </p:spPr>
        <p:txBody>
          <a:bodyPr>
            <a:normAutofit/>
          </a:bodyPr>
          <a:lstStyle/>
          <a:p>
            <a:pPr marL="0" indent="0">
              <a:buNone/>
            </a:pPr>
            <a:r>
              <a:rPr lang="en-GB" dirty="0"/>
              <a:t>Which tools should be used to manage multiple Scrums?</a:t>
            </a:r>
          </a:p>
          <a:p>
            <a:r>
              <a:rPr lang="en-GB" dirty="0"/>
              <a:t>Create a 'To Do List' board where, at each sprint, you move (or copy) cards from your personal boards </a:t>
            </a:r>
          </a:p>
          <a:p>
            <a:r>
              <a:rPr lang="en-GB" dirty="0"/>
              <a:t>Create a 'board repository' to store project materials, resources (and cards) common to all members</a:t>
            </a:r>
          </a:p>
          <a:p>
            <a:r>
              <a:rPr lang="en-GB" dirty="0"/>
              <a:t>If useful, create automatisms for recurring card movements (e.g. with Zapier or Butler)</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914472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928F6-4005-1C6D-1BD5-47A7EACBD28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5D3F1D8-C5DF-9989-97F2-72BC2455A100}"/>
              </a:ext>
            </a:extLst>
          </p:cNvPr>
          <p:cNvSpPr>
            <a:spLocks noGrp="1"/>
          </p:cNvSpPr>
          <p:nvPr>
            <p:ph type="title"/>
          </p:nvPr>
        </p:nvSpPr>
        <p:spPr/>
        <p:txBody>
          <a:bodyPr/>
          <a:lstStyle/>
          <a:p>
            <a:r>
              <a:rPr lang="en-GB" dirty="0"/>
              <a:t>Scrum master checklist</a:t>
            </a:r>
          </a:p>
        </p:txBody>
      </p:sp>
      <p:sp>
        <p:nvSpPr>
          <p:cNvPr id="3" name="Segnaposto contenuto 2">
            <a:extLst>
              <a:ext uri="{FF2B5EF4-FFF2-40B4-BE49-F238E27FC236}">
                <a16:creationId xmlns:a16="http://schemas.microsoft.com/office/drawing/2014/main" id="{C71F6CC4-DC31-89FA-8839-2EADC7F5EDDD}"/>
              </a:ext>
            </a:extLst>
          </p:cNvPr>
          <p:cNvSpPr>
            <a:spLocks noGrp="1"/>
          </p:cNvSpPr>
          <p:nvPr>
            <p:ph idx="1"/>
          </p:nvPr>
        </p:nvSpPr>
        <p:spPr>
          <a:xfrm>
            <a:off x="931492" y="1984220"/>
            <a:ext cx="10422308" cy="4508655"/>
          </a:xfrm>
        </p:spPr>
        <p:txBody>
          <a:bodyPr>
            <a:normAutofit/>
          </a:bodyPr>
          <a:lstStyle/>
          <a:p>
            <a:pPr marL="0" indent="0">
              <a:buNone/>
            </a:pPr>
            <a:r>
              <a:rPr lang="en-GB" dirty="0"/>
              <a:t>At the beginning of each Sprint:</a:t>
            </a:r>
          </a:p>
          <a:p>
            <a:r>
              <a:rPr lang="en-GB" dirty="0"/>
              <a:t>After Sprint planning, create a Sprint information document (estimated speed, team size, duration, etc.), print it out and hang it on the team's most prominent wall.</a:t>
            </a:r>
          </a:p>
          <a:p>
            <a:r>
              <a:rPr lang="en-GB" dirty="0"/>
              <a:t>Send an e-mail to all stakeholders announcing that the new sprint has started (include the objective of the sprint and a link to the information document).</a:t>
            </a:r>
          </a:p>
          <a:p>
            <a:r>
              <a:rPr lang="en-GB" dirty="0"/>
              <a:t>Update the information document with the sprint statistics.</a:t>
            </a:r>
          </a:p>
          <a:p>
            <a:endParaRPr lang="en-GB" dirty="0"/>
          </a:p>
          <a:p>
            <a:pPr marL="0" indent="0">
              <a:buNone/>
            </a:pPr>
            <a:endParaRPr lang="en-GB" dirty="0"/>
          </a:p>
        </p:txBody>
      </p:sp>
    </p:spTree>
    <p:extLst>
      <p:ext uri="{BB962C8B-B14F-4D97-AF65-F5344CB8AC3E}">
        <p14:creationId xmlns:p14="http://schemas.microsoft.com/office/powerpoint/2010/main" val="1989989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3F3F5-EF0F-6717-4970-DD659D525E6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E411263-6600-C6BA-A2F4-4E016061F0B3}"/>
              </a:ext>
            </a:extLst>
          </p:cNvPr>
          <p:cNvSpPr>
            <a:spLocks noGrp="1"/>
          </p:cNvSpPr>
          <p:nvPr>
            <p:ph type="title"/>
          </p:nvPr>
        </p:nvSpPr>
        <p:spPr/>
        <p:txBody>
          <a:bodyPr/>
          <a:lstStyle/>
          <a:p>
            <a:r>
              <a:rPr lang="en-GB" dirty="0"/>
              <a:t>Scrum master checklist</a:t>
            </a:r>
          </a:p>
        </p:txBody>
      </p:sp>
      <p:sp>
        <p:nvSpPr>
          <p:cNvPr id="3" name="Segnaposto contenuto 2">
            <a:extLst>
              <a:ext uri="{FF2B5EF4-FFF2-40B4-BE49-F238E27FC236}">
                <a16:creationId xmlns:a16="http://schemas.microsoft.com/office/drawing/2014/main" id="{F4845196-EDB9-A2E6-9865-C11167954B20}"/>
              </a:ext>
            </a:extLst>
          </p:cNvPr>
          <p:cNvSpPr>
            <a:spLocks noGrp="1"/>
          </p:cNvSpPr>
          <p:nvPr>
            <p:ph idx="1"/>
          </p:nvPr>
        </p:nvSpPr>
        <p:spPr>
          <a:xfrm>
            <a:off x="931492" y="1984220"/>
            <a:ext cx="10422308" cy="4508655"/>
          </a:xfrm>
        </p:spPr>
        <p:txBody>
          <a:bodyPr>
            <a:normAutofit/>
          </a:bodyPr>
          <a:lstStyle/>
          <a:p>
            <a:pPr marL="0" indent="0">
              <a:buNone/>
            </a:pPr>
            <a:r>
              <a:rPr lang="en-GB" dirty="0"/>
              <a:t>Every day:</a:t>
            </a:r>
          </a:p>
          <a:p>
            <a:r>
              <a:rPr lang="en-GB" dirty="0"/>
              <a:t>Ensure that the Daily Scrum is started and finished on time.</a:t>
            </a:r>
          </a:p>
          <a:p>
            <a:r>
              <a:rPr lang="en-GB" dirty="0"/>
              <a:t>Ensure that cards are added/removed from the backlog only when necessary and that the PM is informed.</a:t>
            </a:r>
          </a:p>
          <a:p>
            <a:r>
              <a:rPr lang="en-GB" dirty="0"/>
              <a:t>Ensure that the sprint backlog and burndown are kept up to date by the team.</a:t>
            </a:r>
          </a:p>
          <a:p>
            <a:r>
              <a:rPr lang="en-GB" dirty="0"/>
              <a:t>Ensure that problems are resolved or reported to the PM.</a:t>
            </a:r>
          </a:p>
          <a:p>
            <a:endParaRPr lang="en-GB" dirty="0"/>
          </a:p>
          <a:p>
            <a:pPr marL="0" indent="0">
              <a:buNone/>
            </a:pPr>
            <a:endParaRPr lang="en-GB" dirty="0"/>
          </a:p>
        </p:txBody>
      </p:sp>
    </p:spTree>
    <p:extLst>
      <p:ext uri="{BB962C8B-B14F-4D97-AF65-F5344CB8AC3E}">
        <p14:creationId xmlns:p14="http://schemas.microsoft.com/office/powerpoint/2010/main" val="13040714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1F89C-6CC8-FFAA-CF09-4D2D9162F0E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D95A6EE-A617-F48B-C35B-513E3E2D0C75}"/>
              </a:ext>
            </a:extLst>
          </p:cNvPr>
          <p:cNvSpPr>
            <a:spLocks noGrp="1"/>
          </p:cNvSpPr>
          <p:nvPr>
            <p:ph type="title"/>
          </p:nvPr>
        </p:nvSpPr>
        <p:spPr/>
        <p:txBody>
          <a:bodyPr/>
          <a:lstStyle/>
          <a:p>
            <a:r>
              <a:rPr lang="en-GB" dirty="0"/>
              <a:t>Scrum master checklist</a:t>
            </a:r>
          </a:p>
        </p:txBody>
      </p:sp>
      <p:sp>
        <p:nvSpPr>
          <p:cNvPr id="3" name="Segnaposto contenuto 2">
            <a:extLst>
              <a:ext uri="{FF2B5EF4-FFF2-40B4-BE49-F238E27FC236}">
                <a16:creationId xmlns:a16="http://schemas.microsoft.com/office/drawing/2014/main" id="{BB2760A0-0368-B9C1-845A-D65D55191ECB}"/>
              </a:ext>
            </a:extLst>
          </p:cNvPr>
          <p:cNvSpPr>
            <a:spLocks noGrp="1"/>
          </p:cNvSpPr>
          <p:nvPr>
            <p:ph idx="1"/>
          </p:nvPr>
        </p:nvSpPr>
        <p:spPr>
          <a:xfrm>
            <a:off x="931492" y="1984220"/>
            <a:ext cx="10422308" cy="4508655"/>
          </a:xfrm>
        </p:spPr>
        <p:txBody>
          <a:bodyPr>
            <a:normAutofit/>
          </a:bodyPr>
          <a:lstStyle/>
          <a:p>
            <a:pPr marL="0" indent="0">
              <a:buNone/>
            </a:pPr>
            <a:r>
              <a:rPr lang="en-GB" dirty="0"/>
              <a:t>At the end of each Sprint:</a:t>
            </a:r>
          </a:p>
          <a:p>
            <a:r>
              <a:rPr lang="en-GB" dirty="0"/>
              <a:t>Make a demo of the Sprint open to everyone and announcing it 1-2 days in advance.</a:t>
            </a:r>
          </a:p>
          <a:p>
            <a:r>
              <a:rPr lang="en-GB" dirty="0"/>
              <a:t>Do a retrospective of the Sprint with the whole team and the PM.</a:t>
            </a:r>
          </a:p>
          <a:p>
            <a:r>
              <a:rPr lang="en-GB" dirty="0"/>
              <a:t>Update the Sprint statistics document. Add the actual speed and key points from the retrospective.</a:t>
            </a:r>
          </a:p>
          <a:p>
            <a:endParaRPr lang="en-GB" dirty="0"/>
          </a:p>
          <a:p>
            <a:pPr marL="0" indent="0">
              <a:buNone/>
            </a:pPr>
            <a:endParaRPr lang="en-GB" dirty="0"/>
          </a:p>
        </p:txBody>
      </p:sp>
    </p:spTree>
    <p:extLst>
      <p:ext uri="{BB962C8B-B14F-4D97-AF65-F5344CB8AC3E}">
        <p14:creationId xmlns:p14="http://schemas.microsoft.com/office/powerpoint/2010/main" val="838933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39A0A6-E763-6BAC-D6BC-E2FF381C0C37}"/>
              </a:ext>
            </a:extLst>
          </p:cNvPr>
          <p:cNvSpPr>
            <a:spLocks noGrp="1"/>
          </p:cNvSpPr>
          <p:nvPr>
            <p:ph type="title"/>
          </p:nvPr>
        </p:nvSpPr>
        <p:spPr/>
        <p:txBody>
          <a:bodyPr/>
          <a:lstStyle/>
          <a:p>
            <a:r>
              <a:rPr lang="it-IT" dirty="0"/>
              <a:t>ADDITIONAL READING</a:t>
            </a:r>
            <a:endParaRPr lang="en-GB" dirty="0"/>
          </a:p>
        </p:txBody>
      </p:sp>
      <p:sp>
        <p:nvSpPr>
          <p:cNvPr id="3" name="Segnaposto contenuto 2">
            <a:extLst>
              <a:ext uri="{FF2B5EF4-FFF2-40B4-BE49-F238E27FC236}">
                <a16:creationId xmlns:a16="http://schemas.microsoft.com/office/drawing/2014/main" id="{7EB0683F-E96E-ABCD-6293-1A6CBE9716B6}"/>
              </a:ext>
            </a:extLst>
          </p:cNvPr>
          <p:cNvSpPr>
            <a:spLocks noGrp="1"/>
          </p:cNvSpPr>
          <p:nvPr>
            <p:ph idx="1"/>
          </p:nvPr>
        </p:nvSpPr>
        <p:spPr/>
        <p:txBody>
          <a:bodyPr>
            <a:normAutofit fontScale="92500"/>
          </a:bodyPr>
          <a:lstStyle/>
          <a:p>
            <a:pPr marL="0" indent="0">
              <a:buNone/>
            </a:pPr>
            <a:r>
              <a:rPr lang="en-GB" u="sng" dirty="0"/>
              <a:t>ONLINE RESOURCES</a:t>
            </a:r>
          </a:p>
          <a:p>
            <a:pPr marL="0" indent="0">
              <a:buNone/>
            </a:pPr>
            <a:endParaRPr lang="en-GB" b="1" dirty="0"/>
          </a:p>
          <a:p>
            <a:r>
              <a:rPr lang="en-GB" b="1" dirty="0"/>
              <a:t>Agile Transformation: What It Is and Why It Fails - </a:t>
            </a:r>
            <a:r>
              <a:rPr lang="en-GB" dirty="0"/>
              <a:t>Explains adoption vs transformation and common organisational failure patterns.</a:t>
            </a:r>
            <a:br>
              <a:rPr lang="en-GB" dirty="0"/>
            </a:br>
            <a:r>
              <a:rPr lang="en-GB" dirty="0">
                <a:hlinkClick r:id="rId3"/>
              </a:rPr>
              <a:t>https://www.mckinsey.com/capabilities/people-and-organizational-performance/our-insights/the-journey-to-an-agile-organization</a:t>
            </a:r>
            <a:endParaRPr lang="en-GB" dirty="0"/>
          </a:p>
          <a:p>
            <a:r>
              <a:rPr lang="en-GB" b="1" dirty="0"/>
              <a:t>Agile Fluency Model - </a:t>
            </a:r>
            <a:r>
              <a:rPr lang="en-GB" dirty="0"/>
              <a:t>A framework for understanding different levels of Agile maturity and sustainability.</a:t>
            </a:r>
            <a:br>
              <a:rPr lang="en-GB" dirty="0"/>
            </a:br>
            <a:r>
              <a:rPr lang="en-GB" dirty="0">
                <a:hlinkClick r:id="rId4"/>
              </a:rPr>
              <a:t>https://www.agilefluency.org/</a:t>
            </a:r>
            <a:br>
              <a:rPr lang="en-GB" dirty="0"/>
            </a:br>
            <a:endParaRPr lang="en-GB" dirty="0"/>
          </a:p>
        </p:txBody>
      </p:sp>
    </p:spTree>
    <p:extLst>
      <p:ext uri="{BB962C8B-B14F-4D97-AF65-F5344CB8AC3E}">
        <p14:creationId xmlns:p14="http://schemas.microsoft.com/office/powerpoint/2010/main" val="3407028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304E9-CECC-E658-E15A-34E80A202B6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4B16259-44C2-8B9B-EE28-662D153A1B07}"/>
              </a:ext>
            </a:extLst>
          </p:cNvPr>
          <p:cNvSpPr>
            <a:spLocks noGrp="1"/>
          </p:cNvSpPr>
          <p:nvPr>
            <p:ph type="title"/>
          </p:nvPr>
        </p:nvSpPr>
        <p:spPr/>
        <p:txBody>
          <a:bodyPr/>
          <a:lstStyle/>
          <a:p>
            <a:r>
              <a:rPr lang="it-IT" dirty="0"/>
              <a:t>ADDITIONAL READING</a:t>
            </a:r>
            <a:endParaRPr lang="en-GB" dirty="0"/>
          </a:p>
        </p:txBody>
      </p:sp>
      <p:sp>
        <p:nvSpPr>
          <p:cNvPr id="3" name="Segnaposto contenuto 2">
            <a:extLst>
              <a:ext uri="{FF2B5EF4-FFF2-40B4-BE49-F238E27FC236}">
                <a16:creationId xmlns:a16="http://schemas.microsoft.com/office/drawing/2014/main" id="{45C73345-38B0-D7C8-8A12-D88DDB1D5727}"/>
              </a:ext>
            </a:extLst>
          </p:cNvPr>
          <p:cNvSpPr>
            <a:spLocks noGrp="1"/>
          </p:cNvSpPr>
          <p:nvPr>
            <p:ph idx="1"/>
          </p:nvPr>
        </p:nvSpPr>
        <p:spPr>
          <a:xfrm>
            <a:off x="838200" y="2141537"/>
            <a:ext cx="10515600" cy="4351338"/>
          </a:xfrm>
        </p:spPr>
        <p:txBody>
          <a:bodyPr>
            <a:normAutofit/>
          </a:bodyPr>
          <a:lstStyle/>
          <a:p>
            <a:r>
              <a:rPr lang="en-GB" b="1" dirty="0"/>
              <a:t>Disciplined Agile Toolkit - </a:t>
            </a:r>
            <a:r>
              <a:rPr lang="en-GB" dirty="0"/>
              <a:t>Practical guidance for hybrid approaches when organisations still demand traditional artifacts.</a:t>
            </a:r>
            <a:br>
              <a:rPr lang="en-GB" dirty="0"/>
            </a:br>
            <a:r>
              <a:rPr lang="en-GB" dirty="0">
                <a:hlinkClick r:id="rId3"/>
              </a:rPr>
              <a:t>https://www.pmi.org/disciplined-agile</a:t>
            </a:r>
            <a:br>
              <a:rPr lang="en-GB" dirty="0"/>
            </a:br>
            <a:endParaRPr lang="en-GB" dirty="0"/>
          </a:p>
        </p:txBody>
      </p:sp>
    </p:spTree>
    <p:extLst>
      <p:ext uri="{BB962C8B-B14F-4D97-AF65-F5344CB8AC3E}">
        <p14:creationId xmlns:p14="http://schemas.microsoft.com/office/powerpoint/2010/main" val="30316613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7DBDD-44BD-59ED-1B5D-315BF953A5E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03AEAEB-E38E-2EE6-AFA7-35EC375AE941}"/>
              </a:ext>
            </a:extLst>
          </p:cNvPr>
          <p:cNvSpPr>
            <a:spLocks noGrp="1"/>
          </p:cNvSpPr>
          <p:nvPr>
            <p:ph type="title"/>
          </p:nvPr>
        </p:nvSpPr>
        <p:spPr/>
        <p:txBody>
          <a:bodyPr/>
          <a:lstStyle/>
          <a:p>
            <a:r>
              <a:rPr lang="it-IT" dirty="0"/>
              <a:t>ADDITIONAL READING</a:t>
            </a:r>
            <a:endParaRPr lang="en-GB" dirty="0"/>
          </a:p>
        </p:txBody>
      </p:sp>
      <p:sp>
        <p:nvSpPr>
          <p:cNvPr id="3" name="Segnaposto contenuto 2">
            <a:extLst>
              <a:ext uri="{FF2B5EF4-FFF2-40B4-BE49-F238E27FC236}">
                <a16:creationId xmlns:a16="http://schemas.microsoft.com/office/drawing/2014/main" id="{0E754391-24FF-36A4-4AC4-6BFD5BD964F9}"/>
              </a:ext>
            </a:extLst>
          </p:cNvPr>
          <p:cNvSpPr>
            <a:spLocks noGrp="1"/>
          </p:cNvSpPr>
          <p:nvPr>
            <p:ph idx="1"/>
          </p:nvPr>
        </p:nvSpPr>
        <p:spPr/>
        <p:txBody>
          <a:bodyPr>
            <a:normAutofit fontScale="92500" lnSpcReduction="10000"/>
          </a:bodyPr>
          <a:lstStyle/>
          <a:p>
            <a:pPr marL="0" indent="0">
              <a:buNone/>
            </a:pPr>
            <a:r>
              <a:rPr lang="it-IT" u="sng" dirty="0"/>
              <a:t>BOOKS</a:t>
            </a:r>
          </a:p>
          <a:p>
            <a:pPr marL="0" indent="0">
              <a:buNone/>
            </a:pPr>
            <a:endParaRPr lang="it-IT" dirty="0"/>
          </a:p>
          <a:p>
            <a:r>
              <a:rPr lang="en-GB" b="1" i="1" dirty="0"/>
              <a:t>“Actionable Agile Metrics for Predictability”</a:t>
            </a:r>
            <a:r>
              <a:rPr lang="en-GB" b="1" dirty="0"/>
              <a:t> - Daniel S. Vacanti</a:t>
            </a:r>
            <a:br>
              <a:rPr lang="en-GB" dirty="0"/>
            </a:br>
            <a:r>
              <a:rPr lang="en-GB" dirty="0"/>
              <a:t>The best book for metrics like cycle time, CFD, forecasting, and avoiding metric misuse.</a:t>
            </a:r>
          </a:p>
          <a:p>
            <a:r>
              <a:rPr lang="en-GB" b="1" i="1" dirty="0"/>
              <a:t>“Accelerate”</a:t>
            </a:r>
            <a:r>
              <a:rPr lang="en-GB" b="1" dirty="0"/>
              <a:t> - Nicole Forsgren, Jez Humble, Gene Kim</a:t>
            </a:r>
            <a:br>
              <a:rPr lang="en-GB" dirty="0"/>
            </a:br>
            <a:r>
              <a:rPr lang="en-GB" dirty="0"/>
              <a:t>Strong evidence-based view of performance, delivery speed, and quality metrics.</a:t>
            </a:r>
          </a:p>
          <a:p>
            <a:r>
              <a:rPr lang="en-GB" b="1" i="1" dirty="0"/>
              <a:t>“The Phoenix Project” </a:t>
            </a:r>
            <a:r>
              <a:rPr lang="en-GB" b="1" dirty="0"/>
              <a:t>- Gene Kim, Kevin Behr, George Spafford</a:t>
            </a:r>
            <a:br>
              <a:rPr lang="en-GB" dirty="0"/>
            </a:br>
            <a:r>
              <a:rPr lang="en-GB" dirty="0"/>
              <a:t>A story-based book that makes bottlenecks, flow, and organisational failure very easy to grasp.</a:t>
            </a:r>
          </a:p>
        </p:txBody>
      </p:sp>
    </p:spTree>
    <p:extLst>
      <p:ext uri="{BB962C8B-B14F-4D97-AF65-F5344CB8AC3E}">
        <p14:creationId xmlns:p14="http://schemas.microsoft.com/office/powerpoint/2010/main" val="18195835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957B-9AF5-21ED-6260-FC5522D8003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83D9E65-95E8-5394-FD33-EB2D47E3D11C}"/>
              </a:ext>
            </a:extLst>
          </p:cNvPr>
          <p:cNvSpPr>
            <a:spLocks noGrp="1"/>
          </p:cNvSpPr>
          <p:nvPr>
            <p:ph type="title"/>
          </p:nvPr>
        </p:nvSpPr>
        <p:spPr/>
        <p:txBody>
          <a:bodyPr/>
          <a:lstStyle/>
          <a:p>
            <a:r>
              <a:rPr lang="it-IT" dirty="0"/>
              <a:t>RESOURCES</a:t>
            </a:r>
            <a:endParaRPr lang="en-GB" dirty="0"/>
          </a:p>
        </p:txBody>
      </p:sp>
      <p:sp>
        <p:nvSpPr>
          <p:cNvPr id="3" name="Segnaposto contenuto 2">
            <a:extLst>
              <a:ext uri="{FF2B5EF4-FFF2-40B4-BE49-F238E27FC236}">
                <a16:creationId xmlns:a16="http://schemas.microsoft.com/office/drawing/2014/main" id="{DA33F65C-9E7E-E0C6-4B4C-654048AC4209}"/>
              </a:ext>
            </a:extLst>
          </p:cNvPr>
          <p:cNvSpPr>
            <a:spLocks noGrp="1"/>
          </p:cNvSpPr>
          <p:nvPr>
            <p:ph idx="1"/>
          </p:nvPr>
        </p:nvSpPr>
        <p:spPr>
          <a:xfrm>
            <a:off x="838200" y="2678380"/>
            <a:ext cx="10072955" cy="4351338"/>
          </a:xfrm>
        </p:spPr>
        <p:txBody>
          <a:bodyPr>
            <a:normAutofit/>
          </a:bodyPr>
          <a:lstStyle/>
          <a:p>
            <a:r>
              <a:rPr lang="en-GB" sz="2600" i="1" dirty="0"/>
              <a:t>“Campus Agile Project Management” </a:t>
            </a:r>
            <a:r>
              <a:rPr lang="en-GB" sz="2600" dirty="0"/>
              <a:t>course</a:t>
            </a:r>
            <a:r>
              <a:rPr lang="en-GB" sz="2600" i="1" dirty="0"/>
              <a:t> </a:t>
            </a:r>
            <a:r>
              <a:rPr lang="en-GB" sz="2600" dirty="0"/>
              <a:t>– Fraticelli F., Ferranti P.</a:t>
            </a:r>
          </a:p>
          <a:p>
            <a:pPr eaLnBrk="0" fontAlgn="base" hangingPunct="0">
              <a:lnSpc>
                <a:spcPct val="100000"/>
              </a:lnSpc>
              <a:spcBef>
                <a:spcPct val="0"/>
              </a:spcBef>
              <a:spcAft>
                <a:spcPct val="0"/>
              </a:spcAft>
            </a:pPr>
            <a:r>
              <a:rPr lang="en-US" altLang="en-US" sz="2600" i="1" dirty="0"/>
              <a:t>Disciplined Agile (PMI) </a:t>
            </a:r>
            <a:r>
              <a:rPr lang="en-US" altLang="en-US" sz="2600" dirty="0"/>
              <a:t>- </a:t>
            </a:r>
            <a:r>
              <a:rPr lang="en-US" altLang="en-US" sz="2600" dirty="0">
                <a:hlinkClick r:id="rId3"/>
              </a:rPr>
              <a:t>https://www.pmi.org/disciplined-agile</a:t>
            </a:r>
            <a:endParaRPr lang="en-GB" altLang="en-US" sz="2600" dirty="0"/>
          </a:p>
          <a:p>
            <a:pPr eaLnBrk="0" fontAlgn="base" hangingPunct="0">
              <a:lnSpc>
                <a:spcPct val="100000"/>
              </a:lnSpc>
              <a:spcBef>
                <a:spcPct val="0"/>
              </a:spcBef>
              <a:spcAft>
                <a:spcPct val="0"/>
              </a:spcAft>
            </a:pPr>
            <a:r>
              <a:rPr lang="en-US" altLang="en-US" sz="2600" i="1" dirty="0"/>
              <a:t>Agile Metrics Overview </a:t>
            </a:r>
            <a:r>
              <a:rPr lang="en-US" altLang="en-US" sz="2600" dirty="0"/>
              <a:t>-</a:t>
            </a:r>
            <a:br>
              <a:rPr lang="en-US" altLang="en-US" sz="2600" dirty="0"/>
            </a:br>
            <a:r>
              <a:rPr lang="en-US" altLang="en-US" sz="2600" dirty="0">
                <a:hlinkClick r:id="rId4"/>
              </a:rPr>
              <a:t>https://www.atlassian.com/agile/project-management/metrics</a:t>
            </a:r>
            <a:endParaRPr lang="en-US" altLang="en-US" sz="2600" dirty="0"/>
          </a:p>
          <a:p>
            <a:pPr eaLnBrk="0" fontAlgn="base" hangingPunct="0">
              <a:lnSpc>
                <a:spcPct val="100000"/>
              </a:lnSpc>
              <a:spcBef>
                <a:spcPct val="0"/>
              </a:spcBef>
              <a:spcAft>
                <a:spcPct val="0"/>
              </a:spcAft>
            </a:pPr>
            <a:r>
              <a:rPr lang="en-US" altLang="en-US" sz="2400" i="1" dirty="0"/>
              <a:t>Understanding Agile Metrics </a:t>
            </a:r>
            <a:r>
              <a:rPr lang="en-US" altLang="en-US" sz="2400" dirty="0"/>
              <a:t>-</a:t>
            </a:r>
            <a:br>
              <a:rPr lang="en-US" altLang="en-US" sz="2400" dirty="0"/>
            </a:br>
            <a:r>
              <a:rPr lang="en-US" altLang="en-US" sz="2400" dirty="0">
                <a:hlinkClick r:id="rId5"/>
              </a:rPr>
              <a:t>https://plan.io/blog/burndown-chart-and-agile-metrics/</a:t>
            </a:r>
            <a:endParaRPr lang="en-US" altLang="en-US" sz="2400" dirty="0"/>
          </a:p>
          <a:p>
            <a:pPr eaLnBrk="0" fontAlgn="base" hangingPunct="0">
              <a:lnSpc>
                <a:spcPct val="100000"/>
              </a:lnSpc>
              <a:spcBef>
                <a:spcPct val="0"/>
              </a:spcBef>
              <a:spcAft>
                <a:spcPct val="0"/>
              </a:spcAft>
            </a:pPr>
            <a:r>
              <a:rPr lang="en-US" altLang="en-US" sz="2400" i="1" dirty="0"/>
              <a:t>Agile Metrics </a:t>
            </a:r>
            <a:r>
              <a:rPr lang="en-US" altLang="en-US" sz="2400" dirty="0"/>
              <a:t>-</a:t>
            </a:r>
            <a:br>
              <a:rPr lang="en-US" altLang="en-US" sz="2400" dirty="0"/>
            </a:br>
            <a:r>
              <a:rPr lang="en-US" altLang="en-US" sz="2400" dirty="0">
                <a:hlinkClick r:id="rId6"/>
              </a:rPr>
              <a:t>https://aida.mitre.org/agile/agile-metrics/</a:t>
            </a:r>
            <a:br>
              <a:rPr lang="en-US" altLang="en-US" sz="2400" dirty="0"/>
            </a:br>
            <a:br>
              <a:rPr lang="en-US" altLang="en-US" sz="2400" dirty="0"/>
            </a:br>
            <a:endParaRPr lang="en-US" altLang="en-US" sz="2600" dirty="0"/>
          </a:p>
        </p:txBody>
      </p:sp>
    </p:spTree>
    <p:extLst>
      <p:ext uri="{BB962C8B-B14F-4D97-AF65-F5344CB8AC3E}">
        <p14:creationId xmlns:p14="http://schemas.microsoft.com/office/powerpoint/2010/main" val="18156363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B4926-E8B5-5D52-D146-13F160E304A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A7F3444-4850-EF06-CA25-6A653FE1E3BF}"/>
              </a:ext>
            </a:extLst>
          </p:cNvPr>
          <p:cNvSpPr>
            <a:spLocks noGrp="1"/>
          </p:cNvSpPr>
          <p:nvPr>
            <p:ph type="title"/>
          </p:nvPr>
        </p:nvSpPr>
        <p:spPr/>
        <p:txBody>
          <a:bodyPr/>
          <a:lstStyle/>
          <a:p>
            <a:r>
              <a:rPr lang="it-IT" dirty="0"/>
              <a:t>RESOURCES</a:t>
            </a:r>
            <a:endParaRPr lang="en-GB" dirty="0"/>
          </a:p>
        </p:txBody>
      </p:sp>
      <p:sp>
        <p:nvSpPr>
          <p:cNvPr id="3" name="Segnaposto contenuto 2">
            <a:extLst>
              <a:ext uri="{FF2B5EF4-FFF2-40B4-BE49-F238E27FC236}">
                <a16:creationId xmlns:a16="http://schemas.microsoft.com/office/drawing/2014/main" id="{9F9F7B78-6585-17C2-1600-C22CDA074153}"/>
              </a:ext>
            </a:extLst>
          </p:cNvPr>
          <p:cNvSpPr>
            <a:spLocks noGrp="1"/>
          </p:cNvSpPr>
          <p:nvPr>
            <p:ph idx="1"/>
          </p:nvPr>
        </p:nvSpPr>
        <p:spPr>
          <a:xfrm>
            <a:off x="838200" y="2485666"/>
            <a:ext cx="10515600" cy="2892579"/>
          </a:xfrm>
        </p:spPr>
        <p:txBody>
          <a:bodyPr>
            <a:normAutofit/>
          </a:bodyPr>
          <a:lstStyle/>
          <a:p>
            <a:r>
              <a:rPr lang="en-GB" sz="2600" i="1" dirty="0"/>
              <a:t>Building Agile Metrics Right </a:t>
            </a:r>
            <a:r>
              <a:rPr lang="en-GB" sz="2600" dirty="0"/>
              <a:t>-</a:t>
            </a:r>
            <a:br>
              <a:rPr lang="en-GB" sz="2600" dirty="0"/>
            </a:br>
            <a:r>
              <a:rPr lang="en-GB" sz="2600" dirty="0">
                <a:hlinkClick r:id="rId3"/>
              </a:rPr>
              <a:t>https://www.ijtrd.com/papers/IJTRD28553.pdf</a:t>
            </a:r>
            <a:endParaRPr lang="en-GB" sz="2600" dirty="0"/>
          </a:p>
          <a:p>
            <a:r>
              <a:rPr lang="en-GB" sz="2600" i="1" dirty="0"/>
              <a:t>Agile Metrics Summary </a:t>
            </a:r>
            <a:r>
              <a:rPr lang="en-GB" sz="2600" dirty="0"/>
              <a:t>-</a:t>
            </a:r>
            <a:br>
              <a:rPr lang="en-GB" sz="2600" dirty="0"/>
            </a:br>
            <a:r>
              <a:rPr lang="en-GB" sz="2600" dirty="0">
                <a:hlinkClick r:id="rId4"/>
              </a:rPr>
              <a:t>https://www.slideshare.net/slideshow/agile-metrics-50873631/50873631</a:t>
            </a:r>
            <a:endParaRPr lang="en-GB" sz="2600" dirty="0"/>
          </a:p>
          <a:p>
            <a:r>
              <a:rPr lang="en-GB" sz="2600" i="1" dirty="0"/>
              <a:t>How to Measure Performance in Agile </a:t>
            </a:r>
            <a:r>
              <a:rPr lang="en-GB" sz="2600" dirty="0"/>
              <a:t>-</a:t>
            </a:r>
            <a:br>
              <a:rPr lang="en-GB" sz="2600" dirty="0"/>
            </a:br>
            <a:r>
              <a:rPr lang="en-GB" sz="2600" dirty="0">
                <a:hlinkClick r:id="rId5"/>
              </a:rPr>
              <a:t>https://arxiv.org/pdf/2407.06357.pdf</a:t>
            </a:r>
            <a:endParaRPr lang="en-GB" sz="2600" dirty="0"/>
          </a:p>
          <a:p>
            <a:pPr marL="0" indent="0">
              <a:buNone/>
            </a:pPr>
            <a:endParaRPr lang="en-GB" dirty="0"/>
          </a:p>
        </p:txBody>
      </p:sp>
    </p:spTree>
    <p:extLst>
      <p:ext uri="{BB962C8B-B14F-4D97-AF65-F5344CB8AC3E}">
        <p14:creationId xmlns:p14="http://schemas.microsoft.com/office/powerpoint/2010/main" val="3234354589"/>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1032</TotalTime>
  <Words>5158</Words>
  <Application>Microsoft Office PowerPoint</Application>
  <PresentationFormat>Widescreen</PresentationFormat>
  <Paragraphs>655</Paragraphs>
  <Slides>56</Slides>
  <Notes>55</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56</vt:i4>
      </vt:variant>
    </vt:vector>
  </HeadingPairs>
  <TitlesOfParts>
    <vt:vector size="64" baseType="lpstr">
      <vt:lpstr>Arial</vt:lpstr>
      <vt:lpstr>Bahnschrift</vt:lpstr>
      <vt:lpstr>Bahnschrift SemiBold</vt:lpstr>
      <vt:lpstr>Bahnschrift SemiLight</vt:lpstr>
      <vt:lpstr>Calibri</vt:lpstr>
      <vt:lpstr>Calibri Light</vt:lpstr>
      <vt:lpstr>Montserrat</vt:lpstr>
      <vt:lpstr>Tema sustava Office</vt:lpstr>
      <vt:lpstr>SHIFT4IT</vt:lpstr>
      <vt:lpstr>Measuring performance and preventing failure</vt:lpstr>
      <vt:lpstr>Summary</vt:lpstr>
      <vt:lpstr>Introduction</vt:lpstr>
      <vt:lpstr>Introduction</vt:lpstr>
      <vt:lpstr>Introduction</vt:lpstr>
      <vt:lpstr>How to measure performance</vt:lpstr>
      <vt:lpstr>Velocity: the key metric</vt:lpstr>
      <vt:lpstr>Velocity chart</vt:lpstr>
      <vt:lpstr>Velocity chart</vt:lpstr>
      <vt:lpstr>Burndown chart</vt:lpstr>
      <vt:lpstr>Burnup chart</vt:lpstr>
      <vt:lpstr>Cumulative Flow Diagram (CFD)</vt:lpstr>
      <vt:lpstr>Cumulative Flow Diagram (CFD)</vt:lpstr>
      <vt:lpstr>Cumulative Flow Diagram (CFD)</vt:lpstr>
      <vt:lpstr>Epic and release burndown</vt:lpstr>
      <vt:lpstr>Epic and release burndown</vt:lpstr>
      <vt:lpstr>Control chart</vt:lpstr>
      <vt:lpstr>Other metrics</vt:lpstr>
      <vt:lpstr>Other metrics</vt:lpstr>
      <vt:lpstr>How to avoid failure</vt:lpstr>
      <vt:lpstr>How to avoid failure</vt:lpstr>
      <vt:lpstr>Typical causes of failure</vt:lpstr>
      <vt:lpstr>Typical causes of failure</vt:lpstr>
      <vt:lpstr>Typical causes of failure</vt:lpstr>
      <vt:lpstr>Typical causes of failure</vt:lpstr>
      <vt:lpstr>A model for change management</vt:lpstr>
      <vt:lpstr>Agile adoption vs Agile transformation</vt:lpstr>
      <vt:lpstr>Agile adoption vs Agile transformation</vt:lpstr>
      <vt:lpstr>Reconciling Waterfall and Agile</vt:lpstr>
      <vt:lpstr>Creating the Gantt from cards</vt:lpstr>
      <vt:lpstr>A digital tool: TeamGantt</vt:lpstr>
      <vt:lpstr>A digital tool: OpenProject</vt:lpstr>
      <vt:lpstr>Monitor progress with sprint goals</vt:lpstr>
      <vt:lpstr>Monitor progress with sprint goals</vt:lpstr>
      <vt:lpstr>Scrum of scrums</vt:lpstr>
      <vt:lpstr>Scrum of scrums</vt:lpstr>
      <vt:lpstr>Product/project scrum</vt:lpstr>
      <vt:lpstr>Corporate scrum</vt:lpstr>
      <vt:lpstr>Multiple Scrums</vt:lpstr>
      <vt:lpstr>Multiple Scrums</vt:lpstr>
      <vt:lpstr>Multiple Scrums</vt:lpstr>
      <vt:lpstr>Multiple Scrums</vt:lpstr>
      <vt:lpstr>Multiple Scrums</vt:lpstr>
      <vt:lpstr>Multiple Scrums</vt:lpstr>
      <vt:lpstr>Multiple Scrums</vt:lpstr>
      <vt:lpstr>Multiple Scrums</vt:lpstr>
      <vt:lpstr>Multiple Scrums</vt:lpstr>
      <vt:lpstr>Scrum master checklist</vt:lpstr>
      <vt:lpstr>Scrum master checklist</vt:lpstr>
      <vt:lpstr>Scrum master checklist</vt:lpstr>
      <vt:lpstr>ADDITIONAL READING</vt:lpstr>
      <vt:lpstr>ADDITIONAL READING</vt:lpstr>
      <vt:lpstr>ADDITIONAL READING</vt:lpstr>
      <vt:lpstr>RESOURCES</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Luca Paolucci</cp:lastModifiedBy>
  <cp:revision>159</cp:revision>
  <dcterms:created xsi:type="dcterms:W3CDTF">2024-02-12T13:35:47Z</dcterms:created>
  <dcterms:modified xsi:type="dcterms:W3CDTF">2026-02-19T16:08:37Z</dcterms:modified>
</cp:coreProperties>
</file>
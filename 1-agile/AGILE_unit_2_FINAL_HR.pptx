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336" r:id="rId2"/>
    <p:sldId id="256" r:id="rId3"/>
    <p:sldId id="257" r:id="rId4"/>
    <p:sldId id="318" r:id="rId5"/>
    <p:sldId id="321" r:id="rId6"/>
    <p:sldId id="320" r:id="rId7"/>
    <p:sldId id="258"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9" r:id="rId23"/>
    <p:sldId id="332" r:id="rId24"/>
    <p:sldId id="333" r:id="rId25"/>
    <p:sldId id="334" r:id="rId26"/>
    <p:sldId id="335" r:id="rId27"/>
    <p:sldId id="259" r:id="rId28"/>
    <p:sldId id="285" r:id="rId29"/>
    <p:sldId id="288" r:id="rId30"/>
    <p:sldId id="289" r:id="rId31"/>
    <p:sldId id="290" r:id="rId32"/>
    <p:sldId id="291" r:id="rId33"/>
    <p:sldId id="260" r:id="rId34"/>
    <p:sldId id="295" r:id="rId35"/>
    <p:sldId id="296" r:id="rId36"/>
    <p:sldId id="297" r:id="rId37"/>
    <p:sldId id="298" r:id="rId38"/>
    <p:sldId id="302" r:id="rId39"/>
    <p:sldId id="299" r:id="rId40"/>
    <p:sldId id="300" r:id="rId41"/>
    <p:sldId id="304" r:id="rId42"/>
    <p:sldId id="303" r:id="rId43"/>
    <p:sldId id="306" r:id="rId44"/>
    <p:sldId id="308" r:id="rId45"/>
    <p:sldId id="326" r:id="rId46"/>
    <p:sldId id="327" r:id="rId47"/>
    <p:sldId id="328" r:id="rId48"/>
    <p:sldId id="329" r:id="rId49"/>
    <p:sldId id="331" r:id="rId50"/>
    <p:sldId id="330" r:id="rId51"/>
    <p:sldId id="261" r:id="rId52"/>
    <p:sldId id="311" r:id="rId53"/>
    <p:sldId id="312" r:id="rId54"/>
    <p:sldId id="313" r:id="rId55"/>
    <p:sldId id="314" r:id="rId56"/>
    <p:sldId id="315" r:id="rId57"/>
    <p:sldId id="316" r:id="rId58"/>
    <p:sldId id="317" r:id="rId59"/>
    <p:sldId id="322" r:id="rId60"/>
    <p:sldId id="324" r:id="rId61"/>
    <p:sldId id="325" r:id="rId62"/>
    <p:sldId id="323" r:id="rId63"/>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56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284" autoAdjust="0"/>
    <p:restoredTop sz="55437" autoAdjust="0"/>
  </p:normalViewPr>
  <p:slideViewPr>
    <p:cSldViewPr snapToGrid="0">
      <p:cViewPr varScale="1">
        <p:scale>
          <a:sx n="92" d="100"/>
          <a:sy n="92" d="100"/>
        </p:scale>
        <p:origin x="200" y="7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DC4DB7-1BDC-471F-A72A-7BF15689A3C4}" type="datetimeFigureOut">
              <a:rPr lang="en-GB" smtClean="0"/>
              <a:t>25/03/2026</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82510B-FFC8-4811-9AD4-B53BA0AD0859}" type="slidenum">
              <a:rPr lang="en-GB" smtClean="0"/>
              <a:t>‹#›</a:t>
            </a:fld>
            <a:endParaRPr lang="en-GB"/>
          </a:p>
        </p:txBody>
      </p:sp>
    </p:spTree>
    <p:extLst>
      <p:ext uri="{BB962C8B-B14F-4D97-AF65-F5344CB8AC3E}">
        <p14:creationId xmlns:p14="http://schemas.microsoft.com/office/powerpoint/2010/main" val="973036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atlassian.com/agile/kanban/kanban-vs-scrum"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projectmanagement.ie/blog/kanban-vs-scrum/"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kanbanzone.com/2023/kanban-and-scrum-similarities/"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launchnotes.com/blog/the-ultimate-guide-to-creating-your-agile-board"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miro.com/blog/scrum-kanban-boards-difference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youtube.com/watch?v=19dMPv0pOGE"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www.coursera.org/articles/kanban-vs-scrum"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businessmap.io/kanban-resources/kanban-software/kanban-swimlanes"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nimblework.com/blog/due-dates-in-kanban-systems/"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www.globalstd.com/en/blog/how-to-determine-the-processes-in-your-organization-blog/"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scribe.com/library/what-are-operational-processes" TargetMode="External"/><Relationship Id="rId2" Type="http://schemas.openxmlformats.org/officeDocument/2006/relationships/slide" Target="../slides/slide29.xml"/><Relationship Id="rId1" Type="http://schemas.openxmlformats.org/officeDocument/2006/relationships/notesMaster" Target="../notesMasters/notesMaster1.xml"/><Relationship Id="rId4" Type="http://schemas.openxmlformats.org/officeDocument/2006/relationships/hyperlink" Target="https://www.symestic.com/en-us/what-is/operational-processes" TargetMode="Externa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aptien.com/en/kb/articles/what-are-support-processes"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courses.lumenlearning.com/wm-principlesofmanagement/chapter/the-control-process/"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www.agilealliance.org/wp-content/uploads/2016/01/The-Dynamic-Duo-PO-and-SM-Partnership-Agile-2012-bkadkins-ricksmith.pdf" TargetMode="External"/><Relationship Id="rId2" Type="http://schemas.openxmlformats.org/officeDocument/2006/relationships/slide" Target="../slides/slide34.xml"/><Relationship Id="rId1" Type="http://schemas.openxmlformats.org/officeDocument/2006/relationships/notesMaster" Target="../notesMasters/notesMaster1.xml"/><Relationship Id="rId5" Type="http://schemas.openxmlformats.org/officeDocument/2006/relationships/hyperlink" Target="https://miro.com/blog/agile-roles/" TargetMode="External"/><Relationship Id="rId4" Type="http://schemas.openxmlformats.org/officeDocument/2006/relationships/hyperlink" Target="https://www.exin.com/article/agile-scrum-roles-3-roles-that-make-or-break-scrum/" TargetMode="Externa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dcmlearning.ie/product-owner-resources/the-key-differences-between-a-scrum-master-and-product-owner.html"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www.atlassian.com/agile/scrum/ceremonies"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www.atlassian.com/team-playbook/plays/retrospective"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www.scrumalliance.org/get-certified/scrum-master-track/certified-scrummaster"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s://www.scrum.org/professional-scrum-certifications/professional-scrum-master-assessments" TargetMode="External"/><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hyperlink" Target="https://agileseekers.com/blog/what-is-safe-scrum-master-certification"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s://www.scrumstudy.com/certification/scrum-master-certification" TargetMode="External"/><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2</a:t>
            </a:fld>
            <a:endParaRPr lang="en-GB"/>
          </a:p>
        </p:txBody>
      </p:sp>
    </p:spTree>
    <p:extLst>
      <p:ext uri="{BB962C8B-B14F-4D97-AF65-F5344CB8AC3E}">
        <p14:creationId xmlns:p14="http://schemas.microsoft.com/office/powerpoint/2010/main" val="309380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hr-HR" dirty="0"/>
              <a:t>Bilješke za voditelja radionice</a:t>
            </a:r>
          </a:p>
          <a:p>
            <a:endParaRPr lang="hr-HR" dirty="0"/>
          </a:p>
          <a:p>
            <a:r>
              <a:rPr lang="hr-HR" dirty="0"/>
              <a:t>Predstavite 2. cjelinu i objasnite da su </a:t>
            </a:r>
            <a:r>
              <a:rPr lang="hr-HR" dirty="0" err="1"/>
              <a:t>Kanban</a:t>
            </a:r>
            <a:r>
              <a:rPr lang="hr-HR" dirty="0"/>
              <a:t> i </a:t>
            </a:r>
            <a:r>
              <a:rPr lang="hr-HR" dirty="0" err="1"/>
              <a:t>Scrum</a:t>
            </a:r>
            <a:r>
              <a:rPr lang="hr-HR" dirty="0"/>
              <a:t> dva najčešća „ulaza” u </a:t>
            </a:r>
            <a:r>
              <a:rPr lang="hr-HR" dirty="0" err="1"/>
              <a:t>Agile</a:t>
            </a:r>
            <a:r>
              <a:rPr lang="hr-HR" dirty="0"/>
              <a:t> praksu.</a:t>
            </a:r>
          </a:p>
          <a:p>
            <a:r>
              <a:rPr lang="hr-HR" dirty="0"/>
              <a:t>Započnite sa širom slikom: oba okvira pomažu timovima da učine rad vidljivim, upravljaju prioritetima i unaprijede isporuku.</a:t>
            </a:r>
          </a:p>
          <a:p>
            <a:r>
              <a:rPr lang="hr-HR" dirty="0"/>
              <a:t>Ključne poruke koje treba naglasiti:</a:t>
            </a:r>
            <a:br>
              <a:rPr lang="hr-HR" dirty="0"/>
            </a:br>
            <a:r>
              <a:rPr lang="hr-HR" dirty="0" err="1"/>
              <a:t>Kanban</a:t>
            </a:r>
            <a:r>
              <a:rPr lang="hr-HR" dirty="0"/>
              <a:t> i </a:t>
            </a:r>
            <a:r>
              <a:rPr lang="hr-HR" dirty="0" err="1"/>
              <a:t>Scrum</a:t>
            </a:r>
            <a:r>
              <a:rPr lang="hr-HR" dirty="0"/>
              <a:t> dijele transparentnost i vizualno upravljanje radom.</a:t>
            </a:r>
            <a:br>
              <a:rPr lang="hr-HR" dirty="0"/>
            </a:br>
            <a:r>
              <a:rPr lang="hr-HR" dirty="0"/>
              <a:t>Najbolji izbor ovisi o kontekstu rada (varijabilnost, hitnost, potreba za ritmom rada).</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b="1" dirty="0"/>
              <a:t>Bilješke za voditelja radionice</a:t>
            </a:r>
          </a:p>
          <a:p>
            <a:endParaRPr lang="hr-HR" dirty="0"/>
          </a:p>
          <a:p>
            <a:r>
              <a:rPr lang="hr-HR" dirty="0"/>
              <a:t>Objasnite što će polaznici istraživati — </a:t>
            </a:r>
            <a:r>
              <a:rPr lang="hr-HR" dirty="0" err="1"/>
              <a:t>Kanban</a:t>
            </a:r>
            <a:r>
              <a:rPr lang="hr-HR" dirty="0"/>
              <a:t>, </a:t>
            </a:r>
            <a:r>
              <a:rPr lang="hr-HR" dirty="0" err="1"/>
              <a:t>Scrum</a:t>
            </a:r>
            <a:r>
              <a:rPr lang="hr-HR" dirty="0"/>
              <a:t>, sličnosti i razlike, uloge i ceremonije te certifikate — i postavite očekivanja vezana uz sudjelovanje.</a:t>
            </a:r>
          </a:p>
          <a:p>
            <a:r>
              <a:rPr lang="hr-HR" dirty="0"/>
              <a:t>Naglasite da </a:t>
            </a:r>
            <a:r>
              <a:rPr lang="hr-HR" dirty="0" err="1"/>
              <a:t>Kanban</a:t>
            </a:r>
            <a:r>
              <a:rPr lang="hr-HR" dirty="0"/>
              <a:t> i </a:t>
            </a:r>
            <a:r>
              <a:rPr lang="hr-HR" dirty="0" err="1"/>
              <a:t>Scrum</a:t>
            </a:r>
            <a:r>
              <a:rPr lang="hr-HR" dirty="0"/>
              <a:t> dijele iste temelje, ali se razlikuju u ograničenjima.</a:t>
            </a:r>
          </a:p>
          <a:p>
            <a:endParaRPr lang="hr-HR" dirty="0"/>
          </a:p>
          <a:p>
            <a:r>
              <a:rPr lang="hr-HR" dirty="0"/>
              <a:t>Dodatni resursi</a:t>
            </a:r>
            <a:br>
              <a:rPr lang="hr-HR" dirty="0"/>
            </a:br>
            <a:r>
              <a:rPr lang="hr-HR" dirty="0">
                <a:hlinkClick r:id="rId3"/>
              </a:rPr>
              <a:t>https://www.atlassian.com/agile/kanban/kanban-vs-scrum</a:t>
            </a:r>
            <a:endParaRPr lang="hr-H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4</a:t>
            </a:fld>
            <a:endParaRPr lang="en-GB"/>
          </a:p>
        </p:txBody>
      </p:sp>
    </p:spTree>
    <p:extLst>
      <p:ext uri="{BB962C8B-B14F-4D97-AF65-F5344CB8AC3E}">
        <p14:creationId xmlns:p14="http://schemas.microsoft.com/office/powerpoint/2010/main" val="2412695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endParaRPr lang="hr-HR" dirty="0"/>
          </a:p>
          <a:p>
            <a:r>
              <a:rPr lang="hr-HR" dirty="0"/>
              <a:t>Pripremite polaznike da razmišljaju u okviru stabilnosti tijeka rada naspram neizvjesnosti.</a:t>
            </a:r>
          </a:p>
        </p:txBody>
      </p:sp>
      <p:sp>
        <p:nvSpPr>
          <p:cNvPr id="4" name="Segnaposto numero diapositiva 3"/>
          <p:cNvSpPr>
            <a:spLocks noGrp="1"/>
          </p:cNvSpPr>
          <p:nvPr>
            <p:ph type="sldNum" sz="quarter" idx="5"/>
          </p:nvPr>
        </p:nvSpPr>
        <p:spPr/>
        <p:txBody>
          <a:bodyPr/>
          <a:lstStyle/>
          <a:p>
            <a:fld id="{7982510B-FFC8-4811-9AD4-B53BA0AD0859}" type="slidenum">
              <a:rPr lang="en-GB" smtClean="0"/>
              <a:t>5</a:t>
            </a:fld>
            <a:endParaRPr lang="en-GB"/>
          </a:p>
        </p:txBody>
      </p:sp>
    </p:spTree>
    <p:extLst>
      <p:ext uri="{BB962C8B-B14F-4D97-AF65-F5344CB8AC3E}">
        <p14:creationId xmlns:p14="http://schemas.microsoft.com/office/powerpoint/2010/main" val="1736702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Rano naglasite primjenjivost u kontekstima koji nisu razvojni.</a:t>
            </a:r>
            <a:br>
              <a:rPr lang="hr-HR" dirty="0"/>
            </a:br>
            <a:r>
              <a:rPr lang="hr-HR" dirty="0"/>
              <a:t>Istaknite da će se uloge i ceremonije kasnije uvježbavati kroz simulaciju.</a:t>
            </a:r>
          </a:p>
        </p:txBody>
      </p:sp>
      <p:sp>
        <p:nvSpPr>
          <p:cNvPr id="4" name="Segnaposto numero diapositiva 3"/>
          <p:cNvSpPr>
            <a:spLocks noGrp="1"/>
          </p:cNvSpPr>
          <p:nvPr>
            <p:ph type="sldNum" sz="quarter" idx="5"/>
          </p:nvPr>
        </p:nvSpPr>
        <p:spPr/>
        <p:txBody>
          <a:bodyPr/>
          <a:lstStyle/>
          <a:p>
            <a:fld id="{7982510B-FFC8-4811-9AD4-B53BA0AD0859}" type="slidenum">
              <a:rPr lang="en-GB" smtClean="0"/>
              <a:t>6</a:t>
            </a:fld>
            <a:endParaRPr lang="en-GB"/>
          </a:p>
        </p:txBody>
      </p:sp>
    </p:spTree>
    <p:extLst>
      <p:ext uri="{BB962C8B-B14F-4D97-AF65-F5344CB8AC3E}">
        <p14:creationId xmlns:p14="http://schemas.microsoft.com/office/powerpoint/2010/main" val="228687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endParaRPr lang="hr-HR" dirty="0"/>
          </a:p>
          <a:p>
            <a:r>
              <a:rPr lang="hr-HR" dirty="0"/>
              <a:t>Postavite okvir za usporedbu i spriječite zabunu između „</a:t>
            </a:r>
            <a:r>
              <a:rPr lang="hr-HR" dirty="0" err="1"/>
              <a:t>Agilea</a:t>
            </a:r>
            <a:r>
              <a:rPr lang="hr-HR" dirty="0"/>
              <a:t>” (načina razmišljanja) i „okvira” (načina njegove primjene).</a:t>
            </a:r>
          </a:p>
          <a:p>
            <a:r>
              <a:rPr lang="hr-HR" dirty="0"/>
              <a:t>Jasno naglasite: </a:t>
            </a:r>
            <a:r>
              <a:rPr lang="hr-HR" dirty="0" err="1"/>
              <a:t>Kanban</a:t>
            </a:r>
            <a:r>
              <a:rPr lang="hr-HR" dirty="0"/>
              <a:t> i </a:t>
            </a:r>
            <a:r>
              <a:rPr lang="hr-HR" dirty="0" err="1"/>
              <a:t>Scrum</a:t>
            </a:r>
            <a:r>
              <a:rPr lang="hr-HR" dirty="0"/>
              <a:t> su dva pristupa upravljanju radom koja su usklađena s </a:t>
            </a:r>
            <a:r>
              <a:rPr lang="hr-HR" dirty="0" err="1"/>
              <a:t>Agileom</a:t>
            </a:r>
            <a:r>
              <a:rPr lang="hr-HR" dirty="0"/>
              <a:t>; nijedan sam po sebi nije jednak „</a:t>
            </a:r>
            <a:r>
              <a:rPr lang="hr-HR" dirty="0" err="1"/>
              <a:t>Agileu</a:t>
            </a:r>
            <a:r>
              <a:rPr lang="hr-HR" dirty="0"/>
              <a:t>”.</a:t>
            </a:r>
          </a:p>
          <a:p>
            <a:r>
              <a:rPr lang="hr-HR" dirty="0"/>
              <a:t>Pojasnite da su oba </a:t>
            </a:r>
            <a:r>
              <a:rPr lang="hr-HR" dirty="0" err="1"/>
              <a:t>Agile</a:t>
            </a:r>
            <a:r>
              <a:rPr lang="hr-HR" dirty="0"/>
              <a:t> okviri, a ne suprotstavljene metodologije, te da mnogi timovi nesvjesno koriste hibridne oblike.</a:t>
            </a:r>
          </a:p>
          <a:p>
            <a:endParaRPr lang="hr-HR" dirty="0"/>
          </a:p>
          <a:p>
            <a:pPr marL="0" indent="0">
              <a:buFont typeface="Arial" panose="020B0604020202020204" pitchFamily="34" charset="0"/>
              <a:buNone/>
            </a:pPr>
            <a:r>
              <a:rPr lang="hr-HR" dirty="0"/>
              <a:t>Ključne poruke koje treba naglasiti:</a:t>
            </a:r>
          </a:p>
          <a:p>
            <a:pPr marL="171450" indent="-171450">
              <a:buFont typeface="Arial" panose="020B0604020202020204" pitchFamily="34" charset="0"/>
              <a:buChar char="•"/>
            </a:pPr>
            <a:r>
              <a:rPr lang="hr-HR" dirty="0"/>
              <a:t>Oba se temelje na vidljivosti i transparentnosti.</a:t>
            </a:r>
          </a:p>
          <a:p>
            <a:pPr marL="171450" indent="-171450">
              <a:buFont typeface="Arial" panose="020B0604020202020204" pitchFamily="34" charset="0"/>
              <a:buChar char="•"/>
            </a:pPr>
            <a:r>
              <a:rPr lang="hr-HR" dirty="0"/>
              <a:t>Razlikuju se u načinu upravljanja obvezama, promjenama i tokom rada.</a:t>
            </a:r>
          </a:p>
          <a:p>
            <a:endParaRPr lang="hr-HR" dirty="0"/>
          </a:p>
          <a:p>
            <a:r>
              <a:rPr lang="hr-HR" dirty="0" err="1"/>
              <a:t>odatni</a:t>
            </a:r>
            <a:r>
              <a:rPr lang="hr-HR" dirty="0"/>
              <a:t> resursi</a:t>
            </a:r>
            <a:br>
              <a:rPr lang="hr-HR" dirty="0"/>
            </a:br>
            <a:r>
              <a:rPr lang="hr-HR" dirty="0">
                <a:hlinkClick r:id="rId3"/>
              </a:rPr>
              <a:t>https://projectmanagement.ie/blog/kanban-vs-scrum/</a:t>
            </a:r>
            <a:endParaRPr lang="hr-H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8</a:t>
            </a:fld>
            <a:endParaRPr lang="en-GB"/>
          </a:p>
        </p:txBody>
      </p:sp>
    </p:spTree>
    <p:extLst>
      <p:ext uri="{BB962C8B-B14F-4D97-AF65-F5344CB8AC3E}">
        <p14:creationId xmlns:p14="http://schemas.microsoft.com/office/powerpoint/2010/main" val="2056607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endParaRPr lang="hr-HR" dirty="0"/>
          </a:p>
          <a:p>
            <a:r>
              <a:rPr lang="hr-HR" dirty="0"/>
              <a:t>Izgradite zajednički mentalni model: oba okvira oslanjaju se na vizualno upravljanje radom pomoću ploča, kartica i stupaca tijeka rada.</a:t>
            </a:r>
          </a:p>
          <a:p>
            <a:r>
              <a:rPr lang="hr-HR" dirty="0"/>
              <a:t>Ključne poruke koje treba naglasiti:</a:t>
            </a:r>
          </a:p>
          <a:p>
            <a:br>
              <a:rPr lang="hr-HR" dirty="0"/>
            </a:br>
            <a:r>
              <a:rPr lang="hr-HR" dirty="0"/>
              <a:t>Kartice predstavljaju jedinice rada s jasno definiranim ishodom.</a:t>
            </a:r>
            <a:br>
              <a:rPr lang="hr-HR" dirty="0"/>
            </a:br>
            <a:r>
              <a:rPr lang="hr-HR" dirty="0"/>
              <a:t>Stupci predstavljaju faze tijeka rada (Za napraviti → U tijeku → Gotovo, uz moguće dodatne korake poput Pregleda).</a:t>
            </a:r>
            <a:br>
              <a:rPr lang="hr-HR" dirty="0"/>
            </a:br>
            <a:r>
              <a:rPr lang="hr-HR" dirty="0"/>
              <a:t>Vidljivost čini uska grla i blokatore lako uočljivima.</a:t>
            </a:r>
          </a:p>
          <a:p>
            <a:endParaRPr lang="hr-HR" dirty="0"/>
          </a:p>
          <a:p>
            <a:r>
              <a:rPr lang="hr-HR" dirty="0"/>
              <a:t>Dodatni resursi</a:t>
            </a:r>
            <a:br>
              <a:rPr lang="hr-HR" dirty="0"/>
            </a:br>
            <a:r>
              <a:rPr lang="hr-HR" dirty="0">
                <a:hlinkClick r:id="rId3"/>
              </a:rPr>
              <a:t>https://kanbanzone.com/2023/kanban-and-scrum-similarities/</a:t>
            </a:r>
            <a:endParaRPr lang="hr-H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9</a:t>
            </a:fld>
            <a:endParaRPr lang="en-GB"/>
          </a:p>
        </p:txBody>
      </p:sp>
    </p:spTree>
    <p:extLst>
      <p:ext uri="{BB962C8B-B14F-4D97-AF65-F5344CB8AC3E}">
        <p14:creationId xmlns:p14="http://schemas.microsoft.com/office/powerpoint/2010/main" val="2678127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10</a:t>
            </a:fld>
            <a:endParaRPr lang="en-GB"/>
          </a:p>
        </p:txBody>
      </p:sp>
    </p:spTree>
    <p:extLst>
      <p:ext uri="{BB962C8B-B14F-4D97-AF65-F5344CB8AC3E}">
        <p14:creationId xmlns:p14="http://schemas.microsoft.com/office/powerpoint/2010/main" val="3729627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endParaRPr lang="hr-HR" dirty="0"/>
          </a:p>
          <a:p>
            <a:r>
              <a:rPr lang="hr-HR" dirty="0"/>
              <a:t>Pitajte polaznike koje bi dodatne stupce trebali uvesti (npr. „Na čekanju”, „Blokirano”, „Odobrenje”).</a:t>
            </a:r>
          </a:p>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11</a:t>
            </a:fld>
            <a:endParaRPr lang="en-GB"/>
          </a:p>
        </p:txBody>
      </p:sp>
    </p:spTree>
    <p:extLst>
      <p:ext uri="{BB962C8B-B14F-4D97-AF65-F5344CB8AC3E}">
        <p14:creationId xmlns:p14="http://schemas.microsoft.com/office/powerpoint/2010/main" val="25362294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12</a:t>
            </a:fld>
            <a:endParaRPr lang="en-GB"/>
          </a:p>
        </p:txBody>
      </p:sp>
    </p:spTree>
    <p:extLst>
      <p:ext uri="{BB962C8B-B14F-4D97-AF65-F5344CB8AC3E}">
        <p14:creationId xmlns:p14="http://schemas.microsoft.com/office/powerpoint/2010/main" val="701801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13</a:t>
            </a:fld>
            <a:endParaRPr lang="en-GB"/>
          </a:p>
        </p:txBody>
      </p:sp>
    </p:spTree>
    <p:extLst>
      <p:ext uri="{BB962C8B-B14F-4D97-AF65-F5344CB8AC3E}">
        <p14:creationId xmlns:p14="http://schemas.microsoft.com/office/powerpoint/2010/main" val="745607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pl-PL" dirty="0"/>
              <a:t>Bilješke za voditelja radionice</a:t>
            </a:r>
          </a:p>
          <a:p>
            <a:endParaRPr lang="pl-PL" dirty="0"/>
          </a:p>
          <a:p>
            <a:r>
              <a:rPr lang="pl-PL" dirty="0"/>
              <a:t>Dodatni resursi</a:t>
            </a:r>
            <a:br>
              <a:rPr lang="pl-PL" dirty="0"/>
            </a:br>
            <a:r>
              <a:rPr lang="pl-PL" dirty="0">
                <a:hlinkClick r:id="rId3"/>
              </a:rPr>
              <a:t>https://www.launchnotes.com/blog/the-ultimate-guide-to-creating-your-agile-board</a:t>
            </a:r>
            <a:endParaRPr lang="pl-PL" dirty="0"/>
          </a:p>
          <a:p>
            <a:pPr marL="171450" indent="-171450">
              <a:buFont typeface="Arial" panose="020B0604020202020204" pitchFamily="34" charset="0"/>
              <a:buChar char="•"/>
            </a:pPr>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14</a:t>
            </a:fld>
            <a:endParaRPr lang="en-GB"/>
          </a:p>
        </p:txBody>
      </p:sp>
    </p:spTree>
    <p:extLst>
      <p:ext uri="{BB962C8B-B14F-4D97-AF65-F5344CB8AC3E}">
        <p14:creationId xmlns:p14="http://schemas.microsoft.com/office/powerpoint/2010/main" val="38032199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Objasnite </a:t>
            </a:r>
            <a:r>
              <a:rPr lang="hr-HR" dirty="0" err="1"/>
              <a:t>Kanban</a:t>
            </a:r>
            <a:r>
              <a:rPr lang="hr-HR" dirty="0"/>
              <a:t> kao „kontinuirani tok” koji se optimizira ograničenjima rada u tijeku (WIP).</a:t>
            </a:r>
          </a:p>
          <a:p>
            <a:r>
              <a:rPr lang="hr-HR" dirty="0"/>
              <a:t>Naglasite: započnite manje stvari, dovršite ih više. Objasnite WIP ograničenja kao namjerno uvedeno ograničenje koje smanjuje </a:t>
            </a:r>
            <a:r>
              <a:rPr lang="hr-HR" dirty="0" err="1"/>
              <a:t>multitasking</a:t>
            </a:r>
            <a:r>
              <a:rPr lang="hr-HR" dirty="0"/>
              <a:t> i otkriva uska grla.</a:t>
            </a:r>
          </a:p>
          <a:p>
            <a:r>
              <a:rPr lang="hr-HR" dirty="0"/>
              <a:t>Dodatno učvrstite metaforu „košarke”: brže i glađe zabijanje koševa = brže i glađe dovršavanje posla.</a:t>
            </a:r>
          </a:p>
          <a:p>
            <a:r>
              <a:rPr lang="hr-HR" dirty="0"/>
              <a:t>Pitajte polaznike: „Gdje se posao u vašem procesu najčešće gomila?”</a:t>
            </a:r>
          </a:p>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15</a:t>
            </a:fld>
            <a:endParaRPr lang="en-GB"/>
          </a:p>
        </p:txBody>
      </p:sp>
    </p:spTree>
    <p:extLst>
      <p:ext uri="{BB962C8B-B14F-4D97-AF65-F5344CB8AC3E}">
        <p14:creationId xmlns:p14="http://schemas.microsoft.com/office/powerpoint/2010/main" val="1051055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Objasnite </a:t>
            </a:r>
            <a:r>
              <a:rPr lang="hr-HR" dirty="0" err="1"/>
              <a:t>Scrum</a:t>
            </a:r>
            <a:r>
              <a:rPr lang="hr-HR" dirty="0"/>
              <a:t> kao vremenski ograničenu isporuku koja koristi sprintove za stvaranje predvidljivog ritma rada.</a:t>
            </a:r>
          </a:p>
          <a:p>
            <a:r>
              <a:rPr lang="hr-HR" dirty="0"/>
              <a:t>Istaknite ritam: planiranje sprinta → svakodnevna koordinacija → pregled → retrospektiva → sljedeći sprint.</a:t>
            </a:r>
          </a:p>
          <a:p>
            <a:r>
              <a:rPr lang="hr-HR" dirty="0"/>
              <a:t>Upotrijebite metaforu „ispita”: unutar zadanog vremenskog okvira fokusirate se na odabrane zadatke, a promjene se svode na minimum kako bi se zaštitila koncentracija.</a:t>
            </a:r>
          </a:p>
          <a:p>
            <a:r>
              <a:rPr lang="hr-HR" dirty="0"/>
              <a:t>Uvjerite polaznike da </a:t>
            </a:r>
            <a:r>
              <a:rPr lang="hr-HR" dirty="0" err="1"/>
              <a:t>Scrum</a:t>
            </a:r>
            <a:r>
              <a:rPr lang="hr-HR" dirty="0"/>
              <a:t> nije rigidan sam sebi svrhom — struktura omogućuje učenje i prilagodbu između sprintova.</a:t>
            </a:r>
          </a:p>
          <a:p>
            <a:endParaRPr lang="it-IT"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16</a:t>
            </a:fld>
            <a:endParaRPr lang="en-GB"/>
          </a:p>
        </p:txBody>
      </p:sp>
    </p:spTree>
    <p:extLst>
      <p:ext uri="{BB962C8B-B14F-4D97-AF65-F5344CB8AC3E}">
        <p14:creationId xmlns:p14="http://schemas.microsoft.com/office/powerpoint/2010/main" val="2972178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Usporedite ograničenje rada u tijeku po statusu (</a:t>
            </a:r>
            <a:r>
              <a:rPr lang="hr-HR" dirty="0" err="1"/>
              <a:t>Kanban</a:t>
            </a:r>
            <a:r>
              <a:rPr lang="hr-HR" dirty="0"/>
              <a:t>) s ograničenjem rada u tijeku po sprintu (</a:t>
            </a:r>
            <a:r>
              <a:rPr lang="hr-HR" dirty="0" err="1"/>
              <a:t>Scrum</a:t>
            </a:r>
            <a:r>
              <a:rPr lang="hr-HR" dirty="0"/>
              <a:t>).</a:t>
            </a:r>
          </a:p>
          <a:p>
            <a:r>
              <a:rPr lang="hr-HR" dirty="0"/>
              <a:t>Dodatni resursi</a:t>
            </a:r>
            <a:br>
              <a:rPr lang="hr-HR" dirty="0"/>
            </a:br>
            <a:r>
              <a:rPr lang="hr-HR" dirty="0">
                <a:hlinkClick r:id="rId3"/>
              </a:rPr>
              <a:t>https://miro.com/blog/scrum-kanban-boards-differences/</a:t>
            </a:r>
            <a:endParaRPr lang="hr-HR" dirty="0"/>
          </a:p>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17</a:t>
            </a:fld>
            <a:endParaRPr lang="en-GB"/>
          </a:p>
        </p:txBody>
      </p:sp>
    </p:spTree>
    <p:extLst>
      <p:ext uri="{BB962C8B-B14F-4D97-AF65-F5344CB8AC3E}">
        <p14:creationId xmlns:p14="http://schemas.microsoft.com/office/powerpoint/2010/main" val="26708262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Naglasite timsko vlasništvo u </a:t>
            </a:r>
            <a:r>
              <a:rPr lang="hr-HR" dirty="0" err="1"/>
              <a:t>Scrumu</a:t>
            </a:r>
            <a:r>
              <a:rPr lang="hr-HR" dirty="0"/>
              <a:t>.</a:t>
            </a:r>
          </a:p>
          <a:p>
            <a:r>
              <a:rPr lang="hr-HR" dirty="0"/>
              <a:t>Objasnite zašto </a:t>
            </a:r>
            <a:r>
              <a:rPr lang="hr-HR" dirty="0" err="1"/>
              <a:t>Kanban</a:t>
            </a:r>
            <a:r>
              <a:rPr lang="hr-HR" dirty="0"/>
              <a:t> može funkcionirati i bez fiksno definiranog tima.</a:t>
            </a:r>
          </a:p>
          <a:p>
            <a:r>
              <a:rPr lang="hr-HR" dirty="0"/>
              <a:t>Dodatni resursi</a:t>
            </a:r>
            <a:br>
              <a:rPr lang="hr-HR" dirty="0"/>
            </a:br>
            <a:r>
              <a:rPr lang="hr-HR" dirty="0">
                <a:hlinkClick r:id="rId3"/>
              </a:rPr>
              <a:t>https://www.youtube.com/watch?v=19dMPv0pOGE</a:t>
            </a:r>
            <a:br>
              <a:rPr lang="hr-HR" dirty="0"/>
            </a:br>
            <a:r>
              <a:rPr lang="hr-HR" dirty="0">
                <a:hlinkClick r:id="rId4"/>
              </a:rPr>
              <a:t>https://www.coursera.org/articles/kanban-vs-scrum</a:t>
            </a:r>
            <a:endParaRPr lang="hr-HR" dirty="0"/>
          </a:p>
          <a:p>
            <a:pPr marL="171450" indent="-171450">
              <a:buFont typeface="Arial" panose="020B0604020202020204" pitchFamily="34" charset="0"/>
              <a:buChar char="•"/>
            </a:pPr>
            <a:endParaRPr lang="en-GB" dirty="0"/>
          </a:p>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18</a:t>
            </a:fld>
            <a:endParaRPr lang="en-GB"/>
          </a:p>
        </p:txBody>
      </p:sp>
    </p:spTree>
    <p:extLst>
      <p:ext uri="{BB962C8B-B14F-4D97-AF65-F5344CB8AC3E}">
        <p14:creationId xmlns:p14="http://schemas.microsoft.com/office/powerpoint/2010/main" val="2892248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Pojasnite razliku između zajedničkog usmjeravanja tima na zadatak i individualnog tijeka rada.</a:t>
            </a:r>
          </a:p>
          <a:p>
            <a:r>
              <a:rPr lang="hr-HR" dirty="0"/>
              <a:t>Naglasite suradnju bez hijerarhije.</a:t>
            </a:r>
          </a:p>
        </p:txBody>
      </p:sp>
      <p:sp>
        <p:nvSpPr>
          <p:cNvPr id="4" name="Segnaposto numero diapositiva 3"/>
          <p:cNvSpPr>
            <a:spLocks noGrp="1"/>
          </p:cNvSpPr>
          <p:nvPr>
            <p:ph type="sldNum" sz="quarter" idx="5"/>
          </p:nvPr>
        </p:nvSpPr>
        <p:spPr/>
        <p:txBody>
          <a:bodyPr/>
          <a:lstStyle/>
          <a:p>
            <a:fld id="{7982510B-FFC8-4811-9AD4-B53BA0AD0859}" type="slidenum">
              <a:rPr lang="en-GB" smtClean="0"/>
              <a:t>19</a:t>
            </a:fld>
            <a:endParaRPr lang="en-GB"/>
          </a:p>
        </p:txBody>
      </p:sp>
    </p:spTree>
    <p:extLst>
      <p:ext uri="{BB962C8B-B14F-4D97-AF65-F5344CB8AC3E}">
        <p14:creationId xmlns:p14="http://schemas.microsoft.com/office/powerpoint/2010/main" val="5832852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Naglasite kompromis između predvidljivosti i fleksibilnosti.</a:t>
            </a:r>
          </a:p>
          <a:p>
            <a:r>
              <a:rPr lang="hr-HR" dirty="0"/>
              <a:t>Istaknite da </a:t>
            </a:r>
            <a:r>
              <a:rPr lang="hr-HR" dirty="0" err="1"/>
              <a:t>Scrum</a:t>
            </a:r>
            <a:r>
              <a:rPr lang="hr-HR" dirty="0"/>
              <a:t> štiti fokus, dok </a:t>
            </a:r>
            <a:r>
              <a:rPr lang="hr-HR" dirty="0" err="1"/>
              <a:t>Kanban</a:t>
            </a:r>
            <a:r>
              <a:rPr lang="hr-HR" dirty="0"/>
              <a:t> lakše prihvaća promjene.</a:t>
            </a:r>
          </a:p>
          <a:p>
            <a:r>
              <a:rPr lang="hr-HR" dirty="0"/>
              <a:t>Dodatno naglasite da nijedan pristup nije univerzalno „bolji”.</a:t>
            </a:r>
          </a:p>
        </p:txBody>
      </p:sp>
      <p:sp>
        <p:nvSpPr>
          <p:cNvPr id="4" name="Segnaposto numero diapositiva 3"/>
          <p:cNvSpPr>
            <a:spLocks noGrp="1"/>
          </p:cNvSpPr>
          <p:nvPr>
            <p:ph type="sldNum" sz="quarter" idx="5"/>
          </p:nvPr>
        </p:nvSpPr>
        <p:spPr/>
        <p:txBody>
          <a:bodyPr/>
          <a:lstStyle/>
          <a:p>
            <a:fld id="{7982510B-FFC8-4811-9AD4-B53BA0AD0859}" type="slidenum">
              <a:rPr lang="en-GB" smtClean="0"/>
              <a:t>20</a:t>
            </a:fld>
            <a:endParaRPr lang="en-GB"/>
          </a:p>
        </p:txBody>
      </p:sp>
    </p:spTree>
    <p:extLst>
      <p:ext uri="{BB962C8B-B14F-4D97-AF65-F5344CB8AC3E}">
        <p14:creationId xmlns:p14="http://schemas.microsoft.com/office/powerpoint/2010/main" val="12723322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endParaRPr lang="hr-HR" dirty="0"/>
          </a:p>
          <a:p>
            <a:r>
              <a:rPr lang="hr-HR" dirty="0"/>
              <a:t>Naglasite da hitni zadaci trebaju biti vidljivi, a ne skriveni.</a:t>
            </a:r>
          </a:p>
          <a:p>
            <a:r>
              <a:rPr lang="hr-HR" dirty="0"/>
              <a:t>Dodatni resursi</a:t>
            </a:r>
            <a:br>
              <a:rPr lang="hr-HR" dirty="0"/>
            </a:br>
            <a:r>
              <a:rPr lang="hr-HR" dirty="0">
                <a:hlinkClick r:id="rId3"/>
              </a:rPr>
              <a:t>https://businessmap.io/kanban-resources/kanban-software/kanban-swimlanes</a:t>
            </a:r>
            <a:endParaRPr lang="hr-H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21</a:t>
            </a:fld>
            <a:endParaRPr lang="en-GB"/>
          </a:p>
        </p:txBody>
      </p:sp>
    </p:spTree>
    <p:extLst>
      <p:ext uri="{BB962C8B-B14F-4D97-AF65-F5344CB8AC3E}">
        <p14:creationId xmlns:p14="http://schemas.microsoft.com/office/powerpoint/2010/main" val="27212005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Naglasite da </a:t>
            </a:r>
            <a:r>
              <a:rPr lang="hr-HR" dirty="0" err="1"/>
              <a:t>Kanban</a:t>
            </a:r>
            <a:r>
              <a:rPr lang="hr-HR" dirty="0"/>
              <a:t> ima manje unaprijed definiranih uloga.</a:t>
            </a:r>
          </a:p>
          <a:p>
            <a:r>
              <a:rPr lang="hr-HR" dirty="0"/>
              <a:t>Iskoristite to kao pripremu polaznika za kasniji dio o ulogama.</a:t>
            </a:r>
          </a:p>
        </p:txBody>
      </p:sp>
      <p:sp>
        <p:nvSpPr>
          <p:cNvPr id="4" name="Segnaposto numero diapositiva 3"/>
          <p:cNvSpPr>
            <a:spLocks noGrp="1"/>
          </p:cNvSpPr>
          <p:nvPr>
            <p:ph type="sldNum" sz="quarter" idx="5"/>
          </p:nvPr>
        </p:nvSpPr>
        <p:spPr/>
        <p:txBody>
          <a:bodyPr/>
          <a:lstStyle/>
          <a:p>
            <a:fld id="{7982510B-FFC8-4811-9AD4-B53BA0AD0859}" type="slidenum">
              <a:rPr lang="en-GB" smtClean="0"/>
              <a:t>22</a:t>
            </a:fld>
            <a:endParaRPr lang="en-GB"/>
          </a:p>
        </p:txBody>
      </p:sp>
    </p:spTree>
    <p:extLst>
      <p:ext uri="{BB962C8B-B14F-4D97-AF65-F5344CB8AC3E}">
        <p14:creationId xmlns:p14="http://schemas.microsoft.com/office/powerpoint/2010/main" val="1629587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01DDD-38AB-D4C6-9609-DDB7E0B2D81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761546D-11C5-1E4A-A2A3-BBC3A241A29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D342605-F0FE-BA51-2193-9EDFB2D50121}"/>
              </a:ext>
            </a:extLst>
          </p:cNvPr>
          <p:cNvSpPr>
            <a:spLocks noGrp="1"/>
          </p:cNvSpPr>
          <p:nvPr>
            <p:ph type="body" idx="1"/>
          </p:nvPr>
        </p:nvSpPr>
        <p:spPr/>
        <p:txBody>
          <a:bodyPr/>
          <a:lstStyle/>
          <a:p>
            <a:r>
              <a:rPr lang="pl-PL" dirty="0"/>
              <a:t>Bilješke za voditelja radionice</a:t>
            </a:r>
          </a:p>
          <a:p>
            <a:endParaRPr lang="pl-PL" dirty="0"/>
          </a:p>
          <a:p>
            <a:r>
              <a:rPr lang="pl-PL" dirty="0"/>
              <a:t>Dodatni resursi</a:t>
            </a:r>
            <a:br>
              <a:rPr lang="pl-PL" dirty="0"/>
            </a:br>
            <a:r>
              <a:rPr lang="pl-PL" dirty="0">
                <a:hlinkClick r:id="rId3"/>
              </a:rPr>
              <a:t>https://www.nimblework.com/blog/due-dates-in-kanban-systems/</a:t>
            </a:r>
            <a:endParaRPr lang="pl-PL" dirty="0"/>
          </a:p>
        </p:txBody>
      </p:sp>
      <p:sp>
        <p:nvSpPr>
          <p:cNvPr id="4" name="Segnaposto numero diapositiva 3">
            <a:extLst>
              <a:ext uri="{FF2B5EF4-FFF2-40B4-BE49-F238E27FC236}">
                <a16:creationId xmlns:a16="http://schemas.microsoft.com/office/drawing/2014/main" id="{BBFACD1D-86E5-A434-D7AA-4C513F1A0F54}"/>
              </a:ext>
            </a:extLst>
          </p:cNvPr>
          <p:cNvSpPr>
            <a:spLocks noGrp="1"/>
          </p:cNvSpPr>
          <p:nvPr>
            <p:ph type="sldNum" sz="quarter" idx="5"/>
          </p:nvPr>
        </p:nvSpPr>
        <p:spPr/>
        <p:txBody>
          <a:bodyPr/>
          <a:lstStyle/>
          <a:p>
            <a:fld id="{7982510B-FFC8-4811-9AD4-B53BA0AD0859}" type="slidenum">
              <a:rPr lang="en-GB" smtClean="0"/>
              <a:t>23</a:t>
            </a:fld>
            <a:endParaRPr lang="en-GB"/>
          </a:p>
        </p:txBody>
      </p:sp>
    </p:spTree>
    <p:extLst>
      <p:ext uri="{BB962C8B-B14F-4D97-AF65-F5344CB8AC3E}">
        <p14:creationId xmlns:p14="http://schemas.microsoft.com/office/powerpoint/2010/main" val="10688896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110E5-5E63-C449-A29C-4DED167AE31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660F0DE-03AC-57F3-940A-FCDB78B0EC9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3DD5F1F-1443-73A7-8896-66A528E4E515}"/>
              </a:ext>
            </a:extLst>
          </p:cNvPr>
          <p:cNvSpPr>
            <a:spLocks noGrp="1"/>
          </p:cNvSpPr>
          <p:nvPr>
            <p:ph type="body" idx="1"/>
          </p:nvPr>
        </p:nvSpPr>
        <p:spPr/>
        <p:txBody>
          <a:bodyPr/>
          <a:lstStyle/>
          <a:p>
            <a:endParaRPr lang="en-GB" dirty="0"/>
          </a:p>
        </p:txBody>
      </p:sp>
      <p:sp>
        <p:nvSpPr>
          <p:cNvPr id="4" name="Segnaposto numero diapositiva 3">
            <a:extLst>
              <a:ext uri="{FF2B5EF4-FFF2-40B4-BE49-F238E27FC236}">
                <a16:creationId xmlns:a16="http://schemas.microsoft.com/office/drawing/2014/main" id="{EB7A33F4-5AB5-E618-9C09-723342AB8BBF}"/>
              </a:ext>
            </a:extLst>
          </p:cNvPr>
          <p:cNvSpPr>
            <a:spLocks noGrp="1"/>
          </p:cNvSpPr>
          <p:nvPr>
            <p:ph type="sldNum" sz="quarter" idx="5"/>
          </p:nvPr>
        </p:nvSpPr>
        <p:spPr/>
        <p:txBody>
          <a:bodyPr/>
          <a:lstStyle/>
          <a:p>
            <a:fld id="{7982510B-FFC8-4811-9AD4-B53BA0AD0859}" type="slidenum">
              <a:rPr lang="en-GB" smtClean="0"/>
              <a:t>24</a:t>
            </a:fld>
            <a:endParaRPr lang="en-GB"/>
          </a:p>
        </p:txBody>
      </p:sp>
    </p:spTree>
    <p:extLst>
      <p:ext uri="{BB962C8B-B14F-4D97-AF65-F5344CB8AC3E}">
        <p14:creationId xmlns:p14="http://schemas.microsoft.com/office/powerpoint/2010/main" val="11154866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F67FD-B4A4-8546-6A2C-388EE91CE98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12A6B8A-4965-6C8D-E610-30E9A1F78D6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FBCA14F-0287-6847-0D0F-D93C60FB00B7}"/>
              </a:ext>
            </a:extLst>
          </p:cNvPr>
          <p:cNvSpPr>
            <a:spLocks noGrp="1"/>
          </p:cNvSpPr>
          <p:nvPr>
            <p:ph type="body" idx="1"/>
          </p:nvPr>
        </p:nvSpPr>
        <p:spPr/>
        <p:txBody>
          <a:bodyPr/>
          <a:lstStyle/>
          <a:p>
            <a:endParaRPr lang="en-GB" dirty="0"/>
          </a:p>
        </p:txBody>
      </p:sp>
      <p:sp>
        <p:nvSpPr>
          <p:cNvPr id="4" name="Segnaposto numero diapositiva 3">
            <a:extLst>
              <a:ext uri="{FF2B5EF4-FFF2-40B4-BE49-F238E27FC236}">
                <a16:creationId xmlns:a16="http://schemas.microsoft.com/office/drawing/2014/main" id="{E262B7A3-93E5-F25E-7B93-B926F96BF546}"/>
              </a:ext>
            </a:extLst>
          </p:cNvPr>
          <p:cNvSpPr>
            <a:spLocks noGrp="1"/>
          </p:cNvSpPr>
          <p:nvPr>
            <p:ph type="sldNum" sz="quarter" idx="5"/>
          </p:nvPr>
        </p:nvSpPr>
        <p:spPr/>
        <p:txBody>
          <a:bodyPr/>
          <a:lstStyle/>
          <a:p>
            <a:fld id="{7982510B-FFC8-4811-9AD4-B53BA0AD0859}" type="slidenum">
              <a:rPr lang="en-GB" smtClean="0"/>
              <a:t>25</a:t>
            </a:fld>
            <a:endParaRPr lang="en-GB"/>
          </a:p>
        </p:txBody>
      </p:sp>
    </p:spTree>
    <p:extLst>
      <p:ext uri="{BB962C8B-B14F-4D97-AF65-F5344CB8AC3E}">
        <p14:creationId xmlns:p14="http://schemas.microsoft.com/office/powerpoint/2010/main" val="26962389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D96C0-E55F-A2C7-13AD-5C520AD9E95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69D2B17-A944-783C-BA6A-DBFEA12D849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FF9011D-F90F-39DD-EBB5-1C12F8CD91A1}"/>
              </a:ext>
            </a:extLst>
          </p:cNvPr>
          <p:cNvSpPr>
            <a:spLocks noGrp="1"/>
          </p:cNvSpPr>
          <p:nvPr>
            <p:ph type="body" idx="1"/>
          </p:nvPr>
        </p:nvSpPr>
        <p:spPr/>
        <p:txBody>
          <a:bodyPr/>
          <a:lstStyle/>
          <a:p>
            <a:endParaRPr lang="en-GB" dirty="0"/>
          </a:p>
        </p:txBody>
      </p:sp>
      <p:sp>
        <p:nvSpPr>
          <p:cNvPr id="4" name="Segnaposto numero diapositiva 3">
            <a:extLst>
              <a:ext uri="{FF2B5EF4-FFF2-40B4-BE49-F238E27FC236}">
                <a16:creationId xmlns:a16="http://schemas.microsoft.com/office/drawing/2014/main" id="{3D5ED108-6BB1-1EBC-7BE0-B1D72E75E95A}"/>
              </a:ext>
            </a:extLst>
          </p:cNvPr>
          <p:cNvSpPr>
            <a:spLocks noGrp="1"/>
          </p:cNvSpPr>
          <p:nvPr>
            <p:ph type="sldNum" sz="quarter" idx="5"/>
          </p:nvPr>
        </p:nvSpPr>
        <p:spPr/>
        <p:txBody>
          <a:bodyPr/>
          <a:lstStyle/>
          <a:p>
            <a:fld id="{7982510B-FFC8-4811-9AD4-B53BA0AD0859}" type="slidenum">
              <a:rPr lang="en-GB" smtClean="0"/>
              <a:t>26</a:t>
            </a:fld>
            <a:endParaRPr lang="en-GB"/>
          </a:p>
        </p:txBody>
      </p:sp>
    </p:spTree>
    <p:extLst>
      <p:ext uri="{BB962C8B-B14F-4D97-AF65-F5344CB8AC3E}">
        <p14:creationId xmlns:p14="http://schemas.microsoft.com/office/powerpoint/2010/main" val="41569809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Pokažite da se </a:t>
            </a:r>
            <a:r>
              <a:rPr lang="hr-HR" dirty="0" err="1"/>
              <a:t>Agile</a:t>
            </a:r>
            <a:r>
              <a:rPr lang="hr-HR" dirty="0"/>
              <a:t> primjenjuje i izvan razvoja softvera te da može pomoći u unaprjeđenju poslovnih procesa.</a:t>
            </a:r>
          </a:p>
          <a:p>
            <a:r>
              <a:rPr lang="hr-HR" dirty="0"/>
              <a:t>Objasnite kategorije procesa (operativni, procesi podrške, kontrolni) i zatražite od polaznika primjere iz njihovih konteksta.</a:t>
            </a:r>
          </a:p>
          <a:p>
            <a:r>
              <a:rPr lang="hr-HR" dirty="0"/>
              <a:t>Dodatni resursi</a:t>
            </a:r>
            <a:br>
              <a:rPr lang="hr-HR" dirty="0"/>
            </a:br>
            <a:r>
              <a:rPr lang="hr-HR" dirty="0">
                <a:hlinkClick r:id="rId3"/>
              </a:rPr>
              <a:t>https://www.globalstd.com/en/blog/how-to-determine-the-processes-in-your-organization-blog/</a:t>
            </a:r>
            <a:endParaRPr lang="hr-H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28</a:t>
            </a:fld>
            <a:endParaRPr lang="en-GB"/>
          </a:p>
        </p:txBody>
      </p:sp>
    </p:spTree>
    <p:extLst>
      <p:ext uri="{BB962C8B-B14F-4D97-AF65-F5344CB8AC3E}">
        <p14:creationId xmlns:p14="http://schemas.microsoft.com/office/powerpoint/2010/main" val="29862066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pl-PL" dirty="0"/>
              <a:t>Bilješke za voditelja radionice</a:t>
            </a:r>
          </a:p>
          <a:p>
            <a:r>
              <a:rPr lang="pl-PL" dirty="0"/>
              <a:t>Dodatni resursi</a:t>
            </a:r>
            <a:br>
              <a:rPr lang="pl-PL" dirty="0"/>
            </a:br>
            <a:r>
              <a:rPr lang="pl-PL" dirty="0">
                <a:hlinkClick r:id="rId3"/>
              </a:rPr>
              <a:t>https://scribe.com/library/what-are-operational-processes</a:t>
            </a:r>
            <a:br>
              <a:rPr lang="pl-PL" dirty="0"/>
            </a:br>
            <a:r>
              <a:rPr lang="pl-PL" dirty="0">
                <a:hlinkClick r:id="rId4"/>
              </a:rPr>
              <a:t>https://www.symestic.com/en-us/what-is/operational-processes</a:t>
            </a:r>
            <a:endParaRPr lang="pl-PL"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29</a:t>
            </a:fld>
            <a:endParaRPr lang="en-GB"/>
          </a:p>
        </p:txBody>
      </p:sp>
    </p:spTree>
    <p:extLst>
      <p:ext uri="{BB962C8B-B14F-4D97-AF65-F5344CB8AC3E}">
        <p14:creationId xmlns:p14="http://schemas.microsoft.com/office/powerpoint/2010/main" val="9281391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pl-PL" dirty="0"/>
              <a:t>Bilješke za voditelja radionice</a:t>
            </a:r>
          </a:p>
          <a:p>
            <a:r>
              <a:rPr lang="pl-PL" dirty="0"/>
              <a:t>Dodatni resursi</a:t>
            </a:r>
            <a:br>
              <a:rPr lang="pl-PL" dirty="0"/>
            </a:br>
            <a:r>
              <a:rPr lang="pl-PL" dirty="0">
                <a:hlinkClick r:id="rId3"/>
              </a:rPr>
              <a:t>https://aptien.com/en/kb/articles/what-are-support-processes</a:t>
            </a:r>
            <a:endParaRPr lang="pl-PL"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30</a:t>
            </a:fld>
            <a:endParaRPr lang="en-GB"/>
          </a:p>
        </p:txBody>
      </p:sp>
    </p:spTree>
    <p:extLst>
      <p:ext uri="{BB962C8B-B14F-4D97-AF65-F5344CB8AC3E}">
        <p14:creationId xmlns:p14="http://schemas.microsoft.com/office/powerpoint/2010/main" val="34360876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pl-PL" dirty="0"/>
              <a:t>Bilješke za voditelja radionice</a:t>
            </a:r>
          </a:p>
          <a:p>
            <a:r>
              <a:rPr lang="pl-PL" dirty="0"/>
              <a:t>Dodatni resursi</a:t>
            </a:r>
            <a:br>
              <a:rPr lang="pl-PL" dirty="0"/>
            </a:br>
            <a:r>
              <a:rPr lang="pl-PL" dirty="0">
                <a:hlinkClick r:id="rId3"/>
              </a:rPr>
              <a:t>https://courses.lumenlearning.com/wm-principlesofmanagement/chapter/the-control-process/</a:t>
            </a:r>
            <a:endParaRPr lang="pl-PL" dirty="0"/>
          </a:p>
          <a:p>
            <a:pPr marL="171450" indent="-171450">
              <a:buFont typeface="Arial" panose="020B0604020202020204" pitchFamily="34" charset="0"/>
              <a:buChar char="•"/>
            </a:pPr>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31</a:t>
            </a:fld>
            <a:endParaRPr lang="en-GB"/>
          </a:p>
        </p:txBody>
      </p:sp>
    </p:spTree>
    <p:extLst>
      <p:ext uri="{BB962C8B-B14F-4D97-AF65-F5344CB8AC3E}">
        <p14:creationId xmlns:p14="http://schemas.microsoft.com/office/powerpoint/2010/main" val="23390386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Dajte konkretne primjere kako biste razbili zabludu da je </a:t>
            </a:r>
            <a:r>
              <a:rPr lang="hr-HR" dirty="0" err="1"/>
              <a:t>Agile</a:t>
            </a:r>
            <a:r>
              <a:rPr lang="hr-HR" dirty="0"/>
              <a:t> namijenjen samo developerima.</a:t>
            </a:r>
          </a:p>
          <a:p>
            <a:r>
              <a:rPr lang="hr-HR" dirty="0"/>
              <a:t>Odaberite 2–3 primjera i ukratko objasnite kako bi ploča pomogla (vidljivost, prioriteti, blokatori, povratne informacije).</a:t>
            </a:r>
          </a:p>
          <a:p>
            <a:r>
              <a:rPr lang="hr-HR" dirty="0"/>
              <a:t>Pitajte polaznike na kojem bi procesu prvo pokušali primijeniti </a:t>
            </a:r>
            <a:r>
              <a:rPr lang="hr-HR" dirty="0" err="1"/>
              <a:t>Agile</a:t>
            </a:r>
            <a:r>
              <a:rPr lang="hr-HR" dirty="0"/>
              <a:t>.</a:t>
            </a:r>
          </a:p>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32</a:t>
            </a:fld>
            <a:endParaRPr lang="en-GB"/>
          </a:p>
        </p:txBody>
      </p:sp>
    </p:spTree>
    <p:extLst>
      <p:ext uri="{BB962C8B-B14F-4D97-AF65-F5344CB8AC3E}">
        <p14:creationId xmlns:p14="http://schemas.microsoft.com/office/powerpoint/2010/main" val="34566823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endParaRPr lang="hr-HR" dirty="0"/>
          </a:p>
          <a:p>
            <a:r>
              <a:rPr lang="hr-HR" dirty="0"/>
              <a:t>Predstavite uloge kao jasno definirane granice odgovornosti koje smanjuju nejasnoće.</a:t>
            </a:r>
          </a:p>
          <a:p>
            <a:r>
              <a:rPr lang="hr-HR" dirty="0"/>
              <a:t>Naglasite da uloge nisu nužno isto što i nazivi radnih mjesta; one opisuju odgovornosti. U malim timovima jedna osoba može pokrivati više uloga.</a:t>
            </a:r>
          </a:p>
          <a:p>
            <a:r>
              <a:rPr lang="hr-HR" dirty="0"/>
              <a:t>Dodatni resursi</a:t>
            </a:r>
            <a:br>
              <a:rPr lang="hr-HR" dirty="0"/>
            </a:br>
            <a:r>
              <a:rPr lang="hr-HR" dirty="0">
                <a:hlinkClick r:id="rId3"/>
              </a:rPr>
              <a:t>https://www.agilealliance.org/wp-content/uploads/2016/01/The-Dynamic-Duo-PO-and-SM-Partnership-Agile-2012-bkadkins-ricksmith.pdf</a:t>
            </a:r>
            <a:br>
              <a:rPr lang="hr-HR" dirty="0"/>
            </a:br>
            <a:r>
              <a:rPr lang="hr-HR" dirty="0">
                <a:hlinkClick r:id="rId4"/>
              </a:rPr>
              <a:t>https://www.exin.com/article/agile-scrum-roles-3-roles-that-make-or-break-scrum/</a:t>
            </a:r>
            <a:br>
              <a:rPr lang="hr-HR" dirty="0"/>
            </a:br>
            <a:r>
              <a:rPr lang="hr-HR" dirty="0">
                <a:hlinkClick r:id="rId5"/>
              </a:rPr>
              <a:t>https://miro.com/blog/agile-roles/</a:t>
            </a:r>
            <a:endParaRPr lang="hr-HR" dirty="0"/>
          </a:p>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34</a:t>
            </a:fld>
            <a:endParaRPr lang="en-GB"/>
          </a:p>
        </p:txBody>
      </p:sp>
    </p:spTree>
    <p:extLst>
      <p:ext uri="{BB962C8B-B14F-4D97-AF65-F5344CB8AC3E}">
        <p14:creationId xmlns:p14="http://schemas.microsoft.com/office/powerpoint/2010/main" val="4720441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Pojasnite odgovornost </a:t>
            </a:r>
            <a:r>
              <a:rPr lang="hr-HR" dirty="0" err="1"/>
              <a:t>Product</a:t>
            </a:r>
            <a:r>
              <a:rPr lang="hr-HR" dirty="0"/>
              <a:t> </a:t>
            </a:r>
            <a:r>
              <a:rPr lang="hr-HR" dirty="0" err="1"/>
              <a:t>Ownera</a:t>
            </a:r>
            <a:r>
              <a:rPr lang="hr-HR" dirty="0"/>
              <a:t>: maksimiziranje vrijednosti i određivanje redoslijeda rada.</a:t>
            </a:r>
          </a:p>
          <a:p>
            <a:r>
              <a:rPr lang="hr-HR" dirty="0"/>
              <a:t>Naglasite prava odlučivanja: određuje prioritete, pojašnjava zahtjeve i prihvaća rad na temelju vrijednosti.</a:t>
            </a:r>
          </a:p>
          <a:p>
            <a:r>
              <a:rPr lang="hr-HR" dirty="0" err="1"/>
              <a:t>Product</a:t>
            </a:r>
            <a:r>
              <a:rPr lang="hr-HR" dirty="0"/>
              <a:t> </a:t>
            </a:r>
            <a:r>
              <a:rPr lang="hr-HR" dirty="0" err="1"/>
              <a:t>Owner</a:t>
            </a:r>
            <a:r>
              <a:rPr lang="hr-HR" dirty="0"/>
              <a:t> odlučuje o tome „što” i „zašto”, a tim odlučuje „kako”.</a:t>
            </a:r>
          </a:p>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35</a:t>
            </a:fld>
            <a:endParaRPr lang="en-GB"/>
          </a:p>
        </p:txBody>
      </p:sp>
    </p:spTree>
    <p:extLst>
      <p:ext uri="{BB962C8B-B14F-4D97-AF65-F5344CB8AC3E}">
        <p14:creationId xmlns:p14="http://schemas.microsoft.com/office/powerpoint/2010/main" val="17052742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Objasnite </a:t>
            </a:r>
            <a:r>
              <a:rPr lang="hr-HR" dirty="0" err="1"/>
              <a:t>Scrum</a:t>
            </a:r>
            <a:r>
              <a:rPr lang="hr-HR" dirty="0"/>
              <a:t> Mastera kao </a:t>
            </a:r>
            <a:r>
              <a:rPr lang="hr-HR" dirty="0" err="1"/>
              <a:t>fasilitatora</a:t>
            </a:r>
            <a:r>
              <a:rPr lang="hr-HR" dirty="0"/>
              <a:t> i </a:t>
            </a:r>
            <a:r>
              <a:rPr lang="hr-HR" dirty="0" err="1"/>
              <a:t>coacha</a:t>
            </a:r>
            <a:r>
              <a:rPr lang="hr-HR" dirty="0"/>
              <a:t> koji pomaže timu da napreduje i uklanja prepreke.</a:t>
            </a:r>
          </a:p>
          <a:p>
            <a:r>
              <a:rPr lang="hr-HR" dirty="0"/>
              <a:t>Naglasite služenje timu i </a:t>
            </a:r>
            <a:r>
              <a:rPr lang="hr-HR" dirty="0" err="1"/>
              <a:t>podržavajuće</a:t>
            </a:r>
            <a:r>
              <a:rPr lang="hr-HR" dirty="0"/>
              <a:t> vodstvo (nije riječ o ulozi šefa). Spomenite i </a:t>
            </a:r>
            <a:r>
              <a:rPr lang="hr-HR" dirty="0" err="1"/>
              <a:t>coachanje</a:t>
            </a:r>
            <a:r>
              <a:rPr lang="hr-HR" dirty="0"/>
              <a:t> dionika te zaštitu procesa.</a:t>
            </a:r>
          </a:p>
          <a:p>
            <a:r>
              <a:rPr lang="hr-HR" dirty="0"/>
              <a:t>Možete upotrijebiti metaforu „čuvara procesa”.</a:t>
            </a:r>
          </a:p>
        </p:txBody>
      </p:sp>
      <p:sp>
        <p:nvSpPr>
          <p:cNvPr id="4" name="Segnaposto numero diapositiva 3"/>
          <p:cNvSpPr>
            <a:spLocks noGrp="1"/>
          </p:cNvSpPr>
          <p:nvPr>
            <p:ph type="sldNum" sz="quarter" idx="5"/>
          </p:nvPr>
        </p:nvSpPr>
        <p:spPr/>
        <p:txBody>
          <a:bodyPr/>
          <a:lstStyle/>
          <a:p>
            <a:fld id="{7982510B-FFC8-4811-9AD4-B53BA0AD0859}" type="slidenum">
              <a:rPr lang="en-GB" smtClean="0"/>
              <a:t>36</a:t>
            </a:fld>
            <a:endParaRPr lang="en-GB"/>
          </a:p>
        </p:txBody>
      </p:sp>
    </p:spTree>
    <p:extLst>
      <p:ext uri="{BB962C8B-B14F-4D97-AF65-F5344CB8AC3E}">
        <p14:creationId xmlns:p14="http://schemas.microsoft.com/office/powerpoint/2010/main" val="2802508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Opišite tim kao pokretač isporuke — </a:t>
            </a:r>
            <a:r>
              <a:rPr lang="hr-HR" dirty="0" err="1"/>
              <a:t>međufunkcionalan</a:t>
            </a:r>
            <a:r>
              <a:rPr lang="hr-HR" dirty="0"/>
              <a:t> i samoupravljiv.</a:t>
            </a:r>
          </a:p>
          <a:p>
            <a:r>
              <a:rPr lang="hr-HR" dirty="0"/>
              <a:t>Naglasite zajedničko vlasništvo nad ishodima, a ne individualne “silose” zadataka. Odgovornost za rezultate je kolektivna.</a:t>
            </a:r>
          </a:p>
          <a:p>
            <a:r>
              <a:rPr lang="hr-HR" dirty="0"/>
              <a:t>Pitajte polaznike: „Koje biste vještine trebali imati da isporučite rezultat od početka do kraja bez vanjskih ovisnosti?”</a:t>
            </a:r>
          </a:p>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37</a:t>
            </a:fld>
            <a:endParaRPr lang="en-GB"/>
          </a:p>
        </p:txBody>
      </p:sp>
    </p:spTree>
    <p:extLst>
      <p:ext uri="{BB962C8B-B14F-4D97-AF65-F5344CB8AC3E}">
        <p14:creationId xmlns:p14="http://schemas.microsoft.com/office/powerpoint/2010/main" val="383907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pl-PL" dirty="0"/>
              <a:t>Bilješke za voditelja radionice</a:t>
            </a:r>
          </a:p>
          <a:p>
            <a:r>
              <a:rPr lang="pl-PL" dirty="0"/>
              <a:t>Dodatni resursi</a:t>
            </a:r>
            <a:br>
              <a:rPr lang="pl-PL" dirty="0"/>
            </a:br>
            <a:r>
              <a:rPr lang="pl-PL" dirty="0">
                <a:hlinkClick r:id="rId3"/>
              </a:rPr>
              <a:t>https://dcmlearning.ie/product-owner-resources/the-key-differences-between-a-scrum-master-and-product-owner.html</a:t>
            </a:r>
            <a:endParaRPr lang="pl-PL"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38</a:t>
            </a:fld>
            <a:endParaRPr lang="en-GB"/>
          </a:p>
        </p:txBody>
      </p:sp>
    </p:spTree>
    <p:extLst>
      <p:ext uri="{BB962C8B-B14F-4D97-AF65-F5344CB8AC3E}">
        <p14:creationId xmlns:p14="http://schemas.microsoft.com/office/powerpoint/2010/main" val="33130124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lang="en-GB" u="sng" dirty="0"/>
              <a:t>Additional resources</a:t>
            </a:r>
          </a:p>
          <a:p>
            <a:pPr marL="171450" indent="-171450">
              <a:buFont typeface="Arial" panose="020B0604020202020204" pitchFamily="34" charset="0"/>
              <a:buChar char="•"/>
            </a:pPr>
            <a:r>
              <a:rPr lang="en-GB" dirty="0"/>
              <a:t>https://apmg-international.com/job-role/product-owner</a:t>
            </a:r>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39</a:t>
            </a:fld>
            <a:endParaRPr lang="en-GB"/>
          </a:p>
        </p:txBody>
      </p:sp>
    </p:spTree>
    <p:extLst>
      <p:ext uri="{BB962C8B-B14F-4D97-AF65-F5344CB8AC3E}">
        <p14:creationId xmlns:p14="http://schemas.microsoft.com/office/powerpoint/2010/main" val="37703340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it-IT" b="1" i="1" dirty="0"/>
              <a:t>Facilitator notes</a:t>
            </a:r>
          </a:p>
          <a:p>
            <a:endParaRPr lang="it-IT" dirty="0"/>
          </a:p>
          <a:p>
            <a:r>
              <a:rPr dirty="0"/>
              <a:t>Explain Scrum Master as facilitator/coach who helps the team improve and removes impediments.</a:t>
            </a:r>
          </a:p>
          <a:p>
            <a:endParaRPr lang="it-IT"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https://apmg-international.com/it/job-role/scrum-master</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Predstavite </a:t>
            </a:r>
            <a:r>
              <a:rPr lang="hr-HR" dirty="0" err="1"/>
              <a:t>Scrum</a:t>
            </a:r>
            <a:r>
              <a:rPr lang="hr-HR" dirty="0"/>
              <a:t> događaje kao rutine koje stvaraju transparentnost, usklađenost i kontinuirano unapređenje.</a:t>
            </a:r>
          </a:p>
          <a:p>
            <a:r>
              <a:rPr lang="hr-HR" dirty="0"/>
              <a:t>Osvrnite se na čestu primjedbu o „previše sastanaka”: cilj je smanjiti ponovno obavljanje posla i neusklađenost. Svaki događaj ima jasan cilj i vremensko ograničenje.</a:t>
            </a:r>
          </a:p>
          <a:p>
            <a:r>
              <a:rPr lang="hr-HR" dirty="0"/>
              <a:t>Objasnite ceremonije kao mehanizme koordinacije. Naglasite važnost redovitosti i predvidljivosti.</a:t>
            </a:r>
          </a:p>
          <a:p>
            <a:r>
              <a:rPr lang="hr-HR" dirty="0"/>
              <a:t>Dodatni resursi</a:t>
            </a:r>
            <a:br>
              <a:rPr lang="hr-HR" dirty="0"/>
            </a:br>
            <a:r>
              <a:rPr lang="hr-HR" dirty="0">
                <a:hlinkClick r:id="rId3"/>
              </a:rPr>
              <a:t>https://www.atlassian.com/agile/scrum/ceremonies</a:t>
            </a:r>
            <a:endParaRPr lang="hr-H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41</a:t>
            </a:fld>
            <a:endParaRPr lang="en-GB"/>
          </a:p>
        </p:txBody>
      </p:sp>
    </p:spTree>
    <p:extLst>
      <p:ext uri="{BB962C8B-B14F-4D97-AF65-F5344CB8AC3E}">
        <p14:creationId xmlns:p14="http://schemas.microsoft.com/office/powerpoint/2010/main" val="32625510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Objasnite planiranje sprinta kao dogovor o tome „što” treba postići i „kako” će se tome pristupiti.</a:t>
            </a:r>
          </a:p>
          <a:p>
            <a:r>
              <a:rPr lang="hr-HR" dirty="0"/>
              <a:t>Prođite kroz slijed: prioriteti → pitanja → razrada zadataka → obveza → cilj sprinta + sprint </a:t>
            </a:r>
            <a:r>
              <a:rPr lang="hr-HR" dirty="0" err="1"/>
              <a:t>backlog</a:t>
            </a:r>
            <a:r>
              <a:rPr lang="hr-HR" dirty="0"/>
              <a:t>.</a:t>
            </a:r>
          </a:p>
          <a:p>
            <a:r>
              <a:rPr lang="hr-HR" dirty="0"/>
              <a:t>Obvezu preuzima tim, a ne nameće je </a:t>
            </a:r>
            <a:r>
              <a:rPr lang="hr-HR" dirty="0" err="1"/>
              <a:t>Product</a:t>
            </a:r>
            <a:r>
              <a:rPr lang="hr-HR" dirty="0"/>
              <a:t> </a:t>
            </a:r>
            <a:r>
              <a:rPr lang="hr-HR" dirty="0" err="1"/>
              <a:t>Owner</a:t>
            </a:r>
            <a:r>
              <a:rPr lang="hr-HR" dirty="0"/>
              <a:t>.</a:t>
            </a:r>
          </a:p>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42</a:t>
            </a:fld>
            <a:endParaRPr lang="en-GB"/>
          </a:p>
        </p:txBody>
      </p:sp>
    </p:spTree>
    <p:extLst>
      <p:ext uri="{BB962C8B-B14F-4D97-AF65-F5344CB8AC3E}">
        <p14:creationId xmlns:p14="http://schemas.microsoft.com/office/powerpoint/2010/main" val="19758117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endParaRPr lang="hr-HR" dirty="0"/>
          </a:p>
          <a:p>
            <a:r>
              <a:rPr lang="hr-HR" dirty="0"/>
              <a:t>Prikažite dnevni </a:t>
            </a:r>
            <a:r>
              <a:rPr lang="hr-HR" dirty="0" err="1"/>
              <a:t>stand-up</a:t>
            </a:r>
            <a:r>
              <a:rPr lang="hr-HR" dirty="0"/>
              <a:t> kao kratku koordinaciju koja pomaže da se rad nastavi kretati i da se uoče prepreke.</a:t>
            </a:r>
          </a:p>
          <a:p>
            <a:r>
              <a:rPr lang="hr-HR" dirty="0"/>
              <a:t>Naglasite: 15 minuta, koordinacija, a ne rješavanje problema; detaljnije rasprave odvijaju se nakon sastanka s relevantnim osobama.</a:t>
            </a:r>
          </a:p>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43</a:t>
            </a:fld>
            <a:endParaRPr lang="en-GB"/>
          </a:p>
        </p:txBody>
      </p:sp>
    </p:spTree>
    <p:extLst>
      <p:ext uri="{BB962C8B-B14F-4D97-AF65-F5344CB8AC3E}">
        <p14:creationId xmlns:p14="http://schemas.microsoft.com/office/powerpoint/2010/main" val="39941873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pl-PL" dirty="0"/>
              <a:t>Bilješke za voditelja radionice</a:t>
            </a:r>
          </a:p>
          <a:p>
            <a:r>
              <a:rPr lang="pl-PL" dirty="0"/>
              <a:t>Dodatni resursi</a:t>
            </a:r>
            <a:br>
              <a:rPr lang="pl-PL" dirty="0"/>
            </a:br>
            <a:r>
              <a:rPr lang="pl-PL" dirty="0">
                <a:hlinkClick r:id="rId3"/>
              </a:rPr>
              <a:t>https://www.atlassian.com/team-playbook/plays/retrospective</a:t>
            </a:r>
            <a:endParaRPr lang="pl-PL"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44</a:t>
            </a:fld>
            <a:endParaRPr lang="en-GB"/>
          </a:p>
        </p:txBody>
      </p:sp>
    </p:spTree>
    <p:extLst>
      <p:ext uri="{BB962C8B-B14F-4D97-AF65-F5344CB8AC3E}">
        <p14:creationId xmlns:p14="http://schemas.microsoft.com/office/powerpoint/2010/main" val="12086312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E8B72-5FF3-FF93-9193-A6E804351E0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051B43C-3494-A630-85B9-057CF5502BB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5CB2320-CDE9-C16E-7A08-6A3A068EE1E7}"/>
              </a:ext>
            </a:extLst>
          </p:cNvPr>
          <p:cNvSpPr>
            <a:spLocks noGrp="1"/>
          </p:cNvSpPr>
          <p:nvPr>
            <p:ph type="body" idx="1"/>
          </p:nvPr>
        </p:nvSpPr>
        <p:spPr/>
        <p:txBody>
          <a:bodyPr/>
          <a:lstStyle/>
          <a:p>
            <a:r>
              <a:rPr lang="hr-HR" dirty="0"/>
              <a:t>Bilješke za voditelja radionice</a:t>
            </a:r>
          </a:p>
          <a:p>
            <a:r>
              <a:rPr lang="hr-HR" dirty="0"/>
              <a:t>Postavite scenarij prije rasprave o odabiru procesa.</a:t>
            </a:r>
          </a:p>
          <a:p>
            <a:r>
              <a:rPr lang="hr-HR" dirty="0"/>
              <a:t>Sažmite glavne probleme: nepredvidivo radno opterećenje, često prebacivanje između zadataka, rizik od ljudske pogreške i varijabilnost ulaznih podataka.</a:t>
            </a:r>
          </a:p>
          <a:p>
            <a:r>
              <a:rPr lang="hr-HR" dirty="0"/>
              <a:t>Pitajte polaznike: „Koji dijelovi ovog primjera upućuju na </a:t>
            </a:r>
            <a:r>
              <a:rPr lang="hr-HR" dirty="0" err="1"/>
              <a:t>Kanban</a:t>
            </a:r>
            <a:r>
              <a:rPr lang="hr-HR" dirty="0"/>
              <a:t>, a koji na </a:t>
            </a:r>
            <a:r>
              <a:rPr lang="hr-HR" dirty="0" err="1"/>
              <a:t>Scrum</a:t>
            </a:r>
            <a:r>
              <a:rPr lang="hr-HR" dirty="0"/>
              <a:t>?”</a:t>
            </a:r>
          </a:p>
          <a:p>
            <a:endParaRPr dirty="0"/>
          </a:p>
        </p:txBody>
      </p:sp>
      <p:sp>
        <p:nvSpPr>
          <p:cNvPr id="4" name="Segnaposto numero diapositiva 3">
            <a:extLst>
              <a:ext uri="{FF2B5EF4-FFF2-40B4-BE49-F238E27FC236}">
                <a16:creationId xmlns:a16="http://schemas.microsoft.com/office/drawing/2014/main" id="{D3764831-D841-F112-2416-169B703460ED}"/>
              </a:ext>
            </a:extLst>
          </p:cNvPr>
          <p:cNvSpPr>
            <a:spLocks noGrp="1"/>
          </p:cNvSpPr>
          <p:nvPr>
            <p:ph type="sldNum" sz="quarter" idx="5"/>
          </p:nvPr>
        </p:nvSpPr>
        <p:spPr/>
        <p:txBody>
          <a:bodyPr/>
          <a:lstStyle/>
          <a:p>
            <a:fld id="{7982510B-FFC8-4811-9AD4-B53BA0AD0859}" type="slidenum">
              <a:rPr lang="en-GB" smtClean="0"/>
              <a:t>45</a:t>
            </a:fld>
            <a:endParaRPr lang="en-GB"/>
          </a:p>
        </p:txBody>
      </p:sp>
    </p:spTree>
    <p:extLst>
      <p:ext uri="{BB962C8B-B14F-4D97-AF65-F5344CB8AC3E}">
        <p14:creationId xmlns:p14="http://schemas.microsoft.com/office/powerpoint/2010/main" val="7429446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87780-34EE-928D-E200-6A96A12DF7B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9F0D4C1-8EEC-8F54-14F6-4249E14B205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6215742-C870-BA42-54F5-2065852DA22E}"/>
              </a:ext>
            </a:extLst>
          </p:cNvPr>
          <p:cNvSpPr>
            <a:spLocks noGrp="1"/>
          </p:cNvSpPr>
          <p:nvPr>
            <p:ph type="body" idx="1"/>
          </p:nvPr>
        </p:nvSpPr>
        <p:spPr/>
        <p:txBody>
          <a:bodyPr/>
          <a:lstStyle/>
          <a:p>
            <a:r>
              <a:rPr lang="hr-HR" dirty="0"/>
              <a:t>Bilješke za voditelja radionice</a:t>
            </a:r>
          </a:p>
          <a:p>
            <a:r>
              <a:rPr lang="hr-HR" dirty="0"/>
              <a:t>Pokažite kako je rješenje nastajalo korak po korak, a ne odjednom.</a:t>
            </a:r>
          </a:p>
        </p:txBody>
      </p:sp>
      <p:sp>
        <p:nvSpPr>
          <p:cNvPr id="4" name="Segnaposto numero diapositiva 3">
            <a:extLst>
              <a:ext uri="{FF2B5EF4-FFF2-40B4-BE49-F238E27FC236}">
                <a16:creationId xmlns:a16="http://schemas.microsoft.com/office/drawing/2014/main" id="{A7070AE8-9C78-1EE5-0F9C-E01F0DFC68E6}"/>
              </a:ext>
            </a:extLst>
          </p:cNvPr>
          <p:cNvSpPr>
            <a:spLocks noGrp="1"/>
          </p:cNvSpPr>
          <p:nvPr>
            <p:ph type="sldNum" sz="quarter" idx="5"/>
          </p:nvPr>
        </p:nvSpPr>
        <p:spPr/>
        <p:txBody>
          <a:bodyPr/>
          <a:lstStyle/>
          <a:p>
            <a:fld id="{7982510B-FFC8-4811-9AD4-B53BA0AD0859}" type="slidenum">
              <a:rPr lang="en-GB" smtClean="0"/>
              <a:t>46</a:t>
            </a:fld>
            <a:endParaRPr lang="en-GB"/>
          </a:p>
        </p:txBody>
      </p:sp>
    </p:spTree>
    <p:extLst>
      <p:ext uri="{BB962C8B-B14F-4D97-AF65-F5344CB8AC3E}">
        <p14:creationId xmlns:p14="http://schemas.microsoft.com/office/powerpoint/2010/main" val="14457652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FA4B6-BF83-0E9C-0B9F-99A7E6F9B4A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498BCFE-299F-49B1-108B-97D1660D884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7ED30C6-FBF8-DF5F-72CA-3DC4368BAE5B}"/>
              </a:ext>
            </a:extLst>
          </p:cNvPr>
          <p:cNvSpPr>
            <a:spLocks noGrp="1"/>
          </p:cNvSpPr>
          <p:nvPr>
            <p:ph type="body" idx="1"/>
          </p:nvPr>
        </p:nvSpPr>
        <p:spPr/>
        <p:txBody>
          <a:bodyPr/>
          <a:lstStyle/>
          <a:p>
            <a:r>
              <a:rPr lang="hr-HR" dirty="0"/>
              <a:t>Bilješke za voditelja radionice</a:t>
            </a:r>
          </a:p>
          <a:p>
            <a:r>
              <a:rPr lang="hr-HR" dirty="0"/>
              <a:t>Pitajte polaznike:</a:t>
            </a:r>
            <a:br>
              <a:rPr lang="hr-HR" dirty="0"/>
            </a:br>
            <a:r>
              <a:rPr lang="hr-HR" dirty="0"/>
              <a:t>Zašto je uključivanje korisnika bilo ključno u ovom slučaju?</a:t>
            </a:r>
            <a:br>
              <a:rPr lang="hr-HR" dirty="0"/>
            </a:br>
            <a:r>
              <a:rPr lang="hr-HR" dirty="0"/>
              <a:t>Koji bi rizici postojali bez zajednički definiranog formata?</a:t>
            </a:r>
          </a:p>
        </p:txBody>
      </p:sp>
      <p:sp>
        <p:nvSpPr>
          <p:cNvPr id="4" name="Segnaposto numero diapositiva 3">
            <a:extLst>
              <a:ext uri="{FF2B5EF4-FFF2-40B4-BE49-F238E27FC236}">
                <a16:creationId xmlns:a16="http://schemas.microsoft.com/office/drawing/2014/main" id="{5EC9A7F4-563A-D1F4-F0F1-9379632E75D0}"/>
              </a:ext>
            </a:extLst>
          </p:cNvPr>
          <p:cNvSpPr>
            <a:spLocks noGrp="1"/>
          </p:cNvSpPr>
          <p:nvPr>
            <p:ph type="sldNum" sz="quarter" idx="5"/>
          </p:nvPr>
        </p:nvSpPr>
        <p:spPr/>
        <p:txBody>
          <a:bodyPr/>
          <a:lstStyle/>
          <a:p>
            <a:fld id="{7982510B-FFC8-4811-9AD4-B53BA0AD0859}" type="slidenum">
              <a:rPr lang="en-GB" smtClean="0"/>
              <a:t>47</a:t>
            </a:fld>
            <a:endParaRPr lang="en-GB"/>
          </a:p>
        </p:txBody>
      </p:sp>
    </p:spTree>
    <p:extLst>
      <p:ext uri="{BB962C8B-B14F-4D97-AF65-F5344CB8AC3E}">
        <p14:creationId xmlns:p14="http://schemas.microsoft.com/office/powerpoint/2010/main" val="24608630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1EE28-E5CA-4C11-D62C-D45E0984422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4B53BB7-3C63-FA12-3AC2-959C3CE6C46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A5D8AF6A-2B2D-878A-EBD1-92BCA39C1B9E}"/>
              </a:ext>
            </a:extLst>
          </p:cNvPr>
          <p:cNvSpPr>
            <a:spLocks noGrp="1"/>
          </p:cNvSpPr>
          <p:nvPr>
            <p:ph type="body" idx="1"/>
          </p:nvPr>
        </p:nvSpPr>
        <p:spPr/>
        <p:txBody>
          <a:bodyPr/>
          <a:lstStyle/>
          <a:p>
            <a:endParaRPr dirty="0"/>
          </a:p>
        </p:txBody>
      </p:sp>
      <p:sp>
        <p:nvSpPr>
          <p:cNvPr id="4" name="Segnaposto numero diapositiva 3">
            <a:extLst>
              <a:ext uri="{FF2B5EF4-FFF2-40B4-BE49-F238E27FC236}">
                <a16:creationId xmlns:a16="http://schemas.microsoft.com/office/drawing/2014/main" id="{789570A1-F09C-EA76-5C95-D96987BBAE56}"/>
              </a:ext>
            </a:extLst>
          </p:cNvPr>
          <p:cNvSpPr>
            <a:spLocks noGrp="1"/>
          </p:cNvSpPr>
          <p:nvPr>
            <p:ph type="sldNum" sz="quarter" idx="5"/>
          </p:nvPr>
        </p:nvSpPr>
        <p:spPr/>
        <p:txBody>
          <a:bodyPr/>
          <a:lstStyle/>
          <a:p>
            <a:fld id="{7982510B-FFC8-4811-9AD4-B53BA0AD0859}" type="slidenum">
              <a:rPr lang="en-GB" smtClean="0"/>
              <a:t>48</a:t>
            </a:fld>
            <a:endParaRPr lang="en-GB"/>
          </a:p>
        </p:txBody>
      </p:sp>
    </p:spTree>
    <p:extLst>
      <p:ext uri="{BB962C8B-B14F-4D97-AF65-F5344CB8AC3E}">
        <p14:creationId xmlns:p14="http://schemas.microsoft.com/office/powerpoint/2010/main" val="40291313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E528F-514B-3D70-C8CD-64AA827BF42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0F0EF05-0FEC-1C2A-B7B8-5762434AE31D}"/>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D6CAC87-3C22-9F3D-65CC-925E582E6A33}"/>
              </a:ext>
            </a:extLst>
          </p:cNvPr>
          <p:cNvSpPr>
            <a:spLocks noGrp="1"/>
          </p:cNvSpPr>
          <p:nvPr>
            <p:ph type="body" idx="1"/>
          </p:nvPr>
        </p:nvSpPr>
        <p:spPr/>
        <p:txBody>
          <a:bodyPr/>
          <a:lstStyle/>
          <a:p>
            <a:endParaRPr dirty="0"/>
          </a:p>
        </p:txBody>
      </p:sp>
      <p:sp>
        <p:nvSpPr>
          <p:cNvPr id="4" name="Segnaposto numero diapositiva 3">
            <a:extLst>
              <a:ext uri="{FF2B5EF4-FFF2-40B4-BE49-F238E27FC236}">
                <a16:creationId xmlns:a16="http://schemas.microsoft.com/office/drawing/2014/main" id="{3AD83111-5129-96B7-A23B-E0972A43E35E}"/>
              </a:ext>
            </a:extLst>
          </p:cNvPr>
          <p:cNvSpPr>
            <a:spLocks noGrp="1"/>
          </p:cNvSpPr>
          <p:nvPr>
            <p:ph type="sldNum" sz="quarter" idx="5"/>
          </p:nvPr>
        </p:nvSpPr>
        <p:spPr/>
        <p:txBody>
          <a:bodyPr/>
          <a:lstStyle/>
          <a:p>
            <a:fld id="{7982510B-FFC8-4811-9AD4-B53BA0AD0859}" type="slidenum">
              <a:rPr lang="en-GB" smtClean="0"/>
              <a:t>49</a:t>
            </a:fld>
            <a:endParaRPr lang="en-GB"/>
          </a:p>
        </p:txBody>
      </p:sp>
    </p:spTree>
    <p:extLst>
      <p:ext uri="{BB962C8B-B14F-4D97-AF65-F5344CB8AC3E}">
        <p14:creationId xmlns:p14="http://schemas.microsoft.com/office/powerpoint/2010/main" val="2106930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7CB45-FF25-BD9C-F5A0-A0BC3D4DF8C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F65E813-5985-0E36-F7DD-76A3C102239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5B189FE4-BDE4-D2D0-3785-1CCD910787FA}"/>
              </a:ext>
            </a:extLst>
          </p:cNvPr>
          <p:cNvSpPr>
            <a:spLocks noGrp="1"/>
          </p:cNvSpPr>
          <p:nvPr>
            <p:ph type="body" idx="1"/>
          </p:nvPr>
        </p:nvSpPr>
        <p:spPr/>
        <p:txBody>
          <a:bodyPr/>
          <a:lstStyle/>
          <a:p>
            <a:r>
              <a:rPr lang="hr-HR" dirty="0"/>
              <a:t>Bilješke za voditelja radionice</a:t>
            </a:r>
          </a:p>
          <a:p>
            <a:r>
              <a:rPr lang="hr-HR" dirty="0"/>
              <a:t>Pitajte polaznike:</a:t>
            </a:r>
            <a:br>
              <a:rPr lang="hr-HR" dirty="0"/>
            </a:br>
            <a:r>
              <a:rPr lang="hr-HR" dirty="0"/>
              <a:t>Koja je odluka imala najveći utjecaj? Kako je to unaprijedilo rad i tima i korisnika?</a:t>
            </a:r>
            <a:br>
              <a:rPr lang="hr-HR" dirty="0"/>
            </a:br>
            <a:r>
              <a:rPr lang="hr-HR" dirty="0"/>
              <a:t>Što biste vi učinili drugačije u sličnom projektu?</a:t>
            </a:r>
          </a:p>
        </p:txBody>
      </p:sp>
      <p:sp>
        <p:nvSpPr>
          <p:cNvPr id="4" name="Segnaposto numero diapositiva 3">
            <a:extLst>
              <a:ext uri="{FF2B5EF4-FFF2-40B4-BE49-F238E27FC236}">
                <a16:creationId xmlns:a16="http://schemas.microsoft.com/office/drawing/2014/main" id="{28F099D7-FC1E-CFB9-641E-8552BF39BAEC}"/>
              </a:ext>
            </a:extLst>
          </p:cNvPr>
          <p:cNvSpPr>
            <a:spLocks noGrp="1"/>
          </p:cNvSpPr>
          <p:nvPr>
            <p:ph type="sldNum" sz="quarter" idx="5"/>
          </p:nvPr>
        </p:nvSpPr>
        <p:spPr/>
        <p:txBody>
          <a:bodyPr/>
          <a:lstStyle/>
          <a:p>
            <a:fld id="{7982510B-FFC8-4811-9AD4-B53BA0AD0859}" type="slidenum">
              <a:rPr lang="en-GB" smtClean="0"/>
              <a:t>50</a:t>
            </a:fld>
            <a:endParaRPr lang="en-GB"/>
          </a:p>
        </p:txBody>
      </p:sp>
    </p:spTree>
    <p:extLst>
      <p:ext uri="{BB962C8B-B14F-4D97-AF65-F5344CB8AC3E}">
        <p14:creationId xmlns:p14="http://schemas.microsoft.com/office/powerpoint/2010/main" val="7061324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Pojasnite da je ovaj dio informativnog karaktera, a ne preporuka određenih certifikata. Naglasite da je iskustvo važnije od samih certifikata.</a:t>
            </a:r>
          </a:p>
          <a:p>
            <a:endParaRPr lang="it-IT" dirty="0"/>
          </a:p>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52</a:t>
            </a:fld>
            <a:endParaRPr lang="en-GB"/>
          </a:p>
        </p:txBody>
      </p:sp>
    </p:spTree>
    <p:extLst>
      <p:ext uri="{BB962C8B-B14F-4D97-AF65-F5344CB8AC3E}">
        <p14:creationId xmlns:p14="http://schemas.microsoft.com/office/powerpoint/2010/main" val="42476774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pl-PL" dirty="0"/>
              <a:t>Bilješke za voditelja radionice</a:t>
            </a:r>
          </a:p>
          <a:p>
            <a:r>
              <a:rPr lang="pl-PL" dirty="0"/>
              <a:t>Dodatni resursi</a:t>
            </a:r>
            <a:br>
              <a:rPr lang="pl-PL" dirty="0"/>
            </a:br>
            <a:r>
              <a:rPr lang="pl-PL" dirty="0">
                <a:hlinkClick r:id="rId3"/>
              </a:rPr>
              <a:t>https://www.scrumalliance.org/get-certified/scrum-master-track/certified-scrummaster</a:t>
            </a:r>
            <a:endParaRPr lang="pl-PL"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53</a:t>
            </a:fld>
            <a:endParaRPr lang="en-GB"/>
          </a:p>
        </p:txBody>
      </p:sp>
    </p:spTree>
    <p:extLst>
      <p:ext uri="{BB962C8B-B14F-4D97-AF65-F5344CB8AC3E}">
        <p14:creationId xmlns:p14="http://schemas.microsoft.com/office/powerpoint/2010/main" val="34027651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l-PL" dirty="0"/>
              <a:t>Bilješke za voditelja radionice</a:t>
            </a:r>
          </a:p>
          <a:p>
            <a:r>
              <a:rPr lang="pl-PL" dirty="0"/>
              <a:t>Dodatni resursi</a:t>
            </a:r>
            <a:br>
              <a:rPr lang="pl-PL" dirty="0"/>
            </a:br>
            <a:r>
              <a:rPr lang="pl-PL" dirty="0">
                <a:hlinkClick r:id="rId3"/>
              </a:rPr>
              <a:t>https://www.scrum.org/professional-scrum-certifications/professional-scrum-master-assessments</a:t>
            </a:r>
            <a:endParaRPr lang="pl-PL" dirty="0"/>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l-PL" dirty="0"/>
              <a:t>Bilješke za voditelja radionice</a:t>
            </a:r>
          </a:p>
          <a:p>
            <a:r>
              <a:rPr lang="pl-PL" dirty="0"/>
              <a:t>Dodatni resursi</a:t>
            </a:r>
            <a:br>
              <a:rPr lang="pl-PL" dirty="0"/>
            </a:br>
            <a:r>
              <a:rPr lang="pl-PL" dirty="0">
                <a:hlinkClick r:id="rId3"/>
              </a:rPr>
              <a:t>https://agileseekers.com/blog/what-is-safe-scrum-master-certification</a:t>
            </a:r>
            <a:endParaRPr lang="pl-PL"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l-PL" dirty="0"/>
              <a:t>Bilješke za voditelja radionice</a:t>
            </a:r>
          </a:p>
          <a:p>
            <a:r>
              <a:rPr lang="pl-PL" dirty="0"/>
              <a:t>Dodatni resursi</a:t>
            </a:r>
            <a:br>
              <a:rPr lang="pl-PL" dirty="0"/>
            </a:br>
            <a:r>
              <a:rPr lang="pl-PL" dirty="0">
                <a:hlinkClick r:id="rId3"/>
              </a:rPr>
              <a:t>https://www.scrumstudy.com/certification/scrum-master-certification</a:t>
            </a:r>
            <a:endParaRPr lang="pl-PL" dirty="0"/>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Bilješke za voditelja radionice</a:t>
            </a:r>
          </a:p>
          <a:p>
            <a:r>
              <a:rPr lang="hr-HR" dirty="0"/>
              <a:t>Ova tablica uspoređuje popularne </a:t>
            </a:r>
            <a:r>
              <a:rPr lang="hr-HR" dirty="0" err="1"/>
              <a:t>Scrum</a:t>
            </a:r>
            <a:r>
              <a:rPr lang="hr-HR" dirty="0"/>
              <a:t> Master certifikate.</a:t>
            </a:r>
          </a:p>
          <a:p>
            <a:r>
              <a:rPr lang="hr-HR" dirty="0"/>
              <a:t>Pomaže nam razumjeti koji su certifikati šire prepoznati, kojoj su razini namijenjeni i koje zahtjeve imaju.</a:t>
            </a:r>
          </a:p>
        </p:txBody>
      </p:sp>
      <p:sp>
        <p:nvSpPr>
          <p:cNvPr id="4" name="Segnaposto numero diapositiva 3"/>
          <p:cNvSpPr>
            <a:spLocks noGrp="1"/>
          </p:cNvSpPr>
          <p:nvPr>
            <p:ph type="sldNum" sz="quarter" idx="5"/>
          </p:nvPr>
        </p:nvSpPr>
        <p:spPr/>
        <p:txBody>
          <a:bodyPr/>
          <a:lstStyle/>
          <a:p>
            <a:fld id="{7982510B-FFC8-4811-9AD4-B53BA0AD0859}" type="slidenum">
              <a:rPr lang="en-GB" smtClean="0"/>
              <a:t>57</a:t>
            </a:fld>
            <a:endParaRPr lang="en-GB"/>
          </a:p>
        </p:txBody>
      </p:sp>
    </p:spTree>
    <p:extLst>
      <p:ext uri="{BB962C8B-B14F-4D97-AF65-F5344CB8AC3E}">
        <p14:creationId xmlns:p14="http://schemas.microsoft.com/office/powerpoint/2010/main" val="11499798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hr-HR" dirty="0"/>
              <a:t>Bilješke za voditelja radionice</a:t>
            </a:r>
          </a:p>
          <a:p>
            <a:r>
              <a:rPr lang="hr-HR" dirty="0"/>
              <a:t>Ovaj slajd sadrži nekoliko savjeta o tome koji certifikat odabrati, ovisno o vašim osobnim ciljevima.</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7982510B-FFC8-4811-9AD4-B53BA0AD0859}" type="slidenum">
              <a:rPr lang="en-GB" smtClean="0"/>
              <a:t>59</a:t>
            </a:fld>
            <a:endParaRPr lang="en-GB"/>
          </a:p>
        </p:txBody>
      </p:sp>
    </p:spTree>
    <p:extLst>
      <p:ext uri="{BB962C8B-B14F-4D97-AF65-F5344CB8AC3E}">
        <p14:creationId xmlns:p14="http://schemas.microsoft.com/office/powerpoint/2010/main" val="15511727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pic>
        <p:nvPicPr>
          <p:cNvPr id="14" name="Slika 13">
            <a:extLst>
              <a:ext uri="{FF2B5EF4-FFF2-40B4-BE49-F238E27FC236}">
                <a16:creationId xmlns:a16="http://schemas.microsoft.com/office/drawing/2014/main" id="{8FBD081C-E6C2-807B-F622-45A52F57D6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2468084"/>
            <a:ext cx="9144000" cy="2387600"/>
          </a:xfrm>
        </p:spPr>
        <p:txBody>
          <a:bodyPr anchor="b"/>
          <a:lstStyle>
            <a:lvl1pPr algn="r">
              <a:defRPr sz="6000">
                <a:latin typeface="Montserrat" panose="00000500000000000000" pitchFamily="2" charset="-18"/>
              </a:defRPr>
            </a:lvl1pPr>
          </a:lstStyle>
          <a:p>
            <a:r>
              <a:rPr lang="hr-HR" dirty="0"/>
              <a:t>DOCUMENT TITLE</a:t>
            </a:r>
          </a:p>
        </p:txBody>
      </p:sp>
      <p:sp>
        <p:nvSpPr>
          <p:cNvPr id="3" name="Podnaslov 2">
            <a:extLst>
              <a:ext uri="{FF2B5EF4-FFF2-40B4-BE49-F238E27FC236}">
                <a16:creationId xmlns:a16="http://schemas.microsoft.com/office/drawing/2014/main" id="{7A61E420-EBAD-A9E6-F448-076E17D0F241}"/>
              </a:ext>
            </a:extLst>
          </p:cNvPr>
          <p:cNvSpPr>
            <a:spLocks noGrp="1"/>
          </p:cNvSpPr>
          <p:nvPr>
            <p:ph type="subTitle" idx="1" hasCustomPrompt="1"/>
          </p:nvPr>
        </p:nvSpPr>
        <p:spPr>
          <a:xfrm>
            <a:off x="2455653" y="4947759"/>
            <a:ext cx="9144000" cy="1655762"/>
          </a:xfrm>
        </p:spPr>
        <p:txBody>
          <a:bodyPr/>
          <a:lstStyle>
            <a:lvl1pPr marL="0" indent="0" algn="r">
              <a:buNone/>
              <a:defRPr sz="2400">
                <a:latin typeface="Montserrat" panose="00000500000000000000" pitchFamily="2"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dirty="0"/>
              <a:t>SUBHEADING</a:t>
            </a:r>
          </a:p>
        </p:txBody>
      </p:sp>
    </p:spTree>
    <p:extLst>
      <p:ext uri="{BB962C8B-B14F-4D97-AF65-F5344CB8AC3E}">
        <p14:creationId xmlns:p14="http://schemas.microsoft.com/office/powerpoint/2010/main" val="163797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aslov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1626622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pic>
        <p:nvPicPr>
          <p:cNvPr id="10" name="Slika 9" descr="Slika na kojoj se prikazuje crta, snimka zaslona, šarenilo, dizajn&#10;&#10;Opis je automatski generiran">
            <a:extLst>
              <a:ext uri="{FF2B5EF4-FFF2-40B4-BE49-F238E27FC236}">
                <a16:creationId xmlns:a16="http://schemas.microsoft.com/office/drawing/2014/main" id="{7D3E6235-77BD-81C2-1C4B-460BFF2AC5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60127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pic>
        <p:nvPicPr>
          <p:cNvPr id="8" name="Slika 7" descr="Slika na kojoj se prikazuje crta, snimka zaslona, šarenilo, dizajn">
            <a:extLst>
              <a:ext uri="{FF2B5EF4-FFF2-40B4-BE49-F238E27FC236}">
                <a16:creationId xmlns:a16="http://schemas.microsoft.com/office/drawing/2014/main" id="{813DD7BB-6C45-D079-40C8-D9AAFA3351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4130842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Naslovni slajd">
    <p:spTree>
      <p:nvGrpSpPr>
        <p:cNvPr id="1" name=""/>
        <p:cNvGrpSpPr/>
        <p:nvPr/>
      </p:nvGrpSpPr>
      <p:grpSpPr>
        <a:xfrm>
          <a:off x="0" y="0"/>
          <a:ext cx="0" cy="0"/>
          <a:chOff x="0" y="0"/>
          <a:chExt cx="0" cy="0"/>
        </a:xfrm>
      </p:grpSpPr>
      <p:pic>
        <p:nvPicPr>
          <p:cNvPr id="4" name="Slika 3">
            <a:extLst>
              <a:ext uri="{FF2B5EF4-FFF2-40B4-BE49-F238E27FC236}">
                <a16:creationId xmlns:a16="http://schemas.microsoft.com/office/drawing/2014/main" id="{5F67D23E-A28C-75D8-1345-0AB914675C6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225255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Naslov i sadržaj">
    <p:spTree>
      <p:nvGrpSpPr>
        <p:cNvPr id="1" name=""/>
        <p:cNvGrpSpPr/>
        <p:nvPr/>
      </p:nvGrpSpPr>
      <p:grpSpPr>
        <a:xfrm>
          <a:off x="0" y="0"/>
          <a:ext cx="0" cy="0"/>
          <a:chOff x="0" y="0"/>
          <a:chExt cx="0" cy="0"/>
        </a:xfrm>
      </p:grpSpPr>
      <p:pic>
        <p:nvPicPr>
          <p:cNvPr id="6" name="Slika 5" descr="Slika na kojoj se prikazuje ljubičasto, Magenta, Jorgovan, ljubičica&#10;&#10;Opis je automatski generiran">
            <a:extLst>
              <a:ext uri="{FF2B5EF4-FFF2-40B4-BE49-F238E27FC236}">
                <a16:creationId xmlns:a16="http://schemas.microsoft.com/office/drawing/2014/main" id="{35DF2062-AC53-CC06-3408-F03D9B95BB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2226208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3_Dva sadržaja">
    <p:spTree>
      <p:nvGrpSpPr>
        <p:cNvPr id="1" name=""/>
        <p:cNvGrpSpPr/>
        <p:nvPr/>
      </p:nvGrpSpPr>
      <p:grpSpPr>
        <a:xfrm>
          <a:off x="0" y="0"/>
          <a:ext cx="0" cy="0"/>
          <a:chOff x="0" y="0"/>
          <a:chExt cx="0" cy="0"/>
        </a:xfrm>
      </p:grpSpPr>
      <p:pic>
        <p:nvPicPr>
          <p:cNvPr id="5" name="Slika 4" descr="Slika na kojoj se prikazuje ljubičasto, Magenta, Jorgovan, ljubičica&#10;&#10;Opis je automatski generiran">
            <a:extLst>
              <a:ext uri="{FF2B5EF4-FFF2-40B4-BE49-F238E27FC236}">
                <a16:creationId xmlns:a16="http://schemas.microsoft.com/office/drawing/2014/main" id="{9FAA237F-8481-A276-5DC5-A3FC50F5B1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1883575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ilagođeni izgled">
    <p:spTree>
      <p:nvGrpSpPr>
        <p:cNvPr id="1" name=""/>
        <p:cNvGrpSpPr/>
        <p:nvPr/>
      </p:nvGrpSpPr>
      <p:grpSpPr>
        <a:xfrm>
          <a:off x="0" y="0"/>
          <a:ext cx="0" cy="0"/>
          <a:chOff x="0" y="0"/>
          <a:chExt cx="0" cy="0"/>
        </a:xfrm>
      </p:grpSpPr>
      <p:grpSp>
        <p:nvGrpSpPr>
          <p:cNvPr id="3" name="Gruppo 2">
            <a:extLst>
              <a:ext uri="{FF2B5EF4-FFF2-40B4-BE49-F238E27FC236}">
                <a16:creationId xmlns:a16="http://schemas.microsoft.com/office/drawing/2014/main" id="{F0B43500-2B0D-6E1A-B9B4-812DA8D0A84E}"/>
              </a:ext>
            </a:extLst>
          </p:cNvPr>
          <p:cNvGrpSpPr/>
          <p:nvPr userDrawn="1"/>
        </p:nvGrpSpPr>
        <p:grpSpPr>
          <a:xfrm>
            <a:off x="0" y="428"/>
            <a:ext cx="12192000" cy="6857143"/>
            <a:chOff x="0" y="428"/>
            <a:chExt cx="12192000" cy="6857143"/>
          </a:xfrm>
        </p:grpSpPr>
        <p:pic>
          <p:nvPicPr>
            <p:cNvPr id="4" name="Slika 5" descr="Slika na kojoj se prikazuje ljubičasto, Magenta, Jorgovan, ljubičica&#10;&#10;Opis je automatski generiran">
              <a:extLst>
                <a:ext uri="{FF2B5EF4-FFF2-40B4-BE49-F238E27FC236}">
                  <a16:creationId xmlns:a16="http://schemas.microsoft.com/office/drawing/2014/main" id="{F699EAC5-D790-B1A3-57FC-41C24823EF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pic>
          <p:nvPicPr>
            <p:cNvPr id="8" name="Elemento grafico 7">
              <a:extLst>
                <a:ext uri="{FF2B5EF4-FFF2-40B4-BE49-F238E27FC236}">
                  <a16:creationId xmlns:a16="http://schemas.microsoft.com/office/drawing/2014/main" id="{DB5C4848-6547-71DA-CC8A-3F432396BA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233024" y="385764"/>
              <a:ext cx="1470025" cy="1938912"/>
            </a:xfrm>
            <a:prstGeom prst="rect">
              <a:avLst/>
            </a:prstGeom>
          </p:spPr>
        </p:pic>
      </p:grpSp>
      <p:sp>
        <p:nvSpPr>
          <p:cNvPr id="2" name="Naslov 1">
            <a:extLst>
              <a:ext uri="{FF2B5EF4-FFF2-40B4-BE49-F238E27FC236}">
                <a16:creationId xmlns:a16="http://schemas.microsoft.com/office/drawing/2014/main" id="{BF2A96D7-17D5-D8FA-1A2A-53ABEC2070E7}"/>
              </a:ext>
            </a:extLst>
          </p:cNvPr>
          <p:cNvSpPr>
            <a:spLocks noGrp="1"/>
          </p:cNvSpPr>
          <p:nvPr>
            <p:ph type="title" hasCustomPrompt="1"/>
          </p:nvPr>
        </p:nvSpPr>
        <p:spPr/>
        <p:txBody>
          <a:bodyPr/>
          <a:lstStyle>
            <a:lvl1pPr>
              <a:defRPr sz="3600">
                <a:latin typeface="Bahnschrift SemiBold" panose="020B0502040204020203" pitchFamily="34" charset="0"/>
              </a:defRPr>
            </a:lvl1pPr>
          </a:lstStyle>
          <a:p>
            <a:r>
              <a:rPr lang="hr-HR" dirty="0"/>
              <a:t>SUMMARY</a:t>
            </a:r>
          </a:p>
        </p:txBody>
      </p:sp>
      <p:sp>
        <p:nvSpPr>
          <p:cNvPr id="5" name="Rezervirano mjesto sadržaja 2">
            <a:extLst>
              <a:ext uri="{FF2B5EF4-FFF2-40B4-BE49-F238E27FC236}">
                <a16:creationId xmlns:a16="http://schemas.microsoft.com/office/drawing/2014/main" id="{EF292D1C-9BB8-291E-992D-14FDD6BECE86}"/>
              </a:ext>
            </a:extLst>
          </p:cNvPr>
          <p:cNvSpPr>
            <a:spLocks noGrp="1"/>
          </p:cNvSpPr>
          <p:nvPr>
            <p:ph idx="1"/>
          </p:nvPr>
        </p:nvSpPr>
        <p:spPr>
          <a:xfrm>
            <a:off x="838200" y="1825625"/>
            <a:ext cx="10515600" cy="4351338"/>
          </a:xfrm>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8573161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7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DISCUSSION</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371600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8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EXERCISE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597803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9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HOMEWORK</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0933618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20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ASSESSMENTS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5881854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21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39"/>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ADDITIONAL READING</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4553890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22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3" cy="6857139"/>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RESOURCES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015765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Završ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Tree>
    <p:extLst>
      <p:ext uri="{BB962C8B-B14F-4D97-AF65-F5344CB8AC3E}">
        <p14:creationId xmlns:p14="http://schemas.microsoft.com/office/powerpoint/2010/main" val="2049827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a:extLst>
              <a:ext uri="{FF2B5EF4-FFF2-40B4-BE49-F238E27FC236}">
                <a16:creationId xmlns:a16="http://schemas.microsoft.com/office/drawing/2014/main" id="{1B650DF9-2458-1434-6EFF-3D965EDC4A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dirty="0"/>
              <a:t>Kliknite da biste uredili stil naslova matrice</a:t>
            </a:r>
          </a:p>
        </p:txBody>
      </p:sp>
      <p:sp>
        <p:nvSpPr>
          <p:cNvPr id="3" name="Rezervirano mjesto teksta 2">
            <a:extLst>
              <a:ext uri="{FF2B5EF4-FFF2-40B4-BE49-F238E27FC236}">
                <a16:creationId xmlns:a16="http://schemas.microsoft.com/office/drawing/2014/main" id="{76C6E5EE-2B8F-9019-690C-3AF0A69B8C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470CF1CA-F427-A5AF-96AA-671002CD74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3B997-549E-41F4-A1E4-B0CF42B49EF1}" type="datetimeFigureOut">
              <a:rPr lang="hr-HR" smtClean="0"/>
              <a:t>25.03.2026.</a:t>
            </a:fld>
            <a:endParaRPr lang="hr-HR"/>
          </a:p>
        </p:txBody>
      </p:sp>
      <p:sp>
        <p:nvSpPr>
          <p:cNvPr id="5" name="Rezervirano mjesto podnožja 4">
            <a:extLst>
              <a:ext uri="{FF2B5EF4-FFF2-40B4-BE49-F238E27FC236}">
                <a16:creationId xmlns:a16="http://schemas.microsoft.com/office/drawing/2014/main" id="{8D829544-1FE5-4ED0-6A51-373B245680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a:extLst>
              <a:ext uri="{FF2B5EF4-FFF2-40B4-BE49-F238E27FC236}">
                <a16:creationId xmlns:a16="http://schemas.microsoft.com/office/drawing/2014/main" id="{33A67201-5F88-A086-59F5-4A06FA6BE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DD723-16A0-42C8-A963-6C8D73A0AD48}" type="slidenum">
              <a:rPr lang="hr-HR" smtClean="0"/>
              <a:t>‹#›</a:t>
            </a:fld>
            <a:endParaRPr lang="hr-HR"/>
          </a:p>
        </p:txBody>
      </p:sp>
    </p:spTree>
    <p:extLst>
      <p:ext uri="{BB962C8B-B14F-4D97-AF65-F5344CB8AC3E}">
        <p14:creationId xmlns:p14="http://schemas.microsoft.com/office/powerpoint/2010/main" val="89751380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9" r:id="rId4"/>
    <p:sldLayoutId id="2147483667" r:id="rId5"/>
    <p:sldLayoutId id="2147483653" r:id="rId6"/>
    <p:sldLayoutId id="2147483662" r:id="rId7"/>
    <p:sldLayoutId id="2147483688" r:id="rId8"/>
    <p:sldLayoutId id="2147483682" r:id="rId9"/>
    <p:sldLayoutId id="2147483683" r:id="rId10"/>
    <p:sldLayoutId id="2147483684" r:id="rId11"/>
    <p:sldLayoutId id="2147483685" r:id="rId12"/>
    <p:sldLayoutId id="2147483686" r:id="rId13"/>
    <p:sldLayoutId id="2147483687" r:id="rId14"/>
    <p:sldLayoutId id="214748366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hyperlink" Target="https://www.freepik.com/free-vector/white-scrum-board-full-tasks-sticky-cards_1311624.htm#fromView=search&amp;page=1&amp;position=1&amp;uuid=5639c99d-3655-486b-8747-5436e4ee08ca&amp;query=management+board"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hyperlink" Target="https://www.freepik.com/free-photo/back-view-woman-office-writing-sticky-notes_7768787.htm#fromView=search&amp;page=3&amp;position=4&amp;uuid=c5b4b110-448c-47ca-8834-f55d8cec83e6&amp;query=sticky+notes+on+board"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hyperlink" Target="https://www.freepik.com/free-vector/organized-workflow-whiteboard_415821673.htm#fromView=search&amp;page=1&amp;position=4&amp;uuid=7fc9d184-ea28-40d7-9446-24507b1d1596&amp;query=columns+on+a+board"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hyperlink" Target="https://www.freepik.com/free-vector/flat-scrum-task-board-with-color-stick-paper-notes_26195122.htm#fromView=search&amp;page=1&amp;position=2&amp;uuid=c0f54920-478f-4727-9139-38b5ff287ce3&amp;query=management+board"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hyperlink" Target="https://www.freepik.com/free-photo/index-cards-sticky-notes_1324668.htm#fromView=search&amp;page=1&amp;position=19&amp;uuid=8969f717-f42f-4252-8164-3793e25e0f21&amp;query=sticky+note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hyperlink" Target="https://www.freepik.com/free-vector/organized-planning-with-colorful-sticky-notes_415821705.htm#fromView=search&amp;page=2&amp;position=3&amp;uuid=ccdbd0b6-07f2-490d-bd39-c88353ebbdee&amp;query=to+do+doing+done+board"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hyperlink" Target="https://www.freepik.com/free-vector/people-designs-collection_1001801.htm#fromView=search&amp;page=1&amp;position=8&amp;uuid=f57f668b-aa12-4ae6-8eee-d0bff0f8c26b&amp;query=manager+avatar"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hyperlink" Target="https://www.freepik.com/free-vector/people-designs-collection_1001801.htm#fromView=search&amp;page=1&amp;position=8&amp;uuid=f57f668b-aa12-4ae6-8eee-d0bff0f8c26b&amp;query=manager+avatar"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hyperlink" Target="https://www.freepik.com/free-vector/people-designs-collection_1001801.htm#fromView=search&amp;page=1&amp;position=8&amp;uuid=f57f668b-aa12-4ae6-8eee-d0bff0f8c26b&amp;query=manager+avatar"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hyperlink" Target="https://userstorymap.io/being-an-effective-product-owner/"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hyperlink" Target="https://www.atlassian.com/agile/scrum/scrum-master"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hyperlink" Target="https://www.scrumalliance.org/" TargetMode="External"/><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hyperlink" Target="https://www.scrum.org/" TargetMode="External"/><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hyperlink" Target="https://www.scaledagile.com/" TargetMode="External"/><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hyperlink" Target="https://www.scrumstudy.com/" TargetMode="External"/><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hyperlink" Target="https://www.egina.eu/" TargetMode="External"/><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hyperlink" Target="https://www.egina.eu/" TargetMode="External"/><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hyperlink" Target="https://scrumguides.org/scrum-guide.html" TargetMode="External"/><Relationship Id="rId2" Type="http://schemas.openxmlformats.org/officeDocument/2006/relationships/notesSlide" Target="../notesSlides/notesSlide58.xml"/><Relationship Id="rId1" Type="http://schemas.openxmlformats.org/officeDocument/2006/relationships/slideLayout" Target="../slideLayouts/slideLayout13.xml"/><Relationship Id="rId5" Type="http://schemas.openxmlformats.org/officeDocument/2006/relationships/hyperlink" Target="https://resources.scrumalliance.org/Article/scrum-team" TargetMode="External"/><Relationship Id="rId4" Type="http://schemas.openxmlformats.org/officeDocument/2006/relationships/hyperlink" Target="https://kanbanguides.org/"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hyperlink" Target="https://scrumguides.org/scrum-guide.html" TargetMode="External"/><Relationship Id="rId2" Type="http://schemas.openxmlformats.org/officeDocument/2006/relationships/notesSlide" Target="../notesSlides/notesSlide60.xml"/><Relationship Id="rId1" Type="http://schemas.openxmlformats.org/officeDocument/2006/relationships/slideLayout" Target="../slideLayouts/slideLayout14.xml"/><Relationship Id="rId6" Type="http://schemas.openxmlformats.org/officeDocument/2006/relationships/hyperlink" Target="https://www.atlassian.com/agile/kanban" TargetMode="External"/><Relationship Id="rId5" Type="http://schemas.openxmlformats.org/officeDocument/2006/relationships/hyperlink" Target="https://www.atlassian.com/agile/scrum" TargetMode="External"/><Relationship Id="rId4" Type="http://schemas.openxmlformats.org/officeDocument/2006/relationships/hyperlink" Target="https://kanbanguides.org/"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s://www.scrum.org/professional-scrum-master-i-certification" TargetMode="External"/><Relationship Id="rId2" Type="http://schemas.openxmlformats.org/officeDocument/2006/relationships/notesSlide" Target="../notesSlides/notesSlide61.xml"/><Relationship Id="rId1" Type="http://schemas.openxmlformats.org/officeDocument/2006/relationships/slideLayout" Target="../slideLayouts/slideLayout14.xml"/><Relationship Id="rId5" Type="http://schemas.openxmlformats.org/officeDocument/2006/relationships/hyperlink" Target="https://www.scaledagile.com/training/safe-scrum-master/" TargetMode="External"/><Relationship Id="rId4" Type="http://schemas.openxmlformats.org/officeDocument/2006/relationships/hyperlink" Target="https://www.scrumalliance.org/get-certified/scrum-master-track/certified-scrummast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02D952F-81F9-67F9-3AC9-EF9C009A0300}"/>
              </a:ext>
            </a:extLst>
          </p:cNvPr>
          <p:cNvSpPr>
            <a:spLocks noGrp="1"/>
          </p:cNvSpPr>
          <p:nvPr>
            <p:ph type="ctrTitle"/>
          </p:nvPr>
        </p:nvSpPr>
        <p:spPr/>
        <p:txBody>
          <a:bodyPr/>
          <a:lstStyle/>
          <a:p>
            <a:r>
              <a:rPr lang="it-IT" dirty="0"/>
              <a:t>SHIFT4IT</a:t>
            </a:r>
            <a:endParaRPr lang="en-GB" dirty="0"/>
          </a:p>
        </p:txBody>
      </p:sp>
      <p:sp>
        <p:nvSpPr>
          <p:cNvPr id="3" name="Sottotitolo 2">
            <a:extLst>
              <a:ext uri="{FF2B5EF4-FFF2-40B4-BE49-F238E27FC236}">
                <a16:creationId xmlns:a16="http://schemas.microsoft.com/office/drawing/2014/main" id="{AA689103-1327-C597-1CE0-6A8FFA33267C}"/>
              </a:ext>
            </a:extLst>
          </p:cNvPr>
          <p:cNvSpPr>
            <a:spLocks noGrp="1"/>
          </p:cNvSpPr>
          <p:nvPr>
            <p:ph type="subTitle" idx="1"/>
          </p:nvPr>
        </p:nvSpPr>
        <p:spPr/>
        <p:txBody>
          <a:bodyPr/>
          <a:lstStyle/>
          <a:p>
            <a:r>
              <a:rPr lang="it-IT" dirty="0" err="1"/>
              <a:t>Shifting</a:t>
            </a:r>
            <a:r>
              <a:rPr lang="it-IT" dirty="0"/>
              <a:t> the </a:t>
            </a:r>
            <a:r>
              <a:rPr lang="it-IT" dirty="0" err="1"/>
              <a:t>paradygm</a:t>
            </a:r>
            <a:r>
              <a:rPr lang="it-IT" dirty="0"/>
              <a:t> for women in IT </a:t>
            </a:r>
            <a:r>
              <a:rPr lang="it-IT" dirty="0" err="1"/>
              <a:t>sector</a:t>
            </a:r>
            <a:endParaRPr lang="en-GB" dirty="0"/>
          </a:p>
        </p:txBody>
      </p:sp>
    </p:spTree>
    <p:extLst>
      <p:ext uri="{BB962C8B-B14F-4D97-AF65-F5344CB8AC3E}">
        <p14:creationId xmlns:p14="http://schemas.microsoft.com/office/powerpoint/2010/main" val="2781835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slov 3">
            <a:extLst>
              <a:ext uri="{FF2B5EF4-FFF2-40B4-BE49-F238E27FC236}">
                <a16:creationId xmlns:a16="http://schemas.microsoft.com/office/drawing/2014/main" id="{4022C4E9-1E70-8866-3479-A24FD93D0CAC}"/>
              </a:ext>
            </a:extLst>
          </p:cNvPr>
          <p:cNvSpPr>
            <a:spLocks noGrp="1"/>
          </p:cNvSpPr>
          <p:nvPr>
            <p:ph type="ctrTitle"/>
          </p:nvPr>
        </p:nvSpPr>
        <p:spPr/>
        <p:txBody>
          <a:bodyPr>
            <a:normAutofit/>
          </a:bodyPr>
          <a:lstStyle/>
          <a:p>
            <a:r>
              <a:rPr lang="hr-HR" dirty="0" err="1"/>
              <a:t>Agile</a:t>
            </a:r>
            <a:r>
              <a:rPr lang="hr-HR" dirty="0"/>
              <a:t> okviri: </a:t>
            </a:r>
            <a:r>
              <a:rPr lang="hr-HR" dirty="0" err="1"/>
              <a:t>Kanban</a:t>
            </a:r>
            <a:r>
              <a:rPr lang="hr-HR" dirty="0"/>
              <a:t> i </a:t>
            </a:r>
            <a:r>
              <a:rPr lang="hr-HR" dirty="0" err="1"/>
              <a:t>Scrum</a:t>
            </a:r>
            <a:endParaRPr lang="hr-HR" dirty="0"/>
          </a:p>
        </p:txBody>
      </p:sp>
    </p:spTree>
    <p:extLst>
      <p:ext uri="{BB962C8B-B14F-4D97-AF65-F5344CB8AC3E}">
        <p14:creationId xmlns:p14="http://schemas.microsoft.com/office/powerpoint/2010/main" val="495518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83BE663-D8B1-540B-45AC-FDCC579726AE}"/>
              </a:ext>
            </a:extLst>
          </p:cNvPr>
          <p:cNvSpPr>
            <a:spLocks noGrp="1"/>
          </p:cNvSpPr>
          <p:nvPr>
            <p:ph type="title"/>
          </p:nvPr>
        </p:nvSpPr>
        <p:spPr/>
        <p:txBody>
          <a:bodyPr/>
          <a:lstStyle/>
          <a:p>
            <a:r>
              <a:rPr lang="hr-HR" dirty="0"/>
              <a:t>Sažetak</a:t>
            </a:r>
            <a:endParaRPr lang="en-GB" dirty="0"/>
          </a:p>
        </p:txBody>
      </p:sp>
      <p:sp>
        <p:nvSpPr>
          <p:cNvPr id="3" name="Segnaposto contenuto 2">
            <a:extLst>
              <a:ext uri="{FF2B5EF4-FFF2-40B4-BE49-F238E27FC236}">
                <a16:creationId xmlns:a16="http://schemas.microsoft.com/office/drawing/2014/main" id="{DCB51AF4-3758-DEB8-9396-C74EF332EAAB}"/>
              </a:ext>
            </a:extLst>
          </p:cNvPr>
          <p:cNvSpPr>
            <a:spLocks noGrp="1"/>
          </p:cNvSpPr>
          <p:nvPr>
            <p:ph idx="1"/>
          </p:nvPr>
        </p:nvSpPr>
        <p:spPr/>
        <p:txBody>
          <a:bodyPr/>
          <a:lstStyle/>
          <a:p>
            <a:pPr marL="0" indent="0">
              <a:buNone/>
            </a:pPr>
            <a:r>
              <a:rPr lang="en-GB" dirty="0"/>
              <a:t>2.1 </a:t>
            </a:r>
            <a:r>
              <a:rPr lang="hr-HR" dirty="0"/>
              <a:t>Usporedba </a:t>
            </a:r>
            <a:r>
              <a:rPr lang="en-GB" dirty="0"/>
              <a:t>Kanban</a:t>
            </a:r>
            <a:r>
              <a:rPr lang="hr-HR" dirty="0"/>
              <a:t>a</a:t>
            </a:r>
            <a:r>
              <a:rPr lang="en-GB" dirty="0"/>
              <a:t> </a:t>
            </a:r>
            <a:r>
              <a:rPr lang="hr-HR" dirty="0"/>
              <a:t>i</a:t>
            </a:r>
            <a:r>
              <a:rPr lang="en-GB" dirty="0"/>
              <a:t> Scrum</a:t>
            </a:r>
            <a:r>
              <a:rPr lang="hr-HR" dirty="0"/>
              <a:t>a</a:t>
            </a:r>
            <a:endParaRPr lang="en-GB" dirty="0"/>
          </a:p>
          <a:p>
            <a:pPr marL="0" indent="0">
              <a:buNone/>
            </a:pPr>
            <a:r>
              <a:rPr lang="en-GB" dirty="0"/>
              <a:t>2.2 </a:t>
            </a:r>
            <a:r>
              <a:rPr lang="hr-HR" dirty="0" err="1"/>
              <a:t>Agile</a:t>
            </a:r>
            <a:r>
              <a:rPr lang="hr-HR" dirty="0"/>
              <a:t> u „ne-razvojnim” procesima </a:t>
            </a:r>
          </a:p>
          <a:p>
            <a:pPr marL="0" indent="0">
              <a:buNone/>
            </a:pPr>
            <a:r>
              <a:rPr lang="en-GB" dirty="0"/>
              <a:t>2.3 </a:t>
            </a:r>
            <a:r>
              <a:rPr lang="hr-HR" dirty="0"/>
              <a:t>Uloge i rituali</a:t>
            </a:r>
          </a:p>
          <a:p>
            <a:pPr marL="0" indent="0">
              <a:buNone/>
            </a:pPr>
            <a:r>
              <a:rPr lang="en-GB" dirty="0"/>
              <a:t>2.4 </a:t>
            </a:r>
            <a:r>
              <a:rPr lang="hr-HR" dirty="0"/>
              <a:t>Fokus na certifikate za </a:t>
            </a:r>
            <a:r>
              <a:rPr lang="hr-HR" dirty="0" err="1"/>
              <a:t>Scrum</a:t>
            </a:r>
            <a:r>
              <a:rPr lang="hr-HR"/>
              <a:t> Mastera</a:t>
            </a:r>
            <a:endParaRPr lang="en-GB" dirty="0"/>
          </a:p>
          <a:p>
            <a:pPr marL="0" indent="0">
              <a:buNone/>
            </a:pPr>
            <a:endParaRPr lang="en-GB" dirty="0"/>
          </a:p>
        </p:txBody>
      </p:sp>
    </p:spTree>
    <p:extLst>
      <p:ext uri="{BB962C8B-B14F-4D97-AF65-F5344CB8AC3E}">
        <p14:creationId xmlns:p14="http://schemas.microsoft.com/office/powerpoint/2010/main" val="19926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DCEE9-24D7-FDEE-D64C-735274B0F01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1456EB0-F073-67EB-872A-FA736C06046D}"/>
              </a:ext>
            </a:extLst>
          </p:cNvPr>
          <p:cNvSpPr>
            <a:spLocks noGrp="1"/>
          </p:cNvSpPr>
          <p:nvPr>
            <p:ph type="title"/>
          </p:nvPr>
        </p:nvSpPr>
        <p:spPr/>
        <p:txBody>
          <a:bodyPr/>
          <a:lstStyle/>
          <a:p>
            <a:r>
              <a:rPr lang="hr-HR" dirty="0"/>
              <a:t>Uvod</a:t>
            </a:r>
            <a:endParaRPr lang="en-GB" dirty="0"/>
          </a:p>
        </p:txBody>
      </p:sp>
      <p:sp>
        <p:nvSpPr>
          <p:cNvPr id="3" name="Segnaposto contenuto 2">
            <a:extLst>
              <a:ext uri="{FF2B5EF4-FFF2-40B4-BE49-F238E27FC236}">
                <a16:creationId xmlns:a16="http://schemas.microsoft.com/office/drawing/2014/main" id="{EF995E98-0DFF-A428-7A22-92F984C94565}"/>
              </a:ext>
            </a:extLst>
          </p:cNvPr>
          <p:cNvSpPr>
            <a:spLocks noGrp="1"/>
          </p:cNvSpPr>
          <p:nvPr>
            <p:ph idx="1"/>
          </p:nvPr>
        </p:nvSpPr>
        <p:spPr>
          <a:xfrm>
            <a:off x="838200" y="2506662"/>
            <a:ext cx="10515600" cy="4351338"/>
          </a:xfrm>
        </p:spPr>
        <p:txBody>
          <a:bodyPr>
            <a:normAutofit/>
          </a:bodyPr>
          <a:lstStyle/>
          <a:p>
            <a:pPr marL="0" indent="0">
              <a:buNone/>
            </a:pPr>
            <a:r>
              <a:rPr lang="hr-HR" sz="2400" dirty="0"/>
              <a:t>Ovaj modul usmjeren je na dva najraširenija </a:t>
            </a:r>
            <a:r>
              <a:rPr lang="hr-HR" sz="2400" dirty="0" err="1"/>
              <a:t>Agile</a:t>
            </a:r>
            <a:r>
              <a:rPr lang="hr-HR" sz="2400" dirty="0"/>
              <a:t> okvira: </a:t>
            </a:r>
            <a:r>
              <a:rPr lang="hr-HR" sz="2400" dirty="0" err="1"/>
              <a:t>Kanban</a:t>
            </a:r>
            <a:r>
              <a:rPr lang="hr-HR" sz="2400" dirty="0"/>
              <a:t> i </a:t>
            </a:r>
            <a:r>
              <a:rPr lang="hr-HR" sz="2400" dirty="0" err="1"/>
              <a:t>Scrum</a:t>
            </a:r>
            <a:r>
              <a:rPr lang="hr-HR" sz="2400" dirty="0"/>
              <a:t>. Istražuje kako funkcioniraju, što im je zajedničko i kada je koji prikladniji, ovisno o kontekstu, stabilnosti tijeka rada, razini hitnosti i potrebi za strukturom.</a:t>
            </a:r>
          </a:p>
          <a:p>
            <a:pPr marL="0" indent="0">
              <a:buNone/>
            </a:pPr>
            <a:endParaRPr lang="hr-HR" sz="2400" dirty="0"/>
          </a:p>
          <a:p>
            <a:pPr marL="0" indent="0">
              <a:buNone/>
            </a:pPr>
            <a:r>
              <a:rPr lang="hr-HR" sz="2400" dirty="0"/>
              <a:t>Usporedit ćete </a:t>
            </a:r>
            <a:r>
              <a:rPr lang="hr-HR" sz="2400" dirty="0" err="1"/>
              <a:t>Kanban</a:t>
            </a:r>
            <a:r>
              <a:rPr lang="hr-HR" sz="2400" dirty="0"/>
              <a:t> i </a:t>
            </a:r>
            <a:r>
              <a:rPr lang="hr-HR" sz="2400" dirty="0" err="1"/>
              <a:t>Scrum</a:t>
            </a:r>
            <a:r>
              <a:rPr lang="hr-HR" sz="2400" dirty="0"/>
              <a:t> polazeći od njihove zajedničke osnove — vizualnog upravljanja radom pomoću ploča, kartica i stupaca tijeka rada — a zatim analizirati ključne razlike poput ograničenja rada u tijeku, pravila iteracija, vlasništva, fleksibilnosti promjena tijekom provedbe i načina upravljanja hitnim zadacima.</a:t>
            </a:r>
          </a:p>
          <a:p>
            <a:pPr marL="0" indent="0">
              <a:buNone/>
            </a:pPr>
            <a:endParaRPr lang="en-GB" dirty="0"/>
          </a:p>
        </p:txBody>
      </p:sp>
    </p:spTree>
    <p:extLst>
      <p:ext uri="{BB962C8B-B14F-4D97-AF65-F5344CB8AC3E}">
        <p14:creationId xmlns:p14="http://schemas.microsoft.com/office/powerpoint/2010/main" val="1709712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AA033-4D46-0DB8-457D-7A08AB52EC9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E8A94B8-8781-B0FA-C241-EB26CA77FEA8}"/>
              </a:ext>
            </a:extLst>
          </p:cNvPr>
          <p:cNvSpPr>
            <a:spLocks noGrp="1"/>
          </p:cNvSpPr>
          <p:nvPr>
            <p:ph type="title"/>
          </p:nvPr>
        </p:nvSpPr>
        <p:spPr/>
        <p:txBody>
          <a:bodyPr/>
          <a:lstStyle/>
          <a:p>
            <a:r>
              <a:rPr lang="hr-HR" dirty="0"/>
              <a:t>Uvod</a:t>
            </a:r>
            <a:endParaRPr lang="en-GB" dirty="0"/>
          </a:p>
        </p:txBody>
      </p:sp>
      <p:sp>
        <p:nvSpPr>
          <p:cNvPr id="3" name="Segnaposto contenuto 2">
            <a:extLst>
              <a:ext uri="{FF2B5EF4-FFF2-40B4-BE49-F238E27FC236}">
                <a16:creationId xmlns:a16="http://schemas.microsoft.com/office/drawing/2014/main" id="{2755BDE0-FE92-DDCE-3574-C7B52B203F38}"/>
              </a:ext>
            </a:extLst>
          </p:cNvPr>
          <p:cNvSpPr>
            <a:spLocks noGrp="1"/>
          </p:cNvSpPr>
          <p:nvPr>
            <p:ph idx="1"/>
          </p:nvPr>
        </p:nvSpPr>
        <p:spPr>
          <a:xfrm>
            <a:off x="838200" y="2429474"/>
            <a:ext cx="10515600" cy="4351338"/>
          </a:xfrm>
        </p:spPr>
        <p:txBody>
          <a:bodyPr>
            <a:normAutofit/>
          </a:bodyPr>
          <a:lstStyle/>
          <a:p>
            <a:pPr marL="0" indent="0">
              <a:buNone/>
            </a:pPr>
            <a:r>
              <a:rPr lang="hr-HR" sz="2400" dirty="0"/>
              <a:t>Modul zatim produbljuje praktično razumijevanje </a:t>
            </a:r>
            <a:r>
              <a:rPr lang="hr-HR" sz="2400" dirty="0" err="1"/>
              <a:t>Agilea</a:t>
            </a:r>
            <a:r>
              <a:rPr lang="hr-HR" sz="2400" dirty="0"/>
              <a:t> pojašnjavajući uloge i rituale, s posebnim naglaskom na </a:t>
            </a:r>
            <a:r>
              <a:rPr lang="hr-HR" sz="2400" dirty="0" err="1"/>
              <a:t>Scrum</a:t>
            </a:r>
            <a:r>
              <a:rPr lang="hr-HR" sz="2400" dirty="0"/>
              <a:t> uloge (</a:t>
            </a:r>
            <a:r>
              <a:rPr lang="hr-HR" sz="2400" dirty="0" err="1"/>
              <a:t>Product</a:t>
            </a:r>
            <a:r>
              <a:rPr lang="hr-HR" sz="2400" dirty="0"/>
              <a:t> </a:t>
            </a:r>
            <a:r>
              <a:rPr lang="hr-HR" sz="2400" dirty="0" err="1"/>
              <a:t>Owner</a:t>
            </a:r>
            <a:r>
              <a:rPr lang="hr-HR" sz="2400" dirty="0"/>
              <a:t>, </a:t>
            </a:r>
            <a:r>
              <a:rPr lang="hr-HR" sz="2400" dirty="0" err="1"/>
              <a:t>Scrum</a:t>
            </a:r>
            <a:r>
              <a:rPr lang="hr-HR" sz="2400" dirty="0"/>
              <a:t> Master, članovi tima) i ključne događaje poput planiranja sprinta, dnevnih </a:t>
            </a:r>
            <a:r>
              <a:rPr lang="hr-HR" sz="2400" dirty="0" err="1"/>
              <a:t>stand-up</a:t>
            </a:r>
            <a:r>
              <a:rPr lang="hr-HR" sz="2400" dirty="0"/>
              <a:t> sastanaka i retrospektive sprinta — ističući kako ove rutine stvaraju usklađenost, transparentnost i kontinuirano unapređenje.</a:t>
            </a:r>
          </a:p>
          <a:p>
            <a:pPr marL="0" indent="0">
              <a:buNone/>
            </a:pPr>
            <a:endParaRPr lang="hr-HR" sz="2400" dirty="0"/>
          </a:p>
          <a:p>
            <a:pPr marL="0" indent="0">
              <a:buNone/>
            </a:pPr>
            <a:r>
              <a:rPr lang="hr-HR" sz="2400" dirty="0"/>
              <a:t>Na kraju, edukacija pruža praktičnu orijentaciju za one koji žele formalizirati svoje vještine, nudeći pregled certifikata za </a:t>
            </a:r>
            <a:r>
              <a:rPr lang="hr-HR" sz="2400" dirty="0" err="1"/>
              <a:t>Scrum</a:t>
            </a:r>
            <a:r>
              <a:rPr lang="hr-HR" sz="2400" dirty="0"/>
              <a:t> Mastera (CSM, PSM, </a:t>
            </a:r>
            <a:r>
              <a:rPr lang="hr-HR" sz="2400" dirty="0" err="1"/>
              <a:t>SAFe</a:t>
            </a:r>
            <a:r>
              <a:rPr lang="hr-HR" sz="2400" dirty="0"/>
              <a:t> SSM, SMC), onoga na što je svaki certifikat usmjeren te kako odabrati najprikladniji put prema razini iskustva i profesionalnim ciljevima.</a:t>
            </a:r>
          </a:p>
        </p:txBody>
      </p:sp>
    </p:spTree>
    <p:extLst>
      <p:ext uri="{BB962C8B-B14F-4D97-AF65-F5344CB8AC3E}">
        <p14:creationId xmlns:p14="http://schemas.microsoft.com/office/powerpoint/2010/main" val="2094755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035C9-6DBE-E72A-682F-CB209D846A5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BF80657-B3A3-14BA-AF89-336BAB8A9BF5}"/>
              </a:ext>
            </a:extLst>
          </p:cNvPr>
          <p:cNvSpPr>
            <a:spLocks noGrp="1"/>
          </p:cNvSpPr>
          <p:nvPr>
            <p:ph type="title"/>
          </p:nvPr>
        </p:nvSpPr>
        <p:spPr/>
        <p:txBody>
          <a:bodyPr/>
          <a:lstStyle/>
          <a:p>
            <a:r>
              <a:rPr lang="hr-HR" dirty="0"/>
              <a:t>Uvod</a:t>
            </a:r>
            <a:endParaRPr lang="en-GB" dirty="0"/>
          </a:p>
        </p:txBody>
      </p:sp>
      <p:sp>
        <p:nvSpPr>
          <p:cNvPr id="3" name="Segnaposto contenuto 2">
            <a:extLst>
              <a:ext uri="{FF2B5EF4-FFF2-40B4-BE49-F238E27FC236}">
                <a16:creationId xmlns:a16="http://schemas.microsoft.com/office/drawing/2014/main" id="{9AD82112-5000-2A0C-C876-C925A62269A5}"/>
              </a:ext>
            </a:extLst>
          </p:cNvPr>
          <p:cNvSpPr>
            <a:spLocks noGrp="1"/>
          </p:cNvSpPr>
          <p:nvPr>
            <p:ph idx="1"/>
          </p:nvPr>
        </p:nvSpPr>
        <p:spPr/>
        <p:txBody>
          <a:bodyPr>
            <a:normAutofit fontScale="92500" lnSpcReduction="10000"/>
          </a:bodyPr>
          <a:lstStyle/>
          <a:p>
            <a:pPr marL="0" indent="0">
              <a:buNone/>
            </a:pPr>
            <a:r>
              <a:rPr lang="hr-HR" dirty="0"/>
              <a:t>Na kraju ovog modula moći ćete:</a:t>
            </a:r>
          </a:p>
          <a:p>
            <a:r>
              <a:rPr lang="hr-HR" dirty="0"/>
              <a:t>Razumjeti osnove </a:t>
            </a:r>
            <a:r>
              <a:rPr lang="hr-HR" dirty="0" err="1"/>
              <a:t>Kanban</a:t>
            </a:r>
            <a:r>
              <a:rPr lang="hr-HR" dirty="0"/>
              <a:t> i </a:t>
            </a:r>
            <a:r>
              <a:rPr lang="hr-HR" dirty="0" err="1"/>
              <a:t>Scrum</a:t>
            </a:r>
            <a:r>
              <a:rPr lang="hr-HR" dirty="0"/>
              <a:t> okvira</a:t>
            </a:r>
          </a:p>
          <a:p>
            <a:r>
              <a:rPr lang="hr-HR" dirty="0"/>
              <a:t>Razumjeti njihove razlike i kada ih primijeniti u stvarnim situacijama</a:t>
            </a:r>
          </a:p>
          <a:p>
            <a:r>
              <a:rPr lang="hr-HR" dirty="0"/>
              <a:t>Razumjeti ulogu </a:t>
            </a:r>
            <a:r>
              <a:rPr lang="hr-HR" dirty="0" err="1"/>
              <a:t>Agilea</a:t>
            </a:r>
            <a:r>
              <a:rPr lang="hr-HR" dirty="0"/>
              <a:t> u procesima koji nisu razvojni</a:t>
            </a:r>
          </a:p>
          <a:p>
            <a:r>
              <a:rPr lang="hr-HR" dirty="0"/>
              <a:t>Steći osnovno znanje o online alatima za agilno upravljanje projektima</a:t>
            </a:r>
          </a:p>
          <a:p>
            <a:r>
              <a:rPr lang="hr-HR" dirty="0"/>
              <a:t>Definirati uloge i ceremonije u agilnim metodama</a:t>
            </a:r>
          </a:p>
          <a:p>
            <a:r>
              <a:rPr lang="hr-HR" dirty="0"/>
              <a:t>Primijeniti </a:t>
            </a:r>
            <a:r>
              <a:rPr lang="hr-HR" dirty="0" err="1"/>
              <a:t>Agile</a:t>
            </a:r>
            <a:r>
              <a:rPr lang="hr-HR" dirty="0"/>
              <a:t> uloge i rituale u simuliranom okruženju</a:t>
            </a:r>
          </a:p>
          <a:p>
            <a:r>
              <a:rPr lang="hr-HR" dirty="0"/>
              <a:t>Razumjeti korake potrebne za stjecanje </a:t>
            </a:r>
            <a:r>
              <a:rPr lang="hr-HR" dirty="0" err="1"/>
              <a:t>Scrum</a:t>
            </a:r>
            <a:r>
              <a:rPr lang="hr-HR" dirty="0"/>
              <a:t> Master certifikata i zahtjeve za certifikaciju</a:t>
            </a:r>
          </a:p>
          <a:p>
            <a:pPr marL="0" indent="0">
              <a:buNone/>
            </a:pPr>
            <a:endParaRPr lang="en-GB" dirty="0"/>
          </a:p>
        </p:txBody>
      </p:sp>
    </p:spTree>
    <p:extLst>
      <p:ext uri="{BB962C8B-B14F-4D97-AF65-F5344CB8AC3E}">
        <p14:creationId xmlns:p14="http://schemas.microsoft.com/office/powerpoint/2010/main" val="392191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722FB42-0F0C-5A79-2378-0CF2B9FD195E}"/>
              </a:ext>
            </a:extLst>
          </p:cNvPr>
          <p:cNvSpPr>
            <a:spLocks noGrp="1"/>
          </p:cNvSpPr>
          <p:nvPr>
            <p:ph type="ctrTitle"/>
          </p:nvPr>
        </p:nvSpPr>
        <p:spPr/>
        <p:txBody>
          <a:bodyPr/>
          <a:lstStyle/>
          <a:p>
            <a:r>
              <a:rPr lang="hr-HR" dirty="0"/>
              <a:t>Usporedba </a:t>
            </a:r>
            <a:r>
              <a:rPr lang="en-GB" dirty="0"/>
              <a:t>Kanban</a:t>
            </a:r>
            <a:r>
              <a:rPr lang="hr-HR" dirty="0"/>
              <a:t>a</a:t>
            </a:r>
            <a:r>
              <a:rPr lang="en-GB" dirty="0"/>
              <a:t> </a:t>
            </a:r>
            <a:r>
              <a:rPr lang="hr-HR" dirty="0"/>
              <a:t>i</a:t>
            </a:r>
            <a:r>
              <a:rPr lang="en-GB" dirty="0"/>
              <a:t> Scrum</a:t>
            </a:r>
            <a:r>
              <a:rPr lang="hr-HR" dirty="0"/>
              <a:t>a</a:t>
            </a:r>
            <a:br>
              <a:rPr lang="en-GB" dirty="0"/>
            </a:br>
            <a:endParaRPr lang="en-GB" dirty="0"/>
          </a:p>
        </p:txBody>
      </p:sp>
    </p:spTree>
    <p:extLst>
      <p:ext uri="{BB962C8B-B14F-4D97-AF65-F5344CB8AC3E}">
        <p14:creationId xmlns:p14="http://schemas.microsoft.com/office/powerpoint/2010/main" val="1186225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616390-016E-5DBF-82CE-94CDE2B260B0}"/>
              </a:ext>
            </a:extLst>
          </p:cNvPr>
          <p:cNvSpPr>
            <a:spLocks noGrp="1"/>
          </p:cNvSpPr>
          <p:nvPr>
            <p:ph type="title"/>
          </p:nvPr>
        </p:nvSpPr>
        <p:spPr/>
        <p:txBody>
          <a:bodyPr/>
          <a:lstStyle/>
          <a:p>
            <a:r>
              <a:rPr lang="it-IT" dirty="0" err="1"/>
              <a:t>Kanban</a:t>
            </a:r>
            <a:r>
              <a:rPr lang="it-IT" dirty="0"/>
              <a:t> VS </a:t>
            </a:r>
            <a:r>
              <a:rPr lang="it-IT" dirty="0" err="1"/>
              <a:t>Scrum</a:t>
            </a:r>
            <a:endParaRPr lang="en-GB" dirty="0"/>
          </a:p>
        </p:txBody>
      </p:sp>
      <p:sp>
        <p:nvSpPr>
          <p:cNvPr id="3" name="Segnaposto contenuto 2">
            <a:extLst>
              <a:ext uri="{FF2B5EF4-FFF2-40B4-BE49-F238E27FC236}">
                <a16:creationId xmlns:a16="http://schemas.microsoft.com/office/drawing/2014/main" id="{6DD38946-8335-06E9-153F-46B0811FA24C}"/>
              </a:ext>
            </a:extLst>
          </p:cNvPr>
          <p:cNvSpPr>
            <a:spLocks noGrp="1"/>
          </p:cNvSpPr>
          <p:nvPr>
            <p:ph idx="1"/>
          </p:nvPr>
        </p:nvSpPr>
        <p:spPr>
          <a:xfrm>
            <a:off x="838200" y="1825625"/>
            <a:ext cx="10515600" cy="4165742"/>
          </a:xfrm>
        </p:spPr>
        <p:txBody>
          <a:bodyPr/>
          <a:lstStyle/>
          <a:p>
            <a:pPr marL="0" indent="0">
              <a:buNone/>
            </a:pPr>
            <a:r>
              <a:rPr lang="hr-HR" dirty="0"/>
              <a:t>Unutar </a:t>
            </a:r>
            <a:r>
              <a:rPr lang="hr-HR" dirty="0" err="1"/>
              <a:t>Agile</a:t>
            </a:r>
            <a:r>
              <a:rPr lang="hr-HR" dirty="0"/>
              <a:t> pristupa postoje dva različita „okvira” (koja se također nazivaju „metodama” ili „metodologijama”) koja se smatraju temeljnima:</a:t>
            </a:r>
            <a:endParaRPr lang="en-GB" dirty="0"/>
          </a:p>
          <a:p>
            <a:pPr marL="0" indent="0">
              <a:buNone/>
            </a:pPr>
            <a:endParaRPr lang="en-GB" dirty="0"/>
          </a:p>
          <a:p>
            <a:pPr marL="0" indent="0" algn="ctr">
              <a:buNone/>
            </a:pPr>
            <a:r>
              <a:rPr lang="en-GB" sz="6000" dirty="0"/>
              <a:t>Kanban </a:t>
            </a:r>
            <a:r>
              <a:rPr lang="hr-HR" sz="6000" dirty="0"/>
              <a:t>i</a:t>
            </a:r>
            <a:r>
              <a:rPr lang="en-GB" sz="6000" dirty="0"/>
              <a:t> Scrum</a:t>
            </a:r>
          </a:p>
          <a:p>
            <a:endParaRPr lang="en-GB" dirty="0"/>
          </a:p>
        </p:txBody>
      </p:sp>
    </p:spTree>
    <p:extLst>
      <p:ext uri="{BB962C8B-B14F-4D97-AF65-F5344CB8AC3E}">
        <p14:creationId xmlns:p14="http://schemas.microsoft.com/office/powerpoint/2010/main" val="2608109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55525-F563-751A-C31D-04F8625645A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6EB5397-B633-D4F0-0865-F64D22AF2402}"/>
              </a:ext>
            </a:extLst>
          </p:cNvPr>
          <p:cNvSpPr>
            <a:spLocks noGrp="1"/>
          </p:cNvSpPr>
          <p:nvPr>
            <p:ph type="title"/>
          </p:nvPr>
        </p:nvSpPr>
        <p:spPr/>
        <p:txBody>
          <a:bodyPr/>
          <a:lstStyle/>
          <a:p>
            <a:r>
              <a:rPr lang="hr-HR" dirty="0"/>
              <a:t>Sličnosti između </a:t>
            </a:r>
            <a:r>
              <a:rPr lang="it-IT" dirty="0" err="1"/>
              <a:t>Kanban</a:t>
            </a:r>
            <a:r>
              <a:rPr lang="hr-HR" dirty="0"/>
              <a:t>a</a:t>
            </a:r>
            <a:r>
              <a:rPr lang="it-IT" dirty="0"/>
              <a:t> </a:t>
            </a:r>
            <a:r>
              <a:rPr lang="hr-HR" dirty="0"/>
              <a:t>i</a:t>
            </a:r>
            <a:r>
              <a:rPr lang="it-IT" dirty="0"/>
              <a:t> </a:t>
            </a:r>
            <a:r>
              <a:rPr lang="it-IT" dirty="0" err="1"/>
              <a:t>Scrum</a:t>
            </a:r>
            <a:r>
              <a:rPr lang="hr-HR" dirty="0"/>
              <a:t>a</a:t>
            </a:r>
            <a:endParaRPr lang="en-GB" dirty="0"/>
          </a:p>
        </p:txBody>
      </p:sp>
      <p:sp>
        <p:nvSpPr>
          <p:cNvPr id="3" name="Segnaposto contenuto 2">
            <a:extLst>
              <a:ext uri="{FF2B5EF4-FFF2-40B4-BE49-F238E27FC236}">
                <a16:creationId xmlns:a16="http://schemas.microsoft.com/office/drawing/2014/main" id="{7B76A79F-48EC-EAB4-8195-D29488EB073B}"/>
              </a:ext>
            </a:extLst>
          </p:cNvPr>
          <p:cNvSpPr>
            <a:spLocks noGrp="1"/>
          </p:cNvSpPr>
          <p:nvPr>
            <p:ph idx="1"/>
          </p:nvPr>
        </p:nvSpPr>
        <p:spPr/>
        <p:txBody>
          <a:bodyPr/>
          <a:lstStyle/>
          <a:p>
            <a:pPr marL="0" indent="0">
              <a:buNone/>
            </a:pPr>
            <a:r>
              <a:rPr lang="en-GB" dirty="0"/>
              <a:t>1. </a:t>
            </a:r>
            <a:r>
              <a:rPr lang="pl-PL" dirty="0"/>
              <a:t>Oba su poznata po svojem vizualnom prikazu rada: „ploči”</a:t>
            </a:r>
            <a:endParaRPr lang="en-GB" dirty="0"/>
          </a:p>
        </p:txBody>
      </p:sp>
      <p:pic>
        <p:nvPicPr>
          <p:cNvPr id="5" name="Immagine 4">
            <a:extLst>
              <a:ext uri="{FF2B5EF4-FFF2-40B4-BE49-F238E27FC236}">
                <a16:creationId xmlns:a16="http://schemas.microsoft.com/office/drawing/2014/main" id="{0812266E-97B1-DBEC-B290-194823CF5754}"/>
              </a:ext>
            </a:extLst>
          </p:cNvPr>
          <p:cNvPicPr>
            <a:picLocks noChangeAspect="1"/>
          </p:cNvPicPr>
          <p:nvPr/>
        </p:nvPicPr>
        <p:blipFill>
          <a:blip r:embed="rId3">
            <a:extLst>
              <a:ext uri="{28A0092B-C50C-407E-A947-70E740481C1C}">
                <a14:useLocalDpi xmlns:a14="http://schemas.microsoft.com/office/drawing/2010/main" val="0"/>
              </a:ext>
            </a:extLst>
          </a:blip>
          <a:srcRect t="16315" b="13804"/>
          <a:stretch>
            <a:fillRect/>
          </a:stretch>
        </p:blipFill>
        <p:spPr>
          <a:xfrm>
            <a:off x="2396035" y="2524835"/>
            <a:ext cx="7399930" cy="3447411"/>
          </a:xfrm>
          <a:prstGeom prst="rect">
            <a:avLst/>
          </a:prstGeom>
        </p:spPr>
      </p:pic>
      <p:sp>
        <p:nvSpPr>
          <p:cNvPr id="7" name="Segnaposto contenuto 2">
            <a:extLst>
              <a:ext uri="{FF2B5EF4-FFF2-40B4-BE49-F238E27FC236}">
                <a16:creationId xmlns:a16="http://schemas.microsoft.com/office/drawing/2014/main" id="{03F094A2-ACE2-FBF9-D9DA-84A590D5B728}"/>
              </a:ext>
            </a:extLst>
          </p:cNvPr>
          <p:cNvSpPr txBox="1">
            <a:spLocks/>
          </p:cNvSpPr>
          <p:nvPr/>
        </p:nvSpPr>
        <p:spPr>
          <a:xfrm>
            <a:off x="3279592" y="5938745"/>
            <a:ext cx="5524165" cy="4764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900" dirty="0"/>
              <a:t>Source: </a:t>
            </a:r>
            <a:r>
              <a:rPr lang="en-GB" sz="900" i="1" dirty="0" err="1"/>
              <a:t>Freepik</a:t>
            </a:r>
            <a:r>
              <a:rPr lang="en-GB" sz="900" i="1" dirty="0"/>
              <a:t> (</a:t>
            </a:r>
            <a:r>
              <a:rPr lang="en-GB" sz="900" i="1" dirty="0">
                <a:hlinkClick r:id="rId4"/>
              </a:rPr>
              <a:t>https://www.freepik.com/free-vector/white-scrum-board-full-tasks-sticky-cards_1311624.htm#fromView=search&amp;page=1&amp;position=1&amp;uuid=5639c99d-3655-486b-8747-5436e4ee08ca&amp;query=management+board</a:t>
            </a:r>
            <a:r>
              <a:rPr lang="en-GB" sz="900" i="1" dirty="0"/>
              <a:t>) </a:t>
            </a:r>
            <a:endParaRPr lang="en-GB" sz="900" dirty="0"/>
          </a:p>
        </p:txBody>
      </p:sp>
    </p:spTree>
    <p:extLst>
      <p:ext uri="{BB962C8B-B14F-4D97-AF65-F5344CB8AC3E}">
        <p14:creationId xmlns:p14="http://schemas.microsoft.com/office/powerpoint/2010/main" val="3786799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4BC9C-6FAB-6FF7-6B9F-0C9265D7049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8E599E8-13CC-6124-F3A7-03FA059F995E}"/>
              </a:ext>
            </a:extLst>
          </p:cNvPr>
          <p:cNvSpPr>
            <a:spLocks noGrp="1"/>
          </p:cNvSpPr>
          <p:nvPr>
            <p:ph type="title"/>
          </p:nvPr>
        </p:nvSpPr>
        <p:spPr/>
        <p:txBody>
          <a:bodyPr/>
          <a:lstStyle/>
          <a:p>
            <a:r>
              <a:rPr lang="hr-HR" dirty="0"/>
              <a:t>Sličnosti između </a:t>
            </a:r>
            <a:r>
              <a:rPr lang="it-IT" dirty="0" err="1"/>
              <a:t>Kanban</a:t>
            </a:r>
            <a:r>
              <a:rPr lang="hr-HR" dirty="0"/>
              <a:t>a</a:t>
            </a:r>
            <a:r>
              <a:rPr lang="it-IT" dirty="0"/>
              <a:t> </a:t>
            </a:r>
            <a:r>
              <a:rPr lang="hr-HR" dirty="0"/>
              <a:t>i</a:t>
            </a:r>
            <a:r>
              <a:rPr lang="it-IT" dirty="0"/>
              <a:t> </a:t>
            </a:r>
            <a:r>
              <a:rPr lang="it-IT" dirty="0" err="1"/>
              <a:t>Scrum</a:t>
            </a:r>
            <a:r>
              <a:rPr lang="hr-HR" dirty="0"/>
              <a:t>a</a:t>
            </a:r>
            <a:endParaRPr lang="en-GB" dirty="0"/>
          </a:p>
        </p:txBody>
      </p:sp>
      <p:sp>
        <p:nvSpPr>
          <p:cNvPr id="3" name="Segnaposto contenuto 2">
            <a:extLst>
              <a:ext uri="{FF2B5EF4-FFF2-40B4-BE49-F238E27FC236}">
                <a16:creationId xmlns:a16="http://schemas.microsoft.com/office/drawing/2014/main" id="{11E37F59-7AE3-C4A2-D2AB-69A3C67D6C6E}"/>
              </a:ext>
            </a:extLst>
          </p:cNvPr>
          <p:cNvSpPr>
            <a:spLocks noGrp="1"/>
          </p:cNvSpPr>
          <p:nvPr>
            <p:ph idx="1"/>
          </p:nvPr>
        </p:nvSpPr>
        <p:spPr>
          <a:xfrm>
            <a:off x="1667539" y="2506662"/>
            <a:ext cx="3191540" cy="2937208"/>
          </a:xfrm>
        </p:spPr>
        <p:txBody>
          <a:bodyPr/>
          <a:lstStyle/>
          <a:p>
            <a:pPr marL="0" indent="0">
              <a:buNone/>
            </a:pPr>
            <a:r>
              <a:rPr lang="en-GB" dirty="0"/>
              <a:t>2. </a:t>
            </a:r>
            <a:r>
              <a:rPr lang="hr-HR" dirty="0"/>
              <a:t>I </a:t>
            </a:r>
            <a:r>
              <a:rPr lang="hr-HR" dirty="0" err="1"/>
              <a:t>Kanban</a:t>
            </a:r>
            <a:r>
              <a:rPr lang="hr-HR" dirty="0"/>
              <a:t> ploče i </a:t>
            </a:r>
            <a:r>
              <a:rPr lang="hr-HR" dirty="0" err="1"/>
              <a:t>Scrum</a:t>
            </a:r>
            <a:r>
              <a:rPr lang="hr-HR" dirty="0"/>
              <a:t> ploče koriste poznate „post-</a:t>
            </a:r>
            <a:r>
              <a:rPr lang="hr-HR" dirty="0" err="1"/>
              <a:t>it</a:t>
            </a:r>
            <a:r>
              <a:rPr lang="hr-HR" dirty="0"/>
              <a:t>” papiriće (kartice) za prikaz i komunikaciju napretka rada.</a:t>
            </a:r>
            <a:endParaRPr lang="en-GB" dirty="0"/>
          </a:p>
        </p:txBody>
      </p:sp>
      <p:pic>
        <p:nvPicPr>
          <p:cNvPr id="6" name="Immagine 5">
            <a:extLst>
              <a:ext uri="{FF2B5EF4-FFF2-40B4-BE49-F238E27FC236}">
                <a16:creationId xmlns:a16="http://schemas.microsoft.com/office/drawing/2014/main" id="{98EF4840-78CC-1396-CA45-59475168C6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8124" y="1825625"/>
            <a:ext cx="5242025" cy="3779041"/>
          </a:xfrm>
          <a:prstGeom prst="rect">
            <a:avLst/>
          </a:prstGeom>
        </p:spPr>
      </p:pic>
      <p:sp>
        <p:nvSpPr>
          <p:cNvPr id="7" name="Segnaposto contenuto 2">
            <a:extLst>
              <a:ext uri="{FF2B5EF4-FFF2-40B4-BE49-F238E27FC236}">
                <a16:creationId xmlns:a16="http://schemas.microsoft.com/office/drawing/2014/main" id="{66CCC622-C712-5F65-D30F-1A26988A1137}"/>
              </a:ext>
            </a:extLst>
          </p:cNvPr>
          <p:cNvSpPr txBox="1">
            <a:spLocks/>
          </p:cNvSpPr>
          <p:nvPr/>
        </p:nvSpPr>
        <p:spPr>
          <a:xfrm>
            <a:off x="5518124" y="5739603"/>
            <a:ext cx="5524165" cy="4764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900" dirty="0"/>
              <a:t>Source: </a:t>
            </a:r>
            <a:r>
              <a:rPr lang="en-GB" sz="900" i="1" dirty="0" err="1"/>
              <a:t>Freepik</a:t>
            </a:r>
            <a:r>
              <a:rPr lang="en-GB" sz="900" i="1" dirty="0"/>
              <a:t> (</a:t>
            </a:r>
            <a:r>
              <a:rPr lang="en-GB" sz="900" i="1" dirty="0">
                <a:hlinkClick r:id="rId4"/>
              </a:rPr>
              <a:t>https://www.freepik.com/free-photo/back-view-woman-office-writing-sticky-notes_7768787.htm#fromView=search&amp;page=3&amp;position=4&amp;uuid=c5b4b110-448c-47ca-8834-f55d8cec83e6&amp;query=sticky+notes+on+board</a:t>
            </a:r>
            <a:r>
              <a:rPr lang="en-GB" sz="900" i="1" dirty="0"/>
              <a:t>) </a:t>
            </a:r>
            <a:endParaRPr lang="en-GB" sz="900" dirty="0"/>
          </a:p>
        </p:txBody>
      </p:sp>
    </p:spTree>
    <p:extLst>
      <p:ext uri="{BB962C8B-B14F-4D97-AF65-F5344CB8AC3E}">
        <p14:creationId xmlns:p14="http://schemas.microsoft.com/office/powerpoint/2010/main" val="3536714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8BB48-92BB-828F-24B6-2C34B2C0D2D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5FDF222-3A49-9E6E-CD2B-318D7FB27330}"/>
              </a:ext>
            </a:extLst>
          </p:cNvPr>
          <p:cNvSpPr>
            <a:spLocks noGrp="1"/>
          </p:cNvSpPr>
          <p:nvPr>
            <p:ph type="title"/>
          </p:nvPr>
        </p:nvSpPr>
        <p:spPr/>
        <p:txBody>
          <a:bodyPr/>
          <a:lstStyle/>
          <a:p>
            <a:r>
              <a:rPr lang="hr-HR" dirty="0"/>
              <a:t>Sličnosti između </a:t>
            </a:r>
            <a:r>
              <a:rPr lang="it-IT" dirty="0" err="1"/>
              <a:t>Kanban</a:t>
            </a:r>
            <a:r>
              <a:rPr lang="hr-HR" dirty="0"/>
              <a:t>a</a:t>
            </a:r>
            <a:r>
              <a:rPr lang="it-IT" dirty="0"/>
              <a:t> </a:t>
            </a:r>
            <a:r>
              <a:rPr lang="hr-HR" dirty="0"/>
              <a:t>i</a:t>
            </a:r>
            <a:r>
              <a:rPr lang="it-IT" dirty="0"/>
              <a:t> </a:t>
            </a:r>
            <a:r>
              <a:rPr lang="it-IT" dirty="0" err="1"/>
              <a:t>Scrum</a:t>
            </a:r>
            <a:r>
              <a:rPr lang="hr-HR" dirty="0"/>
              <a:t>a</a:t>
            </a:r>
            <a:endParaRPr lang="en-GB" dirty="0"/>
          </a:p>
        </p:txBody>
      </p:sp>
      <p:sp>
        <p:nvSpPr>
          <p:cNvPr id="3" name="Segnaposto contenuto 2">
            <a:extLst>
              <a:ext uri="{FF2B5EF4-FFF2-40B4-BE49-F238E27FC236}">
                <a16:creationId xmlns:a16="http://schemas.microsoft.com/office/drawing/2014/main" id="{0290F5BB-377D-EEE0-9267-D8D1CA25C2C3}"/>
              </a:ext>
            </a:extLst>
          </p:cNvPr>
          <p:cNvSpPr>
            <a:spLocks noGrp="1"/>
          </p:cNvSpPr>
          <p:nvPr>
            <p:ph idx="1"/>
          </p:nvPr>
        </p:nvSpPr>
        <p:spPr>
          <a:xfrm>
            <a:off x="1167809" y="2492854"/>
            <a:ext cx="3372293" cy="2525713"/>
          </a:xfrm>
        </p:spPr>
        <p:txBody>
          <a:bodyPr/>
          <a:lstStyle/>
          <a:p>
            <a:pPr marL="0" indent="0">
              <a:buNone/>
            </a:pPr>
            <a:r>
              <a:rPr lang="en-GB" dirty="0"/>
              <a:t>3. </a:t>
            </a:r>
            <a:r>
              <a:rPr lang="hr-HR" dirty="0"/>
              <a:t>Napredak se prikazuje pomoću „stupaca” kroz koje različite kartice prolaze slijeva nadesno.</a:t>
            </a:r>
            <a:endParaRPr lang="en-GB" dirty="0"/>
          </a:p>
        </p:txBody>
      </p:sp>
      <p:pic>
        <p:nvPicPr>
          <p:cNvPr id="6" name="Immagine 5">
            <a:extLst>
              <a:ext uri="{FF2B5EF4-FFF2-40B4-BE49-F238E27FC236}">
                <a16:creationId xmlns:a16="http://schemas.microsoft.com/office/drawing/2014/main" id="{91165968-57EC-4DB9-55ED-575A09BAFD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0740" y="1825625"/>
            <a:ext cx="6943060" cy="3609221"/>
          </a:xfrm>
          <a:prstGeom prst="rect">
            <a:avLst/>
          </a:prstGeom>
        </p:spPr>
      </p:pic>
      <p:sp>
        <p:nvSpPr>
          <p:cNvPr id="7" name="Segnaposto contenuto 2">
            <a:extLst>
              <a:ext uri="{FF2B5EF4-FFF2-40B4-BE49-F238E27FC236}">
                <a16:creationId xmlns:a16="http://schemas.microsoft.com/office/drawing/2014/main" id="{E7F1570B-8CED-F2EF-D64B-374E6A7DE97C}"/>
              </a:ext>
            </a:extLst>
          </p:cNvPr>
          <p:cNvSpPr txBox="1">
            <a:spLocks/>
          </p:cNvSpPr>
          <p:nvPr/>
        </p:nvSpPr>
        <p:spPr>
          <a:xfrm>
            <a:off x="4548963" y="5434846"/>
            <a:ext cx="6666614" cy="4764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900" dirty="0"/>
              <a:t>Source: </a:t>
            </a:r>
            <a:r>
              <a:rPr lang="en-GB" sz="900" i="1" dirty="0" err="1"/>
              <a:t>Freepik</a:t>
            </a:r>
            <a:r>
              <a:rPr lang="en-GB" sz="900" i="1" dirty="0"/>
              <a:t> (</a:t>
            </a:r>
            <a:r>
              <a:rPr lang="en-GB" sz="900" i="1" dirty="0">
                <a:hlinkClick r:id="rId4"/>
              </a:rPr>
              <a:t>https://www.freepik.com/free-vector/organized-workflow-whiteboard_415821673.htm#fromView=search&amp;page=1&amp;position=4&amp;uuid=7fc9d184-ea28-40d7-9446-24507b1d1596&amp;query=columns+on+a+board</a:t>
            </a:r>
            <a:r>
              <a:rPr lang="en-GB" sz="900" i="1" dirty="0"/>
              <a:t>) </a:t>
            </a:r>
            <a:endParaRPr lang="en-GB" sz="900" dirty="0"/>
          </a:p>
        </p:txBody>
      </p:sp>
    </p:spTree>
    <p:extLst>
      <p:ext uri="{BB962C8B-B14F-4D97-AF65-F5344CB8AC3E}">
        <p14:creationId xmlns:p14="http://schemas.microsoft.com/office/powerpoint/2010/main" val="3354052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DFEA2-9C61-F0CE-FAEA-BCBCFBFD6F3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2640C59-FBD9-DD73-9962-CC437627AF40}"/>
              </a:ext>
            </a:extLst>
          </p:cNvPr>
          <p:cNvSpPr>
            <a:spLocks noGrp="1"/>
          </p:cNvSpPr>
          <p:nvPr>
            <p:ph type="title"/>
          </p:nvPr>
        </p:nvSpPr>
        <p:spPr/>
        <p:txBody>
          <a:bodyPr/>
          <a:lstStyle/>
          <a:p>
            <a:r>
              <a:rPr lang="hr-HR" dirty="0"/>
              <a:t>Sličnosti između </a:t>
            </a:r>
            <a:r>
              <a:rPr lang="it-IT" dirty="0" err="1"/>
              <a:t>Kanban</a:t>
            </a:r>
            <a:r>
              <a:rPr lang="hr-HR" dirty="0"/>
              <a:t>a</a:t>
            </a:r>
            <a:r>
              <a:rPr lang="it-IT" dirty="0"/>
              <a:t> </a:t>
            </a:r>
            <a:r>
              <a:rPr lang="hr-HR" dirty="0"/>
              <a:t>i</a:t>
            </a:r>
            <a:r>
              <a:rPr lang="it-IT" dirty="0"/>
              <a:t> </a:t>
            </a:r>
            <a:r>
              <a:rPr lang="it-IT" dirty="0" err="1"/>
              <a:t>Scrum</a:t>
            </a:r>
            <a:r>
              <a:rPr lang="hr-HR" dirty="0"/>
              <a:t>a</a:t>
            </a:r>
            <a:endParaRPr lang="en-GB" dirty="0"/>
          </a:p>
        </p:txBody>
      </p:sp>
      <p:sp>
        <p:nvSpPr>
          <p:cNvPr id="3" name="Segnaposto contenuto 2">
            <a:extLst>
              <a:ext uri="{FF2B5EF4-FFF2-40B4-BE49-F238E27FC236}">
                <a16:creationId xmlns:a16="http://schemas.microsoft.com/office/drawing/2014/main" id="{194F780B-4C0F-FF57-227D-5E513881D59B}"/>
              </a:ext>
            </a:extLst>
          </p:cNvPr>
          <p:cNvSpPr>
            <a:spLocks noGrp="1"/>
          </p:cNvSpPr>
          <p:nvPr>
            <p:ph idx="1"/>
          </p:nvPr>
        </p:nvSpPr>
        <p:spPr>
          <a:xfrm>
            <a:off x="1476153" y="2506662"/>
            <a:ext cx="3404191" cy="4351338"/>
          </a:xfrm>
        </p:spPr>
        <p:txBody>
          <a:bodyPr/>
          <a:lstStyle/>
          <a:p>
            <a:pPr marL="0" indent="0">
              <a:buNone/>
            </a:pPr>
            <a:r>
              <a:rPr lang="en-GB" dirty="0"/>
              <a:t>4. </a:t>
            </a:r>
            <a:r>
              <a:rPr lang="hr-HR" i="1" dirty="0"/>
              <a:t>To Do – </a:t>
            </a:r>
            <a:r>
              <a:rPr lang="hr-HR" i="1" dirty="0" err="1"/>
              <a:t>Doing</a:t>
            </a:r>
            <a:r>
              <a:rPr lang="hr-HR" i="1" dirty="0"/>
              <a:t> – Done</a:t>
            </a:r>
            <a:r>
              <a:rPr lang="hr-HR" dirty="0"/>
              <a:t> su „kanonski” stupci statusa, ali timovi obično proširuju broj i vrstu statusa prema svojim potrebama.</a:t>
            </a:r>
            <a:endParaRPr lang="en-GB" dirty="0"/>
          </a:p>
        </p:txBody>
      </p:sp>
      <p:pic>
        <p:nvPicPr>
          <p:cNvPr id="6" name="Immagine 5">
            <a:extLst>
              <a:ext uri="{FF2B5EF4-FFF2-40B4-BE49-F238E27FC236}">
                <a16:creationId xmlns:a16="http://schemas.microsoft.com/office/drawing/2014/main" id="{241C340A-AC36-39A9-419E-F0E4DED9AA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4772" y="1690688"/>
            <a:ext cx="6581553" cy="4387702"/>
          </a:xfrm>
          <a:prstGeom prst="rect">
            <a:avLst/>
          </a:prstGeom>
        </p:spPr>
      </p:pic>
      <p:sp>
        <p:nvSpPr>
          <p:cNvPr id="7" name="Segnaposto contenuto 2">
            <a:extLst>
              <a:ext uri="{FF2B5EF4-FFF2-40B4-BE49-F238E27FC236}">
                <a16:creationId xmlns:a16="http://schemas.microsoft.com/office/drawing/2014/main" id="{0118D64A-C7E7-C04C-175E-716D643B475A}"/>
              </a:ext>
            </a:extLst>
          </p:cNvPr>
          <p:cNvSpPr txBox="1">
            <a:spLocks/>
          </p:cNvSpPr>
          <p:nvPr/>
        </p:nvSpPr>
        <p:spPr>
          <a:xfrm>
            <a:off x="5757529" y="5920747"/>
            <a:ext cx="4976038" cy="4764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900" dirty="0"/>
              <a:t>Source: </a:t>
            </a:r>
            <a:r>
              <a:rPr lang="en-GB" sz="900" i="1" dirty="0" err="1"/>
              <a:t>Freepik</a:t>
            </a:r>
            <a:r>
              <a:rPr lang="en-GB" sz="900" i="1" dirty="0"/>
              <a:t> (</a:t>
            </a:r>
            <a:r>
              <a:rPr lang="en-GB" sz="900" i="1" dirty="0">
                <a:hlinkClick r:id="rId4"/>
              </a:rPr>
              <a:t>https://www.freepik.com/free-vector/flat-scrum-task-board-with-color-stick-paper-notes_26195122.htm#fromView=search&amp;page=1&amp;position=2&amp;uuid=c0f54920-478f-4727-9139-38b5ff287ce3&amp;query=management+board</a:t>
            </a:r>
            <a:r>
              <a:rPr lang="en-GB" sz="900" i="1" dirty="0"/>
              <a:t>) </a:t>
            </a:r>
            <a:endParaRPr lang="en-GB" sz="900" dirty="0"/>
          </a:p>
        </p:txBody>
      </p:sp>
    </p:spTree>
    <p:extLst>
      <p:ext uri="{BB962C8B-B14F-4D97-AF65-F5344CB8AC3E}">
        <p14:creationId xmlns:p14="http://schemas.microsoft.com/office/powerpoint/2010/main" val="3673595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84356-6347-D9C5-97C6-9F22FE9EF3E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A535B57-CE35-8304-4AC0-8CA769EE4966}"/>
              </a:ext>
            </a:extLst>
          </p:cNvPr>
          <p:cNvSpPr>
            <a:spLocks noGrp="1"/>
          </p:cNvSpPr>
          <p:nvPr>
            <p:ph type="title"/>
          </p:nvPr>
        </p:nvSpPr>
        <p:spPr/>
        <p:txBody>
          <a:bodyPr/>
          <a:lstStyle/>
          <a:p>
            <a:r>
              <a:rPr lang="hr-HR" dirty="0"/>
              <a:t>Sličnosti između </a:t>
            </a:r>
            <a:r>
              <a:rPr lang="it-IT" dirty="0" err="1"/>
              <a:t>Kanban</a:t>
            </a:r>
            <a:r>
              <a:rPr lang="hr-HR" dirty="0"/>
              <a:t>a</a:t>
            </a:r>
            <a:r>
              <a:rPr lang="it-IT" dirty="0"/>
              <a:t> </a:t>
            </a:r>
            <a:r>
              <a:rPr lang="hr-HR" dirty="0"/>
              <a:t>i</a:t>
            </a:r>
            <a:r>
              <a:rPr lang="it-IT" dirty="0"/>
              <a:t> </a:t>
            </a:r>
            <a:r>
              <a:rPr lang="it-IT" dirty="0" err="1"/>
              <a:t>Scrum</a:t>
            </a:r>
            <a:r>
              <a:rPr lang="hr-HR" dirty="0"/>
              <a:t>a</a:t>
            </a:r>
            <a:endParaRPr lang="en-GB" dirty="0"/>
          </a:p>
        </p:txBody>
      </p:sp>
      <p:sp>
        <p:nvSpPr>
          <p:cNvPr id="3" name="Segnaposto contenuto 2">
            <a:extLst>
              <a:ext uri="{FF2B5EF4-FFF2-40B4-BE49-F238E27FC236}">
                <a16:creationId xmlns:a16="http://schemas.microsoft.com/office/drawing/2014/main" id="{949E33CB-5B3A-0B28-9614-108CC8DF4DEB}"/>
              </a:ext>
            </a:extLst>
          </p:cNvPr>
          <p:cNvSpPr>
            <a:spLocks noGrp="1"/>
          </p:cNvSpPr>
          <p:nvPr>
            <p:ph idx="1"/>
          </p:nvPr>
        </p:nvSpPr>
        <p:spPr>
          <a:xfrm>
            <a:off x="6611680" y="2912443"/>
            <a:ext cx="2681177" cy="2289175"/>
          </a:xfrm>
        </p:spPr>
        <p:txBody>
          <a:bodyPr>
            <a:normAutofit lnSpcReduction="10000"/>
          </a:bodyPr>
          <a:lstStyle/>
          <a:p>
            <a:pPr marL="0" indent="0">
              <a:buNone/>
            </a:pPr>
            <a:r>
              <a:rPr lang="it-IT" dirty="0"/>
              <a:t>5</a:t>
            </a:r>
            <a:r>
              <a:rPr lang="en-GB" dirty="0"/>
              <a:t>. </a:t>
            </a:r>
            <a:r>
              <a:rPr lang="hr-HR" dirty="0"/>
              <a:t>Kartice koje se pojavljuju na ploči mogu pripadati različitim kategorijama.</a:t>
            </a:r>
            <a:endParaRPr lang="en-GB" dirty="0"/>
          </a:p>
        </p:txBody>
      </p:sp>
      <p:pic>
        <p:nvPicPr>
          <p:cNvPr id="6" name="Immagine 5">
            <a:extLst>
              <a:ext uri="{FF2B5EF4-FFF2-40B4-BE49-F238E27FC236}">
                <a16:creationId xmlns:a16="http://schemas.microsoft.com/office/drawing/2014/main" id="{23AC5482-0EA5-2016-0E77-87ECB5EB3F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0972" y="1968998"/>
            <a:ext cx="2773656" cy="4176067"/>
          </a:xfrm>
          <a:prstGeom prst="rect">
            <a:avLst/>
          </a:prstGeom>
        </p:spPr>
      </p:pic>
      <p:sp>
        <p:nvSpPr>
          <p:cNvPr id="7" name="Segnaposto contenuto 2">
            <a:extLst>
              <a:ext uri="{FF2B5EF4-FFF2-40B4-BE49-F238E27FC236}">
                <a16:creationId xmlns:a16="http://schemas.microsoft.com/office/drawing/2014/main" id="{B7333987-67A2-5AF9-5395-04BDB902BC91}"/>
              </a:ext>
            </a:extLst>
          </p:cNvPr>
          <p:cNvSpPr txBox="1">
            <a:spLocks/>
          </p:cNvSpPr>
          <p:nvPr/>
        </p:nvSpPr>
        <p:spPr>
          <a:xfrm>
            <a:off x="5672468" y="5668630"/>
            <a:ext cx="4976038" cy="4764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900" dirty="0"/>
              <a:t>Source: </a:t>
            </a:r>
            <a:r>
              <a:rPr lang="en-GB" sz="900" i="1" dirty="0" err="1"/>
              <a:t>Freepik</a:t>
            </a:r>
            <a:r>
              <a:rPr lang="en-GB" sz="900" i="1" dirty="0"/>
              <a:t> (</a:t>
            </a:r>
            <a:r>
              <a:rPr lang="en-GB" sz="900" i="1" dirty="0">
                <a:hlinkClick r:id="rId4"/>
              </a:rPr>
              <a:t>https://www.freepik.com/free-photo/index-cards-sticky-notes_1324668.htm#fromView=search&amp;page=1&amp;position=19&amp;uuid=8969f717-f42f-4252-8164-3793e25e0f21&amp;query=sticky+notes</a:t>
            </a:r>
            <a:r>
              <a:rPr lang="en-GB" sz="900" i="1" dirty="0"/>
              <a:t>) </a:t>
            </a:r>
            <a:endParaRPr lang="en-GB" sz="900" dirty="0"/>
          </a:p>
        </p:txBody>
      </p:sp>
    </p:spTree>
    <p:extLst>
      <p:ext uri="{BB962C8B-B14F-4D97-AF65-F5344CB8AC3E}">
        <p14:creationId xmlns:p14="http://schemas.microsoft.com/office/powerpoint/2010/main" val="2254149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1455F-01C5-0F3A-9BF1-3D64C42A503A}"/>
            </a:ext>
          </a:extLst>
        </p:cNvPr>
        <p:cNvGrpSpPr/>
        <p:nvPr/>
      </p:nvGrpSpPr>
      <p:grpSpPr>
        <a:xfrm>
          <a:off x="0" y="0"/>
          <a:ext cx="0" cy="0"/>
          <a:chOff x="0" y="0"/>
          <a:chExt cx="0" cy="0"/>
        </a:xfrm>
      </p:grpSpPr>
      <p:pic>
        <p:nvPicPr>
          <p:cNvPr id="15" name="Immagine 14">
            <a:extLst>
              <a:ext uri="{FF2B5EF4-FFF2-40B4-BE49-F238E27FC236}">
                <a16:creationId xmlns:a16="http://schemas.microsoft.com/office/drawing/2014/main" id="{153B2CCD-6F02-C045-13A7-3F1D53547D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2185" y="2385074"/>
            <a:ext cx="6147630" cy="3195731"/>
          </a:xfrm>
          <a:prstGeom prst="rect">
            <a:avLst/>
          </a:prstGeom>
        </p:spPr>
      </p:pic>
      <p:sp>
        <p:nvSpPr>
          <p:cNvPr id="2" name="Titolo 1">
            <a:extLst>
              <a:ext uri="{FF2B5EF4-FFF2-40B4-BE49-F238E27FC236}">
                <a16:creationId xmlns:a16="http://schemas.microsoft.com/office/drawing/2014/main" id="{2AF4E0C0-2CAE-AA19-5413-4AC17E9A83F8}"/>
              </a:ext>
            </a:extLst>
          </p:cNvPr>
          <p:cNvSpPr>
            <a:spLocks noGrp="1"/>
          </p:cNvSpPr>
          <p:nvPr>
            <p:ph type="title"/>
          </p:nvPr>
        </p:nvSpPr>
        <p:spPr/>
        <p:txBody>
          <a:bodyPr/>
          <a:lstStyle/>
          <a:p>
            <a:r>
              <a:rPr lang="hr-HR" dirty="0"/>
              <a:t>Anatomija agilne ploče</a:t>
            </a:r>
            <a:endParaRPr lang="en-GB" dirty="0"/>
          </a:p>
        </p:txBody>
      </p:sp>
      <p:sp>
        <p:nvSpPr>
          <p:cNvPr id="3" name="Segnaposto contenuto 2">
            <a:extLst>
              <a:ext uri="{FF2B5EF4-FFF2-40B4-BE49-F238E27FC236}">
                <a16:creationId xmlns:a16="http://schemas.microsoft.com/office/drawing/2014/main" id="{5387D966-F49F-3A8C-3E9D-21048D668F45}"/>
              </a:ext>
            </a:extLst>
          </p:cNvPr>
          <p:cNvSpPr>
            <a:spLocks noGrp="1"/>
          </p:cNvSpPr>
          <p:nvPr>
            <p:ph idx="1"/>
          </p:nvPr>
        </p:nvSpPr>
        <p:spPr>
          <a:xfrm>
            <a:off x="1431577" y="2027646"/>
            <a:ext cx="1868936" cy="1755063"/>
          </a:xfrm>
        </p:spPr>
        <p:txBody>
          <a:bodyPr>
            <a:normAutofit/>
          </a:bodyPr>
          <a:lstStyle/>
          <a:p>
            <a:pPr marL="0" indent="0">
              <a:buNone/>
            </a:pPr>
            <a:r>
              <a:rPr lang="en-GB" sz="1800" dirty="0"/>
              <a:t>STATUS</a:t>
            </a:r>
          </a:p>
          <a:p>
            <a:pPr marL="0" indent="0">
              <a:buNone/>
            </a:pPr>
            <a:r>
              <a:rPr lang="hr-HR" sz="1800" dirty="0"/>
              <a:t>Stupci koji prikazuju različite faze procesa</a:t>
            </a:r>
            <a:endParaRPr lang="en-GB" sz="1800" dirty="0"/>
          </a:p>
          <a:p>
            <a:pPr marL="0" indent="0">
              <a:buNone/>
            </a:pPr>
            <a:endParaRPr lang="en-GB" dirty="0"/>
          </a:p>
        </p:txBody>
      </p:sp>
      <p:sp>
        <p:nvSpPr>
          <p:cNvPr id="13" name="Segnaposto contenuto 2">
            <a:extLst>
              <a:ext uri="{FF2B5EF4-FFF2-40B4-BE49-F238E27FC236}">
                <a16:creationId xmlns:a16="http://schemas.microsoft.com/office/drawing/2014/main" id="{9DDD50F8-0B8D-C22B-34E8-80020B63F29F}"/>
              </a:ext>
            </a:extLst>
          </p:cNvPr>
          <p:cNvSpPr txBox="1">
            <a:spLocks/>
          </p:cNvSpPr>
          <p:nvPr/>
        </p:nvSpPr>
        <p:spPr>
          <a:xfrm>
            <a:off x="1072732" y="4458559"/>
            <a:ext cx="1868936" cy="17550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hr-HR" sz="1800" dirty="0"/>
              <a:t>KARTICA</a:t>
            </a:r>
            <a:endParaRPr lang="en-GB" sz="1800" dirty="0"/>
          </a:p>
          <a:p>
            <a:pPr marL="0" indent="0">
              <a:buNone/>
            </a:pPr>
            <a:r>
              <a:rPr lang="hr-HR" sz="1800" dirty="0"/>
              <a:t>Opis dijela posla, koji se također naziva zadatak ili problem.</a:t>
            </a:r>
            <a:endParaRPr lang="en-GB" dirty="0"/>
          </a:p>
        </p:txBody>
      </p:sp>
      <p:sp>
        <p:nvSpPr>
          <p:cNvPr id="14" name="Segnaposto contenuto 2">
            <a:extLst>
              <a:ext uri="{FF2B5EF4-FFF2-40B4-BE49-F238E27FC236}">
                <a16:creationId xmlns:a16="http://schemas.microsoft.com/office/drawing/2014/main" id="{9ED066B1-3BFA-D090-1D45-7E547DF75A47}"/>
              </a:ext>
            </a:extLst>
          </p:cNvPr>
          <p:cNvSpPr txBox="1">
            <a:spLocks/>
          </p:cNvSpPr>
          <p:nvPr/>
        </p:nvSpPr>
        <p:spPr>
          <a:xfrm>
            <a:off x="9484864" y="3105409"/>
            <a:ext cx="1868936" cy="17550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hr-HR" sz="1800" dirty="0"/>
              <a:t>TIP KARTICE</a:t>
            </a:r>
            <a:endParaRPr lang="en-GB" sz="1800" dirty="0"/>
          </a:p>
          <a:p>
            <a:pPr marL="0" indent="0">
              <a:buFont typeface="Arial" panose="020B0604020202020204" pitchFamily="34" charset="0"/>
              <a:buNone/>
            </a:pPr>
            <a:r>
              <a:rPr lang="hr-HR" sz="1800" dirty="0"/>
              <a:t>Identifikacija različitih kategorija zadataka</a:t>
            </a:r>
            <a:endParaRPr lang="en-GB" sz="1800" dirty="0"/>
          </a:p>
          <a:p>
            <a:pPr marL="0" indent="0">
              <a:buFont typeface="Arial" panose="020B0604020202020204" pitchFamily="34" charset="0"/>
              <a:buNone/>
            </a:pPr>
            <a:endParaRPr lang="en-GB" dirty="0"/>
          </a:p>
        </p:txBody>
      </p:sp>
      <p:cxnSp>
        <p:nvCxnSpPr>
          <p:cNvPr id="17" name="Connettore 2 16">
            <a:extLst>
              <a:ext uri="{FF2B5EF4-FFF2-40B4-BE49-F238E27FC236}">
                <a16:creationId xmlns:a16="http://schemas.microsoft.com/office/drawing/2014/main" id="{1A4D7C83-23DD-7A14-249A-84831CDA762C}"/>
              </a:ext>
            </a:extLst>
          </p:cNvPr>
          <p:cNvCxnSpPr>
            <a:cxnSpLocks/>
          </p:cNvCxnSpPr>
          <p:nvPr/>
        </p:nvCxnSpPr>
        <p:spPr>
          <a:xfrm flipV="1">
            <a:off x="2056894" y="4221126"/>
            <a:ext cx="2313087" cy="4040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ttore 2 17">
            <a:extLst>
              <a:ext uri="{FF2B5EF4-FFF2-40B4-BE49-F238E27FC236}">
                <a16:creationId xmlns:a16="http://schemas.microsoft.com/office/drawing/2014/main" id="{83CF3CE8-8D65-F348-4D90-5D59AA114EF9}"/>
              </a:ext>
            </a:extLst>
          </p:cNvPr>
          <p:cNvCxnSpPr>
            <a:cxnSpLocks/>
          </p:cNvCxnSpPr>
          <p:nvPr/>
        </p:nvCxnSpPr>
        <p:spPr>
          <a:xfrm>
            <a:off x="2573079" y="2283966"/>
            <a:ext cx="2020186" cy="6212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ttore 2 22">
            <a:extLst>
              <a:ext uri="{FF2B5EF4-FFF2-40B4-BE49-F238E27FC236}">
                <a16:creationId xmlns:a16="http://schemas.microsoft.com/office/drawing/2014/main" id="{54996F2D-6A0E-A1FA-C253-4FB3952FFA02}"/>
              </a:ext>
            </a:extLst>
          </p:cNvPr>
          <p:cNvCxnSpPr>
            <a:cxnSpLocks/>
          </p:cNvCxnSpPr>
          <p:nvPr/>
        </p:nvCxnSpPr>
        <p:spPr>
          <a:xfrm flipH="1">
            <a:off x="7453424" y="3349256"/>
            <a:ext cx="1935125" cy="3137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Segnaposto contenuto 2">
            <a:extLst>
              <a:ext uri="{FF2B5EF4-FFF2-40B4-BE49-F238E27FC236}">
                <a16:creationId xmlns:a16="http://schemas.microsoft.com/office/drawing/2014/main" id="{DB84064A-769E-A7CE-9684-ECB6128DEE9B}"/>
              </a:ext>
            </a:extLst>
          </p:cNvPr>
          <p:cNvSpPr txBox="1">
            <a:spLocks/>
          </p:cNvSpPr>
          <p:nvPr/>
        </p:nvSpPr>
        <p:spPr>
          <a:xfrm>
            <a:off x="3906959" y="5582190"/>
            <a:ext cx="4800603" cy="4764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900" dirty="0"/>
              <a:t>Source: </a:t>
            </a:r>
            <a:r>
              <a:rPr lang="en-GB" sz="900" i="1" dirty="0" err="1"/>
              <a:t>Freepik</a:t>
            </a:r>
            <a:r>
              <a:rPr lang="en-GB" sz="900" i="1" dirty="0"/>
              <a:t> (</a:t>
            </a:r>
            <a:r>
              <a:rPr lang="en-GB" sz="900" i="1" dirty="0">
                <a:hlinkClick r:id="rId4"/>
              </a:rPr>
              <a:t>https://www.freepik.com/free-vector/organized-planning-with-colorful-sticky-notes_415821705.htm#fromView=search&amp;page=2&amp;position=3&amp;uuid=ccdbd0b6-07f2-490d-bd39-c88353ebbdee&amp;query=to+do+doing+done+board</a:t>
            </a:r>
            <a:r>
              <a:rPr lang="en-GB" sz="900" i="1" dirty="0"/>
              <a:t>) </a:t>
            </a:r>
            <a:endParaRPr lang="en-GB" sz="900" dirty="0"/>
          </a:p>
        </p:txBody>
      </p:sp>
    </p:spTree>
    <p:extLst>
      <p:ext uri="{BB962C8B-B14F-4D97-AF65-F5344CB8AC3E}">
        <p14:creationId xmlns:p14="http://schemas.microsoft.com/office/powerpoint/2010/main" val="2112793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B940F-EF45-A66F-6B02-F6DB8584275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C9FD9B9-288E-7262-B288-67671DB1EC6B}"/>
              </a:ext>
            </a:extLst>
          </p:cNvPr>
          <p:cNvSpPr>
            <a:spLocks noGrp="1"/>
          </p:cNvSpPr>
          <p:nvPr>
            <p:ph type="title"/>
          </p:nvPr>
        </p:nvSpPr>
        <p:spPr/>
        <p:txBody>
          <a:bodyPr/>
          <a:lstStyle/>
          <a:p>
            <a:r>
              <a:rPr lang="hr-HR" dirty="0"/>
              <a:t>Karakteristike </a:t>
            </a:r>
            <a:r>
              <a:rPr lang="en-GB" dirty="0"/>
              <a:t>Kanban </a:t>
            </a:r>
            <a:r>
              <a:rPr lang="hr-HR" dirty="0"/>
              <a:t>ploče</a:t>
            </a:r>
            <a:endParaRPr lang="en-GB" dirty="0"/>
          </a:p>
        </p:txBody>
      </p:sp>
      <p:sp>
        <p:nvSpPr>
          <p:cNvPr id="3" name="Segnaposto contenuto 2">
            <a:extLst>
              <a:ext uri="{FF2B5EF4-FFF2-40B4-BE49-F238E27FC236}">
                <a16:creationId xmlns:a16="http://schemas.microsoft.com/office/drawing/2014/main" id="{416D0C28-EA83-111D-D348-AACBB2FF9C94}"/>
              </a:ext>
            </a:extLst>
          </p:cNvPr>
          <p:cNvSpPr>
            <a:spLocks noGrp="1"/>
          </p:cNvSpPr>
          <p:nvPr>
            <p:ph idx="1"/>
          </p:nvPr>
        </p:nvSpPr>
        <p:spPr/>
        <p:txBody>
          <a:bodyPr/>
          <a:lstStyle/>
          <a:p>
            <a:r>
              <a:rPr lang="hr-HR" dirty="0" err="1"/>
              <a:t>Kanban</a:t>
            </a:r>
            <a:r>
              <a:rPr lang="hr-HR" dirty="0"/>
              <a:t> ploča prati tijek procesa ograničavanjem broja aktivnosti na kojima se trenutno radi.</a:t>
            </a:r>
          </a:p>
          <a:p>
            <a:r>
              <a:rPr lang="hr-HR" dirty="0"/>
              <a:t>Broj aktivnosti u tijeku dovoljno je malen da se izbjegnu nevažne zadaće, ali i dovoljno velik da se smanji neiskorištenost članova tima.</a:t>
            </a:r>
          </a:p>
          <a:p>
            <a:pPr marL="0" indent="0">
              <a:buNone/>
            </a:pPr>
            <a:endParaRPr lang="hr-HR" dirty="0"/>
          </a:p>
          <a:p>
            <a:pPr marL="0" indent="0">
              <a:buNone/>
            </a:pPr>
            <a:r>
              <a:rPr lang="hr-HR" dirty="0" err="1"/>
              <a:t>Kanban</a:t>
            </a:r>
            <a:r>
              <a:rPr lang="hr-HR" dirty="0"/>
              <a:t> je poput košarkaške utakmice: svaka dovršena aktivnost vrijedi kao jedan poen, a tim nastoji svesti vrijeme između „</a:t>
            </a:r>
            <a:r>
              <a:rPr lang="hr-HR" dirty="0" err="1"/>
              <a:t>šuteva</a:t>
            </a:r>
            <a:r>
              <a:rPr lang="hr-HR" dirty="0"/>
              <a:t>” na minimum.</a:t>
            </a:r>
          </a:p>
          <a:p>
            <a:endParaRPr lang="en-GB" dirty="0"/>
          </a:p>
        </p:txBody>
      </p:sp>
    </p:spTree>
    <p:extLst>
      <p:ext uri="{BB962C8B-B14F-4D97-AF65-F5344CB8AC3E}">
        <p14:creationId xmlns:p14="http://schemas.microsoft.com/office/powerpoint/2010/main" val="2717162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19969-C9C5-4ADE-FD51-005DF90F111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7058437-C569-E9D7-2744-B28D8D8EFC69}"/>
              </a:ext>
            </a:extLst>
          </p:cNvPr>
          <p:cNvSpPr>
            <a:spLocks noGrp="1"/>
          </p:cNvSpPr>
          <p:nvPr>
            <p:ph type="title"/>
          </p:nvPr>
        </p:nvSpPr>
        <p:spPr/>
        <p:txBody>
          <a:bodyPr/>
          <a:lstStyle/>
          <a:p>
            <a:r>
              <a:rPr lang="hr-HR" dirty="0"/>
              <a:t>Karakteristike </a:t>
            </a:r>
            <a:r>
              <a:rPr lang="en-GB" dirty="0"/>
              <a:t>Scrum </a:t>
            </a:r>
            <a:r>
              <a:rPr lang="hr-HR" dirty="0"/>
              <a:t>ploče</a:t>
            </a:r>
            <a:endParaRPr lang="en-GB" dirty="0"/>
          </a:p>
        </p:txBody>
      </p:sp>
      <p:sp>
        <p:nvSpPr>
          <p:cNvPr id="3" name="Segnaposto contenuto 2">
            <a:extLst>
              <a:ext uri="{FF2B5EF4-FFF2-40B4-BE49-F238E27FC236}">
                <a16:creationId xmlns:a16="http://schemas.microsoft.com/office/drawing/2014/main" id="{11F9F9C2-8B90-E32F-008F-3F4865F009FB}"/>
              </a:ext>
            </a:extLst>
          </p:cNvPr>
          <p:cNvSpPr>
            <a:spLocks noGrp="1"/>
          </p:cNvSpPr>
          <p:nvPr>
            <p:ph idx="1"/>
          </p:nvPr>
        </p:nvSpPr>
        <p:spPr/>
        <p:txBody>
          <a:bodyPr/>
          <a:lstStyle/>
          <a:p>
            <a:r>
              <a:rPr lang="hr-HR" dirty="0" err="1"/>
              <a:t>Scrum</a:t>
            </a:r>
            <a:r>
              <a:rPr lang="hr-HR" dirty="0"/>
              <a:t> ploča prati rad koji se obavlja unutar ciklusa fiksnog trajanja, koji se nazivaju „sprintovi”. Sprint je kratko, dosljedno i ponavljajuće vremensko razdoblje.</a:t>
            </a:r>
          </a:p>
          <a:p>
            <a:r>
              <a:rPr lang="hr-HR" dirty="0"/>
              <a:t>Trajanje sprinta dovoljno je kratko da tim ostane fokusiran, ali i dovoljno dugo da korisniku isporuči primjetan inkrement rada.</a:t>
            </a:r>
          </a:p>
          <a:p>
            <a:pPr marL="0" indent="0">
              <a:buNone/>
            </a:pPr>
            <a:endParaRPr lang="hr-HR" dirty="0"/>
          </a:p>
          <a:p>
            <a:pPr marL="0" indent="0">
              <a:buNone/>
            </a:pPr>
            <a:r>
              <a:rPr lang="hr-HR" dirty="0" err="1"/>
              <a:t>Scrum</a:t>
            </a:r>
            <a:r>
              <a:rPr lang="hr-HR" dirty="0"/>
              <a:t> je poput ispita na fakultetu: morate riješiti niz zadataka u određenom vremenskom razdoblju, unutar kojeg nisu dopuštene druge aktivnosti.</a:t>
            </a:r>
          </a:p>
          <a:p>
            <a:endParaRPr lang="en-GB" dirty="0"/>
          </a:p>
        </p:txBody>
      </p:sp>
    </p:spTree>
    <p:extLst>
      <p:ext uri="{BB962C8B-B14F-4D97-AF65-F5344CB8AC3E}">
        <p14:creationId xmlns:p14="http://schemas.microsoft.com/office/powerpoint/2010/main" val="1712352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818CF-2083-CEB5-5E54-F7E718C1111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F3C28DF-3180-C0F9-69D1-4D687C7AF99C}"/>
              </a:ext>
            </a:extLst>
          </p:cNvPr>
          <p:cNvSpPr>
            <a:spLocks noGrp="1"/>
          </p:cNvSpPr>
          <p:nvPr>
            <p:ph type="title"/>
          </p:nvPr>
        </p:nvSpPr>
        <p:spPr/>
        <p:txBody>
          <a:bodyPr/>
          <a:lstStyle/>
          <a:p>
            <a:r>
              <a:rPr lang="it-IT" dirty="0" err="1"/>
              <a:t>Kanban</a:t>
            </a:r>
            <a:r>
              <a:rPr lang="it-IT" dirty="0"/>
              <a:t> VS </a:t>
            </a:r>
            <a:r>
              <a:rPr lang="it-IT" dirty="0" err="1"/>
              <a:t>Scrum</a:t>
            </a:r>
            <a:endParaRPr lang="en-GB" dirty="0"/>
          </a:p>
        </p:txBody>
      </p:sp>
      <p:sp>
        <p:nvSpPr>
          <p:cNvPr id="3" name="Segnaposto contenuto 2">
            <a:extLst>
              <a:ext uri="{FF2B5EF4-FFF2-40B4-BE49-F238E27FC236}">
                <a16:creationId xmlns:a16="http://schemas.microsoft.com/office/drawing/2014/main" id="{40925557-18C5-1A62-AD47-72295A4DE21D}"/>
              </a:ext>
            </a:extLst>
          </p:cNvPr>
          <p:cNvSpPr>
            <a:spLocks noGrp="1"/>
          </p:cNvSpPr>
          <p:nvPr>
            <p:ph idx="1"/>
          </p:nvPr>
        </p:nvSpPr>
        <p:spPr>
          <a:xfrm>
            <a:off x="838200" y="1782896"/>
            <a:ext cx="10515600" cy="4351338"/>
          </a:xfrm>
        </p:spPr>
        <p:txBody>
          <a:bodyPr>
            <a:normAutofit fontScale="70000" lnSpcReduction="20000"/>
          </a:bodyPr>
          <a:lstStyle/>
          <a:p>
            <a:pPr marL="0" indent="0">
              <a:buNone/>
            </a:pPr>
            <a:r>
              <a:rPr lang="hr-HR" sz="4000" u="sng" dirty="0"/>
              <a:t>Ograničenja rada u tijeku</a:t>
            </a:r>
          </a:p>
          <a:p>
            <a:pPr marL="0" indent="0">
              <a:buNone/>
            </a:pPr>
            <a:endParaRPr lang="hr-HR" sz="4000" u="sng" dirty="0"/>
          </a:p>
          <a:p>
            <a:r>
              <a:rPr lang="hr-HR" sz="4000" dirty="0" err="1"/>
              <a:t>Scrum</a:t>
            </a:r>
            <a:r>
              <a:rPr lang="hr-HR" sz="4000" dirty="0"/>
              <a:t> ograničava WIP po iteraciji. Tim se mora obvezati na broj zadataka unutar sprinta. Ništa ne sprječava da sve kartice istodobno budu u statusu „U tijeku”.</a:t>
            </a:r>
          </a:p>
          <a:p>
            <a:r>
              <a:rPr lang="hr-HR" sz="4000" dirty="0" err="1"/>
              <a:t>Kanban</a:t>
            </a:r>
            <a:r>
              <a:rPr lang="hr-HR" sz="4000" dirty="0"/>
              <a:t> ograničava WIP po statusu. Broj „5” u stupcu „U tijeku” znači da u toj fazi tijeka rada ne bi smjelo biti više od 5 kartica.</a:t>
            </a:r>
          </a:p>
          <a:p>
            <a:pPr marL="0" indent="0">
              <a:buNone/>
            </a:pPr>
            <a:endParaRPr lang="hr-HR" sz="4000" dirty="0"/>
          </a:p>
          <a:p>
            <a:pPr marL="0" indent="0">
              <a:buNone/>
            </a:pPr>
            <a:r>
              <a:rPr lang="hr-HR" sz="4000" dirty="0"/>
              <a:t>Rad u tijeku (</a:t>
            </a:r>
            <a:r>
              <a:rPr lang="hr-HR" sz="4000" dirty="0" err="1"/>
              <a:t>Work</a:t>
            </a:r>
            <a:r>
              <a:rPr lang="hr-HR" sz="4000" dirty="0"/>
              <a:t> In </a:t>
            </a:r>
            <a:r>
              <a:rPr lang="hr-HR" sz="4000" dirty="0" err="1"/>
              <a:t>Process</a:t>
            </a:r>
            <a:r>
              <a:rPr lang="hr-HR" sz="4000" dirty="0"/>
              <a:t>): pojam koji se koristi za označavanje broja dijelova (ili serija) koji se istodobno obrađuju unutar proizvodnog sustava. To je materijal koji napušta jednu fazu procesa i čeka obradu u sljedećoj fazi.</a:t>
            </a:r>
          </a:p>
          <a:p>
            <a:pPr marL="0" indent="0">
              <a:buNone/>
            </a:pPr>
            <a:endParaRPr lang="en-GB" u="sng" dirty="0"/>
          </a:p>
          <a:p>
            <a:endParaRPr lang="en-GB" dirty="0"/>
          </a:p>
        </p:txBody>
      </p:sp>
    </p:spTree>
    <p:extLst>
      <p:ext uri="{BB962C8B-B14F-4D97-AF65-F5344CB8AC3E}">
        <p14:creationId xmlns:p14="http://schemas.microsoft.com/office/powerpoint/2010/main" val="2329139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99B83-AB19-E5D6-BE19-6A966540BB5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BE90B75-407E-6989-62A7-E17CC6155A2D}"/>
              </a:ext>
            </a:extLst>
          </p:cNvPr>
          <p:cNvSpPr>
            <a:spLocks noGrp="1"/>
          </p:cNvSpPr>
          <p:nvPr>
            <p:ph type="title"/>
          </p:nvPr>
        </p:nvSpPr>
        <p:spPr/>
        <p:txBody>
          <a:bodyPr/>
          <a:lstStyle/>
          <a:p>
            <a:r>
              <a:rPr lang="it-IT" dirty="0" err="1"/>
              <a:t>Kanban</a:t>
            </a:r>
            <a:r>
              <a:rPr lang="it-IT" dirty="0"/>
              <a:t> VS </a:t>
            </a:r>
            <a:r>
              <a:rPr lang="it-IT" dirty="0" err="1"/>
              <a:t>Scrum</a:t>
            </a:r>
            <a:endParaRPr lang="en-GB" dirty="0"/>
          </a:p>
        </p:txBody>
      </p:sp>
      <p:sp>
        <p:nvSpPr>
          <p:cNvPr id="3" name="Segnaposto contenuto 2">
            <a:extLst>
              <a:ext uri="{FF2B5EF4-FFF2-40B4-BE49-F238E27FC236}">
                <a16:creationId xmlns:a16="http://schemas.microsoft.com/office/drawing/2014/main" id="{003E3607-8B3E-41B6-045C-C9BBC61A7368}"/>
              </a:ext>
            </a:extLst>
          </p:cNvPr>
          <p:cNvSpPr>
            <a:spLocks noGrp="1"/>
          </p:cNvSpPr>
          <p:nvPr>
            <p:ph idx="1"/>
          </p:nvPr>
        </p:nvSpPr>
        <p:spPr>
          <a:xfrm>
            <a:off x="838200" y="1782896"/>
            <a:ext cx="10515600" cy="4351338"/>
          </a:xfrm>
        </p:spPr>
        <p:txBody>
          <a:bodyPr/>
          <a:lstStyle/>
          <a:p>
            <a:pPr marL="0" indent="0">
              <a:buNone/>
            </a:pPr>
            <a:r>
              <a:rPr lang="hr-HR" u="sng" dirty="0"/>
              <a:t>Vlasnici</a:t>
            </a:r>
            <a:endParaRPr lang="en-GB" u="sng" dirty="0"/>
          </a:p>
          <a:p>
            <a:pPr marL="0" indent="0">
              <a:buNone/>
            </a:pPr>
            <a:endParaRPr lang="en-GB" u="sng" dirty="0"/>
          </a:p>
          <a:p>
            <a:r>
              <a:rPr lang="hr-HR" sz="2400" dirty="0"/>
              <a:t>U </a:t>
            </a:r>
            <a:r>
              <a:rPr lang="hr-HR" sz="2400" dirty="0" err="1"/>
              <a:t>Scrumu</a:t>
            </a:r>
            <a:r>
              <a:rPr lang="hr-HR" sz="2400" dirty="0"/>
              <a:t> je ploča uvijek „u vlasništvu” jednog </a:t>
            </a:r>
            <a:r>
              <a:rPr lang="hr-HR" sz="2400" dirty="0" err="1"/>
              <a:t>Scrum</a:t>
            </a:r>
            <a:r>
              <a:rPr lang="hr-HR" sz="2400" dirty="0"/>
              <a:t> tima (= </a:t>
            </a:r>
            <a:r>
              <a:rPr lang="hr-HR" sz="2400" dirty="0" err="1"/>
              <a:t>međufunkcionalne</a:t>
            </a:r>
            <a:r>
              <a:rPr lang="hr-HR" sz="2400" dirty="0"/>
              <a:t> skupine ljudi sa svim potrebnim vještinama za uspješno dovršavanje aktivnosti unutar svakog sprinta).</a:t>
            </a:r>
          </a:p>
          <a:p>
            <a:endParaRPr lang="hr-HR" sz="2400" dirty="0"/>
          </a:p>
          <a:p>
            <a:r>
              <a:rPr lang="hr-HR" sz="2400" dirty="0" err="1"/>
              <a:t>Kanban</a:t>
            </a:r>
            <a:r>
              <a:rPr lang="hr-HR" sz="2400" dirty="0"/>
              <a:t> ploča ne mora biti „u vlasništvu” određenog tima jer je uglavnom namijenjena praćenju jednog (</a:t>
            </a:r>
            <a:r>
              <a:rPr lang="hr-HR" sz="2400" dirty="0" err="1"/>
              <a:t>monofunkcionalnog</a:t>
            </a:r>
            <a:r>
              <a:rPr lang="hr-HR" sz="2400" dirty="0"/>
              <a:t>) tijeka rada.</a:t>
            </a:r>
          </a:p>
          <a:p>
            <a:pPr marL="0" indent="0">
              <a:buNone/>
            </a:pPr>
            <a:endParaRPr lang="en-GB" u="sng" dirty="0"/>
          </a:p>
        </p:txBody>
      </p:sp>
    </p:spTree>
    <p:extLst>
      <p:ext uri="{BB962C8B-B14F-4D97-AF65-F5344CB8AC3E}">
        <p14:creationId xmlns:p14="http://schemas.microsoft.com/office/powerpoint/2010/main" val="1622735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03129-B818-D930-5E01-03DADE7CA30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4F51E96-F425-7B85-A9B9-6191B72C12A3}"/>
              </a:ext>
            </a:extLst>
          </p:cNvPr>
          <p:cNvSpPr>
            <a:spLocks noGrp="1"/>
          </p:cNvSpPr>
          <p:nvPr>
            <p:ph type="title"/>
          </p:nvPr>
        </p:nvSpPr>
        <p:spPr/>
        <p:txBody>
          <a:bodyPr/>
          <a:lstStyle/>
          <a:p>
            <a:r>
              <a:rPr lang="it-IT" dirty="0" err="1"/>
              <a:t>Kanban</a:t>
            </a:r>
            <a:r>
              <a:rPr lang="it-IT" dirty="0"/>
              <a:t> VS </a:t>
            </a:r>
            <a:r>
              <a:rPr lang="it-IT" dirty="0" err="1"/>
              <a:t>Scrum</a:t>
            </a:r>
            <a:endParaRPr lang="en-GB" dirty="0"/>
          </a:p>
        </p:txBody>
      </p:sp>
      <p:sp>
        <p:nvSpPr>
          <p:cNvPr id="3" name="Segnaposto contenuto 2">
            <a:extLst>
              <a:ext uri="{FF2B5EF4-FFF2-40B4-BE49-F238E27FC236}">
                <a16:creationId xmlns:a16="http://schemas.microsoft.com/office/drawing/2014/main" id="{8AD7FB12-2CBB-F283-FF1D-BB947FE89AED}"/>
              </a:ext>
            </a:extLst>
          </p:cNvPr>
          <p:cNvSpPr>
            <a:spLocks noGrp="1"/>
          </p:cNvSpPr>
          <p:nvPr>
            <p:ph idx="1"/>
          </p:nvPr>
        </p:nvSpPr>
        <p:spPr>
          <a:xfrm>
            <a:off x="838200" y="1782896"/>
            <a:ext cx="10515600" cy="4351338"/>
          </a:xfrm>
        </p:spPr>
        <p:txBody>
          <a:bodyPr>
            <a:normAutofit fontScale="92500"/>
          </a:bodyPr>
          <a:lstStyle/>
          <a:p>
            <a:pPr marL="0" indent="0">
              <a:buNone/>
            </a:pPr>
            <a:r>
              <a:rPr lang="hr-HR" sz="3300" u="sng" dirty="0"/>
              <a:t>Predanost zadatku</a:t>
            </a:r>
            <a:endParaRPr lang="en-GB" sz="3300" u="sng" dirty="0"/>
          </a:p>
          <a:p>
            <a:pPr marL="0" indent="0">
              <a:buNone/>
            </a:pPr>
            <a:endParaRPr lang="en-GB" dirty="0"/>
          </a:p>
          <a:p>
            <a:r>
              <a:rPr lang="hr-HR" dirty="0"/>
              <a:t>U </a:t>
            </a:r>
            <a:r>
              <a:rPr lang="hr-HR" dirty="0" err="1"/>
              <a:t>Scrumu</a:t>
            </a:r>
            <a:r>
              <a:rPr lang="hr-HR" dirty="0"/>
              <a:t> se cijeli tim usmjerava na svaki zadatak.</a:t>
            </a:r>
          </a:p>
          <a:p>
            <a:endParaRPr lang="hr-HR" dirty="0"/>
          </a:p>
          <a:p>
            <a:r>
              <a:rPr lang="hr-HR" dirty="0"/>
              <a:t>U </a:t>
            </a:r>
            <a:r>
              <a:rPr lang="hr-HR" dirty="0" err="1"/>
              <a:t>Kanbanu</a:t>
            </a:r>
            <a:r>
              <a:rPr lang="hr-HR" dirty="0"/>
              <a:t> je svaka osoba odgovorna za vlastiti tijek rada. Međutim, </a:t>
            </a:r>
            <a:r>
              <a:rPr lang="hr-HR" dirty="0" err="1"/>
              <a:t>Kanban</a:t>
            </a:r>
            <a:r>
              <a:rPr lang="hr-HR" dirty="0"/>
              <a:t> njeguje kulturu pomaganja ondje gdje su resursi ograničeni kako bi se riješila takozvana „uska grla” — ako je jedna osoba završila svoj zadatak, a u nekom stupcu na ploči postoji nešto složeno (odnosno usko grlo), može odlučiti hoće li pomoći kolegi da dovrši taj zadatak ili će uzeti novi zadatak iz reda čekanja.</a:t>
            </a:r>
          </a:p>
          <a:p>
            <a:pPr marL="0" indent="0">
              <a:buNone/>
            </a:pPr>
            <a:endParaRPr lang="en-GB" dirty="0"/>
          </a:p>
        </p:txBody>
      </p:sp>
    </p:spTree>
    <p:extLst>
      <p:ext uri="{BB962C8B-B14F-4D97-AF65-F5344CB8AC3E}">
        <p14:creationId xmlns:p14="http://schemas.microsoft.com/office/powerpoint/2010/main" val="2485088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BA5A9-CA39-8F54-6BD3-98964ACE201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1531D4A-0ECC-C76E-1924-D615C17E81A5}"/>
              </a:ext>
            </a:extLst>
          </p:cNvPr>
          <p:cNvSpPr>
            <a:spLocks noGrp="1"/>
          </p:cNvSpPr>
          <p:nvPr>
            <p:ph type="title"/>
          </p:nvPr>
        </p:nvSpPr>
        <p:spPr/>
        <p:txBody>
          <a:bodyPr/>
          <a:lstStyle/>
          <a:p>
            <a:r>
              <a:rPr lang="it-IT" dirty="0" err="1"/>
              <a:t>Kanban</a:t>
            </a:r>
            <a:r>
              <a:rPr lang="it-IT" dirty="0"/>
              <a:t> VS </a:t>
            </a:r>
            <a:r>
              <a:rPr lang="it-IT" dirty="0" err="1"/>
              <a:t>Scrum</a:t>
            </a:r>
            <a:endParaRPr lang="en-GB" dirty="0"/>
          </a:p>
        </p:txBody>
      </p:sp>
      <p:sp>
        <p:nvSpPr>
          <p:cNvPr id="3" name="Segnaposto contenuto 2">
            <a:extLst>
              <a:ext uri="{FF2B5EF4-FFF2-40B4-BE49-F238E27FC236}">
                <a16:creationId xmlns:a16="http://schemas.microsoft.com/office/drawing/2014/main" id="{FB1AEC88-C7F7-2AF2-6307-232E45758716}"/>
              </a:ext>
            </a:extLst>
          </p:cNvPr>
          <p:cNvSpPr>
            <a:spLocks noGrp="1"/>
          </p:cNvSpPr>
          <p:nvPr>
            <p:ph idx="1"/>
          </p:nvPr>
        </p:nvSpPr>
        <p:spPr>
          <a:xfrm>
            <a:off x="838200" y="1782896"/>
            <a:ext cx="10515600" cy="4351338"/>
          </a:xfrm>
        </p:spPr>
        <p:txBody>
          <a:bodyPr>
            <a:normAutofit fontScale="92500" lnSpcReduction="10000"/>
          </a:bodyPr>
          <a:lstStyle/>
          <a:p>
            <a:pPr marL="0" indent="0">
              <a:buNone/>
            </a:pPr>
            <a:r>
              <a:rPr lang="hr-HR" sz="3000" u="sng" dirty="0"/>
              <a:t>Promjene unutar iteracije</a:t>
            </a:r>
            <a:endParaRPr lang="en-GB" sz="3000" u="sng" dirty="0"/>
          </a:p>
          <a:p>
            <a:pPr marL="0" indent="0">
              <a:buNone/>
            </a:pPr>
            <a:endParaRPr lang="en-GB" dirty="0"/>
          </a:p>
          <a:p>
            <a:r>
              <a:rPr lang="hr-HR" dirty="0"/>
              <a:t>U </a:t>
            </a:r>
            <a:r>
              <a:rPr lang="hr-HR" dirty="0" err="1"/>
              <a:t>Scrumu</a:t>
            </a:r>
            <a:r>
              <a:rPr lang="hr-HR" dirty="0"/>
              <a:t> tim ne bi trebao dodavati nove kartice na ploču tijekom sprinta. Broj kartica određuje se tijekom sastanka planiranja, prije početka iteracije.</a:t>
            </a:r>
          </a:p>
          <a:p>
            <a:endParaRPr lang="hr-HR" dirty="0"/>
          </a:p>
          <a:p>
            <a:r>
              <a:rPr lang="hr-HR" dirty="0"/>
              <a:t>S druge strane, </a:t>
            </a:r>
            <a:r>
              <a:rPr lang="hr-HR" dirty="0" err="1"/>
              <a:t>Kanban</a:t>
            </a:r>
            <a:r>
              <a:rPr lang="hr-HR" dirty="0"/>
              <a:t> ploča može se mijenjati u bilo kojem trenutku; jedino ograničenje odnosi se na aktivnosti koje su već u tijeku → čim kartica prijeđe iz „U tijeku” u „Gotovo”, oslobađa se kapacitet koji se može iskoristiti za novu aktivnost/karticu (kontinuirani tok).</a:t>
            </a:r>
          </a:p>
          <a:p>
            <a:pPr marL="0" indent="0">
              <a:buNone/>
            </a:pPr>
            <a:endParaRPr lang="en-GB" dirty="0"/>
          </a:p>
        </p:txBody>
      </p:sp>
    </p:spTree>
    <p:extLst>
      <p:ext uri="{BB962C8B-B14F-4D97-AF65-F5344CB8AC3E}">
        <p14:creationId xmlns:p14="http://schemas.microsoft.com/office/powerpoint/2010/main" val="28756771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0E19D-DE3C-09EF-AB87-79EE43458DE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0DBC385-506C-DC8E-436B-FA04D431BDD9}"/>
              </a:ext>
            </a:extLst>
          </p:cNvPr>
          <p:cNvSpPr>
            <a:spLocks noGrp="1"/>
          </p:cNvSpPr>
          <p:nvPr>
            <p:ph type="title"/>
          </p:nvPr>
        </p:nvSpPr>
        <p:spPr/>
        <p:txBody>
          <a:bodyPr/>
          <a:lstStyle/>
          <a:p>
            <a:r>
              <a:rPr lang="it-IT" dirty="0" err="1"/>
              <a:t>Kanban</a:t>
            </a:r>
            <a:r>
              <a:rPr lang="it-IT" dirty="0"/>
              <a:t> VS </a:t>
            </a:r>
            <a:r>
              <a:rPr lang="it-IT" dirty="0" err="1"/>
              <a:t>Scrum</a:t>
            </a:r>
            <a:endParaRPr lang="en-GB" dirty="0"/>
          </a:p>
        </p:txBody>
      </p:sp>
      <p:sp>
        <p:nvSpPr>
          <p:cNvPr id="3" name="Segnaposto contenuto 2">
            <a:extLst>
              <a:ext uri="{FF2B5EF4-FFF2-40B4-BE49-F238E27FC236}">
                <a16:creationId xmlns:a16="http://schemas.microsoft.com/office/drawing/2014/main" id="{DFBC0B2F-CA5A-A2FF-22E9-DEA5D870C5BC}"/>
              </a:ext>
            </a:extLst>
          </p:cNvPr>
          <p:cNvSpPr>
            <a:spLocks noGrp="1"/>
          </p:cNvSpPr>
          <p:nvPr>
            <p:ph idx="1"/>
          </p:nvPr>
        </p:nvSpPr>
        <p:spPr>
          <a:xfrm>
            <a:off x="838200" y="1782896"/>
            <a:ext cx="10515600" cy="4351338"/>
          </a:xfrm>
        </p:spPr>
        <p:txBody>
          <a:bodyPr>
            <a:normAutofit lnSpcReduction="10000"/>
          </a:bodyPr>
          <a:lstStyle/>
          <a:p>
            <a:pPr marL="0" indent="0">
              <a:buNone/>
            </a:pPr>
            <a:r>
              <a:rPr lang="hr-HR" sz="3300" u="sng" dirty="0"/>
              <a:t>Hitni zadaci</a:t>
            </a:r>
            <a:r>
              <a:rPr lang="en-GB" sz="3300" u="sng" dirty="0"/>
              <a:t> (ticket</a:t>
            </a:r>
            <a:r>
              <a:rPr lang="hr-HR" sz="3300" u="sng" dirty="0"/>
              <a:t>i</a:t>
            </a:r>
            <a:r>
              <a:rPr lang="en-GB" sz="3300" u="sng" dirty="0"/>
              <a:t>)</a:t>
            </a:r>
          </a:p>
          <a:p>
            <a:pPr marL="0" indent="0">
              <a:buNone/>
            </a:pPr>
            <a:endParaRPr lang="en-GB" dirty="0"/>
          </a:p>
          <a:p>
            <a:r>
              <a:rPr lang="hr-HR" dirty="0"/>
              <a:t>Zahvaljujući prethodnim analizama, planiranju, procjeni opsega i određivanju prioriteta, </a:t>
            </a:r>
            <a:r>
              <a:rPr lang="hr-HR" dirty="0" err="1"/>
              <a:t>Scrum</a:t>
            </a:r>
            <a:r>
              <a:rPr lang="hr-HR" dirty="0"/>
              <a:t> tim se rijetko mora nositi s nepredviđenim hitnim situacijama.</a:t>
            </a:r>
          </a:p>
          <a:p>
            <a:r>
              <a:rPr lang="hr-HR" dirty="0"/>
              <a:t>U </a:t>
            </a:r>
            <a:r>
              <a:rPr lang="hr-HR" dirty="0" err="1"/>
              <a:t>Kanbanu</a:t>
            </a:r>
            <a:r>
              <a:rPr lang="hr-HR" dirty="0"/>
              <a:t> se može uvesti linija „Hitno” (koja se naziva i </a:t>
            </a:r>
            <a:r>
              <a:rPr lang="hr-HR" dirty="0" err="1"/>
              <a:t>swim</a:t>
            </a:r>
            <a:r>
              <a:rPr lang="hr-HR" dirty="0"/>
              <a:t> lane) → kartice koje se ondje nalaze označavaju nepredvidiv hitan zadatak ili zadatak koji se pojavljuje kako bi se riješila kartica koja predstavlja „usko grlo”. Takvi zadaci imaju najviši prioritet, pa se dio tima usmjerava na njih kako bi ih dovršio što je prije moguće.</a:t>
            </a:r>
          </a:p>
          <a:p>
            <a:pPr marL="0" indent="0">
              <a:buNone/>
            </a:pPr>
            <a:endParaRPr lang="en-GB" dirty="0"/>
          </a:p>
        </p:txBody>
      </p:sp>
    </p:spTree>
    <p:extLst>
      <p:ext uri="{BB962C8B-B14F-4D97-AF65-F5344CB8AC3E}">
        <p14:creationId xmlns:p14="http://schemas.microsoft.com/office/powerpoint/2010/main" val="27645376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6AEE2-94EF-CBA4-AE98-57AF6716FF5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C0B4B4D-0AF3-D59B-0170-FFFF6330FB5D}"/>
              </a:ext>
            </a:extLst>
          </p:cNvPr>
          <p:cNvSpPr>
            <a:spLocks noGrp="1"/>
          </p:cNvSpPr>
          <p:nvPr>
            <p:ph type="title"/>
          </p:nvPr>
        </p:nvSpPr>
        <p:spPr/>
        <p:txBody>
          <a:bodyPr/>
          <a:lstStyle/>
          <a:p>
            <a:r>
              <a:rPr lang="it-IT" dirty="0" err="1"/>
              <a:t>Kanban</a:t>
            </a:r>
            <a:r>
              <a:rPr lang="it-IT" dirty="0"/>
              <a:t> VS </a:t>
            </a:r>
            <a:r>
              <a:rPr lang="it-IT" dirty="0" err="1"/>
              <a:t>Scrum</a:t>
            </a:r>
            <a:endParaRPr lang="en-GB" dirty="0"/>
          </a:p>
        </p:txBody>
      </p:sp>
      <p:sp>
        <p:nvSpPr>
          <p:cNvPr id="3" name="Segnaposto contenuto 2">
            <a:extLst>
              <a:ext uri="{FF2B5EF4-FFF2-40B4-BE49-F238E27FC236}">
                <a16:creationId xmlns:a16="http://schemas.microsoft.com/office/drawing/2014/main" id="{BB977A7E-3333-8045-0A2D-FAFDB1D156B0}"/>
              </a:ext>
            </a:extLst>
          </p:cNvPr>
          <p:cNvSpPr>
            <a:spLocks noGrp="1"/>
          </p:cNvSpPr>
          <p:nvPr>
            <p:ph idx="1"/>
          </p:nvPr>
        </p:nvSpPr>
        <p:spPr>
          <a:xfrm>
            <a:off x="838200" y="1782896"/>
            <a:ext cx="3840126" cy="4351338"/>
          </a:xfrm>
        </p:spPr>
        <p:txBody>
          <a:bodyPr/>
          <a:lstStyle/>
          <a:p>
            <a:pPr marL="0" indent="0">
              <a:buNone/>
            </a:pPr>
            <a:r>
              <a:rPr lang="hr-HR" u="sng" dirty="0"/>
              <a:t>Uloge</a:t>
            </a:r>
            <a:endParaRPr lang="en-GB" u="sng" dirty="0"/>
          </a:p>
          <a:p>
            <a:pPr marL="0" indent="0">
              <a:buNone/>
            </a:pPr>
            <a:endParaRPr lang="en-GB" dirty="0"/>
          </a:p>
          <a:p>
            <a:pPr marL="0" indent="0">
              <a:buNone/>
            </a:pPr>
            <a:r>
              <a:rPr lang="en-GB" sz="2600" b="1" dirty="0"/>
              <a:t>Scrum</a:t>
            </a:r>
          </a:p>
          <a:p>
            <a:r>
              <a:rPr lang="en-GB" sz="2600" dirty="0"/>
              <a:t>Scrum Master</a:t>
            </a:r>
          </a:p>
          <a:p>
            <a:r>
              <a:rPr lang="en-GB" sz="2600" dirty="0"/>
              <a:t>Product Owner</a:t>
            </a:r>
            <a:r>
              <a:rPr lang="hr-HR" sz="2600" dirty="0"/>
              <a:t> (vlasnik proizvoda)</a:t>
            </a:r>
            <a:endParaRPr lang="en-GB" sz="2600" dirty="0"/>
          </a:p>
          <a:p>
            <a:r>
              <a:rPr lang="hr-HR" sz="2600" dirty="0"/>
              <a:t>Članovi tima</a:t>
            </a:r>
            <a:endParaRPr lang="en-GB" sz="2600" dirty="0"/>
          </a:p>
        </p:txBody>
      </p:sp>
      <p:sp>
        <p:nvSpPr>
          <p:cNvPr id="5" name="Segnaposto contenuto 2">
            <a:extLst>
              <a:ext uri="{FF2B5EF4-FFF2-40B4-BE49-F238E27FC236}">
                <a16:creationId xmlns:a16="http://schemas.microsoft.com/office/drawing/2014/main" id="{1F60A267-E1FA-8EFE-F9A1-68C80A813D35}"/>
              </a:ext>
            </a:extLst>
          </p:cNvPr>
          <p:cNvSpPr txBox="1">
            <a:spLocks/>
          </p:cNvSpPr>
          <p:nvPr/>
        </p:nvSpPr>
        <p:spPr>
          <a:xfrm>
            <a:off x="5179503" y="1782896"/>
            <a:ext cx="384012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a:p>
            <a:pPr marL="0" indent="0">
              <a:buFont typeface="Arial" panose="020B0604020202020204" pitchFamily="34" charset="0"/>
              <a:buNone/>
            </a:pPr>
            <a:endParaRPr lang="en-GB" dirty="0"/>
          </a:p>
          <a:p>
            <a:pPr marL="0" indent="0">
              <a:buFont typeface="Arial" panose="020B0604020202020204" pitchFamily="34" charset="0"/>
              <a:buNone/>
            </a:pPr>
            <a:r>
              <a:rPr lang="en-GB" sz="2600" b="1" dirty="0"/>
              <a:t>Kanban</a:t>
            </a:r>
          </a:p>
          <a:p>
            <a:r>
              <a:rPr lang="hr-HR" sz="2600" dirty="0"/>
              <a:t>Nije unaprijed definirano</a:t>
            </a:r>
          </a:p>
          <a:p>
            <a:r>
              <a:rPr lang="hr-HR" sz="2600" dirty="0"/>
              <a:t>Zajedničko usmjeravanje kada član tima naiđe na poteškoće</a:t>
            </a:r>
            <a:endParaRPr lang="en-GB" sz="2600" dirty="0"/>
          </a:p>
        </p:txBody>
      </p:sp>
    </p:spTree>
    <p:extLst>
      <p:ext uri="{BB962C8B-B14F-4D97-AF65-F5344CB8AC3E}">
        <p14:creationId xmlns:p14="http://schemas.microsoft.com/office/powerpoint/2010/main" val="32211622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00867-107D-DAF2-34C1-7DC25FBB26F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0F8BA18-2374-EAB4-2AB7-1690A1F866C3}"/>
              </a:ext>
            </a:extLst>
          </p:cNvPr>
          <p:cNvSpPr>
            <a:spLocks noGrp="1"/>
          </p:cNvSpPr>
          <p:nvPr>
            <p:ph type="title"/>
          </p:nvPr>
        </p:nvSpPr>
        <p:spPr/>
        <p:txBody>
          <a:bodyPr/>
          <a:lstStyle/>
          <a:p>
            <a:r>
              <a:rPr lang="it-IT" dirty="0" err="1"/>
              <a:t>Kanban</a:t>
            </a:r>
            <a:r>
              <a:rPr lang="it-IT" dirty="0"/>
              <a:t> VS </a:t>
            </a:r>
            <a:r>
              <a:rPr lang="it-IT" dirty="0" err="1"/>
              <a:t>Scrum</a:t>
            </a:r>
            <a:endParaRPr lang="en-GB" dirty="0"/>
          </a:p>
        </p:txBody>
      </p:sp>
      <p:sp>
        <p:nvSpPr>
          <p:cNvPr id="3" name="Segnaposto contenuto 2">
            <a:extLst>
              <a:ext uri="{FF2B5EF4-FFF2-40B4-BE49-F238E27FC236}">
                <a16:creationId xmlns:a16="http://schemas.microsoft.com/office/drawing/2014/main" id="{5A3D65E5-0E85-F4F3-5610-189A8803B467}"/>
              </a:ext>
            </a:extLst>
          </p:cNvPr>
          <p:cNvSpPr>
            <a:spLocks noGrp="1"/>
          </p:cNvSpPr>
          <p:nvPr>
            <p:ph idx="1"/>
          </p:nvPr>
        </p:nvSpPr>
        <p:spPr>
          <a:xfrm>
            <a:off x="838200" y="1782896"/>
            <a:ext cx="3840126" cy="4351338"/>
          </a:xfrm>
        </p:spPr>
        <p:txBody>
          <a:bodyPr/>
          <a:lstStyle/>
          <a:p>
            <a:pPr marL="0" indent="0">
              <a:buNone/>
            </a:pPr>
            <a:r>
              <a:rPr lang="hr-HR" u="sng" dirty="0"/>
              <a:t>Rokovi</a:t>
            </a:r>
            <a:endParaRPr lang="en-GB" u="sng" dirty="0"/>
          </a:p>
          <a:p>
            <a:pPr marL="0" indent="0">
              <a:buNone/>
            </a:pPr>
            <a:endParaRPr lang="en-GB" dirty="0"/>
          </a:p>
          <a:p>
            <a:pPr marL="0" indent="0">
              <a:buNone/>
            </a:pPr>
            <a:r>
              <a:rPr lang="en-GB" sz="2600" b="1" dirty="0"/>
              <a:t>Scrum</a:t>
            </a:r>
          </a:p>
          <a:p>
            <a:pPr marL="249555" marR="192405" indent="-171450">
              <a:lnSpc>
                <a:spcPct val="114599"/>
              </a:lnSpc>
              <a:tabLst>
                <a:tab pos="265430" algn="l"/>
              </a:tabLst>
            </a:pPr>
            <a:r>
              <a:rPr lang="hr-HR" dirty="0"/>
              <a:t>Plan sprinta (vremenski ograničen okvir)</a:t>
            </a:r>
            <a:endParaRPr lang="en-GB" dirty="0">
              <a:cs typeface="Trebuchet MS"/>
            </a:endParaRPr>
          </a:p>
        </p:txBody>
      </p:sp>
      <p:sp>
        <p:nvSpPr>
          <p:cNvPr id="5" name="Segnaposto contenuto 2">
            <a:extLst>
              <a:ext uri="{FF2B5EF4-FFF2-40B4-BE49-F238E27FC236}">
                <a16:creationId xmlns:a16="http://schemas.microsoft.com/office/drawing/2014/main" id="{30A7CE2E-BA43-8020-E303-EB5774A2A5A7}"/>
              </a:ext>
            </a:extLst>
          </p:cNvPr>
          <p:cNvSpPr txBox="1">
            <a:spLocks/>
          </p:cNvSpPr>
          <p:nvPr/>
        </p:nvSpPr>
        <p:spPr>
          <a:xfrm>
            <a:off x="5179503" y="1782896"/>
            <a:ext cx="384012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a:p>
            <a:pPr marL="0" indent="0">
              <a:buFont typeface="Arial" panose="020B0604020202020204" pitchFamily="34" charset="0"/>
              <a:buNone/>
            </a:pPr>
            <a:endParaRPr lang="en-GB" dirty="0"/>
          </a:p>
          <a:p>
            <a:pPr marL="0" indent="0">
              <a:buFont typeface="Arial" panose="020B0604020202020204" pitchFamily="34" charset="0"/>
              <a:buNone/>
            </a:pPr>
            <a:r>
              <a:rPr lang="en-GB" sz="2600" b="1" dirty="0"/>
              <a:t>Kanban</a:t>
            </a:r>
          </a:p>
          <a:p>
            <a:pPr marL="249555" marR="192405" indent="-171450">
              <a:lnSpc>
                <a:spcPct val="114599"/>
              </a:lnSpc>
              <a:tabLst>
                <a:tab pos="265430" algn="l"/>
              </a:tabLst>
            </a:pPr>
            <a:r>
              <a:rPr lang="hr-HR" dirty="0"/>
              <a:t>Kontinuirani tok</a:t>
            </a:r>
          </a:p>
          <a:p>
            <a:pPr marL="249555" marR="192405" indent="-171450">
              <a:lnSpc>
                <a:spcPct val="114599"/>
              </a:lnSpc>
              <a:tabLst>
                <a:tab pos="265430" algn="l"/>
              </a:tabLst>
            </a:pPr>
            <a:r>
              <a:rPr lang="hr-HR" dirty="0"/>
              <a:t>Temeljeno na događajima</a:t>
            </a:r>
            <a:endParaRPr lang="en-GB" dirty="0">
              <a:cs typeface="Trebuchet MS"/>
            </a:endParaRPr>
          </a:p>
        </p:txBody>
      </p:sp>
    </p:spTree>
    <p:extLst>
      <p:ext uri="{BB962C8B-B14F-4D97-AF65-F5344CB8AC3E}">
        <p14:creationId xmlns:p14="http://schemas.microsoft.com/office/powerpoint/2010/main" val="401160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C76C5-6997-0844-AB33-52BFA0EF7E3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EBEFCD3-A261-D4BD-7534-4C2593A8ED9A}"/>
              </a:ext>
            </a:extLst>
          </p:cNvPr>
          <p:cNvSpPr>
            <a:spLocks noGrp="1"/>
          </p:cNvSpPr>
          <p:nvPr>
            <p:ph type="title"/>
          </p:nvPr>
        </p:nvSpPr>
        <p:spPr/>
        <p:txBody>
          <a:bodyPr/>
          <a:lstStyle/>
          <a:p>
            <a:r>
              <a:rPr lang="it-IT" dirty="0" err="1"/>
              <a:t>Kanban</a:t>
            </a:r>
            <a:r>
              <a:rPr lang="it-IT" dirty="0"/>
              <a:t> VS </a:t>
            </a:r>
            <a:r>
              <a:rPr lang="it-IT" dirty="0" err="1"/>
              <a:t>Scrum</a:t>
            </a:r>
            <a:endParaRPr lang="en-GB" dirty="0"/>
          </a:p>
        </p:txBody>
      </p:sp>
      <p:sp>
        <p:nvSpPr>
          <p:cNvPr id="3" name="Segnaposto contenuto 2">
            <a:extLst>
              <a:ext uri="{FF2B5EF4-FFF2-40B4-BE49-F238E27FC236}">
                <a16:creationId xmlns:a16="http://schemas.microsoft.com/office/drawing/2014/main" id="{F67BA1F8-3BCE-0789-15BC-5441F88423CB}"/>
              </a:ext>
            </a:extLst>
          </p:cNvPr>
          <p:cNvSpPr>
            <a:spLocks noGrp="1"/>
          </p:cNvSpPr>
          <p:nvPr>
            <p:ph idx="1"/>
          </p:nvPr>
        </p:nvSpPr>
        <p:spPr>
          <a:xfrm>
            <a:off x="838200" y="1782896"/>
            <a:ext cx="3840126" cy="4351338"/>
          </a:xfrm>
        </p:spPr>
        <p:txBody>
          <a:bodyPr/>
          <a:lstStyle/>
          <a:p>
            <a:pPr marL="0" indent="0">
              <a:buNone/>
            </a:pPr>
            <a:r>
              <a:rPr lang="en-GB" u="sng" dirty="0" err="1"/>
              <a:t>Priorit</a:t>
            </a:r>
            <a:r>
              <a:rPr lang="hr-HR" u="sng" dirty="0" err="1"/>
              <a:t>eti</a:t>
            </a:r>
            <a:endParaRPr lang="en-GB" u="sng" dirty="0"/>
          </a:p>
          <a:p>
            <a:pPr marL="0" indent="0">
              <a:buNone/>
            </a:pPr>
            <a:endParaRPr lang="en-GB" dirty="0"/>
          </a:p>
          <a:p>
            <a:pPr marL="0" indent="0">
              <a:buNone/>
            </a:pPr>
            <a:r>
              <a:rPr lang="en-GB" sz="2600" b="1" dirty="0"/>
              <a:t>Scrum</a:t>
            </a:r>
          </a:p>
          <a:p>
            <a:pPr marL="249555" marR="192405" indent="-171450">
              <a:lnSpc>
                <a:spcPct val="114599"/>
              </a:lnSpc>
              <a:tabLst>
                <a:tab pos="265430" algn="l"/>
              </a:tabLst>
            </a:pPr>
            <a:r>
              <a:rPr lang="hr-HR" dirty="0"/>
              <a:t>Novi zadaci dopušteni su tek kada je cijeli „paket” dovršen.</a:t>
            </a:r>
            <a:endParaRPr lang="en-GB" dirty="0">
              <a:cs typeface="Trebuchet MS"/>
            </a:endParaRPr>
          </a:p>
        </p:txBody>
      </p:sp>
      <p:sp>
        <p:nvSpPr>
          <p:cNvPr id="5" name="Segnaposto contenuto 2">
            <a:extLst>
              <a:ext uri="{FF2B5EF4-FFF2-40B4-BE49-F238E27FC236}">
                <a16:creationId xmlns:a16="http://schemas.microsoft.com/office/drawing/2014/main" id="{A9321D59-D81D-25FA-B410-8A871170083A}"/>
              </a:ext>
            </a:extLst>
          </p:cNvPr>
          <p:cNvSpPr txBox="1">
            <a:spLocks/>
          </p:cNvSpPr>
          <p:nvPr/>
        </p:nvSpPr>
        <p:spPr>
          <a:xfrm>
            <a:off x="5179503" y="1782896"/>
            <a:ext cx="384012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a:p>
            <a:pPr marL="0" indent="0">
              <a:buFont typeface="Arial" panose="020B0604020202020204" pitchFamily="34" charset="0"/>
              <a:buNone/>
            </a:pPr>
            <a:endParaRPr lang="en-GB" dirty="0"/>
          </a:p>
          <a:p>
            <a:pPr marL="0" indent="0">
              <a:buFont typeface="Arial" panose="020B0604020202020204" pitchFamily="34" charset="0"/>
              <a:buNone/>
            </a:pPr>
            <a:r>
              <a:rPr lang="en-GB" sz="2600" b="1" dirty="0"/>
              <a:t>Kanban</a:t>
            </a:r>
          </a:p>
          <a:p>
            <a:pPr marL="249555" marR="192405" indent="-171450">
              <a:lnSpc>
                <a:spcPct val="114599"/>
              </a:lnSpc>
              <a:tabLst>
                <a:tab pos="265430" algn="l"/>
              </a:tabLst>
            </a:pPr>
            <a:r>
              <a:rPr lang="pl-PL" dirty="0"/>
              <a:t>Novi zadaci dopušteni su tek kada su prethodni zadaci dovršeni.</a:t>
            </a:r>
            <a:endParaRPr lang="en-GB" dirty="0">
              <a:cs typeface="Trebuchet MS"/>
            </a:endParaRPr>
          </a:p>
        </p:txBody>
      </p:sp>
    </p:spTree>
    <p:extLst>
      <p:ext uri="{BB962C8B-B14F-4D97-AF65-F5344CB8AC3E}">
        <p14:creationId xmlns:p14="http://schemas.microsoft.com/office/powerpoint/2010/main" val="3428853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93B8C-D512-9DFD-8E44-F2A3958BAA4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92DFB2F-372C-86B8-54DB-9FDC6D16FBBA}"/>
              </a:ext>
            </a:extLst>
          </p:cNvPr>
          <p:cNvSpPr>
            <a:spLocks noGrp="1"/>
          </p:cNvSpPr>
          <p:nvPr>
            <p:ph type="title"/>
          </p:nvPr>
        </p:nvSpPr>
        <p:spPr/>
        <p:txBody>
          <a:bodyPr/>
          <a:lstStyle/>
          <a:p>
            <a:r>
              <a:rPr lang="it-IT" dirty="0" err="1"/>
              <a:t>Kanban</a:t>
            </a:r>
            <a:r>
              <a:rPr lang="it-IT" dirty="0"/>
              <a:t> VS </a:t>
            </a:r>
            <a:r>
              <a:rPr lang="it-IT" dirty="0" err="1"/>
              <a:t>Scrum</a:t>
            </a:r>
            <a:endParaRPr lang="en-GB" dirty="0"/>
          </a:p>
        </p:txBody>
      </p:sp>
      <p:sp>
        <p:nvSpPr>
          <p:cNvPr id="3" name="Segnaposto contenuto 2">
            <a:extLst>
              <a:ext uri="{FF2B5EF4-FFF2-40B4-BE49-F238E27FC236}">
                <a16:creationId xmlns:a16="http://schemas.microsoft.com/office/drawing/2014/main" id="{FA525F28-411A-3D99-50BB-7199A72809E2}"/>
              </a:ext>
            </a:extLst>
          </p:cNvPr>
          <p:cNvSpPr>
            <a:spLocks noGrp="1"/>
          </p:cNvSpPr>
          <p:nvPr>
            <p:ph idx="1"/>
          </p:nvPr>
        </p:nvSpPr>
        <p:spPr>
          <a:xfrm>
            <a:off x="838200" y="1782896"/>
            <a:ext cx="3840126" cy="4351338"/>
          </a:xfrm>
        </p:spPr>
        <p:txBody>
          <a:bodyPr/>
          <a:lstStyle/>
          <a:p>
            <a:pPr marL="0" indent="0">
              <a:buNone/>
            </a:pPr>
            <a:r>
              <a:rPr lang="en-GB" u="sng" dirty="0" err="1"/>
              <a:t>Modifi</a:t>
            </a:r>
            <a:r>
              <a:rPr lang="hr-HR" u="sng" dirty="0" err="1"/>
              <a:t>kacije</a:t>
            </a:r>
            <a:endParaRPr lang="en-GB" u="sng" dirty="0"/>
          </a:p>
          <a:p>
            <a:pPr marL="0" indent="0">
              <a:buNone/>
            </a:pPr>
            <a:endParaRPr lang="en-GB" dirty="0"/>
          </a:p>
          <a:p>
            <a:pPr marL="0" indent="0">
              <a:buNone/>
            </a:pPr>
            <a:r>
              <a:rPr lang="en-GB" sz="2600" b="1" dirty="0"/>
              <a:t>Scrum</a:t>
            </a:r>
          </a:p>
          <a:p>
            <a:pPr marL="249555" marR="192405" indent="-171450">
              <a:lnSpc>
                <a:spcPct val="114599"/>
              </a:lnSpc>
              <a:tabLst>
                <a:tab pos="265430" algn="l"/>
              </a:tabLst>
            </a:pPr>
            <a:r>
              <a:rPr lang="hr-HR" dirty="0">
                <a:cs typeface="Trebuchet MS"/>
              </a:rPr>
              <a:t>Ne potiču se</a:t>
            </a:r>
            <a:endParaRPr lang="en-GB" dirty="0">
              <a:cs typeface="Trebuchet MS"/>
            </a:endParaRPr>
          </a:p>
        </p:txBody>
      </p:sp>
      <p:sp>
        <p:nvSpPr>
          <p:cNvPr id="5" name="Segnaposto contenuto 2">
            <a:extLst>
              <a:ext uri="{FF2B5EF4-FFF2-40B4-BE49-F238E27FC236}">
                <a16:creationId xmlns:a16="http://schemas.microsoft.com/office/drawing/2014/main" id="{4A4F9DEE-5D89-35F6-A415-1F29AD3C2EE1}"/>
              </a:ext>
            </a:extLst>
          </p:cNvPr>
          <p:cNvSpPr txBox="1">
            <a:spLocks/>
          </p:cNvSpPr>
          <p:nvPr/>
        </p:nvSpPr>
        <p:spPr>
          <a:xfrm>
            <a:off x="5179503" y="1782896"/>
            <a:ext cx="384012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a:p>
            <a:pPr marL="0" indent="0">
              <a:buFont typeface="Arial" panose="020B0604020202020204" pitchFamily="34" charset="0"/>
              <a:buNone/>
            </a:pPr>
            <a:endParaRPr lang="en-GB" dirty="0"/>
          </a:p>
          <a:p>
            <a:pPr marL="0" indent="0">
              <a:buFont typeface="Arial" panose="020B0604020202020204" pitchFamily="34" charset="0"/>
              <a:buNone/>
            </a:pPr>
            <a:r>
              <a:rPr lang="en-GB" sz="2600" b="1" dirty="0"/>
              <a:t>Kanban</a:t>
            </a:r>
          </a:p>
          <a:p>
            <a:pPr marL="249555" marR="192405" indent="-171450">
              <a:lnSpc>
                <a:spcPct val="114599"/>
              </a:lnSpc>
              <a:tabLst>
                <a:tab pos="265430" algn="l"/>
              </a:tabLst>
            </a:pPr>
            <a:r>
              <a:rPr lang="hr-HR" dirty="0">
                <a:cs typeface="Trebuchet MS"/>
              </a:rPr>
              <a:t>Dopuštene</a:t>
            </a:r>
            <a:r>
              <a:rPr lang="en-GB" dirty="0">
                <a:cs typeface="Trebuchet MS"/>
              </a:rPr>
              <a:t> (</a:t>
            </a:r>
            <a:r>
              <a:rPr lang="hr-HR" dirty="0">
                <a:cs typeface="Trebuchet MS"/>
              </a:rPr>
              <a:t>potiču se</a:t>
            </a:r>
            <a:r>
              <a:rPr lang="en-GB" dirty="0">
                <a:cs typeface="Trebuchet MS"/>
              </a:rPr>
              <a:t>)</a:t>
            </a:r>
          </a:p>
        </p:txBody>
      </p:sp>
    </p:spTree>
    <p:extLst>
      <p:ext uri="{BB962C8B-B14F-4D97-AF65-F5344CB8AC3E}">
        <p14:creationId xmlns:p14="http://schemas.microsoft.com/office/powerpoint/2010/main" val="39914554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C0E7D-D72E-0ACE-4013-E7C9D8EAC4D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97FB9C7-9FA8-B27A-8251-C4AC05BE5EF9}"/>
              </a:ext>
            </a:extLst>
          </p:cNvPr>
          <p:cNvSpPr>
            <a:spLocks noGrp="1"/>
          </p:cNvSpPr>
          <p:nvPr>
            <p:ph type="title"/>
          </p:nvPr>
        </p:nvSpPr>
        <p:spPr/>
        <p:txBody>
          <a:bodyPr/>
          <a:lstStyle/>
          <a:p>
            <a:r>
              <a:rPr lang="it-IT" dirty="0" err="1"/>
              <a:t>Kanban</a:t>
            </a:r>
            <a:r>
              <a:rPr lang="it-IT" dirty="0"/>
              <a:t> VS </a:t>
            </a:r>
            <a:r>
              <a:rPr lang="it-IT" dirty="0" err="1"/>
              <a:t>Scrum</a:t>
            </a:r>
            <a:endParaRPr lang="en-GB" dirty="0"/>
          </a:p>
        </p:txBody>
      </p:sp>
      <p:sp>
        <p:nvSpPr>
          <p:cNvPr id="3" name="Segnaposto contenuto 2">
            <a:extLst>
              <a:ext uri="{FF2B5EF4-FFF2-40B4-BE49-F238E27FC236}">
                <a16:creationId xmlns:a16="http://schemas.microsoft.com/office/drawing/2014/main" id="{C6A1E9B5-4897-9C49-1258-A3B2832C78C2}"/>
              </a:ext>
            </a:extLst>
          </p:cNvPr>
          <p:cNvSpPr>
            <a:spLocks noGrp="1"/>
          </p:cNvSpPr>
          <p:nvPr>
            <p:ph idx="1"/>
          </p:nvPr>
        </p:nvSpPr>
        <p:spPr>
          <a:xfrm>
            <a:off x="838200" y="1782896"/>
            <a:ext cx="3840126" cy="4351338"/>
          </a:xfrm>
        </p:spPr>
        <p:txBody>
          <a:bodyPr/>
          <a:lstStyle/>
          <a:p>
            <a:pPr marL="0" indent="0">
              <a:buNone/>
            </a:pPr>
            <a:r>
              <a:rPr lang="hr-HR" u="sng" dirty="0"/>
              <a:t>Najbolje za</a:t>
            </a:r>
            <a:r>
              <a:rPr lang="en-GB" u="sng" dirty="0"/>
              <a:t>…</a:t>
            </a:r>
          </a:p>
          <a:p>
            <a:pPr marL="0" indent="0">
              <a:buNone/>
            </a:pPr>
            <a:endParaRPr lang="en-GB" dirty="0"/>
          </a:p>
          <a:p>
            <a:pPr marL="0" indent="0">
              <a:buNone/>
            </a:pPr>
            <a:r>
              <a:rPr lang="en-GB" sz="2600" b="1" dirty="0"/>
              <a:t>Scrum</a:t>
            </a:r>
          </a:p>
          <a:p>
            <a:pPr marL="249555" marR="192405" indent="-171450">
              <a:lnSpc>
                <a:spcPct val="114599"/>
              </a:lnSpc>
              <a:tabLst>
                <a:tab pos="265430" algn="l"/>
              </a:tabLst>
            </a:pPr>
            <a:r>
              <a:rPr lang="hr-HR" dirty="0"/>
              <a:t>Stabilni prioriteti koji se manje mijenjaju tijekom ciklusa obrade.</a:t>
            </a:r>
            <a:endParaRPr lang="en-GB" dirty="0">
              <a:cs typeface="Trebuchet MS"/>
            </a:endParaRPr>
          </a:p>
        </p:txBody>
      </p:sp>
      <p:sp>
        <p:nvSpPr>
          <p:cNvPr id="5" name="Segnaposto contenuto 2">
            <a:extLst>
              <a:ext uri="{FF2B5EF4-FFF2-40B4-BE49-F238E27FC236}">
                <a16:creationId xmlns:a16="http://schemas.microsoft.com/office/drawing/2014/main" id="{FD0BDA83-8D7E-FD19-E5CD-5C52D101AE32}"/>
              </a:ext>
            </a:extLst>
          </p:cNvPr>
          <p:cNvSpPr txBox="1">
            <a:spLocks/>
          </p:cNvSpPr>
          <p:nvPr/>
        </p:nvSpPr>
        <p:spPr>
          <a:xfrm>
            <a:off x="5179503" y="1782896"/>
            <a:ext cx="384012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a:p>
            <a:pPr marL="0" indent="0">
              <a:buFont typeface="Arial" panose="020B0604020202020204" pitchFamily="34" charset="0"/>
              <a:buNone/>
            </a:pPr>
            <a:endParaRPr lang="en-GB" dirty="0"/>
          </a:p>
          <a:p>
            <a:pPr marL="0" indent="0">
              <a:buFont typeface="Arial" panose="020B0604020202020204" pitchFamily="34" charset="0"/>
              <a:buNone/>
            </a:pPr>
            <a:r>
              <a:rPr lang="en-GB" sz="2600" b="1" dirty="0"/>
              <a:t>Kanban</a:t>
            </a:r>
          </a:p>
          <a:p>
            <a:pPr marL="249555" marR="192405" indent="-171450">
              <a:lnSpc>
                <a:spcPct val="114599"/>
              </a:lnSpc>
              <a:tabLst>
                <a:tab pos="265430" algn="l"/>
              </a:tabLst>
            </a:pPr>
            <a:r>
              <a:rPr lang="hr-HR" dirty="0">
                <a:cs typeface="Trebuchet MS"/>
              </a:rPr>
              <a:t>Promjenjiviji opseg posla.</a:t>
            </a:r>
            <a:endParaRPr lang="en-GB" dirty="0">
              <a:cs typeface="Trebuchet MS"/>
            </a:endParaRPr>
          </a:p>
        </p:txBody>
      </p:sp>
    </p:spTree>
    <p:extLst>
      <p:ext uri="{BB962C8B-B14F-4D97-AF65-F5344CB8AC3E}">
        <p14:creationId xmlns:p14="http://schemas.microsoft.com/office/powerpoint/2010/main" val="27027621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50805-5C9F-E8FF-9E72-01A40E9A51D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5700B54-EB03-AC23-FD7E-A9A63C5D9EC8}"/>
              </a:ext>
            </a:extLst>
          </p:cNvPr>
          <p:cNvSpPr>
            <a:spLocks noGrp="1"/>
          </p:cNvSpPr>
          <p:nvPr>
            <p:ph type="ctrTitle"/>
          </p:nvPr>
        </p:nvSpPr>
        <p:spPr/>
        <p:txBody>
          <a:bodyPr/>
          <a:lstStyle/>
          <a:p>
            <a:r>
              <a:rPr lang="en-GB" dirty="0"/>
              <a:t>Agile in ‘n</a:t>
            </a:r>
            <a:r>
              <a:rPr lang="hr-HR" dirty="0"/>
              <a:t>e</a:t>
            </a:r>
            <a:r>
              <a:rPr lang="en-GB" dirty="0"/>
              <a:t>-</a:t>
            </a:r>
            <a:r>
              <a:rPr lang="hr-HR" dirty="0"/>
              <a:t>razvojnim</a:t>
            </a:r>
            <a:r>
              <a:rPr lang="en-GB" dirty="0"/>
              <a:t>’ </a:t>
            </a:r>
            <a:r>
              <a:rPr lang="en-GB" dirty="0" err="1"/>
              <a:t>proces</a:t>
            </a:r>
            <a:r>
              <a:rPr lang="hr-HR" dirty="0"/>
              <a:t>ima</a:t>
            </a:r>
            <a:endParaRPr lang="en-GB" dirty="0"/>
          </a:p>
        </p:txBody>
      </p:sp>
    </p:spTree>
    <p:extLst>
      <p:ext uri="{BB962C8B-B14F-4D97-AF65-F5344CB8AC3E}">
        <p14:creationId xmlns:p14="http://schemas.microsoft.com/office/powerpoint/2010/main" val="2070606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6D55860-93A1-4657-0298-E48D9905CED9}"/>
              </a:ext>
            </a:extLst>
          </p:cNvPr>
          <p:cNvSpPr>
            <a:spLocks noGrp="1"/>
          </p:cNvSpPr>
          <p:nvPr>
            <p:ph type="title"/>
          </p:nvPr>
        </p:nvSpPr>
        <p:spPr/>
        <p:txBody>
          <a:bodyPr/>
          <a:lstStyle/>
          <a:p>
            <a:r>
              <a:rPr lang="hr-HR" dirty="0"/>
              <a:t>Koji procesi</a:t>
            </a:r>
            <a:r>
              <a:rPr lang="it-IT" dirty="0"/>
              <a:t>?</a:t>
            </a:r>
            <a:endParaRPr lang="en-GB" dirty="0"/>
          </a:p>
        </p:txBody>
      </p:sp>
      <p:sp>
        <p:nvSpPr>
          <p:cNvPr id="3" name="Segnaposto contenuto 2">
            <a:extLst>
              <a:ext uri="{FF2B5EF4-FFF2-40B4-BE49-F238E27FC236}">
                <a16:creationId xmlns:a16="http://schemas.microsoft.com/office/drawing/2014/main" id="{21875FB2-A39C-40AD-E026-763C85A160C5}"/>
              </a:ext>
            </a:extLst>
          </p:cNvPr>
          <p:cNvSpPr>
            <a:spLocks noGrp="1"/>
          </p:cNvSpPr>
          <p:nvPr>
            <p:ph idx="1"/>
          </p:nvPr>
        </p:nvSpPr>
        <p:spPr/>
        <p:txBody>
          <a:bodyPr/>
          <a:lstStyle/>
          <a:p>
            <a:pPr marL="0" indent="0">
              <a:buNone/>
            </a:pPr>
            <a:r>
              <a:rPr lang="hr-HR" dirty="0"/>
              <a:t>Procesi se, ovisno o svojoj ulozi unutar organizacije, mogu klasificirati na različite načine. Polazeći od definicije Stalka i </a:t>
            </a:r>
            <a:r>
              <a:rPr lang="hr-HR" dirty="0" err="1"/>
              <a:t>Houta</a:t>
            </a:r>
            <a:r>
              <a:rPr lang="hr-HR" dirty="0"/>
              <a:t>, možemo prepoznati:</a:t>
            </a:r>
          </a:p>
          <a:p>
            <a:pPr marL="0" indent="0">
              <a:buNone/>
            </a:pPr>
            <a:endParaRPr lang="hr-HR" dirty="0"/>
          </a:p>
          <a:p>
            <a:r>
              <a:rPr lang="hr-HR" dirty="0"/>
              <a:t>OPERATIVNE PROCESE</a:t>
            </a:r>
          </a:p>
          <a:p>
            <a:r>
              <a:rPr lang="hr-HR" dirty="0"/>
              <a:t>PROCESE PODRŠKE</a:t>
            </a:r>
          </a:p>
          <a:p>
            <a:r>
              <a:rPr lang="hr-HR" dirty="0"/>
              <a:t>KONTROLNE PROCESE</a:t>
            </a:r>
          </a:p>
          <a:p>
            <a:endParaRPr lang="hr-HR" dirty="0"/>
          </a:p>
          <a:p>
            <a:endParaRPr lang="en-GB" dirty="0"/>
          </a:p>
        </p:txBody>
      </p:sp>
    </p:spTree>
    <p:extLst>
      <p:ext uri="{BB962C8B-B14F-4D97-AF65-F5344CB8AC3E}">
        <p14:creationId xmlns:p14="http://schemas.microsoft.com/office/powerpoint/2010/main" val="16412085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8C6D4-C3D8-D698-24B3-A00E7E79658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504294F-9310-F6CC-7E3D-1EAB0FA61414}"/>
              </a:ext>
            </a:extLst>
          </p:cNvPr>
          <p:cNvSpPr>
            <a:spLocks noGrp="1"/>
          </p:cNvSpPr>
          <p:nvPr>
            <p:ph type="title"/>
          </p:nvPr>
        </p:nvSpPr>
        <p:spPr/>
        <p:txBody>
          <a:bodyPr/>
          <a:lstStyle/>
          <a:p>
            <a:r>
              <a:rPr lang="hr-HR" dirty="0"/>
              <a:t>Koji procesi</a:t>
            </a:r>
            <a:r>
              <a:rPr lang="it-IT" dirty="0"/>
              <a:t>?</a:t>
            </a:r>
            <a:endParaRPr lang="en-GB" dirty="0"/>
          </a:p>
        </p:txBody>
      </p:sp>
      <p:sp>
        <p:nvSpPr>
          <p:cNvPr id="3" name="Segnaposto contenuto 2">
            <a:extLst>
              <a:ext uri="{FF2B5EF4-FFF2-40B4-BE49-F238E27FC236}">
                <a16:creationId xmlns:a16="http://schemas.microsoft.com/office/drawing/2014/main" id="{167E5A9A-83B6-665E-0B1A-BD9497124907}"/>
              </a:ext>
            </a:extLst>
          </p:cNvPr>
          <p:cNvSpPr>
            <a:spLocks noGrp="1"/>
          </p:cNvSpPr>
          <p:nvPr>
            <p:ph idx="1"/>
          </p:nvPr>
        </p:nvSpPr>
        <p:spPr/>
        <p:txBody>
          <a:bodyPr/>
          <a:lstStyle/>
          <a:p>
            <a:pPr marL="0" indent="0">
              <a:buNone/>
            </a:pPr>
            <a:r>
              <a:rPr lang="en-GB" dirty="0"/>
              <a:t>1) </a:t>
            </a:r>
            <a:r>
              <a:rPr lang="hr-HR" dirty="0"/>
              <a:t>OPERATIVNI PROCESI</a:t>
            </a:r>
            <a:endParaRPr lang="en-GB" dirty="0"/>
          </a:p>
          <a:p>
            <a:pPr marL="0" indent="0">
              <a:buNone/>
            </a:pPr>
            <a:endParaRPr lang="en-GB" dirty="0"/>
          </a:p>
          <a:p>
            <a:pPr marL="0" indent="0">
              <a:buNone/>
            </a:pPr>
            <a:r>
              <a:rPr lang="hr-HR" dirty="0"/>
              <a:t>Oni se izravno odnose na stvaranje proizvoda ili usluga. To su procesi koji, više od ostalih, izravno stvaraju dodanu vrijednost proizvodu/usluzi.</a:t>
            </a:r>
          </a:p>
          <a:p>
            <a:pPr marL="0" indent="0">
              <a:buNone/>
            </a:pPr>
            <a:endParaRPr lang="hr-HR" dirty="0"/>
          </a:p>
          <a:p>
            <a:pPr marL="0" indent="0">
              <a:buNone/>
            </a:pPr>
            <a:r>
              <a:rPr lang="hr-HR" dirty="0"/>
              <a:t>Npr. dizajn, proizvodnja, prodaja.</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29462570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6ABC0-C77A-6DC2-C3FC-D66D84565C2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7ACDB33-A1FF-5D41-58D5-C8B046AC756A}"/>
              </a:ext>
            </a:extLst>
          </p:cNvPr>
          <p:cNvSpPr>
            <a:spLocks noGrp="1"/>
          </p:cNvSpPr>
          <p:nvPr>
            <p:ph type="title"/>
          </p:nvPr>
        </p:nvSpPr>
        <p:spPr/>
        <p:txBody>
          <a:bodyPr/>
          <a:lstStyle/>
          <a:p>
            <a:r>
              <a:rPr lang="hr-HR" dirty="0"/>
              <a:t>Koji procesi</a:t>
            </a:r>
            <a:r>
              <a:rPr lang="it-IT" dirty="0"/>
              <a:t>?</a:t>
            </a:r>
            <a:endParaRPr lang="en-GB" dirty="0"/>
          </a:p>
        </p:txBody>
      </p:sp>
      <p:sp>
        <p:nvSpPr>
          <p:cNvPr id="3" name="Segnaposto contenuto 2">
            <a:extLst>
              <a:ext uri="{FF2B5EF4-FFF2-40B4-BE49-F238E27FC236}">
                <a16:creationId xmlns:a16="http://schemas.microsoft.com/office/drawing/2014/main" id="{173BFF00-AE29-725D-A6D6-8BA171291611}"/>
              </a:ext>
            </a:extLst>
          </p:cNvPr>
          <p:cNvSpPr>
            <a:spLocks noGrp="1"/>
          </p:cNvSpPr>
          <p:nvPr>
            <p:ph idx="1"/>
          </p:nvPr>
        </p:nvSpPr>
        <p:spPr/>
        <p:txBody>
          <a:bodyPr/>
          <a:lstStyle/>
          <a:p>
            <a:pPr marL="0" indent="0">
              <a:buNone/>
            </a:pPr>
            <a:r>
              <a:rPr lang="en-GB" dirty="0"/>
              <a:t>2) </a:t>
            </a:r>
            <a:r>
              <a:rPr lang="hr-HR" dirty="0"/>
              <a:t>PROCESI PODRŠKE</a:t>
            </a:r>
            <a:endParaRPr lang="en-GB" dirty="0"/>
          </a:p>
          <a:p>
            <a:pPr marL="0" indent="0">
              <a:buNone/>
            </a:pPr>
            <a:endParaRPr lang="en-GB" dirty="0"/>
          </a:p>
          <a:p>
            <a:pPr marL="0" indent="0">
              <a:buNone/>
            </a:pPr>
            <a:r>
              <a:rPr lang="hr-HR" dirty="0"/>
              <a:t>Oni podržavaju operativne procese kako bi ih učinili djelotvornijima i učinkovitijima.</a:t>
            </a:r>
          </a:p>
          <a:p>
            <a:pPr marL="0" indent="0">
              <a:buNone/>
            </a:pPr>
            <a:endParaRPr lang="hr-HR" dirty="0"/>
          </a:p>
          <a:p>
            <a:pPr marL="0" indent="0">
              <a:buNone/>
            </a:pPr>
            <a:r>
              <a:rPr lang="hr-HR" dirty="0"/>
              <a:t>Npr. komercijalno upravljanje, informacijski sustav, ljudski resursi, financijsko upravljanje, nabava itd.</a:t>
            </a:r>
          </a:p>
          <a:p>
            <a:pPr marL="0" indent="0">
              <a:buNone/>
            </a:pPr>
            <a:endParaRPr lang="en-GB" dirty="0"/>
          </a:p>
        </p:txBody>
      </p:sp>
    </p:spTree>
    <p:extLst>
      <p:ext uri="{BB962C8B-B14F-4D97-AF65-F5344CB8AC3E}">
        <p14:creationId xmlns:p14="http://schemas.microsoft.com/office/powerpoint/2010/main" val="31797392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1AA69-7491-6353-09AF-AA6687CDF07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2C0A0BD-38B4-77E9-94BB-BC259B89E87E}"/>
              </a:ext>
            </a:extLst>
          </p:cNvPr>
          <p:cNvSpPr>
            <a:spLocks noGrp="1"/>
          </p:cNvSpPr>
          <p:nvPr>
            <p:ph type="title"/>
          </p:nvPr>
        </p:nvSpPr>
        <p:spPr/>
        <p:txBody>
          <a:bodyPr/>
          <a:lstStyle/>
          <a:p>
            <a:r>
              <a:rPr lang="hr-HR" dirty="0"/>
              <a:t>Koji procesi</a:t>
            </a:r>
            <a:r>
              <a:rPr lang="it-IT" dirty="0"/>
              <a:t>?</a:t>
            </a:r>
            <a:endParaRPr lang="en-GB" dirty="0"/>
          </a:p>
        </p:txBody>
      </p:sp>
      <p:sp>
        <p:nvSpPr>
          <p:cNvPr id="3" name="Segnaposto contenuto 2">
            <a:extLst>
              <a:ext uri="{FF2B5EF4-FFF2-40B4-BE49-F238E27FC236}">
                <a16:creationId xmlns:a16="http://schemas.microsoft.com/office/drawing/2014/main" id="{324EC8FF-0D8E-C372-88D5-819AE08D8A2A}"/>
              </a:ext>
            </a:extLst>
          </p:cNvPr>
          <p:cNvSpPr>
            <a:spLocks noGrp="1"/>
          </p:cNvSpPr>
          <p:nvPr>
            <p:ph idx="1"/>
          </p:nvPr>
        </p:nvSpPr>
        <p:spPr/>
        <p:txBody>
          <a:bodyPr/>
          <a:lstStyle/>
          <a:p>
            <a:pPr marL="0" indent="0">
              <a:buNone/>
            </a:pPr>
            <a:r>
              <a:rPr lang="en-GB" dirty="0"/>
              <a:t>3) </a:t>
            </a:r>
            <a:r>
              <a:rPr lang="hr-HR" dirty="0"/>
              <a:t>KONTROLNI PROCESI</a:t>
            </a:r>
            <a:endParaRPr lang="en-GB" dirty="0"/>
          </a:p>
          <a:p>
            <a:pPr marL="0" indent="0">
              <a:buNone/>
            </a:pPr>
            <a:endParaRPr lang="en-GB" dirty="0"/>
          </a:p>
          <a:p>
            <a:pPr marL="0" indent="0">
              <a:buNone/>
            </a:pPr>
            <a:r>
              <a:rPr lang="hr-HR" dirty="0"/>
              <a:t>Procesi koji upravljaju cjelokupnim sustavom upravljanja kvalitetom.</a:t>
            </a:r>
          </a:p>
          <a:p>
            <a:pPr marL="0" indent="0">
              <a:buNone/>
            </a:pPr>
            <a:endParaRPr lang="hr-HR" dirty="0"/>
          </a:p>
          <a:p>
            <a:pPr marL="0" indent="0">
              <a:buNone/>
            </a:pPr>
            <a:r>
              <a:rPr lang="hr-HR" dirty="0"/>
              <a:t>Npr. preispitivanje sustava upravljanja kvalitetom, definiranje ciljeva organizacije, mjerenje rezultata, razvoj strategija itd.</a:t>
            </a:r>
          </a:p>
          <a:p>
            <a:pPr marL="0" indent="0">
              <a:buNone/>
            </a:pPr>
            <a:endParaRPr lang="en-GB" dirty="0"/>
          </a:p>
        </p:txBody>
      </p:sp>
    </p:spTree>
    <p:extLst>
      <p:ext uri="{BB962C8B-B14F-4D97-AF65-F5344CB8AC3E}">
        <p14:creationId xmlns:p14="http://schemas.microsoft.com/office/powerpoint/2010/main" val="701738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161BD-D943-BB3E-36C4-D8314A9D98A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CD74FF7-74D6-917D-C6CE-1BB320B44233}"/>
              </a:ext>
            </a:extLst>
          </p:cNvPr>
          <p:cNvSpPr>
            <a:spLocks noGrp="1"/>
          </p:cNvSpPr>
          <p:nvPr>
            <p:ph type="title"/>
          </p:nvPr>
        </p:nvSpPr>
        <p:spPr/>
        <p:txBody>
          <a:bodyPr>
            <a:normAutofit/>
          </a:bodyPr>
          <a:lstStyle/>
          <a:p>
            <a:r>
              <a:rPr lang="hr-HR" sz="3200" dirty="0"/>
              <a:t>Primjeri procesa kojima se može upravljati agilno</a:t>
            </a:r>
            <a:endParaRPr lang="en-GB" sz="3200" dirty="0"/>
          </a:p>
        </p:txBody>
      </p:sp>
      <p:sp>
        <p:nvSpPr>
          <p:cNvPr id="3" name="Segnaposto contenuto 2">
            <a:extLst>
              <a:ext uri="{FF2B5EF4-FFF2-40B4-BE49-F238E27FC236}">
                <a16:creationId xmlns:a16="http://schemas.microsoft.com/office/drawing/2014/main" id="{BF26E109-5683-32EE-ABB8-1F7CA84E6035}"/>
              </a:ext>
            </a:extLst>
          </p:cNvPr>
          <p:cNvSpPr>
            <a:spLocks noGrp="1"/>
          </p:cNvSpPr>
          <p:nvPr>
            <p:ph idx="1"/>
          </p:nvPr>
        </p:nvSpPr>
        <p:spPr/>
        <p:txBody>
          <a:bodyPr/>
          <a:lstStyle/>
          <a:p>
            <a:r>
              <a:rPr lang="hr-HR" dirty="0"/>
              <a:t>Osiguravanje ispravne provedbe projekta (uključujući i u javnoj upravi)</a:t>
            </a:r>
          </a:p>
          <a:p>
            <a:r>
              <a:rPr lang="hr-HR" dirty="0"/>
              <a:t>Prodaja</a:t>
            </a:r>
          </a:p>
          <a:p>
            <a:r>
              <a:rPr lang="hr-HR" dirty="0"/>
              <a:t>Upravljanje komunikacijom s korisnicima (marketinške aktivnosti i sl.)</a:t>
            </a:r>
          </a:p>
          <a:p>
            <a:r>
              <a:rPr lang="hr-HR" dirty="0"/>
              <a:t>Praćenje zadovoljstva korisnika</a:t>
            </a:r>
          </a:p>
          <a:p>
            <a:r>
              <a:rPr lang="hr-HR" dirty="0"/>
              <a:t>Upravljanje resursima (upravljanje financijskim transakcijama, obrada internog i eksternog izvještavanja, ispunjavanje zakonskih obveza)</a:t>
            </a:r>
          </a:p>
          <a:p>
            <a:pPr marL="0" indent="0">
              <a:buNone/>
            </a:pPr>
            <a:endParaRPr lang="en-GB" dirty="0"/>
          </a:p>
        </p:txBody>
      </p:sp>
    </p:spTree>
    <p:extLst>
      <p:ext uri="{BB962C8B-B14F-4D97-AF65-F5344CB8AC3E}">
        <p14:creationId xmlns:p14="http://schemas.microsoft.com/office/powerpoint/2010/main" val="4750281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0F6D4-9183-AD5D-95A7-78CBFB318D6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F8AC232-4894-F353-C1A2-2DF1B6837062}"/>
              </a:ext>
            </a:extLst>
          </p:cNvPr>
          <p:cNvSpPr>
            <a:spLocks noGrp="1"/>
          </p:cNvSpPr>
          <p:nvPr>
            <p:ph type="ctrTitle"/>
          </p:nvPr>
        </p:nvSpPr>
        <p:spPr/>
        <p:txBody>
          <a:bodyPr/>
          <a:lstStyle/>
          <a:p>
            <a:pPr marL="0" indent="0">
              <a:buNone/>
            </a:pPr>
            <a:r>
              <a:rPr lang="hr-HR" dirty="0"/>
              <a:t>Uloge i rituali</a:t>
            </a:r>
            <a:endParaRPr lang="en-GB" dirty="0"/>
          </a:p>
        </p:txBody>
      </p:sp>
    </p:spTree>
    <p:extLst>
      <p:ext uri="{BB962C8B-B14F-4D97-AF65-F5344CB8AC3E}">
        <p14:creationId xmlns:p14="http://schemas.microsoft.com/office/powerpoint/2010/main" val="32933566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B32E338-47E9-2DD6-A5A0-9020DB836588}"/>
              </a:ext>
            </a:extLst>
          </p:cNvPr>
          <p:cNvSpPr>
            <a:spLocks noGrp="1"/>
          </p:cNvSpPr>
          <p:nvPr>
            <p:ph type="title"/>
          </p:nvPr>
        </p:nvSpPr>
        <p:spPr/>
        <p:txBody>
          <a:bodyPr/>
          <a:lstStyle/>
          <a:p>
            <a:r>
              <a:rPr lang="hr-HR" dirty="0"/>
              <a:t>Uloge</a:t>
            </a:r>
            <a:endParaRPr lang="en-GB" dirty="0"/>
          </a:p>
        </p:txBody>
      </p:sp>
      <p:sp>
        <p:nvSpPr>
          <p:cNvPr id="3" name="Segnaposto contenuto 2">
            <a:extLst>
              <a:ext uri="{FF2B5EF4-FFF2-40B4-BE49-F238E27FC236}">
                <a16:creationId xmlns:a16="http://schemas.microsoft.com/office/drawing/2014/main" id="{49D3DFCC-B8C1-109E-0659-18EF6CC61AF2}"/>
              </a:ext>
            </a:extLst>
          </p:cNvPr>
          <p:cNvSpPr>
            <a:spLocks noGrp="1"/>
          </p:cNvSpPr>
          <p:nvPr>
            <p:ph idx="1"/>
          </p:nvPr>
        </p:nvSpPr>
        <p:spPr/>
        <p:txBody>
          <a:bodyPr/>
          <a:lstStyle/>
          <a:p>
            <a:pPr marL="0" indent="0">
              <a:buNone/>
            </a:pPr>
            <a:r>
              <a:rPr lang="hr-HR" dirty="0"/>
              <a:t>Uloga: skup ponašanja, prava, dužnosti, uvjerenja i normi povezanih s određenim društvenim kontekstom i prihvaćenih od strane ljudi u njemu</a:t>
            </a:r>
          </a:p>
          <a:p>
            <a:pPr marL="0" indent="0">
              <a:buNone/>
            </a:pPr>
            <a:endParaRPr lang="hr-HR" dirty="0"/>
          </a:p>
          <a:p>
            <a:r>
              <a:rPr lang="hr-HR" dirty="0" err="1"/>
              <a:t>Product</a:t>
            </a:r>
            <a:r>
              <a:rPr lang="hr-HR" dirty="0"/>
              <a:t> </a:t>
            </a:r>
            <a:r>
              <a:rPr lang="hr-HR" dirty="0" err="1"/>
              <a:t>Owner</a:t>
            </a:r>
            <a:endParaRPr lang="hr-HR" dirty="0"/>
          </a:p>
          <a:p>
            <a:r>
              <a:rPr lang="hr-HR" dirty="0" err="1"/>
              <a:t>Scrum</a:t>
            </a:r>
            <a:r>
              <a:rPr lang="hr-HR" dirty="0"/>
              <a:t> Master</a:t>
            </a:r>
          </a:p>
          <a:p>
            <a:r>
              <a:rPr lang="hr-HR" dirty="0"/>
              <a:t>Članovi tima</a:t>
            </a:r>
          </a:p>
          <a:p>
            <a:endParaRPr lang="en-GB" dirty="0"/>
          </a:p>
        </p:txBody>
      </p:sp>
    </p:spTree>
    <p:extLst>
      <p:ext uri="{BB962C8B-B14F-4D97-AF65-F5344CB8AC3E}">
        <p14:creationId xmlns:p14="http://schemas.microsoft.com/office/powerpoint/2010/main" val="22872489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2B0F8-C7F4-FEB2-3C27-3FED0970449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26D6EDE-CD1B-4281-DF5E-0C6811D2C6E9}"/>
              </a:ext>
            </a:extLst>
          </p:cNvPr>
          <p:cNvSpPr>
            <a:spLocks noGrp="1"/>
          </p:cNvSpPr>
          <p:nvPr>
            <p:ph type="title"/>
          </p:nvPr>
        </p:nvSpPr>
        <p:spPr/>
        <p:txBody>
          <a:bodyPr/>
          <a:lstStyle/>
          <a:p>
            <a:r>
              <a:rPr lang="hr-HR" dirty="0">
                <a:cs typeface="Trebuchet MS"/>
              </a:rPr>
              <a:t>Vlasnik proizvoda - </a:t>
            </a:r>
            <a:r>
              <a:rPr lang="en-GB" dirty="0">
                <a:cs typeface="Trebuchet MS"/>
              </a:rPr>
              <a:t>Product Owner (PO)</a:t>
            </a:r>
            <a:endParaRPr lang="en-GB" dirty="0"/>
          </a:p>
        </p:txBody>
      </p:sp>
      <p:sp>
        <p:nvSpPr>
          <p:cNvPr id="3" name="Segnaposto contenuto 2">
            <a:extLst>
              <a:ext uri="{FF2B5EF4-FFF2-40B4-BE49-F238E27FC236}">
                <a16:creationId xmlns:a16="http://schemas.microsoft.com/office/drawing/2014/main" id="{46D36B3F-9F93-A3AE-702F-D4E83EB885F6}"/>
              </a:ext>
            </a:extLst>
          </p:cNvPr>
          <p:cNvSpPr>
            <a:spLocks noGrp="1"/>
          </p:cNvSpPr>
          <p:nvPr>
            <p:ph idx="1"/>
          </p:nvPr>
        </p:nvSpPr>
        <p:spPr>
          <a:xfrm>
            <a:off x="838200" y="2345284"/>
            <a:ext cx="5041307" cy="2925724"/>
          </a:xfrm>
        </p:spPr>
        <p:txBody>
          <a:bodyPr/>
          <a:lstStyle/>
          <a:p>
            <a:r>
              <a:rPr lang="hr-HR" dirty="0"/>
              <a:t>Odgovoran/odgovorna je za proizvod/projekt.</a:t>
            </a:r>
          </a:p>
          <a:p>
            <a:r>
              <a:rPr lang="hr-HR" dirty="0"/>
              <a:t>Dodaje nove aktivnosti.</a:t>
            </a:r>
          </a:p>
          <a:p>
            <a:r>
              <a:rPr lang="hr-HR" dirty="0"/>
              <a:t>Ima završnu riječ o prioritetu i redoslijedu aktivnosti.</a:t>
            </a:r>
            <a:endParaRPr lang="en-GB" dirty="0"/>
          </a:p>
        </p:txBody>
      </p:sp>
      <p:pic>
        <p:nvPicPr>
          <p:cNvPr id="6" name="Immagine 5">
            <a:extLst>
              <a:ext uri="{FF2B5EF4-FFF2-40B4-BE49-F238E27FC236}">
                <a16:creationId xmlns:a16="http://schemas.microsoft.com/office/drawing/2014/main" id="{67DB9BC4-C704-32F5-8539-107D1895F206}"/>
              </a:ext>
            </a:extLst>
          </p:cNvPr>
          <p:cNvPicPr>
            <a:picLocks noChangeAspect="1"/>
          </p:cNvPicPr>
          <p:nvPr/>
        </p:nvPicPr>
        <p:blipFill>
          <a:blip r:embed="rId3">
            <a:extLst>
              <a:ext uri="{28A0092B-C50C-407E-A947-70E740481C1C}">
                <a14:useLocalDpi xmlns:a14="http://schemas.microsoft.com/office/drawing/2010/main" val="0"/>
              </a:ext>
            </a:extLst>
          </a:blip>
          <a:srcRect l="-594" r="49999" b="50000"/>
          <a:stretch>
            <a:fillRect/>
          </a:stretch>
        </p:blipFill>
        <p:spPr>
          <a:xfrm>
            <a:off x="6772940" y="2093646"/>
            <a:ext cx="3469758" cy="3429000"/>
          </a:xfrm>
          <a:prstGeom prst="rect">
            <a:avLst/>
          </a:prstGeom>
        </p:spPr>
      </p:pic>
      <p:sp>
        <p:nvSpPr>
          <p:cNvPr id="7" name="Segnaposto contenuto 2">
            <a:extLst>
              <a:ext uri="{FF2B5EF4-FFF2-40B4-BE49-F238E27FC236}">
                <a16:creationId xmlns:a16="http://schemas.microsoft.com/office/drawing/2014/main" id="{5B94A08D-502A-E4F7-3EC1-4F5110CAA39E}"/>
              </a:ext>
            </a:extLst>
          </p:cNvPr>
          <p:cNvSpPr txBox="1">
            <a:spLocks/>
          </p:cNvSpPr>
          <p:nvPr/>
        </p:nvSpPr>
        <p:spPr>
          <a:xfrm>
            <a:off x="6829647" y="5522646"/>
            <a:ext cx="3880883" cy="4764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900" dirty="0"/>
              <a:t>Source: </a:t>
            </a:r>
            <a:r>
              <a:rPr lang="en-GB" sz="900" i="1" dirty="0" err="1"/>
              <a:t>Freepik</a:t>
            </a:r>
            <a:r>
              <a:rPr lang="en-GB" sz="900" i="1" dirty="0"/>
              <a:t> (</a:t>
            </a:r>
            <a:r>
              <a:rPr lang="en-GB" sz="900" i="1" dirty="0">
                <a:hlinkClick r:id="rId4"/>
              </a:rPr>
              <a:t>https://www.freepik.com/free-vector/people-designs-collection_1001801.htm#fromView=search&amp;page=1&amp;position=8&amp;uuid=f57f668b-aa12-4ae6-8eee-d0bff0f8c26b&amp;query=manager+avatar</a:t>
            </a:r>
            <a:r>
              <a:rPr lang="en-GB" sz="900" i="1" dirty="0"/>
              <a:t>) </a:t>
            </a:r>
            <a:endParaRPr lang="en-GB" sz="900" dirty="0"/>
          </a:p>
        </p:txBody>
      </p:sp>
    </p:spTree>
    <p:extLst>
      <p:ext uri="{BB962C8B-B14F-4D97-AF65-F5344CB8AC3E}">
        <p14:creationId xmlns:p14="http://schemas.microsoft.com/office/powerpoint/2010/main" val="41639683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B3F4B-B53A-CEE4-42DB-DF604005C5E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2FC707B-3F10-9D60-7196-23EE6B451478}"/>
              </a:ext>
            </a:extLst>
          </p:cNvPr>
          <p:cNvSpPr>
            <a:spLocks noGrp="1"/>
          </p:cNvSpPr>
          <p:nvPr>
            <p:ph type="title"/>
          </p:nvPr>
        </p:nvSpPr>
        <p:spPr/>
        <p:txBody>
          <a:bodyPr/>
          <a:lstStyle/>
          <a:p>
            <a:r>
              <a:rPr lang="en-GB" dirty="0">
                <a:cs typeface="Trebuchet MS"/>
              </a:rPr>
              <a:t>Scrum Master (SM)</a:t>
            </a:r>
            <a:endParaRPr lang="en-GB" dirty="0"/>
          </a:p>
        </p:txBody>
      </p:sp>
      <p:sp>
        <p:nvSpPr>
          <p:cNvPr id="3" name="Segnaposto contenuto 2">
            <a:extLst>
              <a:ext uri="{FF2B5EF4-FFF2-40B4-BE49-F238E27FC236}">
                <a16:creationId xmlns:a16="http://schemas.microsoft.com/office/drawing/2014/main" id="{4BDECA78-C9DA-6DA1-9AF8-E87A6BF89795}"/>
              </a:ext>
            </a:extLst>
          </p:cNvPr>
          <p:cNvSpPr>
            <a:spLocks noGrp="1"/>
          </p:cNvSpPr>
          <p:nvPr>
            <p:ph idx="1"/>
          </p:nvPr>
        </p:nvSpPr>
        <p:spPr>
          <a:xfrm>
            <a:off x="838200" y="2457750"/>
            <a:ext cx="5041307" cy="2763749"/>
          </a:xfrm>
        </p:spPr>
        <p:txBody>
          <a:bodyPr/>
          <a:lstStyle/>
          <a:p>
            <a:r>
              <a:rPr lang="hr-HR" dirty="0"/>
              <a:t>Organizira sastanke (ceremonije).</a:t>
            </a:r>
          </a:p>
          <a:p>
            <a:r>
              <a:rPr lang="hr-HR" dirty="0"/>
              <a:t>Nadzire njihovo pravilno odvijanje.</a:t>
            </a:r>
          </a:p>
          <a:p>
            <a:r>
              <a:rPr lang="hr-HR" dirty="0"/>
              <a:t>Podsjeća tim na „temeljna načela” metode.</a:t>
            </a:r>
            <a:endParaRPr lang="en-GB" dirty="0"/>
          </a:p>
        </p:txBody>
      </p:sp>
      <p:pic>
        <p:nvPicPr>
          <p:cNvPr id="4" name="Immagine 3">
            <a:extLst>
              <a:ext uri="{FF2B5EF4-FFF2-40B4-BE49-F238E27FC236}">
                <a16:creationId xmlns:a16="http://schemas.microsoft.com/office/drawing/2014/main" id="{AE4D3BC5-5A62-3295-F652-6D4DE19AF7EF}"/>
              </a:ext>
            </a:extLst>
          </p:cNvPr>
          <p:cNvPicPr>
            <a:picLocks noChangeAspect="1"/>
          </p:cNvPicPr>
          <p:nvPr/>
        </p:nvPicPr>
        <p:blipFill>
          <a:blip r:embed="rId3">
            <a:extLst>
              <a:ext uri="{28A0092B-C50C-407E-A947-70E740481C1C}">
                <a14:useLocalDpi xmlns:a14="http://schemas.microsoft.com/office/drawing/2010/main" val="0"/>
              </a:ext>
            </a:extLst>
          </a:blip>
          <a:srcRect l="50000" t="50000"/>
          <a:stretch>
            <a:fillRect/>
          </a:stretch>
        </p:blipFill>
        <p:spPr>
          <a:xfrm>
            <a:off x="6989135" y="2125124"/>
            <a:ext cx="3429000" cy="3429000"/>
          </a:xfrm>
          <a:prstGeom prst="rect">
            <a:avLst/>
          </a:prstGeom>
        </p:spPr>
      </p:pic>
      <p:sp>
        <p:nvSpPr>
          <p:cNvPr id="6" name="Segnaposto contenuto 2">
            <a:extLst>
              <a:ext uri="{FF2B5EF4-FFF2-40B4-BE49-F238E27FC236}">
                <a16:creationId xmlns:a16="http://schemas.microsoft.com/office/drawing/2014/main" id="{2278EA42-F257-B2C3-7200-3D8907334812}"/>
              </a:ext>
            </a:extLst>
          </p:cNvPr>
          <p:cNvSpPr txBox="1">
            <a:spLocks/>
          </p:cNvSpPr>
          <p:nvPr/>
        </p:nvSpPr>
        <p:spPr>
          <a:xfrm>
            <a:off x="6773826" y="5512125"/>
            <a:ext cx="3859618" cy="4764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900" dirty="0"/>
              <a:t>Source: </a:t>
            </a:r>
            <a:r>
              <a:rPr lang="en-GB" sz="900" i="1" dirty="0" err="1"/>
              <a:t>Freepik</a:t>
            </a:r>
            <a:r>
              <a:rPr lang="en-GB" sz="900" i="1" dirty="0"/>
              <a:t> (</a:t>
            </a:r>
            <a:r>
              <a:rPr lang="en-GB" sz="900" i="1" dirty="0">
                <a:hlinkClick r:id="rId4"/>
              </a:rPr>
              <a:t>https://www.freepik.com/free-vector/people-designs-collection_1001801.htm#fromView=search&amp;page=1&amp;position=8&amp;uuid=f57f668b-aa12-4ae6-8eee-d0bff0f8c26b&amp;query=manager+avatar</a:t>
            </a:r>
            <a:r>
              <a:rPr lang="en-GB" sz="900" i="1" dirty="0"/>
              <a:t>) </a:t>
            </a:r>
            <a:endParaRPr lang="en-GB" sz="900" dirty="0"/>
          </a:p>
        </p:txBody>
      </p:sp>
    </p:spTree>
    <p:extLst>
      <p:ext uri="{BB962C8B-B14F-4D97-AF65-F5344CB8AC3E}">
        <p14:creationId xmlns:p14="http://schemas.microsoft.com/office/powerpoint/2010/main" val="26745339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F4848-486E-CB34-BC24-A794834B122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DDB68BB-B87E-977E-E47F-C3C18A0A82AF}"/>
              </a:ext>
            </a:extLst>
          </p:cNvPr>
          <p:cNvSpPr>
            <a:spLocks noGrp="1"/>
          </p:cNvSpPr>
          <p:nvPr>
            <p:ph type="title"/>
          </p:nvPr>
        </p:nvSpPr>
        <p:spPr/>
        <p:txBody>
          <a:bodyPr/>
          <a:lstStyle/>
          <a:p>
            <a:r>
              <a:rPr lang="hr-HR" dirty="0">
                <a:cs typeface="Trebuchet MS"/>
              </a:rPr>
              <a:t>Članovi tima</a:t>
            </a:r>
            <a:endParaRPr lang="en-GB" dirty="0"/>
          </a:p>
        </p:txBody>
      </p:sp>
      <p:sp>
        <p:nvSpPr>
          <p:cNvPr id="3" name="Segnaposto contenuto 2">
            <a:extLst>
              <a:ext uri="{FF2B5EF4-FFF2-40B4-BE49-F238E27FC236}">
                <a16:creationId xmlns:a16="http://schemas.microsoft.com/office/drawing/2014/main" id="{6D80558D-C93F-6362-2775-6B677EA43EDF}"/>
              </a:ext>
            </a:extLst>
          </p:cNvPr>
          <p:cNvSpPr>
            <a:spLocks noGrp="1"/>
          </p:cNvSpPr>
          <p:nvPr>
            <p:ph idx="1"/>
          </p:nvPr>
        </p:nvSpPr>
        <p:spPr>
          <a:xfrm>
            <a:off x="838200" y="2457750"/>
            <a:ext cx="5041307" cy="2763749"/>
          </a:xfrm>
        </p:spPr>
        <p:txBody>
          <a:bodyPr/>
          <a:lstStyle/>
          <a:p>
            <a:r>
              <a:rPr lang="hr-HR" dirty="0"/>
              <a:t>Čine radnu skupinu.</a:t>
            </a:r>
          </a:p>
          <a:p>
            <a:r>
              <a:rPr lang="hr-HR" dirty="0"/>
              <a:t>Izvršavaju dio projektnih aktivnosti.</a:t>
            </a:r>
          </a:p>
          <a:p>
            <a:endParaRPr lang="en-GB" dirty="0"/>
          </a:p>
        </p:txBody>
      </p:sp>
      <p:pic>
        <p:nvPicPr>
          <p:cNvPr id="6" name="Immagine 5">
            <a:extLst>
              <a:ext uri="{FF2B5EF4-FFF2-40B4-BE49-F238E27FC236}">
                <a16:creationId xmlns:a16="http://schemas.microsoft.com/office/drawing/2014/main" id="{AEE2FFE3-B6AC-6D6D-BFCB-EBDD216766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8633" y="1981093"/>
            <a:ext cx="3604437" cy="3604437"/>
          </a:xfrm>
          <a:prstGeom prst="rect">
            <a:avLst/>
          </a:prstGeom>
        </p:spPr>
      </p:pic>
      <p:sp>
        <p:nvSpPr>
          <p:cNvPr id="7" name="Segnaposto contenuto 2">
            <a:extLst>
              <a:ext uri="{FF2B5EF4-FFF2-40B4-BE49-F238E27FC236}">
                <a16:creationId xmlns:a16="http://schemas.microsoft.com/office/drawing/2014/main" id="{3FCD75DC-1681-B01A-360D-400862A33C74}"/>
              </a:ext>
            </a:extLst>
          </p:cNvPr>
          <p:cNvSpPr txBox="1">
            <a:spLocks/>
          </p:cNvSpPr>
          <p:nvPr/>
        </p:nvSpPr>
        <p:spPr>
          <a:xfrm>
            <a:off x="6868633" y="5637717"/>
            <a:ext cx="3848986" cy="4764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900" dirty="0"/>
              <a:t>Source: </a:t>
            </a:r>
            <a:r>
              <a:rPr lang="en-GB" sz="900" i="1" dirty="0" err="1"/>
              <a:t>Freepik</a:t>
            </a:r>
            <a:r>
              <a:rPr lang="en-GB" sz="900" i="1" dirty="0"/>
              <a:t> (</a:t>
            </a:r>
            <a:r>
              <a:rPr lang="en-GB" sz="900" i="1" dirty="0">
                <a:hlinkClick r:id="rId4"/>
              </a:rPr>
              <a:t>https://www.freepik.com/free-vector/people-designs-collection_1001801.htm#fromView=search&amp;page=1&amp;position=8&amp;uuid=f57f668b-aa12-4ae6-8eee-d0bff0f8c26b&amp;query=manager+avatar</a:t>
            </a:r>
            <a:r>
              <a:rPr lang="en-GB" sz="900" i="1" dirty="0"/>
              <a:t>) </a:t>
            </a:r>
            <a:endParaRPr lang="en-GB" sz="900" dirty="0"/>
          </a:p>
        </p:txBody>
      </p:sp>
    </p:spTree>
    <p:extLst>
      <p:ext uri="{BB962C8B-B14F-4D97-AF65-F5344CB8AC3E}">
        <p14:creationId xmlns:p14="http://schemas.microsoft.com/office/powerpoint/2010/main" val="1930256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C7104-E767-15CD-99B0-977C1B8207B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5BDEF69-B4CB-16DC-49F7-221CB92A2B46}"/>
              </a:ext>
            </a:extLst>
          </p:cNvPr>
          <p:cNvSpPr>
            <a:spLocks noGrp="1"/>
          </p:cNvSpPr>
          <p:nvPr>
            <p:ph type="title"/>
          </p:nvPr>
        </p:nvSpPr>
        <p:spPr/>
        <p:txBody>
          <a:bodyPr/>
          <a:lstStyle/>
          <a:p>
            <a:r>
              <a:rPr lang="en-GB" dirty="0">
                <a:cs typeface="Trebuchet MS"/>
              </a:rPr>
              <a:t>Product Owner VS Scrum Master</a:t>
            </a:r>
            <a:endParaRPr lang="en-GB" dirty="0"/>
          </a:p>
        </p:txBody>
      </p:sp>
      <p:sp>
        <p:nvSpPr>
          <p:cNvPr id="3" name="Segnaposto contenuto 2">
            <a:extLst>
              <a:ext uri="{FF2B5EF4-FFF2-40B4-BE49-F238E27FC236}">
                <a16:creationId xmlns:a16="http://schemas.microsoft.com/office/drawing/2014/main" id="{3916E508-9472-FAF1-690B-10158A51EEF7}"/>
              </a:ext>
            </a:extLst>
          </p:cNvPr>
          <p:cNvSpPr>
            <a:spLocks noGrp="1"/>
          </p:cNvSpPr>
          <p:nvPr>
            <p:ph idx="1"/>
          </p:nvPr>
        </p:nvSpPr>
        <p:spPr/>
        <p:txBody>
          <a:bodyPr/>
          <a:lstStyle/>
          <a:p>
            <a:pPr marL="0" indent="0">
              <a:buNone/>
            </a:pPr>
            <a:r>
              <a:rPr lang="hr-HR" dirty="0" err="1"/>
              <a:t>Product</a:t>
            </a:r>
            <a:r>
              <a:rPr lang="hr-HR" dirty="0"/>
              <a:t> </a:t>
            </a:r>
            <a:r>
              <a:rPr lang="hr-HR" dirty="0" err="1"/>
              <a:t>Owner</a:t>
            </a:r>
            <a:r>
              <a:rPr lang="hr-HR" dirty="0"/>
              <a:t>: voditelj razvoja proizvoda</a:t>
            </a:r>
            <a:br>
              <a:rPr lang="hr-HR" dirty="0"/>
            </a:br>
            <a:r>
              <a:rPr lang="hr-HR" dirty="0" err="1"/>
              <a:t>Product</a:t>
            </a:r>
            <a:r>
              <a:rPr lang="hr-HR" dirty="0"/>
              <a:t> Manager: odgovoran/odgovorna za strategiju, plan razvoja i proračun</a:t>
            </a:r>
          </a:p>
          <a:p>
            <a:pPr marL="0" indent="0">
              <a:buNone/>
            </a:pPr>
            <a:endParaRPr lang="hr-HR" dirty="0"/>
          </a:p>
          <a:p>
            <a:pPr marL="0" indent="0">
              <a:buNone/>
            </a:pPr>
            <a:r>
              <a:rPr lang="hr-HR" dirty="0"/>
              <a:t>S obzirom na znatno preklapanje uloga, bolje je koristiti samo naziv </a:t>
            </a:r>
            <a:r>
              <a:rPr lang="hr-HR" dirty="0" err="1"/>
              <a:t>Product</a:t>
            </a:r>
            <a:r>
              <a:rPr lang="hr-HR" dirty="0"/>
              <a:t> / Project Manager.</a:t>
            </a:r>
          </a:p>
          <a:p>
            <a:pPr marL="0" indent="0">
              <a:buNone/>
            </a:pPr>
            <a:endParaRPr lang="en-GB" dirty="0"/>
          </a:p>
          <a:p>
            <a:endParaRPr lang="en-GB" dirty="0"/>
          </a:p>
        </p:txBody>
      </p:sp>
    </p:spTree>
    <p:extLst>
      <p:ext uri="{BB962C8B-B14F-4D97-AF65-F5344CB8AC3E}">
        <p14:creationId xmlns:p14="http://schemas.microsoft.com/office/powerpoint/2010/main" val="7173027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71AB4-1319-B3DB-A224-13BD35188AE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C08A420-6402-CD68-1D1B-A5CF27470070}"/>
              </a:ext>
            </a:extLst>
          </p:cNvPr>
          <p:cNvSpPr>
            <a:spLocks noGrp="1"/>
          </p:cNvSpPr>
          <p:nvPr>
            <p:ph type="title"/>
          </p:nvPr>
        </p:nvSpPr>
        <p:spPr/>
        <p:txBody>
          <a:bodyPr>
            <a:normAutofit/>
          </a:bodyPr>
          <a:lstStyle/>
          <a:p>
            <a:r>
              <a:rPr lang="en-GB" dirty="0">
                <a:cs typeface="Trebuchet MS"/>
              </a:rPr>
              <a:t>Product Owner</a:t>
            </a:r>
            <a:endParaRPr lang="en-GB" dirty="0"/>
          </a:p>
        </p:txBody>
      </p:sp>
      <p:pic>
        <p:nvPicPr>
          <p:cNvPr id="3074" name="Picture 2" descr="Product owner tools">
            <a:extLst>
              <a:ext uri="{FF2B5EF4-FFF2-40B4-BE49-F238E27FC236}">
                <a16:creationId xmlns:a16="http://schemas.microsoft.com/office/drawing/2014/main" id="{A052A7B2-603C-F6E6-E7AD-C913C725F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3246" y="1811585"/>
            <a:ext cx="5371657" cy="4067112"/>
          </a:xfrm>
          <a:prstGeom prst="rect">
            <a:avLst/>
          </a:prstGeom>
          <a:noFill/>
          <a:extLst>
            <a:ext uri="{909E8E84-426E-40DD-AFC4-6F175D3DCCD1}">
              <a14:hiddenFill xmlns:a14="http://schemas.microsoft.com/office/drawing/2010/main">
                <a:solidFill>
                  <a:srgbClr val="FFFFFF"/>
                </a:solidFill>
              </a14:hiddenFill>
            </a:ext>
          </a:extLst>
        </p:spPr>
      </p:pic>
      <p:sp>
        <p:nvSpPr>
          <p:cNvPr id="3" name="Segnaposto contenuto 2">
            <a:extLst>
              <a:ext uri="{FF2B5EF4-FFF2-40B4-BE49-F238E27FC236}">
                <a16:creationId xmlns:a16="http://schemas.microsoft.com/office/drawing/2014/main" id="{7EBD7616-A492-3FB9-F6FC-C8465CA74E0B}"/>
              </a:ext>
            </a:extLst>
          </p:cNvPr>
          <p:cNvSpPr txBox="1">
            <a:spLocks/>
          </p:cNvSpPr>
          <p:nvPr/>
        </p:nvSpPr>
        <p:spPr>
          <a:xfrm>
            <a:off x="3156319" y="5999594"/>
            <a:ext cx="5625509" cy="2294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900" dirty="0"/>
              <a:t>Source: </a:t>
            </a:r>
            <a:r>
              <a:rPr lang="en-GB" sz="900" i="1" dirty="0" err="1"/>
              <a:t>ProductGo</a:t>
            </a:r>
            <a:r>
              <a:rPr lang="en-GB" sz="900" i="1" dirty="0"/>
              <a:t> (</a:t>
            </a:r>
            <a:r>
              <a:rPr lang="en-GB" sz="900" i="1" dirty="0">
                <a:hlinkClick r:id="rId4"/>
              </a:rPr>
              <a:t>https://userstorymap.io/being-an-effective-product-owner/</a:t>
            </a:r>
            <a:r>
              <a:rPr lang="en-GB" sz="900" i="1" dirty="0"/>
              <a:t>) </a:t>
            </a:r>
            <a:endParaRPr lang="en-GB" sz="900" dirty="0"/>
          </a:p>
        </p:txBody>
      </p:sp>
    </p:spTree>
    <p:extLst>
      <p:ext uri="{BB962C8B-B14F-4D97-AF65-F5344CB8AC3E}">
        <p14:creationId xmlns:p14="http://schemas.microsoft.com/office/powerpoint/2010/main" val="20401345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D2B66-4F74-41E5-AA16-A87313B1212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77D7715-C072-EC97-2280-B6D20920A28F}"/>
              </a:ext>
            </a:extLst>
          </p:cNvPr>
          <p:cNvSpPr>
            <a:spLocks noGrp="1"/>
          </p:cNvSpPr>
          <p:nvPr>
            <p:ph type="title"/>
          </p:nvPr>
        </p:nvSpPr>
        <p:spPr/>
        <p:txBody>
          <a:bodyPr>
            <a:normAutofit/>
          </a:bodyPr>
          <a:lstStyle/>
          <a:p>
            <a:r>
              <a:rPr lang="en-GB" dirty="0">
                <a:cs typeface="Trebuchet MS"/>
              </a:rPr>
              <a:t>Scrum Master</a:t>
            </a:r>
            <a:endParaRPr lang="en-GB" dirty="0"/>
          </a:p>
        </p:txBody>
      </p:sp>
      <p:pic>
        <p:nvPicPr>
          <p:cNvPr id="6" name="Immagine 5">
            <a:extLst>
              <a:ext uri="{FF2B5EF4-FFF2-40B4-BE49-F238E27FC236}">
                <a16:creationId xmlns:a16="http://schemas.microsoft.com/office/drawing/2014/main" id="{B6162855-DD3F-97F5-EB00-A6EA6FE11B17}"/>
              </a:ext>
            </a:extLst>
          </p:cNvPr>
          <p:cNvPicPr>
            <a:picLocks noChangeAspect="1"/>
          </p:cNvPicPr>
          <p:nvPr/>
        </p:nvPicPr>
        <p:blipFill>
          <a:blip r:embed="rId3">
            <a:extLst>
              <a:ext uri="{28A0092B-C50C-407E-A947-70E740481C1C}">
                <a14:useLocalDpi xmlns:a14="http://schemas.microsoft.com/office/drawing/2010/main" val="0"/>
              </a:ext>
            </a:extLst>
          </a:blip>
          <a:srcRect l="40291" t="50000" r="18896" b="27597"/>
          <a:stretch>
            <a:fillRect/>
          </a:stretch>
        </p:blipFill>
        <p:spPr>
          <a:xfrm>
            <a:off x="1256265" y="2391434"/>
            <a:ext cx="9679470" cy="2988641"/>
          </a:xfrm>
          <a:prstGeom prst="rect">
            <a:avLst/>
          </a:prstGeom>
        </p:spPr>
      </p:pic>
      <p:sp>
        <p:nvSpPr>
          <p:cNvPr id="7" name="Segnaposto contenuto 2">
            <a:extLst>
              <a:ext uri="{FF2B5EF4-FFF2-40B4-BE49-F238E27FC236}">
                <a16:creationId xmlns:a16="http://schemas.microsoft.com/office/drawing/2014/main" id="{B66F20DB-F611-795F-F5C4-6751FAFBD809}"/>
              </a:ext>
            </a:extLst>
          </p:cNvPr>
          <p:cNvSpPr txBox="1">
            <a:spLocks/>
          </p:cNvSpPr>
          <p:nvPr/>
        </p:nvSpPr>
        <p:spPr>
          <a:xfrm>
            <a:off x="1541720" y="5380075"/>
            <a:ext cx="5625509" cy="2294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900" dirty="0"/>
              <a:t>Source: </a:t>
            </a:r>
            <a:r>
              <a:rPr lang="en-GB" sz="900" i="1" dirty="0"/>
              <a:t>Atlassian (</a:t>
            </a:r>
            <a:r>
              <a:rPr lang="en-GB" sz="900" i="1" dirty="0">
                <a:hlinkClick r:id="rId4"/>
              </a:rPr>
              <a:t>https://www.atlassian.com/agile/scrum/scrum-master</a:t>
            </a:r>
            <a:r>
              <a:rPr lang="en-GB" sz="900" i="1" dirty="0"/>
              <a:t>) </a:t>
            </a:r>
            <a:endParaRPr lang="en-GB" sz="900" dirty="0"/>
          </a:p>
        </p:txBody>
      </p:sp>
    </p:spTree>
    <p:extLst>
      <p:ext uri="{BB962C8B-B14F-4D97-AF65-F5344CB8AC3E}">
        <p14:creationId xmlns:p14="http://schemas.microsoft.com/office/powerpoint/2010/main" val="20745571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301DE-5010-5732-86AD-11D2FCD0581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947FFA5-E04E-2EDF-0876-8533A97DC62E}"/>
              </a:ext>
            </a:extLst>
          </p:cNvPr>
          <p:cNvSpPr>
            <a:spLocks noGrp="1"/>
          </p:cNvSpPr>
          <p:nvPr>
            <p:ph type="title"/>
          </p:nvPr>
        </p:nvSpPr>
        <p:spPr/>
        <p:txBody>
          <a:bodyPr/>
          <a:lstStyle/>
          <a:p>
            <a:r>
              <a:rPr lang="it-IT" dirty="0" err="1"/>
              <a:t>Ritual</a:t>
            </a:r>
            <a:r>
              <a:rPr lang="hr-HR" dirty="0"/>
              <a:t>i</a:t>
            </a:r>
            <a:endParaRPr lang="en-GB" dirty="0"/>
          </a:p>
        </p:txBody>
      </p:sp>
      <p:sp>
        <p:nvSpPr>
          <p:cNvPr id="3" name="Segnaposto contenuto 2">
            <a:extLst>
              <a:ext uri="{FF2B5EF4-FFF2-40B4-BE49-F238E27FC236}">
                <a16:creationId xmlns:a16="http://schemas.microsoft.com/office/drawing/2014/main" id="{AE471355-4B04-382F-F1CE-A676D7F201EF}"/>
              </a:ext>
            </a:extLst>
          </p:cNvPr>
          <p:cNvSpPr>
            <a:spLocks noGrp="1"/>
          </p:cNvSpPr>
          <p:nvPr>
            <p:ph idx="1"/>
          </p:nvPr>
        </p:nvSpPr>
        <p:spPr/>
        <p:txBody>
          <a:bodyPr/>
          <a:lstStyle/>
          <a:p>
            <a:pPr marL="0" indent="0">
              <a:buNone/>
            </a:pPr>
            <a:r>
              <a:rPr lang="hr-HR" dirty="0"/>
              <a:t>Ritual: niz aktivnosti koji uključuje geste, riječi i predmete, a izvodi se na određenom mjestu i prema unaprijed utvrđenom slijedu.</a:t>
            </a:r>
          </a:p>
          <a:p>
            <a:pPr marL="0" indent="0">
              <a:buNone/>
            </a:pPr>
            <a:endParaRPr lang="hr-HR" dirty="0"/>
          </a:p>
          <a:p>
            <a:r>
              <a:rPr lang="hr-HR" dirty="0"/>
              <a:t>Planiranje sprinta</a:t>
            </a:r>
          </a:p>
          <a:p>
            <a:r>
              <a:rPr lang="hr-HR" dirty="0"/>
              <a:t>Dnevni </a:t>
            </a:r>
            <a:r>
              <a:rPr lang="hr-HR" dirty="0" err="1"/>
              <a:t>stand-up</a:t>
            </a:r>
            <a:r>
              <a:rPr lang="hr-HR" dirty="0"/>
              <a:t> sastanak</a:t>
            </a:r>
          </a:p>
          <a:p>
            <a:r>
              <a:rPr lang="hr-HR" dirty="0"/>
              <a:t>Retrospektiva sprinta</a:t>
            </a:r>
          </a:p>
          <a:p>
            <a:endParaRPr lang="en-GB" dirty="0"/>
          </a:p>
        </p:txBody>
      </p:sp>
    </p:spTree>
    <p:extLst>
      <p:ext uri="{BB962C8B-B14F-4D97-AF65-F5344CB8AC3E}">
        <p14:creationId xmlns:p14="http://schemas.microsoft.com/office/powerpoint/2010/main" val="34264866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E8212-DFBB-00F8-A11E-68CA0F9898F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4DDC246-F777-DCB8-4797-CE342F032CD0}"/>
              </a:ext>
            </a:extLst>
          </p:cNvPr>
          <p:cNvSpPr>
            <a:spLocks noGrp="1"/>
          </p:cNvSpPr>
          <p:nvPr>
            <p:ph type="title"/>
          </p:nvPr>
        </p:nvSpPr>
        <p:spPr/>
        <p:txBody>
          <a:bodyPr/>
          <a:lstStyle/>
          <a:p>
            <a:r>
              <a:rPr lang="hr-HR" dirty="0"/>
              <a:t>Planiranje s</a:t>
            </a:r>
            <a:r>
              <a:rPr lang="it-IT" dirty="0" err="1"/>
              <a:t>print</a:t>
            </a:r>
            <a:r>
              <a:rPr lang="hr-HR" dirty="0"/>
              <a:t>ova</a:t>
            </a:r>
            <a:endParaRPr lang="en-GB" dirty="0"/>
          </a:p>
        </p:txBody>
      </p:sp>
      <p:sp>
        <p:nvSpPr>
          <p:cNvPr id="3" name="Segnaposto contenuto 2">
            <a:extLst>
              <a:ext uri="{FF2B5EF4-FFF2-40B4-BE49-F238E27FC236}">
                <a16:creationId xmlns:a16="http://schemas.microsoft.com/office/drawing/2014/main" id="{9C0EA51C-03A7-08DB-8090-A359126700DB}"/>
              </a:ext>
            </a:extLst>
          </p:cNvPr>
          <p:cNvSpPr>
            <a:spLocks noGrp="1"/>
          </p:cNvSpPr>
          <p:nvPr>
            <p:ph idx="1"/>
          </p:nvPr>
        </p:nvSpPr>
        <p:spPr/>
        <p:txBody>
          <a:bodyPr>
            <a:normAutofit/>
          </a:bodyPr>
          <a:lstStyle/>
          <a:p>
            <a:r>
              <a:rPr lang="hr-HR" dirty="0"/>
              <a:t>Sudjeluje cijeli tim.</a:t>
            </a:r>
          </a:p>
          <a:p>
            <a:r>
              <a:rPr lang="hr-HR" dirty="0" err="1"/>
              <a:t>Product</a:t>
            </a:r>
            <a:r>
              <a:rPr lang="hr-HR" dirty="0"/>
              <a:t> </a:t>
            </a:r>
            <a:r>
              <a:rPr lang="hr-HR" dirty="0" err="1"/>
              <a:t>Owner</a:t>
            </a:r>
            <a:r>
              <a:rPr lang="hr-HR" dirty="0"/>
              <a:t> postavlja najviše prioritete projekta.</a:t>
            </a:r>
          </a:p>
          <a:p>
            <a:r>
              <a:rPr lang="hr-HR" dirty="0"/>
              <a:t>Tim postavlja pitanja koja pomažu razložiti cijeli projekt na detaljne zadatke.</a:t>
            </a:r>
          </a:p>
          <a:p>
            <a:r>
              <a:rPr lang="hr-HR" dirty="0"/>
              <a:t>Tim (a ne </a:t>
            </a:r>
            <a:r>
              <a:rPr lang="hr-HR" dirty="0" err="1"/>
              <a:t>Product</a:t>
            </a:r>
            <a:r>
              <a:rPr lang="hr-HR" dirty="0"/>
              <a:t> </a:t>
            </a:r>
            <a:r>
              <a:rPr lang="hr-HR" dirty="0" err="1"/>
              <a:t>Owner</a:t>
            </a:r>
            <a:r>
              <a:rPr lang="hr-HR" dirty="0"/>
              <a:t>) određuje količinu posla koja će se obaviti u sprintu (samoupravljivi timovi).</a:t>
            </a:r>
          </a:p>
          <a:p>
            <a:r>
              <a:rPr lang="hr-HR" dirty="0"/>
              <a:t>Sastanak završava tek NAKON što su definirani jedan ili više ciljeva sprinta (kratak opis ciljeva koje treba postići) i sprint </a:t>
            </a:r>
            <a:r>
              <a:rPr lang="hr-HR" dirty="0" err="1"/>
              <a:t>backlog</a:t>
            </a:r>
            <a:r>
              <a:rPr lang="hr-HR" dirty="0"/>
              <a:t> (popis zadataka koje treba izvršiti).</a:t>
            </a:r>
            <a:endParaRPr lang="en-GB" dirty="0"/>
          </a:p>
          <a:p>
            <a:endParaRPr lang="en-GB" dirty="0"/>
          </a:p>
        </p:txBody>
      </p:sp>
    </p:spTree>
    <p:extLst>
      <p:ext uri="{BB962C8B-B14F-4D97-AF65-F5344CB8AC3E}">
        <p14:creationId xmlns:p14="http://schemas.microsoft.com/office/powerpoint/2010/main" val="3393971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C49C3-436F-F113-5403-CA0B2316D91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06F0377-A3D6-4BCC-5BD4-D45274CBAD55}"/>
              </a:ext>
            </a:extLst>
          </p:cNvPr>
          <p:cNvSpPr>
            <a:spLocks noGrp="1"/>
          </p:cNvSpPr>
          <p:nvPr>
            <p:ph type="title"/>
          </p:nvPr>
        </p:nvSpPr>
        <p:spPr/>
        <p:txBody>
          <a:bodyPr/>
          <a:lstStyle/>
          <a:p>
            <a:r>
              <a:rPr lang="it-IT" dirty="0"/>
              <a:t>D</a:t>
            </a:r>
            <a:r>
              <a:rPr lang="hr-HR" dirty="0" err="1"/>
              <a:t>nevni</a:t>
            </a:r>
            <a:r>
              <a:rPr lang="it-IT" dirty="0"/>
              <a:t> stand-up </a:t>
            </a:r>
            <a:r>
              <a:rPr lang="hr-HR" dirty="0"/>
              <a:t>sastanak</a:t>
            </a:r>
            <a:endParaRPr lang="en-GB" dirty="0"/>
          </a:p>
        </p:txBody>
      </p:sp>
      <p:sp>
        <p:nvSpPr>
          <p:cNvPr id="3" name="Segnaposto contenuto 2">
            <a:extLst>
              <a:ext uri="{FF2B5EF4-FFF2-40B4-BE49-F238E27FC236}">
                <a16:creationId xmlns:a16="http://schemas.microsoft.com/office/drawing/2014/main" id="{253CCDB0-78FB-F424-C012-3979FEC364F7}"/>
              </a:ext>
            </a:extLst>
          </p:cNvPr>
          <p:cNvSpPr>
            <a:spLocks noGrp="1"/>
          </p:cNvSpPr>
          <p:nvPr>
            <p:ph idx="1"/>
          </p:nvPr>
        </p:nvSpPr>
        <p:spPr/>
        <p:txBody>
          <a:bodyPr>
            <a:normAutofit/>
          </a:bodyPr>
          <a:lstStyle/>
          <a:p>
            <a:r>
              <a:rPr lang="hr-HR" dirty="0"/>
              <a:t>Dnevni </a:t>
            </a:r>
            <a:r>
              <a:rPr lang="hr-HR" dirty="0" err="1"/>
              <a:t>stand-up</a:t>
            </a:r>
            <a:r>
              <a:rPr lang="hr-HR" dirty="0"/>
              <a:t> sastanak (ili </a:t>
            </a:r>
            <a:r>
              <a:rPr lang="hr-HR" dirty="0" err="1"/>
              <a:t>daily</a:t>
            </a:r>
            <a:r>
              <a:rPr lang="hr-HR" dirty="0"/>
              <a:t> </a:t>
            </a:r>
            <a:r>
              <a:rPr lang="hr-HR" dirty="0" err="1"/>
              <a:t>scrum</a:t>
            </a:r>
            <a:r>
              <a:rPr lang="hr-HR" dirty="0"/>
              <a:t>) svakodnevna je praksa u središtu </a:t>
            </a:r>
            <a:r>
              <a:rPr lang="hr-HR" dirty="0" err="1"/>
              <a:t>Agile</a:t>
            </a:r>
            <a:r>
              <a:rPr lang="hr-HR" dirty="0"/>
              <a:t> pristupa, koja se održava na istom mjestu i u isto vrijeme svaki dan, po mogućnosti ujutro.</a:t>
            </a:r>
          </a:p>
          <a:p>
            <a:r>
              <a:rPr lang="hr-HR" dirty="0"/>
              <a:t>Ovi sastanci ne bi trebali trajati dulje od 15 minuta i namijenjeni su svim članovima tima.</a:t>
            </a:r>
          </a:p>
          <a:p>
            <a:r>
              <a:rPr lang="hr-HR" dirty="0"/>
              <a:t>Važno je da je sastanak više usmjeren na kratke statusne nadogradnje nego na rješavanje problema (koje bi se trebalo rješavati samo s određenim članovima tima izvan sastanka).</a:t>
            </a:r>
          </a:p>
          <a:p>
            <a:r>
              <a:rPr lang="hr-HR" dirty="0"/>
              <a:t>Ova praksa određuje ritam projekta i pomaže da članovi tima ostanu „posvećeni” cilju.</a:t>
            </a:r>
            <a:endParaRPr lang="en-GB" dirty="0"/>
          </a:p>
          <a:p>
            <a:endParaRPr lang="en-GB" dirty="0"/>
          </a:p>
        </p:txBody>
      </p:sp>
    </p:spTree>
    <p:extLst>
      <p:ext uri="{BB962C8B-B14F-4D97-AF65-F5344CB8AC3E}">
        <p14:creationId xmlns:p14="http://schemas.microsoft.com/office/powerpoint/2010/main" val="456731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D652C-987F-62CF-99A7-D6CD3AED7FE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EC55A5B-BE26-CB9A-A5C8-B40DDE8D1C74}"/>
              </a:ext>
            </a:extLst>
          </p:cNvPr>
          <p:cNvSpPr>
            <a:spLocks noGrp="1"/>
          </p:cNvSpPr>
          <p:nvPr>
            <p:ph type="title"/>
          </p:nvPr>
        </p:nvSpPr>
        <p:spPr/>
        <p:txBody>
          <a:bodyPr/>
          <a:lstStyle/>
          <a:p>
            <a:r>
              <a:rPr lang="hr-HR" dirty="0"/>
              <a:t>Retrospektiva s</a:t>
            </a:r>
            <a:r>
              <a:rPr lang="it-IT" dirty="0" err="1"/>
              <a:t>print</a:t>
            </a:r>
            <a:r>
              <a:rPr lang="hr-HR" dirty="0"/>
              <a:t>a</a:t>
            </a:r>
            <a:endParaRPr lang="en-GB" dirty="0"/>
          </a:p>
        </p:txBody>
      </p:sp>
      <p:sp>
        <p:nvSpPr>
          <p:cNvPr id="3" name="Segnaposto contenuto 2">
            <a:extLst>
              <a:ext uri="{FF2B5EF4-FFF2-40B4-BE49-F238E27FC236}">
                <a16:creationId xmlns:a16="http://schemas.microsoft.com/office/drawing/2014/main" id="{54334028-F2B7-5916-BF0E-B4293452CBC9}"/>
              </a:ext>
            </a:extLst>
          </p:cNvPr>
          <p:cNvSpPr>
            <a:spLocks noGrp="1"/>
          </p:cNvSpPr>
          <p:nvPr>
            <p:ph idx="1"/>
          </p:nvPr>
        </p:nvSpPr>
        <p:spPr/>
        <p:txBody>
          <a:bodyPr>
            <a:normAutofit/>
          </a:bodyPr>
          <a:lstStyle/>
          <a:p>
            <a:r>
              <a:rPr lang="hr-HR" dirty="0"/>
              <a:t>U retrospektivi tim traži načine kako poboljšati rad na temelju onoga što se dogodilo tijekom sprinta.</a:t>
            </a:r>
            <a:br>
              <a:rPr lang="hr-HR" dirty="0"/>
            </a:br>
            <a:r>
              <a:rPr lang="hr-HR" dirty="0"/>
              <a:t>Sudjeluje cijeli tim, a sastanak obično traje najviše jedan sat.</a:t>
            </a:r>
            <a:br>
              <a:rPr lang="hr-HR" dirty="0"/>
            </a:br>
            <a:r>
              <a:rPr lang="hr-HR" dirty="0"/>
              <a:t>Tijekom retrospektive odgovara se na tri pitanja:</a:t>
            </a:r>
          </a:p>
          <a:p>
            <a:pPr lvl="1"/>
            <a:r>
              <a:rPr lang="hr-HR" dirty="0"/>
              <a:t>što bi tim trebao početi raditi</a:t>
            </a:r>
          </a:p>
          <a:p>
            <a:pPr lvl="1"/>
            <a:r>
              <a:rPr lang="hr-HR" dirty="0"/>
              <a:t>što bi tim trebao prestati raditi</a:t>
            </a:r>
          </a:p>
          <a:p>
            <a:pPr lvl="1"/>
            <a:r>
              <a:rPr lang="hr-HR" dirty="0"/>
              <a:t>što bi tim trebao nastaviti raditi</a:t>
            </a:r>
          </a:p>
          <a:p>
            <a:r>
              <a:rPr lang="hr-HR" dirty="0" err="1"/>
              <a:t>Scrum</a:t>
            </a:r>
            <a:r>
              <a:rPr lang="hr-HR" dirty="0"/>
              <a:t> Master facilitira ovaj ritual.</a:t>
            </a:r>
          </a:p>
          <a:p>
            <a:endParaRPr lang="en-GB" dirty="0"/>
          </a:p>
          <a:p>
            <a:endParaRPr lang="en-GB" dirty="0"/>
          </a:p>
        </p:txBody>
      </p:sp>
    </p:spTree>
    <p:extLst>
      <p:ext uri="{BB962C8B-B14F-4D97-AF65-F5344CB8AC3E}">
        <p14:creationId xmlns:p14="http://schemas.microsoft.com/office/powerpoint/2010/main" val="22483219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A8BF1-1467-6365-727A-802149F3842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8109FD2-CD10-6A38-7E6A-88437FFED83B}"/>
              </a:ext>
            </a:extLst>
          </p:cNvPr>
          <p:cNvSpPr>
            <a:spLocks noGrp="1"/>
          </p:cNvSpPr>
          <p:nvPr>
            <p:ph type="title"/>
          </p:nvPr>
        </p:nvSpPr>
        <p:spPr/>
        <p:txBody>
          <a:bodyPr/>
          <a:lstStyle/>
          <a:p>
            <a:r>
              <a:rPr lang="hr-HR" dirty="0"/>
              <a:t>Studija slučaja</a:t>
            </a:r>
            <a:r>
              <a:rPr lang="en-GB" dirty="0"/>
              <a:t> – </a:t>
            </a:r>
            <a:r>
              <a:rPr lang="hr-HR" dirty="0"/>
              <a:t>Opis projekta</a:t>
            </a:r>
            <a:endParaRPr lang="en-GB" dirty="0"/>
          </a:p>
        </p:txBody>
      </p:sp>
      <p:sp>
        <p:nvSpPr>
          <p:cNvPr id="3" name="Segnaposto contenuto 2">
            <a:extLst>
              <a:ext uri="{FF2B5EF4-FFF2-40B4-BE49-F238E27FC236}">
                <a16:creationId xmlns:a16="http://schemas.microsoft.com/office/drawing/2014/main" id="{EFB918AF-2631-5906-7BED-6DCBD92FAC00}"/>
              </a:ext>
            </a:extLst>
          </p:cNvPr>
          <p:cNvSpPr>
            <a:spLocks noGrp="1"/>
          </p:cNvSpPr>
          <p:nvPr>
            <p:ph idx="1"/>
          </p:nvPr>
        </p:nvSpPr>
        <p:spPr>
          <a:xfrm>
            <a:off x="838200" y="2258112"/>
            <a:ext cx="10515600" cy="4351338"/>
          </a:xfrm>
        </p:spPr>
        <p:txBody>
          <a:bodyPr>
            <a:normAutofit fontScale="70000" lnSpcReduction="20000"/>
          </a:bodyPr>
          <a:lstStyle/>
          <a:p>
            <a:pPr marL="0" indent="0" algn="just">
              <a:buNone/>
            </a:pPr>
            <a:r>
              <a:rPr lang="hr-HR" b="1" dirty="0"/>
              <a:t>Naziv projekta</a:t>
            </a:r>
            <a:r>
              <a:rPr lang="en-GB" dirty="0"/>
              <a:t>: Data Import Tool </a:t>
            </a:r>
          </a:p>
          <a:p>
            <a:pPr marL="0" indent="0" algn="just">
              <a:buNone/>
            </a:pPr>
            <a:r>
              <a:rPr lang="hr-HR" b="1" dirty="0"/>
              <a:t>Korištene tehnologije</a:t>
            </a:r>
            <a:r>
              <a:rPr lang="en-GB" dirty="0"/>
              <a:t>: Java, React, MS SQL</a:t>
            </a:r>
          </a:p>
          <a:p>
            <a:pPr marL="0" indent="0" algn="just">
              <a:buNone/>
            </a:pPr>
            <a:endParaRPr lang="en-GB" dirty="0"/>
          </a:p>
          <a:p>
            <a:pPr marL="0" indent="0" algn="just">
              <a:buNone/>
            </a:pPr>
            <a:r>
              <a:rPr lang="en-GB" b="1" u="sng" dirty="0"/>
              <a:t>Problem</a:t>
            </a:r>
          </a:p>
          <a:p>
            <a:pPr marL="0" indent="0">
              <a:buNone/>
            </a:pPr>
            <a:r>
              <a:rPr lang="hr-HR" dirty="0"/>
              <a:t>Osim razvoja novih funkcionalnosti, naš razvojni tim često je morao podržavati različite slučajeve uvoza podataka jer nismo imali odgovarajuće alate koji bi internim korisnicima omogućili da sami obavljaju uvoz. Zbog toga su developeri često trošili dragocjeno vrijeme na operativne zadatke umjesto na razvoj, što je tijekom tjedna dovodilo do čestog prebacivanja između različitih vrsta posla.</a:t>
            </a:r>
          </a:p>
          <a:p>
            <a:pPr marL="0" indent="0">
              <a:buNone/>
            </a:pPr>
            <a:r>
              <a:rPr lang="hr-HR" dirty="0"/>
              <a:t>Opseg posla bio je i nepredvidiv jer nikada nismo znali koliko ćemo zahtjeva za uvoz podataka dobiti u određenom tjednu, što je otežavalo planiranje. Osim toga, podaci za uvoz dolazili su od različitih korisnika i u različitim formatima, pa su ih developeri prije uvoza u sustav morali ručno </a:t>
            </a:r>
            <a:r>
              <a:rPr lang="hr-HR" dirty="0" err="1"/>
              <a:t>preformatirati</a:t>
            </a:r>
            <a:r>
              <a:rPr lang="hr-HR" dirty="0"/>
              <a:t>.</a:t>
            </a:r>
          </a:p>
          <a:p>
            <a:pPr marL="0" indent="0">
              <a:buNone/>
            </a:pPr>
            <a:r>
              <a:rPr lang="hr-HR" dirty="0"/>
              <a:t>Sam uvoz podataka izvršavao se pisanjem upita izravno u bazi podataka, što je predstavljalo značajan rizik zbog mogućnosti ljudske pogreške.</a:t>
            </a:r>
          </a:p>
        </p:txBody>
      </p:sp>
    </p:spTree>
    <p:extLst>
      <p:ext uri="{BB962C8B-B14F-4D97-AF65-F5344CB8AC3E}">
        <p14:creationId xmlns:p14="http://schemas.microsoft.com/office/powerpoint/2010/main" val="41037427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9E43D-00ED-618F-E3C4-B7B8C925DC8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D0B39A6-8A54-5148-406B-0053D858C16D}"/>
              </a:ext>
            </a:extLst>
          </p:cNvPr>
          <p:cNvSpPr>
            <a:spLocks noGrp="1"/>
          </p:cNvSpPr>
          <p:nvPr>
            <p:ph type="title"/>
          </p:nvPr>
        </p:nvSpPr>
        <p:spPr/>
        <p:txBody>
          <a:bodyPr/>
          <a:lstStyle/>
          <a:p>
            <a:r>
              <a:rPr lang="hr-HR" dirty="0"/>
              <a:t>Studija slučaja </a:t>
            </a:r>
            <a:r>
              <a:rPr lang="en-GB" dirty="0"/>
              <a:t>– </a:t>
            </a:r>
            <a:r>
              <a:rPr lang="hr-HR" dirty="0"/>
              <a:t>Opis projekta</a:t>
            </a:r>
            <a:endParaRPr lang="en-GB" dirty="0"/>
          </a:p>
        </p:txBody>
      </p:sp>
      <p:sp>
        <p:nvSpPr>
          <p:cNvPr id="3" name="Segnaposto contenuto 2">
            <a:extLst>
              <a:ext uri="{FF2B5EF4-FFF2-40B4-BE49-F238E27FC236}">
                <a16:creationId xmlns:a16="http://schemas.microsoft.com/office/drawing/2014/main" id="{47591B18-D10E-C039-40BB-DFBE974B0F61}"/>
              </a:ext>
            </a:extLst>
          </p:cNvPr>
          <p:cNvSpPr>
            <a:spLocks noGrp="1"/>
          </p:cNvSpPr>
          <p:nvPr>
            <p:ph idx="1"/>
          </p:nvPr>
        </p:nvSpPr>
        <p:spPr>
          <a:xfrm>
            <a:off x="838200" y="2258112"/>
            <a:ext cx="10515600" cy="4351338"/>
          </a:xfrm>
        </p:spPr>
        <p:txBody>
          <a:bodyPr>
            <a:normAutofit fontScale="92500" lnSpcReduction="20000"/>
          </a:bodyPr>
          <a:lstStyle/>
          <a:p>
            <a:pPr marL="0" indent="0" algn="just">
              <a:buNone/>
            </a:pPr>
            <a:r>
              <a:rPr lang="hr-HR" sz="2200" b="1" u="sng" dirty="0"/>
              <a:t>Rješenje</a:t>
            </a:r>
            <a:r>
              <a:rPr lang="en-GB" sz="2200" b="1" u="sng" dirty="0"/>
              <a:t> </a:t>
            </a:r>
          </a:p>
          <a:p>
            <a:pPr marL="0" indent="0">
              <a:buNone/>
            </a:pPr>
            <a:r>
              <a:rPr lang="hr-HR" sz="2400" dirty="0"/>
              <a:t>Kako bismo to riješili, odlučili smo razviti alat za samostalni uvoz podataka za naše interne korisnike. Prvi korak bio je definirati funkcionalnosti koje alat treba podržavati. To smo učinili analizom vrsta zahtjeva za uvoz podataka koje smo primali u prošlosti.</a:t>
            </a:r>
          </a:p>
          <a:p>
            <a:pPr marL="0" indent="0">
              <a:buNone/>
            </a:pPr>
            <a:r>
              <a:rPr lang="hr-HR" sz="2400" dirty="0"/>
              <a:t>Budući da su korisnici dostavljali podatke u različitim formatima, sljedeći izazov bio je definirati jedan jedinstveni format koji bi odgovarao svima. Razgovarali smo s korisnicima kako bismo razumjeli što im je najvažnije i s čime im je najlakše raditi. Umjesto da samo prikupljamo povratne informacije, predlagali smo i moguća rješenja te ih prilagođavali na temelju njihovih odgovora. Bio je to suradnički, iterativni proces.</a:t>
            </a:r>
          </a:p>
          <a:p>
            <a:pPr marL="0" indent="0">
              <a:buNone/>
            </a:pPr>
            <a:r>
              <a:rPr lang="hr-HR" sz="2400" dirty="0"/>
              <a:t>Nakon što su zahtjevi postali jasni, započeli smo razvoj. Tijekom procesa, ako bismo uočili prilike za poboljšanja koja se mogu implementirati bez značajnog utjecaja na rokove, ponovno bismo se konzultirali s korisnicima kako bismo osigurali da alat ostane intuitivan i jednostavan za korištenje.</a:t>
            </a:r>
          </a:p>
        </p:txBody>
      </p:sp>
    </p:spTree>
    <p:extLst>
      <p:ext uri="{BB962C8B-B14F-4D97-AF65-F5344CB8AC3E}">
        <p14:creationId xmlns:p14="http://schemas.microsoft.com/office/powerpoint/2010/main" val="35927943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D881A-0300-1F0F-6C40-1BF4FB83DA7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D13D83A-7F46-988F-4F2B-4482B7DBA72F}"/>
              </a:ext>
            </a:extLst>
          </p:cNvPr>
          <p:cNvSpPr>
            <a:spLocks noGrp="1"/>
          </p:cNvSpPr>
          <p:nvPr>
            <p:ph type="title"/>
          </p:nvPr>
        </p:nvSpPr>
        <p:spPr/>
        <p:txBody>
          <a:bodyPr/>
          <a:lstStyle/>
          <a:p>
            <a:r>
              <a:rPr lang="hr-HR" dirty="0"/>
              <a:t>Studija slučaja</a:t>
            </a:r>
            <a:r>
              <a:rPr lang="en-GB" dirty="0"/>
              <a:t>- </a:t>
            </a:r>
            <a:r>
              <a:rPr lang="hr-HR" dirty="0"/>
              <a:t>Opis projekta</a:t>
            </a:r>
            <a:endParaRPr lang="en-GB" dirty="0"/>
          </a:p>
        </p:txBody>
      </p:sp>
      <p:sp>
        <p:nvSpPr>
          <p:cNvPr id="3" name="Segnaposto contenuto 2">
            <a:extLst>
              <a:ext uri="{FF2B5EF4-FFF2-40B4-BE49-F238E27FC236}">
                <a16:creationId xmlns:a16="http://schemas.microsoft.com/office/drawing/2014/main" id="{C97B8310-EC43-00EC-6116-B605C2C7FE3E}"/>
              </a:ext>
            </a:extLst>
          </p:cNvPr>
          <p:cNvSpPr>
            <a:spLocks noGrp="1"/>
          </p:cNvSpPr>
          <p:nvPr>
            <p:ph idx="1"/>
          </p:nvPr>
        </p:nvSpPr>
        <p:spPr>
          <a:xfrm>
            <a:off x="838200" y="2258112"/>
            <a:ext cx="10515600" cy="4351338"/>
          </a:xfrm>
        </p:spPr>
        <p:txBody>
          <a:bodyPr>
            <a:normAutofit/>
          </a:bodyPr>
          <a:lstStyle/>
          <a:p>
            <a:pPr marL="0" indent="0">
              <a:buNone/>
            </a:pPr>
            <a:r>
              <a:rPr lang="hr-HR" sz="2400" dirty="0"/>
              <a:t>Na kraju faze razvoja razvojni je tim testirao alat uvozom podataka putem samog alata, umjesto izravno kroz bazu podataka. Nakon što smo provjerili da sve funkcionira kako je očekivano, korisnicima smo omogućili pristup alatu.</a:t>
            </a:r>
          </a:p>
          <a:p>
            <a:pPr marL="0" indent="0">
              <a:buNone/>
            </a:pPr>
            <a:r>
              <a:rPr lang="hr-HR" sz="2400" dirty="0"/>
              <a:t>Tijekom početnog uvođenja korisnici su kontinuirano davali povratne informacije i prijedloge za poboljšanja. Ugradili smo te povratne informacije i proveli dodatni razvoj kako bismo alat dodatno unaprijedili.</a:t>
            </a:r>
          </a:p>
          <a:p>
            <a:pPr marL="0" indent="0">
              <a:buNone/>
            </a:pPr>
            <a:r>
              <a:rPr lang="hr-HR" sz="2400" dirty="0"/>
              <a:t>Danas naš razvojni tim više ne obavlja operativne zadatke uvoza podataka. Umjesto toga, korisnici sada imaju pouzdan alat koji im pomaže u svakodnevnom radu.</a:t>
            </a:r>
          </a:p>
        </p:txBody>
      </p:sp>
    </p:spTree>
    <p:extLst>
      <p:ext uri="{BB962C8B-B14F-4D97-AF65-F5344CB8AC3E}">
        <p14:creationId xmlns:p14="http://schemas.microsoft.com/office/powerpoint/2010/main" val="33808425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F0BCE-3017-34F6-A553-18F3005194E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2C133BF-4076-DEF0-6416-3855928D0F5C}"/>
              </a:ext>
            </a:extLst>
          </p:cNvPr>
          <p:cNvSpPr>
            <a:spLocks noGrp="1"/>
          </p:cNvSpPr>
          <p:nvPr>
            <p:ph type="title"/>
          </p:nvPr>
        </p:nvSpPr>
        <p:spPr/>
        <p:txBody>
          <a:bodyPr/>
          <a:lstStyle/>
          <a:p>
            <a:r>
              <a:rPr lang="hr-HR" dirty="0"/>
              <a:t>Studija slučaja </a:t>
            </a:r>
            <a:r>
              <a:rPr lang="en-GB" dirty="0"/>
              <a:t>– </a:t>
            </a:r>
            <a:r>
              <a:rPr lang="hr-HR" dirty="0"/>
              <a:t>Ključni uvidi iz projekta</a:t>
            </a:r>
            <a:endParaRPr lang="en-GB" dirty="0"/>
          </a:p>
        </p:txBody>
      </p:sp>
      <p:sp>
        <p:nvSpPr>
          <p:cNvPr id="3" name="Segnaposto contenuto 2">
            <a:extLst>
              <a:ext uri="{FF2B5EF4-FFF2-40B4-BE49-F238E27FC236}">
                <a16:creationId xmlns:a16="http://schemas.microsoft.com/office/drawing/2014/main" id="{3D317AAB-20E5-0DA0-28A1-A838284F61B0}"/>
              </a:ext>
            </a:extLst>
          </p:cNvPr>
          <p:cNvSpPr>
            <a:spLocks noGrp="1"/>
          </p:cNvSpPr>
          <p:nvPr>
            <p:ph idx="1"/>
          </p:nvPr>
        </p:nvSpPr>
        <p:spPr>
          <a:xfrm>
            <a:off x="838200" y="2258112"/>
            <a:ext cx="10515600" cy="4351338"/>
          </a:xfrm>
        </p:spPr>
        <p:txBody>
          <a:bodyPr>
            <a:normAutofit lnSpcReduction="10000"/>
          </a:bodyPr>
          <a:lstStyle/>
          <a:p>
            <a:pPr marL="0" indent="0" algn="just">
              <a:buNone/>
            </a:pPr>
            <a:r>
              <a:rPr lang="hr-HR" sz="2200" b="1" u="sng" dirty="0"/>
              <a:t>Najveći izazov</a:t>
            </a:r>
            <a:endParaRPr lang="en-GB" sz="2200" b="1" u="sng" dirty="0"/>
          </a:p>
          <a:p>
            <a:pPr algn="just"/>
            <a:r>
              <a:rPr lang="hr-HR" sz="2400" dirty="0"/>
              <a:t>Najveći izazov bio je definirati odgovarajući format datoteke za uvoz podataka. Imali smo velik broj korisnika s različitim potrebama i slučajevima uporabe, pa je bilo ključno sve dokumentirati i prepoznati zajedničke elemente kako bismo razvili standardizirano rješenje.</a:t>
            </a:r>
          </a:p>
          <a:p>
            <a:pPr algn="just"/>
            <a:endParaRPr lang="en-GB" sz="2200" dirty="0"/>
          </a:p>
          <a:p>
            <a:pPr marL="0" indent="0" algn="just">
              <a:buNone/>
            </a:pPr>
            <a:r>
              <a:rPr lang="hr-HR" sz="2200" b="1" u="sng" dirty="0"/>
              <a:t>Korištena metodologija upravljanja projektima</a:t>
            </a:r>
            <a:endParaRPr lang="en-GB" sz="2200" b="1" u="sng" dirty="0"/>
          </a:p>
          <a:p>
            <a:pPr algn="just"/>
            <a:r>
              <a:rPr lang="hr-HR" sz="2400" dirty="0"/>
              <a:t>Primijenili smo </a:t>
            </a:r>
            <a:r>
              <a:rPr lang="hr-HR" sz="2400" dirty="0" err="1"/>
              <a:t>Scrum</a:t>
            </a:r>
            <a:r>
              <a:rPr lang="hr-HR" sz="2400" dirty="0"/>
              <a:t> metodologiju. Radili smo u sprintovima, pri čemu je svaki sprint bio usmjeren na implementaciju određene funkcionalnosti ili inkrementa. Tijekom cijelog procesa održavali smo blisku komunikaciju s korisnicima kako bismo potvrdili da idemo u dobrom smjeru te smo prema potrebi prilagođavali planove.</a:t>
            </a:r>
            <a:endParaRPr lang="en-GB" sz="2200" dirty="0"/>
          </a:p>
        </p:txBody>
      </p:sp>
    </p:spTree>
    <p:extLst>
      <p:ext uri="{BB962C8B-B14F-4D97-AF65-F5344CB8AC3E}">
        <p14:creationId xmlns:p14="http://schemas.microsoft.com/office/powerpoint/2010/main" val="13648700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43F4D-6902-39AA-68A7-A7A03380266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03F5F56-9650-0463-DF40-FCEC9037FCE8}"/>
              </a:ext>
            </a:extLst>
          </p:cNvPr>
          <p:cNvSpPr>
            <a:spLocks noGrp="1"/>
          </p:cNvSpPr>
          <p:nvPr>
            <p:ph type="title"/>
          </p:nvPr>
        </p:nvSpPr>
        <p:spPr/>
        <p:txBody>
          <a:bodyPr/>
          <a:lstStyle/>
          <a:p>
            <a:r>
              <a:rPr lang="hr-HR" dirty="0"/>
              <a:t>Studija slučaja</a:t>
            </a:r>
            <a:r>
              <a:rPr lang="en-GB" dirty="0"/>
              <a:t>- </a:t>
            </a:r>
            <a:r>
              <a:rPr lang="hr-HR" dirty="0"/>
              <a:t>Ključni uvidi iz projekta</a:t>
            </a:r>
            <a:endParaRPr lang="en-GB" dirty="0"/>
          </a:p>
        </p:txBody>
      </p:sp>
      <p:sp>
        <p:nvSpPr>
          <p:cNvPr id="3" name="Segnaposto contenuto 2">
            <a:extLst>
              <a:ext uri="{FF2B5EF4-FFF2-40B4-BE49-F238E27FC236}">
                <a16:creationId xmlns:a16="http://schemas.microsoft.com/office/drawing/2014/main" id="{A32596B8-C436-27A2-9936-1A04483059FD}"/>
              </a:ext>
            </a:extLst>
          </p:cNvPr>
          <p:cNvSpPr>
            <a:spLocks noGrp="1"/>
          </p:cNvSpPr>
          <p:nvPr>
            <p:ph idx="1"/>
          </p:nvPr>
        </p:nvSpPr>
        <p:spPr>
          <a:xfrm>
            <a:off x="838200" y="2258112"/>
            <a:ext cx="10515600" cy="4351338"/>
          </a:xfrm>
        </p:spPr>
        <p:txBody>
          <a:bodyPr>
            <a:normAutofit fontScale="92500" lnSpcReduction="10000"/>
          </a:bodyPr>
          <a:lstStyle/>
          <a:p>
            <a:pPr marL="0" indent="0" algn="just">
              <a:buNone/>
            </a:pPr>
            <a:r>
              <a:rPr lang="hr-HR" sz="2200" b="1" u="sng" dirty="0"/>
              <a:t>Ključne donesene odluke</a:t>
            </a:r>
            <a:endParaRPr lang="en-GB" sz="2200" b="1" u="sng" dirty="0"/>
          </a:p>
          <a:p>
            <a:pPr algn="just"/>
            <a:r>
              <a:rPr lang="hr-HR" sz="2400" dirty="0"/>
              <a:t>Standardizacija formata datoteke za uvoz na temelju povratnih informacija korisnika.</a:t>
            </a:r>
          </a:p>
          <a:p>
            <a:pPr algn="just"/>
            <a:r>
              <a:rPr lang="hr-HR" sz="2400" dirty="0"/>
              <a:t>Iterativno unapređivanje dizajna alata na temelju ranih povratnih informacija korisnika i pitanja upotrebljivosti.</a:t>
            </a:r>
          </a:p>
          <a:p>
            <a:pPr algn="just"/>
            <a:r>
              <a:rPr lang="hr-HR" sz="2400" dirty="0"/>
              <a:t>Davanje prioriteta intuitivnom korisničkom iskustvu umjesto tehničkim prečacima.</a:t>
            </a:r>
          </a:p>
          <a:p>
            <a:pPr algn="just"/>
            <a:endParaRPr lang="en-GB" sz="2200" dirty="0"/>
          </a:p>
          <a:p>
            <a:pPr marL="0" indent="0" algn="just">
              <a:buNone/>
            </a:pPr>
            <a:r>
              <a:rPr lang="hr-HR" sz="2200" b="1" u="sng" dirty="0"/>
              <a:t>Glavni rezultati projekta</a:t>
            </a:r>
            <a:endParaRPr lang="en-GB" sz="2200" b="1" u="sng" dirty="0"/>
          </a:p>
          <a:p>
            <a:pPr algn="just"/>
            <a:r>
              <a:rPr lang="hr-HR" sz="2400" dirty="0"/>
              <a:t>Uklonjen je ručni uvoz podataka iz opsega rada razvojnog tima.</a:t>
            </a:r>
          </a:p>
          <a:p>
            <a:pPr algn="just"/>
            <a:r>
              <a:rPr lang="hr-HR" sz="2400" dirty="0"/>
              <a:t>Isporučen je alat za samostalno korištenje koji je značajno povećao učinkovitost internih korisnika.</a:t>
            </a:r>
            <a:endParaRPr lang="en-GB" sz="2200" dirty="0"/>
          </a:p>
        </p:txBody>
      </p:sp>
    </p:spTree>
    <p:extLst>
      <p:ext uri="{BB962C8B-B14F-4D97-AF65-F5344CB8AC3E}">
        <p14:creationId xmlns:p14="http://schemas.microsoft.com/office/powerpoint/2010/main" val="18469999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63F2C-B003-F22C-83FA-5432F5E3155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9F9E2C8-2A9F-143D-2775-70241D368264}"/>
              </a:ext>
            </a:extLst>
          </p:cNvPr>
          <p:cNvSpPr>
            <a:spLocks noGrp="1"/>
          </p:cNvSpPr>
          <p:nvPr>
            <p:ph type="title"/>
          </p:nvPr>
        </p:nvSpPr>
        <p:spPr/>
        <p:txBody>
          <a:bodyPr/>
          <a:lstStyle/>
          <a:p>
            <a:r>
              <a:rPr lang="hr-HR" dirty="0"/>
              <a:t>Studija slučaja</a:t>
            </a:r>
            <a:r>
              <a:rPr lang="en-GB" dirty="0"/>
              <a:t>- </a:t>
            </a:r>
            <a:r>
              <a:rPr lang="hr-HR" dirty="0"/>
              <a:t>Ključni uvidi iz projekta</a:t>
            </a:r>
            <a:endParaRPr lang="en-GB" dirty="0"/>
          </a:p>
        </p:txBody>
      </p:sp>
      <p:sp>
        <p:nvSpPr>
          <p:cNvPr id="3" name="Segnaposto contenuto 2">
            <a:extLst>
              <a:ext uri="{FF2B5EF4-FFF2-40B4-BE49-F238E27FC236}">
                <a16:creationId xmlns:a16="http://schemas.microsoft.com/office/drawing/2014/main" id="{16B7DED9-DC6B-6241-2B40-2F218ED74EB4}"/>
              </a:ext>
            </a:extLst>
          </p:cNvPr>
          <p:cNvSpPr>
            <a:spLocks noGrp="1"/>
          </p:cNvSpPr>
          <p:nvPr>
            <p:ph idx="1"/>
          </p:nvPr>
        </p:nvSpPr>
        <p:spPr>
          <a:xfrm>
            <a:off x="838200" y="2258112"/>
            <a:ext cx="10515600" cy="4351338"/>
          </a:xfrm>
        </p:spPr>
        <p:txBody>
          <a:bodyPr>
            <a:normAutofit/>
          </a:bodyPr>
          <a:lstStyle/>
          <a:p>
            <a:pPr marL="0" indent="0" algn="just">
              <a:buNone/>
            </a:pPr>
            <a:r>
              <a:rPr lang="hr-HR" sz="2200" b="1" u="sng" dirty="0"/>
              <a:t>Što smo naučili</a:t>
            </a:r>
            <a:r>
              <a:rPr lang="en-GB" sz="2200" b="1" u="sng" dirty="0"/>
              <a:t> / </a:t>
            </a:r>
            <a:r>
              <a:rPr lang="hr-HR" sz="2200" b="1" u="sng" dirty="0"/>
              <a:t>Što bismo napravili drugačije</a:t>
            </a:r>
            <a:endParaRPr lang="en-GB" sz="2200" b="1" u="sng" dirty="0"/>
          </a:p>
          <a:p>
            <a:pPr algn="just"/>
            <a:r>
              <a:rPr lang="en-GB" sz="2200" dirty="0"/>
              <a:t>U </a:t>
            </a:r>
            <a:r>
              <a:rPr lang="en-GB" sz="2200" dirty="0" err="1"/>
              <a:t>budućnosti</a:t>
            </a:r>
            <a:r>
              <a:rPr lang="en-GB" sz="2200" dirty="0"/>
              <a:t> </a:t>
            </a:r>
            <a:r>
              <a:rPr lang="en-GB" sz="2200" dirty="0" err="1"/>
              <a:t>bismo</a:t>
            </a:r>
            <a:r>
              <a:rPr lang="en-GB" sz="2200" dirty="0"/>
              <a:t> </a:t>
            </a:r>
            <a:r>
              <a:rPr lang="en-GB" sz="2200" dirty="0" err="1"/>
              <a:t>korisnike</a:t>
            </a:r>
            <a:r>
              <a:rPr lang="en-GB" sz="2200" dirty="0"/>
              <a:t> </a:t>
            </a:r>
            <a:r>
              <a:rPr lang="en-GB" sz="2200" dirty="0" err="1"/>
              <a:t>uključili</a:t>
            </a:r>
            <a:r>
              <a:rPr lang="en-GB" sz="2200" dirty="0"/>
              <a:t> </a:t>
            </a:r>
            <a:r>
              <a:rPr lang="en-GB" sz="2200" dirty="0" err="1"/>
              <a:t>ranije</a:t>
            </a:r>
            <a:r>
              <a:rPr lang="en-GB" sz="2200" dirty="0"/>
              <a:t> u </a:t>
            </a:r>
            <a:r>
              <a:rPr lang="en-GB" sz="2200" dirty="0" err="1"/>
              <a:t>proces</a:t>
            </a:r>
            <a:r>
              <a:rPr lang="en-GB" sz="2200" dirty="0"/>
              <a:t> </a:t>
            </a:r>
            <a:r>
              <a:rPr lang="en-GB" sz="2200" dirty="0" err="1"/>
              <a:t>razvoja</a:t>
            </a:r>
            <a:r>
              <a:rPr lang="en-GB" sz="2200" dirty="0"/>
              <a:t> </a:t>
            </a:r>
            <a:r>
              <a:rPr lang="en-GB" sz="2200" dirty="0" err="1"/>
              <a:t>tako</a:t>
            </a:r>
            <a:r>
              <a:rPr lang="en-GB" sz="2200" dirty="0"/>
              <a:t> da </a:t>
            </a:r>
            <a:r>
              <a:rPr lang="en-GB" sz="2200" dirty="0" err="1"/>
              <a:t>im</a:t>
            </a:r>
            <a:r>
              <a:rPr lang="en-GB" sz="2200" dirty="0"/>
              <a:t> </a:t>
            </a:r>
            <a:r>
              <a:rPr lang="en-GB" sz="2200" dirty="0" err="1"/>
              <a:t>omogućimo</a:t>
            </a:r>
            <a:r>
              <a:rPr lang="en-GB" sz="2200" dirty="0"/>
              <a:t> </a:t>
            </a:r>
            <a:r>
              <a:rPr lang="en-GB" sz="2200" dirty="0" err="1"/>
              <a:t>pristup</a:t>
            </a:r>
            <a:r>
              <a:rPr lang="en-GB" sz="2200" dirty="0"/>
              <a:t> </a:t>
            </a:r>
            <a:r>
              <a:rPr lang="en-GB" sz="2200" dirty="0" err="1"/>
              <a:t>testnim</a:t>
            </a:r>
            <a:r>
              <a:rPr lang="en-GB" sz="2200" dirty="0"/>
              <a:t> </a:t>
            </a:r>
            <a:r>
              <a:rPr lang="en-GB" sz="2200" dirty="0" err="1"/>
              <a:t>verzijama</a:t>
            </a:r>
            <a:r>
              <a:rPr lang="en-GB" sz="2200" dirty="0"/>
              <a:t> alata. Time bi </a:t>
            </a:r>
            <a:r>
              <a:rPr lang="en-GB" sz="2200" dirty="0" err="1"/>
              <a:t>mogli</a:t>
            </a:r>
            <a:r>
              <a:rPr lang="en-GB" sz="2200" dirty="0"/>
              <a:t> </a:t>
            </a:r>
            <a:r>
              <a:rPr lang="en-GB" sz="2200" dirty="0" err="1"/>
              <a:t>ranije</a:t>
            </a:r>
            <a:r>
              <a:rPr lang="en-GB" sz="2200" dirty="0"/>
              <a:t> </a:t>
            </a:r>
            <a:r>
              <a:rPr lang="en-GB" sz="2200" dirty="0" err="1"/>
              <a:t>steći</a:t>
            </a:r>
            <a:r>
              <a:rPr lang="en-GB" sz="2200" dirty="0"/>
              <a:t> </a:t>
            </a:r>
            <a:r>
              <a:rPr lang="en-GB" sz="2200" dirty="0" err="1"/>
              <a:t>praktično</a:t>
            </a:r>
            <a:r>
              <a:rPr lang="en-GB" sz="2200" dirty="0"/>
              <a:t> </a:t>
            </a:r>
            <a:r>
              <a:rPr lang="en-GB" sz="2200" dirty="0" err="1"/>
              <a:t>iskustvo</a:t>
            </a:r>
            <a:r>
              <a:rPr lang="en-GB" sz="2200" dirty="0"/>
              <a:t> </a:t>
            </a:r>
            <a:r>
              <a:rPr lang="en-GB" sz="2200" dirty="0" err="1"/>
              <a:t>i</a:t>
            </a:r>
            <a:r>
              <a:rPr lang="en-GB" sz="2200" dirty="0"/>
              <a:t> </a:t>
            </a:r>
            <a:r>
              <a:rPr lang="en-GB" sz="2200" dirty="0" err="1"/>
              <a:t>dati</a:t>
            </a:r>
            <a:r>
              <a:rPr lang="en-GB" sz="2200" dirty="0"/>
              <a:t> </a:t>
            </a:r>
            <a:r>
              <a:rPr lang="en-GB" sz="2200" dirty="0" err="1"/>
              <a:t>povratne</a:t>
            </a:r>
            <a:r>
              <a:rPr lang="en-GB" sz="2200" dirty="0"/>
              <a:t> </a:t>
            </a:r>
            <a:r>
              <a:rPr lang="en-GB" sz="2200" dirty="0" err="1"/>
              <a:t>informacije</a:t>
            </a:r>
            <a:r>
              <a:rPr lang="en-GB" sz="2200" dirty="0"/>
              <a:t>, </a:t>
            </a:r>
            <a:r>
              <a:rPr lang="en-GB" sz="2200" dirty="0" err="1"/>
              <a:t>što</a:t>
            </a:r>
            <a:r>
              <a:rPr lang="en-GB" sz="2200" dirty="0"/>
              <a:t> bi </a:t>
            </a:r>
            <a:r>
              <a:rPr lang="en-GB" sz="2200" dirty="0" err="1"/>
              <a:t>nam</a:t>
            </a:r>
            <a:r>
              <a:rPr lang="en-GB" sz="2200" dirty="0"/>
              <a:t> </a:t>
            </a:r>
            <a:r>
              <a:rPr lang="en-GB" sz="2200" dirty="0" err="1"/>
              <a:t>pomoglo</a:t>
            </a:r>
            <a:r>
              <a:rPr lang="en-GB" sz="2200" dirty="0"/>
              <a:t> da </a:t>
            </a:r>
            <a:r>
              <a:rPr lang="en-GB" sz="2200" dirty="0" err="1"/>
              <a:t>njihove</a:t>
            </a:r>
            <a:r>
              <a:rPr lang="en-GB" sz="2200" dirty="0"/>
              <a:t> </a:t>
            </a:r>
            <a:r>
              <a:rPr lang="en-GB" sz="2200" dirty="0" err="1"/>
              <a:t>prijedloge</a:t>
            </a:r>
            <a:r>
              <a:rPr lang="en-GB" sz="2200" dirty="0"/>
              <a:t> </a:t>
            </a:r>
            <a:r>
              <a:rPr lang="en-GB" sz="2200" dirty="0" err="1"/>
              <a:t>uključimo</a:t>
            </a:r>
            <a:r>
              <a:rPr lang="en-GB" sz="2200" dirty="0"/>
              <a:t> </a:t>
            </a:r>
            <a:r>
              <a:rPr lang="en-GB" sz="2200" dirty="0" err="1"/>
              <a:t>prije</a:t>
            </a:r>
            <a:r>
              <a:rPr lang="en-GB" sz="2200" dirty="0"/>
              <a:t> </a:t>
            </a:r>
            <a:r>
              <a:rPr lang="en-GB" sz="2200" dirty="0" err="1"/>
              <a:t>produkcijskog</a:t>
            </a:r>
            <a:r>
              <a:rPr lang="en-GB" sz="2200" dirty="0"/>
              <a:t> </a:t>
            </a:r>
            <a:r>
              <a:rPr lang="en-GB" sz="2200" dirty="0" err="1"/>
              <a:t>izdanja</a:t>
            </a:r>
            <a:r>
              <a:rPr lang="en-GB" sz="2200" dirty="0"/>
              <a:t>.</a:t>
            </a:r>
          </a:p>
        </p:txBody>
      </p:sp>
    </p:spTree>
    <p:extLst>
      <p:ext uri="{BB962C8B-B14F-4D97-AF65-F5344CB8AC3E}">
        <p14:creationId xmlns:p14="http://schemas.microsoft.com/office/powerpoint/2010/main" val="12668840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885E0-A38A-4373-F565-F4EEB320ABA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7D83B33-6130-4E35-B039-7E084E61A1E4}"/>
              </a:ext>
            </a:extLst>
          </p:cNvPr>
          <p:cNvSpPr>
            <a:spLocks noGrp="1"/>
          </p:cNvSpPr>
          <p:nvPr>
            <p:ph type="ctrTitle"/>
          </p:nvPr>
        </p:nvSpPr>
        <p:spPr/>
        <p:txBody>
          <a:bodyPr/>
          <a:lstStyle/>
          <a:p>
            <a:r>
              <a:rPr lang="hr-HR" dirty="0"/>
              <a:t>Fokus na certifikate za </a:t>
            </a:r>
            <a:r>
              <a:rPr lang="hr-HR" dirty="0" err="1"/>
              <a:t>Scrum</a:t>
            </a:r>
            <a:r>
              <a:rPr lang="hr-HR" dirty="0"/>
              <a:t> Mastera</a:t>
            </a:r>
            <a:endParaRPr lang="en-GB" dirty="0"/>
          </a:p>
        </p:txBody>
      </p:sp>
    </p:spTree>
    <p:extLst>
      <p:ext uri="{BB962C8B-B14F-4D97-AF65-F5344CB8AC3E}">
        <p14:creationId xmlns:p14="http://schemas.microsoft.com/office/powerpoint/2010/main" val="14407164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B96B6-9C17-7FB6-649C-D42ECCD5B5F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2506FFE-D486-D1F0-235D-CC33918F57FA}"/>
              </a:ext>
            </a:extLst>
          </p:cNvPr>
          <p:cNvSpPr>
            <a:spLocks noGrp="1"/>
          </p:cNvSpPr>
          <p:nvPr>
            <p:ph type="title"/>
          </p:nvPr>
        </p:nvSpPr>
        <p:spPr/>
        <p:txBody>
          <a:bodyPr/>
          <a:lstStyle/>
          <a:p>
            <a:r>
              <a:rPr lang="hr-HR" b="1" dirty="0"/>
              <a:t>Certifikacija za </a:t>
            </a:r>
            <a:r>
              <a:rPr lang="en-GB" b="1" dirty="0"/>
              <a:t>Scrum Master</a:t>
            </a:r>
            <a:r>
              <a:rPr lang="hr-HR" b="1" dirty="0"/>
              <a:t>a</a:t>
            </a:r>
            <a:endParaRPr lang="en-GB" dirty="0"/>
          </a:p>
        </p:txBody>
      </p:sp>
      <p:sp>
        <p:nvSpPr>
          <p:cNvPr id="3" name="Segnaposto contenuto 2">
            <a:extLst>
              <a:ext uri="{FF2B5EF4-FFF2-40B4-BE49-F238E27FC236}">
                <a16:creationId xmlns:a16="http://schemas.microsoft.com/office/drawing/2014/main" id="{8A971789-82D1-A0E4-62A6-FB1E57FF15B2}"/>
              </a:ext>
            </a:extLst>
          </p:cNvPr>
          <p:cNvSpPr>
            <a:spLocks noGrp="1"/>
          </p:cNvSpPr>
          <p:nvPr>
            <p:ph idx="1"/>
          </p:nvPr>
        </p:nvSpPr>
        <p:spPr/>
        <p:txBody>
          <a:bodyPr>
            <a:normAutofit/>
          </a:bodyPr>
          <a:lstStyle/>
          <a:p>
            <a:pPr marL="0" indent="0">
              <a:buNone/>
            </a:pPr>
            <a:r>
              <a:rPr lang="hr-HR" dirty="0"/>
              <a:t>Evo popisa najvažnijih i najpriznatijih </a:t>
            </a:r>
            <a:r>
              <a:rPr lang="hr-HR" dirty="0" err="1"/>
              <a:t>Scrum</a:t>
            </a:r>
            <a:r>
              <a:rPr lang="hr-HR" dirty="0"/>
              <a:t> Master certifikata, uključujući organizacije koje ih izdaju, područja na koja su usmjereni te njihovu prikladnost za različite razine iskustva:</a:t>
            </a:r>
          </a:p>
          <a:p>
            <a:pPr marL="0" indent="0">
              <a:buNone/>
            </a:pPr>
            <a:endParaRPr lang="en-GB" dirty="0"/>
          </a:p>
          <a:p>
            <a:pPr marL="514350" indent="-514350">
              <a:buFont typeface="+mj-lt"/>
              <a:buAutoNum type="arabicPeriod"/>
            </a:pPr>
            <a:r>
              <a:rPr lang="en-GB" dirty="0"/>
              <a:t>Certified ScrumMaster® (CSM)</a:t>
            </a:r>
          </a:p>
          <a:p>
            <a:pPr marL="514350" indent="-514350">
              <a:buFont typeface="+mj-lt"/>
              <a:buAutoNum type="arabicPeriod"/>
            </a:pPr>
            <a:r>
              <a:rPr lang="en-GB" dirty="0"/>
              <a:t>Professional Scrum Master™ (PSM I, II, III)</a:t>
            </a:r>
          </a:p>
          <a:p>
            <a:pPr marL="514350" indent="-514350">
              <a:buFont typeface="+mj-lt"/>
              <a:buAutoNum type="arabicPeriod"/>
            </a:pPr>
            <a:r>
              <a:rPr lang="en-GB" dirty="0" err="1"/>
              <a:t>SAFe</a:t>
            </a:r>
            <a:r>
              <a:rPr lang="en-GB" dirty="0"/>
              <a:t>® Scrum Master (SSM)</a:t>
            </a:r>
          </a:p>
          <a:p>
            <a:pPr marL="514350" indent="-514350">
              <a:buFont typeface="+mj-lt"/>
              <a:buAutoNum type="arabicPeriod"/>
            </a:pPr>
            <a:r>
              <a:rPr lang="en-GB" dirty="0"/>
              <a:t>Scrum Master Certified (SMC®)</a:t>
            </a:r>
          </a:p>
          <a:p>
            <a:endParaRPr lang="en-GB" dirty="0"/>
          </a:p>
          <a:p>
            <a:endParaRPr lang="en-GB" dirty="0"/>
          </a:p>
        </p:txBody>
      </p:sp>
    </p:spTree>
    <p:extLst>
      <p:ext uri="{BB962C8B-B14F-4D97-AF65-F5344CB8AC3E}">
        <p14:creationId xmlns:p14="http://schemas.microsoft.com/office/powerpoint/2010/main" val="21744224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8AF34-F11D-3DF4-03BA-86490FE15C6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F8E52EF-657F-CA20-2F35-9D0D3C0DFFF5}"/>
              </a:ext>
            </a:extLst>
          </p:cNvPr>
          <p:cNvSpPr>
            <a:spLocks noGrp="1"/>
          </p:cNvSpPr>
          <p:nvPr>
            <p:ph type="title"/>
          </p:nvPr>
        </p:nvSpPr>
        <p:spPr/>
        <p:txBody>
          <a:bodyPr/>
          <a:lstStyle/>
          <a:p>
            <a:r>
              <a:rPr lang="en-GB" dirty="0"/>
              <a:t>1. Certified ScrumMaster® (CSM)</a:t>
            </a:r>
          </a:p>
        </p:txBody>
      </p:sp>
      <p:sp>
        <p:nvSpPr>
          <p:cNvPr id="3" name="Segnaposto contenuto 2">
            <a:extLst>
              <a:ext uri="{FF2B5EF4-FFF2-40B4-BE49-F238E27FC236}">
                <a16:creationId xmlns:a16="http://schemas.microsoft.com/office/drawing/2014/main" id="{D8D2B51C-A4FB-D2FF-BDDA-4F81BA27ADD5}"/>
              </a:ext>
            </a:extLst>
          </p:cNvPr>
          <p:cNvSpPr>
            <a:spLocks noGrp="1"/>
          </p:cNvSpPr>
          <p:nvPr>
            <p:ph idx="1"/>
          </p:nvPr>
        </p:nvSpPr>
        <p:spPr/>
        <p:txBody>
          <a:bodyPr>
            <a:normAutofit fontScale="85000" lnSpcReduction="20000"/>
          </a:bodyPr>
          <a:lstStyle/>
          <a:p>
            <a:pPr marL="0" indent="0" eaLnBrk="0" fontAlgn="base" hangingPunct="0">
              <a:lnSpc>
                <a:spcPct val="100000"/>
              </a:lnSpc>
              <a:spcBef>
                <a:spcPct val="0"/>
              </a:spcBef>
              <a:spcAft>
                <a:spcPct val="0"/>
              </a:spcAft>
              <a:buNone/>
            </a:pPr>
            <a:r>
              <a:rPr lang="hr-HR" altLang="en-US" b="1" dirty="0"/>
              <a:t>Organizacija koja izdaje certifikat</a:t>
            </a:r>
            <a:r>
              <a:rPr lang="en-US" altLang="en-US" dirty="0"/>
              <a:t>: Scrum Alliance (</a:t>
            </a:r>
            <a:r>
              <a:rPr lang="en-US" altLang="en-US" dirty="0">
                <a:hlinkClick r:id="rId3"/>
              </a:rPr>
              <a:t>scrumalliance.org</a:t>
            </a:r>
            <a:r>
              <a:rPr lang="en-US" altLang="en-US" dirty="0"/>
              <a:t>)</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hr-HR" altLang="en-US" b="1" dirty="0"/>
              <a:t>Razina</a:t>
            </a:r>
            <a:r>
              <a:rPr lang="en-US" altLang="en-US" dirty="0"/>
              <a:t>: </a:t>
            </a:r>
            <a:r>
              <a:rPr lang="hr-HR" altLang="en-US" dirty="0"/>
              <a:t>početna</a:t>
            </a:r>
            <a:r>
              <a:rPr lang="en-US" altLang="en-US" dirty="0"/>
              <a:t> </a:t>
            </a:r>
            <a:r>
              <a:rPr lang="pl-PL" dirty="0"/>
              <a:t>(idealno za početnike u Scrumu ili voditelje projekata koji prelaze na Scrum)</a:t>
            </a:r>
          </a:p>
          <a:p>
            <a:pPr marL="0" lvl="0" indent="0" eaLnBrk="0" fontAlgn="base" hangingPunct="0">
              <a:lnSpc>
                <a:spcPct val="100000"/>
              </a:lnSpc>
              <a:spcBef>
                <a:spcPct val="0"/>
              </a:spcBef>
              <a:spcAft>
                <a:spcPct val="0"/>
              </a:spcAft>
              <a:buNone/>
            </a:pPr>
            <a:endParaRPr lang="en-US" altLang="en-US" b="1" dirty="0"/>
          </a:p>
          <a:p>
            <a:pPr marL="0" lvl="0" indent="0" eaLnBrk="0" fontAlgn="base" hangingPunct="0">
              <a:lnSpc>
                <a:spcPct val="100000"/>
              </a:lnSpc>
              <a:spcBef>
                <a:spcPct val="0"/>
              </a:spcBef>
              <a:spcAft>
                <a:spcPct val="0"/>
              </a:spcAft>
              <a:buNone/>
            </a:pPr>
            <a:r>
              <a:rPr lang="hr-HR" altLang="en-US" b="1" dirty="0"/>
              <a:t>Trajanje</a:t>
            </a:r>
            <a:r>
              <a:rPr lang="en-US" altLang="en-US" dirty="0"/>
              <a:t>: </a:t>
            </a:r>
            <a:r>
              <a:rPr lang="hr-HR" altLang="en-US" dirty="0"/>
              <a:t>dvodnevni tečaj </a:t>
            </a:r>
            <a:r>
              <a:rPr lang="en-US" altLang="en-US" dirty="0"/>
              <a:t>+ online </a:t>
            </a:r>
            <a:r>
              <a:rPr lang="hr-HR" altLang="en-US" dirty="0"/>
              <a:t>ispit</a:t>
            </a:r>
          </a:p>
          <a:p>
            <a:pPr marL="0" lvl="0" indent="0" eaLnBrk="0" fontAlgn="base" hangingPunct="0">
              <a:lnSpc>
                <a:spcPct val="100000"/>
              </a:lnSpc>
              <a:spcBef>
                <a:spcPct val="0"/>
              </a:spcBef>
              <a:spcAft>
                <a:spcPct val="0"/>
              </a:spcAft>
              <a:buNone/>
            </a:pPr>
            <a:endParaRPr lang="hr-HR" altLang="en-US" b="1" dirty="0"/>
          </a:p>
          <a:p>
            <a:pPr marL="0" lvl="0" indent="0" eaLnBrk="0" fontAlgn="base" hangingPunct="0">
              <a:lnSpc>
                <a:spcPct val="100000"/>
              </a:lnSpc>
              <a:spcBef>
                <a:spcPct val="0"/>
              </a:spcBef>
              <a:spcAft>
                <a:spcPct val="0"/>
              </a:spcAft>
              <a:buNone/>
            </a:pPr>
            <a:r>
              <a:rPr lang="hr-HR" altLang="en-US" b="1" dirty="0"/>
              <a:t>Obnova</a:t>
            </a:r>
            <a:r>
              <a:rPr lang="en-US" altLang="en-US" dirty="0"/>
              <a:t>: </a:t>
            </a:r>
            <a:r>
              <a:rPr lang="hr-HR" altLang="en-US" dirty="0"/>
              <a:t>svake</a:t>
            </a:r>
            <a:r>
              <a:rPr lang="en-US" altLang="en-US" dirty="0"/>
              <a:t> 2 </a:t>
            </a:r>
            <a:r>
              <a:rPr lang="hr-HR" altLang="en-US" dirty="0"/>
              <a:t>godine</a:t>
            </a:r>
            <a:r>
              <a:rPr lang="en-US" altLang="en-US" dirty="0"/>
              <a:t> (</a:t>
            </a:r>
            <a:r>
              <a:rPr lang="hr-HR" altLang="en-US" dirty="0"/>
              <a:t>zahtijeva</a:t>
            </a:r>
            <a:r>
              <a:rPr lang="en-US" altLang="en-US" dirty="0"/>
              <a:t> </a:t>
            </a:r>
            <a:r>
              <a:rPr lang="en-GB" dirty="0"/>
              <a:t>Scrum Education Units - </a:t>
            </a:r>
            <a:r>
              <a:rPr lang="hr-HR" dirty="0"/>
              <a:t>bodove</a:t>
            </a:r>
            <a:r>
              <a:rPr lang="en-GB" dirty="0"/>
              <a:t> –</a:t>
            </a:r>
            <a:r>
              <a:rPr lang="en-US" dirty="0"/>
              <a:t> </a:t>
            </a:r>
            <a:r>
              <a:rPr lang="hr-HR" dirty="0"/>
              <a:t>i naknadu</a:t>
            </a:r>
            <a:r>
              <a:rPr lang="en-US" altLang="en-US" dirty="0"/>
              <a:t>)</a:t>
            </a:r>
          </a:p>
          <a:p>
            <a:pPr marL="0" lvl="0" indent="0" eaLnBrk="0" fontAlgn="base" hangingPunct="0">
              <a:lnSpc>
                <a:spcPct val="100000"/>
              </a:lnSpc>
              <a:spcBef>
                <a:spcPct val="0"/>
              </a:spcBef>
              <a:spcAft>
                <a:spcPct val="0"/>
              </a:spcAft>
              <a:buNone/>
            </a:pPr>
            <a:endParaRPr lang="en-US" altLang="en-US" b="1" dirty="0"/>
          </a:p>
          <a:p>
            <a:pPr marL="0" lvl="0" indent="0" eaLnBrk="0" fontAlgn="base" hangingPunct="0">
              <a:lnSpc>
                <a:spcPct val="100000"/>
              </a:lnSpc>
              <a:spcBef>
                <a:spcPct val="0"/>
              </a:spcBef>
              <a:spcAft>
                <a:spcPct val="0"/>
              </a:spcAft>
              <a:buNone/>
            </a:pPr>
            <a:r>
              <a:rPr lang="en-US" altLang="en-US" b="1" dirty="0"/>
              <a:t>Fo</a:t>
            </a:r>
            <a:r>
              <a:rPr lang="hr-HR" altLang="en-US" b="1" dirty="0"/>
              <a:t>k</a:t>
            </a:r>
            <a:r>
              <a:rPr lang="en-US" altLang="en-US" b="1" dirty="0"/>
              <a:t>us</a:t>
            </a:r>
            <a:r>
              <a:rPr lang="en-US" altLang="en-US" dirty="0"/>
              <a:t>:</a:t>
            </a:r>
          </a:p>
          <a:p>
            <a:pPr eaLnBrk="0" fontAlgn="base" hangingPunct="0">
              <a:lnSpc>
                <a:spcPct val="100000"/>
              </a:lnSpc>
              <a:spcBef>
                <a:spcPct val="0"/>
              </a:spcBef>
              <a:spcAft>
                <a:spcPct val="0"/>
              </a:spcAft>
            </a:pPr>
            <a:r>
              <a:rPr lang="hr-HR" altLang="en-US" dirty="0"/>
              <a:t>Osnove </a:t>
            </a:r>
            <a:r>
              <a:rPr lang="hr-HR" altLang="en-US" dirty="0" err="1"/>
              <a:t>Scruma</a:t>
            </a:r>
            <a:r>
              <a:rPr lang="hr-HR" altLang="en-US" dirty="0"/>
              <a:t> </a:t>
            </a:r>
            <a:r>
              <a:rPr lang="en-US" altLang="en-US" dirty="0"/>
              <a:t>(</a:t>
            </a:r>
            <a:r>
              <a:rPr lang="hr-HR" altLang="en-US" dirty="0"/>
              <a:t>uloge</a:t>
            </a:r>
            <a:r>
              <a:rPr lang="en-US" altLang="en-US" dirty="0"/>
              <a:t>, </a:t>
            </a:r>
            <a:r>
              <a:rPr lang="hr-HR" altLang="en-US" dirty="0"/>
              <a:t>događaji</a:t>
            </a:r>
            <a:r>
              <a:rPr lang="en-US" altLang="en-US" dirty="0"/>
              <a:t>, </a:t>
            </a:r>
            <a:r>
              <a:rPr lang="hr-HR" altLang="en-US" dirty="0"/>
              <a:t>artefakti</a:t>
            </a:r>
            <a:r>
              <a:rPr lang="en-US" altLang="en-US" dirty="0"/>
              <a:t>)</a:t>
            </a:r>
          </a:p>
          <a:p>
            <a:pPr eaLnBrk="0" fontAlgn="base" hangingPunct="0">
              <a:lnSpc>
                <a:spcPct val="100000"/>
              </a:lnSpc>
              <a:spcBef>
                <a:spcPct val="0"/>
              </a:spcBef>
              <a:spcAft>
                <a:spcPct val="0"/>
              </a:spcAft>
            </a:pPr>
            <a:r>
              <a:rPr lang="en-US" altLang="en-US" dirty="0" err="1"/>
              <a:t>Facilita</a:t>
            </a:r>
            <a:r>
              <a:rPr lang="hr-HR" altLang="en-US" dirty="0" err="1"/>
              <a:t>cija</a:t>
            </a:r>
            <a:r>
              <a:rPr lang="en-US" altLang="en-US" dirty="0"/>
              <a:t>, coaching, servant leadership</a:t>
            </a:r>
          </a:p>
          <a:p>
            <a:pPr eaLnBrk="0" fontAlgn="base" hangingPunct="0">
              <a:lnSpc>
                <a:spcPct val="100000"/>
              </a:lnSpc>
              <a:spcBef>
                <a:spcPct val="0"/>
              </a:spcBef>
              <a:spcAft>
                <a:spcPct val="0"/>
              </a:spcAft>
            </a:pPr>
            <a:r>
              <a:rPr lang="hr-HR" altLang="en-US" dirty="0"/>
              <a:t>Odgovornosti </a:t>
            </a:r>
            <a:r>
              <a:rPr lang="en-US" altLang="en-US" dirty="0"/>
              <a:t>Scrum Master</a:t>
            </a:r>
            <a:r>
              <a:rPr lang="hr-HR" altLang="en-US" dirty="0"/>
              <a:t>a</a:t>
            </a:r>
            <a:endParaRPr lang="en-US" altLang="en-US" dirty="0"/>
          </a:p>
          <a:p>
            <a:pPr marL="0" lvl="0" indent="0" eaLnBrk="0" fontAlgn="base" hangingPunct="0">
              <a:lnSpc>
                <a:spcPct val="100000"/>
              </a:lnSpc>
              <a:spcBef>
                <a:spcPct val="0"/>
              </a:spcBef>
              <a:spcAft>
                <a:spcPct val="0"/>
              </a:spcAft>
              <a:buNone/>
            </a:pPr>
            <a:endParaRPr lang="en-US" altLang="en-US" b="1" dirty="0"/>
          </a:p>
          <a:p>
            <a:endParaRPr lang="en-GB" dirty="0"/>
          </a:p>
        </p:txBody>
      </p:sp>
      <p:sp>
        <p:nvSpPr>
          <p:cNvPr id="4" name="Rectangle 1">
            <a:extLst>
              <a:ext uri="{FF2B5EF4-FFF2-40B4-BE49-F238E27FC236}">
                <a16:creationId xmlns:a16="http://schemas.microsoft.com/office/drawing/2014/main" id="{CF39D919-4676-4F94-FD3C-4F7F237DF83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92852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88AD4-7B1F-D9BF-7073-D1C21AEE20F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98398EE-4DE2-3FD4-7035-03B73C9CB69A}"/>
              </a:ext>
            </a:extLst>
          </p:cNvPr>
          <p:cNvSpPr>
            <a:spLocks noGrp="1"/>
          </p:cNvSpPr>
          <p:nvPr>
            <p:ph type="title"/>
          </p:nvPr>
        </p:nvSpPr>
        <p:spPr/>
        <p:txBody>
          <a:bodyPr/>
          <a:lstStyle/>
          <a:p>
            <a:r>
              <a:rPr lang="en-GB" dirty="0"/>
              <a:t>2. Professional Scrum Master™ (PSM I, II, III)</a:t>
            </a:r>
          </a:p>
        </p:txBody>
      </p:sp>
      <p:sp>
        <p:nvSpPr>
          <p:cNvPr id="3" name="Segnaposto contenuto 2">
            <a:extLst>
              <a:ext uri="{FF2B5EF4-FFF2-40B4-BE49-F238E27FC236}">
                <a16:creationId xmlns:a16="http://schemas.microsoft.com/office/drawing/2014/main" id="{0F98838E-75CC-0CE2-CD21-2C6B2B4AD2A7}"/>
              </a:ext>
            </a:extLst>
          </p:cNvPr>
          <p:cNvSpPr>
            <a:spLocks noGrp="1"/>
          </p:cNvSpPr>
          <p:nvPr>
            <p:ph idx="1"/>
          </p:nvPr>
        </p:nvSpPr>
        <p:spPr/>
        <p:txBody>
          <a:bodyPr>
            <a:normAutofit fontScale="92500" lnSpcReduction="20000"/>
          </a:bodyPr>
          <a:lstStyle/>
          <a:p>
            <a:pPr marL="0" indent="0" eaLnBrk="0" fontAlgn="base" hangingPunct="0">
              <a:lnSpc>
                <a:spcPct val="100000"/>
              </a:lnSpc>
              <a:spcBef>
                <a:spcPct val="0"/>
              </a:spcBef>
              <a:spcAft>
                <a:spcPct val="0"/>
              </a:spcAft>
              <a:buNone/>
            </a:pPr>
            <a:r>
              <a:rPr lang="hr-HR" altLang="en-US" b="1" dirty="0"/>
              <a:t>Organizacija koja izdaje certifikat</a:t>
            </a:r>
            <a:r>
              <a:rPr lang="en-US" altLang="en-US" dirty="0"/>
              <a:t>: Scrum.org (</a:t>
            </a:r>
            <a:r>
              <a:rPr lang="en-US" altLang="en-US" dirty="0">
                <a:hlinkClick r:id="rId3"/>
              </a:rPr>
              <a:t>scrum.org</a:t>
            </a:r>
            <a:r>
              <a:rPr lang="en-US" altLang="en-US" dirty="0"/>
              <a:t>)</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hr-HR" altLang="en-US" b="1" dirty="0"/>
              <a:t>Razine</a:t>
            </a:r>
            <a:r>
              <a:rPr lang="en-US" altLang="en-US" dirty="0"/>
              <a:t>:</a:t>
            </a:r>
          </a:p>
          <a:p>
            <a:pPr eaLnBrk="0" fontAlgn="base" hangingPunct="0">
              <a:lnSpc>
                <a:spcPct val="100000"/>
              </a:lnSpc>
              <a:spcBef>
                <a:spcPct val="0"/>
              </a:spcBef>
              <a:spcAft>
                <a:spcPct val="0"/>
              </a:spcAft>
            </a:pPr>
            <a:r>
              <a:rPr lang="en-US" altLang="en-US" b="1" dirty="0"/>
              <a:t>PSM I</a:t>
            </a:r>
            <a:r>
              <a:rPr lang="en-US" altLang="en-US" dirty="0"/>
              <a:t> – </a:t>
            </a:r>
            <a:r>
              <a:rPr lang="hr-HR" altLang="en-US" dirty="0"/>
              <a:t>osnovna </a:t>
            </a:r>
            <a:r>
              <a:rPr lang="en-US" altLang="en-US" dirty="0"/>
              <a:t>(</a:t>
            </a:r>
            <a:r>
              <a:rPr lang="hr-HR" altLang="en-US" dirty="0"/>
              <a:t>najpopularnija</a:t>
            </a:r>
            <a:r>
              <a:rPr lang="en-US" altLang="en-US" dirty="0"/>
              <a:t>)</a:t>
            </a:r>
          </a:p>
          <a:p>
            <a:pPr eaLnBrk="0" fontAlgn="base" hangingPunct="0">
              <a:lnSpc>
                <a:spcPct val="100000"/>
              </a:lnSpc>
              <a:spcBef>
                <a:spcPct val="0"/>
              </a:spcBef>
              <a:spcAft>
                <a:spcPct val="0"/>
              </a:spcAft>
            </a:pPr>
            <a:r>
              <a:rPr lang="en-US" altLang="en-US" b="1" dirty="0"/>
              <a:t>PSM II</a:t>
            </a:r>
            <a:r>
              <a:rPr lang="en-US" altLang="en-US" dirty="0"/>
              <a:t> – </a:t>
            </a:r>
            <a:r>
              <a:rPr lang="hr-HR" altLang="en-US" dirty="0"/>
              <a:t>srednja</a:t>
            </a:r>
            <a:r>
              <a:rPr lang="en-US" altLang="en-US" dirty="0"/>
              <a:t> (</a:t>
            </a:r>
            <a:r>
              <a:rPr lang="en-US" altLang="en-US" dirty="0" err="1"/>
              <a:t>fo</a:t>
            </a:r>
            <a:r>
              <a:rPr lang="hr-HR" altLang="en-US" dirty="0"/>
              <a:t>k</a:t>
            </a:r>
            <a:r>
              <a:rPr lang="en-US" altLang="en-US" dirty="0"/>
              <a:t>us </a:t>
            </a:r>
            <a:r>
              <a:rPr lang="hr-HR" altLang="en-US" dirty="0"/>
              <a:t>na primjeni u stvarnim situacijama</a:t>
            </a:r>
            <a:r>
              <a:rPr lang="en-US" altLang="en-US" dirty="0"/>
              <a:t>)</a:t>
            </a:r>
          </a:p>
          <a:p>
            <a:pPr eaLnBrk="0" fontAlgn="base" hangingPunct="0">
              <a:lnSpc>
                <a:spcPct val="100000"/>
              </a:lnSpc>
              <a:spcBef>
                <a:spcPct val="0"/>
              </a:spcBef>
              <a:spcAft>
                <a:spcPct val="0"/>
              </a:spcAft>
            </a:pPr>
            <a:r>
              <a:rPr lang="en-US" altLang="en-US" b="1" dirty="0"/>
              <a:t>PSM III</a:t>
            </a:r>
            <a:r>
              <a:rPr lang="en-US" altLang="en-US" dirty="0"/>
              <a:t> –</a:t>
            </a:r>
            <a:r>
              <a:rPr lang="hr-HR" altLang="en-US" dirty="0"/>
              <a:t>napredna</a:t>
            </a:r>
            <a:r>
              <a:rPr lang="en-US" altLang="en-US" dirty="0"/>
              <a:t> (</a:t>
            </a:r>
            <a:r>
              <a:rPr lang="hr-HR" altLang="en-US" dirty="0"/>
              <a:t>zahtjevna, uključuje esejska pitanja</a:t>
            </a:r>
            <a:r>
              <a:rPr lang="en-US" altLang="en-US" dirty="0"/>
              <a:t>)</a:t>
            </a:r>
          </a:p>
          <a:p>
            <a:pPr marL="0" lvl="0" indent="0" eaLnBrk="0" fontAlgn="base" hangingPunct="0">
              <a:lnSpc>
                <a:spcPct val="100000"/>
              </a:lnSpc>
              <a:spcBef>
                <a:spcPct val="0"/>
              </a:spcBef>
              <a:spcAft>
                <a:spcPct val="0"/>
              </a:spcAft>
              <a:buNone/>
            </a:pPr>
            <a:endParaRPr lang="en-US" altLang="en-US" b="1" dirty="0"/>
          </a:p>
          <a:p>
            <a:pPr marL="0" lvl="0" indent="0" eaLnBrk="0" fontAlgn="base" hangingPunct="0">
              <a:lnSpc>
                <a:spcPct val="100000"/>
              </a:lnSpc>
              <a:spcBef>
                <a:spcPct val="0"/>
              </a:spcBef>
              <a:spcAft>
                <a:spcPct val="0"/>
              </a:spcAft>
              <a:buNone/>
            </a:pPr>
            <a:r>
              <a:rPr lang="hr-HR" altLang="en-US" b="1" dirty="0"/>
              <a:t>Trajanje</a:t>
            </a:r>
            <a:r>
              <a:rPr lang="en-US" altLang="en-US" b="1" dirty="0"/>
              <a:t>: </a:t>
            </a:r>
            <a:r>
              <a:rPr lang="hr-HR" altLang="en-US" dirty="0"/>
              <a:t>nije potreban tečaj, moguće je samostalno učenje</a:t>
            </a:r>
            <a:endParaRPr lang="en-US" altLang="en-US" dirty="0"/>
          </a:p>
          <a:p>
            <a:pPr marL="0" lvl="0" indent="0" eaLnBrk="0" fontAlgn="base" hangingPunct="0">
              <a:lnSpc>
                <a:spcPct val="100000"/>
              </a:lnSpc>
              <a:spcBef>
                <a:spcPct val="0"/>
              </a:spcBef>
              <a:spcAft>
                <a:spcPct val="0"/>
              </a:spcAft>
              <a:buNone/>
            </a:pPr>
            <a:r>
              <a:rPr lang="hr-HR" altLang="en-US" b="1" dirty="0"/>
              <a:t>Obnova</a:t>
            </a:r>
            <a:r>
              <a:rPr lang="en-US" altLang="en-US" b="1" dirty="0"/>
              <a:t>:</a:t>
            </a:r>
            <a:r>
              <a:rPr lang="en-US" altLang="en-US" dirty="0"/>
              <a:t> </a:t>
            </a:r>
            <a:r>
              <a:rPr lang="hr-HR" altLang="en-US" dirty="0"/>
              <a:t>certifikat vrijedi trajno</a:t>
            </a:r>
            <a:endParaRPr lang="en-US" altLang="en-US" dirty="0"/>
          </a:p>
          <a:p>
            <a:pPr marL="0" lvl="0" indent="0" eaLnBrk="0" fontAlgn="base" hangingPunct="0">
              <a:lnSpc>
                <a:spcPct val="100000"/>
              </a:lnSpc>
              <a:spcBef>
                <a:spcPct val="0"/>
              </a:spcBef>
              <a:spcAft>
                <a:spcPct val="0"/>
              </a:spcAft>
              <a:buNone/>
            </a:pPr>
            <a:endParaRPr lang="en-US" altLang="en-US" b="1" dirty="0"/>
          </a:p>
          <a:p>
            <a:pPr marL="0" lvl="0" indent="0" eaLnBrk="0" fontAlgn="base" hangingPunct="0">
              <a:lnSpc>
                <a:spcPct val="100000"/>
              </a:lnSpc>
              <a:spcBef>
                <a:spcPct val="0"/>
              </a:spcBef>
              <a:spcAft>
                <a:spcPct val="0"/>
              </a:spcAft>
              <a:buNone/>
            </a:pPr>
            <a:r>
              <a:rPr lang="en-US" altLang="en-US" b="1" dirty="0"/>
              <a:t>Fo</a:t>
            </a:r>
            <a:r>
              <a:rPr lang="hr-HR" altLang="en-US" b="1" dirty="0"/>
              <a:t>k</a:t>
            </a:r>
            <a:r>
              <a:rPr lang="en-US" altLang="en-US" b="1" dirty="0"/>
              <a:t>us</a:t>
            </a:r>
            <a:r>
              <a:rPr lang="en-US" altLang="en-US" dirty="0"/>
              <a:t>:</a:t>
            </a:r>
          </a:p>
          <a:p>
            <a:pPr eaLnBrk="0" fontAlgn="base" hangingPunct="0">
              <a:lnSpc>
                <a:spcPct val="100000"/>
              </a:lnSpc>
              <a:spcBef>
                <a:spcPct val="0"/>
              </a:spcBef>
              <a:spcAft>
                <a:spcPct val="0"/>
              </a:spcAft>
            </a:pPr>
            <a:r>
              <a:rPr lang="hr-HR" altLang="en-US" dirty="0"/>
              <a:t>Snažan naglasak na teoriji i principima </a:t>
            </a:r>
            <a:r>
              <a:rPr lang="hr-HR" altLang="en-US" dirty="0" err="1"/>
              <a:t>Scruma</a:t>
            </a:r>
            <a:endParaRPr lang="en-US" altLang="en-US" dirty="0"/>
          </a:p>
          <a:p>
            <a:pPr eaLnBrk="0" fontAlgn="base" hangingPunct="0">
              <a:lnSpc>
                <a:spcPct val="100000"/>
              </a:lnSpc>
              <a:spcBef>
                <a:spcPct val="0"/>
              </a:spcBef>
              <a:spcAft>
                <a:spcPct val="0"/>
              </a:spcAft>
            </a:pPr>
            <a:r>
              <a:rPr lang="hr-HR" altLang="en-US" dirty="0"/>
              <a:t>Ističe dubinsko razumijevanje umjesto učenja napamet</a:t>
            </a:r>
            <a:endParaRPr lang="en-US" altLang="en-US" dirty="0"/>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endParaRPr lang="en-US" altLang="en-US" b="1" dirty="0"/>
          </a:p>
          <a:p>
            <a:endParaRPr lang="en-GB" dirty="0"/>
          </a:p>
        </p:txBody>
      </p:sp>
      <p:sp>
        <p:nvSpPr>
          <p:cNvPr id="4" name="Rectangle 1">
            <a:extLst>
              <a:ext uri="{FF2B5EF4-FFF2-40B4-BE49-F238E27FC236}">
                <a16:creationId xmlns:a16="http://schemas.microsoft.com/office/drawing/2014/main" id="{CED9948C-4CCD-DF63-26B4-A209C8ECAD0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CB7E563F-467C-4E32-E707-7C14F78FC79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24899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FED9C-DB8D-8432-EA88-81BF7B89A76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81B5CC3-EBE3-0A97-5916-CF66AB1F78C0}"/>
              </a:ext>
            </a:extLst>
          </p:cNvPr>
          <p:cNvSpPr>
            <a:spLocks noGrp="1"/>
          </p:cNvSpPr>
          <p:nvPr>
            <p:ph type="title"/>
          </p:nvPr>
        </p:nvSpPr>
        <p:spPr/>
        <p:txBody>
          <a:bodyPr/>
          <a:lstStyle/>
          <a:p>
            <a:r>
              <a:rPr lang="en-GB" dirty="0"/>
              <a:t>3. </a:t>
            </a:r>
            <a:r>
              <a:rPr lang="en-GB" dirty="0" err="1"/>
              <a:t>SAFe</a:t>
            </a:r>
            <a:r>
              <a:rPr lang="en-GB" dirty="0"/>
              <a:t>® Scrum Master (SSM)</a:t>
            </a:r>
          </a:p>
        </p:txBody>
      </p:sp>
      <p:sp>
        <p:nvSpPr>
          <p:cNvPr id="3" name="Segnaposto contenuto 2">
            <a:extLst>
              <a:ext uri="{FF2B5EF4-FFF2-40B4-BE49-F238E27FC236}">
                <a16:creationId xmlns:a16="http://schemas.microsoft.com/office/drawing/2014/main" id="{4277E929-A471-45FC-2F0B-22972B85B56F}"/>
              </a:ext>
            </a:extLst>
          </p:cNvPr>
          <p:cNvSpPr>
            <a:spLocks noGrp="1"/>
          </p:cNvSpPr>
          <p:nvPr>
            <p:ph idx="1"/>
          </p:nvPr>
        </p:nvSpPr>
        <p:spPr/>
        <p:txBody>
          <a:bodyPr>
            <a:normAutofit fontScale="92500" lnSpcReduction="20000"/>
          </a:bodyPr>
          <a:lstStyle/>
          <a:p>
            <a:pPr marL="0" indent="0" eaLnBrk="0" fontAlgn="base" hangingPunct="0">
              <a:lnSpc>
                <a:spcPct val="100000"/>
              </a:lnSpc>
              <a:spcBef>
                <a:spcPct val="0"/>
              </a:spcBef>
              <a:spcAft>
                <a:spcPct val="0"/>
              </a:spcAft>
              <a:buNone/>
            </a:pPr>
            <a:r>
              <a:rPr lang="hr-HR" altLang="en-US" b="1" dirty="0"/>
              <a:t>Organizacija koja izdaje certifikat</a:t>
            </a:r>
            <a:r>
              <a:rPr lang="en-US" altLang="en-US" dirty="0"/>
              <a:t>: Scaled Agile, Inc. (</a:t>
            </a:r>
            <a:r>
              <a:rPr lang="en-US" altLang="en-US" dirty="0">
                <a:hlinkClick r:id="rId3"/>
              </a:rPr>
              <a:t>scaledagile.com</a:t>
            </a:r>
            <a:r>
              <a:rPr lang="en-US" altLang="en-US" dirty="0"/>
              <a:t>)</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hr-HR" altLang="en-US" b="1" dirty="0"/>
              <a:t>Razina</a:t>
            </a:r>
            <a:r>
              <a:rPr lang="en-US" altLang="en-US" dirty="0"/>
              <a:t>: </a:t>
            </a:r>
            <a:r>
              <a:rPr lang="hr-HR" altLang="en-US" dirty="0"/>
              <a:t>Srednja</a:t>
            </a:r>
            <a:endParaRPr lang="en-US" altLang="en-US" dirty="0"/>
          </a:p>
          <a:p>
            <a:pPr marL="0" indent="0" eaLnBrk="0" fontAlgn="base" hangingPunct="0">
              <a:lnSpc>
                <a:spcPct val="100000"/>
              </a:lnSpc>
              <a:spcBef>
                <a:spcPct val="0"/>
              </a:spcBef>
              <a:spcAft>
                <a:spcPct val="0"/>
              </a:spcAft>
              <a:buNone/>
            </a:pPr>
            <a:r>
              <a:rPr lang="pl-PL" dirty="0"/>
              <a:t>Idealno za Scrum Mastere koji rade u poduzećima koja koriste SAFe.</a:t>
            </a:r>
          </a:p>
          <a:p>
            <a:pPr mar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hr-HR" altLang="en-US" b="1" dirty="0"/>
              <a:t>Trajanje</a:t>
            </a:r>
            <a:r>
              <a:rPr lang="en-US" altLang="en-US" dirty="0"/>
              <a:t>: </a:t>
            </a:r>
            <a:r>
              <a:rPr lang="hr-HR" altLang="en-US" dirty="0"/>
              <a:t>dvodnevni tečaj</a:t>
            </a:r>
            <a:r>
              <a:rPr lang="en-US" altLang="en-US" dirty="0"/>
              <a:t> + online </a:t>
            </a:r>
            <a:r>
              <a:rPr lang="hr-HR" altLang="en-US" dirty="0"/>
              <a:t>ispit</a:t>
            </a:r>
            <a:endParaRPr lang="en-US" altLang="en-US" dirty="0"/>
          </a:p>
          <a:p>
            <a:pPr marL="0" indent="0" eaLnBrk="0" fontAlgn="base" hangingPunct="0">
              <a:lnSpc>
                <a:spcPct val="100000"/>
              </a:lnSpc>
              <a:spcBef>
                <a:spcPct val="0"/>
              </a:spcBef>
              <a:spcAft>
                <a:spcPct val="0"/>
              </a:spcAft>
              <a:buNone/>
            </a:pPr>
            <a:r>
              <a:rPr lang="hr-HR" altLang="en-US" b="1" dirty="0"/>
              <a:t>Obnova</a:t>
            </a:r>
            <a:r>
              <a:rPr lang="en-US" altLang="en-US" dirty="0"/>
              <a:t>: </a:t>
            </a:r>
            <a:r>
              <a:rPr lang="hr-HR" altLang="en-US" dirty="0"/>
              <a:t>godišnja</a:t>
            </a:r>
            <a:r>
              <a:rPr lang="en-US" altLang="en-US" dirty="0"/>
              <a:t> (</a:t>
            </a:r>
            <a:r>
              <a:rPr lang="hr-HR" altLang="en-US" dirty="0"/>
              <a:t>uz naknadu</a:t>
            </a:r>
            <a:r>
              <a:rPr lang="en-US" altLang="en-US" dirty="0"/>
              <a:t>)</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b="1" dirty="0"/>
              <a:t>Fo</a:t>
            </a:r>
            <a:r>
              <a:rPr lang="hr-HR" altLang="en-US" b="1" dirty="0"/>
              <a:t>k</a:t>
            </a:r>
            <a:r>
              <a:rPr lang="en-US" altLang="en-US" b="1" dirty="0"/>
              <a:t>us</a:t>
            </a:r>
            <a:r>
              <a:rPr lang="en-US" altLang="en-US" dirty="0"/>
              <a:t>:</a:t>
            </a:r>
          </a:p>
          <a:p>
            <a:pPr eaLnBrk="0" fontAlgn="base" hangingPunct="0">
              <a:lnSpc>
                <a:spcPct val="100000"/>
              </a:lnSpc>
              <a:spcBef>
                <a:spcPct val="0"/>
              </a:spcBef>
              <a:spcAft>
                <a:spcPct val="0"/>
              </a:spcAft>
            </a:pPr>
            <a:r>
              <a:rPr lang="hr-HR" altLang="en-US" dirty="0"/>
              <a:t>Uloga </a:t>
            </a:r>
            <a:r>
              <a:rPr lang="en-US" altLang="en-US" dirty="0"/>
              <a:t>Scrum Master</a:t>
            </a:r>
            <a:r>
              <a:rPr lang="hr-HR" altLang="en-US" dirty="0"/>
              <a:t>a u</a:t>
            </a:r>
            <a:r>
              <a:rPr lang="en-US" altLang="en-US" dirty="0"/>
              <a:t> Scaled Agile Framework</a:t>
            </a:r>
            <a:r>
              <a:rPr lang="hr-HR" altLang="en-US" dirty="0"/>
              <a:t>u</a:t>
            </a:r>
            <a:r>
              <a:rPr lang="en-US" altLang="en-US" dirty="0"/>
              <a:t> (</a:t>
            </a:r>
            <a:r>
              <a:rPr lang="en-US" altLang="en-US" dirty="0" err="1"/>
              <a:t>SAFe</a:t>
            </a:r>
            <a:r>
              <a:rPr lang="en-US" altLang="en-US" dirty="0"/>
              <a:t>)</a:t>
            </a:r>
          </a:p>
          <a:p>
            <a:pPr eaLnBrk="0" fontAlgn="base" hangingPunct="0">
              <a:lnSpc>
                <a:spcPct val="100000"/>
              </a:lnSpc>
              <a:spcBef>
                <a:spcPct val="0"/>
              </a:spcBef>
              <a:spcAft>
                <a:spcPct val="0"/>
              </a:spcAft>
            </a:pPr>
            <a:r>
              <a:rPr lang="en-US" altLang="en-US" dirty="0"/>
              <a:t>PI (Program Increment) </a:t>
            </a:r>
            <a:r>
              <a:rPr lang="hr-HR" altLang="en-US" dirty="0"/>
              <a:t>planiranje, </a:t>
            </a:r>
            <a:r>
              <a:rPr lang="hr-HR" altLang="en-US" dirty="0" err="1"/>
              <a:t>Agile</a:t>
            </a:r>
            <a:r>
              <a:rPr lang="hr-HR" altLang="en-US" dirty="0"/>
              <a:t> na razini organizacije</a:t>
            </a:r>
            <a:endParaRPr lang="en-US" altLang="en-US" dirty="0"/>
          </a:p>
          <a:p>
            <a:pPr eaLnBrk="0" fontAlgn="base" hangingPunct="0">
              <a:lnSpc>
                <a:spcPct val="100000"/>
              </a:lnSpc>
              <a:spcBef>
                <a:spcPct val="0"/>
              </a:spcBef>
              <a:spcAft>
                <a:spcPct val="0"/>
              </a:spcAft>
            </a:pPr>
            <a:r>
              <a:rPr lang="hr-HR" altLang="en-US" dirty="0"/>
              <a:t>Koordinacija između timova u većim organizacijama</a:t>
            </a:r>
            <a:endParaRPr lang="en-US" altLang="en-US" dirty="0"/>
          </a:p>
          <a:p>
            <a:pPr marL="0" lvl="0" indent="0" eaLnBrk="0" fontAlgn="base" hangingPunct="0">
              <a:lnSpc>
                <a:spcPct val="100000"/>
              </a:lnSpc>
              <a:spcBef>
                <a:spcPct val="0"/>
              </a:spcBef>
              <a:spcAft>
                <a:spcPct val="0"/>
              </a:spcAft>
              <a:buNone/>
            </a:pPr>
            <a:endParaRPr lang="en-US" altLang="en-US" b="1" dirty="0"/>
          </a:p>
          <a:p>
            <a:endParaRPr lang="en-GB" dirty="0"/>
          </a:p>
        </p:txBody>
      </p:sp>
      <p:sp>
        <p:nvSpPr>
          <p:cNvPr id="4" name="Rectangle 1">
            <a:extLst>
              <a:ext uri="{FF2B5EF4-FFF2-40B4-BE49-F238E27FC236}">
                <a16:creationId xmlns:a16="http://schemas.microsoft.com/office/drawing/2014/main" id="{E851EE8B-D010-4029-9759-6D6E154444CE}"/>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94B08B29-2757-F1FD-268B-E06188B4C55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B981260-9E22-A318-7020-7E3C4D805873}"/>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835105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61179-B28A-903C-D933-1E9D0C8AB3B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26918D9-BD22-AACA-5560-DE1CD572BB73}"/>
              </a:ext>
            </a:extLst>
          </p:cNvPr>
          <p:cNvSpPr>
            <a:spLocks noGrp="1"/>
          </p:cNvSpPr>
          <p:nvPr>
            <p:ph type="title"/>
          </p:nvPr>
        </p:nvSpPr>
        <p:spPr/>
        <p:txBody>
          <a:bodyPr/>
          <a:lstStyle/>
          <a:p>
            <a:r>
              <a:rPr lang="en-GB" dirty="0"/>
              <a:t>4. Scrum Master Certified (SMC®)</a:t>
            </a:r>
          </a:p>
        </p:txBody>
      </p:sp>
      <p:sp>
        <p:nvSpPr>
          <p:cNvPr id="3" name="Segnaposto contenuto 2">
            <a:extLst>
              <a:ext uri="{FF2B5EF4-FFF2-40B4-BE49-F238E27FC236}">
                <a16:creationId xmlns:a16="http://schemas.microsoft.com/office/drawing/2014/main" id="{AB6F5033-69B7-A292-8531-512379E6C298}"/>
              </a:ext>
            </a:extLst>
          </p:cNvPr>
          <p:cNvSpPr>
            <a:spLocks noGrp="1"/>
          </p:cNvSpPr>
          <p:nvPr>
            <p:ph idx="1"/>
          </p:nvPr>
        </p:nvSpPr>
        <p:spPr/>
        <p:txBody>
          <a:bodyPr>
            <a:normAutofit fontScale="85000" lnSpcReduction="20000"/>
          </a:bodyPr>
          <a:lstStyle/>
          <a:p>
            <a:pPr marL="0" indent="0" eaLnBrk="0" fontAlgn="base" hangingPunct="0">
              <a:lnSpc>
                <a:spcPct val="100000"/>
              </a:lnSpc>
              <a:spcBef>
                <a:spcPct val="0"/>
              </a:spcBef>
              <a:spcAft>
                <a:spcPct val="0"/>
              </a:spcAft>
              <a:buNone/>
            </a:pPr>
            <a:r>
              <a:rPr lang="hr-HR" altLang="en-US" b="1" dirty="0"/>
              <a:t>Organizacija koja izdaje uvjerenje</a:t>
            </a:r>
            <a:r>
              <a:rPr lang="en-US" altLang="en-US" dirty="0"/>
              <a:t>: </a:t>
            </a:r>
            <a:r>
              <a:rPr lang="en-US" altLang="en-US" dirty="0" err="1"/>
              <a:t>SCRUMstudy</a:t>
            </a:r>
            <a:r>
              <a:rPr lang="en-US" altLang="en-US" dirty="0"/>
              <a:t> (</a:t>
            </a:r>
            <a:r>
              <a:rPr lang="en-US" altLang="en-US" dirty="0">
                <a:hlinkClick r:id="rId3"/>
              </a:rPr>
              <a:t>scrumstudy.com</a:t>
            </a:r>
            <a:r>
              <a:rPr lang="en-US" altLang="en-US" dirty="0"/>
              <a:t>)</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hr-HR" altLang="en-US" b="1" dirty="0"/>
              <a:t>Razina</a:t>
            </a:r>
            <a:r>
              <a:rPr lang="en-US" altLang="en-US" dirty="0"/>
              <a:t>: </a:t>
            </a:r>
            <a:r>
              <a:rPr lang="hr-HR" altLang="en-US" dirty="0"/>
              <a:t>početna do srednja</a:t>
            </a:r>
            <a:endParaRPr lang="en-US" altLang="en-US" dirty="0"/>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hr-HR" altLang="en-US" b="1" dirty="0"/>
              <a:t>Trajanje</a:t>
            </a:r>
            <a:r>
              <a:rPr lang="en-US" altLang="en-US" dirty="0"/>
              <a:t>: </a:t>
            </a:r>
            <a:r>
              <a:rPr lang="hr-HR" altLang="en-US" dirty="0"/>
              <a:t>dvodnevni tečaj</a:t>
            </a:r>
            <a:r>
              <a:rPr lang="en-US" altLang="en-US" dirty="0"/>
              <a:t> + online </a:t>
            </a:r>
            <a:r>
              <a:rPr lang="hr-HR" altLang="en-US" dirty="0"/>
              <a:t>ispit</a:t>
            </a:r>
            <a:endParaRPr lang="en-US" altLang="en-US" dirty="0"/>
          </a:p>
          <a:p>
            <a:pPr marL="0" lvl="0" indent="0" eaLnBrk="0" fontAlgn="base" hangingPunct="0">
              <a:lnSpc>
                <a:spcPct val="100000"/>
              </a:lnSpc>
              <a:spcBef>
                <a:spcPct val="0"/>
              </a:spcBef>
              <a:spcAft>
                <a:spcPct val="0"/>
              </a:spcAft>
              <a:buNone/>
            </a:pPr>
            <a:r>
              <a:rPr lang="hr-HR" altLang="en-US" b="1" dirty="0"/>
              <a:t>Obnova</a:t>
            </a:r>
            <a:r>
              <a:rPr lang="en-US" altLang="en-US" dirty="0"/>
              <a:t>: </a:t>
            </a:r>
            <a:r>
              <a:rPr lang="hr-HR" altLang="en-US" dirty="0"/>
              <a:t>svake 3 godine (zahtijeva naknadu)</a:t>
            </a:r>
            <a:endParaRPr lang="en-US" altLang="en-US" dirty="0"/>
          </a:p>
          <a:p>
            <a:pPr marL="0" lvl="0" indent="0" eaLnBrk="0" fontAlgn="base" hangingPunct="0">
              <a:lnSpc>
                <a:spcPct val="100000"/>
              </a:lnSpc>
              <a:spcBef>
                <a:spcPct val="0"/>
              </a:spcBef>
              <a:spcAft>
                <a:spcPct val="0"/>
              </a:spcAft>
              <a:buNone/>
            </a:pPr>
            <a:endParaRPr lang="en-US" altLang="en-US" b="1" dirty="0"/>
          </a:p>
          <a:p>
            <a:pPr marL="0" lvl="0" indent="0" eaLnBrk="0" fontAlgn="base" hangingPunct="0">
              <a:lnSpc>
                <a:spcPct val="100000"/>
              </a:lnSpc>
              <a:spcBef>
                <a:spcPct val="0"/>
              </a:spcBef>
              <a:spcAft>
                <a:spcPct val="0"/>
              </a:spcAft>
              <a:buNone/>
            </a:pPr>
            <a:r>
              <a:rPr lang="en-US" altLang="en-US" b="1" dirty="0"/>
              <a:t>Fo</a:t>
            </a:r>
            <a:r>
              <a:rPr lang="hr-HR" altLang="en-US" b="1" dirty="0"/>
              <a:t>k</a:t>
            </a:r>
            <a:r>
              <a:rPr lang="en-US" altLang="en-US" b="1" dirty="0"/>
              <a:t>us</a:t>
            </a:r>
            <a:r>
              <a:rPr lang="en-US" altLang="en-US" dirty="0"/>
              <a:t>:</a:t>
            </a:r>
          </a:p>
          <a:p>
            <a:pPr eaLnBrk="0" fontAlgn="base" hangingPunct="0">
              <a:lnSpc>
                <a:spcPct val="100000"/>
              </a:lnSpc>
              <a:spcBef>
                <a:spcPct val="0"/>
              </a:spcBef>
              <a:spcAft>
                <a:spcPct val="0"/>
              </a:spcAft>
            </a:pPr>
            <a:r>
              <a:rPr lang="hr-HR" altLang="en-US" dirty="0"/>
              <a:t>Životni ciklus </a:t>
            </a:r>
            <a:r>
              <a:rPr lang="en-US" altLang="en-US" dirty="0"/>
              <a:t>Scrum</a:t>
            </a:r>
            <a:r>
              <a:rPr lang="hr-HR" altLang="en-US" dirty="0"/>
              <a:t>a</a:t>
            </a:r>
            <a:endParaRPr lang="en-US" altLang="en-US" dirty="0"/>
          </a:p>
          <a:p>
            <a:pPr eaLnBrk="0" fontAlgn="base" hangingPunct="0">
              <a:lnSpc>
                <a:spcPct val="100000"/>
              </a:lnSpc>
              <a:spcBef>
                <a:spcPct val="0"/>
              </a:spcBef>
              <a:spcAft>
                <a:spcPct val="0"/>
              </a:spcAft>
            </a:pPr>
            <a:r>
              <a:rPr lang="hr-HR" altLang="en-US" dirty="0"/>
              <a:t>Uloge i odgovornosti</a:t>
            </a:r>
            <a:endParaRPr lang="en-US" altLang="en-US" dirty="0"/>
          </a:p>
          <a:p>
            <a:pPr eaLnBrk="0" fontAlgn="base" hangingPunct="0">
              <a:lnSpc>
                <a:spcPct val="100000"/>
              </a:lnSpc>
              <a:spcBef>
                <a:spcPct val="0"/>
              </a:spcBef>
              <a:spcAft>
                <a:spcPct val="0"/>
              </a:spcAft>
            </a:pPr>
            <a:r>
              <a:rPr lang="hr-HR" altLang="en-US" dirty="0"/>
              <a:t>Scenariji iz stvarnih situacija</a:t>
            </a:r>
            <a:endParaRPr lang="en-US" altLang="en-US" dirty="0"/>
          </a:p>
          <a:p>
            <a:pPr marL="0" lvl="0" indent="0" eaLnBrk="0" fontAlgn="base" hangingPunct="0">
              <a:lnSpc>
                <a:spcPct val="100000"/>
              </a:lnSpc>
              <a:spcBef>
                <a:spcPct val="0"/>
              </a:spcBef>
              <a:spcAft>
                <a:spcPct val="0"/>
              </a:spcAft>
              <a:buNone/>
            </a:pPr>
            <a:endParaRPr lang="en-US" altLang="en-US" b="1" dirty="0"/>
          </a:p>
          <a:p>
            <a:pPr marL="0" lvl="0" indent="0" eaLnBrk="0" fontAlgn="base" hangingPunct="0">
              <a:lnSpc>
                <a:spcPct val="100000"/>
              </a:lnSpc>
              <a:spcBef>
                <a:spcPct val="0"/>
              </a:spcBef>
              <a:spcAft>
                <a:spcPct val="0"/>
              </a:spcAft>
              <a:buNone/>
            </a:pPr>
            <a:r>
              <a:rPr lang="sv-SE" b="1" dirty="0"/>
              <a:t>Kritika: </a:t>
            </a:r>
            <a:r>
              <a:rPr lang="sv-SE" dirty="0"/>
              <a:t>manje prepoznat u usporedbi s CSM-om i PSM-om.</a:t>
            </a:r>
            <a:endParaRPr lang="en-GB" dirty="0"/>
          </a:p>
        </p:txBody>
      </p:sp>
      <p:sp>
        <p:nvSpPr>
          <p:cNvPr id="4" name="Rectangle 1">
            <a:extLst>
              <a:ext uri="{FF2B5EF4-FFF2-40B4-BE49-F238E27FC236}">
                <a16:creationId xmlns:a16="http://schemas.microsoft.com/office/drawing/2014/main" id="{6D9040DE-C035-3CF6-7C5E-EA0E8FAE22A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3E6CA27D-7D21-57C0-B2E3-47F4517EFF8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FBFD1D91-2F8A-F4FD-362C-E0F724ED6E5C}"/>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297C1927-3E96-46C2-F947-3490324A080C}"/>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726926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76E68-474E-1C43-77B1-38A8B1ACBE3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FDC5F77-9AC9-7132-8F95-75B71FBF2A0A}"/>
              </a:ext>
            </a:extLst>
          </p:cNvPr>
          <p:cNvSpPr>
            <a:spLocks noGrp="1"/>
          </p:cNvSpPr>
          <p:nvPr>
            <p:ph type="title"/>
          </p:nvPr>
        </p:nvSpPr>
        <p:spPr/>
        <p:txBody>
          <a:bodyPr>
            <a:normAutofit/>
          </a:bodyPr>
          <a:lstStyle/>
          <a:p>
            <a:r>
              <a:rPr lang="en-GB" sz="3200" b="1" dirty="0"/>
              <a:t>Scrum Master </a:t>
            </a:r>
            <a:r>
              <a:rPr lang="en-GB" sz="3200" b="1" dirty="0" err="1"/>
              <a:t>certifi</a:t>
            </a:r>
            <a:r>
              <a:rPr lang="hr-HR" sz="3200" b="1" dirty="0" err="1"/>
              <a:t>kacije</a:t>
            </a:r>
            <a:r>
              <a:rPr lang="en-GB" sz="3200" b="1" dirty="0"/>
              <a:t> – </a:t>
            </a:r>
            <a:r>
              <a:rPr lang="hr-HR" sz="3200" dirty="0"/>
              <a:t>sažetak usporedbe</a:t>
            </a:r>
            <a:endParaRPr lang="en-GB" sz="3200" dirty="0"/>
          </a:p>
        </p:txBody>
      </p:sp>
      <p:sp>
        <p:nvSpPr>
          <p:cNvPr id="4" name="Rectangle 1">
            <a:extLst>
              <a:ext uri="{FF2B5EF4-FFF2-40B4-BE49-F238E27FC236}">
                <a16:creationId xmlns:a16="http://schemas.microsoft.com/office/drawing/2014/main" id="{8331A405-0917-DAE0-2B23-077F9FBDB5D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34208EDD-AC59-9138-21A0-303CC792E71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2053E4B2-219B-32D6-4F07-B142D9DD9817}"/>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60727E20-6CAA-21FD-7D6C-3D9B411A2EC3}"/>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3" name="Tabella 12">
            <a:extLst>
              <a:ext uri="{FF2B5EF4-FFF2-40B4-BE49-F238E27FC236}">
                <a16:creationId xmlns:a16="http://schemas.microsoft.com/office/drawing/2014/main" id="{B0D6708A-1A30-517C-70C4-DFE72EDAA9EC}"/>
              </a:ext>
            </a:extLst>
          </p:cNvPr>
          <p:cNvGraphicFramePr>
            <a:graphicFrameLocks noGrp="1"/>
          </p:cNvGraphicFramePr>
          <p:nvPr>
            <p:extLst>
              <p:ext uri="{D42A27DB-BD31-4B8C-83A1-F6EECF244321}">
                <p14:modId xmlns:p14="http://schemas.microsoft.com/office/powerpoint/2010/main" val="4123623861"/>
              </p:ext>
            </p:extLst>
          </p:nvPr>
        </p:nvGraphicFramePr>
        <p:xfrm>
          <a:off x="588591" y="2569874"/>
          <a:ext cx="11251314" cy="2194560"/>
        </p:xfrm>
        <a:graphic>
          <a:graphicData uri="http://schemas.openxmlformats.org/drawingml/2006/table">
            <a:tbl>
              <a:tblPr/>
              <a:tblGrid>
                <a:gridCol w="1875219">
                  <a:extLst>
                    <a:ext uri="{9D8B030D-6E8A-4147-A177-3AD203B41FA5}">
                      <a16:colId xmlns:a16="http://schemas.microsoft.com/office/drawing/2014/main" val="1511718706"/>
                    </a:ext>
                  </a:extLst>
                </a:gridCol>
                <a:gridCol w="1875219">
                  <a:extLst>
                    <a:ext uri="{9D8B030D-6E8A-4147-A177-3AD203B41FA5}">
                      <a16:colId xmlns:a16="http://schemas.microsoft.com/office/drawing/2014/main" val="3030458295"/>
                    </a:ext>
                  </a:extLst>
                </a:gridCol>
                <a:gridCol w="1875219">
                  <a:extLst>
                    <a:ext uri="{9D8B030D-6E8A-4147-A177-3AD203B41FA5}">
                      <a16:colId xmlns:a16="http://schemas.microsoft.com/office/drawing/2014/main" val="2576411354"/>
                    </a:ext>
                  </a:extLst>
                </a:gridCol>
                <a:gridCol w="1875219">
                  <a:extLst>
                    <a:ext uri="{9D8B030D-6E8A-4147-A177-3AD203B41FA5}">
                      <a16:colId xmlns:a16="http://schemas.microsoft.com/office/drawing/2014/main" val="2920899207"/>
                    </a:ext>
                  </a:extLst>
                </a:gridCol>
                <a:gridCol w="1875219">
                  <a:extLst>
                    <a:ext uri="{9D8B030D-6E8A-4147-A177-3AD203B41FA5}">
                      <a16:colId xmlns:a16="http://schemas.microsoft.com/office/drawing/2014/main" val="1151477551"/>
                    </a:ext>
                  </a:extLst>
                </a:gridCol>
                <a:gridCol w="1875219">
                  <a:extLst>
                    <a:ext uri="{9D8B030D-6E8A-4147-A177-3AD203B41FA5}">
                      <a16:colId xmlns:a16="http://schemas.microsoft.com/office/drawing/2014/main" val="3752073226"/>
                    </a:ext>
                  </a:extLst>
                </a:gridCol>
              </a:tblGrid>
              <a:tr h="0">
                <a:tc>
                  <a:txBody>
                    <a:bodyPr/>
                    <a:lstStyle/>
                    <a:p>
                      <a:r>
                        <a:rPr lang="en-GB" b="0" i="1" dirty="0" err="1">
                          <a:latin typeface="Bahnschrift SemiLight" panose="020B0502040204020203" pitchFamily="34" charset="0"/>
                        </a:rPr>
                        <a:t>Certifi</a:t>
                      </a:r>
                      <a:r>
                        <a:rPr lang="hr-HR" b="0" i="1" dirty="0" err="1">
                          <a:latin typeface="Bahnschrift SemiLight" panose="020B0502040204020203" pitchFamily="34" charset="0"/>
                        </a:rPr>
                        <a:t>kacija</a:t>
                      </a:r>
                      <a:endParaRPr lang="en-GB" b="0" i="1" dirty="0">
                        <a:latin typeface="Bahnschrift SemiLight" panose="020B0502040204020203" pitchFamily="34" charset="0"/>
                      </a:endParaRPr>
                    </a:p>
                  </a:txBody>
                  <a:tcPr anchor="ctr">
                    <a:lnL>
                      <a:noFill/>
                    </a:lnL>
                    <a:lnR>
                      <a:noFill/>
                    </a:lnR>
                    <a:lnT>
                      <a:noFill/>
                    </a:lnT>
                    <a:lnB>
                      <a:noFill/>
                    </a:lnB>
                    <a:noFill/>
                  </a:tcPr>
                </a:tc>
                <a:tc>
                  <a:txBody>
                    <a:bodyPr/>
                    <a:lstStyle/>
                    <a:p>
                      <a:r>
                        <a:rPr lang="en-GB" i="1" dirty="0" err="1">
                          <a:latin typeface="Bahnschrift SemiLight" panose="020B0502040204020203" pitchFamily="34" charset="0"/>
                        </a:rPr>
                        <a:t>Organiza</a:t>
                      </a:r>
                      <a:r>
                        <a:rPr lang="hr-HR" i="1" dirty="0" err="1">
                          <a:latin typeface="Bahnschrift SemiLight" panose="020B0502040204020203" pitchFamily="34" charset="0"/>
                        </a:rPr>
                        <a:t>cija</a:t>
                      </a:r>
                      <a:endParaRPr lang="en-GB" i="1" dirty="0">
                        <a:latin typeface="Bahnschrift SemiLight" panose="020B0502040204020203" pitchFamily="34" charset="0"/>
                      </a:endParaRPr>
                    </a:p>
                  </a:txBody>
                  <a:tcPr anchor="ctr">
                    <a:lnL>
                      <a:noFill/>
                    </a:lnL>
                    <a:lnR>
                      <a:noFill/>
                    </a:lnR>
                    <a:lnT>
                      <a:noFill/>
                    </a:lnT>
                    <a:lnB>
                      <a:noFill/>
                    </a:lnB>
                    <a:noFill/>
                  </a:tcPr>
                </a:tc>
                <a:tc>
                  <a:txBody>
                    <a:bodyPr/>
                    <a:lstStyle/>
                    <a:p>
                      <a:r>
                        <a:rPr lang="hr-HR" i="1" dirty="0">
                          <a:latin typeface="Bahnschrift SemiLight" panose="020B0502040204020203" pitchFamily="34" charset="0"/>
                        </a:rPr>
                        <a:t>Razina</a:t>
                      </a:r>
                      <a:endParaRPr lang="en-GB" i="1" dirty="0">
                        <a:latin typeface="Bahnschrift SemiLight" panose="020B0502040204020203" pitchFamily="34" charset="0"/>
                      </a:endParaRPr>
                    </a:p>
                  </a:txBody>
                  <a:tcPr anchor="ctr">
                    <a:lnL>
                      <a:noFill/>
                    </a:lnL>
                    <a:lnR>
                      <a:noFill/>
                    </a:lnR>
                    <a:lnT>
                      <a:noFill/>
                    </a:lnT>
                    <a:lnB>
                      <a:noFill/>
                    </a:lnB>
                    <a:noFill/>
                  </a:tcPr>
                </a:tc>
                <a:tc>
                  <a:txBody>
                    <a:bodyPr/>
                    <a:lstStyle/>
                    <a:p>
                      <a:r>
                        <a:rPr lang="hr-HR" i="1" dirty="0">
                          <a:latin typeface="Bahnschrift SemiLight" panose="020B0502040204020203" pitchFamily="34" charset="0"/>
                        </a:rPr>
                        <a:t>Obnova</a:t>
                      </a:r>
                      <a:endParaRPr lang="en-GB" i="1" dirty="0">
                        <a:latin typeface="Bahnschrift SemiLight" panose="020B0502040204020203" pitchFamily="34" charset="0"/>
                      </a:endParaRPr>
                    </a:p>
                  </a:txBody>
                  <a:tcPr anchor="ctr">
                    <a:lnL>
                      <a:noFill/>
                    </a:lnL>
                    <a:lnR>
                      <a:noFill/>
                    </a:lnR>
                    <a:lnT>
                      <a:noFill/>
                    </a:lnT>
                    <a:lnB>
                      <a:noFill/>
                    </a:lnB>
                    <a:noFill/>
                  </a:tcPr>
                </a:tc>
                <a:tc>
                  <a:txBody>
                    <a:bodyPr/>
                    <a:lstStyle/>
                    <a:p>
                      <a:r>
                        <a:rPr lang="hr-HR" i="1" dirty="0">
                          <a:latin typeface="Bahnschrift SemiLight" panose="020B0502040204020203" pitchFamily="34" charset="0"/>
                        </a:rPr>
                        <a:t>Ispit</a:t>
                      </a:r>
                      <a:endParaRPr lang="en-GB" i="1" dirty="0">
                        <a:latin typeface="Bahnschrift SemiLight" panose="020B0502040204020203" pitchFamily="34" charset="0"/>
                      </a:endParaRPr>
                    </a:p>
                  </a:txBody>
                  <a:tcPr anchor="ctr">
                    <a:lnL>
                      <a:noFill/>
                    </a:lnL>
                    <a:lnR>
                      <a:noFill/>
                    </a:lnR>
                    <a:lnT>
                      <a:noFill/>
                    </a:lnT>
                    <a:lnB>
                      <a:noFill/>
                    </a:lnB>
                    <a:noFill/>
                  </a:tcPr>
                </a:tc>
                <a:tc>
                  <a:txBody>
                    <a:bodyPr/>
                    <a:lstStyle/>
                    <a:p>
                      <a:r>
                        <a:rPr lang="hr-HR" i="1" dirty="0">
                          <a:latin typeface="Bahnschrift SemiLight" panose="020B0502040204020203" pitchFamily="34" charset="0"/>
                        </a:rPr>
                        <a:t>Priznatost</a:t>
                      </a:r>
                      <a:endParaRPr lang="en-GB" i="1" dirty="0">
                        <a:latin typeface="Bahnschrift SemiLight" panose="020B0502040204020203" pitchFamily="34" charset="0"/>
                      </a:endParaRPr>
                    </a:p>
                  </a:txBody>
                  <a:tcPr anchor="ctr">
                    <a:lnL>
                      <a:noFill/>
                    </a:lnL>
                    <a:lnR>
                      <a:noFill/>
                    </a:lnR>
                    <a:lnT>
                      <a:noFill/>
                    </a:lnT>
                    <a:lnB>
                      <a:noFill/>
                    </a:lnB>
                    <a:noFill/>
                  </a:tcPr>
                </a:tc>
                <a:extLst>
                  <a:ext uri="{0D108BD9-81ED-4DB2-BD59-A6C34878D82A}">
                    <a16:rowId xmlns:a16="http://schemas.microsoft.com/office/drawing/2014/main" val="1462155171"/>
                  </a:ext>
                </a:extLst>
              </a:tr>
              <a:tr h="0">
                <a:tc>
                  <a:txBody>
                    <a:bodyPr/>
                    <a:lstStyle/>
                    <a:p>
                      <a:r>
                        <a:rPr lang="en-GB" b="1">
                          <a:latin typeface="Bahnschrift SemiLight" panose="020B0502040204020203" pitchFamily="34" charset="0"/>
                        </a:rPr>
                        <a:t>CSM</a:t>
                      </a:r>
                      <a:endParaRPr lang="en-GB">
                        <a:latin typeface="Bahnschrift SemiLight" panose="020B0502040204020203" pitchFamily="34" charset="0"/>
                      </a:endParaRPr>
                    </a:p>
                  </a:txBody>
                  <a:tcPr anchor="ctr">
                    <a:lnL>
                      <a:noFill/>
                    </a:lnL>
                    <a:lnR>
                      <a:noFill/>
                    </a:lnR>
                    <a:lnT>
                      <a:noFill/>
                    </a:lnT>
                    <a:lnB>
                      <a:noFill/>
                    </a:lnB>
                    <a:noFill/>
                  </a:tcPr>
                </a:tc>
                <a:tc>
                  <a:txBody>
                    <a:bodyPr/>
                    <a:lstStyle/>
                    <a:p>
                      <a:r>
                        <a:rPr lang="en-GB" dirty="0">
                          <a:latin typeface="Bahnschrift SemiLight" panose="020B0502040204020203" pitchFamily="34" charset="0"/>
                        </a:rPr>
                        <a:t>Scrum Alliance</a:t>
                      </a:r>
                    </a:p>
                  </a:txBody>
                  <a:tcPr anchor="ctr">
                    <a:lnL>
                      <a:noFill/>
                    </a:lnL>
                    <a:lnR>
                      <a:noFill/>
                    </a:lnR>
                    <a:lnT>
                      <a:noFill/>
                    </a:lnT>
                    <a:lnB>
                      <a:noFill/>
                    </a:lnB>
                    <a:noFill/>
                  </a:tcPr>
                </a:tc>
                <a:tc>
                  <a:txBody>
                    <a:bodyPr/>
                    <a:lstStyle/>
                    <a:p>
                      <a:r>
                        <a:rPr lang="hr-HR" dirty="0">
                          <a:latin typeface="Bahnschrift SemiLight" panose="020B0502040204020203" pitchFamily="34" charset="0"/>
                        </a:rPr>
                        <a:t>Početna</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hr-HR" dirty="0">
                          <a:latin typeface="Bahnschrift SemiLight" panose="020B0502040204020203" pitchFamily="34" charset="0"/>
                        </a:rPr>
                        <a:t>Da</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hr-HR" dirty="0">
                          <a:latin typeface="Bahnschrift SemiLight" panose="020B0502040204020203" pitchFamily="34" charset="0"/>
                        </a:rPr>
                        <a:t>Da</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en-GB">
                          <a:latin typeface="Bahnschrift SemiLight" panose="020B0502040204020203" pitchFamily="34" charset="0"/>
                        </a:rPr>
                        <a:t>✅✅✅</a:t>
                      </a:r>
                    </a:p>
                  </a:txBody>
                  <a:tcPr anchor="ctr">
                    <a:lnL>
                      <a:noFill/>
                    </a:lnL>
                    <a:lnR>
                      <a:noFill/>
                    </a:lnR>
                    <a:lnT>
                      <a:noFill/>
                    </a:lnT>
                    <a:lnB>
                      <a:noFill/>
                    </a:lnB>
                    <a:noFill/>
                  </a:tcPr>
                </a:tc>
                <a:extLst>
                  <a:ext uri="{0D108BD9-81ED-4DB2-BD59-A6C34878D82A}">
                    <a16:rowId xmlns:a16="http://schemas.microsoft.com/office/drawing/2014/main" val="3488222410"/>
                  </a:ext>
                </a:extLst>
              </a:tr>
              <a:tr h="0">
                <a:tc>
                  <a:txBody>
                    <a:bodyPr/>
                    <a:lstStyle/>
                    <a:p>
                      <a:r>
                        <a:rPr lang="en-GB" b="1">
                          <a:latin typeface="Bahnschrift SemiLight" panose="020B0502040204020203" pitchFamily="34" charset="0"/>
                        </a:rPr>
                        <a:t>PSM I</a:t>
                      </a:r>
                      <a:endParaRPr lang="en-GB">
                        <a:latin typeface="Bahnschrift SemiLight" panose="020B0502040204020203" pitchFamily="34" charset="0"/>
                      </a:endParaRPr>
                    </a:p>
                  </a:txBody>
                  <a:tcPr anchor="ctr">
                    <a:lnL>
                      <a:noFill/>
                    </a:lnL>
                    <a:lnR>
                      <a:noFill/>
                    </a:lnR>
                    <a:lnT>
                      <a:noFill/>
                    </a:lnT>
                    <a:lnB>
                      <a:noFill/>
                    </a:lnB>
                    <a:noFill/>
                  </a:tcPr>
                </a:tc>
                <a:tc>
                  <a:txBody>
                    <a:bodyPr/>
                    <a:lstStyle/>
                    <a:p>
                      <a:r>
                        <a:rPr lang="en-GB">
                          <a:latin typeface="Bahnschrift SemiLight" panose="020B0502040204020203" pitchFamily="34" charset="0"/>
                        </a:rPr>
                        <a:t>Scrum.org</a:t>
                      </a:r>
                    </a:p>
                  </a:txBody>
                  <a:tcPr anchor="ctr">
                    <a:lnL>
                      <a:noFill/>
                    </a:lnL>
                    <a:lnR>
                      <a:noFill/>
                    </a:lnR>
                    <a:lnT>
                      <a:noFill/>
                    </a:lnT>
                    <a:lnB>
                      <a:noFill/>
                    </a:lnB>
                    <a:noFill/>
                  </a:tcPr>
                </a:tc>
                <a:tc>
                  <a:txBody>
                    <a:bodyPr/>
                    <a:lstStyle/>
                    <a:p>
                      <a:r>
                        <a:rPr lang="hr-HR" dirty="0">
                          <a:latin typeface="Bahnschrift SemiLight" panose="020B0502040204020203" pitchFamily="34" charset="0"/>
                        </a:rPr>
                        <a:t>Početna</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en-GB" dirty="0">
                          <a:latin typeface="Bahnschrift SemiLight" panose="020B0502040204020203" pitchFamily="34" charset="0"/>
                        </a:rPr>
                        <a:t>N</a:t>
                      </a:r>
                      <a:r>
                        <a:rPr lang="hr-HR" dirty="0">
                          <a:latin typeface="Bahnschrift SemiLight" panose="020B0502040204020203" pitchFamily="34" charset="0"/>
                        </a:rPr>
                        <a:t>e</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hr-HR" dirty="0">
                          <a:latin typeface="Bahnschrift SemiLight" panose="020B0502040204020203" pitchFamily="34" charset="0"/>
                        </a:rPr>
                        <a:t>Da</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en-GB">
                          <a:latin typeface="Bahnschrift SemiLight" panose="020B0502040204020203" pitchFamily="34" charset="0"/>
                        </a:rPr>
                        <a:t>✅✅✅</a:t>
                      </a:r>
                    </a:p>
                  </a:txBody>
                  <a:tcPr anchor="ctr">
                    <a:lnL>
                      <a:noFill/>
                    </a:lnL>
                    <a:lnR>
                      <a:noFill/>
                    </a:lnR>
                    <a:lnT>
                      <a:noFill/>
                    </a:lnT>
                    <a:lnB>
                      <a:noFill/>
                    </a:lnB>
                    <a:noFill/>
                  </a:tcPr>
                </a:tc>
                <a:extLst>
                  <a:ext uri="{0D108BD9-81ED-4DB2-BD59-A6C34878D82A}">
                    <a16:rowId xmlns:a16="http://schemas.microsoft.com/office/drawing/2014/main" val="3513966400"/>
                  </a:ext>
                </a:extLst>
              </a:tr>
              <a:tr h="0">
                <a:tc>
                  <a:txBody>
                    <a:bodyPr/>
                    <a:lstStyle/>
                    <a:p>
                      <a:r>
                        <a:rPr lang="en-GB" b="1">
                          <a:latin typeface="Bahnschrift SemiLight" panose="020B0502040204020203" pitchFamily="34" charset="0"/>
                        </a:rPr>
                        <a:t>PSM II/III</a:t>
                      </a:r>
                      <a:endParaRPr lang="en-GB">
                        <a:latin typeface="Bahnschrift SemiLight" panose="020B0502040204020203" pitchFamily="34" charset="0"/>
                      </a:endParaRPr>
                    </a:p>
                  </a:txBody>
                  <a:tcPr anchor="ctr">
                    <a:lnL>
                      <a:noFill/>
                    </a:lnL>
                    <a:lnR>
                      <a:noFill/>
                    </a:lnR>
                    <a:lnT>
                      <a:noFill/>
                    </a:lnT>
                    <a:lnB>
                      <a:noFill/>
                    </a:lnB>
                    <a:noFill/>
                  </a:tcPr>
                </a:tc>
                <a:tc>
                  <a:txBody>
                    <a:bodyPr/>
                    <a:lstStyle/>
                    <a:p>
                      <a:r>
                        <a:rPr lang="en-GB">
                          <a:latin typeface="Bahnschrift SemiLight" panose="020B0502040204020203" pitchFamily="34" charset="0"/>
                        </a:rPr>
                        <a:t>Scrum.org</a:t>
                      </a:r>
                    </a:p>
                  </a:txBody>
                  <a:tcPr anchor="ctr">
                    <a:lnL>
                      <a:noFill/>
                    </a:lnL>
                    <a:lnR>
                      <a:noFill/>
                    </a:lnR>
                    <a:lnT>
                      <a:noFill/>
                    </a:lnT>
                    <a:lnB>
                      <a:noFill/>
                    </a:lnB>
                    <a:noFill/>
                  </a:tcPr>
                </a:tc>
                <a:tc>
                  <a:txBody>
                    <a:bodyPr/>
                    <a:lstStyle/>
                    <a:p>
                      <a:r>
                        <a:rPr lang="hr-HR" dirty="0">
                          <a:latin typeface="Bahnschrift SemiLight" panose="020B0502040204020203" pitchFamily="34" charset="0"/>
                        </a:rPr>
                        <a:t>Napredna</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en-GB" dirty="0">
                          <a:latin typeface="Bahnschrift SemiLight" panose="020B0502040204020203" pitchFamily="34" charset="0"/>
                        </a:rPr>
                        <a:t>N</a:t>
                      </a:r>
                      <a:r>
                        <a:rPr lang="hr-HR" dirty="0">
                          <a:latin typeface="Bahnschrift SemiLight" panose="020B0502040204020203" pitchFamily="34" charset="0"/>
                        </a:rPr>
                        <a:t>e</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hr-HR" dirty="0">
                          <a:latin typeface="Bahnschrift SemiLight" panose="020B0502040204020203" pitchFamily="34" charset="0"/>
                        </a:rPr>
                        <a:t>Da</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en-GB" dirty="0">
                          <a:latin typeface="Bahnschrift SemiLight" panose="020B0502040204020203" pitchFamily="34" charset="0"/>
                        </a:rPr>
                        <a:t>✅✅</a:t>
                      </a:r>
                    </a:p>
                  </a:txBody>
                  <a:tcPr anchor="ctr">
                    <a:lnL>
                      <a:noFill/>
                    </a:lnL>
                    <a:lnR>
                      <a:noFill/>
                    </a:lnR>
                    <a:lnT>
                      <a:noFill/>
                    </a:lnT>
                    <a:lnB>
                      <a:noFill/>
                    </a:lnB>
                    <a:noFill/>
                  </a:tcPr>
                </a:tc>
                <a:extLst>
                  <a:ext uri="{0D108BD9-81ED-4DB2-BD59-A6C34878D82A}">
                    <a16:rowId xmlns:a16="http://schemas.microsoft.com/office/drawing/2014/main" val="1944703567"/>
                  </a:ext>
                </a:extLst>
              </a:tr>
              <a:tr h="0">
                <a:tc>
                  <a:txBody>
                    <a:bodyPr/>
                    <a:lstStyle/>
                    <a:p>
                      <a:r>
                        <a:rPr lang="en-GB" b="1">
                          <a:latin typeface="Bahnschrift SemiLight" panose="020B0502040204020203" pitchFamily="34" charset="0"/>
                        </a:rPr>
                        <a:t>SSM</a:t>
                      </a:r>
                      <a:endParaRPr lang="en-GB">
                        <a:latin typeface="Bahnschrift SemiLight" panose="020B0502040204020203" pitchFamily="34" charset="0"/>
                      </a:endParaRPr>
                    </a:p>
                  </a:txBody>
                  <a:tcPr anchor="ctr">
                    <a:lnL>
                      <a:noFill/>
                    </a:lnL>
                    <a:lnR>
                      <a:noFill/>
                    </a:lnR>
                    <a:lnT>
                      <a:noFill/>
                    </a:lnT>
                    <a:lnB>
                      <a:noFill/>
                    </a:lnB>
                    <a:noFill/>
                  </a:tcPr>
                </a:tc>
                <a:tc>
                  <a:txBody>
                    <a:bodyPr/>
                    <a:lstStyle/>
                    <a:p>
                      <a:r>
                        <a:rPr lang="en-GB">
                          <a:latin typeface="Bahnschrift SemiLight" panose="020B0502040204020203" pitchFamily="34" charset="0"/>
                        </a:rPr>
                        <a:t>Scaled Agile</a:t>
                      </a:r>
                    </a:p>
                  </a:txBody>
                  <a:tcPr anchor="ctr">
                    <a:lnL>
                      <a:noFill/>
                    </a:lnL>
                    <a:lnR>
                      <a:noFill/>
                    </a:lnR>
                    <a:lnT>
                      <a:noFill/>
                    </a:lnT>
                    <a:lnB>
                      <a:noFill/>
                    </a:lnB>
                    <a:noFill/>
                  </a:tcPr>
                </a:tc>
                <a:tc>
                  <a:txBody>
                    <a:bodyPr/>
                    <a:lstStyle/>
                    <a:p>
                      <a:r>
                        <a:rPr lang="hr-HR" dirty="0">
                          <a:latin typeface="Bahnschrift SemiLight" panose="020B0502040204020203" pitchFamily="34" charset="0"/>
                        </a:rPr>
                        <a:t>Srednja</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hr-HR" dirty="0">
                          <a:latin typeface="Bahnschrift SemiLight" panose="020B0502040204020203" pitchFamily="34" charset="0"/>
                        </a:rPr>
                        <a:t>Da</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hr-HR" dirty="0">
                          <a:latin typeface="Bahnschrift SemiLight" panose="020B0502040204020203" pitchFamily="34" charset="0"/>
                        </a:rPr>
                        <a:t>Da</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en-GB" dirty="0">
                          <a:latin typeface="Bahnschrift SemiLight" panose="020B0502040204020203" pitchFamily="34" charset="0"/>
                        </a:rPr>
                        <a:t>✅✅</a:t>
                      </a:r>
                    </a:p>
                  </a:txBody>
                  <a:tcPr anchor="ctr">
                    <a:lnL>
                      <a:noFill/>
                    </a:lnL>
                    <a:lnR>
                      <a:noFill/>
                    </a:lnR>
                    <a:lnT>
                      <a:noFill/>
                    </a:lnT>
                    <a:lnB>
                      <a:noFill/>
                    </a:lnB>
                    <a:noFill/>
                  </a:tcPr>
                </a:tc>
                <a:extLst>
                  <a:ext uri="{0D108BD9-81ED-4DB2-BD59-A6C34878D82A}">
                    <a16:rowId xmlns:a16="http://schemas.microsoft.com/office/drawing/2014/main" val="4005478811"/>
                  </a:ext>
                </a:extLst>
              </a:tr>
              <a:tr h="0">
                <a:tc>
                  <a:txBody>
                    <a:bodyPr/>
                    <a:lstStyle/>
                    <a:p>
                      <a:r>
                        <a:rPr lang="en-GB" b="1">
                          <a:latin typeface="Bahnschrift SemiLight" panose="020B0502040204020203" pitchFamily="34" charset="0"/>
                        </a:rPr>
                        <a:t>SMC</a:t>
                      </a:r>
                      <a:endParaRPr lang="en-GB">
                        <a:latin typeface="Bahnschrift SemiLight" panose="020B0502040204020203" pitchFamily="34" charset="0"/>
                      </a:endParaRPr>
                    </a:p>
                  </a:txBody>
                  <a:tcPr anchor="ctr">
                    <a:lnL>
                      <a:noFill/>
                    </a:lnL>
                    <a:lnR>
                      <a:noFill/>
                    </a:lnR>
                    <a:lnT>
                      <a:noFill/>
                    </a:lnT>
                    <a:lnB>
                      <a:noFill/>
                    </a:lnB>
                    <a:noFill/>
                  </a:tcPr>
                </a:tc>
                <a:tc>
                  <a:txBody>
                    <a:bodyPr/>
                    <a:lstStyle/>
                    <a:p>
                      <a:r>
                        <a:rPr lang="en-GB">
                          <a:latin typeface="Bahnschrift SemiLight" panose="020B0502040204020203" pitchFamily="34" charset="0"/>
                        </a:rPr>
                        <a:t>SCRUMstudy</a:t>
                      </a:r>
                    </a:p>
                  </a:txBody>
                  <a:tcPr anchor="ctr">
                    <a:lnL>
                      <a:noFill/>
                    </a:lnL>
                    <a:lnR>
                      <a:noFill/>
                    </a:lnR>
                    <a:lnT>
                      <a:noFill/>
                    </a:lnT>
                    <a:lnB>
                      <a:noFill/>
                    </a:lnB>
                    <a:noFill/>
                  </a:tcPr>
                </a:tc>
                <a:tc>
                  <a:txBody>
                    <a:bodyPr/>
                    <a:lstStyle/>
                    <a:p>
                      <a:r>
                        <a:rPr lang="hr-HR" dirty="0">
                          <a:latin typeface="Bahnschrift SemiLight" panose="020B0502040204020203" pitchFamily="34" charset="0"/>
                        </a:rPr>
                        <a:t>Početna</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hr-HR" dirty="0">
                          <a:latin typeface="Bahnschrift SemiLight" panose="020B0502040204020203" pitchFamily="34" charset="0"/>
                        </a:rPr>
                        <a:t>Da</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hr-HR" dirty="0">
                          <a:latin typeface="Bahnschrift SemiLight" panose="020B0502040204020203" pitchFamily="34" charset="0"/>
                        </a:rPr>
                        <a:t>Da</a:t>
                      </a:r>
                      <a:endParaRPr lang="en-GB" dirty="0">
                        <a:latin typeface="Bahnschrift SemiLight" panose="020B0502040204020203" pitchFamily="34" charset="0"/>
                      </a:endParaRPr>
                    </a:p>
                  </a:txBody>
                  <a:tcPr anchor="ctr">
                    <a:lnL>
                      <a:noFill/>
                    </a:lnL>
                    <a:lnR>
                      <a:noFill/>
                    </a:lnR>
                    <a:lnT>
                      <a:noFill/>
                    </a:lnT>
                    <a:lnB>
                      <a:noFill/>
                    </a:lnB>
                    <a:noFill/>
                  </a:tcPr>
                </a:tc>
                <a:tc>
                  <a:txBody>
                    <a:bodyPr/>
                    <a:lstStyle/>
                    <a:p>
                      <a:r>
                        <a:rPr lang="en-GB" dirty="0">
                          <a:latin typeface="Bahnschrift SemiLight" panose="020B0502040204020203" pitchFamily="34" charset="0"/>
                        </a:rPr>
                        <a:t>✅ (</a:t>
                      </a:r>
                      <a:r>
                        <a:rPr lang="hr-HR" dirty="0">
                          <a:latin typeface="Bahnschrift SemiLight" panose="020B0502040204020203" pitchFamily="34" charset="0"/>
                        </a:rPr>
                        <a:t>rjeđe</a:t>
                      </a:r>
                      <a:r>
                        <a:rPr lang="en-GB" dirty="0">
                          <a:latin typeface="Bahnschrift SemiLight" panose="020B0502040204020203" pitchFamily="34" charset="0"/>
                        </a:rPr>
                        <a:t>)</a:t>
                      </a:r>
                    </a:p>
                  </a:txBody>
                  <a:tcPr anchor="ctr">
                    <a:lnL>
                      <a:noFill/>
                    </a:lnL>
                    <a:lnR>
                      <a:noFill/>
                    </a:lnR>
                    <a:lnT>
                      <a:noFill/>
                    </a:lnT>
                    <a:lnB>
                      <a:noFill/>
                    </a:lnB>
                    <a:noFill/>
                  </a:tcPr>
                </a:tc>
                <a:extLst>
                  <a:ext uri="{0D108BD9-81ED-4DB2-BD59-A6C34878D82A}">
                    <a16:rowId xmlns:a16="http://schemas.microsoft.com/office/drawing/2014/main" val="1307825767"/>
                  </a:ext>
                </a:extLst>
              </a:tr>
            </a:tbl>
          </a:graphicData>
        </a:graphic>
      </p:graphicFrame>
      <p:sp>
        <p:nvSpPr>
          <p:cNvPr id="3" name="Segnaposto contenuto 2">
            <a:extLst>
              <a:ext uri="{FF2B5EF4-FFF2-40B4-BE49-F238E27FC236}">
                <a16:creationId xmlns:a16="http://schemas.microsoft.com/office/drawing/2014/main" id="{70AAABAE-9332-747E-85B5-DFD1BCF5DD17}"/>
              </a:ext>
            </a:extLst>
          </p:cNvPr>
          <p:cNvSpPr txBox="1">
            <a:spLocks/>
          </p:cNvSpPr>
          <p:nvPr/>
        </p:nvSpPr>
        <p:spPr>
          <a:xfrm>
            <a:off x="588591" y="5537067"/>
            <a:ext cx="5625509" cy="2294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900" dirty="0"/>
              <a:t>Source: table created by </a:t>
            </a:r>
            <a:r>
              <a:rPr lang="en-GB" sz="900" i="1" dirty="0" err="1"/>
              <a:t>EGInA</a:t>
            </a:r>
            <a:r>
              <a:rPr lang="en-GB" sz="900" i="1" dirty="0"/>
              <a:t> </a:t>
            </a:r>
            <a:r>
              <a:rPr lang="en-GB" sz="900" i="1" dirty="0" err="1"/>
              <a:t>Srl</a:t>
            </a:r>
            <a:r>
              <a:rPr lang="en-GB" sz="900" i="1" dirty="0"/>
              <a:t> </a:t>
            </a:r>
            <a:r>
              <a:rPr lang="en-GB" sz="900" dirty="0"/>
              <a:t>(</a:t>
            </a:r>
            <a:r>
              <a:rPr lang="en-GB" sz="900" dirty="0">
                <a:hlinkClick r:id="rId3"/>
              </a:rPr>
              <a:t>https://www.egina.eu/</a:t>
            </a:r>
            <a:r>
              <a:rPr lang="en-GB" sz="900" dirty="0"/>
              <a:t>) </a:t>
            </a:r>
          </a:p>
        </p:txBody>
      </p:sp>
    </p:spTree>
    <p:extLst>
      <p:ext uri="{BB962C8B-B14F-4D97-AF65-F5344CB8AC3E}">
        <p14:creationId xmlns:p14="http://schemas.microsoft.com/office/powerpoint/2010/main" val="20114881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1341C-AD77-09B7-7CF2-BDFC5E8FCEC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2014CC0-F60F-069C-049C-6DC3FC3FAB22}"/>
              </a:ext>
            </a:extLst>
          </p:cNvPr>
          <p:cNvSpPr>
            <a:spLocks noGrp="1"/>
          </p:cNvSpPr>
          <p:nvPr>
            <p:ph type="title"/>
          </p:nvPr>
        </p:nvSpPr>
        <p:spPr/>
        <p:txBody>
          <a:bodyPr/>
          <a:lstStyle/>
          <a:p>
            <a:r>
              <a:rPr lang="hr-HR" dirty="0"/>
              <a:t>Odabir odgovarajućeg </a:t>
            </a:r>
            <a:r>
              <a:rPr lang="hr-HR" dirty="0" err="1"/>
              <a:t>Scrum</a:t>
            </a:r>
            <a:r>
              <a:rPr lang="hr-HR" dirty="0"/>
              <a:t> Master certifikata</a:t>
            </a:r>
            <a:endParaRPr lang="en-GB" dirty="0"/>
          </a:p>
        </p:txBody>
      </p:sp>
      <p:sp>
        <p:nvSpPr>
          <p:cNvPr id="4" name="Rectangle 1">
            <a:extLst>
              <a:ext uri="{FF2B5EF4-FFF2-40B4-BE49-F238E27FC236}">
                <a16:creationId xmlns:a16="http://schemas.microsoft.com/office/drawing/2014/main" id="{18CEF841-7515-AF88-3673-AAE08271B113}"/>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CBE3374E-A74B-F7C1-67B1-400709BD5DD2}"/>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AD3FDC4C-4D12-9D33-864A-60957BE1BD3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94756C7A-0558-2CCE-AAFC-6B01C32481BC}"/>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ounded Rectangle 2">
            <a:extLst>
              <a:ext uri="{FF2B5EF4-FFF2-40B4-BE49-F238E27FC236}">
                <a16:creationId xmlns:a16="http://schemas.microsoft.com/office/drawing/2014/main" id="{BDF72476-F588-FDC6-BFA7-89300FF8C4C3}"/>
              </a:ext>
            </a:extLst>
          </p:cNvPr>
          <p:cNvSpPr/>
          <p:nvPr/>
        </p:nvSpPr>
        <p:spPr>
          <a:xfrm>
            <a:off x="1773253" y="2197237"/>
            <a:ext cx="1573280" cy="1679248"/>
          </a:xfrm>
          <a:prstGeom prst="roundRect">
            <a:avLst/>
          </a:prstGeom>
          <a:solidFill>
            <a:srgbClr val="DC56F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pPr>
            <a:r>
              <a:rPr dirty="0">
                <a:latin typeface="Bahnschrift Light" panose="020B0502040204020203" pitchFamily="34" charset="0"/>
              </a:rPr>
              <a:t>CSM</a:t>
            </a:r>
          </a:p>
          <a:p>
            <a:pPr algn="ctr">
              <a:defRPr sz="1100"/>
            </a:pPr>
            <a:r>
              <a:rPr lang="hr-HR" dirty="0">
                <a:latin typeface="Bahnschrift Light" panose="020B0502040204020203" pitchFamily="34" charset="0"/>
              </a:rPr>
              <a:t>Najbolji za početnike, široko priznat</a:t>
            </a:r>
            <a:endParaRPr dirty="0">
              <a:latin typeface="Bahnschrift Light" panose="020B0502040204020203" pitchFamily="34" charset="0"/>
            </a:endParaRPr>
          </a:p>
        </p:txBody>
      </p:sp>
      <p:sp>
        <p:nvSpPr>
          <p:cNvPr id="11" name="Rounded Rectangle 3">
            <a:extLst>
              <a:ext uri="{FF2B5EF4-FFF2-40B4-BE49-F238E27FC236}">
                <a16:creationId xmlns:a16="http://schemas.microsoft.com/office/drawing/2014/main" id="{CBD5D474-F5E3-957A-76D9-338F61351D00}"/>
              </a:ext>
            </a:extLst>
          </p:cNvPr>
          <p:cNvSpPr/>
          <p:nvPr/>
        </p:nvSpPr>
        <p:spPr>
          <a:xfrm>
            <a:off x="3419173" y="2197237"/>
            <a:ext cx="1573280" cy="1679248"/>
          </a:xfrm>
          <a:prstGeom prst="roundRect">
            <a:avLst/>
          </a:prstGeom>
          <a:solidFill>
            <a:srgbClr val="DC56F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pPr>
            <a:r>
              <a:rPr dirty="0">
                <a:latin typeface="Bahnschrift Light" panose="020B0502040204020203" pitchFamily="34" charset="0"/>
              </a:rPr>
              <a:t>PSM I</a:t>
            </a:r>
          </a:p>
          <a:p>
            <a:pPr algn="ctr">
              <a:defRPr sz="1100"/>
            </a:pPr>
            <a:r>
              <a:rPr lang="hr-HR" dirty="0">
                <a:latin typeface="Bahnschrift Light" panose="020B0502040204020203" pitchFamily="34" charset="0"/>
              </a:rPr>
              <a:t>Naglasak na teoriji, bez obnove</a:t>
            </a:r>
            <a:endParaRPr dirty="0">
              <a:latin typeface="Bahnschrift Light" panose="020B0502040204020203" pitchFamily="34" charset="0"/>
            </a:endParaRPr>
          </a:p>
        </p:txBody>
      </p:sp>
      <p:sp>
        <p:nvSpPr>
          <p:cNvPr id="12" name="Rounded Rectangle 4">
            <a:extLst>
              <a:ext uri="{FF2B5EF4-FFF2-40B4-BE49-F238E27FC236}">
                <a16:creationId xmlns:a16="http://schemas.microsoft.com/office/drawing/2014/main" id="{BBBE8D54-5702-7316-4671-15E8D1BE00B6}"/>
              </a:ext>
            </a:extLst>
          </p:cNvPr>
          <p:cNvSpPr/>
          <p:nvPr/>
        </p:nvSpPr>
        <p:spPr>
          <a:xfrm>
            <a:off x="5065093" y="2197237"/>
            <a:ext cx="1573280" cy="1679248"/>
          </a:xfrm>
          <a:prstGeom prst="roundRect">
            <a:avLst/>
          </a:prstGeom>
          <a:solidFill>
            <a:srgbClr val="DC56F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pPr>
            <a:r>
              <a:rPr dirty="0">
                <a:latin typeface="Bahnschrift SemiLight" panose="020B0502040204020203" pitchFamily="34" charset="0"/>
              </a:rPr>
              <a:t>PSM II/III</a:t>
            </a:r>
          </a:p>
          <a:p>
            <a:pPr algn="ctr">
              <a:defRPr sz="1100"/>
            </a:pPr>
            <a:r>
              <a:rPr lang="hr-HR" dirty="0">
                <a:latin typeface="Bahnschrift SemiLight" panose="020B0502040204020203" pitchFamily="34" charset="0"/>
              </a:rPr>
              <a:t>Duboko stručno znanje, zahtjevni ispiti</a:t>
            </a:r>
            <a:endParaRPr dirty="0">
              <a:latin typeface="Bahnschrift SemiLight" panose="020B0502040204020203" pitchFamily="34" charset="0"/>
            </a:endParaRPr>
          </a:p>
        </p:txBody>
      </p:sp>
      <p:sp>
        <p:nvSpPr>
          <p:cNvPr id="13" name="Rounded Rectangle 5">
            <a:extLst>
              <a:ext uri="{FF2B5EF4-FFF2-40B4-BE49-F238E27FC236}">
                <a16:creationId xmlns:a16="http://schemas.microsoft.com/office/drawing/2014/main" id="{05078A18-CA7B-95BB-CD73-EAE53875CD09}"/>
              </a:ext>
            </a:extLst>
          </p:cNvPr>
          <p:cNvSpPr/>
          <p:nvPr/>
        </p:nvSpPr>
        <p:spPr>
          <a:xfrm>
            <a:off x="6711013" y="2197237"/>
            <a:ext cx="1573280" cy="1679248"/>
          </a:xfrm>
          <a:prstGeom prst="roundRect">
            <a:avLst/>
          </a:prstGeom>
          <a:solidFill>
            <a:srgbClr val="DC56F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pPr>
            <a:r>
              <a:rPr dirty="0">
                <a:latin typeface="Bahnschrift SemiLight" panose="020B0502040204020203" pitchFamily="34" charset="0"/>
              </a:rPr>
              <a:t>SSM</a:t>
            </a:r>
          </a:p>
          <a:p>
            <a:pPr algn="ctr">
              <a:defRPr sz="1100"/>
            </a:pPr>
            <a:r>
              <a:rPr dirty="0">
                <a:latin typeface="Bahnschrift SemiLight" panose="020B0502040204020203" pitchFamily="34" charset="0"/>
              </a:rPr>
              <a:t>Agile </a:t>
            </a:r>
            <a:r>
              <a:rPr lang="hr-HR" dirty="0">
                <a:latin typeface="Bahnschrift SemiLight" panose="020B0502040204020203" pitchFamily="34" charset="0"/>
              </a:rPr>
              <a:t>na razini koja odgovara tvrtkama</a:t>
            </a:r>
            <a:endParaRPr dirty="0">
              <a:latin typeface="Bahnschrift SemiLight" panose="020B0502040204020203" pitchFamily="34" charset="0"/>
            </a:endParaRPr>
          </a:p>
        </p:txBody>
      </p:sp>
      <p:sp>
        <p:nvSpPr>
          <p:cNvPr id="14" name="Rounded Rectangle 6">
            <a:extLst>
              <a:ext uri="{FF2B5EF4-FFF2-40B4-BE49-F238E27FC236}">
                <a16:creationId xmlns:a16="http://schemas.microsoft.com/office/drawing/2014/main" id="{F255E6A1-3417-2011-83F8-EBE33EC428FD}"/>
              </a:ext>
            </a:extLst>
          </p:cNvPr>
          <p:cNvSpPr/>
          <p:nvPr/>
        </p:nvSpPr>
        <p:spPr>
          <a:xfrm>
            <a:off x="8356933" y="2197237"/>
            <a:ext cx="1573280" cy="1679248"/>
          </a:xfrm>
          <a:prstGeom prst="roundRect">
            <a:avLst/>
          </a:prstGeom>
          <a:solidFill>
            <a:srgbClr val="DC56F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pPr>
            <a:r>
              <a:rPr dirty="0">
                <a:latin typeface="Bahnschrift SemiLight" panose="020B0502040204020203" pitchFamily="34" charset="0"/>
              </a:rPr>
              <a:t>SMC</a:t>
            </a:r>
          </a:p>
          <a:p>
            <a:pPr algn="ctr">
              <a:defRPr sz="1100"/>
            </a:pPr>
            <a:r>
              <a:rPr lang="hr-HR" dirty="0">
                <a:latin typeface="Bahnschrift SemiLight" panose="020B0502040204020203" pitchFamily="34" charset="0"/>
              </a:rPr>
              <a:t>Pristupačan, slabije prepoznat</a:t>
            </a:r>
            <a:endParaRPr dirty="0">
              <a:latin typeface="Bahnschrift SemiLight" panose="020B0502040204020203" pitchFamily="34" charset="0"/>
            </a:endParaRPr>
          </a:p>
        </p:txBody>
      </p:sp>
      <p:sp>
        <p:nvSpPr>
          <p:cNvPr id="15" name="Segnaposto contenuto 2">
            <a:extLst>
              <a:ext uri="{FF2B5EF4-FFF2-40B4-BE49-F238E27FC236}">
                <a16:creationId xmlns:a16="http://schemas.microsoft.com/office/drawing/2014/main" id="{5CA45AC0-B59B-3875-EEA9-6E03C2895A14}"/>
              </a:ext>
            </a:extLst>
          </p:cNvPr>
          <p:cNvSpPr>
            <a:spLocks noGrp="1"/>
          </p:cNvSpPr>
          <p:nvPr>
            <p:ph idx="1"/>
          </p:nvPr>
        </p:nvSpPr>
        <p:spPr>
          <a:xfrm>
            <a:off x="878007" y="4540429"/>
            <a:ext cx="10515600" cy="1573390"/>
          </a:xfrm>
        </p:spPr>
        <p:txBody>
          <a:bodyPr>
            <a:normAutofit/>
          </a:bodyPr>
          <a:lstStyle/>
          <a:p>
            <a:pPr marL="0" lvl="0" indent="0" eaLnBrk="0" fontAlgn="base" hangingPunct="0">
              <a:lnSpc>
                <a:spcPct val="100000"/>
              </a:lnSpc>
              <a:spcBef>
                <a:spcPct val="0"/>
              </a:spcBef>
              <a:spcAft>
                <a:spcPct val="0"/>
              </a:spcAft>
              <a:buNone/>
            </a:pPr>
            <a:r>
              <a:rPr lang="hr-HR" altLang="en-US" sz="2400" dirty="0"/>
              <a:t>Početnik u </a:t>
            </a:r>
            <a:r>
              <a:rPr lang="hr-HR" altLang="en-US" sz="2400" dirty="0" err="1"/>
              <a:t>Scrumu</a:t>
            </a:r>
            <a:r>
              <a:rPr lang="en-US" altLang="en-US" sz="2400" dirty="0"/>
              <a:t>? </a:t>
            </a:r>
            <a:r>
              <a:rPr lang="en-US" altLang="en-US" sz="2400" dirty="0">
                <a:sym typeface="Wingdings" panose="05000000000000000000" pitchFamily="2" charset="2"/>
              </a:rPr>
              <a:t> </a:t>
            </a:r>
            <a:r>
              <a:rPr lang="hr-HR" altLang="en-US" sz="2400" dirty="0">
                <a:sym typeface="Wingdings" panose="05000000000000000000" pitchFamily="2" charset="2"/>
              </a:rPr>
              <a:t>Započnite s</a:t>
            </a:r>
            <a:r>
              <a:rPr lang="en-US" altLang="en-US" sz="2400" dirty="0"/>
              <a:t> </a:t>
            </a:r>
            <a:r>
              <a:rPr lang="en-US" altLang="en-US" sz="2400" b="1" dirty="0"/>
              <a:t>CSM</a:t>
            </a:r>
            <a:r>
              <a:rPr lang="en-US" altLang="en-US" sz="2400" dirty="0"/>
              <a:t> </a:t>
            </a:r>
            <a:r>
              <a:rPr lang="hr-HR" altLang="en-US" sz="2400" dirty="0"/>
              <a:t>ili</a:t>
            </a:r>
            <a:r>
              <a:rPr lang="en-US" altLang="en-US" sz="2400" dirty="0"/>
              <a:t> </a:t>
            </a:r>
            <a:r>
              <a:rPr lang="en-US" altLang="en-US" sz="2400" b="1" dirty="0"/>
              <a:t>PSM I</a:t>
            </a:r>
          </a:p>
          <a:p>
            <a:pPr marL="0" lvl="0" indent="0" eaLnBrk="0" fontAlgn="base" hangingPunct="0">
              <a:lnSpc>
                <a:spcPct val="100000"/>
              </a:lnSpc>
              <a:spcBef>
                <a:spcPct val="0"/>
              </a:spcBef>
              <a:spcAft>
                <a:spcPct val="0"/>
              </a:spcAft>
              <a:buNone/>
            </a:pPr>
            <a:r>
              <a:rPr lang="hr-HR" altLang="en-US" sz="2400" dirty="0"/>
              <a:t>Želite dublje razumijevanje bez potrebe za obnovom certifikata</a:t>
            </a:r>
            <a:r>
              <a:rPr lang="en-US" altLang="en-US" sz="2400" dirty="0"/>
              <a:t>? </a:t>
            </a:r>
            <a:r>
              <a:rPr lang="en-US" altLang="en-US" sz="2400" dirty="0">
                <a:sym typeface="Wingdings" panose="05000000000000000000" pitchFamily="2" charset="2"/>
              </a:rPr>
              <a:t></a:t>
            </a:r>
            <a:r>
              <a:rPr lang="en-US" altLang="en-US" sz="2400" dirty="0"/>
              <a:t> </a:t>
            </a:r>
            <a:r>
              <a:rPr lang="en-US" altLang="en-US" sz="2400" b="1" dirty="0"/>
              <a:t>PSM I</a:t>
            </a:r>
          </a:p>
          <a:p>
            <a:pPr marL="0" lvl="0" indent="0" eaLnBrk="0" fontAlgn="base" hangingPunct="0">
              <a:lnSpc>
                <a:spcPct val="100000"/>
              </a:lnSpc>
              <a:spcBef>
                <a:spcPct val="0"/>
              </a:spcBef>
              <a:spcAft>
                <a:spcPct val="0"/>
              </a:spcAft>
              <a:buNone/>
            </a:pPr>
            <a:r>
              <a:rPr lang="hr-HR" altLang="en-US" sz="2400" dirty="0"/>
              <a:t>Radite u tvrtkama / velikim timovima?</a:t>
            </a:r>
            <a:r>
              <a:rPr lang="en-US" altLang="en-US" sz="2400" dirty="0"/>
              <a:t> </a:t>
            </a:r>
            <a:r>
              <a:rPr lang="en-US" altLang="en-US" sz="2400" dirty="0">
                <a:sym typeface="Wingdings" panose="05000000000000000000" pitchFamily="2" charset="2"/>
              </a:rPr>
              <a:t> </a:t>
            </a:r>
            <a:r>
              <a:rPr lang="hr-HR" altLang="en-US" sz="2400" dirty="0"/>
              <a:t>Odaberite </a:t>
            </a:r>
            <a:r>
              <a:rPr lang="en-US" altLang="en-US" sz="2400" b="1" dirty="0"/>
              <a:t>SSM</a:t>
            </a:r>
          </a:p>
          <a:p>
            <a:pPr marL="0" lvl="0" indent="0" eaLnBrk="0" fontAlgn="base" hangingPunct="0">
              <a:lnSpc>
                <a:spcPct val="100000"/>
              </a:lnSpc>
              <a:spcBef>
                <a:spcPct val="0"/>
              </a:spcBef>
              <a:spcAft>
                <a:spcPct val="0"/>
              </a:spcAft>
              <a:buNone/>
            </a:pPr>
            <a:r>
              <a:rPr lang="hr-HR" altLang="en-US" sz="2400" dirty="0"/>
              <a:t>Zainteresirani za dugoročnu </a:t>
            </a:r>
            <a:r>
              <a:rPr lang="hr-HR" altLang="en-US" sz="2400" dirty="0" err="1"/>
              <a:t>Scrum</a:t>
            </a:r>
            <a:r>
              <a:rPr lang="hr-HR" altLang="en-US" sz="2400" dirty="0"/>
              <a:t> karijeru</a:t>
            </a:r>
            <a:r>
              <a:rPr lang="en-US" altLang="en-US" sz="2400" dirty="0"/>
              <a:t>? </a:t>
            </a:r>
            <a:r>
              <a:rPr lang="en-US" altLang="en-US" sz="2400" dirty="0">
                <a:sym typeface="Wingdings" panose="05000000000000000000" pitchFamily="2" charset="2"/>
              </a:rPr>
              <a:t> </a:t>
            </a:r>
            <a:r>
              <a:rPr lang="en-US" altLang="en-US" sz="2400" b="1" dirty="0"/>
              <a:t>PSM II/III </a:t>
            </a:r>
            <a:r>
              <a:rPr lang="en-US" altLang="en-US" sz="2400" dirty="0"/>
              <a:t>or </a:t>
            </a:r>
            <a:r>
              <a:rPr lang="en-US" altLang="en-US" sz="2400" b="1" dirty="0" err="1"/>
              <a:t>SAFe</a:t>
            </a:r>
            <a:endParaRPr lang="en-US" altLang="en-US" sz="2400" b="1" dirty="0"/>
          </a:p>
        </p:txBody>
      </p:sp>
      <p:sp>
        <p:nvSpPr>
          <p:cNvPr id="16" name="Rectangle 1">
            <a:extLst>
              <a:ext uri="{FF2B5EF4-FFF2-40B4-BE49-F238E27FC236}">
                <a16:creationId xmlns:a16="http://schemas.microsoft.com/office/drawing/2014/main" id="{D3F0B4D8-0C22-F239-C49E-AB76C85440B4}"/>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Segnaposto contenuto 2">
            <a:extLst>
              <a:ext uri="{FF2B5EF4-FFF2-40B4-BE49-F238E27FC236}">
                <a16:creationId xmlns:a16="http://schemas.microsoft.com/office/drawing/2014/main" id="{07C4B9AF-D1EE-5A25-406D-71D07A836DAE}"/>
              </a:ext>
            </a:extLst>
          </p:cNvPr>
          <p:cNvSpPr txBox="1">
            <a:spLocks/>
          </p:cNvSpPr>
          <p:nvPr/>
        </p:nvSpPr>
        <p:spPr>
          <a:xfrm>
            <a:off x="1690576" y="4007812"/>
            <a:ext cx="5625509" cy="2294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900" dirty="0"/>
              <a:t>Source: graphic produced by </a:t>
            </a:r>
            <a:r>
              <a:rPr lang="en-GB" sz="900" i="1" dirty="0" err="1"/>
              <a:t>EGInA</a:t>
            </a:r>
            <a:r>
              <a:rPr lang="en-GB" sz="900" i="1" dirty="0"/>
              <a:t> </a:t>
            </a:r>
            <a:r>
              <a:rPr lang="en-GB" sz="900" i="1" dirty="0" err="1"/>
              <a:t>Srl</a:t>
            </a:r>
            <a:r>
              <a:rPr lang="en-GB" sz="900" i="1" dirty="0"/>
              <a:t> </a:t>
            </a:r>
            <a:r>
              <a:rPr lang="en-GB" sz="900" dirty="0"/>
              <a:t>(</a:t>
            </a:r>
            <a:r>
              <a:rPr lang="en-GB" sz="900" dirty="0">
                <a:hlinkClick r:id="rId3"/>
              </a:rPr>
              <a:t>https://www.egina.eu/</a:t>
            </a:r>
            <a:r>
              <a:rPr lang="en-GB" sz="900" dirty="0"/>
              <a:t>) </a:t>
            </a:r>
          </a:p>
        </p:txBody>
      </p:sp>
    </p:spTree>
    <p:extLst>
      <p:ext uri="{BB962C8B-B14F-4D97-AF65-F5344CB8AC3E}">
        <p14:creationId xmlns:p14="http://schemas.microsoft.com/office/powerpoint/2010/main" val="5554063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94C7DC9-0FBD-EFC7-E2F8-690BCEEFAC0B}"/>
              </a:ext>
            </a:extLst>
          </p:cNvPr>
          <p:cNvSpPr>
            <a:spLocks noGrp="1"/>
          </p:cNvSpPr>
          <p:nvPr>
            <p:ph type="title"/>
          </p:nvPr>
        </p:nvSpPr>
        <p:spPr/>
        <p:txBody>
          <a:bodyPr/>
          <a:lstStyle/>
          <a:p>
            <a:r>
              <a:rPr lang="hr-HR" dirty="0"/>
              <a:t>DODATNA LITERATURA</a:t>
            </a:r>
            <a:endParaRPr lang="en-GB" dirty="0"/>
          </a:p>
        </p:txBody>
      </p:sp>
      <p:sp>
        <p:nvSpPr>
          <p:cNvPr id="3" name="Segnaposto contenuto 2">
            <a:extLst>
              <a:ext uri="{FF2B5EF4-FFF2-40B4-BE49-F238E27FC236}">
                <a16:creationId xmlns:a16="http://schemas.microsoft.com/office/drawing/2014/main" id="{B2CD2E0E-9006-D2DC-E581-391DC315F6B7}"/>
              </a:ext>
            </a:extLst>
          </p:cNvPr>
          <p:cNvSpPr>
            <a:spLocks noGrp="1"/>
          </p:cNvSpPr>
          <p:nvPr>
            <p:ph idx="1"/>
          </p:nvPr>
        </p:nvSpPr>
        <p:spPr>
          <a:xfrm>
            <a:off x="838200" y="1825625"/>
            <a:ext cx="10925432" cy="4351338"/>
          </a:xfrm>
        </p:spPr>
        <p:txBody>
          <a:bodyPr>
            <a:noAutofit/>
          </a:bodyPr>
          <a:lstStyle/>
          <a:p>
            <a:pPr marL="0" indent="0">
              <a:buNone/>
            </a:pPr>
            <a:r>
              <a:rPr lang="en-GB" sz="2600" u="sng" dirty="0"/>
              <a:t>ONLINE </a:t>
            </a:r>
            <a:r>
              <a:rPr lang="hr-HR" sz="2600" u="sng" dirty="0"/>
              <a:t>IZVORI</a:t>
            </a:r>
            <a:endParaRPr lang="en-GB" sz="2600" u="sng" dirty="0"/>
          </a:p>
          <a:p>
            <a:pPr marL="0" indent="0">
              <a:buNone/>
            </a:pPr>
            <a:endParaRPr lang="en-GB" sz="2600" b="1" dirty="0"/>
          </a:p>
          <a:p>
            <a:r>
              <a:rPr lang="en-GB" sz="2600" b="1" i="1" dirty="0"/>
              <a:t>The Scrum Guide </a:t>
            </a:r>
            <a:r>
              <a:rPr lang="en-GB" sz="2600" b="1" dirty="0"/>
              <a:t>- </a:t>
            </a:r>
            <a:r>
              <a:rPr lang="hr-HR" sz="2400" dirty="0"/>
              <a:t>Službena definicija </a:t>
            </a:r>
            <a:r>
              <a:rPr lang="hr-HR" sz="2400" dirty="0" err="1"/>
              <a:t>Scruma</a:t>
            </a:r>
            <a:r>
              <a:rPr lang="hr-HR" sz="2400" dirty="0"/>
              <a:t>: uloge, događaji, artefakti i pravila. Ključni referentni dokument.</a:t>
            </a:r>
            <a:br>
              <a:rPr lang="en-GB" sz="2600" dirty="0"/>
            </a:br>
            <a:r>
              <a:rPr lang="en-GB" sz="2600" dirty="0">
                <a:hlinkClick r:id="rId3"/>
              </a:rPr>
              <a:t>https://scrumguides.org/scrum-guide.html</a:t>
            </a:r>
            <a:endParaRPr lang="en-GB" sz="2600" dirty="0"/>
          </a:p>
          <a:p>
            <a:r>
              <a:rPr lang="en-GB" sz="2600" b="1" i="1" dirty="0"/>
              <a:t>The Kanban Guide </a:t>
            </a:r>
            <a:r>
              <a:rPr lang="en-GB" sz="2600" b="1" dirty="0"/>
              <a:t>-</a:t>
            </a:r>
            <a:r>
              <a:rPr lang="en-GB" sz="2600" dirty="0"/>
              <a:t> </a:t>
            </a:r>
            <a:r>
              <a:rPr lang="hr-HR" sz="2400" dirty="0"/>
              <a:t>Službeni uvod u </a:t>
            </a:r>
            <a:r>
              <a:rPr lang="hr-HR" sz="2400" dirty="0" err="1"/>
              <a:t>Kanban</a:t>
            </a:r>
            <a:r>
              <a:rPr lang="hr-HR" sz="2400" dirty="0"/>
              <a:t> principe: vizualizacija, tijek rada i ograničenja rada u tijeku (WIP).</a:t>
            </a:r>
          </a:p>
          <a:p>
            <a:pPr marL="0" indent="0">
              <a:buNone/>
            </a:pPr>
            <a:r>
              <a:rPr lang="hr-HR" sz="2400" dirty="0">
                <a:hlinkClick r:id="rId4"/>
              </a:rPr>
              <a:t>   </a:t>
            </a:r>
            <a:r>
              <a:rPr lang="en-GB" sz="2600" dirty="0">
                <a:hlinkClick r:id="rId4"/>
              </a:rPr>
              <a:t>https://kanbanguides.org/</a:t>
            </a:r>
            <a:endParaRPr lang="en-GB" sz="2600" dirty="0"/>
          </a:p>
          <a:p>
            <a:r>
              <a:rPr lang="en-GB" sz="2600" b="1" i="1" dirty="0"/>
              <a:t>The Scrum Team Roles and Accountabilities</a:t>
            </a:r>
            <a:br>
              <a:rPr lang="en-GB" sz="2600" b="1" dirty="0"/>
            </a:br>
            <a:r>
              <a:rPr lang="en-GB" sz="2600" dirty="0">
                <a:hlinkClick r:id="rId5"/>
              </a:rPr>
              <a:t>https://resources.scrumalliance.org/Article/scrum-team</a:t>
            </a:r>
            <a:r>
              <a:rPr lang="en-GB" sz="2600" dirty="0"/>
              <a:t> </a:t>
            </a:r>
          </a:p>
        </p:txBody>
      </p:sp>
    </p:spTree>
    <p:extLst>
      <p:ext uri="{BB962C8B-B14F-4D97-AF65-F5344CB8AC3E}">
        <p14:creationId xmlns:p14="http://schemas.microsoft.com/office/powerpoint/2010/main" val="13341065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EC1A9-FF61-53F5-E5C8-CD406BF24D3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4F89D25-A0FA-17EB-48BB-0F7C52D0AE72}"/>
              </a:ext>
            </a:extLst>
          </p:cNvPr>
          <p:cNvSpPr>
            <a:spLocks noGrp="1"/>
          </p:cNvSpPr>
          <p:nvPr>
            <p:ph type="title"/>
          </p:nvPr>
        </p:nvSpPr>
        <p:spPr/>
        <p:txBody>
          <a:bodyPr/>
          <a:lstStyle/>
          <a:p>
            <a:r>
              <a:rPr lang="hr-HR" dirty="0"/>
              <a:t>DODATNA LITERATURA</a:t>
            </a:r>
            <a:endParaRPr lang="en-GB" dirty="0"/>
          </a:p>
        </p:txBody>
      </p:sp>
      <p:sp>
        <p:nvSpPr>
          <p:cNvPr id="3" name="Segnaposto contenuto 2">
            <a:extLst>
              <a:ext uri="{FF2B5EF4-FFF2-40B4-BE49-F238E27FC236}">
                <a16:creationId xmlns:a16="http://schemas.microsoft.com/office/drawing/2014/main" id="{CBE7EFAA-508A-6BD3-39D8-E17FD4FEE075}"/>
              </a:ext>
            </a:extLst>
          </p:cNvPr>
          <p:cNvSpPr>
            <a:spLocks noGrp="1"/>
          </p:cNvSpPr>
          <p:nvPr>
            <p:ph idx="1"/>
          </p:nvPr>
        </p:nvSpPr>
        <p:spPr>
          <a:xfrm>
            <a:off x="838200" y="1825624"/>
            <a:ext cx="10515600" cy="4908807"/>
          </a:xfrm>
        </p:spPr>
        <p:txBody>
          <a:bodyPr>
            <a:noAutofit/>
          </a:bodyPr>
          <a:lstStyle/>
          <a:p>
            <a:pPr marL="0" indent="0">
              <a:buNone/>
            </a:pPr>
            <a:r>
              <a:rPr lang="hr-HR" sz="2500" u="sng" dirty="0"/>
              <a:t>KNJIGE</a:t>
            </a:r>
            <a:endParaRPr lang="en-GB" sz="2500" u="sng" dirty="0"/>
          </a:p>
          <a:p>
            <a:pPr marL="0" indent="0">
              <a:buNone/>
            </a:pPr>
            <a:endParaRPr lang="en-GB" sz="2500" b="1" i="1" dirty="0"/>
          </a:p>
          <a:p>
            <a:r>
              <a:rPr lang="en-GB" sz="2500" b="1" i="1" dirty="0"/>
              <a:t>“Essential Scrum”</a:t>
            </a:r>
            <a:r>
              <a:rPr lang="en-GB" sz="2500" b="1" dirty="0"/>
              <a:t> - Kenneth S. Rubin</a:t>
            </a:r>
            <a:br>
              <a:rPr lang="en-GB" sz="2500" dirty="0"/>
            </a:br>
            <a:r>
              <a:rPr lang="hr-HR" sz="2400" dirty="0"/>
              <a:t>Izvrstan praktični priručnik o </a:t>
            </a:r>
            <a:r>
              <a:rPr lang="hr-HR" sz="2400" dirty="0" err="1"/>
              <a:t>Scrum</a:t>
            </a:r>
            <a:r>
              <a:rPr lang="hr-HR" sz="2400" dirty="0"/>
              <a:t> ulogama, događajima, artefaktima i o tome kako timovi u praksi rade sa </a:t>
            </a:r>
            <a:r>
              <a:rPr lang="hr-HR" sz="2400" dirty="0" err="1"/>
              <a:t>Scrumom</a:t>
            </a:r>
            <a:r>
              <a:rPr lang="hr-HR" sz="2400" dirty="0"/>
              <a:t>.</a:t>
            </a:r>
            <a:endParaRPr lang="en-GB" sz="2500" b="1" i="1" dirty="0"/>
          </a:p>
          <a:p>
            <a:r>
              <a:rPr lang="en-GB" sz="2500" b="1" i="1" dirty="0"/>
              <a:t>“Kanban: Successful Evolutionary Change for Your Technology Business”</a:t>
            </a:r>
            <a:r>
              <a:rPr lang="en-GB" sz="2500" b="1" dirty="0"/>
              <a:t> - David J. Anderson</a:t>
            </a:r>
            <a:br>
              <a:rPr lang="en-GB" sz="2500" dirty="0"/>
            </a:br>
            <a:r>
              <a:rPr lang="hr-HR" sz="2400" dirty="0"/>
              <a:t>Klasična knjiga o </a:t>
            </a:r>
            <a:r>
              <a:rPr lang="hr-HR" sz="2400" dirty="0" err="1"/>
              <a:t>Kanban</a:t>
            </a:r>
            <a:r>
              <a:rPr lang="hr-HR" sz="2400" dirty="0"/>
              <a:t> sustavima, razumijevanju tijeka rada, ograničavanju rada u tijeku i evolucijskim promjenama.</a:t>
            </a:r>
          </a:p>
          <a:p>
            <a:r>
              <a:rPr lang="en-GB" sz="2500" b="1" i="1" dirty="0"/>
              <a:t>“Personal Kanban: Mapping Work | Navigating Life</a:t>
            </a:r>
            <a:r>
              <a:rPr lang="en-GB" sz="2500" b="1" dirty="0"/>
              <a:t> “ - Jim Benson &amp; Tonianne DeMaria Barry</a:t>
            </a:r>
            <a:br>
              <a:rPr lang="en-GB" sz="2500" dirty="0"/>
            </a:br>
            <a:r>
              <a:rPr lang="hr-HR" sz="2400" dirty="0"/>
              <a:t>Pristupačna i vrlo praktična primjena </a:t>
            </a:r>
            <a:r>
              <a:rPr lang="hr-HR" sz="2400" dirty="0" err="1"/>
              <a:t>Kanban</a:t>
            </a:r>
            <a:r>
              <a:rPr lang="hr-HR" sz="2400" dirty="0"/>
              <a:t> ideja.</a:t>
            </a:r>
          </a:p>
          <a:p>
            <a:endParaRPr lang="en-GB" sz="2500" dirty="0"/>
          </a:p>
        </p:txBody>
      </p:sp>
    </p:spTree>
    <p:extLst>
      <p:ext uri="{BB962C8B-B14F-4D97-AF65-F5344CB8AC3E}">
        <p14:creationId xmlns:p14="http://schemas.microsoft.com/office/powerpoint/2010/main" val="34016292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9E0D6-F0EF-8D38-994E-DF69FDD9B17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EAA9AB6-C740-29EE-ABE5-4EC56AFF3FDD}"/>
              </a:ext>
            </a:extLst>
          </p:cNvPr>
          <p:cNvSpPr>
            <a:spLocks noGrp="1"/>
          </p:cNvSpPr>
          <p:nvPr>
            <p:ph type="title"/>
          </p:nvPr>
        </p:nvSpPr>
        <p:spPr/>
        <p:txBody>
          <a:bodyPr/>
          <a:lstStyle/>
          <a:p>
            <a:r>
              <a:rPr lang="hr-HR" dirty="0"/>
              <a:t>IZVORI</a:t>
            </a:r>
            <a:endParaRPr lang="en-GB" dirty="0"/>
          </a:p>
        </p:txBody>
      </p:sp>
      <p:sp>
        <p:nvSpPr>
          <p:cNvPr id="3" name="Segnaposto contenuto 2">
            <a:extLst>
              <a:ext uri="{FF2B5EF4-FFF2-40B4-BE49-F238E27FC236}">
                <a16:creationId xmlns:a16="http://schemas.microsoft.com/office/drawing/2014/main" id="{E38EA123-2750-CE26-50A9-8123C1522558}"/>
              </a:ext>
            </a:extLst>
          </p:cNvPr>
          <p:cNvSpPr>
            <a:spLocks noGrp="1"/>
          </p:cNvSpPr>
          <p:nvPr>
            <p:ph idx="1"/>
          </p:nvPr>
        </p:nvSpPr>
        <p:spPr>
          <a:xfrm>
            <a:off x="838200" y="2658333"/>
            <a:ext cx="10515600" cy="3834542"/>
          </a:xfrm>
        </p:spPr>
        <p:txBody>
          <a:bodyPr>
            <a:normAutofit/>
          </a:bodyPr>
          <a:lstStyle/>
          <a:p>
            <a:r>
              <a:rPr lang="en-GB" i="1" dirty="0"/>
              <a:t>“Campus Agile Project Management” </a:t>
            </a:r>
            <a:r>
              <a:rPr lang="en-GB" dirty="0"/>
              <a:t>course</a:t>
            </a:r>
            <a:r>
              <a:rPr lang="en-GB" i="1" dirty="0"/>
              <a:t> </a:t>
            </a:r>
            <a:r>
              <a:rPr lang="en-GB" dirty="0"/>
              <a:t>– Fraticelli F., Ferranti P.</a:t>
            </a:r>
          </a:p>
          <a:p>
            <a:r>
              <a:rPr lang="en-GB" i="1" dirty="0"/>
              <a:t>Scrum Guide </a:t>
            </a:r>
            <a:r>
              <a:rPr lang="en-GB" dirty="0"/>
              <a:t>- </a:t>
            </a:r>
            <a:r>
              <a:rPr lang="en-GB" dirty="0">
                <a:hlinkClick r:id="rId3"/>
              </a:rPr>
              <a:t>https://scrumguides.org/scrum-guide.html</a:t>
            </a:r>
            <a:endParaRPr lang="en-GB" dirty="0"/>
          </a:p>
          <a:p>
            <a:r>
              <a:rPr lang="en-GB" i="1" dirty="0"/>
              <a:t>Kanban Guides </a:t>
            </a:r>
            <a:r>
              <a:rPr lang="en-GB" dirty="0"/>
              <a:t>- </a:t>
            </a:r>
            <a:r>
              <a:rPr lang="en-GB" dirty="0">
                <a:hlinkClick r:id="rId4"/>
              </a:rPr>
              <a:t>https://kanbanguides.org/</a:t>
            </a:r>
            <a:endParaRPr lang="en-GB" dirty="0"/>
          </a:p>
          <a:p>
            <a:r>
              <a:rPr lang="en-GB" i="1" dirty="0"/>
              <a:t>Atlassian Agile Coach: </a:t>
            </a:r>
            <a:r>
              <a:rPr lang="en-GB" dirty="0"/>
              <a:t>Scrum - </a:t>
            </a:r>
            <a:r>
              <a:rPr lang="en-GB" dirty="0">
                <a:hlinkClick r:id="rId5"/>
              </a:rPr>
              <a:t>https://www.atlassian.com/agile/scrum</a:t>
            </a:r>
            <a:endParaRPr lang="en-GB" dirty="0"/>
          </a:p>
          <a:p>
            <a:r>
              <a:rPr lang="en-GB" i="1" dirty="0"/>
              <a:t>Atlassian Agile Coach: Kanban</a:t>
            </a:r>
            <a:r>
              <a:rPr lang="en-GB" dirty="0"/>
              <a:t> - </a:t>
            </a:r>
            <a:r>
              <a:rPr lang="en-GB" dirty="0">
                <a:hlinkClick r:id="rId6"/>
              </a:rPr>
              <a:t>https://www.atlassian.com/agile/kanban</a:t>
            </a:r>
            <a:endParaRPr lang="en-GB" dirty="0"/>
          </a:p>
          <a:p>
            <a:pPr marL="0" indent="0">
              <a:buNone/>
            </a:pPr>
            <a:endParaRPr lang="en-GB" dirty="0"/>
          </a:p>
        </p:txBody>
      </p:sp>
    </p:spTree>
    <p:extLst>
      <p:ext uri="{BB962C8B-B14F-4D97-AF65-F5344CB8AC3E}">
        <p14:creationId xmlns:p14="http://schemas.microsoft.com/office/powerpoint/2010/main" val="39601703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78E5E7E-0080-7113-48D8-BFE4E1427350}"/>
              </a:ext>
            </a:extLst>
          </p:cNvPr>
          <p:cNvSpPr>
            <a:spLocks noGrp="1"/>
          </p:cNvSpPr>
          <p:nvPr>
            <p:ph type="title"/>
          </p:nvPr>
        </p:nvSpPr>
        <p:spPr/>
        <p:txBody>
          <a:bodyPr/>
          <a:lstStyle/>
          <a:p>
            <a:r>
              <a:rPr lang="hr-HR" dirty="0"/>
              <a:t>IZVORI</a:t>
            </a:r>
            <a:endParaRPr lang="en-GB" dirty="0"/>
          </a:p>
        </p:txBody>
      </p:sp>
      <p:sp>
        <p:nvSpPr>
          <p:cNvPr id="3" name="Segnaposto contenuto 2">
            <a:extLst>
              <a:ext uri="{FF2B5EF4-FFF2-40B4-BE49-F238E27FC236}">
                <a16:creationId xmlns:a16="http://schemas.microsoft.com/office/drawing/2014/main" id="{C50F7683-678D-ADDC-7E22-FA5CD2781C8F}"/>
              </a:ext>
            </a:extLst>
          </p:cNvPr>
          <p:cNvSpPr>
            <a:spLocks noGrp="1"/>
          </p:cNvSpPr>
          <p:nvPr>
            <p:ph idx="1"/>
          </p:nvPr>
        </p:nvSpPr>
        <p:spPr>
          <a:xfrm>
            <a:off x="838200" y="2604100"/>
            <a:ext cx="10515600" cy="4351338"/>
          </a:xfrm>
        </p:spPr>
        <p:txBody>
          <a:bodyPr>
            <a:normAutofit/>
          </a:bodyPr>
          <a:lstStyle/>
          <a:p>
            <a:r>
              <a:rPr lang="en-GB" i="1" dirty="0"/>
              <a:t>Professional Scrum Master (PSM I) overview </a:t>
            </a:r>
            <a:r>
              <a:rPr lang="en-GB" dirty="0"/>
              <a:t>- </a:t>
            </a:r>
            <a:r>
              <a:rPr lang="en-GB" dirty="0">
                <a:hlinkClick r:id="rId3"/>
              </a:rPr>
              <a:t>https://www.scrum.org/professional-scrum-master-i-certification</a:t>
            </a:r>
            <a:r>
              <a:rPr lang="en-GB" dirty="0"/>
              <a:t> </a:t>
            </a:r>
          </a:p>
          <a:p>
            <a:r>
              <a:rPr lang="en-GB" i="1" dirty="0"/>
              <a:t>Certified ScrumMaster (CSM) overview </a:t>
            </a:r>
            <a:r>
              <a:rPr lang="en-GB" dirty="0"/>
              <a:t>- </a:t>
            </a:r>
            <a:r>
              <a:rPr lang="en-GB" dirty="0">
                <a:hlinkClick r:id="rId4"/>
              </a:rPr>
              <a:t>https://www.scrumalliance.org/get-certified/scrum-master-track/certified-scrummaster</a:t>
            </a:r>
            <a:endParaRPr lang="en-GB" dirty="0"/>
          </a:p>
          <a:p>
            <a:r>
              <a:rPr lang="en-GB" i="1" dirty="0" err="1"/>
              <a:t>SAFe</a:t>
            </a:r>
            <a:r>
              <a:rPr lang="en-GB" i="1" dirty="0"/>
              <a:t> Scrum Master (SSM) overview </a:t>
            </a:r>
            <a:r>
              <a:rPr lang="en-GB" dirty="0"/>
              <a:t>- </a:t>
            </a:r>
            <a:r>
              <a:rPr lang="en-GB" dirty="0">
                <a:hlinkClick r:id="rId5"/>
              </a:rPr>
              <a:t>https://www.scaledagile.com/training/safe-scrum-master/</a:t>
            </a:r>
            <a:r>
              <a:rPr lang="en-GB" dirty="0"/>
              <a:t> </a:t>
            </a:r>
          </a:p>
          <a:p>
            <a:pPr marL="0" indent="0">
              <a:buNone/>
            </a:pPr>
            <a:endParaRPr lang="en-GB" dirty="0"/>
          </a:p>
        </p:txBody>
      </p:sp>
    </p:spTree>
    <p:extLst>
      <p:ext uri="{BB962C8B-B14F-4D97-AF65-F5344CB8AC3E}">
        <p14:creationId xmlns:p14="http://schemas.microsoft.com/office/powerpoint/2010/main" val="1647145012"/>
      </p:ext>
    </p:extLst>
  </p:cSld>
  <p:clrMapOvr>
    <a:masterClrMapping/>
  </p:clrMapOvr>
</p:sld>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1063</TotalTime>
  <Words>5581</Words>
  <Application>Microsoft Macintosh PowerPoint</Application>
  <PresentationFormat>Widescreen</PresentationFormat>
  <Paragraphs>605</Paragraphs>
  <Slides>62</Slides>
  <Notes>61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62</vt:i4>
      </vt:variant>
    </vt:vector>
  </HeadingPairs>
  <TitlesOfParts>
    <vt:vector size="73" baseType="lpstr">
      <vt:lpstr>Arial</vt:lpstr>
      <vt:lpstr>Bahnschrift</vt:lpstr>
      <vt:lpstr>Bahnschrift Light</vt:lpstr>
      <vt:lpstr>Bahnschrift SemiBold</vt:lpstr>
      <vt:lpstr>Bahnschrift SemiLight</vt:lpstr>
      <vt:lpstr>Calibri</vt:lpstr>
      <vt:lpstr>Calibri Light</vt:lpstr>
      <vt:lpstr>Montserrat</vt:lpstr>
      <vt:lpstr>Trebuchet MS</vt:lpstr>
      <vt:lpstr>Wingdings</vt:lpstr>
      <vt:lpstr>Tema sustava Office</vt:lpstr>
      <vt:lpstr>SHIFT4IT</vt:lpstr>
      <vt:lpstr>Agile okviri: Kanban i Scrum</vt:lpstr>
      <vt:lpstr>Sažetak</vt:lpstr>
      <vt:lpstr>Uvod</vt:lpstr>
      <vt:lpstr>Uvod</vt:lpstr>
      <vt:lpstr>Uvod</vt:lpstr>
      <vt:lpstr>Usporedba Kanbana i Scruma </vt:lpstr>
      <vt:lpstr>Kanban VS Scrum</vt:lpstr>
      <vt:lpstr>Sličnosti između Kanbana i Scruma</vt:lpstr>
      <vt:lpstr>Sličnosti između Kanbana i Scruma</vt:lpstr>
      <vt:lpstr>Sličnosti između Kanbana i Scruma</vt:lpstr>
      <vt:lpstr>Sličnosti između Kanbana i Scruma</vt:lpstr>
      <vt:lpstr>Sličnosti između Kanbana i Scruma</vt:lpstr>
      <vt:lpstr>Anatomija agilne ploče</vt:lpstr>
      <vt:lpstr>Karakteristike Kanban ploče</vt:lpstr>
      <vt:lpstr>Karakteristike Scrum ploče</vt:lpstr>
      <vt:lpstr>Kanban VS Scrum</vt:lpstr>
      <vt:lpstr>Kanban VS Scrum</vt:lpstr>
      <vt:lpstr>Kanban VS Scrum</vt:lpstr>
      <vt:lpstr>Kanban VS Scrum</vt:lpstr>
      <vt:lpstr>Kanban VS Scrum</vt:lpstr>
      <vt:lpstr>Kanban VS Scrum</vt:lpstr>
      <vt:lpstr>Kanban VS Scrum</vt:lpstr>
      <vt:lpstr>Kanban VS Scrum</vt:lpstr>
      <vt:lpstr>Kanban VS Scrum</vt:lpstr>
      <vt:lpstr>Kanban VS Scrum</vt:lpstr>
      <vt:lpstr>Agile in ‘ne-razvojnim’ procesima</vt:lpstr>
      <vt:lpstr>Koji procesi?</vt:lpstr>
      <vt:lpstr>Koji procesi?</vt:lpstr>
      <vt:lpstr>Koji procesi?</vt:lpstr>
      <vt:lpstr>Koji procesi?</vt:lpstr>
      <vt:lpstr>Primjeri procesa kojima se može upravljati agilno</vt:lpstr>
      <vt:lpstr>Uloge i rituali</vt:lpstr>
      <vt:lpstr>Uloge</vt:lpstr>
      <vt:lpstr>Vlasnik proizvoda - Product Owner (PO)</vt:lpstr>
      <vt:lpstr>Scrum Master (SM)</vt:lpstr>
      <vt:lpstr>Članovi tima</vt:lpstr>
      <vt:lpstr>Product Owner VS Scrum Master</vt:lpstr>
      <vt:lpstr>Product Owner</vt:lpstr>
      <vt:lpstr>Scrum Master</vt:lpstr>
      <vt:lpstr>Rituali</vt:lpstr>
      <vt:lpstr>Planiranje sprintova</vt:lpstr>
      <vt:lpstr>Dnevni stand-up sastanak</vt:lpstr>
      <vt:lpstr>Retrospektiva sprinta</vt:lpstr>
      <vt:lpstr>Studija slučaja – Opis projekta</vt:lpstr>
      <vt:lpstr>Studija slučaja – Opis projekta</vt:lpstr>
      <vt:lpstr>Studija slučaja- Opis projekta</vt:lpstr>
      <vt:lpstr>Studija slučaja – Ključni uvidi iz projekta</vt:lpstr>
      <vt:lpstr>Studija slučaja- Ključni uvidi iz projekta</vt:lpstr>
      <vt:lpstr>Studija slučaja- Ključni uvidi iz projekta</vt:lpstr>
      <vt:lpstr>Fokus na certifikate za Scrum Mastera</vt:lpstr>
      <vt:lpstr>Certifikacija za Scrum Mastera</vt:lpstr>
      <vt:lpstr>1. Certified ScrumMaster® (CSM)</vt:lpstr>
      <vt:lpstr>2. Professional Scrum Master™ (PSM I, II, III)</vt:lpstr>
      <vt:lpstr>3. SAFe® Scrum Master (SSM)</vt:lpstr>
      <vt:lpstr>4. Scrum Master Certified (SMC®)</vt:lpstr>
      <vt:lpstr>Scrum Master certifikacije – sažetak usporedbe</vt:lpstr>
      <vt:lpstr>Odabir odgovarajućeg Scrum Master certifikata</vt:lpstr>
      <vt:lpstr>DODATNA LITERATURA</vt:lpstr>
      <vt:lpstr>DODATNA LITERATURA</vt:lpstr>
      <vt:lpstr>IZVORI</vt:lpstr>
      <vt:lpstr>IZVORI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prezentacija</dc:title>
  <dc:creator>Božica Bajčić</dc:creator>
  <cp:lastModifiedBy>Dino Duvnjak</cp:lastModifiedBy>
  <cp:revision>144</cp:revision>
  <dcterms:created xsi:type="dcterms:W3CDTF">2024-02-12T13:35:47Z</dcterms:created>
  <dcterms:modified xsi:type="dcterms:W3CDTF">2026-03-25T14:21:28Z</dcterms:modified>
</cp:coreProperties>
</file>
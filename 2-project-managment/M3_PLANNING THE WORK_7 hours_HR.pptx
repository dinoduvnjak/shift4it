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1" r:id="rId5"/>
  </p:sldMasterIdLst>
  <p:notesMasterIdLst>
    <p:notesMasterId r:id="rId45"/>
  </p:notesMasterIdLst>
  <p:sldIdLst>
    <p:sldId id="372" r:id="rId6"/>
    <p:sldId id="451" r:id="rId7"/>
    <p:sldId id="256" r:id="rId8"/>
    <p:sldId id="264" r:id="rId9"/>
    <p:sldId id="313" r:id="rId10"/>
    <p:sldId id="456" r:id="rId11"/>
    <p:sldId id="457" r:id="rId12"/>
    <p:sldId id="458" r:id="rId13"/>
    <p:sldId id="26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460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70" r:id="rId31"/>
    <p:sldId id="357" r:id="rId32"/>
    <p:sldId id="358" r:id="rId33"/>
    <p:sldId id="359" r:id="rId34"/>
    <p:sldId id="361" r:id="rId35"/>
    <p:sldId id="360" r:id="rId36"/>
    <p:sldId id="461" r:id="rId37"/>
    <p:sldId id="362" r:id="rId38"/>
    <p:sldId id="364" r:id="rId39"/>
    <p:sldId id="365" r:id="rId40"/>
    <p:sldId id="366" r:id="rId41"/>
    <p:sldId id="368" r:id="rId42"/>
    <p:sldId id="371" r:id="rId43"/>
    <p:sldId id="462" r:id="rId44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DCBD"/>
    <a:srgbClr val="00CC00"/>
    <a:srgbClr val="1ADBBE"/>
    <a:srgbClr val="FFFFFF"/>
    <a:srgbClr val="92EEE1"/>
    <a:srgbClr val="D1F8F3"/>
    <a:srgbClr val="8DEDDF"/>
    <a:srgbClr val="8DEFE2"/>
    <a:srgbClr val="5C739C"/>
    <a:srgbClr val="1EDF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B102D-1F0C-4731-A200-152DEA562C7B}" v="61" dt="2026-03-10T16:18:18.6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l mediu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03"/>
    <p:restoredTop sz="78476" autoAdjust="0"/>
  </p:normalViewPr>
  <p:slideViewPr>
    <p:cSldViewPr snapToGrid="0">
      <p:cViewPr varScale="1">
        <p:scale>
          <a:sx n="101" d="100"/>
          <a:sy n="101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d2b45ec-3dfc-411c-9ffc-cb053e727a4c::" providerId="AD" clId="Web-{1AB9582D-2992-ED98-B8C2-1BA02C1E3629}"/>
    <pc:docChg chg="modSld">
      <pc:chgData name="Guest User" userId="S::urn:spo:tenantanon#ed2b45ec-3dfc-411c-9ffc-cb053e727a4c::" providerId="AD" clId="Web-{1AB9582D-2992-ED98-B8C2-1BA02C1E3629}" dt="2026-03-10T08:21:34.783" v="49" actId="14100"/>
      <pc:docMkLst>
        <pc:docMk/>
      </pc:docMkLst>
      <pc:sldChg chg="addSp delSp modSp">
        <pc:chgData name="Guest User" userId="S::urn:spo:tenantanon#ed2b45ec-3dfc-411c-9ffc-cb053e727a4c::" providerId="AD" clId="Web-{1AB9582D-2992-ED98-B8C2-1BA02C1E3629}" dt="2026-03-10T08:16:37.439" v="8" actId="1076"/>
        <pc:sldMkLst>
          <pc:docMk/>
          <pc:sldMk cId="1808099555" sldId="348"/>
        </pc:sldMkLst>
        <pc:spChg chg="del">
          <ac:chgData name="Guest User" userId="S::urn:spo:tenantanon#ed2b45ec-3dfc-411c-9ffc-cb053e727a4c::" providerId="AD" clId="Web-{1AB9582D-2992-ED98-B8C2-1BA02C1E3629}" dt="2026-03-10T08:16:22.516" v="5"/>
          <ac:spMkLst>
            <pc:docMk/>
            <pc:sldMk cId="1808099555" sldId="348"/>
            <ac:spMk id="3" creationId="{18C4A0B8-75C5-91B8-E097-967170082331}"/>
          </ac:spMkLst>
        </pc:spChg>
        <pc:spChg chg="add del mod">
          <ac:chgData name="Guest User" userId="S::urn:spo:tenantanon#ed2b45ec-3dfc-411c-9ffc-cb053e727a4c::" providerId="AD" clId="Web-{1AB9582D-2992-ED98-B8C2-1BA02C1E3629}" dt="2026-03-10T08:16:33.485" v="6"/>
          <ac:spMkLst>
            <pc:docMk/>
            <pc:sldMk cId="1808099555" sldId="348"/>
            <ac:spMk id="5" creationId="{4212B236-BE97-CF8C-3F25-7EDA857A8CB9}"/>
          </ac:spMkLst>
        </pc:spChg>
        <pc:spChg chg="add mod">
          <ac:chgData name="Guest User" userId="S::urn:spo:tenantanon#ed2b45ec-3dfc-411c-9ffc-cb053e727a4c::" providerId="AD" clId="Web-{1AB9582D-2992-ED98-B8C2-1BA02C1E3629}" dt="2026-03-10T08:16:37.439" v="8" actId="1076"/>
          <ac:spMkLst>
            <pc:docMk/>
            <pc:sldMk cId="1808099555" sldId="348"/>
            <ac:spMk id="6" creationId="{B1FF6E53-EFE4-4B22-400D-77E7068B30F4}"/>
          </ac:spMkLst>
        </pc:spChg>
      </pc:sldChg>
      <pc:sldChg chg="addSp modSp">
        <pc:chgData name="Guest User" userId="S::urn:spo:tenantanon#ed2b45ec-3dfc-411c-9ffc-cb053e727a4c::" providerId="AD" clId="Web-{1AB9582D-2992-ED98-B8C2-1BA02C1E3629}" dt="2026-03-10T08:15:05.889" v="4" actId="1076"/>
        <pc:sldMkLst>
          <pc:docMk/>
          <pc:sldMk cId="426479371" sldId="349"/>
        </pc:sldMkLst>
        <pc:spChg chg="mod">
          <ac:chgData name="Guest User" userId="S::urn:spo:tenantanon#ed2b45ec-3dfc-411c-9ffc-cb053e727a4c::" providerId="AD" clId="Web-{1AB9582D-2992-ED98-B8C2-1BA02C1E3629}" dt="2026-03-10T08:13:24.323" v="2" actId="1076"/>
          <ac:spMkLst>
            <pc:docMk/>
            <pc:sldMk cId="426479371" sldId="349"/>
            <ac:spMk id="3" creationId="{BBF21FD9-A167-EB30-6361-DCABA4BA08BA}"/>
          </ac:spMkLst>
        </pc:spChg>
        <pc:spChg chg="add mod">
          <ac:chgData name="Guest User" userId="S::urn:spo:tenantanon#ed2b45ec-3dfc-411c-9ffc-cb053e727a4c::" providerId="AD" clId="Web-{1AB9582D-2992-ED98-B8C2-1BA02C1E3629}" dt="2026-03-10T08:15:05.889" v="4" actId="1076"/>
          <ac:spMkLst>
            <pc:docMk/>
            <pc:sldMk cId="426479371" sldId="349"/>
            <ac:spMk id="4" creationId="{6CEB6840-42DB-BEE1-13C6-49D67009DE71}"/>
          </ac:spMkLst>
        </pc:spChg>
      </pc:sldChg>
      <pc:sldChg chg="addSp modSp">
        <pc:chgData name="Guest User" userId="S::urn:spo:tenantanon#ed2b45ec-3dfc-411c-9ffc-cb053e727a4c::" providerId="AD" clId="Web-{1AB9582D-2992-ED98-B8C2-1BA02C1E3629}" dt="2026-03-10T08:18:07.394" v="12" actId="1076"/>
        <pc:sldMkLst>
          <pc:docMk/>
          <pc:sldMk cId="4031969822" sldId="354"/>
        </pc:sldMkLst>
        <pc:spChg chg="mod">
          <ac:chgData name="Guest User" userId="S::urn:spo:tenantanon#ed2b45ec-3dfc-411c-9ffc-cb053e727a4c::" providerId="AD" clId="Web-{1AB9582D-2992-ED98-B8C2-1BA02C1E3629}" dt="2026-03-10T08:17:51.722" v="10" actId="14100"/>
          <ac:spMkLst>
            <pc:docMk/>
            <pc:sldMk cId="4031969822" sldId="354"/>
            <ac:spMk id="3" creationId="{F7B5C401-7144-13F1-D7B4-6C51C79E2572}"/>
          </ac:spMkLst>
        </pc:spChg>
        <pc:spChg chg="add mod">
          <ac:chgData name="Guest User" userId="S::urn:spo:tenantanon#ed2b45ec-3dfc-411c-9ffc-cb053e727a4c::" providerId="AD" clId="Web-{1AB9582D-2992-ED98-B8C2-1BA02C1E3629}" dt="2026-03-10T08:18:07.394" v="12" actId="1076"/>
          <ac:spMkLst>
            <pc:docMk/>
            <pc:sldMk cId="4031969822" sldId="354"/>
            <ac:spMk id="4" creationId="{6CEB6840-42DB-BEE1-13C6-49D67009DE71}"/>
          </ac:spMkLst>
        </pc:spChg>
      </pc:sldChg>
      <pc:sldChg chg="addSp modSp">
        <pc:chgData name="Guest User" userId="S::urn:spo:tenantanon#ed2b45ec-3dfc-411c-9ffc-cb053e727a4c::" providerId="AD" clId="Web-{1AB9582D-2992-ED98-B8C2-1BA02C1E3629}" dt="2026-03-10T08:19:57.224" v="39" actId="20577"/>
        <pc:sldMkLst>
          <pc:docMk/>
          <pc:sldMk cId="2748910401" sldId="360"/>
        </pc:sldMkLst>
        <pc:spChg chg="mod">
          <ac:chgData name="Guest User" userId="S::urn:spo:tenantanon#ed2b45ec-3dfc-411c-9ffc-cb053e727a4c::" providerId="AD" clId="Web-{1AB9582D-2992-ED98-B8C2-1BA02C1E3629}" dt="2026-03-10T08:19:57.224" v="39" actId="20577"/>
          <ac:spMkLst>
            <pc:docMk/>
            <pc:sldMk cId="2748910401" sldId="360"/>
            <ac:spMk id="3" creationId="{D1B85E05-0B3E-0A92-8ECE-8E5CBD832DFD}"/>
          </ac:spMkLst>
        </pc:spChg>
        <pc:spChg chg="add mod">
          <ac:chgData name="Guest User" userId="S::urn:spo:tenantanon#ed2b45ec-3dfc-411c-9ffc-cb053e727a4c::" providerId="AD" clId="Web-{1AB9582D-2992-ED98-B8C2-1BA02C1E3629}" dt="2026-03-10T08:19:35.470" v="21" actId="1076"/>
          <ac:spMkLst>
            <pc:docMk/>
            <pc:sldMk cId="2748910401" sldId="360"/>
            <ac:spMk id="4" creationId="{6CEB6840-42DB-BEE1-13C6-49D67009DE71}"/>
          </ac:spMkLst>
        </pc:spChg>
      </pc:sldChg>
      <pc:sldChg chg="addSp modSp">
        <pc:chgData name="Guest User" userId="S::urn:spo:tenantanon#ed2b45ec-3dfc-411c-9ffc-cb053e727a4c::" providerId="AD" clId="Web-{1AB9582D-2992-ED98-B8C2-1BA02C1E3629}" dt="2026-03-10T08:21:34.783" v="49" actId="14100"/>
        <pc:sldMkLst>
          <pc:docMk/>
          <pc:sldMk cId="1529455841" sldId="368"/>
        </pc:sldMkLst>
        <pc:spChg chg="mod">
          <ac:chgData name="Guest User" userId="S::urn:spo:tenantanon#ed2b45ec-3dfc-411c-9ffc-cb053e727a4c::" providerId="AD" clId="Web-{1AB9582D-2992-ED98-B8C2-1BA02C1E3629}" dt="2026-03-10T08:20:54.872" v="46" actId="1076"/>
          <ac:spMkLst>
            <pc:docMk/>
            <pc:sldMk cId="1529455841" sldId="368"/>
            <ac:spMk id="3" creationId="{9B5237E6-07A6-FEA8-4D87-5ACECBDFB5DD}"/>
          </ac:spMkLst>
        </pc:spChg>
        <pc:spChg chg="add mod">
          <ac:chgData name="Guest User" userId="S::urn:spo:tenantanon#ed2b45ec-3dfc-411c-9ffc-cb053e727a4c::" providerId="AD" clId="Web-{1AB9582D-2992-ED98-B8C2-1BA02C1E3629}" dt="2026-03-10T08:21:34.783" v="49" actId="14100"/>
          <ac:spMkLst>
            <pc:docMk/>
            <pc:sldMk cId="1529455841" sldId="368"/>
            <ac:spMk id="4" creationId="{6CEB6840-42DB-BEE1-13C6-49D67009DE71}"/>
          </ac:spMkLst>
        </pc:spChg>
      </pc:sldChg>
    </pc:docChg>
  </pc:docChgLst>
  <pc:docChgLst>
    <pc:chgData name="nicu@nicuzegheanu.ro" userId="S::urn:spo:guest#nicu@nicuzegheanu.ro::" providerId="AD" clId="Web-{30FF761F-F431-28CF-6CE4-2E87E30F02E4}"/>
    <pc:docChg chg="modSld">
      <pc:chgData name="nicu@nicuzegheanu.ro" userId="S::urn:spo:guest#nicu@nicuzegheanu.ro::" providerId="AD" clId="Web-{30FF761F-F431-28CF-6CE4-2E87E30F02E4}" dt="2026-02-20T12:07:32.801" v="0"/>
      <pc:docMkLst>
        <pc:docMk/>
      </pc:docMkLst>
      <pc:sldChg chg="modSp">
        <pc:chgData name="nicu@nicuzegheanu.ro" userId="S::urn:spo:guest#nicu@nicuzegheanu.ro::" providerId="AD" clId="Web-{30FF761F-F431-28CF-6CE4-2E87E30F02E4}" dt="2026-02-20T12:07:32.801" v="0"/>
        <pc:sldMkLst>
          <pc:docMk/>
          <pc:sldMk cId="1562328460" sldId="358"/>
        </pc:sldMkLst>
        <pc:graphicFrameChg chg="modGraphic">
          <ac:chgData name="nicu@nicuzegheanu.ro" userId="S::urn:spo:guest#nicu@nicuzegheanu.ro::" providerId="AD" clId="Web-{30FF761F-F431-28CF-6CE4-2E87E30F02E4}" dt="2026-02-20T12:07:32.801" v="0"/>
          <ac:graphicFrameMkLst>
            <pc:docMk/>
            <pc:sldMk cId="1562328460" sldId="358"/>
            <ac:graphicFrameMk id="4" creationId="{1B7A7C1C-B707-B340-537C-C4F1C31FC2E3}"/>
          </ac:graphicFrameMkLst>
        </pc:graphicFrameChg>
      </pc:sldChg>
    </pc:docChg>
  </pc:docChgLst>
  <pc:docChgLst>
    <pc:chgData name="Cornelia Popescu" userId="444ac7d1-afda-4314-b2c2-4aff562fe857" providerId="ADAL" clId="{3812F0D7-A263-41B2-AC96-1F3B68D731C9}"/>
    <pc:docChg chg="undo redo custSel addSld delSld modSld sldOrd">
      <pc:chgData name="Cornelia Popescu" userId="444ac7d1-afda-4314-b2c2-4aff562fe857" providerId="ADAL" clId="{3812F0D7-A263-41B2-AC96-1F3B68D731C9}" dt="2026-03-11T16:03:11.920" v="2041" actId="255"/>
      <pc:docMkLst>
        <pc:docMk/>
      </pc:docMkLst>
      <pc:sldChg chg="modSp mod">
        <pc:chgData name="Cornelia Popescu" userId="444ac7d1-afda-4314-b2c2-4aff562fe857" providerId="ADAL" clId="{3812F0D7-A263-41B2-AC96-1F3B68D731C9}" dt="2026-03-09T14:59:31.266" v="74" actId="207"/>
        <pc:sldMkLst>
          <pc:docMk/>
          <pc:sldMk cId="495518943" sldId="256"/>
        </pc:sldMkLst>
        <pc:spChg chg="mod">
          <ac:chgData name="Cornelia Popescu" userId="444ac7d1-afda-4314-b2c2-4aff562fe857" providerId="ADAL" clId="{3812F0D7-A263-41B2-AC96-1F3B68D731C9}" dt="2026-03-09T14:59:31.266" v="74" actId="207"/>
          <ac:spMkLst>
            <pc:docMk/>
            <pc:sldMk cId="495518943" sldId="256"/>
            <ac:spMk id="2" creationId="{A10445EE-F4D0-9707-9D88-DD266A4C48A6}"/>
          </ac:spMkLst>
        </pc:spChg>
        <pc:spChg chg="mod">
          <ac:chgData name="Cornelia Popescu" userId="444ac7d1-afda-4314-b2c2-4aff562fe857" providerId="ADAL" clId="{3812F0D7-A263-41B2-AC96-1F3B68D731C9}" dt="2026-03-09T14:58:55.626" v="73"/>
          <ac:spMkLst>
            <pc:docMk/>
            <pc:sldMk cId="495518943" sldId="256"/>
            <ac:spMk id="13" creationId="{B25DB994-20D2-9EF1-A081-C76AA523F83C}"/>
          </ac:spMkLst>
        </pc:spChg>
      </pc:sldChg>
      <pc:sldChg chg="modSp mod">
        <pc:chgData name="Cornelia Popescu" userId="444ac7d1-afda-4314-b2c2-4aff562fe857" providerId="ADAL" clId="{3812F0D7-A263-41B2-AC96-1F3B68D731C9}" dt="2026-03-10T14:13:09.427" v="1819" actId="255"/>
        <pc:sldMkLst>
          <pc:docMk/>
          <pc:sldMk cId="516495160" sldId="261"/>
        </pc:sldMkLst>
        <pc:spChg chg="mod">
          <ac:chgData name="Cornelia Popescu" userId="444ac7d1-afda-4314-b2c2-4aff562fe857" providerId="ADAL" clId="{3812F0D7-A263-41B2-AC96-1F3B68D731C9}" dt="2026-03-09T16:13:31.840" v="1420" actId="108"/>
          <ac:spMkLst>
            <pc:docMk/>
            <pc:sldMk cId="516495160" sldId="261"/>
            <ac:spMk id="2" creationId="{9EB76372-F387-8D07-5184-48576F41FF23}"/>
          </ac:spMkLst>
        </pc:spChg>
        <pc:spChg chg="mod">
          <ac:chgData name="Cornelia Popescu" userId="444ac7d1-afda-4314-b2c2-4aff562fe857" providerId="ADAL" clId="{3812F0D7-A263-41B2-AC96-1F3B68D731C9}" dt="2026-03-10T14:13:09.427" v="1819" actId="255"/>
          <ac:spMkLst>
            <pc:docMk/>
            <pc:sldMk cId="516495160" sldId="261"/>
            <ac:spMk id="3" creationId="{F3916F91-68A4-BA18-8EC8-762FCAAE5933}"/>
          </ac:spMkLst>
        </pc:spChg>
      </pc:sldChg>
      <pc:sldChg chg="modSp mod">
        <pc:chgData name="Cornelia Popescu" userId="444ac7d1-afda-4314-b2c2-4aff562fe857" providerId="ADAL" clId="{3812F0D7-A263-41B2-AC96-1F3B68D731C9}" dt="2026-03-09T15:03:11.394" v="100" actId="1076"/>
        <pc:sldMkLst>
          <pc:docMk/>
          <pc:sldMk cId="3626023279" sldId="264"/>
        </pc:sldMkLst>
        <pc:spChg chg="mod">
          <ac:chgData name="Cornelia Popescu" userId="444ac7d1-afda-4314-b2c2-4aff562fe857" providerId="ADAL" clId="{3812F0D7-A263-41B2-AC96-1F3B68D731C9}" dt="2026-03-09T15:03:11.394" v="100" actId="1076"/>
          <ac:spMkLst>
            <pc:docMk/>
            <pc:sldMk cId="3626023279" sldId="264"/>
            <ac:spMk id="2" creationId="{73E329B6-39D1-4B87-CC26-0711BD895686}"/>
          </ac:spMkLst>
        </pc:spChg>
        <pc:spChg chg="mod">
          <ac:chgData name="Cornelia Popescu" userId="444ac7d1-afda-4314-b2c2-4aff562fe857" providerId="ADAL" clId="{3812F0D7-A263-41B2-AC96-1F3B68D731C9}" dt="2026-03-09T15:02:11.725" v="98" actId="14100"/>
          <ac:spMkLst>
            <pc:docMk/>
            <pc:sldMk cId="3626023279" sldId="264"/>
            <ac:spMk id="3" creationId="{9231DBE4-5C1F-9BFF-E82D-2AE6E0CBBD61}"/>
          </ac:spMkLst>
        </pc:spChg>
      </pc:sldChg>
      <pc:sldChg chg="modSp mod">
        <pc:chgData name="Cornelia Popescu" userId="444ac7d1-afda-4314-b2c2-4aff562fe857" providerId="ADAL" clId="{3812F0D7-A263-41B2-AC96-1F3B68D731C9}" dt="2026-03-09T15:04:46.176" v="110" actId="20577"/>
        <pc:sldMkLst>
          <pc:docMk/>
          <pc:sldMk cId="60367082" sldId="313"/>
        </pc:sldMkLst>
        <pc:spChg chg="mod">
          <ac:chgData name="Cornelia Popescu" userId="444ac7d1-afda-4314-b2c2-4aff562fe857" providerId="ADAL" clId="{3812F0D7-A263-41B2-AC96-1F3B68D731C9}" dt="2026-03-09T15:03:27.183" v="101" actId="108"/>
          <ac:spMkLst>
            <pc:docMk/>
            <pc:sldMk cId="60367082" sldId="313"/>
            <ac:spMk id="2" creationId="{D35436CE-F4E1-C1C7-D054-047BCAD47953}"/>
          </ac:spMkLst>
        </pc:spChg>
        <pc:spChg chg="mod">
          <ac:chgData name="Cornelia Popescu" userId="444ac7d1-afda-4314-b2c2-4aff562fe857" providerId="ADAL" clId="{3812F0D7-A263-41B2-AC96-1F3B68D731C9}" dt="2026-03-09T15:04:46.176" v="110" actId="20577"/>
          <ac:spMkLst>
            <pc:docMk/>
            <pc:sldMk cId="60367082" sldId="313"/>
            <ac:spMk id="3" creationId="{C2D3A5D0-E7E3-67A2-B12F-D190BDCDF9F9}"/>
          </ac:spMkLst>
        </pc:spChg>
      </pc:sldChg>
      <pc:sldChg chg="modSp mod">
        <pc:chgData name="Cornelia Popescu" userId="444ac7d1-afda-4314-b2c2-4aff562fe857" providerId="ADAL" clId="{3812F0D7-A263-41B2-AC96-1F3B68D731C9}" dt="2026-03-10T11:00:11.395" v="1670" actId="108"/>
        <pc:sldMkLst>
          <pc:docMk/>
          <pc:sldMk cId="586077061" sldId="342"/>
        </pc:sldMkLst>
        <pc:spChg chg="mod">
          <ac:chgData name="Cornelia Popescu" userId="444ac7d1-afda-4314-b2c2-4aff562fe857" providerId="ADAL" clId="{3812F0D7-A263-41B2-AC96-1F3B68D731C9}" dt="2026-03-09T16:14:32.656" v="1429" actId="1076"/>
          <ac:spMkLst>
            <pc:docMk/>
            <pc:sldMk cId="586077061" sldId="342"/>
            <ac:spMk id="2" creationId="{003B3706-E8D2-BF82-129C-E50F254B4EA6}"/>
          </ac:spMkLst>
        </pc:spChg>
        <pc:spChg chg="mod">
          <ac:chgData name="Cornelia Popescu" userId="444ac7d1-afda-4314-b2c2-4aff562fe857" providerId="ADAL" clId="{3812F0D7-A263-41B2-AC96-1F3B68D731C9}" dt="2026-03-10T11:00:11.395" v="1670" actId="108"/>
          <ac:spMkLst>
            <pc:docMk/>
            <pc:sldMk cId="586077061" sldId="342"/>
            <ac:spMk id="3" creationId="{143C0C5B-C068-A07E-A729-9369216208F9}"/>
          </ac:spMkLst>
        </pc:spChg>
      </pc:sldChg>
      <pc:sldChg chg="modSp mod">
        <pc:chgData name="Cornelia Popescu" userId="444ac7d1-afda-4314-b2c2-4aff562fe857" providerId="ADAL" clId="{3812F0D7-A263-41B2-AC96-1F3B68D731C9}" dt="2026-03-10T11:00:02.780" v="1668" actId="108"/>
        <pc:sldMkLst>
          <pc:docMk/>
          <pc:sldMk cId="3253786142" sldId="343"/>
        </pc:sldMkLst>
        <pc:spChg chg="mod">
          <ac:chgData name="Cornelia Popescu" userId="444ac7d1-afda-4314-b2c2-4aff562fe857" providerId="ADAL" clId="{3812F0D7-A263-41B2-AC96-1F3B68D731C9}" dt="2026-03-09T16:22:11.522" v="1432" actId="108"/>
          <ac:spMkLst>
            <pc:docMk/>
            <pc:sldMk cId="3253786142" sldId="343"/>
            <ac:spMk id="2" creationId="{187EA3FA-CB9C-3D03-B1CF-0A67B3B8835E}"/>
          </ac:spMkLst>
        </pc:spChg>
        <pc:spChg chg="mod">
          <ac:chgData name="Cornelia Popescu" userId="444ac7d1-afda-4314-b2c2-4aff562fe857" providerId="ADAL" clId="{3812F0D7-A263-41B2-AC96-1F3B68D731C9}" dt="2026-03-10T11:00:02.780" v="1668" actId="108"/>
          <ac:spMkLst>
            <pc:docMk/>
            <pc:sldMk cId="3253786142" sldId="343"/>
            <ac:spMk id="3" creationId="{ADEEAC12-3DC4-4DC0-50A7-8517C3B3A74E}"/>
          </ac:spMkLst>
        </pc:spChg>
      </pc:sldChg>
      <pc:sldChg chg="modSp mod">
        <pc:chgData name="Cornelia Popescu" userId="444ac7d1-afda-4314-b2c2-4aff562fe857" providerId="ADAL" clId="{3812F0D7-A263-41B2-AC96-1F3B68D731C9}" dt="2026-03-10T10:59:47.408" v="1665" actId="108"/>
        <pc:sldMkLst>
          <pc:docMk/>
          <pc:sldMk cId="1345665279" sldId="344"/>
        </pc:sldMkLst>
        <pc:spChg chg="mod">
          <ac:chgData name="Cornelia Popescu" userId="444ac7d1-afda-4314-b2c2-4aff562fe857" providerId="ADAL" clId="{3812F0D7-A263-41B2-AC96-1F3B68D731C9}" dt="2026-03-09T16:22:47.965" v="1435" actId="108"/>
          <ac:spMkLst>
            <pc:docMk/>
            <pc:sldMk cId="1345665279" sldId="344"/>
            <ac:spMk id="2" creationId="{95B6B802-9365-4D11-38D6-6868A7BE5107}"/>
          </ac:spMkLst>
        </pc:spChg>
        <pc:spChg chg="mod">
          <ac:chgData name="Cornelia Popescu" userId="444ac7d1-afda-4314-b2c2-4aff562fe857" providerId="ADAL" clId="{3812F0D7-A263-41B2-AC96-1F3B68D731C9}" dt="2026-03-10T10:59:47.408" v="1665" actId="108"/>
          <ac:spMkLst>
            <pc:docMk/>
            <pc:sldMk cId="1345665279" sldId="344"/>
            <ac:spMk id="3" creationId="{28C8C42B-B353-3ABA-F7B9-58512964E228}"/>
          </ac:spMkLst>
        </pc:spChg>
      </pc:sldChg>
      <pc:sldChg chg="modSp mod modNotesTx">
        <pc:chgData name="Cornelia Popescu" userId="444ac7d1-afda-4314-b2c2-4aff562fe857" providerId="ADAL" clId="{3812F0D7-A263-41B2-AC96-1F3B68D731C9}" dt="2026-03-09T16:23:53.022" v="1494" actId="20577"/>
        <pc:sldMkLst>
          <pc:docMk/>
          <pc:sldMk cId="3630927324" sldId="345"/>
        </pc:sldMkLst>
        <pc:spChg chg="mod">
          <ac:chgData name="Cornelia Popescu" userId="444ac7d1-afda-4314-b2c2-4aff562fe857" providerId="ADAL" clId="{3812F0D7-A263-41B2-AC96-1F3B68D731C9}" dt="2026-03-09T16:23:18.645" v="1438" actId="108"/>
          <ac:spMkLst>
            <pc:docMk/>
            <pc:sldMk cId="3630927324" sldId="345"/>
            <ac:spMk id="2" creationId="{BE93E5AD-5B35-2811-D8D6-D23EA9B8BED2}"/>
          </ac:spMkLst>
        </pc:spChg>
      </pc:sldChg>
      <pc:sldChg chg="modSp mod">
        <pc:chgData name="Cornelia Popescu" userId="444ac7d1-afda-4314-b2c2-4aff562fe857" providerId="ADAL" clId="{3812F0D7-A263-41B2-AC96-1F3B68D731C9}" dt="2026-03-09T16:25:11.009" v="1507" actId="255"/>
        <pc:sldMkLst>
          <pc:docMk/>
          <pc:sldMk cId="2466595858" sldId="346"/>
        </pc:sldMkLst>
        <pc:spChg chg="mod">
          <ac:chgData name="Cornelia Popescu" userId="444ac7d1-afda-4314-b2c2-4aff562fe857" providerId="ADAL" clId="{3812F0D7-A263-41B2-AC96-1F3B68D731C9}" dt="2026-03-09T16:24:29.824" v="1495" actId="108"/>
          <ac:spMkLst>
            <pc:docMk/>
            <pc:sldMk cId="2466595858" sldId="346"/>
            <ac:spMk id="4" creationId="{D8E46BF4-8787-A577-834E-AA4EEDEC3836}"/>
          </ac:spMkLst>
        </pc:spChg>
        <pc:spChg chg="mod">
          <ac:chgData name="Cornelia Popescu" userId="444ac7d1-afda-4314-b2c2-4aff562fe857" providerId="ADAL" clId="{3812F0D7-A263-41B2-AC96-1F3B68D731C9}" dt="2026-03-09T16:25:11.009" v="1507" actId="255"/>
          <ac:spMkLst>
            <pc:docMk/>
            <pc:sldMk cId="2466595858" sldId="346"/>
            <ac:spMk id="5" creationId="{C3401DDE-766C-1E38-6740-E5161424B2D8}"/>
          </ac:spMkLst>
        </pc:spChg>
      </pc:sldChg>
      <pc:sldChg chg="modSp mod">
        <pc:chgData name="Cornelia Popescu" userId="444ac7d1-afda-4314-b2c2-4aff562fe857" providerId="ADAL" clId="{3812F0D7-A263-41B2-AC96-1F3B68D731C9}" dt="2026-03-11T16:03:11.920" v="2041" actId="255"/>
        <pc:sldMkLst>
          <pc:docMk/>
          <pc:sldMk cId="2686038603" sldId="347"/>
        </pc:sldMkLst>
        <pc:spChg chg="mod">
          <ac:chgData name="Cornelia Popescu" userId="444ac7d1-afda-4314-b2c2-4aff562fe857" providerId="ADAL" clId="{3812F0D7-A263-41B2-AC96-1F3B68D731C9}" dt="2026-03-09T16:25:44.154" v="1510" actId="1076"/>
          <ac:spMkLst>
            <pc:docMk/>
            <pc:sldMk cId="2686038603" sldId="347"/>
            <ac:spMk id="2" creationId="{3C60CCA7-C138-9D1E-9CBE-C42B0CE429AD}"/>
          </ac:spMkLst>
        </pc:spChg>
        <pc:spChg chg="mod">
          <ac:chgData name="Cornelia Popescu" userId="444ac7d1-afda-4314-b2c2-4aff562fe857" providerId="ADAL" clId="{3812F0D7-A263-41B2-AC96-1F3B68D731C9}" dt="2026-03-11T16:03:11.920" v="2041" actId="255"/>
          <ac:spMkLst>
            <pc:docMk/>
            <pc:sldMk cId="2686038603" sldId="347"/>
            <ac:spMk id="3" creationId="{D0188AF1-8645-EC78-DF68-F834FBE61C24}"/>
          </ac:spMkLst>
        </pc:spChg>
      </pc:sldChg>
      <pc:sldChg chg="modSp mod">
        <pc:chgData name="Cornelia Popescu" userId="444ac7d1-afda-4314-b2c2-4aff562fe857" providerId="ADAL" clId="{3812F0D7-A263-41B2-AC96-1F3B68D731C9}" dt="2026-03-10T14:46:07.317" v="1832" actId="1076"/>
        <pc:sldMkLst>
          <pc:docMk/>
          <pc:sldMk cId="1808099555" sldId="348"/>
        </pc:sldMkLst>
        <pc:spChg chg="mod">
          <ac:chgData name="Cornelia Popescu" userId="444ac7d1-afda-4314-b2c2-4aff562fe857" providerId="ADAL" clId="{3812F0D7-A263-41B2-AC96-1F3B68D731C9}" dt="2026-03-10T14:43:49.378" v="1821" actId="108"/>
          <ac:spMkLst>
            <pc:docMk/>
            <pc:sldMk cId="1808099555" sldId="348"/>
            <ac:spMk id="2" creationId="{80599B49-13E7-BF86-D583-81C40A608ED1}"/>
          </ac:spMkLst>
        </pc:spChg>
        <pc:spChg chg="mod">
          <ac:chgData name="Cornelia Popescu" userId="444ac7d1-afda-4314-b2c2-4aff562fe857" providerId="ADAL" clId="{3812F0D7-A263-41B2-AC96-1F3B68D731C9}" dt="2026-03-10T14:46:07.317" v="1832" actId="1076"/>
          <ac:spMkLst>
            <pc:docMk/>
            <pc:sldMk cId="1808099555" sldId="348"/>
            <ac:spMk id="6" creationId="{B1FF6E53-EFE4-4B22-400D-77E7068B30F4}"/>
          </ac:spMkLst>
        </pc:spChg>
      </pc:sldChg>
      <pc:sldChg chg="addSp delSp modSp mod modNotesTx">
        <pc:chgData name="Cornelia Popescu" userId="444ac7d1-afda-4314-b2c2-4aff562fe857" providerId="ADAL" clId="{3812F0D7-A263-41B2-AC96-1F3B68D731C9}" dt="2026-03-10T15:49:15.598" v="1957" actId="108"/>
        <pc:sldMkLst>
          <pc:docMk/>
          <pc:sldMk cId="426479371" sldId="349"/>
        </pc:sldMkLst>
        <pc:spChg chg="mod">
          <ac:chgData name="Cornelia Popescu" userId="444ac7d1-afda-4314-b2c2-4aff562fe857" providerId="ADAL" clId="{3812F0D7-A263-41B2-AC96-1F3B68D731C9}" dt="2026-03-09T16:26:54.167" v="1519" actId="108"/>
          <ac:spMkLst>
            <pc:docMk/>
            <pc:sldMk cId="426479371" sldId="349"/>
            <ac:spMk id="2" creationId="{98166FE0-731F-584A-7AE8-DA616DF8FA1E}"/>
          </ac:spMkLst>
        </pc:spChg>
        <pc:spChg chg="mod">
          <ac:chgData name="Cornelia Popescu" userId="444ac7d1-afda-4314-b2c2-4aff562fe857" providerId="ADAL" clId="{3812F0D7-A263-41B2-AC96-1F3B68D731C9}" dt="2026-03-10T15:43:51.654" v="1940" actId="1076"/>
          <ac:spMkLst>
            <pc:docMk/>
            <pc:sldMk cId="426479371" sldId="349"/>
            <ac:spMk id="3" creationId="{BBF21FD9-A167-EB30-6361-DCABA4BA08BA}"/>
          </ac:spMkLst>
        </pc:spChg>
        <pc:spChg chg="del mod">
          <ac:chgData name="Cornelia Popescu" userId="444ac7d1-afda-4314-b2c2-4aff562fe857" providerId="ADAL" clId="{3812F0D7-A263-41B2-AC96-1F3B68D731C9}" dt="2026-03-10T15:43:05.497" v="1933" actId="478"/>
          <ac:spMkLst>
            <pc:docMk/>
            <pc:sldMk cId="426479371" sldId="349"/>
            <ac:spMk id="4" creationId="{6CEB6840-42DB-BEE1-13C6-49D67009DE71}"/>
          </ac:spMkLst>
        </pc:spChg>
        <pc:spChg chg="add mod">
          <ac:chgData name="Cornelia Popescu" userId="444ac7d1-afda-4314-b2c2-4aff562fe857" providerId="ADAL" clId="{3812F0D7-A263-41B2-AC96-1F3B68D731C9}" dt="2026-03-10T15:49:15.598" v="1957" actId="108"/>
          <ac:spMkLst>
            <pc:docMk/>
            <pc:sldMk cId="426479371" sldId="349"/>
            <ac:spMk id="5" creationId="{25AC5EF3-A11A-5249-522E-35006E242BC5}"/>
          </ac:spMkLst>
        </pc:spChg>
      </pc:sldChg>
      <pc:sldChg chg="modSp mod">
        <pc:chgData name="Cornelia Popescu" userId="444ac7d1-afda-4314-b2c2-4aff562fe857" providerId="ADAL" clId="{3812F0D7-A263-41B2-AC96-1F3B68D731C9}" dt="2026-03-09T16:27:47.953" v="1530" actId="108"/>
        <pc:sldMkLst>
          <pc:docMk/>
          <pc:sldMk cId="1502119312" sldId="350"/>
        </pc:sldMkLst>
        <pc:spChg chg="mod">
          <ac:chgData name="Cornelia Popescu" userId="444ac7d1-afda-4314-b2c2-4aff562fe857" providerId="ADAL" clId="{3812F0D7-A263-41B2-AC96-1F3B68D731C9}" dt="2026-03-09T16:27:12.469" v="1522" actId="20577"/>
          <ac:spMkLst>
            <pc:docMk/>
            <pc:sldMk cId="1502119312" sldId="350"/>
            <ac:spMk id="2" creationId="{BC467849-82D7-2A40-DB79-C127D6994C08}"/>
          </ac:spMkLst>
        </pc:spChg>
        <pc:spChg chg="mod">
          <ac:chgData name="Cornelia Popescu" userId="444ac7d1-afda-4314-b2c2-4aff562fe857" providerId="ADAL" clId="{3812F0D7-A263-41B2-AC96-1F3B68D731C9}" dt="2026-03-09T16:27:47.953" v="1530" actId="108"/>
          <ac:spMkLst>
            <pc:docMk/>
            <pc:sldMk cId="1502119312" sldId="350"/>
            <ac:spMk id="3" creationId="{9CDA7334-1BBD-5437-3335-E09A5016076D}"/>
          </ac:spMkLst>
        </pc:spChg>
      </pc:sldChg>
      <pc:sldChg chg="modSp mod">
        <pc:chgData name="Cornelia Popescu" userId="444ac7d1-afda-4314-b2c2-4aff562fe857" providerId="ADAL" clId="{3812F0D7-A263-41B2-AC96-1F3B68D731C9}" dt="2026-03-09T16:28:12.953" v="1534" actId="108"/>
        <pc:sldMkLst>
          <pc:docMk/>
          <pc:sldMk cId="1100175639" sldId="351"/>
        </pc:sldMkLst>
        <pc:spChg chg="mod">
          <ac:chgData name="Cornelia Popescu" userId="444ac7d1-afda-4314-b2c2-4aff562fe857" providerId="ADAL" clId="{3812F0D7-A263-41B2-AC96-1F3B68D731C9}" dt="2026-03-09T16:28:03.376" v="1532" actId="108"/>
          <ac:spMkLst>
            <pc:docMk/>
            <pc:sldMk cId="1100175639" sldId="351"/>
            <ac:spMk id="2" creationId="{84B19794-D13B-D4ED-B690-3FA2FCDB5ED4}"/>
          </ac:spMkLst>
        </pc:spChg>
        <pc:spChg chg="mod">
          <ac:chgData name="Cornelia Popescu" userId="444ac7d1-afda-4314-b2c2-4aff562fe857" providerId="ADAL" clId="{3812F0D7-A263-41B2-AC96-1F3B68D731C9}" dt="2026-03-09T16:28:12.953" v="1534" actId="108"/>
          <ac:spMkLst>
            <pc:docMk/>
            <pc:sldMk cId="1100175639" sldId="351"/>
            <ac:spMk id="3" creationId="{88323534-F2B9-E6C0-480C-949976612228}"/>
          </ac:spMkLst>
        </pc:spChg>
      </pc:sldChg>
      <pc:sldChg chg="modSp mod">
        <pc:chgData name="Cornelia Popescu" userId="444ac7d1-afda-4314-b2c2-4aff562fe857" providerId="ADAL" clId="{3812F0D7-A263-41B2-AC96-1F3B68D731C9}" dt="2026-03-09T16:29:14.854" v="1538" actId="108"/>
        <pc:sldMkLst>
          <pc:docMk/>
          <pc:sldMk cId="4200780297" sldId="352"/>
        </pc:sldMkLst>
        <pc:spChg chg="mod">
          <ac:chgData name="Cornelia Popescu" userId="444ac7d1-afda-4314-b2c2-4aff562fe857" providerId="ADAL" clId="{3812F0D7-A263-41B2-AC96-1F3B68D731C9}" dt="2026-03-09T16:28:59.344" v="1535" actId="108"/>
          <ac:spMkLst>
            <pc:docMk/>
            <pc:sldMk cId="4200780297" sldId="352"/>
            <ac:spMk id="2" creationId="{674A6DFD-01B1-B1F8-BE98-7800E6C162A6}"/>
          </ac:spMkLst>
        </pc:spChg>
        <pc:spChg chg="mod">
          <ac:chgData name="Cornelia Popescu" userId="444ac7d1-afda-4314-b2c2-4aff562fe857" providerId="ADAL" clId="{3812F0D7-A263-41B2-AC96-1F3B68D731C9}" dt="2026-03-09T16:29:14.854" v="1538" actId="108"/>
          <ac:spMkLst>
            <pc:docMk/>
            <pc:sldMk cId="4200780297" sldId="352"/>
            <ac:spMk id="3" creationId="{208F2D26-A6EB-3DD6-FDA9-ECE8F14FCAB0}"/>
          </ac:spMkLst>
        </pc:spChg>
      </pc:sldChg>
      <pc:sldChg chg="modSp mod">
        <pc:chgData name="Cornelia Popescu" userId="444ac7d1-afda-4314-b2c2-4aff562fe857" providerId="ADAL" clId="{3812F0D7-A263-41B2-AC96-1F3B68D731C9}" dt="2026-03-09T16:30:26.713" v="1548" actId="1076"/>
        <pc:sldMkLst>
          <pc:docMk/>
          <pc:sldMk cId="2655857979" sldId="353"/>
        </pc:sldMkLst>
        <pc:spChg chg="mod">
          <ac:chgData name="Cornelia Popescu" userId="444ac7d1-afda-4314-b2c2-4aff562fe857" providerId="ADAL" clId="{3812F0D7-A263-41B2-AC96-1F3B68D731C9}" dt="2026-03-09T16:29:26.596" v="1539" actId="108"/>
          <ac:spMkLst>
            <pc:docMk/>
            <pc:sldMk cId="2655857979" sldId="353"/>
            <ac:spMk id="2" creationId="{03350FF1-1FB4-F10F-255A-81B6FAEDBD8A}"/>
          </ac:spMkLst>
        </pc:spChg>
        <pc:spChg chg="mod">
          <ac:chgData name="Cornelia Popescu" userId="444ac7d1-afda-4314-b2c2-4aff562fe857" providerId="ADAL" clId="{3812F0D7-A263-41B2-AC96-1F3B68D731C9}" dt="2026-03-09T16:30:26.713" v="1548" actId="1076"/>
          <ac:spMkLst>
            <pc:docMk/>
            <pc:sldMk cId="2655857979" sldId="353"/>
            <ac:spMk id="3" creationId="{A2B5BDD5-4462-F6F5-918B-C6702F3EA66D}"/>
          </ac:spMkLst>
        </pc:spChg>
      </pc:sldChg>
      <pc:sldChg chg="addSp delSp modSp mod">
        <pc:chgData name="Cornelia Popescu" userId="444ac7d1-afda-4314-b2c2-4aff562fe857" providerId="ADAL" clId="{3812F0D7-A263-41B2-AC96-1F3B68D731C9}" dt="2026-03-10T15:49:07.030" v="1956" actId="108"/>
        <pc:sldMkLst>
          <pc:docMk/>
          <pc:sldMk cId="4031969822" sldId="354"/>
        </pc:sldMkLst>
        <pc:spChg chg="mod">
          <ac:chgData name="Cornelia Popescu" userId="444ac7d1-afda-4314-b2c2-4aff562fe857" providerId="ADAL" clId="{3812F0D7-A263-41B2-AC96-1F3B68D731C9}" dt="2026-03-09T16:30:37.100" v="1549" actId="108"/>
          <ac:spMkLst>
            <pc:docMk/>
            <pc:sldMk cId="4031969822" sldId="354"/>
            <ac:spMk id="2" creationId="{CE7CE7F3-A6A1-C0DD-07FA-78D859A63069}"/>
          </ac:spMkLst>
        </pc:spChg>
        <pc:spChg chg="mod">
          <ac:chgData name="Cornelia Popescu" userId="444ac7d1-afda-4314-b2c2-4aff562fe857" providerId="ADAL" clId="{3812F0D7-A263-41B2-AC96-1F3B68D731C9}" dt="2026-03-10T14:48:41.371" v="1833" actId="1076"/>
          <ac:spMkLst>
            <pc:docMk/>
            <pc:sldMk cId="4031969822" sldId="354"/>
            <ac:spMk id="3" creationId="{F7B5C401-7144-13F1-D7B4-6C51C79E2572}"/>
          </ac:spMkLst>
        </pc:spChg>
        <pc:spChg chg="del mod">
          <ac:chgData name="Cornelia Popescu" userId="444ac7d1-afda-4314-b2c2-4aff562fe857" providerId="ADAL" clId="{3812F0D7-A263-41B2-AC96-1F3B68D731C9}" dt="2026-03-10T15:44:34.477" v="1941" actId="478"/>
          <ac:spMkLst>
            <pc:docMk/>
            <pc:sldMk cId="4031969822" sldId="354"/>
            <ac:spMk id="4" creationId="{6CEB6840-42DB-BEE1-13C6-49D67009DE71}"/>
          </ac:spMkLst>
        </pc:spChg>
        <pc:spChg chg="add mod">
          <ac:chgData name="Cornelia Popescu" userId="444ac7d1-afda-4314-b2c2-4aff562fe857" providerId="ADAL" clId="{3812F0D7-A263-41B2-AC96-1F3B68D731C9}" dt="2026-03-10T15:49:07.030" v="1956" actId="108"/>
          <ac:spMkLst>
            <pc:docMk/>
            <pc:sldMk cId="4031969822" sldId="354"/>
            <ac:spMk id="5" creationId="{609F3D55-1C7C-B2A6-8D51-83C0DD4153E0}"/>
          </ac:spMkLst>
        </pc:spChg>
      </pc:sldChg>
      <pc:sldChg chg="modSp mod">
        <pc:chgData name="Cornelia Popescu" userId="444ac7d1-afda-4314-b2c2-4aff562fe857" providerId="ADAL" clId="{3812F0D7-A263-41B2-AC96-1F3B68D731C9}" dt="2026-03-09T16:31:52.050" v="1556" actId="108"/>
        <pc:sldMkLst>
          <pc:docMk/>
          <pc:sldMk cId="1857778175" sldId="355"/>
        </pc:sldMkLst>
        <pc:spChg chg="mod">
          <ac:chgData name="Cornelia Popescu" userId="444ac7d1-afda-4314-b2c2-4aff562fe857" providerId="ADAL" clId="{3812F0D7-A263-41B2-AC96-1F3B68D731C9}" dt="2026-03-09T16:30:59.174" v="1554" actId="108"/>
          <ac:spMkLst>
            <pc:docMk/>
            <pc:sldMk cId="1857778175" sldId="355"/>
            <ac:spMk id="4" creationId="{EDC1ADE4-9866-7957-2829-B5C82792D762}"/>
          </ac:spMkLst>
        </pc:spChg>
        <pc:spChg chg="mod">
          <ac:chgData name="Cornelia Popescu" userId="444ac7d1-afda-4314-b2c2-4aff562fe857" providerId="ADAL" clId="{3812F0D7-A263-41B2-AC96-1F3B68D731C9}" dt="2026-03-09T16:31:52.050" v="1556" actId="108"/>
          <ac:spMkLst>
            <pc:docMk/>
            <pc:sldMk cId="1857778175" sldId="355"/>
            <ac:spMk id="5" creationId="{0096569F-D19E-122C-B9EE-DB1BC6964393}"/>
          </ac:spMkLst>
        </pc:spChg>
      </pc:sldChg>
      <pc:sldChg chg="modSp mod">
        <pc:chgData name="Cornelia Popescu" userId="444ac7d1-afda-4314-b2c2-4aff562fe857" providerId="ADAL" clId="{3812F0D7-A263-41B2-AC96-1F3B68D731C9}" dt="2026-03-09T16:32:26.514" v="1560" actId="108"/>
        <pc:sldMkLst>
          <pc:docMk/>
          <pc:sldMk cId="2433811957" sldId="356"/>
        </pc:sldMkLst>
        <pc:spChg chg="mod">
          <ac:chgData name="Cornelia Popescu" userId="444ac7d1-afda-4314-b2c2-4aff562fe857" providerId="ADAL" clId="{3812F0D7-A263-41B2-AC96-1F3B68D731C9}" dt="2026-03-09T16:32:04.922" v="1557" actId="108"/>
          <ac:spMkLst>
            <pc:docMk/>
            <pc:sldMk cId="2433811957" sldId="356"/>
            <ac:spMk id="2" creationId="{55F1F493-2A63-41A7-266C-73CE1A27ED6D}"/>
          </ac:spMkLst>
        </pc:spChg>
        <pc:spChg chg="mod">
          <ac:chgData name="Cornelia Popescu" userId="444ac7d1-afda-4314-b2c2-4aff562fe857" providerId="ADAL" clId="{3812F0D7-A263-41B2-AC96-1F3B68D731C9}" dt="2026-03-09T16:32:26.514" v="1560" actId="108"/>
          <ac:spMkLst>
            <pc:docMk/>
            <pc:sldMk cId="2433811957" sldId="356"/>
            <ac:spMk id="3" creationId="{DF918F1C-9EF2-9B40-5564-E2B7A297C6B3}"/>
          </ac:spMkLst>
        </pc:spChg>
      </pc:sldChg>
      <pc:sldChg chg="modSp mod">
        <pc:chgData name="Cornelia Popescu" userId="444ac7d1-afda-4314-b2c2-4aff562fe857" providerId="ADAL" clId="{3812F0D7-A263-41B2-AC96-1F3B68D731C9}" dt="2026-03-09T16:33:32.090" v="1568" actId="108"/>
        <pc:sldMkLst>
          <pc:docMk/>
          <pc:sldMk cId="276733354" sldId="357"/>
        </pc:sldMkLst>
        <pc:spChg chg="mod">
          <ac:chgData name="Cornelia Popescu" userId="444ac7d1-afda-4314-b2c2-4aff562fe857" providerId="ADAL" clId="{3812F0D7-A263-41B2-AC96-1F3B68D731C9}" dt="2026-03-09T16:33:06.032" v="1564" actId="108"/>
          <ac:spMkLst>
            <pc:docMk/>
            <pc:sldMk cId="276733354" sldId="357"/>
            <ac:spMk id="2" creationId="{165AB68D-8E33-B2D2-7321-33A1106E8D49}"/>
          </ac:spMkLst>
        </pc:spChg>
        <pc:spChg chg="mod">
          <ac:chgData name="Cornelia Popescu" userId="444ac7d1-afda-4314-b2c2-4aff562fe857" providerId="ADAL" clId="{3812F0D7-A263-41B2-AC96-1F3B68D731C9}" dt="2026-03-09T16:33:32.090" v="1568" actId="108"/>
          <ac:spMkLst>
            <pc:docMk/>
            <pc:sldMk cId="276733354" sldId="357"/>
            <ac:spMk id="3" creationId="{1B7F20D9-DEEE-668F-C426-873B2C32029B}"/>
          </ac:spMkLst>
        </pc:spChg>
      </pc:sldChg>
      <pc:sldChg chg="modSp mod">
        <pc:chgData name="Cornelia Popescu" userId="444ac7d1-afda-4314-b2c2-4aff562fe857" providerId="ADAL" clId="{3812F0D7-A263-41B2-AC96-1F3B68D731C9}" dt="2026-03-11T09:03:54.896" v="2037" actId="207"/>
        <pc:sldMkLst>
          <pc:docMk/>
          <pc:sldMk cId="1562328460" sldId="358"/>
        </pc:sldMkLst>
        <pc:spChg chg="mod">
          <ac:chgData name="Cornelia Popescu" userId="444ac7d1-afda-4314-b2c2-4aff562fe857" providerId="ADAL" clId="{3812F0D7-A263-41B2-AC96-1F3B68D731C9}" dt="2026-03-09T16:33:49.770" v="1569" actId="108"/>
          <ac:spMkLst>
            <pc:docMk/>
            <pc:sldMk cId="1562328460" sldId="358"/>
            <ac:spMk id="2" creationId="{50A0DDDE-7D45-3C34-2293-858970FD7094}"/>
          </ac:spMkLst>
        </pc:spChg>
        <pc:spChg chg="mod">
          <ac:chgData name="Cornelia Popescu" userId="444ac7d1-afda-4314-b2c2-4aff562fe857" providerId="ADAL" clId="{3812F0D7-A263-41B2-AC96-1F3B68D731C9}" dt="2026-03-09T16:33:56.703" v="1570" actId="108"/>
          <ac:spMkLst>
            <pc:docMk/>
            <pc:sldMk cId="1562328460" sldId="358"/>
            <ac:spMk id="3" creationId="{3C592CCC-5EFD-0F86-0339-3D308098C6BA}"/>
          </ac:spMkLst>
        </pc:spChg>
        <pc:graphicFrameChg chg="modGraphic">
          <ac:chgData name="Cornelia Popescu" userId="444ac7d1-afda-4314-b2c2-4aff562fe857" providerId="ADAL" clId="{3812F0D7-A263-41B2-AC96-1F3B68D731C9}" dt="2026-03-11T09:03:54.896" v="2037" actId="207"/>
          <ac:graphicFrameMkLst>
            <pc:docMk/>
            <pc:sldMk cId="1562328460" sldId="358"/>
            <ac:graphicFrameMk id="4" creationId="{1B7A7C1C-B707-B340-537C-C4F1C31FC2E3}"/>
          </ac:graphicFrameMkLst>
        </pc:graphicFrameChg>
      </pc:sldChg>
      <pc:sldChg chg="modSp mod">
        <pc:chgData name="Cornelia Popescu" userId="444ac7d1-afda-4314-b2c2-4aff562fe857" providerId="ADAL" clId="{3812F0D7-A263-41B2-AC96-1F3B68D731C9}" dt="2026-03-09T16:35:47.590" v="1576" actId="108"/>
        <pc:sldMkLst>
          <pc:docMk/>
          <pc:sldMk cId="905106054" sldId="359"/>
        </pc:sldMkLst>
        <pc:spChg chg="mod">
          <ac:chgData name="Cornelia Popescu" userId="444ac7d1-afda-4314-b2c2-4aff562fe857" providerId="ADAL" clId="{3812F0D7-A263-41B2-AC96-1F3B68D731C9}" dt="2026-03-09T16:35:02.186" v="1571" actId="108"/>
          <ac:spMkLst>
            <pc:docMk/>
            <pc:sldMk cId="905106054" sldId="359"/>
            <ac:spMk id="2" creationId="{9BC0B0EF-28E2-F5C2-68A2-D4860CEFE375}"/>
          </ac:spMkLst>
        </pc:spChg>
        <pc:spChg chg="mod">
          <ac:chgData name="Cornelia Popescu" userId="444ac7d1-afda-4314-b2c2-4aff562fe857" providerId="ADAL" clId="{3812F0D7-A263-41B2-AC96-1F3B68D731C9}" dt="2026-03-09T16:35:47.590" v="1576" actId="108"/>
          <ac:spMkLst>
            <pc:docMk/>
            <pc:sldMk cId="905106054" sldId="359"/>
            <ac:spMk id="3" creationId="{0A26FC2C-FC43-E9D3-6F22-E9C3BC2715C4}"/>
          </ac:spMkLst>
        </pc:spChg>
      </pc:sldChg>
      <pc:sldChg chg="delSp modSp mod">
        <pc:chgData name="Cornelia Popescu" userId="444ac7d1-afda-4314-b2c2-4aff562fe857" providerId="ADAL" clId="{3812F0D7-A263-41B2-AC96-1F3B68D731C9}" dt="2026-03-10T12:48:07.574" v="1755" actId="20577"/>
        <pc:sldMkLst>
          <pc:docMk/>
          <pc:sldMk cId="2748910401" sldId="360"/>
        </pc:sldMkLst>
        <pc:spChg chg="mod">
          <ac:chgData name="Cornelia Popescu" userId="444ac7d1-afda-4314-b2c2-4aff562fe857" providerId="ADAL" clId="{3812F0D7-A263-41B2-AC96-1F3B68D731C9}" dt="2026-03-10T12:48:07.574" v="1755" actId="20577"/>
          <ac:spMkLst>
            <pc:docMk/>
            <pc:sldMk cId="2748910401" sldId="360"/>
            <ac:spMk id="2" creationId="{603690A3-A16D-B124-657E-F3F1219BC675}"/>
          </ac:spMkLst>
        </pc:spChg>
        <pc:spChg chg="mod">
          <ac:chgData name="Cornelia Popescu" userId="444ac7d1-afda-4314-b2c2-4aff562fe857" providerId="ADAL" clId="{3812F0D7-A263-41B2-AC96-1F3B68D731C9}" dt="2026-03-10T12:47:02.913" v="1697" actId="20577"/>
          <ac:spMkLst>
            <pc:docMk/>
            <pc:sldMk cId="2748910401" sldId="360"/>
            <ac:spMk id="3" creationId="{D1B85E05-0B3E-0A92-8ECE-8E5CBD832DFD}"/>
          </ac:spMkLst>
        </pc:spChg>
        <pc:spChg chg="del">
          <ac:chgData name="Cornelia Popescu" userId="444ac7d1-afda-4314-b2c2-4aff562fe857" providerId="ADAL" clId="{3812F0D7-A263-41B2-AC96-1F3B68D731C9}" dt="2026-03-10T12:46:45.419" v="1692" actId="21"/>
          <ac:spMkLst>
            <pc:docMk/>
            <pc:sldMk cId="2748910401" sldId="360"/>
            <ac:spMk id="4" creationId="{6CEB6840-42DB-BEE1-13C6-49D67009DE71}"/>
          </ac:spMkLst>
        </pc:spChg>
      </pc:sldChg>
      <pc:sldChg chg="modSp mod">
        <pc:chgData name="Cornelia Popescu" userId="444ac7d1-afda-4314-b2c2-4aff562fe857" providerId="ADAL" clId="{3812F0D7-A263-41B2-AC96-1F3B68D731C9}" dt="2026-03-09T16:36:42.462" v="1582" actId="108"/>
        <pc:sldMkLst>
          <pc:docMk/>
          <pc:sldMk cId="2690396568" sldId="361"/>
        </pc:sldMkLst>
        <pc:spChg chg="mod">
          <ac:chgData name="Cornelia Popescu" userId="444ac7d1-afda-4314-b2c2-4aff562fe857" providerId="ADAL" clId="{3812F0D7-A263-41B2-AC96-1F3B68D731C9}" dt="2026-03-09T16:36:21.288" v="1578" actId="1076"/>
          <ac:spMkLst>
            <pc:docMk/>
            <pc:sldMk cId="2690396568" sldId="361"/>
            <ac:spMk id="2" creationId="{5091864E-F895-F1B1-4007-DD2C18CD1A3A}"/>
          </ac:spMkLst>
        </pc:spChg>
        <pc:spChg chg="mod">
          <ac:chgData name="Cornelia Popescu" userId="444ac7d1-afda-4314-b2c2-4aff562fe857" providerId="ADAL" clId="{3812F0D7-A263-41B2-AC96-1F3B68D731C9}" dt="2026-03-09T16:36:42.462" v="1582" actId="108"/>
          <ac:spMkLst>
            <pc:docMk/>
            <pc:sldMk cId="2690396568" sldId="361"/>
            <ac:spMk id="3" creationId="{3F01CBBB-4227-BF4F-0F08-6B91C8E2D3E0}"/>
          </ac:spMkLst>
        </pc:spChg>
      </pc:sldChg>
      <pc:sldChg chg="modSp mod">
        <pc:chgData name="Cornelia Popescu" userId="444ac7d1-afda-4314-b2c2-4aff562fe857" providerId="ADAL" clId="{3812F0D7-A263-41B2-AC96-1F3B68D731C9}" dt="2026-03-10T12:49:08.477" v="1764" actId="20577"/>
        <pc:sldMkLst>
          <pc:docMk/>
          <pc:sldMk cId="177715388" sldId="362"/>
        </pc:sldMkLst>
        <pc:spChg chg="mod">
          <ac:chgData name="Cornelia Popescu" userId="444ac7d1-afda-4314-b2c2-4aff562fe857" providerId="ADAL" clId="{3812F0D7-A263-41B2-AC96-1F3B68D731C9}" dt="2026-03-09T16:38:11.208" v="1591" actId="108"/>
          <ac:spMkLst>
            <pc:docMk/>
            <pc:sldMk cId="177715388" sldId="362"/>
            <ac:spMk id="4" creationId="{E583CCFF-ABC5-8B38-5A15-7B57650DA95A}"/>
          </ac:spMkLst>
        </pc:spChg>
        <pc:spChg chg="mod">
          <ac:chgData name="Cornelia Popescu" userId="444ac7d1-afda-4314-b2c2-4aff562fe857" providerId="ADAL" clId="{3812F0D7-A263-41B2-AC96-1F3B68D731C9}" dt="2026-03-10T12:49:08.477" v="1764" actId="20577"/>
          <ac:spMkLst>
            <pc:docMk/>
            <pc:sldMk cId="177715388" sldId="362"/>
            <ac:spMk id="5" creationId="{654B7F86-19F7-15CA-BCDC-DAC6057A2583}"/>
          </ac:spMkLst>
        </pc:spChg>
      </pc:sldChg>
      <pc:sldChg chg="modSp mod">
        <pc:chgData name="Cornelia Popescu" userId="444ac7d1-afda-4314-b2c2-4aff562fe857" providerId="ADAL" clId="{3812F0D7-A263-41B2-AC96-1F3B68D731C9}" dt="2026-03-10T14:55:51.299" v="1840" actId="108"/>
        <pc:sldMkLst>
          <pc:docMk/>
          <pc:sldMk cId="2169745928" sldId="364"/>
        </pc:sldMkLst>
        <pc:spChg chg="mod">
          <ac:chgData name="Cornelia Popescu" userId="444ac7d1-afda-4314-b2c2-4aff562fe857" providerId="ADAL" clId="{3812F0D7-A263-41B2-AC96-1F3B68D731C9}" dt="2026-03-10T14:55:28.902" v="1836" actId="108"/>
          <ac:spMkLst>
            <pc:docMk/>
            <pc:sldMk cId="2169745928" sldId="364"/>
            <ac:spMk id="2" creationId="{1D4A20B8-B996-197E-7A80-556E54CFD41B}"/>
          </ac:spMkLst>
        </pc:spChg>
        <pc:spChg chg="mod">
          <ac:chgData name="Cornelia Popescu" userId="444ac7d1-afda-4314-b2c2-4aff562fe857" providerId="ADAL" clId="{3812F0D7-A263-41B2-AC96-1F3B68D731C9}" dt="2026-03-10T14:55:51.299" v="1840" actId="108"/>
          <ac:spMkLst>
            <pc:docMk/>
            <pc:sldMk cId="2169745928" sldId="364"/>
            <ac:spMk id="6" creationId="{6DB19A90-6F2E-83E1-2B23-25C725D08E14}"/>
          </ac:spMkLst>
        </pc:spChg>
      </pc:sldChg>
      <pc:sldChg chg="modSp mod">
        <pc:chgData name="Cornelia Popescu" userId="444ac7d1-afda-4314-b2c2-4aff562fe857" providerId="ADAL" clId="{3812F0D7-A263-41B2-AC96-1F3B68D731C9}" dt="2026-03-10T14:56:59.012" v="1846" actId="108"/>
        <pc:sldMkLst>
          <pc:docMk/>
          <pc:sldMk cId="3240029444" sldId="365"/>
        </pc:sldMkLst>
        <pc:spChg chg="mod">
          <ac:chgData name="Cornelia Popescu" userId="444ac7d1-afda-4314-b2c2-4aff562fe857" providerId="ADAL" clId="{3812F0D7-A263-41B2-AC96-1F3B68D731C9}" dt="2026-03-10T14:56:59.012" v="1846" actId="108"/>
          <ac:spMkLst>
            <pc:docMk/>
            <pc:sldMk cId="3240029444" sldId="365"/>
            <ac:spMk id="2" creationId="{0C438FF6-D2A9-0FC5-23C7-17ECBBD08664}"/>
          </ac:spMkLst>
        </pc:spChg>
        <pc:spChg chg="mod">
          <ac:chgData name="Cornelia Popescu" userId="444ac7d1-afda-4314-b2c2-4aff562fe857" providerId="ADAL" clId="{3812F0D7-A263-41B2-AC96-1F3B68D731C9}" dt="2026-03-10T14:56:30.490" v="1845" actId="108"/>
          <ac:spMkLst>
            <pc:docMk/>
            <pc:sldMk cId="3240029444" sldId="365"/>
            <ac:spMk id="3" creationId="{03BA631E-D0DB-855C-63C4-3287AFE77FCB}"/>
          </ac:spMkLst>
        </pc:spChg>
      </pc:sldChg>
      <pc:sldChg chg="modSp mod">
        <pc:chgData name="Cornelia Popescu" userId="444ac7d1-afda-4314-b2c2-4aff562fe857" providerId="ADAL" clId="{3812F0D7-A263-41B2-AC96-1F3B68D731C9}" dt="2026-03-10T14:58:43.172" v="1857" actId="108"/>
        <pc:sldMkLst>
          <pc:docMk/>
          <pc:sldMk cId="2943654467" sldId="366"/>
        </pc:sldMkLst>
        <pc:spChg chg="mod">
          <ac:chgData name="Cornelia Popescu" userId="444ac7d1-afda-4314-b2c2-4aff562fe857" providerId="ADAL" clId="{3812F0D7-A263-41B2-AC96-1F3B68D731C9}" dt="2026-03-10T14:57:06.497" v="1847" actId="108"/>
          <ac:spMkLst>
            <pc:docMk/>
            <pc:sldMk cId="2943654467" sldId="366"/>
            <ac:spMk id="2" creationId="{D118CB17-3F55-253B-1653-AF69EA6D0209}"/>
          </ac:spMkLst>
        </pc:spChg>
        <pc:spChg chg="mod">
          <ac:chgData name="Cornelia Popescu" userId="444ac7d1-afda-4314-b2c2-4aff562fe857" providerId="ADAL" clId="{3812F0D7-A263-41B2-AC96-1F3B68D731C9}" dt="2026-03-10T14:58:43.172" v="1857" actId="108"/>
          <ac:spMkLst>
            <pc:docMk/>
            <pc:sldMk cId="2943654467" sldId="366"/>
            <ac:spMk id="3" creationId="{93A51468-4A86-EE15-2479-3B457BCA21AA}"/>
          </ac:spMkLst>
        </pc:spChg>
      </pc:sldChg>
      <pc:sldChg chg="addSp delSp modSp mod">
        <pc:chgData name="Cornelia Popescu" userId="444ac7d1-afda-4314-b2c2-4aff562fe857" providerId="ADAL" clId="{3812F0D7-A263-41B2-AC96-1F3B68D731C9}" dt="2026-03-10T15:48:07.516" v="1954" actId="255"/>
        <pc:sldMkLst>
          <pc:docMk/>
          <pc:sldMk cId="1529455841" sldId="368"/>
        </pc:sldMkLst>
        <pc:spChg chg="mod">
          <ac:chgData name="Cornelia Popescu" userId="444ac7d1-afda-4314-b2c2-4aff562fe857" providerId="ADAL" clId="{3812F0D7-A263-41B2-AC96-1F3B68D731C9}" dt="2026-03-10T13:32:36.119" v="1816" actId="1076"/>
          <ac:spMkLst>
            <pc:docMk/>
            <pc:sldMk cId="1529455841" sldId="368"/>
            <ac:spMk id="3" creationId="{9B5237E6-07A6-FEA8-4D87-5ACECBDFB5DD}"/>
          </ac:spMkLst>
        </pc:spChg>
        <pc:spChg chg="del mod">
          <ac:chgData name="Cornelia Popescu" userId="444ac7d1-afda-4314-b2c2-4aff562fe857" providerId="ADAL" clId="{3812F0D7-A263-41B2-AC96-1F3B68D731C9}" dt="2026-03-10T15:46:39.967" v="1949" actId="478"/>
          <ac:spMkLst>
            <pc:docMk/>
            <pc:sldMk cId="1529455841" sldId="368"/>
            <ac:spMk id="4" creationId="{6CEB6840-42DB-BEE1-13C6-49D67009DE71}"/>
          </ac:spMkLst>
        </pc:spChg>
        <pc:spChg chg="add mod">
          <ac:chgData name="Cornelia Popescu" userId="444ac7d1-afda-4314-b2c2-4aff562fe857" providerId="ADAL" clId="{3812F0D7-A263-41B2-AC96-1F3B68D731C9}" dt="2026-03-10T15:48:07.516" v="1954" actId="255"/>
          <ac:spMkLst>
            <pc:docMk/>
            <pc:sldMk cId="1529455841" sldId="368"/>
            <ac:spMk id="5" creationId="{7BF828CE-7750-BAFD-1934-8C56BD79C847}"/>
          </ac:spMkLst>
        </pc:spChg>
      </pc:sldChg>
      <pc:sldChg chg="modSp mod">
        <pc:chgData name="Cornelia Popescu" userId="444ac7d1-afda-4314-b2c2-4aff562fe857" providerId="ADAL" clId="{3812F0D7-A263-41B2-AC96-1F3B68D731C9}" dt="2026-03-09T16:32:49.194" v="1563" actId="108"/>
        <pc:sldMkLst>
          <pc:docMk/>
          <pc:sldMk cId="2757371250" sldId="370"/>
        </pc:sldMkLst>
        <pc:spChg chg="mod">
          <ac:chgData name="Cornelia Popescu" userId="444ac7d1-afda-4314-b2c2-4aff562fe857" providerId="ADAL" clId="{3812F0D7-A263-41B2-AC96-1F3B68D731C9}" dt="2026-03-09T16:32:49.194" v="1563" actId="108"/>
          <ac:spMkLst>
            <pc:docMk/>
            <pc:sldMk cId="2757371250" sldId="370"/>
            <ac:spMk id="2" creationId="{A583B260-62C4-D0E6-09A2-F3FD6C3E0B62}"/>
          </ac:spMkLst>
        </pc:spChg>
        <pc:spChg chg="mod">
          <ac:chgData name="Cornelia Popescu" userId="444ac7d1-afda-4314-b2c2-4aff562fe857" providerId="ADAL" clId="{3812F0D7-A263-41B2-AC96-1F3B68D731C9}" dt="2026-03-09T16:32:39.446" v="1562" actId="108"/>
          <ac:spMkLst>
            <pc:docMk/>
            <pc:sldMk cId="2757371250" sldId="370"/>
            <ac:spMk id="3" creationId="{86B8E5C6-7134-9A98-1638-0D0130523AE5}"/>
          </ac:spMkLst>
        </pc:spChg>
      </pc:sldChg>
      <pc:sldChg chg="add ord">
        <pc:chgData name="Cornelia Popescu" userId="444ac7d1-afda-4314-b2c2-4aff562fe857" providerId="ADAL" clId="{3812F0D7-A263-41B2-AC96-1F3B68D731C9}" dt="2026-03-09T14:56:19.757" v="11"/>
        <pc:sldMkLst>
          <pc:docMk/>
          <pc:sldMk cId="1075045137" sldId="372"/>
        </pc:sldMkLst>
      </pc:sldChg>
      <pc:sldChg chg="modSp add mod">
        <pc:chgData name="Cornelia Popescu" userId="444ac7d1-afda-4314-b2c2-4aff562fe857" providerId="ADAL" clId="{3812F0D7-A263-41B2-AC96-1F3B68D731C9}" dt="2026-03-09T14:57:25.377" v="53" actId="20577"/>
        <pc:sldMkLst>
          <pc:docMk/>
          <pc:sldMk cId="2623230634" sldId="451"/>
        </pc:sldMkLst>
        <pc:spChg chg="mod">
          <ac:chgData name="Cornelia Popescu" userId="444ac7d1-afda-4314-b2c2-4aff562fe857" providerId="ADAL" clId="{3812F0D7-A263-41B2-AC96-1F3B68D731C9}" dt="2026-03-09T14:57:25.377" v="53" actId="20577"/>
          <ac:spMkLst>
            <pc:docMk/>
            <pc:sldMk cId="2623230634" sldId="451"/>
            <ac:spMk id="2" creationId="{13DF1749-1A1D-3164-354A-8D2A8109F7D1}"/>
          </ac:spMkLst>
        </pc:spChg>
      </pc:sldChg>
      <pc:sldChg chg="add del">
        <pc:chgData name="Cornelia Popescu" userId="444ac7d1-afda-4314-b2c2-4aff562fe857" providerId="ADAL" clId="{3812F0D7-A263-41B2-AC96-1F3B68D731C9}" dt="2026-03-10T10:14:58.826" v="1605" actId="2696"/>
        <pc:sldMkLst>
          <pc:docMk/>
          <pc:sldMk cId="3059674935" sldId="455"/>
        </pc:sldMkLst>
      </pc:sldChg>
      <pc:sldChg chg="addSp delSp modSp new mod">
        <pc:chgData name="Cornelia Popescu" userId="444ac7d1-afda-4314-b2c2-4aff562fe857" providerId="ADAL" clId="{3812F0D7-A263-41B2-AC96-1F3B68D731C9}" dt="2026-03-09T15:46:35.799" v="1331" actId="1076"/>
        <pc:sldMkLst>
          <pc:docMk/>
          <pc:sldMk cId="153834155" sldId="456"/>
        </pc:sldMkLst>
        <pc:spChg chg="mod">
          <ac:chgData name="Cornelia Popescu" userId="444ac7d1-afda-4314-b2c2-4aff562fe857" providerId="ADAL" clId="{3812F0D7-A263-41B2-AC96-1F3B68D731C9}" dt="2026-03-09T15:40:38.950" v="1281" actId="255"/>
          <ac:spMkLst>
            <pc:docMk/>
            <pc:sldMk cId="153834155" sldId="456"/>
            <ac:spMk id="2" creationId="{FE0BC87D-9A3B-6229-F276-A7388E8B4200}"/>
          </ac:spMkLst>
        </pc:spChg>
        <pc:graphicFrameChg chg="add mod ord modGraphic">
          <ac:chgData name="Cornelia Popescu" userId="444ac7d1-afda-4314-b2c2-4aff562fe857" providerId="ADAL" clId="{3812F0D7-A263-41B2-AC96-1F3B68D731C9}" dt="2026-03-09T15:46:35.799" v="1331" actId="1076"/>
          <ac:graphicFrameMkLst>
            <pc:docMk/>
            <pc:sldMk cId="153834155" sldId="456"/>
            <ac:graphicFrameMk id="4" creationId="{DD5331CD-976E-C0DC-44E3-BDF806428722}"/>
          </ac:graphicFrameMkLst>
        </pc:graphicFrameChg>
      </pc:sldChg>
      <pc:sldChg chg="modSp add mod">
        <pc:chgData name="Cornelia Popescu" userId="444ac7d1-afda-4314-b2c2-4aff562fe857" providerId="ADAL" clId="{3812F0D7-A263-41B2-AC96-1F3B68D731C9}" dt="2026-03-09T16:13:13.006" v="1419" actId="1076"/>
        <pc:sldMkLst>
          <pc:docMk/>
          <pc:sldMk cId="2826169339" sldId="457"/>
        </pc:sldMkLst>
        <pc:spChg chg="mod">
          <ac:chgData name="Cornelia Popescu" userId="444ac7d1-afda-4314-b2c2-4aff562fe857" providerId="ADAL" clId="{3812F0D7-A263-41B2-AC96-1F3B68D731C9}" dt="2026-03-09T15:51:01.283" v="1354" actId="20577"/>
          <ac:spMkLst>
            <pc:docMk/>
            <pc:sldMk cId="2826169339" sldId="457"/>
            <ac:spMk id="2" creationId="{63FFC7BF-B3E9-6F9F-9552-CA53807FE038}"/>
          </ac:spMkLst>
        </pc:spChg>
        <pc:graphicFrameChg chg="mod modGraphic">
          <ac:chgData name="Cornelia Popescu" userId="444ac7d1-afda-4314-b2c2-4aff562fe857" providerId="ADAL" clId="{3812F0D7-A263-41B2-AC96-1F3B68D731C9}" dt="2026-03-09T16:13:13.006" v="1419" actId="1076"/>
          <ac:graphicFrameMkLst>
            <pc:docMk/>
            <pc:sldMk cId="2826169339" sldId="457"/>
            <ac:graphicFrameMk id="4" creationId="{A1C53E53-2252-D62E-F323-3C965D582644}"/>
          </ac:graphicFrameMkLst>
        </pc:graphicFrameChg>
      </pc:sldChg>
      <pc:sldChg chg="modSp add mod ord">
        <pc:chgData name="Cornelia Popescu" userId="444ac7d1-afda-4314-b2c2-4aff562fe857" providerId="ADAL" clId="{3812F0D7-A263-41B2-AC96-1F3B68D731C9}" dt="2026-03-09T16:12:27.565" v="1417" actId="20577"/>
        <pc:sldMkLst>
          <pc:docMk/>
          <pc:sldMk cId="3925517817" sldId="458"/>
        </pc:sldMkLst>
        <pc:spChg chg="mod">
          <ac:chgData name="Cornelia Popescu" userId="444ac7d1-afda-4314-b2c2-4aff562fe857" providerId="ADAL" clId="{3812F0D7-A263-41B2-AC96-1F3B68D731C9}" dt="2026-03-09T15:51:10.648" v="1356" actId="20577"/>
          <ac:spMkLst>
            <pc:docMk/>
            <pc:sldMk cId="3925517817" sldId="458"/>
            <ac:spMk id="2" creationId="{95BAE1D9-D94B-B88F-6C73-2E8DD4B33AD6}"/>
          </ac:spMkLst>
        </pc:spChg>
        <pc:graphicFrameChg chg="mod modGraphic">
          <ac:chgData name="Cornelia Popescu" userId="444ac7d1-afda-4314-b2c2-4aff562fe857" providerId="ADAL" clId="{3812F0D7-A263-41B2-AC96-1F3B68D731C9}" dt="2026-03-09T16:12:27.565" v="1417" actId="20577"/>
          <ac:graphicFrameMkLst>
            <pc:docMk/>
            <pc:sldMk cId="3925517817" sldId="458"/>
            <ac:graphicFrameMk id="4" creationId="{B55503B4-8AA8-1AE7-A4D8-9451D106E593}"/>
          </ac:graphicFrameMkLst>
        </pc:graphicFrameChg>
      </pc:sldChg>
      <pc:sldChg chg="add del">
        <pc:chgData name="Cornelia Popescu" userId="444ac7d1-afda-4314-b2c2-4aff562fe857" providerId="ADAL" clId="{3812F0D7-A263-41B2-AC96-1F3B68D731C9}" dt="2026-03-10T16:02:17.071" v="2013" actId="2696"/>
        <pc:sldMkLst>
          <pc:docMk/>
          <pc:sldMk cId="1053327564" sldId="459"/>
        </pc:sldMkLst>
      </pc:sldChg>
      <pc:sldChg chg="modSp add mod">
        <pc:chgData name="Cornelia Popescu" userId="444ac7d1-afda-4314-b2c2-4aff562fe857" providerId="ADAL" clId="{3812F0D7-A263-41B2-AC96-1F3B68D731C9}" dt="2026-03-10T14:45:16.025" v="1826"/>
        <pc:sldMkLst>
          <pc:docMk/>
          <pc:sldMk cId="2416721925" sldId="460"/>
        </pc:sldMkLst>
        <pc:spChg chg="mod">
          <ac:chgData name="Cornelia Popescu" userId="444ac7d1-afda-4314-b2c2-4aff562fe857" providerId="ADAL" clId="{3812F0D7-A263-41B2-AC96-1F3B68D731C9}" dt="2026-03-10T14:45:16.025" v="1826"/>
          <ac:spMkLst>
            <pc:docMk/>
            <pc:sldMk cId="2416721925" sldId="460"/>
            <ac:spMk id="2" creationId="{386389A0-25A1-6F73-9ABF-8C87704FA86C}"/>
          </ac:spMkLst>
        </pc:spChg>
        <pc:spChg chg="mod">
          <ac:chgData name="Cornelia Popescu" userId="444ac7d1-afda-4314-b2c2-4aff562fe857" providerId="ADAL" clId="{3812F0D7-A263-41B2-AC96-1F3B68D731C9}" dt="2026-03-10T14:45:02.682" v="1825" actId="20577"/>
          <ac:spMkLst>
            <pc:docMk/>
            <pc:sldMk cId="2416721925" sldId="460"/>
            <ac:spMk id="6" creationId="{53BF5CA0-5A48-49DC-8EAA-DBBE3372EA88}"/>
          </ac:spMkLst>
        </pc:spChg>
      </pc:sldChg>
      <pc:sldChg chg="addSp delSp modSp add mod">
        <pc:chgData name="Cornelia Popescu" userId="444ac7d1-afda-4314-b2c2-4aff562fe857" providerId="ADAL" clId="{3812F0D7-A263-41B2-AC96-1F3B68D731C9}" dt="2026-03-10T15:48:45.605" v="1955" actId="108"/>
        <pc:sldMkLst>
          <pc:docMk/>
          <pc:sldMk cId="2480022440" sldId="461"/>
        </pc:sldMkLst>
        <pc:spChg chg="mod">
          <ac:chgData name="Cornelia Popescu" userId="444ac7d1-afda-4314-b2c2-4aff562fe857" providerId="ADAL" clId="{3812F0D7-A263-41B2-AC96-1F3B68D731C9}" dt="2026-03-10T12:47:47.564" v="1716" actId="20577"/>
          <ac:spMkLst>
            <pc:docMk/>
            <pc:sldMk cId="2480022440" sldId="461"/>
            <ac:spMk id="2" creationId="{68CA433D-9BCC-A8DD-3169-9815E5DD79DE}"/>
          </ac:spMkLst>
        </pc:spChg>
        <pc:spChg chg="del">
          <ac:chgData name="Cornelia Popescu" userId="444ac7d1-afda-4314-b2c2-4aff562fe857" providerId="ADAL" clId="{3812F0D7-A263-41B2-AC96-1F3B68D731C9}" dt="2026-03-10T12:47:22.689" v="1699" actId="478"/>
          <ac:spMkLst>
            <pc:docMk/>
            <pc:sldMk cId="2480022440" sldId="461"/>
            <ac:spMk id="3" creationId="{0015C750-532C-5652-947E-AC9AEF8CF725}"/>
          </ac:spMkLst>
        </pc:spChg>
        <pc:spChg chg="add del mod">
          <ac:chgData name="Cornelia Popescu" userId="444ac7d1-afda-4314-b2c2-4aff562fe857" providerId="ADAL" clId="{3812F0D7-A263-41B2-AC96-1F3B68D731C9}" dt="2026-03-10T15:45:31.274" v="1946" actId="478"/>
          <ac:spMkLst>
            <pc:docMk/>
            <pc:sldMk cId="2480022440" sldId="461"/>
            <ac:spMk id="4" creationId="{BBA1C1E0-EEE2-0BD8-71C2-09EEB6401DB2}"/>
          </ac:spMkLst>
        </pc:spChg>
        <pc:spChg chg="add del mod">
          <ac:chgData name="Cornelia Popescu" userId="444ac7d1-afda-4314-b2c2-4aff562fe857" providerId="ADAL" clId="{3812F0D7-A263-41B2-AC96-1F3B68D731C9}" dt="2026-03-10T12:47:25.515" v="1700"/>
          <ac:spMkLst>
            <pc:docMk/>
            <pc:sldMk cId="2480022440" sldId="461"/>
            <ac:spMk id="5" creationId="{78D94C4E-3388-EC09-3187-B4165D247CEC}"/>
          </ac:spMkLst>
        </pc:spChg>
        <pc:spChg chg="add mod">
          <ac:chgData name="Cornelia Popescu" userId="444ac7d1-afda-4314-b2c2-4aff562fe857" providerId="ADAL" clId="{3812F0D7-A263-41B2-AC96-1F3B68D731C9}" dt="2026-03-10T15:48:45.605" v="1955" actId="108"/>
          <ac:spMkLst>
            <pc:docMk/>
            <pc:sldMk cId="2480022440" sldId="461"/>
            <ac:spMk id="5" creationId="{7A678823-E5E1-67E7-0B64-06E234261504}"/>
          </ac:spMkLst>
        </pc:spChg>
        <pc:spChg chg="add del mod">
          <ac:chgData name="Cornelia Popescu" userId="444ac7d1-afda-4314-b2c2-4aff562fe857" providerId="ADAL" clId="{3812F0D7-A263-41B2-AC96-1F3B68D731C9}" dt="2026-03-10T15:45:26.793" v="1944" actId="478"/>
          <ac:spMkLst>
            <pc:docMk/>
            <pc:sldMk cId="2480022440" sldId="461"/>
            <ac:spMk id="6" creationId="{6CEB6840-42DB-BEE1-13C6-49D67009DE71}"/>
          </ac:spMkLst>
        </pc:spChg>
      </pc:sldChg>
      <pc:sldChg chg="modSp add mod">
        <pc:chgData name="Cornelia Popescu" userId="444ac7d1-afda-4314-b2c2-4aff562fe857" providerId="ADAL" clId="{3812F0D7-A263-41B2-AC96-1F3B68D731C9}" dt="2026-03-10T16:18:14.518" v="2032" actId="790"/>
        <pc:sldMkLst>
          <pc:docMk/>
          <pc:sldMk cId="368699384" sldId="462"/>
        </pc:sldMkLst>
        <pc:spChg chg="mod">
          <ac:chgData name="Cornelia Popescu" userId="444ac7d1-afda-4314-b2c2-4aff562fe857" providerId="ADAL" clId="{3812F0D7-A263-41B2-AC96-1F3B68D731C9}" dt="2026-03-10T16:18:14.518" v="2032" actId="790"/>
          <ac:spMkLst>
            <pc:docMk/>
            <pc:sldMk cId="368699384" sldId="462"/>
            <ac:spMk id="15" creationId="{CCA2F5CC-E586-965A-2FB8-42013F8AE3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1DDD4-3CED-4400-A9AC-F2C4A6E68C5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845E0-60C2-446A-9A7D-97133A17F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3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79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800" b="1" dirty="0" err="1"/>
              <a:t>Proces</a:t>
            </a:r>
            <a:r>
              <a:rPr lang="en-US" sz="800" b="1" dirty="0"/>
              <a:t> </a:t>
            </a:r>
            <a:r>
              <a:rPr lang="en-US" sz="800" b="1" dirty="0" err="1"/>
              <a:t>upravljanja</a:t>
            </a:r>
            <a:r>
              <a:rPr lang="en-US" sz="800" b="1" dirty="0"/>
              <a:t> </a:t>
            </a:r>
            <a:r>
              <a:rPr lang="en-US" sz="800" b="1" dirty="0" err="1"/>
              <a:t>zahtjevima</a:t>
            </a:r>
            <a:r>
              <a:rPr lang="en-US" sz="800" b="1" dirty="0"/>
              <a:t> za </a:t>
            </a:r>
            <a:r>
              <a:rPr lang="en-US" sz="800" b="1" dirty="0" err="1"/>
              <a:t>promjene</a:t>
            </a:r>
            <a:endParaRPr lang="en-US" sz="800" b="0" dirty="0"/>
          </a:p>
          <a:p>
            <a:pPr marL="228600" indent="-228600">
              <a:buAutoNum type="arabicPeriod"/>
            </a:pPr>
            <a:r>
              <a:rPr lang="en-US" sz="800" b="1" dirty="0" err="1"/>
              <a:t>Podnošenje</a:t>
            </a:r>
            <a:r>
              <a:rPr lang="en-US" sz="800" b="1" dirty="0"/>
              <a:t> </a:t>
            </a:r>
            <a:r>
              <a:rPr lang="en-US" sz="800" b="1" dirty="0" err="1"/>
              <a:t>zahtjeva</a:t>
            </a:r>
            <a:r>
              <a:rPr lang="hr-HR" sz="800" b="0" dirty="0"/>
              <a:t> (</a:t>
            </a:r>
            <a:r>
              <a:rPr lang="hr-HR" sz="800" b="0" dirty="0" err="1"/>
              <a:t>Request</a:t>
            </a:r>
            <a:r>
              <a:rPr lang="hr-HR" sz="800" b="0" dirty="0"/>
              <a:t> </a:t>
            </a:r>
            <a:r>
              <a:rPr lang="hr-HR" sz="800" b="0" dirty="0" err="1"/>
              <a:t>Submisson</a:t>
            </a:r>
            <a:r>
              <a:rPr lang="hr-HR" sz="800" b="0" dirty="0"/>
              <a:t>)</a:t>
            </a:r>
            <a:endParaRPr lang="hr-HR" sz="800" b="1" dirty="0"/>
          </a:p>
          <a:p>
            <a:pPr marL="685800" lvl="1" indent="-228600">
              <a:buFont typeface="+mj-lt"/>
              <a:buAutoNum type="arabicPeriod"/>
            </a:pPr>
            <a:r>
              <a:rPr lang="en-US" sz="800" b="0" dirty="0" err="1"/>
              <a:t>Svaki</a:t>
            </a:r>
            <a:r>
              <a:rPr lang="en-US" sz="800" b="0" dirty="0"/>
              <a:t> </a:t>
            </a:r>
            <a:r>
              <a:rPr lang="en-US" sz="800" b="0" dirty="0" err="1"/>
              <a:t>dionik</a:t>
            </a:r>
            <a:r>
              <a:rPr lang="en-US" sz="800" b="0" dirty="0"/>
              <a:t> (</a:t>
            </a:r>
            <a:r>
              <a:rPr lang="en-US" sz="800" b="0" dirty="0" err="1"/>
              <a:t>klijent</a:t>
            </a:r>
            <a:r>
              <a:rPr lang="en-US" sz="800" b="0" dirty="0"/>
              <a:t>, </a:t>
            </a:r>
            <a:r>
              <a:rPr lang="en-US" sz="800" b="0" dirty="0" err="1"/>
              <a:t>sponzor</a:t>
            </a:r>
            <a:r>
              <a:rPr lang="en-US" sz="800" b="0" dirty="0"/>
              <a:t>, </a:t>
            </a:r>
            <a:r>
              <a:rPr lang="en-US" sz="800" b="0" dirty="0" err="1"/>
              <a:t>član</a:t>
            </a:r>
            <a:r>
              <a:rPr lang="en-US" sz="800" b="0" dirty="0"/>
              <a:t> </a:t>
            </a:r>
            <a:r>
              <a:rPr lang="en-US" sz="800" b="0" dirty="0" err="1"/>
              <a:t>tima</a:t>
            </a:r>
            <a:r>
              <a:rPr lang="en-US" sz="800" b="0" dirty="0"/>
              <a:t>) </a:t>
            </a:r>
            <a:r>
              <a:rPr lang="en-US" sz="800" b="0" dirty="0" err="1"/>
              <a:t>može</a:t>
            </a:r>
            <a:r>
              <a:rPr lang="en-US" sz="800" b="0" dirty="0"/>
              <a:t> </a:t>
            </a:r>
            <a:r>
              <a:rPr lang="en-US" sz="800" b="0" dirty="0" err="1"/>
              <a:t>podnijeti</a:t>
            </a:r>
            <a:r>
              <a:rPr lang="en-US" sz="800" b="0" dirty="0"/>
              <a:t> </a:t>
            </a:r>
            <a:r>
              <a:rPr lang="en-US" sz="800" b="1" dirty="0" err="1"/>
              <a:t>obrazac</a:t>
            </a:r>
            <a:r>
              <a:rPr lang="en-US" sz="800" b="1" dirty="0"/>
              <a:t> </a:t>
            </a:r>
            <a:r>
              <a:rPr lang="en-US" sz="800" b="1" dirty="0" err="1"/>
              <a:t>zahtjeva</a:t>
            </a:r>
            <a:r>
              <a:rPr lang="en-US" sz="800" b="1" dirty="0"/>
              <a:t> za </a:t>
            </a:r>
            <a:r>
              <a:rPr lang="en-US" sz="800" b="1" dirty="0" err="1"/>
              <a:t>promjenu</a:t>
            </a:r>
            <a:r>
              <a:rPr lang="en-US" sz="800" b="1" dirty="0"/>
              <a:t> </a:t>
            </a:r>
            <a:r>
              <a:rPr lang="en-US" sz="800" b="0" dirty="0"/>
              <a:t>(</a:t>
            </a:r>
            <a:r>
              <a:rPr lang="hr-HR" sz="800" b="0" dirty="0" err="1"/>
              <a:t>Change</a:t>
            </a:r>
            <a:r>
              <a:rPr lang="hr-HR" sz="800" b="0" dirty="0"/>
              <a:t> </a:t>
            </a:r>
            <a:r>
              <a:rPr lang="hr-HR" sz="800" b="0" dirty="0" err="1"/>
              <a:t>Request</a:t>
            </a:r>
            <a:r>
              <a:rPr lang="hr-HR" sz="800" b="0" dirty="0"/>
              <a:t> </a:t>
            </a:r>
            <a:r>
              <a:rPr lang="hr-HR" sz="800" b="0" dirty="0" err="1"/>
              <a:t>Form</a:t>
            </a:r>
            <a:r>
              <a:rPr lang="hr-HR" sz="800" b="0" dirty="0"/>
              <a:t> - </a:t>
            </a:r>
            <a:r>
              <a:rPr lang="en-US" sz="800" b="0" dirty="0"/>
              <a:t>CRF) koji </a:t>
            </a:r>
            <a:r>
              <a:rPr lang="en-US" sz="800" b="0" dirty="0" err="1"/>
              <a:t>uključuje</a:t>
            </a:r>
            <a:r>
              <a:rPr lang="en-US" sz="800" b="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800" b="0" dirty="0" err="1"/>
              <a:t>Opis</a:t>
            </a:r>
            <a:r>
              <a:rPr lang="en-US" sz="800" b="0" dirty="0"/>
              <a:t> </a:t>
            </a:r>
            <a:r>
              <a:rPr lang="en-US" sz="800" b="0" dirty="0" err="1"/>
              <a:t>promjene</a:t>
            </a:r>
            <a:endParaRPr lang="en-US" sz="800" b="0" dirty="0"/>
          </a:p>
          <a:p>
            <a:pPr marL="1143000" lvl="2" indent="-228600">
              <a:buFont typeface="+mj-lt"/>
              <a:buAutoNum type="arabicPeriod"/>
            </a:pPr>
            <a:r>
              <a:rPr lang="en-US" sz="800" b="0" dirty="0" err="1"/>
              <a:t>Obrazloženje</a:t>
            </a:r>
            <a:r>
              <a:rPr lang="en-US" sz="800" b="0" dirty="0"/>
              <a:t> (</a:t>
            </a:r>
            <a:r>
              <a:rPr lang="en-US" sz="800" b="0" dirty="0" err="1"/>
              <a:t>npr</a:t>
            </a:r>
            <a:r>
              <a:rPr lang="en-US" sz="800" b="0" dirty="0"/>
              <a:t>. </a:t>
            </a:r>
            <a:r>
              <a:rPr lang="en-US" sz="800" b="0" dirty="0" err="1"/>
              <a:t>povratne</a:t>
            </a:r>
            <a:r>
              <a:rPr lang="en-US" sz="800" b="0" dirty="0"/>
              <a:t> </a:t>
            </a:r>
            <a:r>
              <a:rPr lang="en-US" sz="800" b="0" dirty="0" err="1"/>
              <a:t>informacije</a:t>
            </a:r>
            <a:r>
              <a:rPr lang="en-US" sz="800" b="0" dirty="0"/>
              <a:t> </a:t>
            </a:r>
            <a:r>
              <a:rPr lang="en-US" sz="800" b="0" dirty="0" err="1"/>
              <a:t>korisnika</a:t>
            </a:r>
            <a:r>
              <a:rPr lang="en-US" sz="800" b="0" dirty="0"/>
              <a:t>, novi </a:t>
            </a:r>
            <a:r>
              <a:rPr lang="en-US" sz="800" b="0" dirty="0" err="1"/>
              <a:t>zahtjev</a:t>
            </a:r>
            <a:r>
              <a:rPr lang="en-US" sz="800" b="0" dirty="0"/>
              <a:t>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800" b="0" dirty="0" err="1"/>
              <a:t>Očekivane</a:t>
            </a:r>
            <a:r>
              <a:rPr lang="en-US" sz="800" b="0" dirty="0"/>
              <a:t> </a:t>
            </a:r>
            <a:r>
              <a:rPr lang="en-US" sz="800" b="0" dirty="0" err="1"/>
              <a:t>koristi</a:t>
            </a:r>
            <a:endParaRPr lang="en-US" sz="800" b="0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hr-HR" sz="800" b="1" dirty="0"/>
              <a:t>2. </a:t>
            </a:r>
            <a:r>
              <a:rPr lang="en-US" sz="800" b="1" dirty="0" err="1"/>
              <a:t>Procjena</a:t>
            </a:r>
            <a:r>
              <a:rPr lang="en-US" sz="800" b="1" dirty="0"/>
              <a:t> </a:t>
            </a:r>
            <a:r>
              <a:rPr lang="en-US" sz="800" b="1" dirty="0" err="1"/>
              <a:t>utjecaja</a:t>
            </a:r>
            <a:r>
              <a:rPr lang="hr-HR" sz="800" b="0" dirty="0"/>
              <a:t> (</a:t>
            </a:r>
            <a:r>
              <a:rPr lang="hr-HR" sz="800" b="0" dirty="0" err="1"/>
              <a:t>Impact</a:t>
            </a:r>
            <a:r>
              <a:rPr lang="hr-HR" sz="800" b="0" dirty="0"/>
              <a:t> </a:t>
            </a:r>
            <a:r>
              <a:rPr lang="hr-HR" sz="800" b="0" dirty="0" err="1"/>
              <a:t>Assessment</a:t>
            </a:r>
            <a:r>
              <a:rPr lang="hr-HR" sz="800" b="0" dirty="0"/>
              <a:t>)</a:t>
            </a:r>
            <a:endParaRPr lang="en-US" sz="800" b="1" dirty="0"/>
          </a:p>
          <a:p>
            <a:pPr marL="685800" lvl="1" indent="-228600">
              <a:buFont typeface="+mj-lt"/>
              <a:buAutoNum type="arabicPeriod"/>
            </a:pPr>
            <a:r>
              <a:rPr lang="en-US" sz="800" b="1" dirty="0" err="1"/>
              <a:t>Voditelj</a:t>
            </a:r>
            <a:r>
              <a:rPr lang="en-US" sz="800" b="1" dirty="0"/>
              <a:t> </a:t>
            </a:r>
            <a:r>
              <a:rPr lang="en-US" sz="800" b="1" dirty="0" err="1"/>
              <a:t>projekta</a:t>
            </a:r>
            <a:r>
              <a:rPr lang="en-US" sz="800" b="1" dirty="0"/>
              <a:t> i </a:t>
            </a:r>
            <a:r>
              <a:rPr lang="en-US" sz="800" b="1" dirty="0" err="1"/>
              <a:t>tim</a:t>
            </a:r>
            <a:r>
              <a:rPr lang="en-US" sz="800" b="0" dirty="0"/>
              <a:t> </a:t>
            </a:r>
            <a:r>
              <a:rPr lang="en-US" sz="800" b="0" dirty="0" err="1"/>
              <a:t>analiziraju</a:t>
            </a:r>
            <a:r>
              <a:rPr lang="en-US" sz="800" b="0" dirty="0"/>
              <a:t> </a:t>
            </a:r>
            <a:r>
              <a:rPr lang="en-US" sz="800" b="0" dirty="0" err="1"/>
              <a:t>utjecaj</a:t>
            </a:r>
            <a:r>
              <a:rPr lang="en-US" sz="800" b="0" dirty="0"/>
              <a:t> </a:t>
            </a:r>
            <a:r>
              <a:rPr lang="en-US" sz="800" b="0" dirty="0" err="1"/>
              <a:t>promjene</a:t>
            </a:r>
            <a:r>
              <a:rPr lang="en-US" sz="800" b="0" dirty="0"/>
              <a:t> </a:t>
            </a:r>
            <a:r>
              <a:rPr lang="en-US" sz="800" b="0" dirty="0" err="1"/>
              <a:t>na</a:t>
            </a:r>
            <a:r>
              <a:rPr lang="en-US" sz="800" b="0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800" b="1" dirty="0" err="1"/>
              <a:t>Opseg</a:t>
            </a:r>
            <a:r>
              <a:rPr lang="en-US" sz="800" b="1" dirty="0"/>
              <a:t>: </a:t>
            </a:r>
            <a:r>
              <a:rPr lang="en-US" sz="800" b="0" dirty="0" err="1"/>
              <a:t>dodatne</a:t>
            </a:r>
            <a:r>
              <a:rPr lang="en-US" sz="800" b="0" dirty="0"/>
              <a:t> </a:t>
            </a:r>
            <a:r>
              <a:rPr lang="en-US" sz="800" b="0" dirty="0" err="1"/>
              <a:t>funkcionalnosti</a:t>
            </a:r>
            <a:r>
              <a:rPr lang="en-US" sz="800" b="0" dirty="0"/>
              <a:t>, </a:t>
            </a:r>
            <a:r>
              <a:rPr lang="en-US" sz="800" b="0" dirty="0" err="1"/>
              <a:t>izmjene</a:t>
            </a:r>
            <a:endParaRPr lang="en-US" sz="800" b="0" dirty="0"/>
          </a:p>
          <a:p>
            <a:pPr marL="1143000" lvl="2" indent="-228600">
              <a:buFont typeface="+mj-lt"/>
              <a:buAutoNum type="arabicPeriod"/>
            </a:pPr>
            <a:r>
              <a:rPr lang="en-US" sz="800" b="1" dirty="0" err="1"/>
              <a:t>Raspored</a:t>
            </a:r>
            <a:r>
              <a:rPr lang="en-US" sz="800" b="1" dirty="0"/>
              <a:t>:</a:t>
            </a:r>
            <a:r>
              <a:rPr lang="en-US" sz="800" b="0" dirty="0"/>
              <a:t> </a:t>
            </a:r>
            <a:r>
              <a:rPr lang="en-US" sz="800" b="0" dirty="0" err="1"/>
              <a:t>prilagodbe</a:t>
            </a:r>
            <a:r>
              <a:rPr lang="en-US" sz="800" b="0" dirty="0"/>
              <a:t> </a:t>
            </a:r>
            <a:r>
              <a:rPr lang="en-US" sz="800" b="0" dirty="0" err="1"/>
              <a:t>vremenskog</a:t>
            </a:r>
            <a:r>
              <a:rPr lang="en-US" sz="800" b="0" dirty="0"/>
              <a:t> plana </a:t>
            </a:r>
            <a:r>
              <a:rPr lang="en-US" sz="800" b="0" dirty="0" err="1"/>
              <a:t>razvoja</a:t>
            </a:r>
            <a:endParaRPr lang="en-US" sz="800" b="0" dirty="0"/>
          </a:p>
          <a:p>
            <a:pPr marL="1143000" lvl="2" indent="-228600">
              <a:buFont typeface="+mj-lt"/>
              <a:buAutoNum type="arabicPeriod"/>
            </a:pPr>
            <a:r>
              <a:rPr lang="en-US" sz="800" b="1" dirty="0" err="1"/>
              <a:t>Proračun</a:t>
            </a:r>
            <a:r>
              <a:rPr lang="en-US" sz="800" b="1" dirty="0"/>
              <a:t>: </a:t>
            </a:r>
            <a:r>
              <a:rPr lang="en-US" sz="800" b="0" dirty="0" err="1"/>
              <a:t>povećani</a:t>
            </a:r>
            <a:r>
              <a:rPr lang="en-US" sz="800" b="0" dirty="0"/>
              <a:t> </a:t>
            </a:r>
            <a:r>
              <a:rPr lang="en-US" sz="800" b="0" dirty="0" err="1"/>
              <a:t>troškovi</a:t>
            </a:r>
            <a:r>
              <a:rPr lang="en-US" sz="800" b="0" dirty="0"/>
              <a:t> (</a:t>
            </a:r>
            <a:r>
              <a:rPr lang="en-US" sz="800" b="0" dirty="0" err="1"/>
              <a:t>resursi</a:t>
            </a:r>
            <a:r>
              <a:rPr lang="en-US" sz="800" b="0" dirty="0"/>
              <a:t>, </a:t>
            </a:r>
            <a:r>
              <a:rPr lang="en-US" sz="800" b="0" dirty="0" err="1"/>
              <a:t>alati</a:t>
            </a:r>
            <a:r>
              <a:rPr lang="en-US" sz="800" b="0" dirty="0"/>
              <a:t>, </a:t>
            </a:r>
            <a:r>
              <a:rPr lang="en-US" sz="800" b="0" dirty="0" err="1"/>
              <a:t>licence</a:t>
            </a:r>
            <a:r>
              <a:rPr lang="en-US" sz="800" b="0" dirty="0"/>
              <a:t>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800" b="1" dirty="0"/>
              <a:t>Rizike: </a:t>
            </a:r>
            <a:r>
              <a:rPr lang="en-US" sz="800" b="0" dirty="0" err="1"/>
              <a:t>nove</a:t>
            </a:r>
            <a:r>
              <a:rPr lang="en-US" sz="800" b="0" dirty="0"/>
              <a:t> </a:t>
            </a:r>
            <a:r>
              <a:rPr lang="en-US" sz="800" b="0" dirty="0" err="1"/>
              <a:t>ovisnosti</a:t>
            </a:r>
            <a:r>
              <a:rPr lang="en-US" sz="800" b="0" dirty="0"/>
              <a:t>, </a:t>
            </a:r>
            <a:r>
              <a:rPr lang="en-US" sz="800" b="0" dirty="0" err="1"/>
              <a:t>tehnička</a:t>
            </a:r>
            <a:r>
              <a:rPr lang="en-US" sz="800" b="0" dirty="0"/>
              <a:t> </a:t>
            </a:r>
            <a:r>
              <a:rPr lang="en-US" sz="800" b="0" dirty="0" err="1"/>
              <a:t>izvedivost</a:t>
            </a:r>
            <a:endParaRPr lang="en-US" sz="800" b="0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hr-HR" sz="800" b="1" dirty="0"/>
              <a:t>3. </a:t>
            </a:r>
            <a:r>
              <a:rPr lang="en-US" sz="800" b="1" dirty="0" err="1"/>
              <a:t>Proces</a:t>
            </a:r>
            <a:r>
              <a:rPr lang="en-US" sz="800" b="1" dirty="0"/>
              <a:t> </a:t>
            </a:r>
            <a:r>
              <a:rPr lang="en-US" sz="800" b="1" dirty="0" err="1"/>
              <a:t>odobravanja</a:t>
            </a:r>
            <a:r>
              <a:rPr lang="hr-HR" sz="800" b="1" dirty="0"/>
              <a:t> </a:t>
            </a:r>
            <a:r>
              <a:rPr lang="hr-HR" sz="800" b="0" dirty="0"/>
              <a:t>(</a:t>
            </a:r>
            <a:r>
              <a:rPr lang="hr-HR" sz="800" b="0" dirty="0" err="1"/>
              <a:t>Approval</a:t>
            </a:r>
            <a:r>
              <a:rPr lang="hr-HR" sz="800" b="0" dirty="0"/>
              <a:t> </a:t>
            </a:r>
            <a:r>
              <a:rPr lang="hr-HR" sz="800" b="0" dirty="0" err="1"/>
              <a:t>Process</a:t>
            </a:r>
            <a:r>
              <a:rPr lang="hr-HR" sz="800" b="0" dirty="0"/>
              <a:t>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800" b="1" dirty="0"/>
              <a:t>Manje </a:t>
            </a:r>
            <a:r>
              <a:rPr lang="en-US" sz="800" b="1" dirty="0" err="1"/>
              <a:t>promjene</a:t>
            </a:r>
            <a:r>
              <a:rPr lang="en-US" sz="800" b="1" dirty="0"/>
              <a:t>: </a:t>
            </a:r>
            <a:r>
              <a:rPr lang="en-US" sz="800" b="0" dirty="0" err="1"/>
              <a:t>odobrava</a:t>
            </a:r>
            <a:r>
              <a:rPr lang="en-US" sz="800" b="0" dirty="0"/>
              <a:t> </a:t>
            </a:r>
            <a:r>
              <a:rPr lang="en-US" sz="800" b="0" dirty="0" err="1"/>
              <a:t>voditelj</a:t>
            </a:r>
            <a:r>
              <a:rPr lang="en-US" sz="800" b="0" dirty="0"/>
              <a:t> </a:t>
            </a:r>
            <a:r>
              <a:rPr lang="en-US" sz="800" b="0" dirty="0" err="1"/>
              <a:t>projekta</a:t>
            </a:r>
            <a:endParaRPr lang="en-US" sz="800" b="0" dirty="0"/>
          </a:p>
          <a:p>
            <a:pPr marL="685800" lvl="1" indent="-228600">
              <a:buFont typeface="+mj-lt"/>
              <a:buAutoNum type="arabicPeriod"/>
            </a:pPr>
            <a:r>
              <a:rPr lang="en-US" sz="800" b="1" dirty="0" err="1"/>
              <a:t>Veće</a:t>
            </a:r>
            <a:r>
              <a:rPr lang="en-US" sz="800" b="1" dirty="0"/>
              <a:t> </a:t>
            </a:r>
            <a:r>
              <a:rPr lang="en-US" sz="800" b="1" dirty="0" err="1"/>
              <a:t>promjene</a:t>
            </a:r>
            <a:r>
              <a:rPr lang="en-US" sz="800" b="1" dirty="0"/>
              <a:t>: </a:t>
            </a:r>
            <a:r>
              <a:rPr lang="en-US" sz="800" b="0" dirty="0" err="1"/>
              <a:t>zahtijevaju</a:t>
            </a:r>
            <a:r>
              <a:rPr lang="en-US" sz="800" b="0" dirty="0"/>
              <a:t> </a:t>
            </a:r>
            <a:r>
              <a:rPr lang="en-US" sz="800" b="0" dirty="0" err="1"/>
              <a:t>odobrenje</a:t>
            </a:r>
            <a:r>
              <a:rPr lang="en-US" sz="800" b="0" dirty="0"/>
              <a:t> </a:t>
            </a:r>
            <a:r>
              <a:rPr lang="en-US" sz="800" b="0" dirty="0" err="1"/>
              <a:t>upravljačkog</a:t>
            </a:r>
            <a:r>
              <a:rPr lang="en-US" sz="800" b="0" dirty="0"/>
              <a:t> </a:t>
            </a:r>
            <a:r>
              <a:rPr lang="en-US" sz="800" b="0" dirty="0" err="1"/>
              <a:t>odbora</a:t>
            </a:r>
            <a:r>
              <a:rPr lang="en-US" sz="800" b="0" dirty="0"/>
              <a:t> </a:t>
            </a:r>
            <a:r>
              <a:rPr lang="en-US" sz="800" b="0" dirty="0" err="1"/>
              <a:t>ili</a:t>
            </a:r>
            <a:r>
              <a:rPr lang="en-US" sz="800" b="0" dirty="0"/>
              <a:t> </a:t>
            </a:r>
            <a:r>
              <a:rPr lang="en-US" sz="800" b="0" dirty="0" err="1"/>
              <a:t>sponzora</a:t>
            </a:r>
            <a:endParaRPr lang="en-US" sz="800" b="0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hr-HR" sz="800" b="1" dirty="0"/>
              <a:t>4. </a:t>
            </a:r>
            <a:r>
              <a:rPr lang="en-US" sz="800" b="1" dirty="0" err="1"/>
              <a:t>Implementacija</a:t>
            </a:r>
            <a:r>
              <a:rPr lang="en-US" sz="800" b="1" dirty="0"/>
              <a:t> i </a:t>
            </a:r>
            <a:r>
              <a:rPr lang="en-US" sz="800" b="1" dirty="0" err="1"/>
              <a:t>praćenje</a:t>
            </a:r>
            <a:endParaRPr lang="en-US" sz="800" b="1" dirty="0"/>
          </a:p>
          <a:p>
            <a:pPr marL="685800" lvl="1" indent="-228600">
              <a:buFont typeface="+mj-lt"/>
              <a:buAutoNum type="arabicPeriod"/>
            </a:pPr>
            <a:r>
              <a:rPr lang="en-US" sz="800" b="0" dirty="0" err="1"/>
              <a:t>Odobrene</a:t>
            </a:r>
            <a:r>
              <a:rPr lang="en-US" sz="800" b="0" dirty="0"/>
              <a:t> </a:t>
            </a:r>
            <a:r>
              <a:rPr lang="en-US" sz="800" b="0" dirty="0" err="1"/>
              <a:t>promjene</a:t>
            </a:r>
            <a:r>
              <a:rPr lang="en-US" sz="800" b="0" dirty="0"/>
              <a:t> </a:t>
            </a:r>
            <a:r>
              <a:rPr lang="en-US" sz="800" b="0" dirty="0" err="1"/>
              <a:t>uključuju</a:t>
            </a:r>
            <a:r>
              <a:rPr lang="en-US" sz="800" b="0" dirty="0"/>
              <a:t> se u </a:t>
            </a:r>
            <a:r>
              <a:rPr lang="en-US" sz="800" b="1" dirty="0" err="1"/>
              <a:t>ažurirani</a:t>
            </a:r>
            <a:r>
              <a:rPr lang="en-US" sz="800" b="1" dirty="0"/>
              <a:t> </a:t>
            </a:r>
            <a:r>
              <a:rPr lang="en-US" sz="800" b="1" dirty="0" err="1"/>
              <a:t>projektni</a:t>
            </a:r>
            <a:r>
              <a:rPr lang="en-US" sz="800" b="1" dirty="0"/>
              <a:t> plan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800" b="0" dirty="0" err="1"/>
              <a:t>Promjene</a:t>
            </a:r>
            <a:r>
              <a:rPr lang="en-US" sz="800" b="0" dirty="0"/>
              <a:t> se </a:t>
            </a:r>
            <a:r>
              <a:rPr lang="en-US" sz="800" b="0" dirty="0" err="1"/>
              <a:t>komuniciraju</a:t>
            </a:r>
            <a:r>
              <a:rPr lang="en-US" sz="800" b="0" dirty="0"/>
              <a:t> </a:t>
            </a:r>
            <a:r>
              <a:rPr lang="en-US" sz="800" b="0" dirty="0" err="1"/>
              <a:t>dionicima</a:t>
            </a:r>
            <a:r>
              <a:rPr lang="en-US" sz="800" b="0" dirty="0"/>
              <a:t> </a:t>
            </a:r>
            <a:r>
              <a:rPr lang="en-US" sz="800" b="0" dirty="0" err="1"/>
              <a:t>putem</a:t>
            </a:r>
            <a:r>
              <a:rPr lang="en-US" sz="800" b="0" dirty="0"/>
              <a:t> </a:t>
            </a:r>
            <a:r>
              <a:rPr lang="en-US" sz="800" b="0" dirty="0" err="1"/>
              <a:t>izvještaja</a:t>
            </a:r>
            <a:endParaRPr lang="en-US" sz="800" b="0" dirty="0"/>
          </a:p>
          <a:p>
            <a:pPr marL="685800" lvl="1" indent="-228600">
              <a:buFont typeface="+mj-lt"/>
              <a:buAutoNum type="arabicPeriod"/>
            </a:pPr>
            <a:r>
              <a:rPr lang="en-US" sz="800" b="0" dirty="0" err="1"/>
              <a:t>Redovito</a:t>
            </a:r>
            <a:r>
              <a:rPr lang="en-US" sz="800" b="0" dirty="0"/>
              <a:t> </a:t>
            </a:r>
            <a:r>
              <a:rPr lang="en-US" sz="800" b="0" dirty="0" err="1"/>
              <a:t>praćenje</a:t>
            </a:r>
            <a:r>
              <a:rPr lang="en-US" sz="800" b="0" dirty="0"/>
              <a:t> </a:t>
            </a:r>
            <a:r>
              <a:rPr lang="en-US" sz="800" b="0" dirty="0" err="1"/>
              <a:t>osigurava</a:t>
            </a:r>
            <a:r>
              <a:rPr lang="en-US" sz="800" b="0" dirty="0"/>
              <a:t> </a:t>
            </a:r>
            <a:r>
              <a:rPr lang="en-US" sz="800" b="0" dirty="0" err="1"/>
              <a:t>minimalne</a:t>
            </a:r>
            <a:r>
              <a:rPr lang="en-US" sz="800" b="0" dirty="0"/>
              <a:t> </a:t>
            </a:r>
            <a:r>
              <a:rPr lang="en-US" sz="800" b="0" dirty="0" err="1"/>
              <a:t>poremećaje</a:t>
            </a:r>
            <a:endParaRPr lang="en-US" sz="800" b="0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en-US" sz="800" b="1" dirty="0"/>
              <a:t>2. </a:t>
            </a:r>
            <a:r>
              <a:rPr lang="en-US" sz="800" b="1" dirty="0" err="1"/>
              <a:t>Utjecaj</a:t>
            </a:r>
            <a:r>
              <a:rPr lang="en-US" sz="800" b="1" dirty="0"/>
              <a:t> </a:t>
            </a:r>
            <a:r>
              <a:rPr lang="en-US" sz="800" b="1" dirty="0" err="1"/>
              <a:t>promjena</a:t>
            </a:r>
            <a:r>
              <a:rPr lang="en-US" sz="800" b="1" dirty="0"/>
              <a:t> </a:t>
            </a:r>
            <a:r>
              <a:rPr lang="en-US" sz="800" b="1" dirty="0" err="1"/>
              <a:t>na</a:t>
            </a:r>
            <a:r>
              <a:rPr lang="en-US" sz="800" b="1" dirty="0"/>
              <a:t> </a:t>
            </a:r>
            <a:r>
              <a:rPr lang="en-US" sz="800" b="1" dirty="0" err="1"/>
              <a:t>raspored</a:t>
            </a:r>
            <a:endParaRPr lang="en-US" sz="800" b="1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en-US" sz="800" b="0" dirty="0" err="1"/>
              <a:t>Vrsta</a:t>
            </a:r>
            <a:r>
              <a:rPr lang="en-US" sz="800" b="0" dirty="0"/>
              <a:t> </a:t>
            </a:r>
            <a:r>
              <a:rPr lang="en-US" sz="800" b="0" dirty="0" err="1"/>
              <a:t>promjene</a:t>
            </a:r>
            <a:r>
              <a:rPr lang="en-US" sz="800" b="0" dirty="0"/>
              <a:t> – </a:t>
            </a:r>
            <a:r>
              <a:rPr lang="en-US" sz="800" b="0" dirty="0" err="1"/>
              <a:t>Utjecaj</a:t>
            </a:r>
            <a:r>
              <a:rPr lang="en-US" sz="800" b="0" dirty="0"/>
              <a:t> </a:t>
            </a:r>
            <a:r>
              <a:rPr lang="en-US" sz="800" b="0" dirty="0" err="1"/>
              <a:t>na</a:t>
            </a:r>
            <a:r>
              <a:rPr lang="en-US" sz="800" b="0" dirty="0"/>
              <a:t> </a:t>
            </a:r>
            <a:r>
              <a:rPr lang="en-US" sz="800" b="0" dirty="0" err="1"/>
              <a:t>vremenski</a:t>
            </a:r>
            <a:r>
              <a:rPr lang="en-US" sz="800" b="0" dirty="0"/>
              <a:t> plan – Akcijski plan</a:t>
            </a:r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en-US" sz="800" b="1" dirty="0"/>
              <a:t>Manje UI </a:t>
            </a:r>
            <a:r>
              <a:rPr lang="en-US" sz="800" b="1" dirty="0" err="1"/>
              <a:t>prilagodbe</a:t>
            </a:r>
            <a:r>
              <a:rPr lang="hr-HR" sz="800" b="1" dirty="0"/>
              <a:t> </a:t>
            </a:r>
            <a:r>
              <a:rPr lang="en-US" sz="800" b="0" dirty="0"/>
              <a:t>+1–2 dana – </a:t>
            </a:r>
            <a:r>
              <a:rPr lang="en-US" sz="800" b="0" dirty="0" err="1"/>
              <a:t>Uključuje</a:t>
            </a:r>
            <a:r>
              <a:rPr lang="en-US" sz="800" b="0" dirty="0"/>
              <a:t> se u </a:t>
            </a:r>
            <a:r>
              <a:rPr lang="en-US" sz="800" b="0" dirty="0" err="1"/>
              <a:t>rezervu</a:t>
            </a:r>
            <a:r>
              <a:rPr lang="en-US" sz="800" b="0" dirty="0"/>
              <a:t> </a:t>
            </a:r>
            <a:r>
              <a:rPr lang="en-US" sz="800" b="0" dirty="0" err="1"/>
              <a:t>vremena</a:t>
            </a:r>
            <a:endParaRPr lang="en-US" sz="800" b="0" dirty="0"/>
          </a:p>
          <a:p>
            <a:pPr>
              <a:buNone/>
            </a:pPr>
            <a:r>
              <a:rPr lang="en-US" sz="800" b="1" dirty="0" err="1"/>
              <a:t>Dodavanje</a:t>
            </a:r>
            <a:r>
              <a:rPr lang="en-US" sz="800" b="1" dirty="0"/>
              <a:t> </a:t>
            </a:r>
            <a:r>
              <a:rPr lang="en-US" sz="800" b="1" dirty="0" err="1"/>
              <a:t>nove</a:t>
            </a:r>
            <a:r>
              <a:rPr lang="en-US" sz="800" b="1" dirty="0"/>
              <a:t> funkcionalnosti</a:t>
            </a:r>
            <a:r>
              <a:rPr lang="en-US" sz="800" b="0" dirty="0"/>
              <a:t>+2–4 </a:t>
            </a:r>
            <a:r>
              <a:rPr lang="en-US" sz="800" b="0" dirty="0" err="1"/>
              <a:t>tjedna</a:t>
            </a:r>
            <a:r>
              <a:rPr lang="en-US" sz="800" b="0" dirty="0"/>
              <a:t> – </a:t>
            </a:r>
            <a:r>
              <a:rPr lang="en-US" sz="800" b="0" dirty="0" err="1"/>
              <a:t>Reprioritizacija</a:t>
            </a:r>
            <a:r>
              <a:rPr lang="en-US" sz="800" b="0" dirty="0"/>
              <a:t> </a:t>
            </a:r>
            <a:r>
              <a:rPr lang="en-US" sz="800" b="0" dirty="0" err="1"/>
              <a:t>backloga</a:t>
            </a:r>
            <a:r>
              <a:rPr lang="en-US" sz="800" b="0" dirty="0"/>
              <a:t>, </a:t>
            </a:r>
            <a:r>
              <a:rPr lang="en-US" sz="800" b="0" dirty="0" err="1"/>
              <a:t>prilagodba</a:t>
            </a:r>
            <a:r>
              <a:rPr lang="en-US" sz="800" b="0" dirty="0"/>
              <a:t> </a:t>
            </a:r>
            <a:r>
              <a:rPr lang="en-US" sz="800" b="0" dirty="0" err="1"/>
              <a:t>planiranja</a:t>
            </a:r>
            <a:r>
              <a:rPr lang="en-US" sz="800" b="0" dirty="0"/>
              <a:t> </a:t>
            </a:r>
            <a:r>
              <a:rPr lang="en-US" sz="800" b="0" dirty="0" err="1"/>
              <a:t>sprinta</a:t>
            </a:r>
            <a:endParaRPr lang="en-US" sz="800" b="0" dirty="0"/>
          </a:p>
          <a:p>
            <a:pPr>
              <a:buNone/>
            </a:pPr>
            <a:r>
              <a:rPr lang="en-US" sz="800" b="1" dirty="0"/>
              <a:t>Veliko </a:t>
            </a:r>
            <a:r>
              <a:rPr lang="en-US" sz="800" b="1" dirty="0" err="1"/>
              <a:t>proširenje</a:t>
            </a:r>
            <a:r>
              <a:rPr lang="en-US" sz="800" b="1" dirty="0"/>
              <a:t> </a:t>
            </a:r>
            <a:r>
              <a:rPr lang="en-US" sz="800" b="1" dirty="0" err="1"/>
              <a:t>opsega</a:t>
            </a:r>
            <a:r>
              <a:rPr lang="en-US" sz="800" b="0" dirty="0"/>
              <a:t> +2+ </a:t>
            </a:r>
            <a:r>
              <a:rPr lang="en-US" sz="800" b="0" dirty="0" err="1"/>
              <a:t>mjeseca</a:t>
            </a:r>
            <a:r>
              <a:rPr lang="en-US" sz="800" b="0" dirty="0"/>
              <a:t> – </a:t>
            </a:r>
            <a:r>
              <a:rPr lang="en-US" sz="800" b="0" dirty="0" err="1"/>
              <a:t>Zahtijeva</a:t>
            </a:r>
            <a:r>
              <a:rPr lang="en-US" sz="800" b="0" dirty="0"/>
              <a:t> </a:t>
            </a:r>
            <a:r>
              <a:rPr lang="en-US" sz="800" b="0" dirty="0" err="1"/>
              <a:t>ponovno</a:t>
            </a:r>
            <a:r>
              <a:rPr lang="en-US" sz="800" b="0" dirty="0"/>
              <a:t> </a:t>
            </a:r>
            <a:r>
              <a:rPr lang="en-US" sz="800" b="0" dirty="0" err="1"/>
              <a:t>definiranje</a:t>
            </a:r>
            <a:r>
              <a:rPr lang="en-US" sz="800" b="0" dirty="0"/>
              <a:t> </a:t>
            </a:r>
            <a:r>
              <a:rPr lang="en-US" sz="800" b="0" dirty="0" err="1"/>
              <a:t>vremenskog</a:t>
            </a:r>
            <a:r>
              <a:rPr lang="en-US" sz="800" b="0" dirty="0"/>
              <a:t> plana</a:t>
            </a:r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en-US" sz="800" b="1" dirty="0"/>
              <a:t>3. </a:t>
            </a:r>
            <a:r>
              <a:rPr lang="en-US" sz="800" b="1" dirty="0" err="1"/>
              <a:t>Utjecaj</a:t>
            </a:r>
            <a:r>
              <a:rPr lang="en-US" sz="800" b="1" dirty="0"/>
              <a:t> </a:t>
            </a:r>
            <a:r>
              <a:rPr lang="en-US" sz="800" b="1" dirty="0" err="1"/>
              <a:t>promjena</a:t>
            </a:r>
            <a:r>
              <a:rPr lang="en-US" sz="800" b="1" dirty="0"/>
              <a:t> </a:t>
            </a:r>
            <a:r>
              <a:rPr lang="en-US" sz="800" b="1" dirty="0" err="1"/>
              <a:t>na</a:t>
            </a:r>
            <a:r>
              <a:rPr lang="en-US" sz="800" b="1" dirty="0"/>
              <a:t> </a:t>
            </a:r>
            <a:r>
              <a:rPr lang="en-US" sz="800" b="1" dirty="0" err="1"/>
              <a:t>proračun</a:t>
            </a:r>
            <a:endParaRPr lang="en-US" sz="800" b="1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en-US" sz="800" b="0" dirty="0" err="1"/>
              <a:t>Vrsta</a:t>
            </a:r>
            <a:r>
              <a:rPr lang="en-US" sz="800" b="0" dirty="0"/>
              <a:t> </a:t>
            </a:r>
            <a:r>
              <a:rPr lang="en-US" sz="800" b="0" dirty="0" err="1"/>
              <a:t>promjene</a:t>
            </a:r>
            <a:r>
              <a:rPr lang="en-US" sz="800" b="0" dirty="0"/>
              <a:t> – </a:t>
            </a:r>
            <a:r>
              <a:rPr lang="en-US" sz="800" b="0" dirty="0" err="1"/>
              <a:t>Procjena</a:t>
            </a:r>
            <a:r>
              <a:rPr lang="en-US" sz="800" b="0" dirty="0"/>
              <a:t> </a:t>
            </a:r>
            <a:r>
              <a:rPr lang="en-US" sz="800" b="0" dirty="0" err="1"/>
              <a:t>dodatnih</a:t>
            </a:r>
            <a:r>
              <a:rPr lang="en-US" sz="800" b="0" dirty="0"/>
              <a:t> </a:t>
            </a:r>
            <a:r>
              <a:rPr lang="en-US" sz="800" b="0" dirty="0" err="1"/>
              <a:t>troškova</a:t>
            </a:r>
            <a:r>
              <a:rPr lang="en-US" sz="800" b="0" dirty="0"/>
              <a:t> – </a:t>
            </a:r>
            <a:r>
              <a:rPr lang="en-US" sz="800" b="0" dirty="0" err="1"/>
              <a:t>Strategija</a:t>
            </a:r>
            <a:r>
              <a:rPr lang="en-US" sz="800" b="0" dirty="0"/>
              <a:t> </a:t>
            </a:r>
            <a:r>
              <a:rPr lang="en-US" sz="800" b="0" dirty="0" err="1"/>
              <a:t>financiranja</a:t>
            </a:r>
            <a:endParaRPr lang="en-US" sz="800" b="0" dirty="0"/>
          </a:p>
          <a:p>
            <a:pPr>
              <a:buNone/>
            </a:pPr>
            <a:endParaRPr lang="en-US" sz="800" b="0" dirty="0"/>
          </a:p>
          <a:p>
            <a:pPr>
              <a:buNone/>
            </a:pPr>
            <a:r>
              <a:rPr lang="en-US" sz="800" b="1" dirty="0"/>
              <a:t>Manja </a:t>
            </a:r>
            <a:r>
              <a:rPr lang="en-US" sz="800" b="1" dirty="0" err="1"/>
              <a:t>promjena</a:t>
            </a:r>
            <a:r>
              <a:rPr lang="en-US" sz="800" b="0" dirty="0"/>
              <a:t> 1.000 – 5.000 USD – </a:t>
            </a:r>
            <a:r>
              <a:rPr lang="en-US" sz="800" b="0" dirty="0" err="1"/>
              <a:t>Pokriva</a:t>
            </a:r>
            <a:r>
              <a:rPr lang="en-US" sz="800" b="0" dirty="0"/>
              <a:t> se </a:t>
            </a:r>
            <a:r>
              <a:rPr lang="en-US" sz="800" b="0" dirty="0" err="1"/>
              <a:t>iz</a:t>
            </a:r>
            <a:r>
              <a:rPr lang="en-US" sz="800" b="0" dirty="0"/>
              <a:t> </a:t>
            </a:r>
            <a:r>
              <a:rPr lang="en-US" sz="800" b="0" dirty="0" err="1"/>
              <a:t>rezervnih</a:t>
            </a:r>
            <a:r>
              <a:rPr lang="en-US" sz="800" b="0" dirty="0"/>
              <a:t> </a:t>
            </a:r>
            <a:r>
              <a:rPr lang="en-US" sz="800" b="0" dirty="0" err="1"/>
              <a:t>sredstava</a:t>
            </a:r>
            <a:endParaRPr lang="en-US" sz="800" b="0" dirty="0"/>
          </a:p>
          <a:p>
            <a:pPr>
              <a:buNone/>
            </a:pPr>
            <a:r>
              <a:rPr lang="en-US" sz="800" b="1" dirty="0" err="1"/>
              <a:t>Unaprjeđenje</a:t>
            </a:r>
            <a:r>
              <a:rPr lang="en-US" sz="800" b="1" dirty="0"/>
              <a:t> </a:t>
            </a:r>
            <a:r>
              <a:rPr lang="en-US" sz="800" b="1" dirty="0" err="1"/>
              <a:t>funkcionalnosti</a:t>
            </a:r>
            <a:r>
              <a:rPr lang="en-US" sz="800" b="1" dirty="0"/>
              <a:t> </a:t>
            </a:r>
            <a:r>
              <a:rPr lang="en-US" sz="800" b="0" dirty="0"/>
              <a:t>10.000 – 20.000 USD – </a:t>
            </a:r>
            <a:r>
              <a:rPr lang="en-US" sz="800" b="0" dirty="0" err="1"/>
              <a:t>Prilagodba</a:t>
            </a:r>
            <a:r>
              <a:rPr lang="en-US" sz="800" b="0" dirty="0"/>
              <a:t> </a:t>
            </a:r>
            <a:r>
              <a:rPr lang="en-US" sz="800" b="0" dirty="0" err="1"/>
              <a:t>raspodjele</a:t>
            </a:r>
            <a:r>
              <a:rPr lang="en-US" sz="800" b="0" dirty="0"/>
              <a:t> </a:t>
            </a:r>
            <a:r>
              <a:rPr lang="en-US" sz="800" b="0" dirty="0" err="1"/>
              <a:t>resursa</a:t>
            </a:r>
            <a:endParaRPr lang="en-US" sz="800" b="0" dirty="0"/>
          </a:p>
          <a:p>
            <a:pPr>
              <a:buNone/>
            </a:pPr>
            <a:r>
              <a:rPr lang="en-US" sz="800" b="1" dirty="0"/>
              <a:t>Veliko </a:t>
            </a:r>
            <a:r>
              <a:rPr lang="en-US" sz="800" b="1" dirty="0" err="1"/>
              <a:t>proširenje</a:t>
            </a:r>
            <a:r>
              <a:rPr lang="en-US" sz="800" b="1" dirty="0"/>
              <a:t> </a:t>
            </a:r>
            <a:r>
              <a:rPr lang="en-US" sz="800" b="1" dirty="0" err="1"/>
              <a:t>opsega</a:t>
            </a:r>
            <a:r>
              <a:rPr lang="en-US" sz="800" b="0" dirty="0"/>
              <a:t> 50.000+ USD – </a:t>
            </a:r>
            <a:r>
              <a:rPr lang="en-US" sz="800" b="0" dirty="0" err="1"/>
              <a:t>Zahtijeva</a:t>
            </a:r>
            <a:r>
              <a:rPr lang="en-US" sz="800" b="0" dirty="0"/>
              <a:t> </a:t>
            </a:r>
            <a:r>
              <a:rPr lang="en-US" sz="800" b="0" dirty="0" err="1"/>
              <a:t>odobrenje</a:t>
            </a:r>
            <a:r>
              <a:rPr lang="en-US" sz="800" b="0" dirty="0"/>
              <a:t> </a:t>
            </a:r>
            <a:r>
              <a:rPr lang="en-US" sz="800" b="0" dirty="0" err="1"/>
              <a:t>sponzora</a:t>
            </a:r>
            <a:endParaRPr lang="en-US" sz="800" b="0" dirty="0"/>
          </a:p>
          <a:p>
            <a:pPr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45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AD22-2194-9EDD-53AE-08806FEB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AB519-37FE-9C97-9837-1234276A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53FA8-98C6-B1E3-66C6-E27835731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DCACD-318B-1AB6-EA70-13332F93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73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41CA-F501-8DB8-798F-24EB3E20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44757-555E-4080-6E6E-681FFE9C8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A8DC6-6EE4-733D-8180-614B13396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5258D-1620-C97A-AE1A-4D31E1BBB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69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63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AE83-EE38-193C-3615-ED4B4024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30017F11-94C7-44F3-DAF6-3AC65622B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F0C19577-D2CE-C994-4F7E-3C5F49DFE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6D4CBD9-F5DF-3E7A-AF2D-DE02906C5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6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CraftEase</a:t>
            </a:r>
            <a:r>
              <a:rPr lang="hr-HR" dirty="0"/>
              <a:t> je web aplikacijsko rješenje razvijeno za trgovce u području uređenja doma koji žele unaprijediti angažman kupaca izravno putem svoje web stranice.</a:t>
            </a:r>
            <a:br>
              <a:rPr lang="hr-HR" dirty="0"/>
            </a:br>
            <a:r>
              <a:rPr lang="hr-HR" dirty="0"/>
              <a:t>Cilj aplikacije je vašoj trgovini pružiti integriranu digitalnu uslugu koja pomaže u upravljanju prijavama na DIY radionice, promoviranju projektnih </a:t>
            </a:r>
            <a:r>
              <a:rPr lang="hr-HR" dirty="0" err="1"/>
              <a:t>tutorijala</a:t>
            </a:r>
            <a:r>
              <a:rPr lang="hr-HR" dirty="0"/>
              <a:t> i praćenju dostupnosti alata/materijala u stvarnom vremenu.</a:t>
            </a:r>
          </a:p>
          <a:p>
            <a:endParaRPr lang="hr-HR" dirty="0"/>
          </a:p>
          <a:p>
            <a:r>
              <a:rPr lang="hr-HR" dirty="0"/>
              <a:t>Platforma je osmišljena tako da se besprijekorno integrira u vašu postojeću web stranicu. Jednostavna je za korištenje, sigurna i prilagodljiva vašem brendu i potrebama kupaca. Značajke uključuju personalizirane preporuke projekata, upravljanje rezervacijama, alate za prikupljanje povratnih informacija kupaca te analitiku za timove u trgovini.</a:t>
            </a:r>
          </a:p>
          <a:p>
            <a:endParaRPr lang="ro-R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11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92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CraftEase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rješenje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području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unaprijediti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angažman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pružiti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uslugu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pomaže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prijavama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radionice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promoviranju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tutorijala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praćenju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dostupnosti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alata/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osmišljena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besprijekorno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postojeću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Jednostavna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korištenje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sigurna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prilagodljiva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Značajke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uključuju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personalizirane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preporuke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rezervacijama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alate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prikupljanje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povratnih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analitiku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timove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o-R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70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5AD6-CCC8-6799-2DDF-5E9BAED2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29913-8352-4184-6F27-08186B344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632EF-CAB6-BAAC-34C7-131278AA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0203B-329D-A85B-35DF-8AF4BDB9A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45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36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65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CraftEase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rješenje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području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uređenja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unaprijediti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angažman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pružiti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uslugu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pomaže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prijavama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radionice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promoviranju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tutorijala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praćenju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dostupnosti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alata/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osmišljena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besprijekorno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postojeću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Jednostavna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korištenje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sigurna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prilagodljiva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Značajke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uključuju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personalizirane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preporuke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rezervacijama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alate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prikupljanje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povratnih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analitiku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timove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70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8AF4-0157-2B5D-916D-B4800798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7E670-108C-DF92-6A60-AD07A7949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618CC-69EE-F559-21BA-2BDDFAA39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53F39-150E-5720-36DF-0B9B459B8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80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CraftEase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rješenje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opremom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unaprijediti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angažman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pružiti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uslugu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pomaže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prijavama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DIY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radionice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promoviranju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vodiča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praćenju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dostupnosti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alata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dizajnirana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besprijekorno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postojeću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Jednostavna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korištenje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sigurna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prilagodljiva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Funkcionalnosti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uključuju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personalizirane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preporuke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rezervacijama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alate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povratne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analitiku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timove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3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4911BAC4-6BC8-78C9-C3A0-3B8193B50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94142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55890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5FF10651-A88B-132B-AE77-005E725B1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683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A7D5785-C017-9CDE-887E-053A663A7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1160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alat, dizajn&#10;&#10;Opis je automatski generiran">
            <a:extLst>
              <a:ext uri="{FF2B5EF4-FFF2-40B4-BE49-F238E27FC236}">
                <a16:creationId xmlns:a16="http://schemas.microsoft.com/office/drawing/2014/main" id="{7174B7B0-D794-7A54-5CF6-E0A21E0E5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9893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8154B72-B9D9-7CC8-2522-C7E3F4476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3897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F67D23E-A28C-75D8-1345-0AB914675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5255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35DF2062-AC53-CC06-3408-F03D9B95B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226208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9FAA237F-8481-A276-5DC5-A3FC50F5B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83575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511350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911371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6747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51716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727663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357152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558886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6927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8904991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4897540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03705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43681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748890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281932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1041576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774931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7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6912636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8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256073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8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18.05.2026.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5" r:id="rId5"/>
    <p:sldLayoutId id="2147483651" r:id="rId6"/>
    <p:sldLayoutId id="2147483660" r:id="rId7"/>
    <p:sldLayoutId id="2147483666" r:id="rId8"/>
    <p:sldLayoutId id="2147483652" r:id="rId9"/>
    <p:sldLayoutId id="2147483661" r:id="rId10"/>
    <p:sldLayoutId id="2147483667" r:id="rId11"/>
    <p:sldLayoutId id="2147483653" r:id="rId12"/>
    <p:sldLayoutId id="2147483662" r:id="rId13"/>
    <p:sldLayoutId id="2147483668" r:id="rId14"/>
    <p:sldLayoutId id="2147483654" r:id="rId15"/>
    <p:sldLayoutId id="2147483663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18.05.2026.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2751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pmbok-guide-standards/foundational/pmbok" TargetMode="External"/><Relationship Id="rId2" Type="http://schemas.openxmlformats.org/officeDocument/2006/relationships/hyperlink" Target="https://www.pmi.org/" TargetMode="Externa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youtu.be/cJ2WGy0I3wg?si=hHK44hitRQeN26b9" TargetMode="External"/><Relationship Id="rId5" Type="http://schemas.openxmlformats.org/officeDocument/2006/relationships/hyperlink" Target="https://www.youtube.com/watch?v=PyR2VLP3xnA&amp;ab_channel=OnlinePMCourses-MikeClayton" TargetMode="External"/><Relationship Id="rId4" Type="http://schemas.openxmlformats.org/officeDocument/2006/relationships/hyperlink" Target="https://journals.sagepub.com/home/pmx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work-management/project-management/work-breakdown-structure" TargetMode="External"/><Relationship Id="rId2" Type="http://schemas.openxmlformats.org/officeDocument/2006/relationships/hyperlink" Target="https://www.atlassian.com/work-management/project-management/project-scope" TargetMode="External"/><Relationship Id="rId1" Type="http://schemas.openxmlformats.org/officeDocument/2006/relationships/slideLayout" Target="../slideLayouts/slideLayout31.xml"/><Relationship Id="rId4" Type="http://schemas.openxmlformats.org/officeDocument/2006/relationships/hyperlink" Target="https://www.projectmanager.com/guides/gantt-ch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022C4E9-1E70-8866-3479-A24FD93D0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SHIFT4IT</a:t>
            </a:r>
            <a:endParaRPr lang="hr-HR"/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2D59F4E1-B531-21D4-1874-34304F7DA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Nunito" pitchFamily="2" charset="0"/>
              </a:rPr>
              <a:t>Shifting the paradigm for women in IT sector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7504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DF1749-1A1D-3164-354A-8D2A8109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011" y="2875581"/>
            <a:ext cx="9144000" cy="2387600"/>
          </a:xfrm>
        </p:spPr>
        <p:txBody>
          <a:bodyPr>
            <a:normAutofit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en-US" b="1" dirty="0"/>
              <a:t>Planiranje rada</a:t>
            </a:r>
            <a:endParaRPr lang="hr-HR" sz="5300" b="1" dirty="0"/>
          </a:p>
        </p:txBody>
      </p:sp>
    </p:spTree>
    <p:extLst>
      <p:ext uri="{BB962C8B-B14F-4D97-AF65-F5344CB8AC3E}">
        <p14:creationId xmlns:p14="http://schemas.microsoft.com/office/powerpoint/2010/main" val="262323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25DB994-20D2-9EF1-A081-C76AA523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sz="4000" dirty="0">
                <a:latin typeface="Bahnschrift SemiBold"/>
              </a:rPr>
              <a:t>Sažetak</a:t>
            </a:r>
            <a:endParaRPr lang="en-US" sz="4000" dirty="0">
              <a:latin typeface="Bahnschrift Semi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0445EE-F4D0-9707-9D88-DD266A4C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311" y="1901866"/>
            <a:ext cx="9220200" cy="44063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1.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Definirati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komponente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plana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upravljanja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projektom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hr-HR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2.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Opisati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međusobnu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ovisnost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opsega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rasporeda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proračuna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hr-HR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3.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Definirati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terminologiju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vezanu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uz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opseg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projekta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(2 h)</a:t>
            </a: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hr-HR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4.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Objasniti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utjecaj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dostupnosti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resursa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na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rasporede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hr-HR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hr-HR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5.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Raspraviti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metode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izrade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  <a:cs typeface="Arial" panose="020B0604020202020204" pitchFamily="34" charset="0"/>
              </a:rPr>
              <a:t>proračuna</a:t>
            </a:r>
            <a:r>
              <a:rPr 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(2 h)</a:t>
            </a:r>
            <a:r>
              <a:rPr lang="en-US" alt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br>
              <a:rPr lang="en-US" alt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3">
            <a:extLst>
              <a:ext uri="{FF2B5EF4-FFF2-40B4-BE49-F238E27FC236}">
                <a16:creationId xmlns:a16="http://schemas.microsoft.com/office/drawing/2014/main" id="{73E329B6-39D1-4B87-CC26-0711BD895686}"/>
              </a:ext>
            </a:extLst>
          </p:cNvPr>
          <p:cNvSpPr txBox="1">
            <a:spLocks/>
          </p:cNvSpPr>
          <p:nvPr/>
        </p:nvSpPr>
        <p:spPr>
          <a:xfrm>
            <a:off x="2460015" y="1659364"/>
            <a:ext cx="931758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ro-RO" b="1" dirty="0">
                <a:solidFill>
                  <a:prstClr val="black"/>
                </a:solidFill>
              </a:rPr>
              <a:t>PLANIRANJE RADA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hr-HR" dirty="0">
              <a:latin typeface="Bahnschrift SemiLight" panose="020B0502040204020203" pitchFamily="34" charset="0"/>
            </a:endParaRPr>
          </a:p>
        </p:txBody>
      </p:sp>
      <p:sp>
        <p:nvSpPr>
          <p:cNvPr id="3" name="Podnaslov 4">
            <a:extLst>
              <a:ext uri="{FF2B5EF4-FFF2-40B4-BE49-F238E27FC236}">
                <a16:creationId xmlns:a16="http://schemas.microsoft.com/office/drawing/2014/main" id="{9231DBE4-5C1F-9BFF-E82D-2AE6E0CB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8888" y="3789802"/>
            <a:ext cx="9955429" cy="1619479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200" dirty="0" err="1"/>
              <a:t>Definirati</a:t>
            </a:r>
            <a:r>
              <a:rPr lang="en-US" sz="3200" dirty="0"/>
              <a:t> </a:t>
            </a:r>
            <a:r>
              <a:rPr lang="en-US" sz="3200" dirty="0" err="1"/>
              <a:t>komponente</a:t>
            </a:r>
            <a:r>
              <a:rPr lang="en-US" sz="3200" dirty="0"/>
              <a:t> plana </a:t>
            </a:r>
            <a:r>
              <a:rPr lang="en-US" sz="3200" dirty="0" err="1"/>
              <a:t>upravljanja</a:t>
            </a:r>
            <a:r>
              <a:rPr lang="en-US" sz="3200" dirty="0"/>
              <a:t> </a:t>
            </a:r>
            <a:r>
              <a:rPr lang="en-US" sz="3200" dirty="0" err="1"/>
              <a:t>projektom</a:t>
            </a:r>
            <a:br>
              <a:rPr lang="en-US" sz="3200" dirty="0"/>
            </a:br>
            <a:r>
              <a:rPr lang="en-US" sz="3200" dirty="0" err="1"/>
              <a:t>Međusobna</a:t>
            </a:r>
            <a:r>
              <a:rPr lang="en-US" sz="3200" dirty="0"/>
              <a:t> </a:t>
            </a:r>
            <a:r>
              <a:rPr lang="en-US" sz="3200" dirty="0" err="1"/>
              <a:t>ovisnost</a:t>
            </a:r>
            <a:r>
              <a:rPr lang="en-US" sz="3200" dirty="0"/>
              <a:t> </a:t>
            </a:r>
            <a:r>
              <a:rPr lang="en-US" sz="3200" dirty="0" err="1"/>
              <a:t>opsega</a:t>
            </a:r>
            <a:r>
              <a:rPr lang="en-US" sz="3200" dirty="0"/>
              <a:t>, </a:t>
            </a:r>
            <a:r>
              <a:rPr lang="en-US" sz="3200" dirty="0" err="1"/>
              <a:t>rasporeda</a:t>
            </a:r>
            <a:r>
              <a:rPr lang="en-US" sz="3200" dirty="0"/>
              <a:t> i </a:t>
            </a:r>
            <a:r>
              <a:rPr lang="en-US" sz="3200" dirty="0" err="1"/>
              <a:t>proračuna</a:t>
            </a:r>
            <a:r>
              <a:rPr lang="en-US" sz="3200" dirty="0"/>
              <a:t> u PMP-u</a:t>
            </a:r>
          </a:p>
        </p:txBody>
      </p:sp>
    </p:spTree>
    <p:extLst>
      <p:ext uri="{BB962C8B-B14F-4D97-AF65-F5344CB8AC3E}">
        <p14:creationId xmlns:p14="http://schemas.microsoft.com/office/powerpoint/2010/main" val="362602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36CE-F4E1-C1C7-D054-047BCAD4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688" y="141842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en-US" b="1" dirty="0">
                <a:latin typeface="Bahnschrift SemiLight" panose="020B0502040204020203" pitchFamily="34" charset="0"/>
              </a:rPr>
            </a:br>
            <a:r>
              <a:rPr lang="en-US" sz="4000" dirty="0">
                <a:latin typeface="Bahnschrift SemiBold"/>
              </a:rPr>
              <a:t>Plan </a:t>
            </a:r>
            <a:r>
              <a:rPr lang="en-US" sz="4000" dirty="0" err="1">
                <a:latin typeface="Bahnschrift SemiBold"/>
              </a:rPr>
              <a:t>upravljanja</a:t>
            </a:r>
            <a:r>
              <a:rPr lang="en-US" sz="4000" dirty="0">
                <a:latin typeface="Bahnschrift SemiBold"/>
              </a:rPr>
              <a:t> </a:t>
            </a:r>
            <a:r>
              <a:rPr lang="en-US" sz="4000" dirty="0" err="1">
                <a:latin typeface="Bahnschrift SemiBold"/>
              </a:rPr>
              <a:t>projektom</a:t>
            </a:r>
            <a:endParaRPr lang="en-US" sz="4000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3A5D0-E7E3-67A2-B12F-D190BDCD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378" y="2748139"/>
            <a:ext cx="5997221" cy="2433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DCBD"/>
                </a:solidFill>
              </a:rPr>
              <a:t>Plan </a:t>
            </a:r>
            <a:r>
              <a:rPr lang="en-US" b="1" dirty="0" err="1">
                <a:solidFill>
                  <a:srgbClr val="0BDCBD"/>
                </a:solidFill>
              </a:rPr>
              <a:t>upravljanja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projektom</a:t>
            </a:r>
            <a:r>
              <a:rPr lang="en-US" dirty="0"/>
              <a:t> </a:t>
            </a:r>
            <a:r>
              <a:rPr lang="en-US" dirty="0" err="1"/>
              <a:t>formalni</a:t>
            </a:r>
            <a:r>
              <a:rPr lang="en-US" dirty="0"/>
              <a:t> je </a:t>
            </a:r>
            <a:r>
              <a:rPr lang="en-US" dirty="0" err="1"/>
              <a:t>dokument</a:t>
            </a:r>
            <a:r>
              <a:rPr lang="en-US" dirty="0"/>
              <a:t> koji </a:t>
            </a:r>
            <a:r>
              <a:rPr lang="en-US" b="1" dirty="0" err="1">
                <a:solidFill>
                  <a:srgbClr val="0BDCBD"/>
                </a:solidFill>
              </a:rPr>
              <a:t>definira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kako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će</a:t>
            </a:r>
            <a:r>
              <a:rPr lang="en-US" b="1" dirty="0">
                <a:solidFill>
                  <a:srgbClr val="0BDCBD"/>
                </a:solidFill>
              </a:rPr>
              <a:t> se </a:t>
            </a:r>
            <a:r>
              <a:rPr lang="en-US" b="1" dirty="0" err="1">
                <a:solidFill>
                  <a:srgbClr val="0BDCBD"/>
                </a:solidFill>
              </a:rPr>
              <a:t>projekt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provoditi</a:t>
            </a:r>
            <a:r>
              <a:rPr lang="en-US" b="1" dirty="0">
                <a:solidFill>
                  <a:srgbClr val="0BDCBD"/>
                </a:solidFill>
              </a:rPr>
              <a:t>, </a:t>
            </a:r>
            <a:r>
              <a:rPr lang="en-US" b="1" dirty="0" err="1">
                <a:solidFill>
                  <a:srgbClr val="0BDCBD"/>
                </a:solidFill>
              </a:rPr>
              <a:t>pratiti</a:t>
            </a:r>
            <a:r>
              <a:rPr lang="en-US" b="1" dirty="0">
                <a:solidFill>
                  <a:srgbClr val="0BDCBD"/>
                </a:solidFill>
              </a:rPr>
              <a:t> i </a:t>
            </a:r>
            <a:r>
              <a:rPr lang="en-US" b="1" dirty="0" err="1">
                <a:solidFill>
                  <a:srgbClr val="0BDCBD"/>
                </a:solidFill>
              </a:rPr>
              <a:t>kontrolirati</a:t>
            </a:r>
            <a:r>
              <a:rPr lang="en-US" dirty="0"/>
              <a:t>. </a:t>
            </a:r>
            <a:r>
              <a:rPr lang="en-US" dirty="0" err="1"/>
              <a:t>Sastoji</a:t>
            </a:r>
            <a:r>
              <a:rPr lang="en-US" dirty="0"/>
              <a:t> se od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komponenti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People at work">
            <a:extLst>
              <a:ext uri="{FF2B5EF4-FFF2-40B4-BE49-F238E27FC236}">
                <a16:creationId xmlns:a16="http://schemas.microsoft.com/office/drawing/2014/main" id="{8066DE0F-5ADB-E749-FA3A-413CE4EEC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2" r="11131" b="-1"/>
          <a:stretch/>
        </p:blipFill>
        <p:spPr>
          <a:xfrm>
            <a:off x="838200" y="1825625"/>
            <a:ext cx="4738511" cy="388455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2F91EA-CBFC-FC6C-6F32-F890FD186A28}"/>
              </a:ext>
            </a:extLst>
          </p:cNvPr>
          <p:cNvSpPr txBox="1"/>
          <p:nvPr/>
        </p:nvSpPr>
        <p:spPr>
          <a:xfrm>
            <a:off x="2081421" y="5760627"/>
            <a:ext cx="3393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i="1" dirty="0">
                <a:latin typeface="Bahnschrift SemiLight" panose="020B0502040204020203" pitchFamily="34" charset="0"/>
              </a:rPr>
              <a:t>Izvor</a:t>
            </a:r>
            <a:r>
              <a:rPr lang="en-US" sz="1400" i="1" dirty="0">
                <a:latin typeface="Bahnschrift SemiLight" panose="020B0502040204020203" pitchFamily="34" charset="0"/>
              </a:rPr>
              <a:t> Office 365 stoke imagine</a:t>
            </a:r>
          </a:p>
        </p:txBody>
      </p:sp>
    </p:spTree>
    <p:extLst>
      <p:ext uri="{BB962C8B-B14F-4D97-AF65-F5344CB8AC3E}">
        <p14:creationId xmlns:p14="http://schemas.microsoft.com/office/powerpoint/2010/main" val="6036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E0BC87D-9A3B-6229-F276-A7388E8B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Komponente plana </a:t>
            </a:r>
            <a:r>
              <a:rPr lang="en-US" sz="3800" dirty="0" err="1">
                <a:latin typeface="Bahnschrift SemiBold"/>
              </a:rPr>
              <a:t>upravljanja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projektom</a:t>
            </a:r>
            <a:r>
              <a:rPr lang="hr-HR" sz="3800" dirty="0">
                <a:latin typeface="Bahnschrift SemiBold"/>
              </a:rPr>
              <a:t> </a:t>
            </a:r>
            <a:r>
              <a:rPr lang="en-US" sz="3800" dirty="0">
                <a:latin typeface="Bahnschrift SemiBold"/>
              </a:rPr>
              <a:t>I.</a:t>
            </a:r>
            <a:endParaRPr lang="ro-RO" sz="3800" dirty="0"/>
          </a:p>
        </p:txBody>
      </p:sp>
      <p:graphicFrame>
        <p:nvGraphicFramePr>
          <p:cNvPr id="4" name="Substituent conținut 3">
            <a:extLst>
              <a:ext uri="{FF2B5EF4-FFF2-40B4-BE49-F238E27FC236}">
                <a16:creationId xmlns:a16="http://schemas.microsoft.com/office/drawing/2014/main" id="{DD5331CD-976E-C0DC-44E3-BDF806428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447709"/>
              </p:ext>
            </p:extLst>
          </p:nvPr>
        </p:nvGraphicFramePr>
        <p:xfrm>
          <a:off x="791837" y="1803591"/>
          <a:ext cx="10608326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4163">
                  <a:extLst>
                    <a:ext uri="{9D8B030D-6E8A-4147-A177-3AD203B41FA5}">
                      <a16:colId xmlns:a16="http://schemas.microsoft.com/office/drawing/2014/main" val="814207332"/>
                    </a:ext>
                  </a:extLst>
                </a:gridCol>
                <a:gridCol w="5304163">
                  <a:extLst>
                    <a:ext uri="{9D8B030D-6E8A-4147-A177-3AD203B41FA5}">
                      <a16:colId xmlns:a16="http://schemas.microsoft.com/office/drawing/2014/main" val="1886952790"/>
                    </a:ext>
                  </a:extLst>
                </a:gridCol>
              </a:tblGrid>
              <a:tr h="893954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1. PREGLED PROJEKTA</a:t>
                      </a:r>
                    </a:p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Naziv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opis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– </a:t>
                      </a:r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visoko razrađen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sažetak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Ciljevi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–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što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nastoji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postići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Opseg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–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što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je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uključeno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a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što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isključeno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Kriteriji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uspjeha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–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metrike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mjerenje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uspješnosti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1ED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2. PLAN UPRAVLJANJA OPSEGOM</a:t>
                      </a:r>
                    </a:p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kako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će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upravljati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opsegom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procese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definiranje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kontrolu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promjene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opsega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Pomaže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u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sprječavanju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širenja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opsega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neovlaštenih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promjena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endParaRPr lang="ro-RO" dirty="0">
                        <a:ln>
                          <a:noFill/>
                        </a:ln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470458"/>
                  </a:ext>
                </a:extLst>
              </a:tr>
              <a:tr h="8939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3. PLAN UPRAVLJANJA RASPOREDOM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Opisuje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kako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će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se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razviti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i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kontrolirati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vremenski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plan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projekta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Uključuje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r-HR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Raspored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projekta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npr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Ganttovi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dijagrami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ključne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etape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r-HR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Ovisnosti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zadataka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i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rokove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r-HR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Metode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praćenja</a:t>
                      </a:r>
                      <a:r>
                        <a:rPr kumimoji="0" 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rasporeda</a:t>
                      </a:r>
                      <a:r>
                        <a:rPr kumimoji="0" lang="en-US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4. PLAN UPRAVLJANJA TROŠKOVIMA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kako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će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upravljati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budžetiranjem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procjenama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kontrolom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troškova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Početnu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procjenu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proračuna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Praćenje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troškova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analizu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odstupanja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Mjere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kontrole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troškova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endParaRPr lang="ro-RO" dirty="0"/>
                    </a:p>
                  </a:txBody>
                  <a:tcPr>
                    <a:solidFill>
                      <a:srgbClr val="1ED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3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253A-DE75-17A9-8D8A-A1758AE19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3FFC7BF-B3E9-6F9F-9552-CA53807F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Komponente plana </a:t>
            </a:r>
            <a:r>
              <a:rPr lang="en-US" sz="3800" dirty="0" err="1">
                <a:latin typeface="Bahnschrift SemiBold"/>
              </a:rPr>
              <a:t>upravljanja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projektom</a:t>
            </a:r>
            <a:r>
              <a:rPr lang="en-US" sz="3800" dirty="0">
                <a:latin typeface="Bahnschrift SemiBold"/>
              </a:rPr>
              <a:t> II.</a:t>
            </a:r>
            <a:endParaRPr lang="ro-RO" sz="3800" dirty="0"/>
          </a:p>
        </p:txBody>
      </p:sp>
      <p:graphicFrame>
        <p:nvGraphicFramePr>
          <p:cNvPr id="4" name="Substituent conținut 3">
            <a:extLst>
              <a:ext uri="{FF2B5EF4-FFF2-40B4-BE49-F238E27FC236}">
                <a16:creationId xmlns:a16="http://schemas.microsoft.com/office/drawing/2014/main" id="{A1C53E53-2252-D62E-F323-3C965D582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656222"/>
              </p:ext>
            </p:extLst>
          </p:nvPr>
        </p:nvGraphicFramePr>
        <p:xfrm>
          <a:off x="637601" y="1690688"/>
          <a:ext cx="10608326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4163">
                  <a:extLst>
                    <a:ext uri="{9D8B030D-6E8A-4147-A177-3AD203B41FA5}">
                      <a16:colId xmlns:a16="http://schemas.microsoft.com/office/drawing/2014/main" val="814207332"/>
                    </a:ext>
                  </a:extLst>
                </a:gridCol>
                <a:gridCol w="5304163">
                  <a:extLst>
                    <a:ext uri="{9D8B030D-6E8A-4147-A177-3AD203B41FA5}">
                      <a16:colId xmlns:a16="http://schemas.microsoft.com/office/drawing/2014/main" val="1886952790"/>
                    </a:ext>
                  </a:extLst>
                </a:gridCol>
              </a:tblGrid>
              <a:tr h="893954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5. PLAN UPRAVLJANJA KVALITETOM</a:t>
                      </a:r>
                    </a:p>
                    <a:p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Osigurava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da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isporuke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zadovoljavaju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tražene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standarde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kvalitete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Ciljeve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kvalitete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npr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stopa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grešaka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ciljevi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performansi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Procese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testiranja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validacije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Mjere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kontrole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kvalitete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1ED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6. PLAN UPRAVLJANJA RESURSIMA</a:t>
                      </a:r>
                    </a:p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Identificira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ljudske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materijalne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tehničke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resurse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Uloge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odgovornosti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članova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Potrebe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zapošljavanja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edukacije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Strategiju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raspodjele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resursa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endParaRPr lang="ro-RO" dirty="0">
                        <a:ln>
                          <a:noFill/>
                        </a:ln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470458"/>
                  </a:ext>
                </a:extLst>
              </a:tr>
              <a:tr h="893954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7. PLAN UPRAVLJANJA KOMUNIKACIJOM</a:t>
                      </a:r>
                    </a:p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kako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će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informacije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dijeliti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među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dionicima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Metode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komunikacije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(e-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mailovi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sastanci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izvještaji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nadzorne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ploče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r>
                        <a:rPr lang="hr-HR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Učestalost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ažuriranja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Matricu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komunikacije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dionika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8. PLAN UPRAVLJANJA RIZICIMA</a:t>
                      </a:r>
                    </a:p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Identificira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potencijalne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rizike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strategije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ublažavanja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Identifikaciju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procjenu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rizika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Strategije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rizike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izbjegavanje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ublažavanje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prijenos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prihvaćanje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r>
                        <a:rPr lang="hr-HR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Planove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nepredviđene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situacije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endParaRPr lang="ro-RO" dirty="0"/>
                    </a:p>
                  </a:txBody>
                  <a:tcPr>
                    <a:solidFill>
                      <a:srgbClr val="1ED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16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08BF7-E53E-A2CD-9863-DDBF0ED3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5BAE1D9-D94B-B88F-6C73-2E8DD4B3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Komponente plana </a:t>
            </a:r>
            <a:r>
              <a:rPr lang="en-US" sz="3800" dirty="0" err="1">
                <a:latin typeface="Bahnschrift SemiBold"/>
              </a:rPr>
              <a:t>upravljanja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projektom</a:t>
            </a:r>
            <a:r>
              <a:rPr lang="en-US" sz="3800" dirty="0">
                <a:latin typeface="Bahnschrift SemiBold"/>
              </a:rPr>
              <a:t> III.</a:t>
            </a:r>
            <a:endParaRPr lang="ro-RO" sz="3800" dirty="0"/>
          </a:p>
        </p:txBody>
      </p:sp>
      <p:graphicFrame>
        <p:nvGraphicFramePr>
          <p:cNvPr id="4" name="Substituent conținut 3">
            <a:extLst>
              <a:ext uri="{FF2B5EF4-FFF2-40B4-BE49-F238E27FC236}">
                <a16:creationId xmlns:a16="http://schemas.microsoft.com/office/drawing/2014/main" id="{B55503B4-8AA8-1AE7-A4D8-9451D106E5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077508"/>
              </p:ext>
            </p:extLst>
          </p:nvPr>
        </p:nvGraphicFramePr>
        <p:xfrm>
          <a:off x="791837" y="1803591"/>
          <a:ext cx="10608326" cy="467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4163">
                  <a:extLst>
                    <a:ext uri="{9D8B030D-6E8A-4147-A177-3AD203B41FA5}">
                      <a16:colId xmlns:a16="http://schemas.microsoft.com/office/drawing/2014/main" val="814207332"/>
                    </a:ext>
                  </a:extLst>
                </a:gridCol>
                <a:gridCol w="5304163">
                  <a:extLst>
                    <a:ext uri="{9D8B030D-6E8A-4147-A177-3AD203B41FA5}">
                      <a16:colId xmlns:a16="http://schemas.microsoft.com/office/drawing/2014/main" val="1886952790"/>
                    </a:ext>
                  </a:extLst>
                </a:gridCol>
              </a:tblGrid>
              <a:tr h="893954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9. PLAN UPRAVLJANJA NABAVOM</a:t>
                      </a:r>
                    </a:p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kako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će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upravljati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dobavljačima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isporučiteljima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ugovorima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Metode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nabave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kupnja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vs.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vlastit</a:t>
                      </a:r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razvoj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Kriterije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odabira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dobavljača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Proces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upravljanja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ugovorima</a:t>
                      </a: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1ED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10. PLAN UPRAVLJANJA DIONICIMA</a:t>
                      </a:r>
                    </a:p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Identificira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ključne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dionike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njihovu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razinu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uključenosti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Analizu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dionika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matrica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moći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interesa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r>
                        <a:rPr lang="hr-HR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Strategije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uključivanja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Plan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komunikacije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dionicima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470458"/>
                  </a:ext>
                </a:extLst>
              </a:tr>
              <a:tr h="893954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11. PLAN UPRAVLJANJA PROMJENAMA</a:t>
                      </a:r>
                    </a:p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Definira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kako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će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promjene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u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projektu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evaluirati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odobravati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endParaRPr lang="en-US" sz="19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en-US" sz="19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9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Proces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podnošenja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zahtjeva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promjene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Kriterije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procjene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utjecaja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Ovlasti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odobravanje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12. PLAN UPRAVLJANJA INTEGRACIJOM</a:t>
                      </a:r>
                    </a:p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Osigurava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da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sve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komponente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učinkovito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funkcioniraju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zajedno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Uključuje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:</a:t>
                      </a:r>
                    </a:p>
                    <a:p>
                      <a:r>
                        <a:rPr lang="hr-HR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Način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integracije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različitih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planova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opseg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raspored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proračun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).</a:t>
                      </a:r>
                    </a:p>
                    <a:p>
                      <a:r>
                        <a:rPr lang="hr-HR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Cjelokupno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upravljanje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projektom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r>
                        <a:rPr lang="hr-HR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Proces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zatvaranja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solidFill>
                      <a:srgbClr val="1EDF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51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6372-F387-8D07-5184-48576F41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391"/>
            <a:ext cx="10515600" cy="1325563"/>
          </a:xfrm>
        </p:spPr>
        <p:txBody>
          <a:bodyPr>
            <a:normAutofit/>
          </a:bodyPr>
          <a:lstStyle/>
          <a:p>
            <a:r>
              <a:rPr lang="hr-HR" sz="3800" dirty="0">
                <a:latin typeface="Bahnschrift SemiBold"/>
              </a:rPr>
              <a:t>Plan upravljanja projektom </a:t>
            </a:r>
            <a:r>
              <a:rPr lang="en-US" sz="3800" dirty="0">
                <a:latin typeface="Bahnschrift SemiBold"/>
              </a:rPr>
              <a:t>(PMP) </a:t>
            </a:r>
            <a:br>
              <a:rPr lang="en-US" sz="3800" dirty="0">
                <a:latin typeface="Bahnschrift SemiBold"/>
              </a:rPr>
            </a:br>
            <a:r>
              <a:rPr lang="hr-HR" sz="3800" dirty="0">
                <a:latin typeface="Bahnschrift SemiBold"/>
              </a:rPr>
              <a:t>primjer</a:t>
            </a:r>
            <a:r>
              <a:rPr lang="en-US" sz="3800" dirty="0">
                <a:latin typeface="Bahnschrift SemiBold"/>
              </a:rPr>
              <a:t> 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16F91-68A4-BA18-8EC8-762FCAAE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78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Plan </a:t>
            </a:r>
            <a:r>
              <a:rPr lang="en-US" sz="2400" b="1" dirty="0" err="1"/>
              <a:t>upravljanja</a:t>
            </a:r>
            <a:r>
              <a:rPr lang="en-US" sz="2400" b="1" dirty="0"/>
              <a:t> </a:t>
            </a:r>
            <a:r>
              <a:rPr lang="en-US" sz="2400" b="1" dirty="0" err="1"/>
              <a:t>projektom</a:t>
            </a:r>
            <a:r>
              <a:rPr lang="en-US" sz="2400" b="1" dirty="0"/>
              <a:t> za </a:t>
            </a:r>
            <a:r>
              <a:rPr lang="en-US" sz="2400" b="1" dirty="0" err="1"/>
              <a:t>razvoj</a:t>
            </a:r>
            <a:r>
              <a:rPr lang="en-US" sz="2400" b="1" dirty="0"/>
              <a:t> </a:t>
            </a:r>
            <a:r>
              <a:rPr lang="en-US" sz="2400" b="1" dirty="0" err="1"/>
              <a:t>mobilne</a:t>
            </a:r>
            <a:r>
              <a:rPr lang="en-US" sz="2400" b="1" dirty="0"/>
              <a:t> </a:t>
            </a:r>
            <a:r>
              <a:rPr lang="en-US" sz="2400" b="1" dirty="0" err="1"/>
              <a:t>aplikacije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457200" lvl="1" indent="0">
              <a:buNone/>
            </a:pPr>
            <a:r>
              <a:rPr lang="hr-HR" b="1" dirty="0">
                <a:solidFill>
                  <a:srgbClr val="0BDCBD"/>
                </a:solidFill>
              </a:rPr>
              <a:t>1. PR</a:t>
            </a:r>
            <a:r>
              <a:rPr lang="en-US" b="1" dirty="0">
                <a:solidFill>
                  <a:srgbClr val="0BDCBD"/>
                </a:solidFill>
              </a:rPr>
              <a:t>EGLED PROJEKTA</a:t>
            </a:r>
          </a:p>
          <a:p>
            <a:pPr marL="0" indent="0">
              <a:buNone/>
            </a:pPr>
            <a:r>
              <a:rPr lang="en-US" sz="2400" b="1" dirty="0" err="1"/>
              <a:t>Naziv</a:t>
            </a:r>
            <a:r>
              <a:rPr lang="en-US" sz="2400" b="1" dirty="0"/>
              <a:t> </a:t>
            </a:r>
            <a:r>
              <a:rPr lang="en-US" sz="2400" b="1" dirty="0" err="1"/>
              <a:t>projekta</a:t>
            </a:r>
            <a:r>
              <a:rPr lang="en-US" sz="2400" b="1" dirty="0"/>
              <a:t>: </a:t>
            </a:r>
            <a:r>
              <a:rPr lang="en-US" sz="2400" dirty="0" err="1"/>
              <a:t>HealthTrack</a:t>
            </a:r>
            <a:r>
              <a:rPr lang="en-US" sz="2400" dirty="0"/>
              <a:t> </a:t>
            </a:r>
            <a:r>
              <a:rPr lang="en-US" sz="2400" dirty="0" err="1"/>
              <a:t>mobilna</a:t>
            </a:r>
            <a:r>
              <a:rPr lang="en-US" sz="2400" dirty="0"/>
              <a:t> </a:t>
            </a:r>
            <a:r>
              <a:rPr lang="en-US" sz="2400" dirty="0" err="1"/>
              <a:t>aplikacija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Cilj</a:t>
            </a:r>
            <a:r>
              <a:rPr lang="en-US" sz="2400" b="1" dirty="0"/>
              <a:t>: </a:t>
            </a:r>
            <a:r>
              <a:rPr lang="en-US" sz="2400" dirty="0" err="1"/>
              <a:t>Razviti</a:t>
            </a:r>
            <a:r>
              <a:rPr lang="en-US" sz="2400" dirty="0"/>
              <a:t> </a:t>
            </a:r>
            <a:r>
              <a:rPr lang="en-US" sz="2400" dirty="0" err="1"/>
              <a:t>mobilnu</a:t>
            </a:r>
            <a:r>
              <a:rPr lang="en-US" sz="2400" dirty="0"/>
              <a:t> </a:t>
            </a:r>
            <a:r>
              <a:rPr lang="en-US" sz="2400" dirty="0" err="1"/>
              <a:t>aplikaciju</a:t>
            </a:r>
            <a:r>
              <a:rPr lang="en-US" sz="2400" dirty="0"/>
              <a:t> za </a:t>
            </a:r>
            <a:r>
              <a:rPr lang="en-US" sz="2400" dirty="0" err="1"/>
              <a:t>praćenje</a:t>
            </a:r>
            <a:r>
              <a:rPr lang="en-US" sz="2400" dirty="0"/>
              <a:t> </a:t>
            </a:r>
            <a:r>
              <a:rPr lang="en-US" sz="2400" dirty="0" err="1"/>
              <a:t>fitnessa</a:t>
            </a:r>
            <a:r>
              <a:rPr lang="en-US" sz="2400" dirty="0"/>
              <a:t> i </a:t>
            </a:r>
            <a:r>
              <a:rPr lang="en-US" sz="2400" dirty="0" err="1"/>
              <a:t>zdravstvenih</a:t>
            </a:r>
            <a:r>
              <a:rPr lang="en-US" sz="2400" dirty="0"/>
              <a:t> </a:t>
            </a:r>
            <a:r>
              <a:rPr lang="en-US" sz="2400" dirty="0" err="1"/>
              <a:t>pokazatelja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 err="1"/>
              <a:t>Opseg</a:t>
            </a:r>
            <a:r>
              <a:rPr lang="en-US" sz="2400" b="1" dirty="0"/>
              <a:t>: </a:t>
            </a:r>
            <a:r>
              <a:rPr lang="en-US" sz="2400" dirty="0" err="1"/>
              <a:t>Dizajn</a:t>
            </a:r>
            <a:r>
              <a:rPr lang="en-US" sz="2400" dirty="0"/>
              <a:t>, </a:t>
            </a:r>
            <a:r>
              <a:rPr lang="en-US" sz="2400" dirty="0" err="1"/>
              <a:t>razvoj</a:t>
            </a:r>
            <a:r>
              <a:rPr lang="en-US" sz="2400" dirty="0"/>
              <a:t> i </a:t>
            </a:r>
            <a:r>
              <a:rPr lang="en-US" sz="2400" dirty="0" err="1"/>
              <a:t>lansiranje</a:t>
            </a:r>
            <a:r>
              <a:rPr lang="en-US" sz="2400" dirty="0"/>
              <a:t> Android i iOS </a:t>
            </a:r>
            <a:r>
              <a:rPr lang="en-US" sz="2400" dirty="0" err="1"/>
              <a:t>aplikacije</a:t>
            </a:r>
            <a:r>
              <a:rPr lang="en-US" sz="2400" dirty="0"/>
              <a:t> s </a:t>
            </a:r>
            <a:r>
              <a:rPr lang="en-US" sz="2400" dirty="0" err="1"/>
              <a:t>funkcionalnostima</a:t>
            </a:r>
            <a:r>
              <a:rPr lang="en-US" sz="2400" dirty="0"/>
              <a:t> </a:t>
            </a:r>
            <a:r>
              <a:rPr lang="en-US" sz="2400" dirty="0" err="1"/>
              <a:t>poput</a:t>
            </a:r>
            <a:r>
              <a:rPr lang="en-US" sz="2400" dirty="0"/>
              <a:t> </a:t>
            </a:r>
            <a:r>
              <a:rPr lang="en-US" sz="2400" dirty="0" err="1"/>
              <a:t>praćenja</a:t>
            </a:r>
            <a:r>
              <a:rPr lang="en-US" sz="2400" dirty="0"/>
              <a:t> </a:t>
            </a:r>
            <a:r>
              <a:rPr lang="en-US" sz="2400" dirty="0" err="1"/>
              <a:t>koraka</a:t>
            </a:r>
            <a:r>
              <a:rPr lang="en-US" sz="2400" dirty="0"/>
              <a:t>, </a:t>
            </a:r>
            <a:r>
              <a:rPr lang="en-US" sz="2400" dirty="0" err="1"/>
              <a:t>brojanja</a:t>
            </a:r>
            <a:r>
              <a:rPr lang="en-US" sz="2400" dirty="0"/>
              <a:t> </a:t>
            </a:r>
            <a:r>
              <a:rPr lang="en-US" sz="2400" dirty="0" err="1"/>
              <a:t>kalorija</a:t>
            </a:r>
            <a:r>
              <a:rPr lang="en-US" sz="2400" dirty="0"/>
              <a:t> i </a:t>
            </a:r>
            <a:r>
              <a:rPr lang="en-US" sz="2400" dirty="0" err="1"/>
              <a:t>bilježenja</a:t>
            </a:r>
            <a:r>
              <a:rPr lang="en-US" sz="2400" dirty="0"/>
              <a:t> </a:t>
            </a:r>
            <a:r>
              <a:rPr lang="en-US" sz="2400" dirty="0" err="1"/>
              <a:t>treninga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Kriteriji </a:t>
            </a:r>
            <a:r>
              <a:rPr lang="en-US" sz="2400" b="1" dirty="0" err="1"/>
              <a:t>uspjeha</a:t>
            </a:r>
            <a:r>
              <a:rPr lang="en-US" sz="2400" b="1" dirty="0"/>
              <a:t>: </a:t>
            </a:r>
            <a:r>
              <a:rPr lang="en-US" sz="2400" dirty="0" err="1"/>
              <a:t>Aplikacija</a:t>
            </a:r>
            <a:r>
              <a:rPr lang="en-US" sz="2400" dirty="0"/>
              <a:t> je </a:t>
            </a:r>
            <a:r>
              <a:rPr lang="en-US" sz="2400" dirty="0" err="1"/>
              <a:t>lansirana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, </a:t>
            </a:r>
            <a:r>
              <a:rPr lang="en-US" sz="2400" dirty="0" err="1"/>
              <a:t>zadovoljava</a:t>
            </a:r>
            <a:r>
              <a:rPr lang="en-US" sz="2400" dirty="0"/>
              <a:t> </a:t>
            </a:r>
            <a:r>
              <a:rPr lang="en-US" sz="2400" dirty="0" err="1"/>
              <a:t>zahtjeve</a:t>
            </a:r>
            <a:r>
              <a:rPr lang="en-US" sz="2400" dirty="0"/>
              <a:t> </a:t>
            </a:r>
            <a:r>
              <a:rPr lang="en-US" sz="2400" dirty="0" err="1"/>
              <a:t>korisnika</a:t>
            </a:r>
            <a:r>
              <a:rPr lang="en-US" sz="2400" dirty="0"/>
              <a:t> i </a:t>
            </a:r>
            <a:r>
              <a:rPr lang="en-US" sz="2400" dirty="0" err="1"/>
              <a:t>ima</a:t>
            </a:r>
            <a:r>
              <a:rPr lang="en-US" sz="2400" dirty="0"/>
              <a:t> </a:t>
            </a:r>
            <a:r>
              <a:rPr lang="en-US" sz="2400" dirty="0" err="1"/>
              <a:t>najmanje</a:t>
            </a:r>
            <a:r>
              <a:rPr lang="en-US" sz="2400" dirty="0"/>
              <a:t> 10.000 </a:t>
            </a:r>
            <a:r>
              <a:rPr lang="en-US" sz="2400" dirty="0" err="1"/>
              <a:t>preuzimanja</a:t>
            </a:r>
            <a:r>
              <a:rPr lang="en-US" sz="2400" dirty="0"/>
              <a:t> u </a:t>
            </a:r>
            <a:r>
              <a:rPr lang="en-US" sz="2400" dirty="0" err="1"/>
              <a:t>prva</a:t>
            </a:r>
            <a:r>
              <a:rPr lang="en-US" sz="2400" dirty="0"/>
              <a:t> 3 </a:t>
            </a:r>
            <a:r>
              <a:rPr lang="en-US" sz="2400" dirty="0" err="1"/>
              <a:t>mjeseca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1649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BA67-0048-847E-85EE-DEBB3282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3706-E8D2-BF82-129C-E50F254B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402" y="197967"/>
            <a:ext cx="10515600" cy="1325563"/>
          </a:xfrm>
        </p:spPr>
        <p:txBody>
          <a:bodyPr>
            <a:normAutofit/>
          </a:bodyPr>
          <a:lstStyle/>
          <a:p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Plan upravljanja projektom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(PMP) </a:t>
            </a:r>
            <a:b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</a:br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primjer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</a:t>
            </a:r>
            <a:r>
              <a:rPr lang="en-US" sz="3800" dirty="0">
                <a:latin typeface="Bahnschrift SemiBold"/>
              </a:rPr>
              <a:t>II.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0C5B-C068-A07E-A729-936921620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8642"/>
            <a:ext cx="10515600" cy="503237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2. Plan </a:t>
            </a:r>
            <a:r>
              <a:rPr lang="en-US" sz="2400" b="1" dirty="0" err="1">
                <a:solidFill>
                  <a:srgbClr val="0ADBBC"/>
                </a:solidFill>
              </a:rPr>
              <a:t>upravljanja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opsegom</a:t>
            </a:r>
            <a:endParaRPr lang="en-US" sz="24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sz="2400" dirty="0" err="1"/>
              <a:t>Opseg</a:t>
            </a:r>
            <a:r>
              <a:rPr lang="en-US" sz="2400" dirty="0"/>
              <a:t> </a:t>
            </a:r>
            <a:r>
              <a:rPr lang="en-US" sz="2400" dirty="0" err="1"/>
              <a:t>uključuje</a:t>
            </a:r>
            <a:r>
              <a:rPr lang="en-US" sz="2400" dirty="0"/>
              <a:t> </a:t>
            </a:r>
            <a:r>
              <a:rPr lang="en-US" sz="2400" b="1" dirty="0"/>
              <a:t>UI/UX </a:t>
            </a:r>
            <a:r>
              <a:rPr lang="en-US" sz="2400" b="1" dirty="0" err="1"/>
              <a:t>dizajn</a:t>
            </a:r>
            <a:r>
              <a:rPr lang="en-US" sz="2400" b="1" dirty="0"/>
              <a:t>, </a:t>
            </a:r>
            <a:r>
              <a:rPr lang="en-US" sz="2400" b="1" dirty="0" err="1"/>
              <a:t>razvoj</a:t>
            </a:r>
            <a:r>
              <a:rPr lang="en-US" sz="2400" b="1" dirty="0"/>
              <a:t> </a:t>
            </a:r>
            <a:r>
              <a:rPr lang="en-US" sz="2400" b="1" dirty="0" err="1"/>
              <a:t>aplikacije</a:t>
            </a:r>
            <a:r>
              <a:rPr lang="en-US" sz="2400" b="1" dirty="0"/>
              <a:t>, </a:t>
            </a:r>
            <a:r>
              <a:rPr lang="en-US" sz="2400" b="1" dirty="0" err="1"/>
              <a:t>integraciju</a:t>
            </a:r>
            <a:r>
              <a:rPr lang="en-US" sz="2400" b="1" dirty="0"/>
              <a:t> </a:t>
            </a:r>
            <a:r>
              <a:rPr lang="en-US" sz="2400" b="1" dirty="0" err="1"/>
              <a:t>pozadinskog</a:t>
            </a:r>
            <a:r>
              <a:rPr lang="en-US" sz="2400" b="1" dirty="0"/>
              <a:t> </a:t>
            </a:r>
            <a:r>
              <a:rPr lang="en-US" sz="2400" b="1" dirty="0" err="1"/>
              <a:t>sustava</a:t>
            </a:r>
            <a:r>
              <a:rPr lang="en-US" sz="2400" b="1" dirty="0"/>
              <a:t> i </a:t>
            </a:r>
            <a:r>
              <a:rPr lang="en-US" sz="2400" b="1" dirty="0" err="1"/>
              <a:t>testiranje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Svi </a:t>
            </a:r>
            <a:r>
              <a:rPr lang="en-US" sz="2400" b="1" dirty="0"/>
              <a:t>novi </a:t>
            </a:r>
            <a:r>
              <a:rPr lang="en-US" sz="2400" b="1" dirty="0" err="1"/>
              <a:t>zahtjevi</a:t>
            </a:r>
            <a:r>
              <a:rPr lang="en-US" sz="2400" b="1" dirty="0"/>
              <a:t> za </a:t>
            </a:r>
            <a:r>
              <a:rPr lang="en-US" sz="2400" b="1" dirty="0" err="1"/>
              <a:t>funkcionalnosti</a:t>
            </a:r>
            <a:r>
              <a:rPr lang="en-US" sz="2400" b="1" dirty="0"/>
              <a:t> </a:t>
            </a:r>
            <a:r>
              <a:rPr lang="en-US" sz="2400" b="1" dirty="0" err="1"/>
              <a:t>prolaze</a:t>
            </a:r>
            <a:r>
              <a:rPr lang="en-US" sz="2400" b="1" dirty="0"/>
              <a:t> </a:t>
            </a:r>
            <a:r>
              <a:rPr lang="en-US" sz="2400" b="1" dirty="0" err="1"/>
              <a:t>kroz</a:t>
            </a:r>
            <a:r>
              <a:rPr lang="en-US" sz="2400" b="1" dirty="0"/>
              <a:t> </a:t>
            </a:r>
            <a:r>
              <a:rPr lang="en-US" sz="2400" b="1" dirty="0" err="1"/>
              <a:t>proces</a:t>
            </a:r>
            <a:r>
              <a:rPr lang="en-US" sz="2400" b="1" dirty="0"/>
              <a:t> </a:t>
            </a:r>
            <a:r>
              <a:rPr lang="en-US" sz="2400" b="1" dirty="0" err="1"/>
              <a:t>upravljanja</a:t>
            </a:r>
            <a:r>
              <a:rPr lang="en-US" sz="2400" b="1" dirty="0"/>
              <a:t> </a:t>
            </a:r>
            <a:r>
              <a:rPr lang="en-US" sz="2400" b="1" dirty="0" err="1"/>
              <a:t>promjenama</a:t>
            </a:r>
            <a:r>
              <a:rPr lang="en-US" sz="2400" dirty="0"/>
              <a:t>.</a:t>
            </a:r>
            <a:endParaRPr lang="hr-HR" sz="2400" dirty="0"/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3. Plan </a:t>
            </a:r>
            <a:r>
              <a:rPr lang="en-US" sz="2400" b="1" dirty="0" err="1">
                <a:solidFill>
                  <a:srgbClr val="0ADBBC"/>
                </a:solidFill>
              </a:rPr>
              <a:t>upravljanja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rasporedom</a:t>
            </a:r>
            <a:endParaRPr lang="en-US" sz="24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sz="2400" b="1" dirty="0" err="1"/>
              <a:t>Ključne</a:t>
            </a:r>
            <a:r>
              <a:rPr lang="en-US" sz="2400" b="1" dirty="0"/>
              <a:t> </a:t>
            </a:r>
            <a:r>
              <a:rPr lang="en-US" sz="2400" b="1" dirty="0" err="1"/>
              <a:t>etape</a:t>
            </a:r>
            <a:r>
              <a:rPr lang="en-US" sz="2400" b="1" dirty="0"/>
              <a:t>:</a:t>
            </a:r>
          </a:p>
          <a:p>
            <a:pPr lvl="1"/>
            <a:r>
              <a:rPr lang="en-US" dirty="0" err="1"/>
              <a:t>Završetak</a:t>
            </a:r>
            <a:r>
              <a:rPr lang="en-US" dirty="0"/>
              <a:t> </a:t>
            </a:r>
            <a:r>
              <a:rPr lang="en-US" dirty="0" err="1"/>
              <a:t>dizajna</a:t>
            </a:r>
            <a:r>
              <a:rPr lang="en-US" dirty="0"/>
              <a:t> – 1. </a:t>
            </a:r>
            <a:r>
              <a:rPr lang="en-US" dirty="0" err="1"/>
              <a:t>mjesec</a:t>
            </a:r>
            <a:endParaRPr lang="en-US" dirty="0"/>
          </a:p>
          <a:p>
            <a:pPr lvl="1"/>
            <a:r>
              <a:rPr lang="en-US" dirty="0" err="1"/>
              <a:t>Razvoj</a:t>
            </a:r>
            <a:r>
              <a:rPr lang="en-US" dirty="0"/>
              <a:t> – 2.–4. </a:t>
            </a:r>
            <a:r>
              <a:rPr lang="en-US" dirty="0" err="1"/>
              <a:t>mjesec</a:t>
            </a:r>
            <a:endParaRPr lang="en-US" dirty="0"/>
          </a:p>
          <a:p>
            <a:pPr lvl="1"/>
            <a:r>
              <a:rPr lang="en-US" dirty="0" err="1"/>
              <a:t>Testiranje</a:t>
            </a:r>
            <a:r>
              <a:rPr lang="en-US" dirty="0"/>
              <a:t> – 5. </a:t>
            </a:r>
            <a:r>
              <a:rPr lang="en-US" dirty="0" err="1"/>
              <a:t>mjesec</a:t>
            </a:r>
            <a:endParaRPr lang="en-US" dirty="0"/>
          </a:p>
          <a:p>
            <a:pPr lvl="1"/>
            <a:r>
              <a:rPr lang="en-US" dirty="0" err="1"/>
              <a:t>Lansiranje</a:t>
            </a:r>
            <a:r>
              <a:rPr lang="en-US" dirty="0"/>
              <a:t> – 6. </a:t>
            </a:r>
            <a:r>
              <a:rPr lang="en-US" dirty="0" err="1"/>
              <a:t>mjesec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 err="1"/>
              <a:t>Praćenje</a:t>
            </a:r>
            <a:r>
              <a:rPr lang="en-US" sz="2400" b="1" dirty="0"/>
              <a:t>:</a:t>
            </a:r>
            <a:r>
              <a:rPr lang="hr-HR" sz="2400" b="1" dirty="0"/>
              <a:t> </a:t>
            </a:r>
            <a:r>
              <a:rPr lang="en-US" sz="2400" dirty="0" err="1"/>
              <a:t>Tjedna</a:t>
            </a:r>
            <a:r>
              <a:rPr lang="en-US" sz="2400" dirty="0"/>
              <a:t> </a:t>
            </a:r>
            <a:r>
              <a:rPr lang="en-US" sz="2400" dirty="0" err="1"/>
              <a:t>izvješća</a:t>
            </a:r>
            <a:r>
              <a:rPr lang="en-US" sz="2400" dirty="0"/>
              <a:t> o </a:t>
            </a:r>
            <a:r>
              <a:rPr lang="en-US" sz="2400" dirty="0" err="1"/>
              <a:t>napretku</a:t>
            </a:r>
            <a:r>
              <a:rPr lang="en-US" sz="2400" dirty="0"/>
              <a:t> </a:t>
            </a:r>
            <a:r>
              <a:rPr lang="en-US" sz="2400" dirty="0" err="1"/>
              <a:t>putem</a:t>
            </a:r>
            <a:r>
              <a:rPr lang="en-US" sz="2400" dirty="0"/>
              <a:t> alata za </a:t>
            </a:r>
            <a:r>
              <a:rPr lang="en-US" sz="2400" dirty="0" err="1"/>
              <a:t>upravljanje</a:t>
            </a:r>
            <a:r>
              <a:rPr lang="en-US" sz="2400" dirty="0"/>
              <a:t> </a:t>
            </a:r>
            <a:r>
              <a:rPr lang="en-US" sz="2400" dirty="0" err="1"/>
              <a:t>projektima</a:t>
            </a:r>
            <a:r>
              <a:rPr lang="en-US" sz="2400" dirty="0"/>
              <a:t> (JIRA).</a:t>
            </a:r>
          </a:p>
        </p:txBody>
      </p:sp>
    </p:spTree>
    <p:extLst>
      <p:ext uri="{BB962C8B-B14F-4D97-AF65-F5344CB8AC3E}">
        <p14:creationId xmlns:p14="http://schemas.microsoft.com/office/powerpoint/2010/main" val="586077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561D-316C-40DA-4686-E9E1E94E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A3FA-CB9C-3D03-B1CF-0A67B3B8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48"/>
            <a:ext cx="10515600" cy="1325563"/>
          </a:xfrm>
        </p:spPr>
        <p:txBody>
          <a:bodyPr>
            <a:normAutofit/>
          </a:bodyPr>
          <a:lstStyle/>
          <a:p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Plan upravljanja projektom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(PMP) </a:t>
            </a:r>
            <a:b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</a:br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primjer </a:t>
            </a:r>
            <a:r>
              <a:rPr lang="en-US" sz="3800" dirty="0">
                <a:latin typeface="Bahnschrift SemiBold"/>
              </a:rPr>
              <a:t>III.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EAC12-3DC4-4DC0-50A7-8517C3B3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291" y="1566511"/>
            <a:ext cx="11208327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4. Plan </a:t>
            </a:r>
            <a:r>
              <a:rPr lang="en-US" sz="2200" b="1" dirty="0" err="1">
                <a:solidFill>
                  <a:srgbClr val="0ADBBC"/>
                </a:solidFill>
              </a:rPr>
              <a:t>upravljanja</a:t>
            </a:r>
            <a:r>
              <a:rPr lang="en-US" sz="2200" b="1" dirty="0">
                <a:solidFill>
                  <a:srgbClr val="0ADBBC"/>
                </a:solidFill>
              </a:rPr>
              <a:t> </a:t>
            </a:r>
            <a:r>
              <a:rPr lang="en-US" sz="2200" b="1" dirty="0" err="1">
                <a:solidFill>
                  <a:srgbClr val="0ADBBC"/>
                </a:solidFill>
              </a:rPr>
              <a:t>troškovima</a:t>
            </a:r>
            <a:endParaRPr lang="en-US" sz="22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sz="2000" b="1" dirty="0" err="1"/>
              <a:t>Procijenjeni</a:t>
            </a:r>
            <a:r>
              <a:rPr lang="en-US" sz="2000" b="1" dirty="0"/>
              <a:t> </a:t>
            </a:r>
            <a:r>
              <a:rPr lang="en-US" sz="2000" b="1" dirty="0" err="1"/>
              <a:t>proračun</a:t>
            </a:r>
            <a:r>
              <a:rPr lang="en-US" sz="2000" b="1" dirty="0"/>
              <a:t>: </a:t>
            </a:r>
            <a:r>
              <a:rPr lang="en-US" sz="2000" dirty="0"/>
              <a:t>150.000 USD</a:t>
            </a:r>
          </a:p>
          <a:p>
            <a:pPr marL="0" indent="0">
              <a:buNone/>
            </a:pPr>
            <a:r>
              <a:rPr lang="en-US" sz="2000" b="1" dirty="0" err="1"/>
              <a:t>Raspodjela</a:t>
            </a:r>
            <a:r>
              <a:rPr lang="en-US" sz="2000" b="1" dirty="0"/>
              <a:t> </a:t>
            </a:r>
            <a:r>
              <a:rPr lang="en-US" sz="2000" b="1" dirty="0" err="1"/>
              <a:t>troškova</a:t>
            </a:r>
            <a:r>
              <a:rPr lang="en-US" sz="2000" b="1" dirty="0"/>
              <a:t>:</a:t>
            </a:r>
          </a:p>
          <a:p>
            <a:pPr lvl="1"/>
            <a:r>
              <a:rPr lang="en-US" sz="2000" dirty="0" err="1"/>
              <a:t>Razvoj</a:t>
            </a:r>
            <a:r>
              <a:rPr lang="en-US" sz="2000" dirty="0"/>
              <a:t>: 80.000 USD</a:t>
            </a:r>
          </a:p>
          <a:p>
            <a:pPr lvl="1"/>
            <a:r>
              <a:rPr lang="en-US" sz="2000" dirty="0" err="1"/>
              <a:t>Dizajn</a:t>
            </a:r>
            <a:r>
              <a:rPr lang="en-US" sz="2000" dirty="0"/>
              <a:t>: 30.000 USD</a:t>
            </a:r>
          </a:p>
          <a:p>
            <a:pPr lvl="1"/>
            <a:r>
              <a:rPr lang="en-US" sz="2000" dirty="0" err="1"/>
              <a:t>Testiranje</a:t>
            </a:r>
            <a:r>
              <a:rPr lang="en-US" sz="2000" dirty="0"/>
              <a:t>: 20.000 USD</a:t>
            </a:r>
          </a:p>
          <a:p>
            <a:pPr lvl="1"/>
            <a:r>
              <a:rPr lang="en-US" sz="2000" dirty="0"/>
              <a:t>Marketing: 20.000 USD</a:t>
            </a:r>
          </a:p>
          <a:p>
            <a:pPr marL="0" indent="0">
              <a:buNone/>
            </a:pPr>
            <a:r>
              <a:rPr lang="en-US" sz="2000" b="1" dirty="0" err="1"/>
              <a:t>Mjere</a:t>
            </a:r>
            <a:r>
              <a:rPr lang="en-US" sz="2000" b="1" dirty="0"/>
              <a:t> </a:t>
            </a:r>
            <a:r>
              <a:rPr lang="en-US" sz="2000" b="1" dirty="0" err="1"/>
              <a:t>kontrole</a:t>
            </a:r>
            <a:r>
              <a:rPr lang="en-US" sz="2000" b="1" dirty="0"/>
              <a:t>:</a:t>
            </a:r>
            <a:r>
              <a:rPr lang="hr-HR" sz="2000" b="1" dirty="0"/>
              <a:t> </a:t>
            </a:r>
            <a:r>
              <a:rPr lang="en-US" sz="2000" dirty="0"/>
              <a:t>Mjesečni </a:t>
            </a:r>
            <a:r>
              <a:rPr lang="en-US" sz="2000" dirty="0" err="1"/>
              <a:t>pregledi</a:t>
            </a:r>
            <a:r>
              <a:rPr lang="en-US" sz="2000" dirty="0"/>
              <a:t> </a:t>
            </a:r>
            <a:r>
              <a:rPr lang="en-US" sz="2000" dirty="0" err="1"/>
              <a:t>proračuna</a:t>
            </a:r>
            <a:r>
              <a:rPr lang="en-US" sz="2000" dirty="0"/>
              <a:t> i </a:t>
            </a:r>
            <a:r>
              <a:rPr lang="en-US" sz="2000" dirty="0" err="1"/>
              <a:t>analiza</a:t>
            </a:r>
            <a:r>
              <a:rPr lang="en-US" sz="2000" dirty="0"/>
              <a:t> </a:t>
            </a:r>
            <a:r>
              <a:rPr lang="en-US" sz="2000" dirty="0" err="1"/>
              <a:t>odstupanja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5. Plan </a:t>
            </a:r>
            <a:r>
              <a:rPr lang="en-US" sz="2200" b="1" dirty="0" err="1">
                <a:solidFill>
                  <a:srgbClr val="0ADBBC"/>
                </a:solidFill>
              </a:rPr>
              <a:t>upravljanja</a:t>
            </a:r>
            <a:r>
              <a:rPr lang="en-US" sz="2200" b="1" dirty="0">
                <a:solidFill>
                  <a:srgbClr val="0ADBBC"/>
                </a:solidFill>
              </a:rPr>
              <a:t> </a:t>
            </a:r>
            <a:r>
              <a:rPr lang="en-US" sz="2200" b="1" dirty="0" err="1">
                <a:solidFill>
                  <a:srgbClr val="0ADBBC"/>
                </a:solidFill>
              </a:rPr>
              <a:t>rizicima</a:t>
            </a:r>
            <a:endParaRPr lang="en-US" sz="2200" b="1" dirty="0">
              <a:solidFill>
                <a:srgbClr val="0ADBBC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Ključni</a:t>
            </a:r>
            <a:r>
              <a:rPr lang="en-US" sz="2000" b="1" dirty="0"/>
              <a:t> </a:t>
            </a:r>
            <a:r>
              <a:rPr lang="en-US" sz="2000" b="1" dirty="0" err="1"/>
              <a:t>rizici</a:t>
            </a:r>
            <a:r>
              <a:rPr lang="en-US" sz="2000" b="1" dirty="0"/>
              <a:t> i </a:t>
            </a:r>
            <a:r>
              <a:rPr lang="en-US" sz="2000" b="1" dirty="0" err="1"/>
              <a:t>mjere</a:t>
            </a:r>
            <a:r>
              <a:rPr lang="en-US" sz="2000" b="1" dirty="0"/>
              <a:t> </a:t>
            </a:r>
            <a:r>
              <a:rPr lang="en-US" sz="2000" b="1" dirty="0" err="1"/>
              <a:t>ublažavanja</a:t>
            </a:r>
            <a:r>
              <a:rPr lang="en-US" sz="2000" b="1" dirty="0"/>
              <a:t>:</a:t>
            </a:r>
          </a:p>
          <a:p>
            <a:pPr lvl="1"/>
            <a:r>
              <a:rPr lang="en-US" sz="1800" b="1" dirty="0" err="1"/>
              <a:t>Kašnjenje</a:t>
            </a:r>
            <a:r>
              <a:rPr lang="en-US" sz="1800" b="1" dirty="0"/>
              <a:t> u </a:t>
            </a:r>
            <a:r>
              <a:rPr lang="en-US" sz="1800" b="1" dirty="0" err="1"/>
              <a:t>razvoju</a:t>
            </a:r>
            <a:r>
              <a:rPr lang="en-US" sz="1800" b="1" dirty="0"/>
              <a:t> → </a:t>
            </a:r>
            <a:r>
              <a:rPr lang="en-US" sz="1800" dirty="0" err="1"/>
              <a:t>korištenje</a:t>
            </a:r>
            <a:r>
              <a:rPr lang="en-US" sz="1800" dirty="0"/>
              <a:t> </a:t>
            </a:r>
            <a:r>
              <a:rPr lang="en-US" sz="1800" dirty="0" err="1"/>
              <a:t>agilne</a:t>
            </a:r>
            <a:r>
              <a:rPr lang="en-US" sz="1800" dirty="0"/>
              <a:t> </a:t>
            </a:r>
            <a:r>
              <a:rPr lang="en-US" sz="1800" dirty="0" err="1"/>
              <a:t>metodologije</a:t>
            </a:r>
            <a:r>
              <a:rPr lang="en-US" sz="1800" dirty="0"/>
              <a:t> </a:t>
            </a:r>
            <a:r>
              <a:rPr lang="en-US" sz="1800" dirty="0" err="1"/>
              <a:t>radi</a:t>
            </a:r>
            <a:r>
              <a:rPr lang="en-US" sz="1800" dirty="0"/>
              <a:t> </a:t>
            </a:r>
            <a:r>
              <a:rPr lang="en-US" sz="1800" dirty="0" err="1"/>
              <a:t>veće</a:t>
            </a:r>
            <a:r>
              <a:rPr lang="en-US" sz="1800" dirty="0"/>
              <a:t> </a:t>
            </a:r>
            <a:r>
              <a:rPr lang="en-US" sz="1800" dirty="0" err="1"/>
              <a:t>fleksibilnosti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 err="1"/>
              <a:t>Prekoračenje</a:t>
            </a:r>
            <a:r>
              <a:rPr lang="en-US" sz="1800" b="1" dirty="0"/>
              <a:t> </a:t>
            </a:r>
            <a:r>
              <a:rPr lang="en-US" sz="1800" b="1" dirty="0" err="1"/>
              <a:t>proračuna</a:t>
            </a:r>
            <a:r>
              <a:rPr lang="en-US" sz="1800" b="1" dirty="0"/>
              <a:t> → </a:t>
            </a:r>
            <a:r>
              <a:rPr lang="en-US" sz="1800" dirty="0" err="1"/>
              <a:t>redovito</a:t>
            </a:r>
            <a:r>
              <a:rPr lang="en-US" sz="1800" dirty="0"/>
              <a:t> </a:t>
            </a:r>
            <a:r>
              <a:rPr lang="en-US" sz="1800" dirty="0" err="1"/>
              <a:t>financijsko</a:t>
            </a:r>
            <a:r>
              <a:rPr lang="en-US" sz="1800" dirty="0"/>
              <a:t> </a:t>
            </a:r>
            <a:r>
              <a:rPr lang="en-US" sz="1800" dirty="0" err="1"/>
              <a:t>praćenje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/>
              <a:t>Niska </a:t>
            </a:r>
            <a:r>
              <a:rPr lang="en-US" sz="1800" b="1" dirty="0" err="1"/>
              <a:t>razina</a:t>
            </a:r>
            <a:r>
              <a:rPr lang="en-US" sz="1800" b="1" dirty="0"/>
              <a:t> </a:t>
            </a:r>
            <a:r>
              <a:rPr lang="en-US" sz="1800" b="1" dirty="0" err="1"/>
              <a:t>prihvaćanja</a:t>
            </a:r>
            <a:r>
              <a:rPr lang="en-US" sz="1800" b="1" dirty="0"/>
              <a:t> od </a:t>
            </a:r>
            <a:r>
              <a:rPr lang="en-US" sz="1800" b="1" dirty="0" err="1"/>
              <a:t>strane</a:t>
            </a:r>
            <a:r>
              <a:rPr lang="en-US" sz="1800" b="1" dirty="0"/>
              <a:t> </a:t>
            </a:r>
            <a:r>
              <a:rPr lang="en-US" sz="1800" b="1" dirty="0" err="1"/>
              <a:t>korisnika</a:t>
            </a:r>
            <a:r>
              <a:rPr lang="en-US" sz="1800" b="1" dirty="0"/>
              <a:t> → </a:t>
            </a:r>
            <a:r>
              <a:rPr lang="en-US" sz="1800" dirty="0" err="1"/>
              <a:t>provođenje</a:t>
            </a:r>
            <a:r>
              <a:rPr lang="en-US" sz="1800" dirty="0"/>
              <a:t> beta </a:t>
            </a:r>
            <a:r>
              <a:rPr lang="en-US" sz="1800" dirty="0" err="1"/>
              <a:t>testiranja</a:t>
            </a:r>
            <a:r>
              <a:rPr lang="en-US" sz="1800" dirty="0"/>
              <a:t> i </a:t>
            </a:r>
            <a:r>
              <a:rPr lang="en-US" sz="1800" dirty="0" err="1"/>
              <a:t>prikupljanje</a:t>
            </a:r>
            <a:r>
              <a:rPr lang="en-US" sz="1800" dirty="0"/>
              <a:t> </a:t>
            </a:r>
            <a:r>
              <a:rPr lang="en-US" sz="1800" dirty="0" err="1"/>
              <a:t>povratnih</a:t>
            </a:r>
            <a:r>
              <a:rPr lang="en-US" sz="1800" dirty="0"/>
              <a:t> </a:t>
            </a:r>
            <a:r>
              <a:rPr lang="en-US" sz="1800" dirty="0" err="1"/>
              <a:t>informacija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3786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7F39-0F9A-C470-4AEB-68DD0348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B802-9365-4D11-38D6-6868A7BE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59"/>
            <a:ext cx="10515600" cy="1325563"/>
          </a:xfrm>
        </p:spPr>
        <p:txBody>
          <a:bodyPr>
            <a:normAutofit/>
          </a:bodyPr>
          <a:lstStyle/>
          <a:p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Plan upravljanja projektom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(PMP) </a:t>
            </a:r>
            <a:b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</a:br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primjer </a:t>
            </a:r>
            <a:r>
              <a:rPr lang="en-US" sz="3800" dirty="0">
                <a:latin typeface="Bahnschrift SemiBold"/>
              </a:rPr>
              <a:t>IV.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8C42B-B353-3ABA-F7B9-58512964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6. Plan </a:t>
            </a:r>
            <a:r>
              <a:rPr lang="en-US" sz="2200" b="1" dirty="0" err="1">
                <a:solidFill>
                  <a:srgbClr val="0ADBBC"/>
                </a:solidFill>
              </a:rPr>
              <a:t>upravljanja</a:t>
            </a:r>
            <a:r>
              <a:rPr lang="en-US" sz="2200" b="1" dirty="0">
                <a:solidFill>
                  <a:srgbClr val="0ADBBC"/>
                </a:solidFill>
              </a:rPr>
              <a:t> </a:t>
            </a:r>
            <a:r>
              <a:rPr lang="en-US" sz="2200" b="1" dirty="0" err="1">
                <a:solidFill>
                  <a:srgbClr val="0ADBBC"/>
                </a:solidFill>
              </a:rPr>
              <a:t>komunikacijom</a:t>
            </a:r>
            <a:endParaRPr lang="en-US" sz="22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sz="2200" b="1" dirty="0" err="1"/>
              <a:t>Sastanci</a:t>
            </a:r>
            <a:r>
              <a:rPr lang="en-US" sz="2200" b="1" dirty="0"/>
              <a:t> </a:t>
            </a:r>
            <a:r>
              <a:rPr lang="en-US" sz="2200" b="1" dirty="0" err="1"/>
              <a:t>tima</a:t>
            </a:r>
            <a:r>
              <a:rPr lang="en-US" sz="2200" b="1" dirty="0"/>
              <a:t>: </a:t>
            </a:r>
            <a:r>
              <a:rPr lang="en-US" sz="2200" dirty="0" err="1"/>
              <a:t>Tjedni</a:t>
            </a:r>
            <a:r>
              <a:rPr lang="en-US" sz="2200" dirty="0"/>
              <a:t> stand-up </a:t>
            </a:r>
            <a:r>
              <a:rPr lang="en-US" sz="2200" dirty="0" err="1"/>
              <a:t>sastanci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 err="1"/>
              <a:t>Izvještavanje</a:t>
            </a:r>
            <a:r>
              <a:rPr lang="en-US" sz="2200" b="1" dirty="0"/>
              <a:t> </a:t>
            </a:r>
            <a:r>
              <a:rPr lang="en-US" sz="2200" b="1" dirty="0" err="1"/>
              <a:t>dionika</a:t>
            </a:r>
            <a:r>
              <a:rPr lang="en-US" sz="2200" b="1" dirty="0"/>
              <a:t>: </a:t>
            </a:r>
            <a:r>
              <a:rPr lang="en-US" sz="2200" dirty="0" err="1"/>
              <a:t>Mjesečna</a:t>
            </a:r>
            <a:r>
              <a:rPr lang="en-US" sz="2200" dirty="0"/>
              <a:t> </a:t>
            </a:r>
            <a:r>
              <a:rPr lang="en-US" sz="2200" dirty="0" err="1"/>
              <a:t>izvješća</a:t>
            </a:r>
            <a:r>
              <a:rPr lang="en-US" sz="2200" dirty="0"/>
              <a:t> za </a:t>
            </a:r>
            <a:r>
              <a:rPr lang="en-US" sz="2200" dirty="0" err="1"/>
              <a:t>investitore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Alati: </a:t>
            </a:r>
            <a:r>
              <a:rPr lang="en-US" sz="2200" dirty="0"/>
              <a:t>Slack za </a:t>
            </a:r>
            <a:r>
              <a:rPr lang="en-US" sz="2200" dirty="0" err="1"/>
              <a:t>komunikaciju</a:t>
            </a:r>
            <a:r>
              <a:rPr lang="en-US" sz="2200" dirty="0"/>
              <a:t> </a:t>
            </a:r>
            <a:r>
              <a:rPr lang="en-US" sz="2200" dirty="0" err="1"/>
              <a:t>tima</a:t>
            </a:r>
            <a:r>
              <a:rPr lang="en-US" sz="2200" dirty="0"/>
              <a:t>, JIRA za </a:t>
            </a:r>
            <a:r>
              <a:rPr lang="en-US" sz="2200" dirty="0" err="1"/>
              <a:t>praćenje</a:t>
            </a:r>
            <a:r>
              <a:rPr lang="en-US" sz="2200" dirty="0"/>
              <a:t> </a:t>
            </a:r>
            <a:r>
              <a:rPr lang="en-US" sz="2200" dirty="0" err="1"/>
              <a:t>zadataka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7. Plan </a:t>
            </a:r>
            <a:r>
              <a:rPr lang="en-US" sz="2200" b="1" dirty="0" err="1">
                <a:solidFill>
                  <a:srgbClr val="0ADBBC"/>
                </a:solidFill>
              </a:rPr>
              <a:t>upravljanja</a:t>
            </a:r>
            <a:r>
              <a:rPr lang="en-US" sz="2200" b="1" dirty="0">
                <a:solidFill>
                  <a:srgbClr val="0ADBBC"/>
                </a:solidFill>
              </a:rPr>
              <a:t> </a:t>
            </a:r>
            <a:r>
              <a:rPr lang="en-US" sz="2200" b="1">
                <a:solidFill>
                  <a:srgbClr val="0ADBBC"/>
                </a:solidFill>
              </a:rPr>
              <a:t>sudionicima</a:t>
            </a:r>
            <a:endParaRPr lang="en-US" sz="22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sz="2200" b="1" dirty="0" err="1"/>
              <a:t>Sponzor</a:t>
            </a:r>
            <a:r>
              <a:rPr lang="en-US" sz="2200" b="1" dirty="0"/>
              <a:t> </a:t>
            </a:r>
            <a:r>
              <a:rPr lang="en-US" sz="2200" b="1" dirty="0" err="1"/>
              <a:t>projekta</a:t>
            </a:r>
            <a:r>
              <a:rPr lang="en-US" sz="2200" b="1" dirty="0"/>
              <a:t>: </a:t>
            </a:r>
            <a:r>
              <a:rPr lang="en-US" sz="2200" dirty="0" err="1"/>
              <a:t>Osigurava</a:t>
            </a:r>
            <a:r>
              <a:rPr lang="en-US" sz="2200" dirty="0"/>
              <a:t> </a:t>
            </a:r>
            <a:r>
              <a:rPr lang="en-US" sz="2200" dirty="0" err="1"/>
              <a:t>financiranje</a:t>
            </a:r>
            <a:r>
              <a:rPr lang="en-US" sz="2200" dirty="0"/>
              <a:t> i </a:t>
            </a:r>
            <a:r>
              <a:rPr lang="en-US" sz="2200" dirty="0" err="1"/>
              <a:t>nadzor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 err="1"/>
              <a:t>Voditelj</a:t>
            </a:r>
            <a:r>
              <a:rPr lang="en-US" sz="2200" b="1" dirty="0"/>
              <a:t> </a:t>
            </a:r>
            <a:r>
              <a:rPr lang="en-US" sz="2200" b="1" dirty="0" err="1"/>
              <a:t>projekta</a:t>
            </a:r>
            <a:r>
              <a:rPr lang="en-US" sz="2200" b="1" dirty="0"/>
              <a:t>: </a:t>
            </a:r>
            <a:r>
              <a:rPr lang="en-US" sz="2200" dirty="0" err="1"/>
              <a:t>Nadzire</a:t>
            </a:r>
            <a:r>
              <a:rPr lang="en-US" sz="2200" dirty="0"/>
              <a:t> </a:t>
            </a:r>
            <a:r>
              <a:rPr lang="en-US" sz="2200" dirty="0" err="1"/>
              <a:t>provedbu</a:t>
            </a:r>
            <a:r>
              <a:rPr lang="en-US" sz="2200" dirty="0"/>
              <a:t> i </a:t>
            </a:r>
            <a:r>
              <a:rPr lang="en-US" sz="2200" dirty="0" err="1"/>
              <a:t>upravljanje</a:t>
            </a:r>
            <a:r>
              <a:rPr lang="en-US" sz="2200" dirty="0"/>
              <a:t> </a:t>
            </a:r>
            <a:r>
              <a:rPr lang="en-US" sz="2200" dirty="0" err="1"/>
              <a:t>rizicima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 err="1"/>
              <a:t>Developeri</a:t>
            </a:r>
            <a:r>
              <a:rPr lang="en-US" sz="2200" b="1" dirty="0"/>
              <a:t>: </a:t>
            </a:r>
            <a:r>
              <a:rPr lang="en-US" sz="2200" dirty="0" err="1"/>
              <a:t>Odgovorni</a:t>
            </a:r>
            <a:r>
              <a:rPr lang="en-US" sz="2200" dirty="0"/>
              <a:t> za </a:t>
            </a:r>
            <a:r>
              <a:rPr lang="en-US" sz="2200" dirty="0" err="1"/>
              <a:t>programiranje</a:t>
            </a:r>
            <a:r>
              <a:rPr lang="en-US" sz="2200" dirty="0"/>
              <a:t> i </a:t>
            </a:r>
            <a:r>
              <a:rPr lang="en-US" sz="2200" dirty="0" err="1"/>
              <a:t>tehničku</a:t>
            </a:r>
            <a:r>
              <a:rPr lang="en-US" sz="2200" dirty="0"/>
              <a:t> </a:t>
            </a:r>
            <a:r>
              <a:rPr lang="en-US" sz="2200" dirty="0" err="1"/>
              <a:t>implementaciju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QA </a:t>
            </a:r>
            <a:r>
              <a:rPr lang="en-US" sz="2200" b="1" dirty="0" err="1"/>
              <a:t>tim</a:t>
            </a:r>
            <a:r>
              <a:rPr lang="en-US" sz="2200" b="1" dirty="0"/>
              <a:t>: </a:t>
            </a:r>
            <a:r>
              <a:rPr lang="en-US" sz="2200" dirty="0" err="1"/>
              <a:t>Osigurava</a:t>
            </a:r>
            <a:r>
              <a:rPr lang="en-US" sz="2200" dirty="0"/>
              <a:t> </a:t>
            </a:r>
            <a:r>
              <a:rPr lang="en-US" sz="2200" dirty="0" err="1"/>
              <a:t>testiranje</a:t>
            </a:r>
            <a:r>
              <a:rPr lang="en-US" sz="2200" dirty="0"/>
              <a:t> </a:t>
            </a:r>
            <a:r>
              <a:rPr lang="en-US" sz="2200" dirty="0" err="1"/>
              <a:t>kvalitete</a:t>
            </a:r>
            <a:r>
              <a:rPr lang="en-US" sz="2200" dirty="0"/>
              <a:t> </a:t>
            </a:r>
            <a:r>
              <a:rPr lang="en-US" sz="2200" dirty="0" err="1"/>
              <a:t>prije</a:t>
            </a:r>
            <a:r>
              <a:rPr lang="en-US" sz="2200" dirty="0"/>
              <a:t> </a:t>
            </a:r>
            <a:r>
              <a:rPr lang="en-US" sz="2200" dirty="0" err="1"/>
              <a:t>lansiranja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4566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107E-2E24-23DF-A787-07BE461A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3E5AD-5B35-2811-D8D6-D23EA9B8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err="1">
                <a:latin typeface="Bahnschrift SemiBold"/>
              </a:rPr>
              <a:t>Grupne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vježbe</a:t>
            </a:r>
            <a:endParaRPr lang="en-US" sz="3800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88D05-566D-3297-A07C-9C32039AA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18" y="1948656"/>
            <a:ext cx="10515600" cy="4351338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b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Na </a:t>
            </a:r>
            <a:r>
              <a:rPr lang="en-GB" sz="2200" b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temelju</a:t>
            </a:r>
            <a:r>
              <a:rPr lang="en-GB" sz="2200" b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b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prethodno</a:t>
            </a:r>
            <a:r>
              <a:rPr lang="en-GB" sz="2200" b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b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opisanog</a:t>
            </a:r>
            <a:r>
              <a:rPr lang="en-GB" sz="2200" b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PMP-a, </a:t>
            </a:r>
            <a:r>
              <a:rPr lang="en-GB" sz="2200" b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polaznici</a:t>
            </a:r>
            <a:r>
              <a:rPr lang="en-GB" sz="2200" b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b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će</a:t>
            </a:r>
            <a:r>
              <a:rPr lang="en-GB" sz="2200" b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: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1.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Prepoznati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utjecaj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promjena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u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jednom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području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na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cjelokupni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projekt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2. Razviti plan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upravljanja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promjenama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za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upravljanje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promjenama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opsega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i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njihovim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utjecajem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na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raspored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i </a:t>
            </a:r>
            <a:r>
              <a:rPr lang="en-GB" sz="2200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proračun</a:t>
            </a:r>
            <a:r>
              <a:rPr lang="en-GB" sz="2200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30927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DF3B-DB60-49BC-866C-BF3219B9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D8E46BF4-8787-A577-834E-AA4EEDEC3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9887" y="1892256"/>
            <a:ext cx="9144000" cy="2387600"/>
          </a:xfrm>
        </p:spPr>
        <p:txBody>
          <a:bodyPr>
            <a:normAutofit/>
          </a:bodyPr>
          <a:lstStyle/>
          <a:p>
            <a:r>
              <a:rPr lang="ro-RO" b="1" dirty="0">
                <a:solidFill>
                  <a:prstClr val="black"/>
                </a:solidFill>
              </a:rPr>
              <a:t>PLANIRANJE RADA</a:t>
            </a:r>
            <a:br>
              <a:rPr lang="en-US" sz="4800" b="1" dirty="0">
                <a:latin typeface="Bahnschrift SemiLight" panose="020B0502040204020203" pitchFamily="34" charset="0"/>
              </a:rPr>
            </a:br>
            <a:endParaRPr lang="hr-HR" sz="4800" dirty="0">
              <a:latin typeface="Bahnschrift SemiLight" panose="020B0502040204020203" pitchFamily="34" charset="0"/>
            </a:endParaRPr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C3401DDE-766C-1E38-6740-E5161424B2D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610998" y="4279855"/>
            <a:ext cx="9442889" cy="134976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Definirati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terminologiju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vezanu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uz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opseg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projekta</a:t>
            </a:r>
            <a:endParaRPr lang="en-US" sz="3600" dirty="0">
              <a:latin typeface="Bahnschrift" panose="020B050204020402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659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5D40B-8308-AD8F-F73F-C102F5B4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CCA7-C138-9D1E-9CBE-C42B0CE4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872"/>
            <a:ext cx="10515600" cy="1325563"/>
          </a:xfrm>
        </p:spPr>
        <p:txBody>
          <a:bodyPr>
            <a:normAutofit/>
          </a:bodyPr>
          <a:lstStyle/>
          <a:p>
            <a:r>
              <a:rPr lang="pl-PL" sz="3800" dirty="0">
                <a:latin typeface="Bahnschrift SemiBold"/>
              </a:rPr>
              <a:t>Kako napisati jasan i sažet opis opsega projekta?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88AF1-8645-EC78-DF68-F834FBE61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53" y="1825625"/>
            <a:ext cx="11164389" cy="466725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sz="2600" dirty="0"/>
              <a:t>Dobro </a:t>
            </a:r>
            <a:r>
              <a:rPr lang="en-US" sz="2600" dirty="0" err="1"/>
              <a:t>definiran</a:t>
            </a:r>
            <a:r>
              <a:rPr lang="en-US" sz="2600" dirty="0"/>
              <a:t> </a:t>
            </a:r>
            <a:r>
              <a:rPr lang="en-US" sz="2600" b="1" dirty="0" err="1"/>
              <a:t>opis</a:t>
            </a:r>
            <a:r>
              <a:rPr lang="en-US" sz="2600" b="1" dirty="0"/>
              <a:t> </a:t>
            </a:r>
            <a:r>
              <a:rPr lang="en-US" sz="2600" b="1" dirty="0" err="1"/>
              <a:t>opsega</a:t>
            </a:r>
            <a:r>
              <a:rPr lang="en-US" sz="2600" b="1" dirty="0"/>
              <a:t> </a:t>
            </a:r>
            <a:r>
              <a:rPr lang="en-US" sz="2600" b="1" dirty="0" err="1"/>
              <a:t>projekta</a:t>
            </a:r>
            <a:r>
              <a:rPr lang="hr-HR" sz="2600" b="1" dirty="0"/>
              <a:t> </a:t>
            </a:r>
            <a:r>
              <a:rPr lang="hr-HR" sz="2600" dirty="0"/>
              <a:t>(</a:t>
            </a:r>
            <a:r>
              <a:rPr lang="hr-HR" sz="2600" i="1" dirty="0" err="1"/>
              <a:t>Scope</a:t>
            </a:r>
            <a:r>
              <a:rPr lang="hr-HR" sz="2600" i="1" dirty="0"/>
              <a:t> </a:t>
            </a:r>
            <a:r>
              <a:rPr lang="hr-HR" sz="2600" i="1" dirty="0" err="1"/>
              <a:t>Statement</a:t>
            </a:r>
            <a:r>
              <a:rPr lang="hr-HR" sz="2600" dirty="0"/>
              <a:t>)</a:t>
            </a:r>
            <a:r>
              <a:rPr lang="en-US" sz="2600" dirty="0"/>
              <a:t> </a:t>
            </a:r>
            <a:r>
              <a:rPr lang="en-US" sz="2600" dirty="0" err="1"/>
              <a:t>treba</a:t>
            </a:r>
            <a:r>
              <a:rPr lang="en-US" sz="2600" dirty="0"/>
              <a:t> </a:t>
            </a:r>
            <a:r>
              <a:rPr lang="en-US" sz="2600" dirty="0" err="1"/>
              <a:t>uključivati</a:t>
            </a:r>
            <a:r>
              <a:rPr lang="en-US" sz="2600" dirty="0"/>
              <a:t>:</a:t>
            </a:r>
          </a:p>
          <a:p>
            <a:pPr>
              <a:buFont typeface="Arial" panose="020B0604020202020204" pitchFamily="34" charset="0"/>
              <a:buNone/>
            </a:pP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 err="1">
                <a:solidFill>
                  <a:srgbClr val="0BDCBD"/>
                </a:solidFill>
              </a:rPr>
              <a:t>Cilj</a:t>
            </a:r>
            <a:r>
              <a:rPr lang="en-US" sz="2600" b="1" dirty="0">
                <a:solidFill>
                  <a:srgbClr val="0BDCBD"/>
                </a:solidFill>
              </a:rPr>
              <a:t> </a:t>
            </a:r>
            <a:r>
              <a:rPr lang="en-US" sz="2600" b="1" dirty="0" err="1">
                <a:solidFill>
                  <a:srgbClr val="0BDCBD"/>
                </a:solidFill>
              </a:rPr>
              <a:t>projekta</a:t>
            </a:r>
            <a:r>
              <a:rPr lang="en-US" sz="2600" dirty="0"/>
              <a:t>: Jasno </a:t>
            </a:r>
            <a:r>
              <a:rPr lang="en-US" sz="2600" dirty="0" err="1"/>
              <a:t>navodi</a:t>
            </a:r>
            <a:r>
              <a:rPr lang="en-US" sz="2600" dirty="0"/>
              <a:t> </a:t>
            </a:r>
            <a:r>
              <a:rPr lang="en-US" sz="2600" dirty="0" err="1"/>
              <a:t>što</a:t>
            </a:r>
            <a:r>
              <a:rPr lang="en-US" sz="2600" dirty="0"/>
              <a:t> </a:t>
            </a:r>
            <a:r>
              <a:rPr lang="en-US" sz="2600" dirty="0" err="1"/>
              <a:t>projekt</a:t>
            </a:r>
            <a:r>
              <a:rPr lang="en-US" sz="2600" dirty="0"/>
              <a:t> </a:t>
            </a:r>
            <a:r>
              <a:rPr lang="en-US" sz="2600" dirty="0" err="1"/>
              <a:t>nastoji</a:t>
            </a:r>
            <a:r>
              <a:rPr lang="en-US" sz="2600" dirty="0"/>
              <a:t> </a:t>
            </a:r>
            <a:r>
              <a:rPr lang="en-US" sz="2600" dirty="0" err="1"/>
              <a:t>postići</a:t>
            </a:r>
            <a:r>
              <a:rPr lang="en-US" sz="2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 err="1">
                <a:solidFill>
                  <a:srgbClr val="0BDCBD"/>
                </a:solidFill>
              </a:rPr>
              <a:t>Isporu</a:t>
            </a:r>
            <a:r>
              <a:rPr lang="hr-HR" sz="2600" b="1" dirty="0" err="1">
                <a:solidFill>
                  <a:srgbClr val="0BDCBD"/>
                </a:solidFill>
              </a:rPr>
              <a:t>čevine</a:t>
            </a:r>
            <a:r>
              <a:rPr lang="en-US" sz="2600" b="1" dirty="0">
                <a:solidFill>
                  <a:srgbClr val="0BDCBD"/>
                </a:solidFill>
              </a:rPr>
              <a:t> (deliverables): </a:t>
            </a:r>
            <a:r>
              <a:rPr lang="en-US" sz="2600" dirty="0" err="1"/>
              <a:t>Navodi</a:t>
            </a:r>
            <a:r>
              <a:rPr lang="en-US" sz="2600" dirty="0"/>
              <a:t> </a:t>
            </a:r>
            <a:r>
              <a:rPr lang="en-US" sz="2600" dirty="0" err="1"/>
              <a:t>ključne</a:t>
            </a:r>
            <a:r>
              <a:rPr lang="en-US" sz="2600" dirty="0"/>
              <a:t> </a:t>
            </a:r>
            <a:r>
              <a:rPr lang="en-US" sz="2600" dirty="0" err="1"/>
              <a:t>rezultate</a:t>
            </a:r>
            <a:r>
              <a:rPr lang="en-US" sz="2600" dirty="0"/>
              <a:t> (</a:t>
            </a:r>
            <a:r>
              <a:rPr lang="en-US" sz="2600" dirty="0" err="1"/>
              <a:t>npr</a:t>
            </a:r>
            <a:r>
              <a:rPr lang="en-US" sz="2600" dirty="0"/>
              <a:t>. </a:t>
            </a:r>
            <a:r>
              <a:rPr lang="en-US" sz="2600" dirty="0" err="1"/>
              <a:t>softver</a:t>
            </a:r>
            <a:r>
              <a:rPr lang="en-US" sz="2600" dirty="0"/>
              <a:t>, </a:t>
            </a:r>
            <a:r>
              <a:rPr lang="en-US" sz="2600" dirty="0" err="1"/>
              <a:t>izvještaji</a:t>
            </a:r>
            <a:r>
              <a:rPr lang="en-US" sz="2600" dirty="0"/>
              <a:t>, </a:t>
            </a:r>
            <a:r>
              <a:rPr lang="en-US" sz="2600" dirty="0" err="1"/>
              <a:t>funkcionalnosti</a:t>
            </a:r>
            <a:r>
              <a:rPr lang="en-US" sz="2600" dirty="0"/>
              <a:t> </a:t>
            </a:r>
            <a:r>
              <a:rPr lang="en-US" sz="2600" dirty="0" err="1"/>
              <a:t>proizvoda</a:t>
            </a:r>
            <a:r>
              <a:rPr lang="en-US" sz="2600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 err="1">
                <a:solidFill>
                  <a:srgbClr val="0BDCBD"/>
                </a:solidFill>
              </a:rPr>
              <a:t>Granice</a:t>
            </a:r>
            <a:r>
              <a:rPr lang="en-US" sz="2600" b="1" dirty="0">
                <a:solidFill>
                  <a:srgbClr val="0BDCBD"/>
                </a:solidFill>
              </a:rPr>
              <a:t> </a:t>
            </a:r>
            <a:r>
              <a:rPr lang="en-US" sz="2600" b="1" dirty="0" err="1">
                <a:solidFill>
                  <a:srgbClr val="0BDCBD"/>
                </a:solidFill>
              </a:rPr>
              <a:t>opsega</a:t>
            </a:r>
            <a:r>
              <a:rPr lang="en-US" sz="2600" dirty="0"/>
              <a:t>: </a:t>
            </a:r>
            <a:r>
              <a:rPr lang="en-US" sz="2600" dirty="0" err="1"/>
              <a:t>Definira</a:t>
            </a:r>
            <a:r>
              <a:rPr lang="en-US" sz="2600" dirty="0"/>
              <a:t> </a:t>
            </a:r>
            <a:r>
              <a:rPr lang="en-US" sz="2600" dirty="0" err="1"/>
              <a:t>što</a:t>
            </a:r>
            <a:r>
              <a:rPr lang="en-US" sz="2600" dirty="0"/>
              <a:t> je </a:t>
            </a:r>
            <a:r>
              <a:rPr lang="en-US" sz="2600" dirty="0" err="1"/>
              <a:t>uključeno</a:t>
            </a:r>
            <a:r>
              <a:rPr lang="en-US" sz="2600" dirty="0"/>
              <a:t> i </a:t>
            </a:r>
            <a:r>
              <a:rPr lang="en-US" sz="2600" dirty="0" err="1"/>
              <a:t>izričito</a:t>
            </a:r>
            <a:r>
              <a:rPr lang="en-US" sz="2600" dirty="0"/>
              <a:t> </a:t>
            </a:r>
            <a:r>
              <a:rPr lang="en-US" sz="2600" dirty="0" err="1"/>
              <a:t>navodi</a:t>
            </a:r>
            <a:r>
              <a:rPr lang="en-US" sz="2600" dirty="0"/>
              <a:t> </a:t>
            </a:r>
            <a:r>
              <a:rPr lang="en-US" sz="2600" dirty="0" err="1"/>
              <a:t>što</a:t>
            </a:r>
            <a:r>
              <a:rPr lang="en-US" sz="2600" dirty="0"/>
              <a:t> </a:t>
            </a:r>
            <a:r>
              <a:rPr lang="en-US" sz="2600" b="1" dirty="0" err="1"/>
              <a:t>nije</a:t>
            </a:r>
            <a:r>
              <a:rPr lang="en-US" sz="2600" b="1" dirty="0"/>
              <a:t> </a:t>
            </a:r>
            <a:r>
              <a:rPr lang="en-US" sz="2600" b="1" dirty="0" err="1"/>
              <a:t>uključeno</a:t>
            </a:r>
            <a:r>
              <a:rPr lang="en-US" sz="2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 err="1">
                <a:solidFill>
                  <a:srgbClr val="0BDCBD"/>
                </a:solidFill>
              </a:rPr>
              <a:t>Ograničenja</a:t>
            </a:r>
            <a:r>
              <a:rPr lang="en-US" sz="2600" b="1" dirty="0">
                <a:solidFill>
                  <a:srgbClr val="0BDCBD"/>
                </a:solidFill>
              </a:rPr>
              <a:t> i </a:t>
            </a:r>
            <a:r>
              <a:rPr lang="en-US" sz="2600" b="1" dirty="0" err="1">
                <a:solidFill>
                  <a:srgbClr val="0BDCBD"/>
                </a:solidFill>
              </a:rPr>
              <a:t>pretpostavke</a:t>
            </a:r>
            <a:r>
              <a:rPr lang="en-US" sz="2600" dirty="0"/>
              <a:t>: </a:t>
            </a:r>
            <a:r>
              <a:rPr lang="en-US" sz="2600" dirty="0" err="1"/>
              <a:t>Navodi</a:t>
            </a:r>
            <a:r>
              <a:rPr lang="en-US" sz="2600" dirty="0"/>
              <a:t> </a:t>
            </a:r>
            <a:r>
              <a:rPr lang="en-US" sz="2600" dirty="0" err="1"/>
              <a:t>ograničenja</a:t>
            </a:r>
            <a:r>
              <a:rPr lang="en-US" sz="2600" dirty="0"/>
              <a:t> </a:t>
            </a:r>
            <a:r>
              <a:rPr lang="en-US" sz="2600" dirty="0" err="1"/>
              <a:t>vezana</a:t>
            </a:r>
            <a:r>
              <a:rPr lang="en-US" sz="2600" dirty="0"/>
              <a:t> </a:t>
            </a:r>
            <a:r>
              <a:rPr lang="en-US" sz="2600" dirty="0" err="1"/>
              <a:t>uz</a:t>
            </a:r>
            <a:r>
              <a:rPr lang="en-US" sz="2600" dirty="0"/>
              <a:t> </a:t>
            </a:r>
            <a:r>
              <a:rPr lang="en-US" sz="2600" b="1" dirty="0" err="1"/>
              <a:t>vrijeme</a:t>
            </a:r>
            <a:r>
              <a:rPr lang="en-US" sz="2600" b="1" dirty="0"/>
              <a:t>, </a:t>
            </a:r>
            <a:r>
              <a:rPr lang="en-US" sz="2600" b="1" dirty="0" err="1"/>
              <a:t>proračun</a:t>
            </a:r>
            <a:r>
              <a:rPr lang="en-US" sz="2600" b="1" dirty="0"/>
              <a:t> i </a:t>
            </a:r>
            <a:r>
              <a:rPr lang="en-US" sz="2600" b="1" dirty="0" err="1"/>
              <a:t>resurse</a:t>
            </a:r>
            <a:r>
              <a:rPr lang="en-US" sz="2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rgbClr val="0BDCBD"/>
                </a:solidFill>
              </a:rPr>
              <a:t>Kriterije </a:t>
            </a:r>
            <a:r>
              <a:rPr lang="en-US" sz="2600" b="1" dirty="0" err="1">
                <a:solidFill>
                  <a:srgbClr val="0BDCBD"/>
                </a:solidFill>
              </a:rPr>
              <a:t>prihvaćanja</a:t>
            </a:r>
            <a:r>
              <a:rPr lang="en-US" sz="2600" dirty="0"/>
              <a:t>: </a:t>
            </a:r>
            <a:r>
              <a:rPr lang="en-US" sz="2600" dirty="0" err="1"/>
              <a:t>Definira</a:t>
            </a:r>
            <a:r>
              <a:rPr lang="en-US" sz="2600" dirty="0"/>
              <a:t> </a:t>
            </a:r>
            <a:r>
              <a:rPr lang="en-US" sz="2600" dirty="0" err="1"/>
              <a:t>čimbenike</a:t>
            </a:r>
            <a:r>
              <a:rPr lang="en-US" sz="2600" dirty="0"/>
              <a:t> </a:t>
            </a:r>
            <a:r>
              <a:rPr lang="en-US" sz="2600" dirty="0" err="1"/>
              <a:t>uspjeha</a:t>
            </a:r>
            <a:r>
              <a:rPr lang="en-US" sz="2600" dirty="0"/>
              <a:t> za </a:t>
            </a:r>
            <a:r>
              <a:rPr lang="en-US" sz="2600" dirty="0" err="1"/>
              <a:t>isporuke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3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9B49-13E7-BF86-D583-81C40A60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70"/>
            <a:ext cx="10515600" cy="1325563"/>
          </a:xfrm>
        </p:spPr>
        <p:txBody>
          <a:bodyPr/>
          <a:lstStyle/>
          <a:p>
            <a:r>
              <a:rPr lang="hr-HR" sz="3800" dirty="0">
                <a:latin typeface="Bahnschrift SemiBold"/>
              </a:rPr>
              <a:t>Opis opsega projekta </a:t>
            </a:r>
            <a:r>
              <a:rPr lang="hr-HR" sz="3800" i="1" dirty="0">
                <a:latin typeface="Bahnschrift SemiBold"/>
              </a:rPr>
              <a:t>(</a:t>
            </a:r>
            <a:r>
              <a:rPr lang="en-US" sz="3800" i="1" dirty="0">
                <a:latin typeface="Bahnschrift SemiBold"/>
              </a:rPr>
              <a:t>Scope Statement</a:t>
            </a:r>
            <a:r>
              <a:rPr lang="hr-HR" sz="3800" i="1" dirty="0">
                <a:latin typeface="Bahnschrift SemiBold"/>
              </a:rPr>
              <a:t>)</a:t>
            </a:r>
            <a:r>
              <a:rPr lang="en-US" sz="3800" dirty="0">
                <a:latin typeface="Bahnschrift SemiBold"/>
              </a:rPr>
              <a:t>_</a:t>
            </a:r>
            <a:r>
              <a:rPr lang="hr-HR" sz="3800" dirty="0">
                <a:latin typeface="Bahnschrift SemiBold"/>
              </a:rPr>
              <a:t>primjer</a:t>
            </a:r>
            <a:r>
              <a:rPr lang="en-US" sz="3800" dirty="0">
                <a:latin typeface="Bahnschrift SemiBold"/>
              </a:rPr>
              <a:t>: Strategija22</a:t>
            </a:r>
          </a:p>
        </p:txBody>
      </p:sp>
      <p:sp>
        <p:nvSpPr>
          <p:cNvPr id="6" name="Rezervirano mjesto sadržaja 4">
            <a:extLst>
              <a:ext uri="{FF2B5EF4-FFF2-40B4-BE49-F238E27FC236}">
                <a16:creationId xmlns:a16="http://schemas.microsoft.com/office/drawing/2014/main" id="{B1FF6E53-EFE4-4B22-400D-77E7068B30F4}"/>
              </a:ext>
            </a:extLst>
          </p:cNvPr>
          <p:cNvSpPr>
            <a:spLocks noGrp="1"/>
          </p:cNvSpPr>
          <p:nvPr/>
        </p:nvSpPr>
        <p:spPr>
          <a:xfrm>
            <a:off x="269778" y="1869426"/>
            <a:ext cx="11391633" cy="50994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Primjer </a:t>
            </a:r>
            <a:r>
              <a:rPr lang="en-US" b="1" dirty="0" err="1"/>
              <a:t>temeljen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industrijskom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r>
              <a:rPr lang="en-US" b="1" dirty="0"/>
              <a:t> </a:t>
            </a:r>
            <a:r>
              <a:rPr lang="en-US" b="1" dirty="0">
                <a:solidFill>
                  <a:srgbClr val="0BDCBD"/>
                </a:solidFill>
              </a:rPr>
              <a:t>(Strategija22 – ERP i Shopify </a:t>
            </a:r>
            <a:r>
              <a:rPr lang="en-US" b="1" dirty="0" err="1">
                <a:solidFill>
                  <a:srgbClr val="0BDCBD"/>
                </a:solidFill>
              </a:rPr>
              <a:t>integracija</a:t>
            </a:r>
            <a:r>
              <a:rPr lang="en-US" b="1" dirty="0">
                <a:solidFill>
                  <a:srgbClr val="0BDCBD"/>
                </a:solidFill>
              </a:rPr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err="1"/>
              <a:t>Cjelovita</a:t>
            </a:r>
            <a:r>
              <a:rPr lang="en-US" dirty="0"/>
              <a:t>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prilagođenog</a:t>
            </a:r>
            <a:r>
              <a:rPr lang="en-US" dirty="0"/>
              <a:t> </a:t>
            </a:r>
            <a:r>
              <a:rPr lang="en-US" b="1" dirty="0">
                <a:solidFill>
                  <a:srgbClr val="0BDCBD"/>
                </a:solidFill>
              </a:rPr>
              <a:t>ERP </a:t>
            </a:r>
            <a:r>
              <a:rPr lang="en-US" b="1" dirty="0" err="1">
                <a:solidFill>
                  <a:srgbClr val="0BDCBD"/>
                </a:solidFill>
              </a:rPr>
              <a:t>sustava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dirty="0" err="1"/>
              <a:t>integriranog</a:t>
            </a:r>
            <a:r>
              <a:rPr lang="en-US" dirty="0"/>
              <a:t> s </a:t>
            </a:r>
            <a:r>
              <a:rPr lang="en-US" b="1" dirty="0">
                <a:solidFill>
                  <a:srgbClr val="0BDCBD"/>
                </a:solidFill>
              </a:rPr>
              <a:t>e-commerce </a:t>
            </a:r>
            <a:r>
              <a:rPr lang="en-US" b="1" dirty="0" err="1">
                <a:solidFill>
                  <a:srgbClr val="0BDCBD"/>
                </a:solidFill>
              </a:rPr>
              <a:t>platformom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temeljenom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na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Shopifyju</a:t>
            </a:r>
            <a:r>
              <a:rPr lang="en-US" dirty="0"/>
              <a:t> za </a:t>
            </a:r>
            <a:r>
              <a:rPr lang="en-US" dirty="0" err="1"/>
              <a:t>maloprodajnu</a:t>
            </a:r>
            <a:r>
              <a:rPr lang="en-US" dirty="0"/>
              <a:t> </a:t>
            </a:r>
            <a:r>
              <a:rPr lang="en-US" dirty="0" err="1"/>
              <a:t>tvrtku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ERP </a:t>
            </a:r>
            <a:r>
              <a:rPr lang="en-US" b="1" dirty="0" err="1"/>
              <a:t>rješenje</a:t>
            </a:r>
            <a:r>
              <a:rPr lang="en-US" b="1" dirty="0"/>
              <a:t> </a:t>
            </a:r>
            <a:r>
              <a:rPr lang="en-US" b="1" dirty="0" err="1"/>
              <a:t>uključuje</a:t>
            </a:r>
            <a:r>
              <a:rPr lang="en-US" b="1" dirty="0"/>
              <a:t> module za:</a:t>
            </a:r>
          </a:p>
          <a:p>
            <a:r>
              <a:rPr lang="en-US" dirty="0"/>
              <a:t>POS </a:t>
            </a:r>
            <a:r>
              <a:rPr lang="en-US" dirty="0" err="1"/>
              <a:t>operacije</a:t>
            </a:r>
            <a:endParaRPr lang="en-US" dirty="0"/>
          </a:p>
          <a:p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zalihama</a:t>
            </a:r>
            <a:r>
              <a:rPr lang="en-US" dirty="0"/>
              <a:t> i </a:t>
            </a:r>
            <a:r>
              <a:rPr lang="en-US" dirty="0" err="1"/>
              <a:t>skladištem</a:t>
            </a:r>
            <a:endParaRPr lang="en-US" dirty="0"/>
          </a:p>
          <a:p>
            <a:r>
              <a:rPr lang="en-US" dirty="0" err="1"/>
              <a:t>računovodstvo</a:t>
            </a:r>
            <a:r>
              <a:rPr lang="en-US" dirty="0"/>
              <a:t> i </a:t>
            </a:r>
            <a:r>
              <a:rPr lang="en-US" dirty="0" err="1"/>
              <a:t>financijsko</a:t>
            </a:r>
            <a:r>
              <a:rPr lang="en-US" dirty="0"/>
              <a:t> </a:t>
            </a:r>
            <a:r>
              <a:rPr lang="en-US" dirty="0" err="1"/>
              <a:t>izvještavanje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99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731E-19BF-BBDC-9495-D026619E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89A0-25A1-6F73-9ABF-8C87704F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7"/>
            <a:ext cx="10515600" cy="1325563"/>
          </a:xfrm>
        </p:spPr>
        <p:txBody>
          <a:bodyPr/>
          <a:lstStyle/>
          <a:p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Opis opsega projekta </a:t>
            </a:r>
            <a:r>
              <a:rPr kumimoji="0" lang="hr-HR" sz="3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(</a:t>
            </a:r>
            <a:r>
              <a:rPr kumimoji="0" lang="en-US" sz="3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Scope Statement</a:t>
            </a:r>
            <a:r>
              <a:rPr kumimoji="0" lang="hr-HR" sz="3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)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_</a:t>
            </a:r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primjer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: Strategija22</a:t>
            </a:r>
            <a:endParaRPr lang="en-US" sz="3800" dirty="0">
              <a:latin typeface="Bahnschrift SemiBold"/>
            </a:endParaRPr>
          </a:p>
        </p:txBody>
      </p:sp>
      <p:sp>
        <p:nvSpPr>
          <p:cNvPr id="6" name="Rezervirano mjesto sadržaja 4">
            <a:extLst>
              <a:ext uri="{FF2B5EF4-FFF2-40B4-BE49-F238E27FC236}">
                <a16:creationId xmlns:a16="http://schemas.microsoft.com/office/drawing/2014/main" id="{53BF5CA0-5A48-49DC-8EAA-DBBE3372EA88}"/>
              </a:ext>
            </a:extLst>
          </p:cNvPr>
          <p:cNvSpPr>
            <a:spLocks noGrp="1"/>
          </p:cNvSpPr>
          <p:nvPr/>
        </p:nvSpPr>
        <p:spPr>
          <a:xfrm>
            <a:off x="400183" y="2062322"/>
            <a:ext cx="11391633" cy="4513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Projekt </a:t>
            </a:r>
            <a:r>
              <a:rPr lang="en-US" dirty="0" err="1"/>
              <a:t>također</a:t>
            </a:r>
            <a:r>
              <a:rPr lang="en-US" dirty="0"/>
              <a:t> </a:t>
            </a:r>
            <a:r>
              <a:rPr lang="en-US" dirty="0" err="1"/>
              <a:t>uključuje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b="1" dirty="0">
                <a:solidFill>
                  <a:srgbClr val="0BDCBD"/>
                </a:solidFill>
              </a:rPr>
              <a:t>online </a:t>
            </a:r>
            <a:r>
              <a:rPr lang="en-US" b="1" dirty="0" err="1">
                <a:solidFill>
                  <a:srgbClr val="0BDCBD"/>
                </a:solidFill>
              </a:rPr>
              <a:t>trgovine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na</a:t>
            </a:r>
            <a:r>
              <a:rPr lang="en-US" b="1" dirty="0">
                <a:solidFill>
                  <a:srgbClr val="0BDCBD"/>
                </a:solidFill>
              </a:rPr>
              <a:t> Shopify </a:t>
            </a:r>
            <a:r>
              <a:rPr lang="en-US" b="1" dirty="0" err="1">
                <a:solidFill>
                  <a:srgbClr val="0BDCBD"/>
                </a:solidFill>
              </a:rPr>
              <a:t>platformi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osiguravanje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s ERP </a:t>
            </a:r>
            <a:r>
              <a:rPr lang="en-US" dirty="0" err="1"/>
              <a:t>pozadinskim</a:t>
            </a:r>
            <a:r>
              <a:rPr lang="en-US" dirty="0"/>
              <a:t> </a:t>
            </a:r>
            <a:r>
              <a:rPr lang="en-US" dirty="0" err="1"/>
              <a:t>sustavom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0BDCBD"/>
                </a:solidFill>
              </a:rPr>
              <a:t>Ključne</a:t>
            </a:r>
            <a:r>
              <a:rPr lang="en-US" b="1" dirty="0">
                <a:solidFill>
                  <a:srgbClr val="0BDCBD"/>
                </a:solidFill>
              </a:rPr>
              <a:t> e-commerce </a:t>
            </a:r>
            <a:r>
              <a:rPr lang="en-US" b="1" dirty="0" err="1">
                <a:solidFill>
                  <a:srgbClr val="0BDCBD"/>
                </a:solidFill>
              </a:rPr>
              <a:t>funkcionalnosti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uključuju</a:t>
            </a:r>
            <a:r>
              <a:rPr lang="en-US" b="1" dirty="0">
                <a:solidFill>
                  <a:srgbClr val="0BDCBD"/>
                </a:solidFill>
              </a:rPr>
              <a:t>:</a:t>
            </a:r>
          </a:p>
          <a:p>
            <a:r>
              <a:rPr lang="en-US" dirty="0" err="1"/>
              <a:t>integraciju</a:t>
            </a:r>
            <a:r>
              <a:rPr lang="en-US" dirty="0"/>
              <a:t> s </a:t>
            </a:r>
            <a:r>
              <a:rPr lang="en-US" dirty="0" err="1"/>
              <a:t>dostavnim</a:t>
            </a:r>
            <a:r>
              <a:rPr lang="en-US" dirty="0"/>
              <a:t> </a:t>
            </a:r>
            <a:r>
              <a:rPr lang="en-US" dirty="0" err="1"/>
              <a:t>službama</a:t>
            </a:r>
            <a:endParaRPr lang="en-US" dirty="0"/>
          </a:p>
          <a:p>
            <a:r>
              <a:rPr lang="en-US" dirty="0" err="1"/>
              <a:t>siguran</a:t>
            </a:r>
            <a:r>
              <a:rPr lang="en-US" dirty="0"/>
              <a:t> 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plaćanja</a:t>
            </a:r>
            <a:r>
              <a:rPr lang="en-US" dirty="0"/>
              <a:t> </a:t>
            </a:r>
            <a:r>
              <a:rPr lang="en-US" dirty="0" err="1"/>
              <a:t>kreditnim</a:t>
            </a:r>
            <a:r>
              <a:rPr lang="en-US" dirty="0"/>
              <a:t> </a:t>
            </a:r>
            <a:r>
              <a:rPr lang="en-US" dirty="0" err="1"/>
              <a:t>karticama</a:t>
            </a:r>
            <a:endParaRPr lang="en-US" dirty="0"/>
          </a:p>
          <a:p>
            <a:r>
              <a:rPr lang="en-US" dirty="0" err="1"/>
              <a:t>jedinstveni</a:t>
            </a:r>
            <a:r>
              <a:rPr lang="en-US" dirty="0"/>
              <a:t> 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lojalnosti</a:t>
            </a:r>
            <a:r>
              <a:rPr lang="en-US" dirty="0"/>
              <a:t> </a:t>
            </a:r>
            <a:r>
              <a:rPr lang="en-US" dirty="0" err="1"/>
              <a:t>kupaca</a:t>
            </a:r>
            <a:r>
              <a:rPr lang="en-US" dirty="0"/>
              <a:t> za </a:t>
            </a:r>
            <a:r>
              <a:rPr lang="en-US" dirty="0" err="1"/>
              <a:t>fizičke</a:t>
            </a:r>
            <a:r>
              <a:rPr lang="en-US" dirty="0"/>
              <a:t> i online </a:t>
            </a:r>
            <a:r>
              <a:rPr lang="en-US" dirty="0" err="1"/>
              <a:t>trgovine</a:t>
            </a:r>
            <a:endParaRPr lang="en-US" dirty="0"/>
          </a:p>
          <a:p>
            <a:r>
              <a:rPr lang="en-US" dirty="0" err="1"/>
              <a:t>automatizirane</a:t>
            </a:r>
            <a:r>
              <a:rPr lang="en-US" dirty="0"/>
              <a:t> </a:t>
            </a:r>
            <a:r>
              <a:rPr lang="en-US" dirty="0" err="1"/>
              <a:t>promotivne</a:t>
            </a:r>
            <a:r>
              <a:rPr lang="en-US" dirty="0"/>
              <a:t> </a:t>
            </a:r>
            <a:r>
              <a:rPr lang="en-US" dirty="0" err="1"/>
              <a:t>ponude</a:t>
            </a:r>
            <a:r>
              <a:rPr lang="en-US" dirty="0"/>
              <a:t> </a:t>
            </a:r>
            <a:r>
              <a:rPr lang="en-US" dirty="0" err="1"/>
              <a:t>temeljene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vrijednosti</a:t>
            </a:r>
            <a:r>
              <a:rPr lang="en-US" dirty="0"/>
              <a:t> </a:t>
            </a:r>
            <a:r>
              <a:rPr lang="en-US" dirty="0" err="1"/>
              <a:t>narudžbe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721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A598-1301-73BA-C62B-14C7A8B18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6FE0-731F-584A-7AE8-DA616DF8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3800" b="1" dirty="0">
                <a:latin typeface="Bahnschrift SemiBold"/>
              </a:rPr>
              <a:t>Vježba</a:t>
            </a:r>
            <a:r>
              <a:rPr lang="en-US" b="1" dirty="0">
                <a:latin typeface="Bahnschrift SemiLight" panose="020B0502040204020203" pitchFamily="34" charset="0"/>
              </a:rPr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21FD9-A167-EB30-6361-DCABA4BA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03" y="1777706"/>
            <a:ext cx="10996749" cy="5320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600" b="1" i="1" dirty="0">
                <a:ea typeface="Bahnschrift SemiLight" panose="020B0502040204020203" pitchFamily="34" charset="0"/>
                <a:cs typeface="Bahnschrift SemiLight" panose="020B0502040204020203" pitchFamily="34" charset="0"/>
              </a:rPr>
              <a:t>Razviti opis opsega projekta za sljedeći hipotetski projekt:</a:t>
            </a:r>
            <a:endParaRPr lang="en-GB" sz="2600" b="1" i="1" dirty="0">
              <a:effectLst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GB" sz="2600" dirty="0">
              <a:effectLst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Rezervirano mjesto sadržaja 2">
            <a:extLst>
              <a:ext uri="{FF2B5EF4-FFF2-40B4-BE49-F238E27FC236}">
                <a16:creationId xmlns:a16="http://schemas.microsoft.com/office/drawing/2014/main" id="{25AC5EF3-A11A-5249-522E-35006E242BC5}"/>
              </a:ext>
            </a:extLst>
          </p:cNvPr>
          <p:cNvSpPr>
            <a:spLocks noGrp="1"/>
          </p:cNvSpPr>
          <p:nvPr/>
        </p:nvSpPr>
        <p:spPr>
          <a:xfrm>
            <a:off x="244503" y="2309752"/>
            <a:ext cx="11978544" cy="4578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200" b="1" dirty="0">
                <a:solidFill>
                  <a:srgbClr val="0ADBBC"/>
                </a:solidFill>
              </a:rPr>
              <a:t>Obrazovna platforma </a:t>
            </a:r>
            <a:r>
              <a:rPr lang="hr-HR" sz="2200" b="1" dirty="0" err="1">
                <a:solidFill>
                  <a:srgbClr val="0ADBBC"/>
                </a:solidFill>
              </a:rPr>
              <a:t>CraftEase</a:t>
            </a:r>
            <a:r>
              <a:rPr lang="hr-HR" sz="2200" b="1" dirty="0">
                <a:solidFill>
                  <a:srgbClr val="0ADBBC"/>
                </a:solidFill>
              </a:rPr>
              <a:t> za DIY („uradi sam”) projekte; 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Proračun: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50.000 – 100.000 EUR;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Vremenski okvir: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6 mjeseci;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Zadatak: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oni su voditelji projekta (PM) u IT tvrtki koja isporučuje digitalno rješenje za maloprodajnog klijenta;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Klijent: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trgovina koja prodaje materijale (Bauhaus, Brico ili slično – električni materijal, DIY, građevinski materijal);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Tim: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može imati 5 članova;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Tvrtka: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20 zaposlenika, uključujući developere, UX/IX dizajnere, financijski i ugovorni odjel, grafičke dizajnere, bez poslovnog analitičara;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Zahtjevi klijenta: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web platforma, korisnički račun (login), multimedijalni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tutorijali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opcija sviđanja/nesviđanja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tutorijala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prijava na radionice;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Uloge na platformi: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korisnik platforme (gleda izrađene DIY projekte), zaposlenik trgovine (izrađuje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tutorijale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/videozapise),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426479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7849-82D7-2A40-DB79-C127D699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pl-PL" sz="3800" dirty="0">
                <a:latin typeface="Bahnschrift SemiBold"/>
              </a:rPr>
              <a:t>Što je struktura raščlambe rada (</a:t>
            </a:r>
            <a:r>
              <a:rPr lang="pl-PL" sz="3800" i="1" dirty="0">
                <a:latin typeface="Bahnschrift SemiBold"/>
              </a:rPr>
              <a:t>Work Breakdown Structure - WBS</a:t>
            </a:r>
            <a:r>
              <a:rPr lang="pl-PL" sz="3800" dirty="0">
                <a:latin typeface="Bahnschrift SemiBold"/>
              </a:rPr>
              <a:t>)?</a:t>
            </a:r>
            <a:endParaRPr lang="en-US" sz="3800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A7334-1BBD-5437-3335-E09A50160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5491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0BDCBD"/>
                </a:solidFill>
              </a:rPr>
              <a:t>Struktura</a:t>
            </a:r>
            <a:r>
              <a:rPr lang="en-US" b="1" dirty="0">
                <a:solidFill>
                  <a:srgbClr val="0BDCBD"/>
                </a:solidFill>
              </a:rPr>
              <a:t> </a:t>
            </a:r>
            <a:r>
              <a:rPr lang="en-US" b="1" dirty="0" err="1">
                <a:solidFill>
                  <a:srgbClr val="0BDCBD"/>
                </a:solidFill>
              </a:rPr>
              <a:t>raščlambe</a:t>
            </a:r>
            <a:r>
              <a:rPr lang="en-US" b="1" dirty="0">
                <a:solidFill>
                  <a:srgbClr val="0BDCBD"/>
                </a:solidFill>
              </a:rPr>
              <a:t> rada (WBS) </a:t>
            </a:r>
            <a:r>
              <a:rPr lang="en-US" dirty="0" err="1"/>
              <a:t>hijerarhijska</a:t>
            </a:r>
            <a:r>
              <a:rPr lang="en-US" dirty="0"/>
              <a:t> je </a:t>
            </a:r>
            <a:r>
              <a:rPr lang="en-US" dirty="0" err="1"/>
              <a:t>razrada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b="1" dirty="0" err="1"/>
              <a:t>manje</a:t>
            </a:r>
            <a:r>
              <a:rPr lang="en-US" b="1" dirty="0"/>
              <a:t>, </a:t>
            </a:r>
            <a:r>
              <a:rPr lang="en-US" b="1" dirty="0" err="1"/>
              <a:t>upravljive</a:t>
            </a:r>
            <a:r>
              <a:rPr lang="en-US" b="1" dirty="0"/>
              <a:t> </a:t>
            </a:r>
            <a:r>
              <a:rPr lang="en-US" b="1" dirty="0" err="1"/>
              <a:t>komponente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Vizualno</a:t>
            </a:r>
            <a:r>
              <a:rPr lang="en-US" dirty="0"/>
              <a:t> </a:t>
            </a:r>
            <a:r>
              <a:rPr lang="en-US" dirty="0" err="1"/>
              <a:t>organizira</a:t>
            </a:r>
            <a:r>
              <a:rPr lang="en-US" dirty="0"/>
              <a:t> </a:t>
            </a:r>
            <a:r>
              <a:rPr lang="en-US" dirty="0" err="1"/>
              <a:t>opseg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u </a:t>
            </a:r>
            <a:r>
              <a:rPr lang="en-US" b="1" dirty="0">
                <a:solidFill>
                  <a:srgbClr val="0BDCBD"/>
                </a:solidFill>
              </a:rPr>
              <a:t>faze, </a:t>
            </a:r>
            <a:r>
              <a:rPr lang="en-US" b="1" dirty="0" err="1">
                <a:solidFill>
                  <a:srgbClr val="0BDCBD"/>
                </a:solidFill>
              </a:rPr>
              <a:t>isporu</a:t>
            </a:r>
            <a:r>
              <a:rPr lang="hr-HR" b="1" dirty="0" err="1">
                <a:solidFill>
                  <a:srgbClr val="0BDCBD"/>
                </a:solidFill>
              </a:rPr>
              <a:t>čevine</a:t>
            </a:r>
            <a:r>
              <a:rPr lang="hr-HR" b="1" dirty="0">
                <a:solidFill>
                  <a:srgbClr val="0BDCBD"/>
                </a:solidFill>
              </a:rPr>
              <a:t> (</a:t>
            </a:r>
            <a:r>
              <a:rPr lang="hr-HR" b="1" dirty="0" err="1">
                <a:solidFill>
                  <a:srgbClr val="0BDCBD"/>
                </a:solidFill>
              </a:rPr>
              <a:t>deliverables</a:t>
            </a:r>
            <a:r>
              <a:rPr lang="hr-HR" b="1" dirty="0">
                <a:solidFill>
                  <a:srgbClr val="0BDCBD"/>
                </a:solidFill>
              </a:rPr>
              <a:t>)</a:t>
            </a:r>
            <a:r>
              <a:rPr lang="en-US" b="1" dirty="0">
                <a:solidFill>
                  <a:srgbClr val="0BDCBD"/>
                </a:solidFill>
              </a:rPr>
              <a:t> i </a:t>
            </a:r>
            <a:r>
              <a:rPr lang="en-US" b="1" dirty="0" err="1">
                <a:solidFill>
                  <a:srgbClr val="0BDCBD"/>
                </a:solidFill>
              </a:rPr>
              <a:t>zadatke</a:t>
            </a:r>
            <a:r>
              <a:rPr lang="en-US" dirty="0"/>
              <a:t>, </a:t>
            </a:r>
            <a:r>
              <a:rPr lang="en-US" dirty="0" err="1"/>
              <a:t>osiguravajući</a:t>
            </a:r>
            <a:r>
              <a:rPr lang="en-US" dirty="0"/>
              <a:t> da je sav rad </a:t>
            </a:r>
            <a:r>
              <a:rPr lang="en-US" dirty="0" err="1"/>
              <a:t>jasno</a:t>
            </a:r>
            <a:r>
              <a:rPr lang="en-US" dirty="0"/>
              <a:t> </a:t>
            </a:r>
            <a:r>
              <a:rPr lang="en-US" dirty="0" err="1"/>
              <a:t>definiran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2119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9794-D13B-D4ED-B690-3FA2FCDB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Zašto je WBS </a:t>
            </a:r>
            <a:r>
              <a:rPr lang="en-US" sz="3800" dirty="0" err="1">
                <a:latin typeface="Bahnschrift SemiBold"/>
              </a:rPr>
              <a:t>važan</a:t>
            </a:r>
            <a:r>
              <a:rPr lang="en-US" sz="3800" dirty="0">
                <a:latin typeface="Bahnschrift SemiBold"/>
              </a:rPr>
              <a:t>?</a:t>
            </a:r>
            <a:r>
              <a:rPr lang="hr-HR" sz="3800" dirty="0">
                <a:latin typeface="Bahnschrift SemiBold"/>
              </a:rPr>
              <a:t> </a:t>
            </a:r>
            <a:r>
              <a:rPr lang="en-US" sz="3800" dirty="0">
                <a:latin typeface="Bahnschrift SemiBold"/>
              </a:rPr>
              <a:t>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23534-F2B9-E6C0-480C-949976612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83" y="1690688"/>
            <a:ext cx="11255828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	1. </a:t>
            </a:r>
            <a:r>
              <a:rPr lang="pl-PL" b="1" dirty="0">
                <a:solidFill>
                  <a:srgbClr val="0ADBBC"/>
                </a:solidFill>
              </a:rPr>
              <a:t>Poboljšava jasnoću i organizaciju projekta</a:t>
            </a:r>
            <a:endParaRPr lang="en-US" b="1" dirty="0">
              <a:solidFill>
                <a:srgbClr val="0ADBBC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Razlaže</a:t>
            </a:r>
            <a:r>
              <a:rPr lang="en-US" sz="2800" dirty="0"/>
              <a:t> </a:t>
            </a:r>
            <a:r>
              <a:rPr lang="en-US" sz="2800" dirty="0" err="1"/>
              <a:t>projekt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b="1" dirty="0" err="1"/>
              <a:t>upravljive</a:t>
            </a:r>
            <a:r>
              <a:rPr lang="en-US" sz="2800" b="1" dirty="0"/>
              <a:t> </a:t>
            </a:r>
            <a:r>
              <a:rPr lang="en-US" sz="2800" b="1" dirty="0" err="1"/>
              <a:t>radne</a:t>
            </a:r>
            <a:r>
              <a:rPr lang="en-US" sz="2800" b="1" dirty="0"/>
              <a:t> </a:t>
            </a:r>
            <a:r>
              <a:rPr lang="en-US" sz="2800" b="1" dirty="0" err="1"/>
              <a:t>pakete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Pomaže</a:t>
            </a:r>
            <a:r>
              <a:rPr lang="en-US" sz="2800" dirty="0"/>
              <a:t> </a:t>
            </a:r>
            <a:r>
              <a:rPr lang="en-US" sz="2800" dirty="0" err="1"/>
              <a:t>timovima</a:t>
            </a:r>
            <a:r>
              <a:rPr lang="en-US" sz="2800" dirty="0"/>
              <a:t> </a:t>
            </a:r>
            <a:r>
              <a:rPr lang="en-US" sz="2800" dirty="0" err="1"/>
              <a:t>razumjeti</a:t>
            </a:r>
            <a:r>
              <a:rPr lang="en-US" sz="2800" dirty="0"/>
              <a:t> </a:t>
            </a:r>
            <a:r>
              <a:rPr lang="en-US" sz="2800" b="1" dirty="0" err="1"/>
              <a:t>što</a:t>
            </a:r>
            <a:r>
              <a:rPr lang="en-US" sz="2800" b="1" dirty="0"/>
              <a:t> je </a:t>
            </a:r>
            <a:r>
              <a:rPr lang="en-US" sz="2800" b="1" dirty="0" err="1"/>
              <a:t>potrebno</a:t>
            </a:r>
            <a:r>
              <a:rPr lang="en-US" sz="2800" b="1" dirty="0"/>
              <a:t> napraviti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000" dirty="0"/>
          </a:p>
          <a:p>
            <a:pPr>
              <a:buNone/>
            </a:pPr>
            <a:r>
              <a:rPr lang="en-US" b="1" dirty="0"/>
              <a:t>	</a:t>
            </a:r>
            <a:r>
              <a:rPr lang="en-US" b="1" dirty="0">
                <a:solidFill>
                  <a:srgbClr val="0ADBBC"/>
                </a:solidFill>
              </a:rPr>
              <a:t>2. </a:t>
            </a:r>
            <a:r>
              <a:rPr lang="en-US" b="1" dirty="0" err="1">
                <a:solidFill>
                  <a:srgbClr val="0ADBBC"/>
                </a:solidFill>
              </a:rPr>
              <a:t>Unaprjeđuje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planiranje</a:t>
            </a:r>
            <a:r>
              <a:rPr lang="en-US" b="1" dirty="0">
                <a:solidFill>
                  <a:srgbClr val="0ADBBC"/>
                </a:solidFill>
              </a:rPr>
              <a:t> i </a:t>
            </a:r>
            <a:r>
              <a:rPr lang="en-US" b="1" dirty="0" err="1">
                <a:solidFill>
                  <a:srgbClr val="0ADBBC"/>
                </a:solidFill>
              </a:rPr>
              <a:t>raspoređivanje</a:t>
            </a:r>
            <a:endParaRPr lang="en-US" b="1" dirty="0">
              <a:solidFill>
                <a:srgbClr val="0ADBBC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Svaki </a:t>
            </a:r>
            <a:r>
              <a:rPr lang="en-US" sz="2800" dirty="0" err="1"/>
              <a:t>zadatak</a:t>
            </a:r>
            <a:r>
              <a:rPr lang="en-US" sz="2800" dirty="0"/>
              <a:t> </a:t>
            </a:r>
            <a:r>
              <a:rPr lang="en-US" sz="2800" dirty="0" err="1"/>
              <a:t>može</a:t>
            </a:r>
            <a:r>
              <a:rPr lang="en-US" sz="2800" dirty="0"/>
              <a:t> </a:t>
            </a:r>
            <a:r>
              <a:rPr lang="en-US" sz="2800" dirty="0" err="1"/>
              <a:t>imati</a:t>
            </a:r>
            <a:r>
              <a:rPr lang="en-US" sz="2800" dirty="0"/>
              <a:t> </a:t>
            </a:r>
            <a:r>
              <a:rPr lang="en-US" sz="2800" dirty="0" err="1"/>
              <a:t>dodijeljen</a:t>
            </a:r>
            <a:r>
              <a:rPr lang="en-US" sz="2800" dirty="0"/>
              <a:t> </a:t>
            </a:r>
            <a:r>
              <a:rPr lang="en-US" sz="2800" b="1" dirty="0" err="1"/>
              <a:t>vremenski</a:t>
            </a:r>
            <a:r>
              <a:rPr lang="en-US" sz="2800" b="1" dirty="0"/>
              <a:t> </a:t>
            </a:r>
            <a:r>
              <a:rPr lang="en-US" sz="2800" b="1" dirty="0" err="1"/>
              <a:t>okvir</a:t>
            </a:r>
            <a:r>
              <a:rPr lang="en-US" sz="2800" b="1" dirty="0"/>
              <a:t>, </a:t>
            </a:r>
            <a:r>
              <a:rPr lang="en-US" sz="2800" b="1" dirty="0" err="1"/>
              <a:t>resurse</a:t>
            </a:r>
            <a:r>
              <a:rPr lang="en-US" sz="2800" b="1" dirty="0"/>
              <a:t> i </a:t>
            </a:r>
            <a:r>
              <a:rPr lang="en-US" sz="2800" b="1" dirty="0" err="1"/>
              <a:t>ovisnosti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Pomaže</a:t>
            </a:r>
            <a:r>
              <a:rPr lang="en-US" sz="2800" dirty="0"/>
              <a:t> u </a:t>
            </a:r>
            <a:r>
              <a:rPr lang="en-US" sz="2800" b="1" dirty="0" err="1"/>
              <a:t>točnom</a:t>
            </a:r>
            <a:r>
              <a:rPr lang="en-US" sz="2800" b="1" dirty="0"/>
              <a:t> </a:t>
            </a:r>
            <a:r>
              <a:rPr lang="en-US" sz="2800" b="1" dirty="0" err="1"/>
              <a:t>planiranju</a:t>
            </a:r>
            <a:r>
              <a:rPr lang="en-US" sz="2800" b="1" dirty="0"/>
              <a:t> </a:t>
            </a:r>
            <a:r>
              <a:rPr lang="en-US" sz="2800" b="1" dirty="0" err="1"/>
              <a:t>rasporeda</a:t>
            </a:r>
            <a:r>
              <a:rPr lang="en-US" sz="2800" b="1" dirty="0"/>
              <a:t> i </a:t>
            </a:r>
            <a:r>
              <a:rPr lang="en-US" sz="2800" b="1" dirty="0" err="1"/>
              <a:t>identifikaciji</a:t>
            </a:r>
            <a:r>
              <a:rPr lang="en-US" sz="2800" b="1" dirty="0"/>
              <a:t> </a:t>
            </a:r>
            <a:r>
              <a:rPr lang="en-US" sz="2800" b="1" dirty="0" err="1"/>
              <a:t>rizika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000" dirty="0"/>
          </a:p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	3. </a:t>
            </a:r>
            <a:r>
              <a:rPr lang="en-US" b="1" dirty="0" err="1">
                <a:solidFill>
                  <a:srgbClr val="0ADBBC"/>
                </a:solidFill>
              </a:rPr>
              <a:t>Sprječava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širenje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opsega</a:t>
            </a:r>
            <a:endParaRPr lang="en-US" b="1" dirty="0">
              <a:solidFill>
                <a:srgbClr val="0ADBBC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Jasno </a:t>
            </a:r>
            <a:r>
              <a:rPr lang="en-US" sz="2800" dirty="0" err="1"/>
              <a:t>definira</a:t>
            </a:r>
            <a:r>
              <a:rPr lang="en-US" sz="2800" dirty="0"/>
              <a:t> </a:t>
            </a:r>
            <a:r>
              <a:rPr lang="en-US" sz="2800" b="1" dirty="0" err="1"/>
              <a:t>što</a:t>
            </a:r>
            <a:r>
              <a:rPr lang="en-US" sz="2800" b="1" dirty="0"/>
              <a:t> je </a:t>
            </a:r>
            <a:r>
              <a:rPr lang="en-US" sz="2800" b="1" dirty="0" err="1"/>
              <a:t>uključeno</a:t>
            </a:r>
            <a:r>
              <a:rPr lang="en-US" sz="2800" dirty="0"/>
              <a:t>, a </a:t>
            </a:r>
            <a:r>
              <a:rPr lang="en-US" sz="2800" b="1" dirty="0" err="1"/>
              <a:t>što</a:t>
            </a:r>
            <a:r>
              <a:rPr lang="en-US" sz="2800" b="1" dirty="0"/>
              <a:t> </a:t>
            </a:r>
            <a:r>
              <a:rPr lang="en-US" sz="2800" b="1" dirty="0" err="1"/>
              <a:t>nije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Smanjuje</a:t>
            </a:r>
            <a:r>
              <a:rPr lang="en-US" sz="2800" dirty="0"/>
              <a:t> </a:t>
            </a:r>
            <a:r>
              <a:rPr lang="en-US" sz="2800" dirty="0" err="1"/>
              <a:t>rizik</a:t>
            </a:r>
            <a:r>
              <a:rPr lang="en-US" sz="2800" dirty="0"/>
              <a:t> od </a:t>
            </a:r>
            <a:r>
              <a:rPr lang="en-US" sz="2800" dirty="0" err="1"/>
              <a:t>dodavanja</a:t>
            </a:r>
            <a:r>
              <a:rPr lang="en-US" sz="2800" dirty="0"/>
              <a:t> </a:t>
            </a:r>
            <a:r>
              <a:rPr lang="en-US" sz="2800" b="1" dirty="0" err="1"/>
              <a:t>neplaniranog</a:t>
            </a:r>
            <a:r>
              <a:rPr lang="en-US" sz="2800" b="1" dirty="0"/>
              <a:t> rada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175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7480-58FA-3B4D-7A31-987EF23E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6DFD-01B1-B1F8-BE98-7800E6C1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Zašto je WBS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važan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?</a:t>
            </a:r>
            <a:r>
              <a:rPr lang="hr-HR" sz="3800" dirty="0">
                <a:solidFill>
                  <a:prstClr val="black"/>
                </a:solidFill>
                <a:latin typeface="Bahnschrift SemiBold"/>
              </a:rPr>
              <a:t> </a:t>
            </a:r>
            <a:r>
              <a:rPr lang="en-US" sz="3800" dirty="0">
                <a:latin typeface="Bahnschrift SemiBold"/>
              </a:rPr>
              <a:t>II.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2D26-A6EB-3DD6-FDA9-ECE8F14FC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4. </a:t>
            </a:r>
            <a:r>
              <a:rPr lang="en-US" b="1" dirty="0" err="1">
                <a:solidFill>
                  <a:srgbClr val="0ADBBC"/>
                </a:solidFill>
              </a:rPr>
              <a:t>Olakšava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raspodjelu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resursa</a:t>
            </a:r>
            <a:endParaRPr lang="en-US" b="1" dirty="0">
              <a:solidFill>
                <a:srgbClr val="0ADBBC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Pomaže</a:t>
            </a:r>
            <a:r>
              <a:rPr lang="en-US" sz="2800" dirty="0"/>
              <a:t> u </a:t>
            </a:r>
            <a:r>
              <a:rPr lang="en-US" sz="2800" dirty="0" err="1"/>
              <a:t>učinkovitoj</a:t>
            </a:r>
            <a:r>
              <a:rPr lang="en-US" sz="2800" dirty="0"/>
              <a:t> </a:t>
            </a:r>
            <a:r>
              <a:rPr lang="en-US" sz="2800" b="1" dirty="0" err="1"/>
              <a:t>raspodjeli</a:t>
            </a:r>
            <a:r>
              <a:rPr lang="en-US" sz="2800" b="1" dirty="0"/>
              <a:t> </a:t>
            </a:r>
            <a:r>
              <a:rPr lang="en-US" sz="2800" b="1" dirty="0" err="1"/>
              <a:t>posla</a:t>
            </a:r>
            <a:r>
              <a:rPr lang="en-US" sz="2800" b="1" dirty="0"/>
              <a:t> </a:t>
            </a:r>
            <a:r>
              <a:rPr lang="en-US" sz="2800" dirty="0" err="1"/>
              <a:t>među</a:t>
            </a:r>
            <a:r>
              <a:rPr lang="en-US" sz="2800" dirty="0"/>
              <a:t> </a:t>
            </a:r>
            <a:r>
              <a:rPr lang="en-US" sz="2800" dirty="0" err="1"/>
              <a:t>članovima</a:t>
            </a:r>
            <a:r>
              <a:rPr lang="en-US" sz="2800" dirty="0"/>
              <a:t> </a:t>
            </a:r>
            <a:r>
              <a:rPr lang="en-US" sz="2800" dirty="0" err="1"/>
              <a:t>tima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Osigurava</a:t>
            </a:r>
            <a:r>
              <a:rPr lang="en-US" sz="2800" dirty="0"/>
              <a:t> da </a:t>
            </a:r>
            <a:r>
              <a:rPr lang="en-US" sz="2800" dirty="0" err="1"/>
              <a:t>nijedan</a:t>
            </a:r>
            <a:r>
              <a:rPr lang="en-US" sz="2800" dirty="0"/>
              <a:t> </a:t>
            </a:r>
            <a:r>
              <a:rPr lang="en-US" sz="2800" dirty="0" err="1"/>
              <a:t>zadatak</a:t>
            </a:r>
            <a:r>
              <a:rPr lang="en-US" sz="2800" dirty="0"/>
              <a:t> ne </a:t>
            </a:r>
            <a:r>
              <a:rPr lang="en-US" sz="2800" dirty="0" err="1"/>
              <a:t>bude</a:t>
            </a:r>
            <a:r>
              <a:rPr lang="en-US" sz="2800" dirty="0"/>
              <a:t> </a:t>
            </a:r>
            <a:r>
              <a:rPr lang="en-US" sz="2800" b="1" dirty="0" err="1"/>
              <a:t>zanemaren</a:t>
            </a:r>
            <a:r>
              <a:rPr lang="en-US" sz="2800" b="1" dirty="0"/>
              <a:t> </a:t>
            </a:r>
            <a:r>
              <a:rPr lang="en-US" sz="2800" b="1" dirty="0" err="1"/>
              <a:t>ili</a:t>
            </a:r>
            <a:r>
              <a:rPr lang="en-US" sz="2800" b="1" dirty="0"/>
              <a:t> </a:t>
            </a:r>
            <a:r>
              <a:rPr lang="en-US" sz="2800" b="1" dirty="0" err="1"/>
              <a:t>dupliciran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5. </a:t>
            </a:r>
            <a:r>
              <a:rPr lang="en-US" b="1" dirty="0" err="1">
                <a:solidFill>
                  <a:srgbClr val="0ADBBC"/>
                </a:solidFill>
              </a:rPr>
              <a:t>Poboljšava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procjenu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troškova</a:t>
            </a:r>
            <a:endParaRPr lang="en-US" b="1" dirty="0">
              <a:solidFill>
                <a:srgbClr val="0ADBBC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Svakom</a:t>
            </a:r>
            <a:r>
              <a:rPr lang="en-US" sz="2800" dirty="0"/>
              <a:t> </a:t>
            </a:r>
            <a:r>
              <a:rPr lang="en-US" sz="2800" dirty="0" err="1"/>
              <a:t>radnom</a:t>
            </a:r>
            <a:r>
              <a:rPr lang="en-US" sz="2800" dirty="0"/>
              <a:t> </a:t>
            </a:r>
            <a:r>
              <a:rPr lang="en-US" sz="2800" dirty="0" err="1"/>
              <a:t>paketu</a:t>
            </a:r>
            <a:r>
              <a:rPr lang="en-US" sz="2800" dirty="0"/>
              <a:t> </a:t>
            </a:r>
            <a:r>
              <a:rPr lang="en-US" sz="2800" dirty="0" err="1"/>
              <a:t>može</a:t>
            </a:r>
            <a:r>
              <a:rPr lang="en-US" sz="2800" dirty="0"/>
              <a:t> se </a:t>
            </a:r>
            <a:r>
              <a:rPr lang="en-US" sz="2800" dirty="0" err="1"/>
              <a:t>dodijeliti</a:t>
            </a:r>
            <a:r>
              <a:rPr lang="en-US" sz="2800" dirty="0"/>
              <a:t> </a:t>
            </a:r>
            <a:r>
              <a:rPr lang="en-US" sz="2800" b="1" dirty="0" err="1"/>
              <a:t>procjena</a:t>
            </a:r>
            <a:r>
              <a:rPr lang="en-US" sz="2800" b="1" dirty="0"/>
              <a:t> </a:t>
            </a:r>
            <a:r>
              <a:rPr lang="en-US" sz="2800" b="1" dirty="0" err="1"/>
              <a:t>troškova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/>
              <a:t>Pomaže</a:t>
            </a:r>
            <a:r>
              <a:rPr lang="en-US" sz="2800" dirty="0"/>
              <a:t> u </a:t>
            </a:r>
            <a:r>
              <a:rPr lang="en-US" sz="2800" dirty="0" err="1"/>
              <a:t>praćenju</a:t>
            </a:r>
            <a:r>
              <a:rPr lang="en-US" sz="2800" dirty="0"/>
              <a:t> </a:t>
            </a:r>
            <a:r>
              <a:rPr lang="en-US" sz="2800" b="1" dirty="0" err="1"/>
              <a:t>proračuna</a:t>
            </a:r>
            <a:r>
              <a:rPr lang="en-US" sz="2800" b="1" dirty="0"/>
              <a:t> i </a:t>
            </a:r>
            <a:r>
              <a:rPr lang="en-US" sz="2800" b="1" dirty="0" err="1"/>
              <a:t>financijskom</a:t>
            </a:r>
            <a:r>
              <a:rPr lang="en-US" sz="2800" b="1" dirty="0"/>
              <a:t> </a:t>
            </a:r>
            <a:r>
              <a:rPr lang="en-US" sz="2800" b="1" dirty="0" err="1"/>
              <a:t>planiranju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780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6788-A653-267A-3FA1-8F1D6F71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0FF1-1FB4-F10F-255A-81B6FAED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434"/>
            <a:ext cx="10515600" cy="1325563"/>
          </a:xfrm>
        </p:spPr>
        <p:txBody>
          <a:bodyPr/>
          <a:lstStyle/>
          <a:p>
            <a:r>
              <a:rPr lang="pl-PL" sz="3800" dirty="0">
                <a:latin typeface="Bahnschrift SemiBold"/>
              </a:rPr>
              <a:t>Primjer WBS-a za projekt razvoja mobilne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5BDD5-4462-F6F5-918B-C6702F3EA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506" y="1657165"/>
            <a:ext cx="10773053" cy="53110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/>
              <a:t>Razina 1: </a:t>
            </a:r>
            <a:r>
              <a:rPr lang="en-US" sz="2200" b="1" dirty="0" err="1">
                <a:solidFill>
                  <a:srgbClr val="0BDCBD"/>
                </a:solidFill>
              </a:rPr>
              <a:t>Naziv</a:t>
            </a:r>
            <a:r>
              <a:rPr lang="en-US" sz="2200" b="1" dirty="0">
                <a:solidFill>
                  <a:srgbClr val="0BDCBD"/>
                </a:solidFill>
              </a:rPr>
              <a:t> </a:t>
            </a:r>
            <a:r>
              <a:rPr lang="en-US" sz="2200" b="1" dirty="0" err="1">
                <a:solidFill>
                  <a:srgbClr val="0BDCBD"/>
                </a:solidFill>
              </a:rPr>
              <a:t>projekta</a:t>
            </a:r>
            <a:r>
              <a:rPr lang="en-US" sz="2200" b="1" dirty="0">
                <a:solidFill>
                  <a:srgbClr val="0BDCBD"/>
                </a:solidFill>
              </a:rPr>
              <a:t> </a:t>
            </a:r>
            <a:r>
              <a:rPr lang="en-US" sz="2200" b="1" dirty="0"/>
              <a:t>– </a:t>
            </a:r>
            <a:r>
              <a:rPr lang="en-US" sz="2200" b="1" dirty="0" err="1"/>
              <a:t>HealthTrack</a:t>
            </a:r>
            <a:r>
              <a:rPr lang="en-US" sz="2200" b="1" dirty="0"/>
              <a:t> </a:t>
            </a:r>
            <a:r>
              <a:rPr lang="en-US" sz="2200" b="1" dirty="0" err="1"/>
              <a:t>mobilna</a:t>
            </a:r>
            <a:r>
              <a:rPr lang="en-US" sz="2200" b="1" dirty="0"/>
              <a:t> </a:t>
            </a:r>
            <a:r>
              <a:rPr lang="en-US" sz="2200" b="1" dirty="0" err="1"/>
              <a:t>aplikacija</a:t>
            </a:r>
            <a:endParaRPr lang="en-US" sz="2200" b="1" dirty="0"/>
          </a:p>
          <a:p>
            <a:pPr>
              <a:buNone/>
            </a:pPr>
            <a:endParaRPr lang="en-US" sz="800" b="1" dirty="0"/>
          </a:p>
          <a:p>
            <a:pPr>
              <a:buNone/>
            </a:pPr>
            <a:r>
              <a:rPr lang="en-US" sz="2200" b="1" dirty="0"/>
              <a:t>Razina 2: </a:t>
            </a:r>
            <a:r>
              <a:rPr lang="en-US" sz="2200" b="1" dirty="0">
                <a:solidFill>
                  <a:srgbClr val="0BDCBD"/>
                </a:solidFill>
              </a:rPr>
              <a:t>Faze</a:t>
            </a:r>
          </a:p>
          <a:p>
            <a:pPr lvl="1">
              <a:buFontTx/>
              <a:buChar char="-"/>
            </a:pPr>
            <a:r>
              <a:rPr lang="en-US" sz="2000" dirty="0"/>
              <a:t>1.0 </a:t>
            </a:r>
            <a:r>
              <a:rPr lang="en-US" sz="2000" b="1" dirty="0"/>
              <a:t>Planiranje</a:t>
            </a:r>
            <a:endParaRPr lang="hr-HR" sz="2000" b="1" dirty="0"/>
          </a:p>
          <a:p>
            <a:pPr lvl="1">
              <a:buFontTx/>
              <a:buChar char="-"/>
            </a:pPr>
            <a:r>
              <a:rPr lang="en-US" sz="2000" dirty="0"/>
              <a:t>2.0</a:t>
            </a:r>
            <a:r>
              <a:rPr lang="en-US" sz="2000" b="1" dirty="0"/>
              <a:t> </a:t>
            </a:r>
            <a:r>
              <a:rPr lang="en-US" sz="2000" b="1" dirty="0" err="1"/>
              <a:t>Dizajn</a:t>
            </a:r>
            <a:endParaRPr lang="hr-HR" sz="2000" b="1" dirty="0"/>
          </a:p>
          <a:p>
            <a:pPr lvl="1">
              <a:buFontTx/>
              <a:buChar char="-"/>
            </a:pPr>
            <a:r>
              <a:rPr lang="en-US" sz="2000" dirty="0"/>
              <a:t>3.0 </a:t>
            </a:r>
            <a:r>
              <a:rPr lang="en-US" sz="2000" b="1" dirty="0" err="1"/>
              <a:t>Razvoj</a:t>
            </a:r>
            <a:endParaRPr lang="hr-HR" sz="2000" b="1" dirty="0"/>
          </a:p>
          <a:p>
            <a:pPr lvl="1">
              <a:buFontTx/>
              <a:buChar char="-"/>
            </a:pPr>
            <a:r>
              <a:rPr lang="en-US" sz="2000" dirty="0"/>
              <a:t>4.0</a:t>
            </a:r>
            <a:r>
              <a:rPr lang="en-US" sz="2000" b="1" dirty="0"/>
              <a:t> </a:t>
            </a:r>
            <a:r>
              <a:rPr lang="en-US" sz="2000" b="1" dirty="0" err="1"/>
              <a:t>Testiranje</a:t>
            </a:r>
            <a:r>
              <a:rPr lang="en-US" sz="2000" b="1" dirty="0"/>
              <a:t> i QA</a:t>
            </a:r>
            <a:endParaRPr lang="hr-HR" sz="2000" b="1" dirty="0"/>
          </a:p>
          <a:p>
            <a:pPr lvl="1">
              <a:buFontTx/>
              <a:buChar char="-"/>
            </a:pPr>
            <a:r>
              <a:rPr lang="en-US" sz="2000" dirty="0"/>
              <a:t>5.0</a:t>
            </a:r>
            <a:r>
              <a:rPr lang="en-US" sz="2000" b="1" dirty="0"/>
              <a:t> </a:t>
            </a:r>
            <a:r>
              <a:rPr lang="en-US" sz="2000" b="1" dirty="0" err="1"/>
              <a:t>Lansiranje</a:t>
            </a:r>
            <a:r>
              <a:rPr lang="en-US" sz="2000" b="1" dirty="0"/>
              <a:t> i </a:t>
            </a:r>
            <a:r>
              <a:rPr lang="en-US" sz="2000" b="1" dirty="0" err="1"/>
              <a:t>implementacija</a:t>
            </a:r>
            <a:endParaRPr lang="en-US" sz="2000" b="1" dirty="0"/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200" b="1" dirty="0"/>
              <a:t>Razina 3: </a:t>
            </a:r>
            <a:r>
              <a:rPr lang="en-US" sz="2200" b="1" dirty="0" err="1">
                <a:solidFill>
                  <a:srgbClr val="0BDCBD"/>
                </a:solidFill>
              </a:rPr>
              <a:t>Zadaci</a:t>
            </a:r>
            <a:r>
              <a:rPr lang="en-US" sz="2200" b="1" dirty="0">
                <a:solidFill>
                  <a:srgbClr val="0BDCBD"/>
                </a:solidFill>
              </a:rPr>
              <a:t> za </a:t>
            </a:r>
            <a:r>
              <a:rPr lang="en-US" sz="2200" b="1" dirty="0" err="1">
                <a:solidFill>
                  <a:srgbClr val="0BDCBD"/>
                </a:solidFill>
              </a:rPr>
              <a:t>svaku</a:t>
            </a:r>
            <a:r>
              <a:rPr lang="en-US" sz="2200" b="1" dirty="0">
                <a:solidFill>
                  <a:srgbClr val="0BDCBD"/>
                </a:solidFill>
              </a:rPr>
              <a:t> </a:t>
            </a:r>
            <a:r>
              <a:rPr lang="en-US" sz="2200" b="1" dirty="0" err="1">
                <a:solidFill>
                  <a:srgbClr val="0BDCBD"/>
                </a:solidFill>
              </a:rPr>
              <a:t>fazu</a:t>
            </a:r>
            <a:endParaRPr lang="en-US" sz="2200" b="1" dirty="0">
              <a:solidFill>
                <a:srgbClr val="0BDCBD"/>
              </a:solidFill>
            </a:endParaRPr>
          </a:p>
          <a:p>
            <a:pPr lvl="1">
              <a:buNone/>
            </a:pPr>
            <a:r>
              <a:rPr lang="hr-HR" sz="2000" dirty="0"/>
              <a:t>- </a:t>
            </a:r>
            <a:r>
              <a:rPr lang="en-US" sz="2000" dirty="0"/>
              <a:t>2.0 </a:t>
            </a:r>
            <a:r>
              <a:rPr lang="en-US" sz="2000" dirty="0" err="1"/>
              <a:t>Dizajn</a:t>
            </a:r>
            <a:endParaRPr lang="en-US" sz="2000" dirty="0"/>
          </a:p>
          <a:p>
            <a:pPr lvl="1">
              <a:buNone/>
            </a:pPr>
            <a:r>
              <a:rPr lang="hr-HR" sz="2000" dirty="0"/>
              <a:t>- </a:t>
            </a:r>
            <a:r>
              <a:rPr lang="en-US" sz="2000" dirty="0"/>
              <a:t>2.1 </a:t>
            </a:r>
            <a:r>
              <a:rPr lang="en-US" sz="2000" dirty="0" err="1"/>
              <a:t>Izrada</a:t>
            </a:r>
            <a:r>
              <a:rPr lang="en-US" sz="2000" dirty="0"/>
              <a:t> </a:t>
            </a:r>
            <a:r>
              <a:rPr lang="en-US" sz="2000" dirty="0" err="1"/>
              <a:t>wireframeova</a:t>
            </a:r>
            <a:endParaRPr lang="en-US" sz="2000" dirty="0"/>
          </a:p>
          <a:p>
            <a:pPr lvl="1">
              <a:buNone/>
            </a:pPr>
            <a:r>
              <a:rPr lang="hr-HR" sz="2000" dirty="0"/>
              <a:t>- </a:t>
            </a:r>
            <a:r>
              <a:rPr lang="en-US" sz="2000" dirty="0"/>
              <a:t>2.2 </a:t>
            </a:r>
            <a:r>
              <a:rPr lang="en-US" sz="2000" dirty="0" err="1"/>
              <a:t>Razvoj</a:t>
            </a:r>
            <a:r>
              <a:rPr lang="en-US" sz="2000" dirty="0"/>
              <a:t> UI/UX </a:t>
            </a:r>
            <a:r>
              <a:rPr lang="en-US" sz="2000" dirty="0" err="1"/>
              <a:t>prototipa</a:t>
            </a:r>
            <a:endParaRPr lang="en-US" sz="2000" dirty="0"/>
          </a:p>
          <a:p>
            <a:pPr lvl="1">
              <a:buNone/>
            </a:pPr>
            <a:r>
              <a:rPr lang="hr-HR" sz="2000" dirty="0"/>
              <a:t>- </a:t>
            </a:r>
            <a:r>
              <a:rPr lang="en-US" sz="2000" dirty="0"/>
              <a:t>2.3 </a:t>
            </a:r>
            <a:r>
              <a:rPr lang="en-US" sz="2000" dirty="0" err="1"/>
              <a:t>Dobivanje</a:t>
            </a:r>
            <a:r>
              <a:rPr lang="en-US" sz="2000" dirty="0"/>
              <a:t> </a:t>
            </a:r>
            <a:r>
              <a:rPr lang="en-US" sz="2000" dirty="0" err="1"/>
              <a:t>odobrenja</a:t>
            </a:r>
            <a:r>
              <a:rPr lang="en-US" sz="2000" dirty="0"/>
              <a:t> </a:t>
            </a:r>
            <a:r>
              <a:rPr lang="en-US" sz="2000" dirty="0" err="1"/>
              <a:t>dionika</a:t>
            </a:r>
            <a:endParaRPr lang="en-US" sz="2000" b="1" dirty="0"/>
          </a:p>
          <a:p>
            <a:pPr>
              <a:buNone/>
            </a:pPr>
            <a:r>
              <a:rPr lang="en-US" sz="2200" dirty="0"/>
              <a:t>Ova </a:t>
            </a:r>
            <a:r>
              <a:rPr lang="en-US" sz="2200" dirty="0" err="1"/>
              <a:t>struktura</a:t>
            </a:r>
            <a:r>
              <a:rPr lang="en-US" sz="2200" dirty="0"/>
              <a:t> </a:t>
            </a:r>
            <a:r>
              <a:rPr lang="en-US" sz="2200" dirty="0" err="1"/>
              <a:t>pomaže</a:t>
            </a:r>
            <a:r>
              <a:rPr lang="en-US" sz="2200" dirty="0"/>
              <a:t> </a:t>
            </a:r>
            <a:r>
              <a:rPr lang="en-US" sz="2200" dirty="0" err="1"/>
              <a:t>razložiti</a:t>
            </a:r>
            <a:r>
              <a:rPr lang="en-US" sz="2200" dirty="0"/>
              <a:t> rad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b="1" dirty="0" err="1"/>
              <a:t>jasne</a:t>
            </a:r>
            <a:r>
              <a:rPr lang="en-US" sz="2200" b="1" dirty="0"/>
              <a:t> i </a:t>
            </a:r>
            <a:r>
              <a:rPr lang="en-US" sz="2200" b="1" dirty="0" err="1"/>
              <a:t>provedive</a:t>
            </a:r>
            <a:r>
              <a:rPr lang="en-US" sz="2200" b="1" dirty="0"/>
              <a:t> </a:t>
            </a:r>
            <a:r>
              <a:rPr lang="en-US" sz="2200" b="1" dirty="0" err="1"/>
              <a:t>zadatke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5585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843F-4CBD-EBE4-5840-319F023C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E7F3-A6A1-C0DD-07FA-78D859A6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800" dirty="0">
                <a:latin typeface="Bahnschrift SemiBold"/>
              </a:rPr>
              <a:t>Vježba</a:t>
            </a:r>
            <a:r>
              <a:rPr lang="en-US" sz="3800" dirty="0">
                <a:latin typeface="Bahnschrift SemiBold"/>
              </a:rPr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C401-7144-13F1-D7B4-6C51C79E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94" y="1690688"/>
            <a:ext cx="10867480" cy="5320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26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Izraditi WBS za sljedeći hipotetski projekt:</a:t>
            </a:r>
          </a:p>
          <a:p>
            <a:pPr marL="0" indent="0">
              <a:buNone/>
            </a:pPr>
            <a:endParaRPr lang="en-GB" sz="2600" dirty="0">
              <a:effectLst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Rezervirano mjesto sadržaja 2">
            <a:extLst>
              <a:ext uri="{FF2B5EF4-FFF2-40B4-BE49-F238E27FC236}">
                <a16:creationId xmlns:a16="http://schemas.microsoft.com/office/drawing/2014/main" id="{609F3D55-1C7C-B2A6-8D51-83C0DD4153E0}"/>
              </a:ext>
            </a:extLst>
          </p:cNvPr>
          <p:cNvSpPr>
            <a:spLocks noGrp="1"/>
          </p:cNvSpPr>
          <p:nvPr/>
        </p:nvSpPr>
        <p:spPr>
          <a:xfrm>
            <a:off x="213456" y="2345855"/>
            <a:ext cx="11978544" cy="38471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200" b="1" dirty="0">
                <a:solidFill>
                  <a:srgbClr val="0ADBBC"/>
                </a:solidFill>
              </a:rPr>
              <a:t>Obrazovna platforma </a:t>
            </a:r>
            <a:r>
              <a:rPr lang="hr-HR" sz="2200" b="1" dirty="0" err="1">
                <a:solidFill>
                  <a:srgbClr val="0ADBBC"/>
                </a:solidFill>
              </a:rPr>
              <a:t>CraftEase</a:t>
            </a:r>
            <a:r>
              <a:rPr lang="hr-HR" sz="2200" b="1" dirty="0">
                <a:solidFill>
                  <a:srgbClr val="0ADBBC"/>
                </a:solidFill>
              </a:rPr>
              <a:t> za DIY („uradi sam”) projekte;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Proračun: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50.000 – 100.000 EUR;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Vremenski okvir: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6 mjeseci;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Zadatak: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oni su voditelji projekta (PM) u IT tvrtki koja isporučuje digitalno rješenje za maloprodajnog klijenta;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Klijent: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trgovina koja prodaje materijale (Bauhaus, Brico ili slično – električni materijal, DIY, građevinski materijal);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Tim: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može imati 5 članova;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Tvrtka: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20 zaposlenika, uključujući developere, UX/IX dizajnere, financijski i ugovorni odjel, grafičke dizajnere, bez poslovnog analitičara;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Zahtjevi klijenta: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web platforma, korisnički račun (login), multimedijalni DIY </a:t>
            </a:r>
            <a:r>
              <a:rPr kumimoji="0" lang="hr-H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tutorijali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, opcija sviđanja/nesviđanja </a:t>
            </a:r>
            <a:r>
              <a:rPr kumimoji="0" lang="hr-H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tutorijala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, prijava na radionice;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hr-H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Uloge na platformi: 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korisnik platforme (gleda izrađene DIY projekte), zaposlenik trgovine (izrađuje DIY </a:t>
            </a:r>
            <a:r>
              <a:rPr kumimoji="0" lang="hr-H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tutorijale</a:t>
            </a:r>
            <a:r>
              <a:rPr kumimoji="0" lang="hr-H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Bahnschrift SemiLight"/>
                <a:ea typeface="+mn-ea"/>
                <a:cs typeface="+mn-cs"/>
              </a:rPr>
              <a:t>/videozapise),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403196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FB60F-E165-00F9-C70C-3C596F96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EDC1ADE4-9866-7957-2829-B5C82792D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881" y="2136322"/>
            <a:ext cx="9144000" cy="2387600"/>
          </a:xfrm>
        </p:spPr>
        <p:txBody>
          <a:bodyPr>
            <a:normAutofit/>
          </a:bodyPr>
          <a:lstStyle/>
          <a:p>
            <a:r>
              <a:rPr lang="hr-HR" b="1" dirty="0">
                <a:solidFill>
                  <a:prstClr val="black"/>
                </a:solidFill>
              </a:rPr>
              <a:t>PLANIRANJE RADA</a:t>
            </a:r>
            <a:br>
              <a:rPr lang="en-US" sz="4800" b="1" dirty="0">
                <a:latin typeface="Bahnschrift SemiLight" panose="020B0502040204020203" pitchFamily="34" charset="0"/>
              </a:rPr>
            </a:br>
            <a:endParaRPr lang="hr-HR" sz="4800" dirty="0">
              <a:latin typeface="Bahnschrift SemiLight" panose="020B0502040204020203" pitchFamily="34" charset="0"/>
            </a:endParaRPr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0096569F-D19E-122C-B9EE-DB1BC696439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62768" y="4372357"/>
            <a:ext cx="9420225" cy="108902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Utjecaj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dostupnosti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resursa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na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rasporede</a:t>
            </a:r>
            <a:endParaRPr lang="en-US" sz="3600" dirty="0">
              <a:latin typeface="Bahnschrift" panose="020B050204020402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57778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4ECC-B6FA-00A2-4130-12A2F154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F493-2A63-41A7-266C-73CE1A27E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083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Ključna </a:t>
            </a:r>
            <a:r>
              <a:rPr lang="en-US" sz="3800" dirty="0" err="1">
                <a:latin typeface="Bahnschrift SemiBold"/>
              </a:rPr>
              <a:t>terminologija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vezana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uz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raspoređivanje</a:t>
            </a:r>
            <a:r>
              <a:rPr lang="en-US" sz="3800" dirty="0">
                <a:latin typeface="Bahnschrift SemiBold"/>
              </a:rPr>
              <a:t> u </a:t>
            </a:r>
            <a:r>
              <a:rPr lang="en-US" sz="3800" dirty="0" err="1">
                <a:latin typeface="Bahnschrift SemiBold"/>
              </a:rPr>
              <a:t>upravljanju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projektima</a:t>
            </a:r>
            <a:r>
              <a:rPr lang="hr-HR" sz="3800" dirty="0">
                <a:latin typeface="Bahnschrift SemiBold"/>
              </a:rPr>
              <a:t> </a:t>
            </a:r>
            <a:r>
              <a:rPr lang="en-US" sz="3800" dirty="0">
                <a:latin typeface="Bahnschrift SemiBold"/>
              </a:rPr>
              <a:t>I.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18F1C-9EF2-9B40-5564-E2B7A297C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06" y="2060757"/>
            <a:ext cx="10996748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Raspored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Detaljan </a:t>
            </a:r>
            <a:r>
              <a:rPr lang="en-US" sz="2400" dirty="0" err="1"/>
              <a:t>vremenski</a:t>
            </a:r>
            <a:r>
              <a:rPr lang="en-US" sz="2400" dirty="0"/>
              <a:t> plan koji </a:t>
            </a:r>
            <a:r>
              <a:rPr lang="en-US" sz="2400" dirty="0" err="1"/>
              <a:t>prikazuje</a:t>
            </a:r>
            <a:r>
              <a:rPr lang="en-US" sz="2400" dirty="0"/>
              <a:t> </a:t>
            </a:r>
            <a:r>
              <a:rPr lang="en-US" sz="2400" dirty="0" err="1"/>
              <a:t>kada</a:t>
            </a:r>
            <a:r>
              <a:rPr lang="en-US" sz="2400" dirty="0"/>
              <a:t> </a:t>
            </a:r>
            <a:r>
              <a:rPr lang="en-US" sz="2400" dirty="0" err="1"/>
              <a:t>će</a:t>
            </a:r>
            <a:r>
              <a:rPr lang="en-US" sz="2400" dirty="0"/>
              <a:t> se </a:t>
            </a:r>
            <a:r>
              <a:rPr lang="en-US" sz="2400" dirty="0" err="1"/>
              <a:t>projektni</a:t>
            </a:r>
            <a:r>
              <a:rPr lang="en-US" sz="2400" dirty="0"/>
              <a:t> </a:t>
            </a:r>
            <a:r>
              <a:rPr lang="en-US" sz="2400" dirty="0" err="1"/>
              <a:t>zadaci</a:t>
            </a:r>
            <a:r>
              <a:rPr lang="en-US" sz="2400" dirty="0"/>
              <a:t> i </a:t>
            </a:r>
            <a:r>
              <a:rPr lang="en-US" sz="2400" dirty="0" err="1"/>
              <a:t>ključne</a:t>
            </a:r>
            <a:r>
              <a:rPr lang="en-US" sz="2400" dirty="0"/>
              <a:t> </a:t>
            </a:r>
            <a:r>
              <a:rPr lang="en-US" sz="2400" dirty="0" err="1"/>
              <a:t>etape</a:t>
            </a:r>
            <a:r>
              <a:rPr lang="en-US" sz="2400" dirty="0"/>
              <a:t> </a:t>
            </a:r>
            <a:r>
              <a:rPr lang="en-US" sz="2400" dirty="0" err="1"/>
              <a:t>dovršiti</a:t>
            </a:r>
            <a:r>
              <a:rPr lang="hr-HR" sz="2400" dirty="0"/>
              <a:t>.</a:t>
            </a:r>
            <a:endParaRPr lang="en-US" sz="2400" dirty="0"/>
          </a:p>
          <a:p>
            <a:pPr marL="0" indent="0">
              <a:buNone/>
            </a:pPr>
            <a:r>
              <a:rPr lang="hr-HR" sz="2400" b="1" dirty="0"/>
              <a:t>Primjer</a:t>
            </a:r>
            <a:r>
              <a:rPr lang="en-US" sz="2400" b="1" dirty="0"/>
              <a:t>:</a:t>
            </a:r>
            <a:r>
              <a:rPr lang="en-US" sz="2400" dirty="0"/>
              <a:t> Projekt </a:t>
            </a:r>
            <a:r>
              <a:rPr lang="en-US" sz="2400" dirty="0" err="1"/>
              <a:t>razvoja</a:t>
            </a:r>
            <a:r>
              <a:rPr lang="en-US" sz="2400" dirty="0"/>
              <a:t> </a:t>
            </a:r>
            <a:r>
              <a:rPr lang="en-US" sz="2400" dirty="0" err="1"/>
              <a:t>softvera</a:t>
            </a:r>
            <a:r>
              <a:rPr lang="en-US" sz="2400" dirty="0"/>
              <a:t> </a:t>
            </a:r>
            <a:r>
              <a:rPr lang="en-US" sz="2400" dirty="0" err="1"/>
              <a:t>ima</a:t>
            </a:r>
            <a:r>
              <a:rPr lang="en-US" sz="2400" dirty="0"/>
              <a:t> </a:t>
            </a:r>
            <a:r>
              <a:rPr lang="en-US" sz="2400" b="1" dirty="0" err="1"/>
              <a:t>raspored</a:t>
            </a:r>
            <a:r>
              <a:rPr lang="en-US" sz="2400" b="1" dirty="0"/>
              <a:t> od 6 </a:t>
            </a:r>
            <a:r>
              <a:rPr lang="en-US" sz="2400" b="1" dirty="0" err="1"/>
              <a:t>mjeseci</a:t>
            </a:r>
            <a:r>
              <a:rPr lang="en-US" sz="2400" dirty="0"/>
              <a:t>, s </a:t>
            </a:r>
            <a:r>
              <a:rPr lang="en-US" sz="2400" dirty="0" err="1"/>
              <a:t>ključnim</a:t>
            </a:r>
            <a:r>
              <a:rPr lang="en-US" sz="2400" dirty="0"/>
              <a:t> </a:t>
            </a:r>
            <a:r>
              <a:rPr lang="en-US" sz="2400" dirty="0" err="1"/>
              <a:t>etapama</a:t>
            </a:r>
            <a:r>
              <a:rPr lang="en-US" sz="2400" dirty="0"/>
              <a:t> za </a:t>
            </a:r>
            <a:r>
              <a:rPr lang="en-US" sz="2400" dirty="0" err="1"/>
              <a:t>dizajn</a:t>
            </a:r>
            <a:r>
              <a:rPr lang="en-US" sz="2400" dirty="0"/>
              <a:t>, </a:t>
            </a:r>
            <a:r>
              <a:rPr lang="en-US" sz="2400" dirty="0" err="1"/>
              <a:t>razvoj</a:t>
            </a:r>
            <a:r>
              <a:rPr lang="en-US" sz="2400" dirty="0"/>
              <a:t> i </a:t>
            </a:r>
            <a:r>
              <a:rPr lang="en-US" sz="2400" dirty="0" err="1"/>
              <a:t>testiranje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Ključna </a:t>
            </a:r>
            <a:r>
              <a:rPr lang="en-US" sz="2400" b="1" dirty="0" err="1">
                <a:solidFill>
                  <a:srgbClr val="0ADBBC"/>
                </a:solidFill>
              </a:rPr>
              <a:t>etapa</a:t>
            </a:r>
            <a:r>
              <a:rPr lang="en-US" sz="2400" b="1" dirty="0">
                <a:solidFill>
                  <a:srgbClr val="0ADBBC"/>
                </a:solidFill>
              </a:rPr>
              <a:t> (milestone)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Značajan </a:t>
            </a:r>
            <a:r>
              <a:rPr lang="en-US" sz="2400" dirty="0" err="1"/>
              <a:t>događaj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postignuće</a:t>
            </a:r>
            <a:r>
              <a:rPr lang="en-US" sz="2400" dirty="0"/>
              <a:t> u </a:t>
            </a:r>
            <a:r>
              <a:rPr lang="en-US" sz="2400" dirty="0" err="1"/>
              <a:t>vremenskom</a:t>
            </a:r>
            <a:r>
              <a:rPr lang="en-US" sz="2400" dirty="0"/>
              <a:t> </a:t>
            </a:r>
            <a:r>
              <a:rPr lang="en-US" sz="2400" dirty="0" err="1"/>
              <a:t>planu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hr-HR" sz="2400" b="1" dirty="0"/>
              <a:t>Primjer</a:t>
            </a:r>
            <a:r>
              <a:rPr lang="en-US" sz="2400" b="1" dirty="0"/>
              <a:t>:</a:t>
            </a:r>
            <a:r>
              <a:rPr lang="en-US" sz="2400" dirty="0"/>
              <a:t> „</a:t>
            </a:r>
            <a:r>
              <a:rPr lang="en-US" sz="2400" dirty="0" err="1"/>
              <a:t>Prototip</a:t>
            </a:r>
            <a:r>
              <a:rPr lang="en-US" sz="2400" dirty="0"/>
              <a:t> </a:t>
            </a:r>
            <a:r>
              <a:rPr lang="en-US" sz="2400" dirty="0" err="1"/>
              <a:t>dovršen</a:t>
            </a:r>
            <a:r>
              <a:rPr lang="en-US" sz="2400" dirty="0"/>
              <a:t>”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kraju</a:t>
            </a:r>
            <a:r>
              <a:rPr lang="en-US" sz="2400" dirty="0"/>
              <a:t> </a:t>
            </a:r>
            <a:r>
              <a:rPr lang="en-US" sz="2400" b="1" dirty="0"/>
              <a:t>2. </a:t>
            </a:r>
            <a:r>
              <a:rPr lang="en-US" sz="2400" b="1" dirty="0" err="1"/>
              <a:t>mjeseca</a:t>
            </a:r>
            <a:r>
              <a:rPr lang="en-US" sz="2400" dirty="0"/>
              <a:t> </a:t>
            </a:r>
            <a:r>
              <a:rPr lang="en-US" sz="2400" dirty="0" err="1"/>
              <a:t>predstavlja</a:t>
            </a:r>
            <a:r>
              <a:rPr lang="en-US" sz="2400" dirty="0"/>
              <a:t> </a:t>
            </a:r>
            <a:r>
              <a:rPr lang="en-US" sz="2400" dirty="0" err="1"/>
              <a:t>ključnu</a:t>
            </a:r>
            <a:r>
              <a:rPr lang="en-US" sz="2400" dirty="0"/>
              <a:t> </a:t>
            </a:r>
            <a:r>
              <a:rPr lang="en-US" sz="2400" dirty="0" err="1"/>
              <a:t>etapu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3811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3A9F-504B-9500-7141-C7237793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B260-62C4-D0E6-09A2-F3FD6C3E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083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Ključna </a:t>
            </a:r>
            <a:r>
              <a:rPr lang="en-US" sz="3800" dirty="0" err="1">
                <a:latin typeface="Bahnschrift SemiBold"/>
              </a:rPr>
              <a:t>terminologija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vezana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uz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raspoređivanje</a:t>
            </a:r>
            <a:r>
              <a:rPr lang="en-US" sz="3800" dirty="0">
                <a:latin typeface="Bahnschrift SemiBold"/>
              </a:rPr>
              <a:t> u </a:t>
            </a:r>
            <a:r>
              <a:rPr lang="en-US" sz="3800" dirty="0" err="1">
                <a:latin typeface="Bahnschrift SemiBold"/>
              </a:rPr>
              <a:t>upravljanju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projektima</a:t>
            </a:r>
            <a:r>
              <a:rPr lang="en-US" sz="3800" dirty="0">
                <a:latin typeface="Bahnschrift SemiBold"/>
              </a:rPr>
              <a:t> II.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E5C6-7134-9A98-1638-0D0130523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09" y="1812562"/>
            <a:ext cx="10957164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Osnovni</a:t>
            </a:r>
            <a:r>
              <a:rPr lang="en-US" sz="2400" b="1" dirty="0">
                <a:solidFill>
                  <a:srgbClr val="0ADBBC"/>
                </a:solidFill>
              </a:rPr>
              <a:t> (</a:t>
            </a:r>
            <a:r>
              <a:rPr lang="en-US" sz="2400" b="1" dirty="0" err="1">
                <a:solidFill>
                  <a:srgbClr val="0ADBBC"/>
                </a:solidFill>
              </a:rPr>
              <a:t>bazni</a:t>
            </a:r>
            <a:r>
              <a:rPr lang="en-US" sz="2400" b="1" dirty="0">
                <a:solidFill>
                  <a:srgbClr val="0ADBBC"/>
                </a:solidFill>
              </a:rPr>
              <a:t>) </a:t>
            </a:r>
            <a:r>
              <a:rPr lang="en-US" sz="2400" b="1" dirty="0" err="1">
                <a:solidFill>
                  <a:srgbClr val="0ADBBC"/>
                </a:solidFill>
              </a:rPr>
              <a:t>raspored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/>
              <a:t>Izvorni</a:t>
            </a:r>
            <a:r>
              <a:rPr lang="en-US" sz="2400" dirty="0"/>
              <a:t> </a:t>
            </a:r>
            <a:r>
              <a:rPr lang="en-US" sz="2400" b="1" dirty="0" err="1"/>
              <a:t>odobreni</a:t>
            </a:r>
            <a:r>
              <a:rPr lang="en-US" sz="2400" dirty="0"/>
              <a:t> </a:t>
            </a:r>
            <a:r>
              <a:rPr lang="en-US" sz="2400" dirty="0" err="1"/>
              <a:t>raspored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 koji se </a:t>
            </a:r>
            <a:r>
              <a:rPr lang="en-US" sz="2400" dirty="0" err="1"/>
              <a:t>koristi</a:t>
            </a:r>
            <a:r>
              <a:rPr lang="en-US" sz="2400" dirty="0"/>
              <a:t> za </a:t>
            </a:r>
            <a:r>
              <a:rPr lang="en-US" sz="2400" dirty="0" err="1"/>
              <a:t>praćenje</a:t>
            </a:r>
            <a:r>
              <a:rPr lang="en-US" sz="2400" dirty="0"/>
              <a:t> </a:t>
            </a:r>
            <a:r>
              <a:rPr lang="en-US" sz="2400" dirty="0" err="1"/>
              <a:t>napretka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Primjer: </a:t>
            </a:r>
            <a:r>
              <a:rPr lang="en-US" sz="2400" dirty="0" err="1"/>
              <a:t>Osnovni</a:t>
            </a:r>
            <a:r>
              <a:rPr lang="en-US" sz="2400" dirty="0"/>
              <a:t> </a:t>
            </a:r>
            <a:r>
              <a:rPr lang="en-US" sz="2400" b="1" dirty="0" err="1"/>
              <a:t>raspored</a:t>
            </a:r>
            <a:r>
              <a:rPr lang="en-US" sz="2400" b="1" dirty="0"/>
              <a:t> </a:t>
            </a:r>
            <a:r>
              <a:rPr lang="en-US" sz="2400" b="1" dirty="0" err="1"/>
              <a:t>projekta</a:t>
            </a:r>
            <a:r>
              <a:rPr lang="en-US" sz="2400" b="1" dirty="0"/>
              <a:t> </a:t>
            </a:r>
            <a:r>
              <a:rPr lang="en-US" sz="2400" dirty="0" err="1"/>
              <a:t>predviđa</a:t>
            </a:r>
            <a:r>
              <a:rPr lang="en-US" sz="2400" dirty="0"/>
              <a:t> datum </a:t>
            </a:r>
            <a:r>
              <a:rPr lang="en-US" sz="2400" dirty="0" err="1"/>
              <a:t>lansiranja</a:t>
            </a:r>
            <a:r>
              <a:rPr lang="en-US" sz="2400" dirty="0"/>
              <a:t> </a:t>
            </a:r>
            <a:r>
              <a:rPr lang="en-US" sz="2400" b="1" dirty="0"/>
              <a:t>1. </a:t>
            </a:r>
            <a:r>
              <a:rPr lang="en-US" sz="2400" b="1" dirty="0" err="1"/>
              <a:t>prosinca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Raspodjela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resursa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/>
              <a:t>Dodjeljivanje</a:t>
            </a:r>
            <a:r>
              <a:rPr lang="en-US" sz="2400" dirty="0"/>
              <a:t> </a:t>
            </a:r>
            <a:r>
              <a:rPr lang="en-US" sz="2400" dirty="0" err="1"/>
              <a:t>dostupnih</a:t>
            </a:r>
            <a:r>
              <a:rPr lang="en-US" sz="2400" dirty="0"/>
              <a:t> </a:t>
            </a:r>
            <a:r>
              <a:rPr lang="en-US" sz="2400" dirty="0" err="1"/>
              <a:t>članova</a:t>
            </a:r>
            <a:r>
              <a:rPr lang="en-US" sz="2400" dirty="0"/>
              <a:t> </a:t>
            </a:r>
            <a:r>
              <a:rPr lang="en-US" sz="2400" dirty="0" err="1"/>
              <a:t>tima</a:t>
            </a:r>
            <a:r>
              <a:rPr lang="en-US" sz="2400" dirty="0"/>
              <a:t>, alata i </a:t>
            </a:r>
            <a:r>
              <a:rPr lang="en-US" sz="2400" dirty="0" err="1"/>
              <a:t>proračuna</a:t>
            </a:r>
            <a:r>
              <a:rPr lang="en-US" sz="2400" dirty="0"/>
              <a:t> </a:t>
            </a:r>
            <a:r>
              <a:rPr lang="en-US" sz="2400" dirty="0" err="1"/>
              <a:t>određenim</a:t>
            </a:r>
            <a:r>
              <a:rPr lang="hr-HR" sz="2400" dirty="0"/>
              <a:t> </a:t>
            </a:r>
            <a:r>
              <a:rPr lang="en-US" sz="2400" dirty="0" err="1"/>
              <a:t>zadacima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Primjer: </a:t>
            </a:r>
            <a:r>
              <a:rPr lang="en-US" sz="2400" b="1" dirty="0" err="1"/>
              <a:t>Dva</a:t>
            </a:r>
            <a:r>
              <a:rPr lang="en-US" sz="2400" b="1" dirty="0"/>
              <a:t> </a:t>
            </a:r>
            <a:r>
              <a:rPr lang="en-US" sz="2400" b="1" dirty="0" err="1"/>
              <a:t>developera</a:t>
            </a:r>
            <a:r>
              <a:rPr lang="en-US" sz="2400" b="1" dirty="0"/>
              <a:t> </a:t>
            </a:r>
            <a:r>
              <a:rPr lang="en-US" sz="2400" dirty="0" err="1"/>
              <a:t>dodijeljena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modulu</a:t>
            </a:r>
            <a:r>
              <a:rPr lang="en-US" sz="2400" dirty="0"/>
              <a:t> „</a:t>
            </a:r>
            <a:r>
              <a:rPr lang="en-US" sz="2400" dirty="0" err="1"/>
              <a:t>Autentifikacija</a:t>
            </a:r>
            <a:r>
              <a:rPr lang="en-US" sz="2400" dirty="0"/>
              <a:t> </a:t>
            </a:r>
            <a:r>
              <a:rPr lang="en-US" sz="2400" dirty="0" err="1"/>
              <a:t>korisnika</a:t>
            </a:r>
            <a:r>
              <a:rPr lang="en-US" sz="2400" dirty="0"/>
              <a:t>“.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7371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3D28B-0A2A-F1C8-FE3A-A8E9B235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B68D-8E33-B2D2-7321-33A1106E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17" y="208371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Ključna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terminologija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vezana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uz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raspoređivanje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u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upravljanju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projektima</a:t>
            </a:r>
            <a:r>
              <a:rPr kumimoji="0" lang="hr-H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 </a:t>
            </a:r>
            <a:r>
              <a:rPr lang="en-US" sz="3800" dirty="0">
                <a:latin typeface="Bahnschrift SemiBold"/>
              </a:rPr>
              <a:t>III.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F20D9-DEEE-668F-C426-873B2C32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766643"/>
            <a:ext cx="1139952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ADBBC"/>
                </a:solidFill>
              </a:rPr>
              <a:t>Vremenski </a:t>
            </a:r>
            <a:r>
              <a:rPr lang="en-US" sz="2000" b="1" dirty="0" err="1">
                <a:solidFill>
                  <a:srgbClr val="0ADBBC"/>
                </a:solidFill>
              </a:rPr>
              <a:t>preklop</a:t>
            </a:r>
            <a:r>
              <a:rPr lang="en-US" sz="2000" b="1" dirty="0">
                <a:solidFill>
                  <a:srgbClr val="0ADBBC"/>
                </a:solidFill>
              </a:rPr>
              <a:t> (Lead Time)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err="1"/>
              <a:t>Količina</a:t>
            </a:r>
            <a:r>
              <a:rPr lang="en-US" sz="2000" dirty="0"/>
              <a:t> </a:t>
            </a:r>
            <a:r>
              <a:rPr lang="en-US" sz="2000" dirty="0" err="1"/>
              <a:t>vremena</a:t>
            </a:r>
            <a:r>
              <a:rPr lang="en-US" sz="2000" dirty="0"/>
              <a:t> za </a:t>
            </a:r>
            <a:r>
              <a:rPr lang="en-US" sz="2000" dirty="0" err="1"/>
              <a:t>koju</a:t>
            </a:r>
            <a:r>
              <a:rPr lang="en-US" sz="2000" dirty="0"/>
              <a:t> </a:t>
            </a:r>
            <a:r>
              <a:rPr lang="en-US" sz="2000" dirty="0" err="1"/>
              <a:t>sljedeći</a:t>
            </a:r>
            <a:r>
              <a:rPr lang="en-US" sz="2000" dirty="0"/>
              <a:t> </a:t>
            </a:r>
            <a:r>
              <a:rPr lang="en-US" sz="2000" dirty="0" err="1"/>
              <a:t>zadatak</a:t>
            </a:r>
            <a:r>
              <a:rPr lang="en-US" sz="2000" dirty="0"/>
              <a:t> </a:t>
            </a:r>
            <a:r>
              <a:rPr lang="en-US" sz="2000" dirty="0" err="1"/>
              <a:t>može</a:t>
            </a:r>
            <a:r>
              <a:rPr lang="en-US" sz="2000" dirty="0"/>
              <a:t> </a:t>
            </a:r>
            <a:r>
              <a:rPr lang="en-US" sz="2000" dirty="0" err="1"/>
              <a:t>započeti</a:t>
            </a:r>
            <a:r>
              <a:rPr lang="en-US" sz="2000" dirty="0"/>
              <a:t> </a:t>
            </a:r>
            <a:r>
              <a:rPr lang="en-US" sz="2000" dirty="0" err="1"/>
              <a:t>prije</a:t>
            </a:r>
            <a:r>
              <a:rPr lang="en-US" sz="2000" dirty="0"/>
              <a:t> </a:t>
            </a:r>
            <a:r>
              <a:rPr lang="en-US" sz="2000" dirty="0" err="1"/>
              <a:t>nego</a:t>
            </a:r>
            <a:r>
              <a:rPr lang="en-US" sz="2000" dirty="0"/>
              <a:t> </a:t>
            </a:r>
            <a:r>
              <a:rPr lang="en-US" sz="2000" dirty="0" err="1"/>
              <a:t>što</a:t>
            </a:r>
            <a:r>
              <a:rPr lang="en-US" sz="2000" dirty="0"/>
              <a:t> </a:t>
            </a:r>
            <a:r>
              <a:rPr lang="en-US" sz="2000" dirty="0" err="1"/>
              <a:t>prethodni</a:t>
            </a:r>
            <a:r>
              <a:rPr lang="en-US" sz="2000" dirty="0"/>
              <a:t> </a:t>
            </a:r>
            <a:r>
              <a:rPr lang="en-US" sz="2000" dirty="0" err="1"/>
              <a:t>završi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Primjer: </a:t>
            </a:r>
            <a:r>
              <a:rPr lang="en-US" sz="2000" dirty="0"/>
              <a:t>U </a:t>
            </a:r>
            <a:r>
              <a:rPr lang="en-US" sz="2000" dirty="0" err="1"/>
              <a:t>projektu</a:t>
            </a:r>
            <a:r>
              <a:rPr lang="en-US" sz="2000" dirty="0"/>
              <a:t> </a:t>
            </a:r>
            <a:r>
              <a:rPr lang="en-US" sz="2000" dirty="0" err="1"/>
              <a:t>izdavanja</a:t>
            </a:r>
            <a:r>
              <a:rPr lang="en-US" sz="2000" dirty="0"/>
              <a:t> </a:t>
            </a:r>
            <a:r>
              <a:rPr lang="en-US" sz="2000" dirty="0" err="1"/>
              <a:t>knjige</a:t>
            </a:r>
            <a:r>
              <a:rPr lang="en-US" sz="2000" dirty="0"/>
              <a:t>, </a:t>
            </a:r>
            <a:r>
              <a:rPr lang="en-US" sz="2000" b="1" dirty="0" err="1"/>
              <a:t>uređivanje</a:t>
            </a:r>
            <a:r>
              <a:rPr lang="en-US" sz="2000" b="1" dirty="0"/>
              <a:t> </a:t>
            </a:r>
            <a:r>
              <a:rPr lang="en-US" sz="2000" b="1" dirty="0" err="1"/>
              <a:t>može</a:t>
            </a:r>
            <a:r>
              <a:rPr lang="en-US" sz="2000" b="1" dirty="0"/>
              <a:t> </a:t>
            </a:r>
            <a:r>
              <a:rPr lang="en-US" sz="2000" b="1" dirty="0" err="1"/>
              <a:t>započeti</a:t>
            </a:r>
            <a:r>
              <a:rPr lang="en-US" sz="2000" b="1" dirty="0"/>
              <a:t> 2 dana </a:t>
            </a:r>
            <a:r>
              <a:rPr lang="en-US" sz="2000" b="1" dirty="0" err="1"/>
              <a:t>prije</a:t>
            </a:r>
            <a:r>
              <a:rPr lang="en-US" sz="2000" b="1" dirty="0"/>
              <a:t> </a:t>
            </a:r>
            <a:r>
              <a:rPr lang="en-US" sz="2000" b="1" dirty="0" err="1"/>
              <a:t>nego</a:t>
            </a:r>
            <a:r>
              <a:rPr lang="en-US" sz="2000" b="1" dirty="0"/>
              <a:t> </a:t>
            </a:r>
            <a:r>
              <a:rPr lang="en-US" sz="2000" b="1" dirty="0" err="1"/>
              <a:t>što</a:t>
            </a:r>
            <a:r>
              <a:rPr lang="en-US" sz="2000" b="1" dirty="0"/>
              <a:t> je </a:t>
            </a:r>
            <a:r>
              <a:rPr lang="en-US" sz="2000" b="1" dirty="0" err="1"/>
              <a:t>pisanje</a:t>
            </a:r>
            <a:r>
              <a:rPr lang="en-US" sz="2000" b="1" dirty="0"/>
              <a:t> u </a:t>
            </a:r>
            <a:r>
              <a:rPr lang="en-US" sz="2000" b="1" dirty="0" err="1"/>
              <a:t>potpunosti</a:t>
            </a:r>
            <a:r>
              <a:rPr lang="en-US" sz="2000" b="1" dirty="0"/>
              <a:t> </a:t>
            </a:r>
            <a:r>
              <a:rPr lang="en-US" sz="2000" b="1" dirty="0" err="1"/>
              <a:t>završeno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vremenski</a:t>
            </a:r>
            <a:r>
              <a:rPr lang="en-US" sz="2000" dirty="0"/>
              <a:t> </a:t>
            </a:r>
            <a:r>
              <a:rPr lang="en-US" sz="2000" dirty="0" err="1"/>
              <a:t>preklop</a:t>
            </a:r>
            <a:r>
              <a:rPr lang="en-US" sz="2000" dirty="0"/>
              <a:t> = 2 dana).</a:t>
            </a:r>
            <a:endParaRPr lang="en-US" sz="20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rgbClr val="0ADBBC"/>
                </a:solidFill>
              </a:rPr>
              <a:t>Vremenski </a:t>
            </a:r>
            <a:r>
              <a:rPr lang="en-US" sz="2000" b="1" dirty="0" err="1">
                <a:solidFill>
                  <a:srgbClr val="0ADBBC"/>
                </a:solidFill>
              </a:rPr>
              <a:t>odmak</a:t>
            </a:r>
            <a:r>
              <a:rPr lang="en-US" sz="2000" b="1" dirty="0">
                <a:solidFill>
                  <a:srgbClr val="0ADBBC"/>
                </a:solidFill>
              </a:rPr>
              <a:t> (Lag Time)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err="1"/>
              <a:t>Količina</a:t>
            </a:r>
            <a:r>
              <a:rPr lang="en-US" sz="2000" dirty="0"/>
              <a:t> </a:t>
            </a:r>
            <a:r>
              <a:rPr lang="en-US" sz="2000" dirty="0" err="1"/>
              <a:t>vremena</a:t>
            </a:r>
            <a:r>
              <a:rPr lang="en-US" sz="2000" dirty="0"/>
              <a:t> </a:t>
            </a:r>
            <a:r>
              <a:rPr lang="en-US" sz="2000" dirty="0" err="1"/>
              <a:t>koja</a:t>
            </a:r>
            <a:r>
              <a:rPr lang="en-US" sz="2000" dirty="0"/>
              <a:t> mora </a:t>
            </a:r>
            <a:r>
              <a:rPr lang="en-US" sz="2000" dirty="0" err="1"/>
              <a:t>proći</a:t>
            </a:r>
            <a:r>
              <a:rPr lang="en-US" sz="2000" dirty="0"/>
              <a:t> </a:t>
            </a:r>
            <a:r>
              <a:rPr lang="en-US" sz="2000" dirty="0" err="1"/>
              <a:t>nakon</a:t>
            </a:r>
            <a:r>
              <a:rPr lang="en-US" sz="2000" dirty="0"/>
              <a:t> </a:t>
            </a:r>
            <a:r>
              <a:rPr lang="en-US" sz="2000" dirty="0" err="1"/>
              <a:t>završetka</a:t>
            </a:r>
            <a:r>
              <a:rPr lang="en-US" sz="2000" dirty="0"/>
              <a:t> </a:t>
            </a:r>
            <a:r>
              <a:rPr lang="en-US" sz="2000" dirty="0" err="1"/>
              <a:t>zadatka</a:t>
            </a:r>
            <a:r>
              <a:rPr lang="en-US" sz="2000" dirty="0"/>
              <a:t> </a:t>
            </a:r>
            <a:r>
              <a:rPr lang="en-US" sz="2000" dirty="0" err="1"/>
              <a:t>prije</a:t>
            </a:r>
            <a:r>
              <a:rPr lang="en-US" sz="2000" dirty="0"/>
              <a:t> </a:t>
            </a:r>
            <a:r>
              <a:rPr lang="en-US" sz="2000" dirty="0" err="1"/>
              <a:t>nego</a:t>
            </a:r>
            <a:r>
              <a:rPr lang="en-US" sz="2000" dirty="0"/>
              <a:t> </a:t>
            </a:r>
            <a:r>
              <a:rPr lang="en-US" sz="2000" dirty="0" err="1"/>
              <a:t>što</a:t>
            </a:r>
            <a:r>
              <a:rPr lang="en-US" sz="2000" dirty="0"/>
              <a:t> </a:t>
            </a:r>
            <a:r>
              <a:rPr lang="en-US" sz="2000" dirty="0" err="1"/>
              <a:t>sljedeći</a:t>
            </a:r>
            <a:r>
              <a:rPr lang="en-US" sz="2000" dirty="0"/>
              <a:t> </a:t>
            </a:r>
            <a:r>
              <a:rPr lang="en-US" sz="2000" dirty="0" err="1"/>
              <a:t>zadatak</a:t>
            </a:r>
            <a:r>
              <a:rPr lang="en-US" sz="2000" dirty="0"/>
              <a:t> </a:t>
            </a:r>
            <a:r>
              <a:rPr lang="en-US" sz="2000" dirty="0" err="1"/>
              <a:t>započne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Primjer: </a:t>
            </a:r>
            <a:r>
              <a:rPr lang="en-US" sz="2000" dirty="0" err="1"/>
              <a:t>Nakon</a:t>
            </a:r>
            <a:r>
              <a:rPr lang="en-US" sz="2000" dirty="0"/>
              <a:t> </a:t>
            </a:r>
            <a:r>
              <a:rPr lang="en-US" sz="2000" dirty="0" err="1"/>
              <a:t>bojanja</a:t>
            </a:r>
            <a:r>
              <a:rPr lang="en-US" sz="2000" dirty="0"/>
              <a:t> </a:t>
            </a:r>
            <a:r>
              <a:rPr lang="en-US" sz="2000" dirty="0" err="1"/>
              <a:t>zida</a:t>
            </a:r>
            <a:r>
              <a:rPr lang="en-US" sz="2000" dirty="0"/>
              <a:t> </a:t>
            </a:r>
            <a:r>
              <a:rPr lang="en-US" sz="2000" dirty="0" err="1"/>
              <a:t>potrebno</a:t>
            </a:r>
            <a:r>
              <a:rPr lang="en-US" sz="2000" dirty="0"/>
              <a:t> je </a:t>
            </a:r>
            <a:r>
              <a:rPr lang="en-US" sz="2000" b="1" dirty="0"/>
              <a:t>24 </a:t>
            </a:r>
            <a:r>
              <a:rPr lang="en-US" sz="2000" b="1" dirty="0" err="1"/>
              <a:t>sata</a:t>
            </a:r>
            <a:r>
              <a:rPr lang="en-US" sz="2000" b="1" dirty="0"/>
              <a:t> </a:t>
            </a:r>
            <a:r>
              <a:rPr lang="en-US" sz="2000" b="1" dirty="0" err="1"/>
              <a:t>sušenja</a:t>
            </a:r>
            <a:r>
              <a:rPr lang="en-US" sz="2000" b="1" dirty="0"/>
              <a:t> (</a:t>
            </a:r>
            <a:r>
              <a:rPr lang="en-US" sz="2000" b="1" dirty="0" err="1"/>
              <a:t>vremenski</a:t>
            </a:r>
            <a:r>
              <a:rPr lang="en-US" sz="2000" b="1" dirty="0"/>
              <a:t> </a:t>
            </a:r>
            <a:r>
              <a:rPr lang="en-US" sz="2000" b="1" dirty="0" err="1"/>
              <a:t>odmak</a:t>
            </a:r>
            <a:r>
              <a:rPr lang="en-US" sz="2000" b="1" dirty="0"/>
              <a:t>) </a:t>
            </a:r>
            <a:r>
              <a:rPr lang="en-US" sz="2000" dirty="0" err="1"/>
              <a:t>prije</a:t>
            </a:r>
            <a:r>
              <a:rPr lang="en-US" sz="2000" dirty="0"/>
              <a:t> </a:t>
            </a:r>
            <a:r>
              <a:rPr lang="en-US" sz="2000" dirty="0" err="1"/>
              <a:t>nanošenja</a:t>
            </a:r>
            <a:r>
              <a:rPr lang="en-US" sz="2000" dirty="0"/>
              <a:t> </a:t>
            </a:r>
            <a:r>
              <a:rPr lang="en-US" sz="2000" dirty="0" err="1"/>
              <a:t>drugog</a:t>
            </a:r>
            <a:r>
              <a:rPr lang="en-US" sz="2000" dirty="0"/>
              <a:t> </a:t>
            </a:r>
            <a:r>
              <a:rPr lang="en-US" sz="2000" dirty="0" err="1"/>
              <a:t>sloja</a:t>
            </a:r>
            <a:r>
              <a:rPr lang="en-US" sz="2000" dirty="0"/>
              <a:t>.</a:t>
            </a:r>
            <a:endParaRPr lang="en-US" sz="20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000" b="1" dirty="0" err="1">
                <a:solidFill>
                  <a:srgbClr val="0ADBBC"/>
                </a:solidFill>
              </a:rPr>
              <a:t>Slobodno</a:t>
            </a:r>
            <a:r>
              <a:rPr lang="en-US" sz="2000" b="1" dirty="0">
                <a:solidFill>
                  <a:srgbClr val="0ADBBC"/>
                </a:solidFill>
              </a:rPr>
              <a:t> </a:t>
            </a:r>
            <a:r>
              <a:rPr lang="en-US" sz="2000" b="1" dirty="0" err="1">
                <a:solidFill>
                  <a:srgbClr val="0ADBBC"/>
                </a:solidFill>
              </a:rPr>
              <a:t>vrijeme</a:t>
            </a:r>
            <a:r>
              <a:rPr lang="en-US" sz="2000" b="1" dirty="0">
                <a:solidFill>
                  <a:srgbClr val="0ADBBC"/>
                </a:solidFill>
              </a:rPr>
              <a:t> (Float / Slack Time)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err="1"/>
              <a:t>Količina</a:t>
            </a:r>
            <a:r>
              <a:rPr lang="en-US" sz="2000" dirty="0"/>
              <a:t> </a:t>
            </a:r>
            <a:r>
              <a:rPr lang="en-US" sz="2000" dirty="0" err="1"/>
              <a:t>vremena</a:t>
            </a:r>
            <a:r>
              <a:rPr lang="en-US" sz="2000" dirty="0"/>
              <a:t> za </a:t>
            </a:r>
            <a:r>
              <a:rPr lang="en-US" sz="2000" dirty="0" err="1"/>
              <a:t>koju</a:t>
            </a:r>
            <a:r>
              <a:rPr lang="en-US" sz="2000" dirty="0"/>
              <a:t> se </a:t>
            </a:r>
            <a:r>
              <a:rPr lang="en-US" sz="2000" dirty="0" err="1"/>
              <a:t>zadatak</a:t>
            </a:r>
            <a:r>
              <a:rPr lang="en-US" sz="2000" dirty="0"/>
              <a:t> </a:t>
            </a:r>
            <a:r>
              <a:rPr lang="en-US" sz="2000" dirty="0" err="1"/>
              <a:t>može</a:t>
            </a:r>
            <a:r>
              <a:rPr lang="en-US" sz="2000" dirty="0"/>
              <a:t> </a:t>
            </a:r>
            <a:r>
              <a:rPr lang="en-US" sz="2000" dirty="0" err="1"/>
              <a:t>odgoditi</a:t>
            </a:r>
            <a:r>
              <a:rPr lang="en-US" sz="2000" dirty="0"/>
              <a:t> bez </a:t>
            </a:r>
            <a:r>
              <a:rPr lang="en-US" sz="2000" dirty="0" err="1"/>
              <a:t>utjecaja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završni</a:t>
            </a:r>
            <a:r>
              <a:rPr lang="en-US" sz="2000" dirty="0"/>
              <a:t> </a:t>
            </a:r>
            <a:r>
              <a:rPr lang="en-US" sz="2000" dirty="0" err="1"/>
              <a:t>rok</a:t>
            </a:r>
            <a:r>
              <a:rPr lang="en-US" sz="2000" dirty="0"/>
              <a:t> </a:t>
            </a:r>
            <a:r>
              <a:rPr lang="en-US" sz="2000" dirty="0" err="1"/>
              <a:t>projekta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Primjer: </a:t>
            </a:r>
            <a:r>
              <a:rPr lang="en-US" sz="2000" dirty="0" err="1"/>
              <a:t>Revizija</a:t>
            </a:r>
            <a:r>
              <a:rPr lang="en-US" sz="2000" dirty="0"/>
              <a:t> </a:t>
            </a:r>
            <a:r>
              <a:rPr lang="en-US" sz="2000" dirty="0" err="1"/>
              <a:t>dizajna</a:t>
            </a:r>
            <a:r>
              <a:rPr lang="en-US" sz="2000" dirty="0"/>
              <a:t> </a:t>
            </a:r>
            <a:r>
              <a:rPr lang="en-US" sz="2000" dirty="0" err="1"/>
              <a:t>ima</a:t>
            </a:r>
            <a:r>
              <a:rPr lang="en-US" sz="2000" dirty="0"/>
              <a:t> </a:t>
            </a:r>
            <a:r>
              <a:rPr lang="en-US" sz="2000" b="1" dirty="0"/>
              <a:t>3 dana </a:t>
            </a:r>
            <a:r>
              <a:rPr lang="en-US" sz="2000" b="1" dirty="0" err="1"/>
              <a:t>slobodnog</a:t>
            </a:r>
            <a:r>
              <a:rPr lang="en-US" sz="2000" b="1" dirty="0"/>
              <a:t> </a:t>
            </a:r>
            <a:r>
              <a:rPr lang="en-US" sz="2000" b="1" dirty="0" err="1"/>
              <a:t>vremena</a:t>
            </a:r>
            <a:r>
              <a:rPr lang="en-US" sz="2000" b="1" dirty="0"/>
              <a:t>, </a:t>
            </a:r>
            <a:r>
              <a:rPr lang="en-US" sz="2000" dirty="0" err="1"/>
              <a:t>što</a:t>
            </a:r>
            <a:r>
              <a:rPr lang="en-US" sz="2000" dirty="0"/>
              <a:t> </a:t>
            </a:r>
            <a:r>
              <a:rPr lang="en-US" sz="2000" dirty="0" err="1"/>
              <a:t>znači</a:t>
            </a:r>
            <a:r>
              <a:rPr lang="en-US" sz="2000" dirty="0"/>
              <a:t> da se </a:t>
            </a:r>
            <a:r>
              <a:rPr lang="en-US" sz="2000" dirty="0" err="1"/>
              <a:t>može</a:t>
            </a:r>
            <a:r>
              <a:rPr lang="en-US" sz="2000" dirty="0"/>
              <a:t> </a:t>
            </a:r>
            <a:r>
              <a:rPr lang="en-US" sz="2000" dirty="0" err="1"/>
              <a:t>odgoditi</a:t>
            </a:r>
            <a:r>
              <a:rPr lang="en-US" sz="2000" dirty="0"/>
              <a:t> do 3 dana bez </a:t>
            </a:r>
            <a:r>
              <a:rPr lang="en-US" sz="2000" dirty="0" err="1"/>
              <a:t>utjecaja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raspored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6733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D411-CC18-DCF3-1B45-79E231B7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DDDE-7D45-3C34-2293-858970FD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191160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Ključna </a:t>
            </a:r>
            <a:r>
              <a:rPr lang="en-US" sz="3800" dirty="0" err="1">
                <a:latin typeface="Bahnschrift SemiBold"/>
              </a:rPr>
              <a:t>terminologija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vezana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uz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raspoređivanje</a:t>
            </a:r>
            <a:r>
              <a:rPr lang="en-US" sz="3800" dirty="0">
                <a:latin typeface="Bahnschrift SemiBold"/>
              </a:rPr>
              <a:t> u </a:t>
            </a:r>
            <a:r>
              <a:rPr lang="en-US" sz="3800" dirty="0" err="1">
                <a:latin typeface="Bahnschrift SemiBold"/>
              </a:rPr>
              <a:t>upravljanju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projektima</a:t>
            </a:r>
            <a:r>
              <a:rPr lang="en-US" sz="3800" dirty="0">
                <a:latin typeface="Bahnschrift SemiBold"/>
              </a:rPr>
              <a:t> IV.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92CCC-5EFD-0F86-0339-3D308098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5" y="1747248"/>
            <a:ext cx="113633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G</a:t>
            </a:r>
            <a:r>
              <a:rPr lang="hr-HR" sz="2200" b="1" dirty="0">
                <a:solidFill>
                  <a:srgbClr val="0ADBBC"/>
                </a:solidFill>
              </a:rPr>
              <a:t>ANTT</a:t>
            </a:r>
            <a:r>
              <a:rPr lang="en-US" sz="2200" b="1" dirty="0">
                <a:solidFill>
                  <a:srgbClr val="0ADBBC"/>
                </a:solidFill>
              </a:rPr>
              <a:t> DIJAGRAM</a:t>
            </a:r>
          </a:p>
          <a:p>
            <a:pPr>
              <a:buNone/>
            </a:pPr>
            <a:r>
              <a:rPr lang="en-US" sz="2200" dirty="0" err="1"/>
              <a:t>Vizualni</a:t>
            </a:r>
            <a:r>
              <a:rPr lang="en-US" sz="2200" dirty="0"/>
              <a:t> </a:t>
            </a:r>
            <a:r>
              <a:rPr lang="en-US" sz="2200" b="1" dirty="0" err="1"/>
              <a:t>stupčasti</a:t>
            </a:r>
            <a:r>
              <a:rPr lang="en-US" sz="2200" b="1" dirty="0"/>
              <a:t> </a:t>
            </a:r>
            <a:r>
              <a:rPr lang="en-US" sz="2200" b="1" dirty="0" err="1"/>
              <a:t>dijagram</a:t>
            </a:r>
            <a:r>
              <a:rPr lang="en-US" sz="2200" b="1" dirty="0"/>
              <a:t> </a:t>
            </a:r>
            <a:r>
              <a:rPr lang="en-US" sz="2200" dirty="0"/>
              <a:t>koji </a:t>
            </a:r>
            <a:r>
              <a:rPr lang="en-US" sz="2200" dirty="0" err="1"/>
              <a:t>prikazuje</a:t>
            </a:r>
            <a:r>
              <a:rPr lang="en-US" sz="2200" dirty="0"/>
              <a:t> </a:t>
            </a:r>
            <a:r>
              <a:rPr lang="en-US" sz="2200" dirty="0" err="1"/>
              <a:t>zadatke</a:t>
            </a:r>
            <a:r>
              <a:rPr lang="en-US" sz="2200" dirty="0"/>
              <a:t>, </a:t>
            </a:r>
            <a:r>
              <a:rPr lang="en-US" sz="2200" dirty="0" err="1"/>
              <a:t>njihovo</a:t>
            </a:r>
            <a:r>
              <a:rPr lang="en-US" sz="2200" dirty="0"/>
              <a:t> </a:t>
            </a:r>
            <a:r>
              <a:rPr lang="en-US" sz="2200" dirty="0" err="1"/>
              <a:t>trajanje</a:t>
            </a:r>
            <a:r>
              <a:rPr lang="en-US" sz="2200" dirty="0"/>
              <a:t> i </a:t>
            </a:r>
            <a:r>
              <a:rPr lang="en-US" sz="2200" dirty="0" err="1"/>
              <a:t>međusobne</a:t>
            </a:r>
            <a:r>
              <a:rPr lang="en-US" sz="2200" dirty="0"/>
              <a:t> </a:t>
            </a:r>
            <a:r>
              <a:rPr lang="en-US" sz="2200" dirty="0" err="1"/>
              <a:t>ovisnosti</a:t>
            </a:r>
            <a:r>
              <a:rPr lang="en-US" sz="2200" b="1" dirty="0">
                <a:solidFill>
                  <a:srgbClr val="0ADBBC"/>
                </a:solidFill>
              </a:rPr>
              <a:t>.</a:t>
            </a:r>
          </a:p>
          <a:p>
            <a:pPr>
              <a:buNone/>
            </a:pPr>
            <a:r>
              <a:rPr lang="en-US" sz="2200" b="1" dirty="0"/>
              <a:t>Primjer: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7A7C1C-B707-B340-537C-C4F1C31FC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12192"/>
              </p:ext>
            </p:extLst>
          </p:nvPr>
        </p:nvGraphicFramePr>
        <p:xfrm>
          <a:off x="1972491" y="2745104"/>
          <a:ext cx="9263745" cy="40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328">
                  <a:extLst>
                    <a:ext uri="{9D8B030D-6E8A-4147-A177-3AD203B41FA5}">
                      <a16:colId xmlns:a16="http://schemas.microsoft.com/office/drawing/2014/main" val="211565695"/>
                    </a:ext>
                  </a:extLst>
                </a:gridCol>
                <a:gridCol w="1285883">
                  <a:extLst>
                    <a:ext uri="{9D8B030D-6E8A-4147-A177-3AD203B41FA5}">
                      <a16:colId xmlns:a16="http://schemas.microsoft.com/office/drawing/2014/main" val="501925543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3368782885"/>
                    </a:ext>
                  </a:extLst>
                </a:gridCol>
                <a:gridCol w="1285883">
                  <a:extLst>
                    <a:ext uri="{9D8B030D-6E8A-4147-A177-3AD203B41FA5}">
                      <a16:colId xmlns:a16="http://schemas.microsoft.com/office/drawing/2014/main" val="1803029924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1416023161"/>
                    </a:ext>
                  </a:extLst>
                </a:gridCol>
                <a:gridCol w="1285883">
                  <a:extLst>
                    <a:ext uri="{9D8B030D-6E8A-4147-A177-3AD203B41FA5}">
                      <a16:colId xmlns:a16="http://schemas.microsoft.com/office/drawing/2014/main" val="735769789"/>
                    </a:ext>
                  </a:extLst>
                </a:gridCol>
              </a:tblGrid>
              <a:tr h="560248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Opisi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WBS-a</a:t>
                      </a:r>
                    </a:p>
                  </a:txBody>
                  <a:tcPr>
                    <a:solidFill>
                      <a:srgbClr val="1ADB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rgbClr val="5C739C"/>
                            </a:solidFill>
                          </a:ln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</a:t>
                      </a:r>
                    </a:p>
                  </a:txBody>
                  <a:tcPr>
                    <a:solidFill>
                      <a:srgbClr val="1ADB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rgbClr val="5C739C"/>
                            </a:solidFill>
                          </a:ln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</a:t>
                      </a:r>
                    </a:p>
                  </a:txBody>
                  <a:tcPr>
                    <a:solidFill>
                      <a:srgbClr val="1ADB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rgbClr val="5C739C"/>
                            </a:solidFill>
                          </a:ln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W</a:t>
                      </a:r>
                    </a:p>
                  </a:txBody>
                  <a:tcPr>
                    <a:solidFill>
                      <a:srgbClr val="1ADB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rgbClr val="5C739C"/>
                            </a:solidFill>
                          </a:ln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</a:t>
                      </a:r>
                    </a:p>
                  </a:txBody>
                  <a:tcPr>
                    <a:solidFill>
                      <a:srgbClr val="1ADB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rgbClr val="5C739C"/>
                            </a:solidFill>
                          </a:ln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F</a:t>
                      </a:r>
                    </a:p>
                  </a:txBody>
                  <a:tcPr>
                    <a:solidFill>
                      <a:srgbClr val="1ADB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54481"/>
                  </a:ext>
                </a:extLst>
              </a:tr>
              <a:tr h="560248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Light" panose="020B0502040204020203" pitchFamily="34" charset="0"/>
                        </a:rPr>
                        <a:t>1. Ključna </a:t>
                      </a:r>
                      <a:r>
                        <a:rPr lang="en-US" dirty="0" err="1">
                          <a:latin typeface="Bahnschrift SemiLight" panose="020B0502040204020203" pitchFamily="34" charset="0"/>
                        </a:rPr>
                        <a:t>etapa</a:t>
                      </a:r>
                      <a:endParaRPr lang="en-US" dirty="0"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hr-HR" dirty="0">
                          <a:latin typeface="Bahnschrift SemiLight" panose="020B0502040204020203" pitchFamily="34" charset="0"/>
                        </a:rPr>
                        <a:t>(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Milestone</a:t>
                      </a:r>
                      <a:r>
                        <a:rPr lang="hr-HR" dirty="0">
                          <a:latin typeface="Bahnschrift SemiLight" panose="020B0502040204020203" pitchFamily="34" charset="0"/>
                        </a:rPr>
                        <a:t>)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 #1</a:t>
                      </a: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332828"/>
                  </a:ext>
                </a:extLst>
              </a:tr>
              <a:tr h="560248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Light" panose="020B0502040204020203" pitchFamily="34" charset="0"/>
                        </a:rPr>
                        <a:t>1.1 </a:t>
                      </a:r>
                      <a:r>
                        <a:rPr lang="en-US" dirty="0" err="1">
                          <a:latin typeface="Bahnschrift SemiLight" panose="020B0502040204020203" pitchFamily="34" charset="0"/>
                        </a:rPr>
                        <a:t>Zadatak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 1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822805"/>
                  </a:ext>
                </a:extLst>
              </a:tr>
              <a:tr h="560248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Light" panose="020B0502040204020203" pitchFamily="34" charset="0"/>
                        </a:rPr>
                        <a:t>1.2 </a:t>
                      </a:r>
                      <a:r>
                        <a:rPr lang="en-US" dirty="0" err="1">
                          <a:latin typeface="Bahnschrift SemiLight" panose="020B0502040204020203" pitchFamily="34" charset="0"/>
                        </a:rPr>
                        <a:t>Zadatak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 2</a:t>
                      </a: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66641"/>
                  </a:ext>
                </a:extLst>
              </a:tr>
              <a:tr h="560248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Light" panose="020B0502040204020203" pitchFamily="34" charset="0"/>
                        </a:rPr>
                        <a:t>1.3 </a:t>
                      </a:r>
                      <a:r>
                        <a:rPr lang="en-US" dirty="0" err="1">
                          <a:latin typeface="Bahnschrift SemiLight" panose="020B0502040204020203" pitchFamily="34" charset="0"/>
                        </a:rPr>
                        <a:t>Zadatak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 3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072867"/>
                  </a:ext>
                </a:extLst>
              </a:tr>
              <a:tr h="560248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Light" panose="020B0502040204020203" pitchFamily="34" charset="0"/>
                        </a:rPr>
                        <a:t>1.4 </a:t>
                      </a:r>
                      <a:r>
                        <a:rPr lang="en-US" dirty="0" err="1">
                          <a:latin typeface="Bahnschrift SemiLight" panose="020B0502040204020203" pitchFamily="34" charset="0"/>
                        </a:rPr>
                        <a:t>Zadatak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 4</a:t>
                      </a: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8DED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899302"/>
                  </a:ext>
                </a:extLst>
              </a:tr>
              <a:tr h="560248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Light" panose="020B0502040204020203" pitchFamily="34" charset="0"/>
                        </a:rPr>
                        <a:t>1.5 </a:t>
                      </a:r>
                      <a:r>
                        <a:rPr lang="en-US" dirty="0" err="1">
                          <a:latin typeface="Bahnschrift SemiLight" panose="020B0502040204020203" pitchFamily="34" charset="0"/>
                        </a:rPr>
                        <a:t>Zadatak</a:t>
                      </a:r>
                      <a:r>
                        <a:rPr lang="en-US" dirty="0">
                          <a:latin typeface="Bahnschrift SemiLight" panose="020B0502040204020203" pitchFamily="34" charset="0"/>
                        </a:rPr>
                        <a:t> 5</a:t>
                      </a: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D1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424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328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7BC1-077D-B9C7-92DA-D46B856B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B0EF-28E2-F5C2-68A2-D4860CEF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68" y="195308"/>
            <a:ext cx="10515600" cy="1325563"/>
          </a:xfrm>
        </p:spPr>
        <p:txBody>
          <a:bodyPr>
            <a:normAutofit/>
          </a:bodyPr>
          <a:lstStyle/>
          <a:p>
            <a:r>
              <a:rPr lang="pl-PL" sz="3800" dirty="0">
                <a:latin typeface="Bahnschrift SemiBold"/>
              </a:rPr>
              <a:t>Utjecaj dostupnosti resursa na raspored projekta </a:t>
            </a:r>
            <a:r>
              <a:rPr lang="en-US" sz="3800" dirty="0">
                <a:latin typeface="Bahnschrift SemiBold"/>
              </a:rPr>
              <a:t>I.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6FC2C-FC43-E9D3-6F22-E9C3BC271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48" y="1681932"/>
            <a:ext cx="11453949" cy="47841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Dostupnost</a:t>
            </a:r>
            <a:r>
              <a:rPr lang="en-US" sz="2400" dirty="0"/>
              <a:t> </a:t>
            </a: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ima</a:t>
            </a:r>
            <a:r>
              <a:rPr lang="en-US" sz="2400" dirty="0"/>
              <a:t> </a:t>
            </a:r>
            <a:r>
              <a:rPr lang="en-US" sz="2400" b="1" dirty="0" err="1"/>
              <a:t>ključnu</a:t>
            </a:r>
            <a:r>
              <a:rPr lang="en-US" sz="2400" b="1" dirty="0"/>
              <a:t> </a:t>
            </a:r>
            <a:r>
              <a:rPr lang="en-US" sz="2400" b="1" dirty="0" err="1"/>
              <a:t>ulogu</a:t>
            </a:r>
            <a:r>
              <a:rPr lang="en-US" sz="2400" b="1" dirty="0"/>
              <a:t> </a:t>
            </a:r>
            <a:r>
              <a:rPr lang="en-US" sz="2400" dirty="0"/>
              <a:t>u </a:t>
            </a:r>
            <a:r>
              <a:rPr lang="en-US" sz="2400" dirty="0" err="1"/>
              <a:t>određivanju</a:t>
            </a:r>
            <a:r>
              <a:rPr lang="en-US" sz="2400" dirty="0"/>
              <a:t> </a:t>
            </a:r>
            <a:r>
              <a:rPr lang="en-US" sz="2400" dirty="0" err="1"/>
              <a:t>učinkovitosti</a:t>
            </a:r>
            <a:r>
              <a:rPr lang="en-US" sz="2400" dirty="0"/>
              <a:t> </a:t>
            </a:r>
            <a:r>
              <a:rPr lang="en-US" sz="2400" dirty="0" err="1"/>
              <a:t>napredovanja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 err="1"/>
              <a:t>Ograničeni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loše</a:t>
            </a:r>
            <a:r>
              <a:rPr lang="en-US" sz="2400" dirty="0"/>
              <a:t> </a:t>
            </a:r>
            <a:r>
              <a:rPr lang="en-US" sz="2400" dirty="0" err="1"/>
              <a:t>upravljani</a:t>
            </a:r>
            <a:r>
              <a:rPr lang="en-US" sz="2400" dirty="0"/>
              <a:t> </a:t>
            </a:r>
            <a:r>
              <a:rPr lang="en-US" sz="2400" dirty="0" err="1"/>
              <a:t>resursi</a:t>
            </a:r>
            <a:r>
              <a:rPr lang="en-US" sz="2400" dirty="0"/>
              <a:t>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dovesti</a:t>
            </a:r>
            <a:r>
              <a:rPr lang="en-US" sz="2400" dirty="0"/>
              <a:t> do </a:t>
            </a:r>
            <a:r>
              <a:rPr lang="en-US" sz="2400" b="1" dirty="0" err="1">
                <a:solidFill>
                  <a:srgbClr val="0BDCBD"/>
                </a:solidFill>
              </a:rPr>
              <a:t>kašnjenja</a:t>
            </a:r>
            <a:r>
              <a:rPr lang="en-US" sz="2400" b="1" dirty="0">
                <a:solidFill>
                  <a:srgbClr val="0BDCBD"/>
                </a:solidFill>
              </a:rPr>
              <a:t>, </a:t>
            </a:r>
            <a:r>
              <a:rPr lang="en-US" sz="2400" b="1" dirty="0" err="1">
                <a:solidFill>
                  <a:srgbClr val="0BDCBD"/>
                </a:solidFill>
              </a:rPr>
              <a:t>povećanih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troškova</a:t>
            </a:r>
            <a:r>
              <a:rPr lang="en-US" sz="2400" b="1" dirty="0">
                <a:solidFill>
                  <a:srgbClr val="0BDCBD"/>
                </a:solidFill>
              </a:rPr>
              <a:t> i </a:t>
            </a:r>
            <a:r>
              <a:rPr lang="en-US" sz="2400" b="1" dirty="0" err="1">
                <a:solidFill>
                  <a:srgbClr val="0BDCBD"/>
                </a:solidFill>
              </a:rPr>
              <a:t>niže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kvalitete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rezultata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U </a:t>
            </a:r>
            <a:r>
              <a:rPr lang="en-US" sz="2400" dirty="0" err="1"/>
              <a:t>nastavku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ključni</a:t>
            </a:r>
            <a:r>
              <a:rPr lang="en-US" sz="2400" dirty="0"/>
              <a:t> </a:t>
            </a:r>
            <a:r>
              <a:rPr lang="en-US" sz="2400" dirty="0" err="1"/>
              <a:t>načini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dostupnost</a:t>
            </a:r>
            <a:r>
              <a:rPr lang="en-US" sz="2400" dirty="0"/>
              <a:t> </a:t>
            </a: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utječe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raspored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BDCBD"/>
                </a:solidFill>
              </a:rPr>
              <a:t>1. </a:t>
            </a:r>
            <a:r>
              <a:rPr lang="en-US" sz="2400" b="1" dirty="0" err="1">
                <a:solidFill>
                  <a:srgbClr val="0BDCBD"/>
                </a:solidFill>
              </a:rPr>
              <a:t>Kašnjenja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zadataka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zbog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nedostatka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resursa</a:t>
            </a:r>
            <a:endParaRPr lang="en-US" sz="2400" b="1" dirty="0">
              <a:solidFill>
                <a:srgbClr val="0BDCBD"/>
              </a:solidFill>
            </a:endParaRPr>
          </a:p>
          <a:p>
            <a:r>
              <a:rPr lang="en-US" sz="2400" dirty="0"/>
              <a:t>Ako </a:t>
            </a:r>
            <a:r>
              <a:rPr lang="en-US" sz="2400" dirty="0" err="1"/>
              <a:t>ključni</a:t>
            </a:r>
            <a:r>
              <a:rPr lang="en-US" sz="2400" dirty="0"/>
              <a:t> </a:t>
            </a:r>
            <a:r>
              <a:rPr lang="en-US" sz="2400" dirty="0" err="1"/>
              <a:t>resursi</a:t>
            </a:r>
            <a:r>
              <a:rPr lang="en-US" sz="2400" dirty="0"/>
              <a:t> (</a:t>
            </a:r>
            <a:r>
              <a:rPr lang="en-US" sz="2400" dirty="0" err="1"/>
              <a:t>npr</a:t>
            </a:r>
            <a:r>
              <a:rPr lang="en-US" sz="2400" dirty="0"/>
              <a:t>. </a:t>
            </a:r>
            <a:r>
              <a:rPr lang="en-US" sz="2400" dirty="0" err="1"/>
              <a:t>stručni</a:t>
            </a:r>
            <a:r>
              <a:rPr lang="en-US" sz="2400" dirty="0"/>
              <a:t> </a:t>
            </a:r>
            <a:r>
              <a:rPr lang="en-US" sz="2400" dirty="0" err="1"/>
              <a:t>kadar</a:t>
            </a:r>
            <a:r>
              <a:rPr lang="en-US" sz="2400" dirty="0"/>
              <a:t>, </a:t>
            </a:r>
            <a:r>
              <a:rPr lang="en-US" sz="2400" dirty="0" err="1"/>
              <a:t>oprema</a:t>
            </a:r>
            <a:r>
              <a:rPr lang="en-US" sz="2400" dirty="0"/>
              <a:t>, </a:t>
            </a:r>
            <a:r>
              <a:rPr lang="en-US" sz="2400" dirty="0" err="1"/>
              <a:t>materijali</a:t>
            </a:r>
            <a:r>
              <a:rPr lang="en-US" sz="2400" dirty="0"/>
              <a:t>) </a:t>
            </a:r>
            <a:r>
              <a:rPr lang="en-US" sz="2400" dirty="0" err="1"/>
              <a:t>nisu</a:t>
            </a:r>
            <a:r>
              <a:rPr lang="en-US" sz="2400" dirty="0"/>
              <a:t> </a:t>
            </a:r>
            <a:r>
              <a:rPr lang="en-US" sz="2400" dirty="0" err="1"/>
              <a:t>dostupni</a:t>
            </a:r>
            <a:r>
              <a:rPr lang="en-US" sz="2400" dirty="0"/>
              <a:t>, </a:t>
            </a:r>
            <a:r>
              <a:rPr lang="en-US" sz="2400" dirty="0" err="1"/>
              <a:t>zadaci</a:t>
            </a:r>
            <a:r>
              <a:rPr lang="en-US" sz="2400" dirty="0"/>
              <a:t> ne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započeti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završiti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BDCBD"/>
                </a:solidFill>
              </a:rPr>
              <a:t>2. </a:t>
            </a:r>
            <a:r>
              <a:rPr lang="en-US" sz="2400" b="1" dirty="0" err="1">
                <a:solidFill>
                  <a:srgbClr val="0BDCBD"/>
                </a:solidFill>
              </a:rPr>
              <a:t>Preopterećenost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resursa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dovodi</a:t>
            </a:r>
            <a:r>
              <a:rPr lang="en-US" sz="2400" b="1" dirty="0">
                <a:solidFill>
                  <a:srgbClr val="0BDCBD"/>
                </a:solidFill>
              </a:rPr>
              <a:t> do </a:t>
            </a:r>
            <a:r>
              <a:rPr lang="en-US" sz="2400" b="1" dirty="0" err="1">
                <a:solidFill>
                  <a:srgbClr val="0BDCBD"/>
                </a:solidFill>
              </a:rPr>
              <a:t>uskih</a:t>
            </a:r>
            <a:r>
              <a:rPr lang="en-US" sz="2400" b="1" dirty="0">
                <a:solidFill>
                  <a:srgbClr val="0BDCBD"/>
                </a:solidFill>
              </a:rPr>
              <a:t> </a:t>
            </a:r>
            <a:r>
              <a:rPr lang="en-US" sz="2400" b="1" dirty="0" err="1">
                <a:solidFill>
                  <a:srgbClr val="0BDCBD"/>
                </a:solidFill>
              </a:rPr>
              <a:t>grla</a:t>
            </a:r>
            <a:endParaRPr lang="en-US" sz="2400" b="1" dirty="0">
              <a:solidFill>
                <a:srgbClr val="0BDCBD"/>
              </a:solidFill>
            </a:endParaRPr>
          </a:p>
          <a:p>
            <a:r>
              <a:rPr lang="en-US" sz="2400" dirty="0"/>
              <a:t>Kada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članovi</a:t>
            </a:r>
            <a:r>
              <a:rPr lang="en-US" sz="2400" dirty="0"/>
              <a:t> </a:t>
            </a:r>
            <a:r>
              <a:rPr lang="en-US" sz="2400" dirty="0" err="1"/>
              <a:t>tima</a:t>
            </a:r>
            <a:r>
              <a:rPr lang="en-US" sz="2400" dirty="0"/>
              <a:t> </a:t>
            </a:r>
            <a:r>
              <a:rPr lang="en-US" sz="2400" dirty="0" err="1"/>
              <a:t>zaduženi</a:t>
            </a:r>
            <a:r>
              <a:rPr lang="en-US" sz="2400" dirty="0"/>
              <a:t> za </a:t>
            </a:r>
            <a:r>
              <a:rPr lang="en-US" sz="2400" dirty="0" err="1"/>
              <a:t>previše</a:t>
            </a:r>
            <a:r>
              <a:rPr lang="en-US" sz="2400" dirty="0"/>
              <a:t> </a:t>
            </a:r>
            <a:r>
              <a:rPr lang="en-US" sz="2400" dirty="0" err="1"/>
              <a:t>zadataka</a:t>
            </a:r>
            <a:r>
              <a:rPr lang="en-US" sz="2400" dirty="0"/>
              <a:t> </a:t>
            </a:r>
            <a:r>
              <a:rPr lang="en-US" sz="2400" dirty="0" err="1"/>
              <a:t>istovremeno</a:t>
            </a:r>
            <a:r>
              <a:rPr lang="en-US" sz="2400" dirty="0"/>
              <a:t>, </a:t>
            </a:r>
            <a:r>
              <a:rPr lang="en-US" sz="2400" dirty="0" err="1"/>
              <a:t>produktivnost</a:t>
            </a:r>
            <a:r>
              <a:rPr lang="en-US" sz="2400" dirty="0"/>
              <a:t> </a:t>
            </a:r>
            <a:r>
              <a:rPr lang="en-US" sz="2400" dirty="0" err="1"/>
              <a:t>opada</a:t>
            </a:r>
            <a:r>
              <a:rPr lang="en-US" sz="2400" dirty="0"/>
              <a:t>,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uzrokuje</a:t>
            </a:r>
            <a:r>
              <a:rPr lang="en-US" sz="2400" dirty="0"/>
              <a:t> </a:t>
            </a:r>
            <a:r>
              <a:rPr lang="en-US" sz="2400" dirty="0" err="1"/>
              <a:t>usporavanja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5106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AF9D-09D5-8883-F10D-ED65F553A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864E-F895-F1B1-4007-DD2C18CD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38"/>
            <a:ext cx="10515600" cy="1325563"/>
          </a:xfrm>
        </p:spPr>
        <p:txBody>
          <a:bodyPr>
            <a:normAutofit/>
          </a:bodyPr>
          <a:lstStyle/>
          <a:p>
            <a:r>
              <a:rPr lang="pl-PL" sz="3800" dirty="0">
                <a:latin typeface="Bahnschrift SemiBold"/>
              </a:rPr>
              <a:t>Utjecaj dostupnosti resursa na raspored projekta</a:t>
            </a:r>
            <a:r>
              <a:rPr lang="en-US" sz="3800" dirty="0">
                <a:latin typeface="Bahnschrift SemiBold"/>
              </a:rPr>
              <a:t> II.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CBBB-4227-BF4F-0F08-6B91C8E2D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3. </a:t>
            </a:r>
            <a:r>
              <a:rPr lang="en-US" sz="2400" b="1" dirty="0" err="1">
                <a:solidFill>
                  <a:srgbClr val="0ADBBC"/>
                </a:solidFill>
              </a:rPr>
              <a:t>Neiskorišteni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resursi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uzrokuju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neučinkovitosti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Ako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resursi</a:t>
            </a:r>
            <a:r>
              <a:rPr lang="en-US" sz="2400" dirty="0"/>
              <a:t> </a:t>
            </a:r>
            <a:r>
              <a:rPr lang="en-US" sz="2400" b="1" dirty="0" err="1"/>
              <a:t>dostupni</a:t>
            </a:r>
            <a:r>
              <a:rPr lang="en-US" sz="2400" b="1" dirty="0"/>
              <a:t>, </a:t>
            </a:r>
            <a:r>
              <a:rPr lang="en-US" sz="2400" b="1" dirty="0" err="1"/>
              <a:t>ali</a:t>
            </a:r>
            <a:r>
              <a:rPr lang="en-US" sz="2400" b="1" dirty="0"/>
              <a:t> se ne </a:t>
            </a:r>
            <a:r>
              <a:rPr lang="en-US" sz="2400" b="1" dirty="0" err="1"/>
              <a:t>koriste</a:t>
            </a:r>
            <a:r>
              <a:rPr lang="en-US" sz="2400" b="1" dirty="0"/>
              <a:t> </a:t>
            </a:r>
            <a:r>
              <a:rPr lang="en-US" sz="2400" b="1" dirty="0" err="1"/>
              <a:t>učinkovito</a:t>
            </a:r>
            <a:r>
              <a:rPr lang="en-US" sz="2400" dirty="0"/>
              <a:t>, </a:t>
            </a:r>
            <a:r>
              <a:rPr lang="en-US" sz="2400" dirty="0" err="1"/>
              <a:t>raspored</a:t>
            </a:r>
            <a:r>
              <a:rPr lang="en-US" sz="2400" dirty="0"/>
              <a:t> </a:t>
            </a:r>
            <a:r>
              <a:rPr lang="en-US" sz="2400" dirty="0" err="1"/>
              <a:t>možda</a:t>
            </a:r>
            <a:r>
              <a:rPr lang="en-US" sz="2400" dirty="0"/>
              <a:t> </a:t>
            </a:r>
            <a:r>
              <a:rPr lang="en-US" sz="2400" b="1" dirty="0" err="1"/>
              <a:t>neće</a:t>
            </a:r>
            <a:r>
              <a:rPr lang="hr-HR" sz="2400" b="1" dirty="0"/>
              <a:t> </a:t>
            </a:r>
            <a:r>
              <a:rPr lang="en-US" sz="2400" b="1" dirty="0" err="1"/>
              <a:t>biti</a:t>
            </a:r>
            <a:r>
              <a:rPr lang="en-US" sz="2400" b="1" dirty="0"/>
              <a:t> </a:t>
            </a:r>
            <a:r>
              <a:rPr lang="en-US" sz="2400" b="1" dirty="0" err="1"/>
              <a:t>optimalan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4. </a:t>
            </a:r>
            <a:r>
              <a:rPr lang="en-US" sz="2400" b="1" dirty="0" err="1">
                <a:solidFill>
                  <a:srgbClr val="0ADBBC"/>
                </a:solidFill>
              </a:rPr>
              <a:t>Potreba</a:t>
            </a:r>
            <a:r>
              <a:rPr lang="en-US" sz="2400" b="1" dirty="0">
                <a:solidFill>
                  <a:srgbClr val="0ADBBC"/>
                </a:solidFill>
              </a:rPr>
              <a:t> za </a:t>
            </a:r>
            <a:r>
              <a:rPr lang="en-US" sz="2400" b="1" dirty="0" err="1">
                <a:solidFill>
                  <a:srgbClr val="0ADBBC"/>
                </a:solidFill>
              </a:rPr>
              <a:t>izravnavanjem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resursa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Kako bi se </a:t>
            </a:r>
            <a:r>
              <a:rPr lang="en-US" sz="2400" dirty="0" err="1"/>
              <a:t>izbjegli</a:t>
            </a:r>
            <a:r>
              <a:rPr lang="en-US" sz="2400" dirty="0"/>
              <a:t> </a:t>
            </a:r>
            <a:r>
              <a:rPr lang="en-US" sz="2400" dirty="0" err="1"/>
              <a:t>nagli</a:t>
            </a:r>
            <a:r>
              <a:rPr lang="en-US" sz="2400" dirty="0"/>
              <a:t> </a:t>
            </a:r>
            <a:r>
              <a:rPr lang="en-US" sz="2400" dirty="0" err="1"/>
              <a:t>porasti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nedostaci</a:t>
            </a:r>
            <a:r>
              <a:rPr lang="en-US" sz="2400" dirty="0"/>
              <a:t> u </a:t>
            </a:r>
            <a:r>
              <a:rPr lang="en-US" sz="2400" dirty="0" err="1"/>
              <a:t>opterećenju</a:t>
            </a:r>
            <a:r>
              <a:rPr lang="en-US" sz="2400" dirty="0"/>
              <a:t>, </a:t>
            </a:r>
            <a:r>
              <a:rPr lang="en-US" sz="2400" b="1" dirty="0" err="1"/>
              <a:t>izravnavanje</a:t>
            </a:r>
            <a:r>
              <a:rPr lang="en-US" sz="2400" b="1" dirty="0"/>
              <a:t> </a:t>
            </a:r>
            <a:r>
              <a:rPr lang="en-US" sz="2400" b="1" dirty="0" err="1"/>
              <a:t>resursa</a:t>
            </a:r>
            <a:r>
              <a:rPr lang="en-US" sz="2400" b="1" dirty="0"/>
              <a:t> </a:t>
            </a:r>
            <a:r>
              <a:rPr lang="en-US" sz="2400" dirty="0" err="1"/>
              <a:t>pomaže</a:t>
            </a:r>
            <a:r>
              <a:rPr lang="en-US" sz="2400" dirty="0"/>
              <a:t> </a:t>
            </a:r>
            <a:r>
              <a:rPr lang="en-US" sz="2400" b="1" dirty="0" err="1"/>
              <a:t>ravnomjerno</a:t>
            </a:r>
            <a:r>
              <a:rPr lang="en-US" sz="2400" dirty="0"/>
              <a:t> </a:t>
            </a:r>
            <a:r>
              <a:rPr lang="en-US" sz="2400" dirty="0" err="1"/>
              <a:t>raspodijeliti</a:t>
            </a:r>
            <a:r>
              <a:rPr lang="en-US" sz="2400" dirty="0"/>
              <a:t> </a:t>
            </a:r>
            <a:r>
              <a:rPr lang="en-US" sz="2400" dirty="0" err="1"/>
              <a:t>zadatke</a:t>
            </a:r>
            <a:r>
              <a:rPr lang="en-US" sz="2400" dirty="0"/>
              <a:t> </a:t>
            </a:r>
            <a:r>
              <a:rPr lang="en-US" sz="2400" dirty="0" err="1"/>
              <a:t>tijekom</a:t>
            </a:r>
            <a:r>
              <a:rPr lang="en-US" sz="2400" dirty="0"/>
              <a:t> </a:t>
            </a:r>
            <a:r>
              <a:rPr lang="en-US" sz="2400" dirty="0" err="1"/>
              <a:t>vremena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5. </a:t>
            </a:r>
            <a:r>
              <a:rPr lang="en-US" sz="2400" b="1" dirty="0" err="1">
                <a:solidFill>
                  <a:srgbClr val="0ADBBC"/>
                </a:solidFill>
              </a:rPr>
              <a:t>Utjecaj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na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proračun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prekoračenje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troškova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/>
              <a:t>Ograničenja</a:t>
            </a:r>
            <a:r>
              <a:rPr lang="en-US" sz="2400" dirty="0"/>
              <a:t> </a:t>
            </a: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prisiliti</a:t>
            </a:r>
            <a:r>
              <a:rPr lang="en-US" sz="2400" dirty="0"/>
              <a:t> </a:t>
            </a:r>
            <a:r>
              <a:rPr lang="en-US" sz="2400" dirty="0" err="1"/>
              <a:t>timove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b="1" dirty="0" err="1"/>
              <a:t>zapošljavanje</a:t>
            </a:r>
            <a:r>
              <a:rPr lang="en-US" sz="2400" b="1" dirty="0"/>
              <a:t> </a:t>
            </a:r>
            <a:r>
              <a:rPr lang="en-US" sz="2400" b="1" dirty="0" err="1"/>
              <a:t>dodatnog</a:t>
            </a:r>
            <a:r>
              <a:rPr lang="en-US" sz="2400" b="1" dirty="0"/>
              <a:t> </a:t>
            </a:r>
            <a:r>
              <a:rPr lang="en-US" sz="2400" b="1" dirty="0" err="1"/>
              <a:t>osoblja</a:t>
            </a:r>
            <a:r>
              <a:rPr lang="en-US" sz="2400" b="1" dirty="0"/>
              <a:t> </a:t>
            </a:r>
            <a:r>
              <a:rPr lang="en-US" sz="2400" b="1" dirty="0" err="1"/>
              <a:t>ili</a:t>
            </a:r>
            <a:r>
              <a:rPr lang="en-US" sz="2400" b="1" dirty="0"/>
              <a:t> </a:t>
            </a:r>
            <a:r>
              <a:rPr lang="en-US" sz="2400" b="1" dirty="0" err="1"/>
              <a:t>plaćanje</a:t>
            </a:r>
            <a:r>
              <a:rPr lang="hr-HR" sz="2400" b="1" dirty="0"/>
              <a:t> usluga s</a:t>
            </a:r>
            <a:r>
              <a:rPr lang="en-US" sz="2400" b="1" dirty="0"/>
              <a:t> </a:t>
            </a:r>
            <a:r>
              <a:rPr lang="en-US" sz="2400" b="1" dirty="0" err="1"/>
              <a:t>ubrzan</a:t>
            </a:r>
            <a:r>
              <a:rPr lang="hr-HR" sz="2400" b="1" dirty="0"/>
              <a:t>om isporukom</a:t>
            </a:r>
            <a:r>
              <a:rPr lang="en-US" sz="2400" dirty="0"/>
              <a:t>,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povećava</a:t>
            </a:r>
            <a:r>
              <a:rPr lang="en-US" sz="2400" dirty="0"/>
              <a:t> </a:t>
            </a:r>
            <a:r>
              <a:rPr lang="en-US" sz="2400" dirty="0" err="1"/>
              <a:t>troškove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0396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1CCC-D5F3-4892-388A-D569245F2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90A3-A16D-B124-657E-F3F1219B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Gr</a:t>
            </a:r>
            <a:r>
              <a:rPr lang="hr-HR" sz="3800" dirty="0" err="1">
                <a:latin typeface="Bahnschrift SemiBold"/>
              </a:rPr>
              <a:t>upna</a:t>
            </a:r>
            <a:r>
              <a:rPr lang="hr-HR" sz="3800" dirty="0">
                <a:latin typeface="Bahnschrift SemiBold"/>
              </a:rPr>
              <a:t> vježba</a:t>
            </a:r>
            <a:r>
              <a:rPr lang="en-US" sz="3800" dirty="0">
                <a:latin typeface="Bahnschrift SemiBold"/>
              </a:rPr>
              <a:t> - CraftEase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85E05-0B3E-0A92-8ECE-8E5CBD832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36" y="2218589"/>
            <a:ext cx="10864527" cy="12104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Izraditi Ganttov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dijagram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za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hipotetski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projekt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CraftEase</a:t>
            </a:r>
            <a:endParaRPr lang="en-GB" b="1" i="1" dirty="0">
              <a:effectLst/>
              <a:latin typeface="Bahnschrift SemiLight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b="1" i="1" dirty="0">
              <a:effectLst/>
              <a:latin typeface="Bahnschrift SemiLight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Koristiti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WBS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izrađen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u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prethodnoj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vježbi</a:t>
            </a:r>
            <a:endParaRPr lang="en-GB" b="1" i="1" dirty="0">
              <a:effectLst/>
              <a:latin typeface="Bahnschrift SemiLight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b="1" i="1" dirty="0">
              <a:effectLst/>
              <a:latin typeface="Bahnschrift SemiLight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Razviti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plan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raspodjele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resursa</a:t>
            </a:r>
            <a:r>
              <a:rPr lang="en-GB" b="1" i="1" dirty="0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 za </a:t>
            </a:r>
            <a:r>
              <a:rPr lang="en-GB" b="1" i="1" dirty="0" err="1">
                <a:effectLst/>
                <a:latin typeface="Bahnschrift SemiLight"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projekt</a:t>
            </a:r>
            <a:endParaRPr lang="en-GB" b="1" i="1" dirty="0">
              <a:effectLst/>
              <a:latin typeface="Bahnschrift SemiLight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GB" sz="2400" dirty="0">
              <a:effectLst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8910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5626-92E1-F4F5-07D2-8538B362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433D-9BCC-A8DD-3169-9815E5DD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Gr</a:t>
            </a:r>
            <a:r>
              <a:rPr lang="hr-HR" sz="3800" dirty="0" err="1">
                <a:latin typeface="Bahnschrift SemiBold"/>
              </a:rPr>
              <a:t>upna</a:t>
            </a:r>
            <a:r>
              <a:rPr lang="hr-HR" sz="3800" dirty="0">
                <a:latin typeface="Bahnschrift SemiBold"/>
              </a:rPr>
              <a:t> vježba</a:t>
            </a:r>
            <a:r>
              <a:rPr lang="en-US" sz="3800" dirty="0">
                <a:latin typeface="Bahnschrift SemiBold"/>
              </a:rPr>
              <a:t>  - CraftEase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09ACBB7-7F34-4ADB-543D-B05D3D704FBB}"/>
              </a:ext>
            </a:extLst>
          </p:cNvPr>
          <p:cNvSpPr>
            <a:spLocks noGrp="1"/>
          </p:cNvSpPr>
          <p:nvPr/>
        </p:nvSpPr>
        <p:spPr>
          <a:xfrm>
            <a:off x="286837" y="2011467"/>
            <a:ext cx="11618326" cy="4578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200" b="1" dirty="0">
                <a:solidFill>
                  <a:srgbClr val="0ADBBC"/>
                </a:solidFill>
              </a:rPr>
              <a:t>Obrazovna platforma </a:t>
            </a:r>
            <a:r>
              <a:rPr lang="hr-HR" sz="2200" b="1" dirty="0" err="1">
                <a:solidFill>
                  <a:srgbClr val="0ADBBC"/>
                </a:solidFill>
              </a:rPr>
              <a:t>CraftEase</a:t>
            </a:r>
            <a:r>
              <a:rPr lang="hr-HR" sz="2200" b="1" dirty="0">
                <a:solidFill>
                  <a:srgbClr val="0ADBBC"/>
                </a:solidFill>
              </a:rPr>
              <a:t> za DIY („uradi sam”) projekte; 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Proračun: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50.000 – 100.000 EUR;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Vremenski okvir: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6 mjeseci;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Zadatak: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oni su voditelji projekta (PM) u IT tvrtki koja isporučuje digitalno rješenje za maloprodajnog klijenta;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Klijent: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trgovina koja prodaje materijale (Bauhaus, Brico ili slično – električni materijal, DIY, građevinski materijal);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Tim: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može imati 5 članova;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Tvrtka: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20 zaposlenika, uključujući developere, UX/IX dizajnere, financijski i ugovorni odjel, grafičke dizajnere, bez poslovnog analitičara;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Zahtjevi klijenta: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web platforma, korisnički račun (login), multimedijalni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tutorijali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opcija sviđanja/nesviđanja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tutorijala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prijava na radionice;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Uloge na platformi: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korisnik platforme (gleda izrađene DIY projekte), zaposlenik trgovine (izrađuje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tutorijale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/videozapise),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2480022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DFB49-19C5-7259-7E1F-3670B226E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E583CCFF-ABC5-8B38-5A15-7B57650DA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774" y="2305594"/>
            <a:ext cx="9144000" cy="2387600"/>
          </a:xfrm>
        </p:spPr>
        <p:txBody>
          <a:bodyPr>
            <a:normAutofit/>
          </a:bodyPr>
          <a:lstStyle/>
          <a:p>
            <a:r>
              <a:rPr kumimoji="0" lang="hr-H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PLANIRANJE RADA</a:t>
            </a:r>
            <a:br>
              <a:rPr lang="en-US" sz="4800" b="1" dirty="0">
                <a:latin typeface="Bahnschrift SemiLight" panose="020B0502040204020203" pitchFamily="34" charset="0"/>
              </a:rPr>
            </a:br>
            <a:endParaRPr lang="hr-HR" sz="4800" dirty="0">
              <a:latin typeface="Bahnschrift SemiLight" panose="020B0502040204020203" pitchFamily="34" charset="0"/>
            </a:endParaRPr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654B7F86-19F7-15CA-BCDC-DAC6057A258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633662" y="4552406"/>
            <a:ext cx="9420225" cy="80327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Metode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izrade</a:t>
            </a:r>
            <a:r>
              <a:rPr lang="en-US" sz="36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3600" dirty="0" err="1">
                <a:latin typeface="Bahnschrift" panose="020B0502040204020203" pitchFamily="34" charset="0"/>
                <a:ea typeface="+mj-ea"/>
                <a:cs typeface="+mj-cs"/>
              </a:rPr>
              <a:t>proračuna</a:t>
            </a:r>
            <a:endParaRPr lang="en-US" sz="3600" dirty="0">
              <a:latin typeface="Bahnschrift" panose="020B050204020402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7715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20B8-B996-197E-7A80-556E54CF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874"/>
            <a:ext cx="10515600" cy="1325563"/>
          </a:xfrm>
        </p:spPr>
        <p:txBody>
          <a:bodyPr/>
          <a:lstStyle/>
          <a:p>
            <a:r>
              <a:rPr lang="en-US" sz="3800" dirty="0">
                <a:latin typeface="Bahnschrift SemiBold"/>
              </a:rPr>
              <a:t>1. </a:t>
            </a:r>
            <a:r>
              <a:rPr lang="en-US" sz="3800" i="1" dirty="0">
                <a:latin typeface="Bahnschrift SemiBold"/>
              </a:rPr>
              <a:t>Top-</a:t>
            </a:r>
            <a:r>
              <a:rPr lang="hr-HR" sz="3800" i="1" dirty="0">
                <a:latin typeface="Bahnschrift SemiBold"/>
              </a:rPr>
              <a:t>D</a:t>
            </a:r>
            <a:r>
              <a:rPr lang="en-US" sz="3800" i="1" dirty="0">
                <a:latin typeface="Bahnschrift SemiBold"/>
              </a:rPr>
              <a:t>own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budžetiranje</a:t>
            </a:r>
            <a:endParaRPr lang="en-US" sz="3800" dirty="0">
              <a:latin typeface="Bahnschrift SemiBold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B19A90-6F2E-83E1-2B23-25C725D08E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132" y="1649557"/>
            <a:ext cx="1083999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 err="1">
                <a:solidFill>
                  <a:srgbClr val="0ADBBC"/>
                </a:solidFill>
              </a:rPr>
              <a:t>Pristup</a:t>
            </a:r>
            <a:r>
              <a:rPr lang="en-US" altLang="en-US" sz="2400" b="1" dirty="0">
                <a:solidFill>
                  <a:srgbClr val="0ADBBC"/>
                </a:solidFill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menadžment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određuje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ukupni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proračun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temelju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organizacijskih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ciljeva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voditelj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raspodjeljuje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sredstva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različite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zadatke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BDCBD"/>
                </a:solidFill>
                <a:effectLst/>
              </a:rPr>
              <a:t>Najprikladnije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BDCBD"/>
                </a:solidFill>
                <a:effectLst/>
              </a:rPr>
              <a:t> za: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fiksnim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proračunom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one koji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zahtijevaju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procjene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Primjer: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Tvrtka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dodjeljuje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100.000 USD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marketinšku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kampanju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raspodjeljuje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sredstva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oglašavanje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društvene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mreže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izradu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sadržaja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BDCBD"/>
                </a:solidFill>
                <a:effectLst/>
              </a:rPr>
              <a:t>Prednosti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BDCBD"/>
                </a:solidFill>
                <a:effectLst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Brzo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jednostavno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implementaciju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BDCBD"/>
                </a:solidFill>
                <a:effectLst/>
              </a:rPr>
              <a:t>Nedostaci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BDCBD"/>
                </a:solidFill>
                <a:effectLst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Može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dovesti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nedovoljnog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prekomjernog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financiranja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zadataka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zbog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nedostatka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detaljnih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ulaznih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podataka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745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8FF6-D2A9-0FC5-23C7-17ECBBD0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811"/>
            <a:ext cx="10515600" cy="1325563"/>
          </a:xfrm>
        </p:spPr>
        <p:txBody>
          <a:bodyPr/>
          <a:lstStyle/>
          <a:p>
            <a:r>
              <a:rPr lang="en-US" sz="3800" dirty="0">
                <a:latin typeface="Bahnschrift SemiBold"/>
              </a:rPr>
              <a:t>2. </a:t>
            </a:r>
            <a:r>
              <a:rPr lang="en-US" sz="3800" i="1" dirty="0">
                <a:latin typeface="Bahnschrift SemiBold"/>
              </a:rPr>
              <a:t>Bottom-</a:t>
            </a:r>
            <a:r>
              <a:rPr lang="hr-HR" sz="3800" i="1" dirty="0">
                <a:latin typeface="Bahnschrift SemiBold"/>
              </a:rPr>
              <a:t>U</a:t>
            </a:r>
            <a:r>
              <a:rPr lang="en-US" sz="3800" i="1" dirty="0">
                <a:latin typeface="Bahnschrift SemiBold"/>
              </a:rPr>
              <a:t>p</a:t>
            </a:r>
            <a:r>
              <a:rPr lang="en-US" sz="3800" dirty="0">
                <a:latin typeface="Bahnschrift SemiBold"/>
              </a:rPr>
              <a:t> </a:t>
            </a:r>
            <a:r>
              <a:rPr lang="hr-HR" sz="3800" dirty="0">
                <a:latin typeface="Bahnschrift SemiBold"/>
              </a:rPr>
              <a:t>budžetiranje</a:t>
            </a:r>
            <a:r>
              <a:rPr lang="en-US" sz="3800" dirty="0">
                <a:latin typeface="Bahnschrift SemiBold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A631E-D0DB-855C-63C4-3287AFE77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" y="1757144"/>
            <a:ext cx="1095755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400" b="1" dirty="0">
                <a:solidFill>
                  <a:srgbClr val="0ADBBC"/>
                </a:solidFill>
              </a:rPr>
              <a:t>Pristup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Projektni</a:t>
            </a:r>
            <a:r>
              <a:rPr lang="en-US" sz="2400" dirty="0"/>
              <a:t> </a:t>
            </a:r>
            <a:r>
              <a:rPr lang="en-US" sz="2400" dirty="0" err="1"/>
              <a:t>tim</a:t>
            </a:r>
            <a:r>
              <a:rPr lang="en-US" sz="2400" dirty="0"/>
              <a:t> </a:t>
            </a:r>
            <a:r>
              <a:rPr lang="en-US" sz="2400" b="1" dirty="0" err="1"/>
              <a:t>procjenjuje</a:t>
            </a:r>
            <a:r>
              <a:rPr lang="en-US" sz="2400" b="1" dirty="0"/>
              <a:t> </a:t>
            </a:r>
            <a:r>
              <a:rPr lang="en-US" sz="2400" b="1" dirty="0" err="1"/>
              <a:t>troškove</a:t>
            </a:r>
            <a:r>
              <a:rPr lang="en-US" sz="2400" dirty="0"/>
              <a:t> za </a:t>
            </a:r>
            <a:r>
              <a:rPr lang="en-US" sz="2400" dirty="0" err="1"/>
              <a:t>svaki</a:t>
            </a:r>
            <a:r>
              <a:rPr lang="en-US" sz="2400" dirty="0"/>
              <a:t> </a:t>
            </a:r>
            <a:r>
              <a:rPr lang="en-US" sz="2400" dirty="0" err="1"/>
              <a:t>pojedinačni</a:t>
            </a:r>
            <a:r>
              <a:rPr lang="en-US" sz="2400" dirty="0"/>
              <a:t> </a:t>
            </a:r>
            <a:r>
              <a:rPr lang="en-US" sz="2400" dirty="0" err="1"/>
              <a:t>zadatak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aktivnost</a:t>
            </a:r>
            <a:r>
              <a:rPr lang="en-US" sz="2400" dirty="0"/>
              <a:t>, a </a:t>
            </a:r>
            <a:r>
              <a:rPr lang="en-US" sz="2400" dirty="0" err="1"/>
              <a:t>zatim</a:t>
            </a:r>
            <a:r>
              <a:rPr lang="en-US" sz="2400" dirty="0"/>
              <a:t> </a:t>
            </a:r>
            <a:r>
              <a:rPr lang="en-US" sz="2400" dirty="0" err="1"/>
              <a:t>ih</a:t>
            </a:r>
            <a:r>
              <a:rPr lang="en-US" sz="2400" dirty="0"/>
              <a:t> </a:t>
            </a:r>
            <a:r>
              <a:rPr lang="en-US" sz="2400" dirty="0" err="1"/>
              <a:t>zbraja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</a:t>
            </a:r>
            <a:r>
              <a:rPr lang="en-US" sz="2400" dirty="0" err="1"/>
              <a:t>odredio</a:t>
            </a:r>
            <a:r>
              <a:rPr lang="en-US" sz="2400" dirty="0"/>
              <a:t> </a:t>
            </a:r>
            <a:r>
              <a:rPr lang="en-US" sz="2400" dirty="0" err="1"/>
              <a:t>ukupni</a:t>
            </a:r>
            <a:r>
              <a:rPr lang="en-US" sz="2400" dirty="0"/>
              <a:t> </a:t>
            </a:r>
            <a:r>
              <a:rPr lang="en-US" sz="2400" dirty="0" err="1"/>
              <a:t>proračun</a:t>
            </a:r>
            <a:r>
              <a:rPr lang="en-US" sz="2400" dirty="0"/>
              <a:t>.</a:t>
            </a:r>
            <a:endParaRPr lang="hr-HR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>
                <a:solidFill>
                  <a:srgbClr val="0BDCBD"/>
                </a:solidFill>
              </a:rPr>
              <a:t>Najprikladnije</a:t>
            </a:r>
            <a:r>
              <a:rPr lang="en-US" sz="2400" b="1" dirty="0">
                <a:solidFill>
                  <a:srgbClr val="0BDCBD"/>
                </a:solidFill>
              </a:rPr>
              <a:t> za: </a:t>
            </a:r>
            <a:r>
              <a:rPr lang="en-US" sz="2400" dirty="0" err="1"/>
              <a:t>složene</a:t>
            </a:r>
            <a:r>
              <a:rPr lang="en-US" sz="2400" dirty="0"/>
              <a:t> </a:t>
            </a:r>
            <a:r>
              <a:rPr lang="en-US" sz="2400" dirty="0" err="1"/>
              <a:t>projekte</a:t>
            </a:r>
            <a:r>
              <a:rPr lang="en-US" sz="2400" dirty="0"/>
              <a:t> koji </a:t>
            </a:r>
            <a:r>
              <a:rPr lang="en-US" sz="2400" dirty="0" err="1"/>
              <a:t>zahtijevaju</a:t>
            </a:r>
            <a:r>
              <a:rPr lang="en-US" sz="2400" dirty="0"/>
              <a:t> </a:t>
            </a:r>
            <a:r>
              <a:rPr lang="en-US" sz="2400" b="1" dirty="0" err="1"/>
              <a:t>detaljnu</a:t>
            </a:r>
            <a:r>
              <a:rPr lang="en-US" sz="2400" b="1" dirty="0"/>
              <a:t> </a:t>
            </a:r>
            <a:r>
              <a:rPr lang="en-US" sz="2400" b="1" dirty="0" err="1"/>
              <a:t>analizu</a:t>
            </a:r>
            <a:r>
              <a:rPr lang="en-US" sz="2400" b="1" dirty="0"/>
              <a:t> </a:t>
            </a:r>
            <a:r>
              <a:rPr lang="en-US" sz="2400" b="1" dirty="0" err="1"/>
              <a:t>troškova</a:t>
            </a:r>
            <a:r>
              <a:rPr lang="en-US" sz="2400" dirty="0"/>
              <a:t>.</a:t>
            </a:r>
            <a:endParaRPr lang="hr-HR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Primjer:</a:t>
            </a:r>
            <a:r>
              <a:rPr lang="en-US" sz="2400" dirty="0"/>
              <a:t> Tim za </a:t>
            </a:r>
            <a:r>
              <a:rPr lang="en-US" sz="2400" dirty="0" err="1"/>
              <a:t>razvoj</a:t>
            </a:r>
            <a:r>
              <a:rPr lang="en-US" sz="2400" dirty="0"/>
              <a:t> </a:t>
            </a:r>
            <a:r>
              <a:rPr lang="en-US" sz="2400" dirty="0" err="1"/>
              <a:t>softvera</a:t>
            </a:r>
            <a:r>
              <a:rPr lang="en-US" sz="2400" dirty="0"/>
              <a:t> </a:t>
            </a:r>
            <a:r>
              <a:rPr lang="en-US" sz="2400" dirty="0" err="1"/>
              <a:t>procjenjuje</a:t>
            </a:r>
            <a:r>
              <a:rPr lang="en-US" sz="2400" dirty="0"/>
              <a:t> </a:t>
            </a:r>
            <a:r>
              <a:rPr lang="en-US" sz="2400" b="1" dirty="0"/>
              <a:t>5.000 USD</a:t>
            </a:r>
            <a:r>
              <a:rPr lang="en-US" sz="2400" dirty="0"/>
              <a:t> za </a:t>
            </a:r>
            <a:r>
              <a:rPr lang="en-US" sz="2400" dirty="0" err="1"/>
              <a:t>dizajn</a:t>
            </a:r>
            <a:r>
              <a:rPr lang="en-US" sz="2400" dirty="0"/>
              <a:t> </a:t>
            </a:r>
            <a:r>
              <a:rPr lang="en-US" sz="2400" dirty="0" err="1"/>
              <a:t>korisničkog</a:t>
            </a:r>
            <a:r>
              <a:rPr lang="en-US" sz="2400" dirty="0"/>
              <a:t> </a:t>
            </a:r>
            <a:r>
              <a:rPr lang="en-US" sz="2400" dirty="0" err="1"/>
              <a:t>sučelja</a:t>
            </a:r>
            <a:r>
              <a:rPr lang="en-US" sz="2400" dirty="0"/>
              <a:t>, </a:t>
            </a:r>
            <a:r>
              <a:rPr lang="en-US" sz="2400" b="1" dirty="0"/>
              <a:t>20.000 USD</a:t>
            </a:r>
            <a:r>
              <a:rPr lang="en-US" sz="2400" dirty="0"/>
              <a:t> za </a:t>
            </a:r>
            <a:r>
              <a:rPr lang="en-US" sz="2400" dirty="0" err="1"/>
              <a:t>razvoj</a:t>
            </a:r>
            <a:r>
              <a:rPr lang="en-US" sz="2400" dirty="0"/>
              <a:t> </a:t>
            </a:r>
            <a:r>
              <a:rPr lang="en-US" sz="2400" dirty="0" err="1"/>
              <a:t>pozadinskog</a:t>
            </a:r>
            <a:r>
              <a:rPr lang="en-US" sz="2400" dirty="0"/>
              <a:t> </a:t>
            </a:r>
            <a:r>
              <a:rPr lang="en-US" sz="2400" dirty="0" err="1"/>
              <a:t>sustava</a:t>
            </a:r>
            <a:r>
              <a:rPr lang="en-US" sz="2400" dirty="0"/>
              <a:t> i </a:t>
            </a:r>
            <a:r>
              <a:rPr lang="en-US" sz="2400" b="1" dirty="0"/>
              <a:t>10.000 USD</a:t>
            </a:r>
            <a:r>
              <a:rPr lang="en-US" sz="2400" dirty="0"/>
              <a:t> za </a:t>
            </a:r>
            <a:r>
              <a:rPr lang="en-US" sz="2400" dirty="0" err="1"/>
              <a:t>testiranje</a:t>
            </a:r>
            <a:r>
              <a:rPr lang="en-US" sz="2400" dirty="0"/>
              <a:t>,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rezultira</a:t>
            </a:r>
            <a:r>
              <a:rPr lang="en-US" sz="2400" dirty="0"/>
              <a:t> </a:t>
            </a:r>
            <a:r>
              <a:rPr lang="en-US" sz="2400" dirty="0" err="1"/>
              <a:t>ukupnim</a:t>
            </a:r>
            <a:r>
              <a:rPr lang="en-US" sz="2400" dirty="0"/>
              <a:t> </a:t>
            </a:r>
            <a:r>
              <a:rPr lang="en-US" sz="2400" dirty="0" err="1"/>
              <a:t>proračunom</a:t>
            </a:r>
            <a:r>
              <a:rPr lang="en-US" sz="2400" dirty="0"/>
              <a:t> od </a:t>
            </a:r>
            <a:r>
              <a:rPr lang="en-US" sz="2400" b="1" dirty="0"/>
              <a:t>35.000 USD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>
                <a:solidFill>
                  <a:srgbClr val="0BDCBD"/>
                </a:solidFill>
              </a:rPr>
              <a:t>Prednosti</a:t>
            </a:r>
            <a:r>
              <a:rPr lang="en-US" sz="2400" b="1" dirty="0">
                <a:solidFill>
                  <a:srgbClr val="0BDCBD"/>
                </a:solidFill>
              </a:rPr>
              <a:t>:</a:t>
            </a:r>
            <a:r>
              <a:rPr lang="en-US" sz="2400" dirty="0"/>
              <a:t> </a:t>
            </a:r>
            <a:r>
              <a:rPr lang="en-US" sz="2400" b="1" dirty="0" err="1"/>
              <a:t>Točnije</a:t>
            </a:r>
            <a:r>
              <a:rPr lang="en-US" sz="2400" b="1" dirty="0"/>
              <a:t> i </a:t>
            </a:r>
            <a:r>
              <a:rPr lang="en-US" sz="2400" b="1" dirty="0" err="1"/>
              <a:t>realističnije</a:t>
            </a:r>
            <a:r>
              <a:rPr lang="en-US" sz="2400" dirty="0"/>
              <a:t> </a:t>
            </a:r>
            <a:r>
              <a:rPr lang="en-US" sz="2400" dirty="0" err="1"/>
              <a:t>jer</a:t>
            </a:r>
            <a:r>
              <a:rPr lang="en-US" sz="2400" dirty="0"/>
              <a:t> </a:t>
            </a:r>
            <a:r>
              <a:rPr lang="en-US" sz="2400" dirty="0" err="1"/>
              <a:t>uzima</a:t>
            </a:r>
            <a:r>
              <a:rPr lang="en-US" sz="2400" dirty="0"/>
              <a:t> u </a:t>
            </a:r>
            <a:r>
              <a:rPr lang="en-US" sz="2400" dirty="0" err="1"/>
              <a:t>obzir</a:t>
            </a:r>
            <a:r>
              <a:rPr lang="en-US" sz="2400" dirty="0"/>
              <a:t> </a:t>
            </a:r>
            <a:r>
              <a:rPr lang="en-US" sz="2400" dirty="0" err="1"/>
              <a:t>detaljne</a:t>
            </a:r>
            <a:r>
              <a:rPr lang="en-US" sz="2400" dirty="0"/>
              <a:t> </a:t>
            </a:r>
            <a:r>
              <a:rPr lang="en-US" sz="2400" dirty="0" err="1"/>
              <a:t>procjene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0BDCBD"/>
                </a:solidFill>
              </a:rPr>
              <a:t>Nedostaci</a:t>
            </a:r>
            <a:r>
              <a:rPr lang="en-US" sz="2400" b="1" dirty="0">
                <a:solidFill>
                  <a:srgbClr val="0BDCBD"/>
                </a:solidFill>
              </a:rPr>
              <a:t>:</a:t>
            </a:r>
            <a:r>
              <a:rPr lang="en-US" sz="2400" dirty="0"/>
              <a:t> </a:t>
            </a:r>
            <a:r>
              <a:rPr lang="en-US" sz="2400" dirty="0" err="1"/>
              <a:t>Dugotrajno</a:t>
            </a:r>
            <a:r>
              <a:rPr lang="en-US" sz="2400" dirty="0"/>
              <a:t> i </a:t>
            </a:r>
            <a:r>
              <a:rPr lang="en-US" sz="2400" dirty="0" err="1"/>
              <a:t>može</a:t>
            </a:r>
            <a:r>
              <a:rPr lang="en-US" sz="2400" dirty="0"/>
              <a:t> </a:t>
            </a:r>
            <a:r>
              <a:rPr lang="en-US" sz="2400" dirty="0" err="1"/>
              <a:t>zahtijevati</a:t>
            </a:r>
            <a:r>
              <a:rPr lang="en-US" sz="2400" dirty="0"/>
              <a:t> </a:t>
            </a:r>
            <a:r>
              <a:rPr lang="en-US" sz="2400" dirty="0" err="1"/>
              <a:t>prilagodbe</a:t>
            </a:r>
            <a:r>
              <a:rPr lang="en-US" sz="2400" dirty="0"/>
              <a:t> </a:t>
            </a:r>
            <a:r>
              <a:rPr lang="en-US" sz="2400" dirty="0" err="1"/>
              <a:t>ako</a:t>
            </a:r>
            <a:r>
              <a:rPr lang="en-US" sz="2400" dirty="0"/>
              <a:t> </a:t>
            </a:r>
            <a:r>
              <a:rPr lang="en-US" sz="2400" dirty="0" err="1"/>
              <a:t>premaši</a:t>
            </a:r>
            <a:r>
              <a:rPr lang="en-US" sz="2400" dirty="0"/>
              <a:t> </a:t>
            </a:r>
            <a:r>
              <a:rPr lang="en-US" sz="2400" dirty="0" err="1"/>
              <a:t>dostupna</a:t>
            </a:r>
            <a:r>
              <a:rPr lang="en-US" sz="2400" dirty="0"/>
              <a:t> </a:t>
            </a:r>
            <a:r>
              <a:rPr lang="en-US" sz="2400" dirty="0" err="1"/>
              <a:t>financijska</a:t>
            </a:r>
            <a:r>
              <a:rPr lang="en-US" sz="2400" dirty="0"/>
              <a:t> </a:t>
            </a:r>
            <a:r>
              <a:rPr lang="en-US" sz="2400" dirty="0" err="1"/>
              <a:t>sredstva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40029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CB17-3F55-253B-1653-AF69EA6D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>
                <a:latin typeface="Bahnschrift SemiBold"/>
              </a:rPr>
              <a:t>3. </a:t>
            </a:r>
            <a:r>
              <a:rPr lang="en-US" sz="3800" i="1" dirty="0">
                <a:latin typeface="Bahnschrift SemiBold"/>
              </a:rPr>
              <a:t>Three Point </a:t>
            </a:r>
            <a:r>
              <a:rPr lang="hr-HR" sz="3800" dirty="0">
                <a:latin typeface="Bahnschrift SemiBold"/>
              </a:rPr>
              <a:t>budžetiranje</a:t>
            </a:r>
            <a:endParaRPr lang="en-US" sz="3800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51468-4A86-EE15-2479-3B457BCA2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37" y="1599248"/>
            <a:ext cx="1107512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Ova </a:t>
            </a:r>
            <a:r>
              <a:rPr lang="en-US" sz="2200" dirty="0" err="1"/>
              <a:t>tehnika</a:t>
            </a:r>
            <a:r>
              <a:rPr lang="en-US" sz="2200" dirty="0"/>
              <a:t> </a:t>
            </a:r>
            <a:r>
              <a:rPr lang="en-US" sz="2200" dirty="0" err="1"/>
              <a:t>koristi</a:t>
            </a:r>
            <a:r>
              <a:rPr lang="en-US" sz="2200" dirty="0"/>
              <a:t> se za </a:t>
            </a:r>
            <a:r>
              <a:rPr lang="en-US" sz="2200" dirty="0" err="1"/>
              <a:t>izradu</a:t>
            </a:r>
            <a:r>
              <a:rPr lang="en-US" sz="2200" dirty="0"/>
              <a:t> </a:t>
            </a:r>
            <a:r>
              <a:rPr lang="en-US" sz="2200" b="1" dirty="0" err="1"/>
              <a:t>preciznijih</a:t>
            </a:r>
            <a:r>
              <a:rPr lang="en-US" sz="2200" b="1" dirty="0"/>
              <a:t> </a:t>
            </a:r>
            <a:r>
              <a:rPr lang="en-US" sz="2200" b="1" dirty="0" err="1"/>
              <a:t>procjena</a:t>
            </a:r>
            <a:r>
              <a:rPr lang="en-US" sz="2200" b="1" dirty="0"/>
              <a:t> </a:t>
            </a:r>
            <a:r>
              <a:rPr lang="en-US" sz="2200" b="1" dirty="0" err="1"/>
              <a:t>troškova</a:t>
            </a:r>
            <a:r>
              <a:rPr lang="en-US" sz="2200" b="1" dirty="0"/>
              <a:t> </a:t>
            </a:r>
            <a:r>
              <a:rPr lang="en-US" sz="2200" dirty="0" err="1"/>
              <a:t>uzimajući</a:t>
            </a:r>
            <a:r>
              <a:rPr lang="en-US" sz="2200" dirty="0"/>
              <a:t> u </a:t>
            </a:r>
            <a:r>
              <a:rPr lang="en-US" sz="2200" dirty="0" err="1"/>
              <a:t>obzir</a:t>
            </a:r>
            <a:r>
              <a:rPr lang="en-US" sz="2200" dirty="0"/>
              <a:t> </a:t>
            </a:r>
            <a:r>
              <a:rPr lang="en-US" sz="2200" dirty="0" err="1"/>
              <a:t>različite</a:t>
            </a:r>
            <a:r>
              <a:rPr lang="en-US" sz="2200" dirty="0"/>
              <a:t> </a:t>
            </a:r>
            <a:r>
              <a:rPr lang="en-US" sz="2200" dirty="0" err="1"/>
              <a:t>scenarije</a:t>
            </a:r>
            <a:r>
              <a:rPr lang="en-US" sz="2200" dirty="0"/>
              <a:t>: </a:t>
            </a:r>
            <a:r>
              <a:rPr lang="hr-HR" sz="2200" b="1" dirty="0"/>
              <a:t>o</a:t>
            </a:r>
            <a:r>
              <a:rPr lang="en-US" sz="2200" b="1" dirty="0" err="1"/>
              <a:t>ptimistični</a:t>
            </a:r>
            <a:r>
              <a:rPr lang="hr-HR" sz="2200" b="1" dirty="0"/>
              <a:t> (</a:t>
            </a:r>
            <a:r>
              <a:rPr lang="hr-HR" sz="2200" b="1" dirty="0" err="1"/>
              <a:t>optimistic</a:t>
            </a:r>
            <a:r>
              <a:rPr lang="hr-HR" sz="2200" b="1" dirty="0"/>
              <a:t>)</a:t>
            </a:r>
            <a:r>
              <a:rPr lang="en-US" sz="2200" dirty="0"/>
              <a:t>, </a:t>
            </a:r>
            <a:r>
              <a:rPr lang="en-US" sz="2200" b="1" dirty="0" err="1"/>
              <a:t>najvjerojatniji</a:t>
            </a:r>
            <a:r>
              <a:rPr lang="hr-HR" sz="2200" b="1" dirty="0"/>
              <a:t> (Most </a:t>
            </a:r>
            <a:r>
              <a:rPr lang="hr-HR" sz="2200" b="1" dirty="0" err="1"/>
              <a:t>Likely</a:t>
            </a:r>
            <a:r>
              <a:rPr lang="hr-HR" sz="2200" b="1" dirty="0"/>
              <a:t>)</a:t>
            </a:r>
            <a:r>
              <a:rPr lang="en-US" sz="2200" dirty="0"/>
              <a:t> i </a:t>
            </a:r>
            <a:r>
              <a:rPr lang="en-US" sz="2200" b="1" dirty="0" err="1"/>
              <a:t>pesimistični</a:t>
            </a:r>
            <a:r>
              <a:rPr lang="hr-HR" sz="2200" b="1" dirty="0"/>
              <a:t> (</a:t>
            </a:r>
            <a:r>
              <a:rPr lang="hr-HR" sz="2200" b="1" dirty="0" err="1"/>
              <a:t>pessimistic</a:t>
            </a:r>
            <a:r>
              <a:rPr lang="hr-HR" sz="2200" b="1" dirty="0"/>
              <a:t>)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dirty="0" err="1"/>
              <a:t>Gdje</a:t>
            </a:r>
            <a:r>
              <a:rPr lang="en-US" sz="22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rgbClr val="0BDCBD"/>
                </a:solidFill>
              </a:rPr>
              <a:t>O (</a:t>
            </a:r>
            <a:r>
              <a:rPr lang="en-US" sz="2200" b="1" dirty="0" err="1">
                <a:solidFill>
                  <a:srgbClr val="0BDCBD"/>
                </a:solidFill>
              </a:rPr>
              <a:t>optimistična</a:t>
            </a:r>
            <a:r>
              <a:rPr lang="en-US" sz="2200" b="1" dirty="0">
                <a:solidFill>
                  <a:srgbClr val="0BDCBD"/>
                </a:solidFill>
              </a:rPr>
              <a:t> </a:t>
            </a:r>
            <a:r>
              <a:rPr lang="en-US" sz="2200" b="1" dirty="0" err="1">
                <a:solidFill>
                  <a:srgbClr val="0BDCBD"/>
                </a:solidFill>
              </a:rPr>
              <a:t>procjena</a:t>
            </a:r>
            <a:r>
              <a:rPr lang="en-US" sz="2200" b="1" dirty="0">
                <a:solidFill>
                  <a:srgbClr val="0BDCBD"/>
                </a:solidFill>
              </a:rPr>
              <a:t>):</a:t>
            </a:r>
            <a:r>
              <a:rPr lang="en-US" sz="2200" dirty="0"/>
              <a:t> </a:t>
            </a:r>
            <a:r>
              <a:rPr lang="en-US" sz="2200" dirty="0" err="1"/>
              <a:t>najbolji</a:t>
            </a:r>
            <a:r>
              <a:rPr lang="en-US" sz="2200" dirty="0"/>
              <a:t> </a:t>
            </a:r>
            <a:r>
              <a:rPr lang="en-US" sz="2200" dirty="0" err="1"/>
              <a:t>mogući</a:t>
            </a:r>
            <a:r>
              <a:rPr lang="en-US" sz="2200" dirty="0"/>
              <a:t> </a:t>
            </a:r>
            <a:r>
              <a:rPr lang="en-US" sz="2200" dirty="0" err="1"/>
              <a:t>scenarij</a:t>
            </a:r>
            <a:r>
              <a:rPr lang="en-US" sz="2200" dirty="0"/>
              <a:t> (</a:t>
            </a:r>
            <a:r>
              <a:rPr lang="en-US" sz="2200" dirty="0" err="1"/>
              <a:t>minimalni</a:t>
            </a:r>
            <a:r>
              <a:rPr lang="en-US" sz="2200" dirty="0"/>
              <a:t> </a:t>
            </a:r>
            <a:r>
              <a:rPr lang="en-US" sz="2200" dirty="0" err="1"/>
              <a:t>trošak</a:t>
            </a:r>
            <a:r>
              <a:rPr lang="en-US" sz="22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rgbClr val="0BDCBD"/>
                </a:solidFill>
              </a:rPr>
              <a:t>M (</a:t>
            </a:r>
            <a:r>
              <a:rPr lang="en-US" sz="2200" b="1" dirty="0" err="1">
                <a:solidFill>
                  <a:srgbClr val="0BDCBD"/>
                </a:solidFill>
              </a:rPr>
              <a:t>najvjerojatnija</a:t>
            </a:r>
            <a:r>
              <a:rPr lang="hr-HR" sz="2200" b="1" dirty="0">
                <a:solidFill>
                  <a:srgbClr val="0BDCBD"/>
                </a:solidFill>
              </a:rPr>
              <a:t> (most </a:t>
            </a:r>
            <a:r>
              <a:rPr lang="hr-HR" sz="2200" b="1" dirty="0" err="1">
                <a:solidFill>
                  <a:srgbClr val="0BDCBD"/>
                </a:solidFill>
              </a:rPr>
              <a:t>likely</a:t>
            </a:r>
            <a:r>
              <a:rPr lang="hr-HR" sz="2200" b="1" dirty="0">
                <a:solidFill>
                  <a:srgbClr val="0BDCBD"/>
                </a:solidFill>
              </a:rPr>
              <a:t>)</a:t>
            </a:r>
            <a:r>
              <a:rPr lang="en-US" sz="2200" b="1" dirty="0">
                <a:solidFill>
                  <a:srgbClr val="0BDCBD"/>
                </a:solidFill>
              </a:rPr>
              <a:t> </a:t>
            </a:r>
            <a:r>
              <a:rPr lang="en-US" sz="2200" b="1" dirty="0" err="1">
                <a:solidFill>
                  <a:srgbClr val="0BDCBD"/>
                </a:solidFill>
              </a:rPr>
              <a:t>procjena</a:t>
            </a:r>
            <a:r>
              <a:rPr lang="en-US" sz="2200" b="1" dirty="0">
                <a:solidFill>
                  <a:srgbClr val="0BDCBD"/>
                </a:solidFill>
              </a:rPr>
              <a:t>):</a:t>
            </a:r>
            <a:r>
              <a:rPr lang="en-US" sz="2200" dirty="0"/>
              <a:t> </a:t>
            </a:r>
            <a:r>
              <a:rPr lang="en-US" sz="2200" dirty="0" err="1"/>
              <a:t>najrealističniji</a:t>
            </a:r>
            <a:r>
              <a:rPr lang="en-US" sz="2200" dirty="0"/>
              <a:t> </a:t>
            </a:r>
            <a:r>
              <a:rPr lang="en-US" sz="2200" dirty="0" err="1"/>
              <a:t>očekivani</a:t>
            </a:r>
            <a:r>
              <a:rPr lang="en-US" sz="2200" dirty="0"/>
              <a:t> </a:t>
            </a:r>
            <a:r>
              <a:rPr lang="en-US" sz="2200" dirty="0" err="1"/>
              <a:t>trošak</a:t>
            </a:r>
            <a:r>
              <a:rPr lang="en-US" sz="22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rgbClr val="0BDCBD"/>
                </a:solidFill>
              </a:rPr>
              <a:t>P (</a:t>
            </a:r>
            <a:r>
              <a:rPr lang="en-US" sz="2200" b="1" dirty="0" err="1">
                <a:solidFill>
                  <a:srgbClr val="0BDCBD"/>
                </a:solidFill>
              </a:rPr>
              <a:t>pesimistična</a:t>
            </a:r>
            <a:r>
              <a:rPr lang="en-US" sz="2200" b="1" dirty="0">
                <a:solidFill>
                  <a:srgbClr val="0BDCBD"/>
                </a:solidFill>
              </a:rPr>
              <a:t> </a:t>
            </a:r>
            <a:r>
              <a:rPr lang="en-US" sz="2200" b="1" dirty="0" err="1">
                <a:solidFill>
                  <a:srgbClr val="0BDCBD"/>
                </a:solidFill>
              </a:rPr>
              <a:t>procjena</a:t>
            </a:r>
            <a:r>
              <a:rPr lang="en-US" sz="2200" b="1" dirty="0">
                <a:solidFill>
                  <a:srgbClr val="0BDCBD"/>
                </a:solidFill>
              </a:rPr>
              <a:t>): </a:t>
            </a:r>
            <a:r>
              <a:rPr lang="en-US" sz="2200" dirty="0" err="1"/>
              <a:t>najgori</a:t>
            </a:r>
            <a:r>
              <a:rPr lang="en-US" sz="2200" dirty="0"/>
              <a:t> </a:t>
            </a:r>
            <a:r>
              <a:rPr lang="en-US" sz="2200" dirty="0" err="1"/>
              <a:t>mogući</a:t>
            </a:r>
            <a:r>
              <a:rPr lang="en-US" sz="2200" dirty="0"/>
              <a:t> </a:t>
            </a:r>
            <a:r>
              <a:rPr lang="en-US" sz="2200" dirty="0" err="1"/>
              <a:t>scenarij</a:t>
            </a:r>
            <a:r>
              <a:rPr lang="en-US" sz="2200" dirty="0"/>
              <a:t> (</a:t>
            </a:r>
            <a:r>
              <a:rPr lang="en-US" sz="2200" dirty="0" err="1"/>
              <a:t>maksimalni</a:t>
            </a:r>
            <a:r>
              <a:rPr lang="en-US" sz="2200" dirty="0"/>
              <a:t> </a:t>
            </a:r>
            <a:r>
              <a:rPr lang="en-US" sz="2200" dirty="0" err="1"/>
              <a:t>trošak</a:t>
            </a:r>
            <a:r>
              <a:rPr lang="en-US" sz="2200" dirty="0"/>
              <a:t>).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 err="1">
                <a:solidFill>
                  <a:srgbClr val="0BDCBD"/>
                </a:solidFill>
              </a:rPr>
              <a:t>Najprikladnije</a:t>
            </a:r>
            <a:r>
              <a:rPr lang="en-US" sz="2200" b="1" dirty="0">
                <a:solidFill>
                  <a:srgbClr val="0BDCBD"/>
                </a:solidFill>
              </a:rPr>
              <a:t> za: </a:t>
            </a:r>
            <a:r>
              <a:rPr lang="en-US" sz="2200" dirty="0" err="1"/>
              <a:t>velike</a:t>
            </a:r>
            <a:r>
              <a:rPr lang="en-US" sz="2200" dirty="0"/>
              <a:t> </a:t>
            </a:r>
            <a:r>
              <a:rPr lang="en-US" sz="2200" dirty="0" err="1"/>
              <a:t>ili</a:t>
            </a:r>
            <a:r>
              <a:rPr lang="en-US" sz="2200" dirty="0"/>
              <a:t> </a:t>
            </a:r>
            <a:r>
              <a:rPr lang="en-US" sz="2200" dirty="0" err="1"/>
              <a:t>složene</a:t>
            </a:r>
            <a:r>
              <a:rPr lang="en-US" sz="2200" dirty="0"/>
              <a:t> </a:t>
            </a:r>
            <a:r>
              <a:rPr lang="en-US" sz="2200" dirty="0" err="1"/>
              <a:t>projekte</a:t>
            </a:r>
            <a:r>
              <a:rPr lang="en-US" sz="2200" dirty="0"/>
              <a:t> s </a:t>
            </a:r>
            <a:r>
              <a:rPr lang="en-US" sz="2200" b="1" dirty="0" err="1"/>
              <a:t>visokom</a:t>
            </a:r>
            <a:r>
              <a:rPr lang="en-US" sz="2200" b="1" dirty="0"/>
              <a:t> </a:t>
            </a:r>
            <a:r>
              <a:rPr lang="en-US" sz="2200" b="1" dirty="0" err="1"/>
              <a:t>razinom</a:t>
            </a:r>
            <a:r>
              <a:rPr lang="en-US" sz="2200" b="1" dirty="0"/>
              <a:t> </a:t>
            </a:r>
            <a:r>
              <a:rPr lang="en-US" sz="2200" b="1" dirty="0" err="1"/>
              <a:t>neizvjesnosti</a:t>
            </a:r>
            <a:r>
              <a:rPr lang="en-US" sz="2200" b="1" dirty="0"/>
              <a:t> </a:t>
            </a:r>
            <a:r>
              <a:rPr lang="en-US" sz="2200" dirty="0"/>
              <a:t>(</a:t>
            </a:r>
            <a:r>
              <a:rPr lang="en-US" sz="2200" dirty="0" err="1"/>
              <a:t>npr</a:t>
            </a:r>
            <a:r>
              <a:rPr lang="en-US" sz="2200" dirty="0"/>
              <a:t>. IT, </a:t>
            </a:r>
            <a:r>
              <a:rPr lang="en-US" sz="2200" dirty="0" err="1"/>
              <a:t>građevina</a:t>
            </a:r>
            <a:r>
              <a:rPr lang="en-US" sz="2200" dirty="0"/>
              <a:t>, </a:t>
            </a:r>
            <a:r>
              <a:rPr lang="en-US" sz="2200" dirty="0" err="1"/>
              <a:t>istraživanje</a:t>
            </a:r>
            <a:r>
              <a:rPr lang="en-US" sz="2200" dirty="0"/>
              <a:t> i </a:t>
            </a:r>
            <a:r>
              <a:rPr lang="en-US" sz="2200" dirty="0" err="1"/>
              <a:t>razvoj</a:t>
            </a:r>
            <a:r>
              <a:rPr lang="en-US" sz="2200" dirty="0"/>
              <a:t>).</a:t>
            </a:r>
            <a:endParaRPr lang="hr-HR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 err="1">
                <a:solidFill>
                  <a:srgbClr val="0BDCBD"/>
                </a:solidFill>
              </a:rPr>
              <a:t>Prednosti</a:t>
            </a:r>
            <a:r>
              <a:rPr lang="en-US" sz="2200" b="1" dirty="0">
                <a:solidFill>
                  <a:srgbClr val="0BDCBD"/>
                </a:solidFill>
              </a:rPr>
              <a:t>: </a:t>
            </a:r>
            <a:r>
              <a:rPr lang="en-US" sz="2200" dirty="0" err="1"/>
              <a:t>Uzima</a:t>
            </a:r>
            <a:r>
              <a:rPr lang="en-US" sz="2200" dirty="0"/>
              <a:t> u </a:t>
            </a:r>
            <a:r>
              <a:rPr lang="en-US" sz="2200" dirty="0" err="1"/>
              <a:t>obzir</a:t>
            </a:r>
            <a:r>
              <a:rPr lang="en-US" sz="2200" dirty="0"/>
              <a:t> </a:t>
            </a:r>
            <a:r>
              <a:rPr lang="en-US" sz="2200" dirty="0" err="1"/>
              <a:t>neizvjesnost</a:t>
            </a:r>
            <a:r>
              <a:rPr lang="en-US" sz="2200" dirty="0"/>
              <a:t> i </a:t>
            </a:r>
            <a:r>
              <a:rPr lang="en-US" sz="2200" dirty="0" err="1"/>
              <a:t>rizike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0BDCBD"/>
                </a:solidFill>
              </a:rPr>
              <a:t>Nedostaci</a:t>
            </a:r>
            <a:r>
              <a:rPr lang="en-US" sz="2200" b="1" dirty="0">
                <a:solidFill>
                  <a:srgbClr val="0BDCBD"/>
                </a:solidFill>
              </a:rPr>
              <a:t>:</a:t>
            </a:r>
            <a:r>
              <a:rPr lang="en-US" sz="2200" dirty="0"/>
              <a:t> </a:t>
            </a:r>
            <a:r>
              <a:rPr lang="en-US" sz="2200" dirty="0" err="1"/>
              <a:t>Zahtijeva</a:t>
            </a:r>
            <a:r>
              <a:rPr lang="en-US" sz="2200" dirty="0"/>
              <a:t> </a:t>
            </a:r>
            <a:r>
              <a:rPr lang="en-US" sz="2200" dirty="0" err="1"/>
              <a:t>stručno</a:t>
            </a:r>
            <a:r>
              <a:rPr lang="en-US" sz="2200" dirty="0"/>
              <a:t> </a:t>
            </a:r>
            <a:r>
              <a:rPr lang="en-US" sz="2200" dirty="0" err="1"/>
              <a:t>prosuđivanje</a:t>
            </a:r>
            <a:r>
              <a:rPr lang="en-US" sz="2200" dirty="0"/>
              <a:t> i </a:t>
            </a:r>
            <a:r>
              <a:rPr lang="en-US" sz="2200" dirty="0" err="1"/>
              <a:t>poznavanje</a:t>
            </a:r>
            <a:r>
              <a:rPr lang="en-US" sz="2200" dirty="0"/>
              <a:t> </a:t>
            </a:r>
            <a:r>
              <a:rPr lang="en-US" sz="2200" dirty="0" err="1"/>
              <a:t>vjerojatnosti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36544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2267-6D61-DC70-8FDF-AF03BEF0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3592-7B02-D30A-F74B-DFDBFAFA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Montserrat" panose="00000500000000000000" pitchFamily="2" charset="0"/>
              </a:rPr>
              <a:t>Vježba</a:t>
            </a:r>
            <a:r>
              <a:rPr lang="en-US" b="1" dirty="0">
                <a:latin typeface="Montserrat" panose="00000500000000000000" pitchFamily="2" charset="0"/>
              </a:rPr>
              <a:t> u tri </a:t>
            </a:r>
            <a:r>
              <a:rPr lang="en-US" b="1" dirty="0" err="1">
                <a:latin typeface="Montserrat" panose="00000500000000000000" pitchFamily="2" charset="0"/>
              </a:rPr>
              <a:t>grupe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237E6-07A6-FEA8-4D87-5ACECBDF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20" y="1690688"/>
            <a:ext cx="10033157" cy="97809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Svaki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tim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će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primijeniti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drugačiji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pristup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budžetiranju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na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sljedeći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projekt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Analizirajte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kako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biste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usporedili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metode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izrade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proračuna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i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njihovu</a:t>
            </a:r>
            <a:r>
              <a:rPr lang="en-US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en-US" sz="2400" b="1" i="1" dirty="0" err="1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učinkovitost</a:t>
            </a:r>
            <a:r>
              <a:rPr lang="en-GB" sz="2400" b="1" i="1" dirty="0">
                <a:effectLst/>
                <a:ea typeface="Bahnschrift SemiLight" panose="020B0502040204020203" pitchFamily="34" charset="0"/>
                <a:cs typeface="Bahnschrift SemiLight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GB" sz="2400" b="1" i="1" dirty="0">
              <a:effectLst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Rezervirano mjesto sadržaja 2">
            <a:extLst>
              <a:ext uri="{FF2B5EF4-FFF2-40B4-BE49-F238E27FC236}">
                <a16:creationId xmlns:a16="http://schemas.microsoft.com/office/drawing/2014/main" id="{F4576F85-F450-F13A-5F68-DE98E91E9A03}"/>
              </a:ext>
            </a:extLst>
          </p:cNvPr>
          <p:cNvSpPr>
            <a:spLocks noGrp="1"/>
          </p:cNvSpPr>
          <p:nvPr/>
        </p:nvSpPr>
        <p:spPr>
          <a:xfrm>
            <a:off x="178420" y="2877900"/>
            <a:ext cx="11618326" cy="4578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000" b="1" dirty="0">
                <a:solidFill>
                  <a:srgbClr val="0ADBBC"/>
                </a:solidFill>
              </a:rPr>
              <a:t>Obrazovna platforma </a:t>
            </a:r>
            <a:r>
              <a:rPr lang="hr-HR" sz="2000" b="1" dirty="0" err="1">
                <a:solidFill>
                  <a:srgbClr val="0ADBBC"/>
                </a:solidFill>
              </a:rPr>
              <a:t>CraftEase</a:t>
            </a:r>
            <a:r>
              <a:rPr lang="hr-HR" sz="2000" b="1" dirty="0">
                <a:solidFill>
                  <a:srgbClr val="0ADBBC"/>
                </a:solidFill>
              </a:rPr>
              <a:t> za DIY („uradi sam”) projekte; 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Proračun: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50.000 – 100.000 EUR;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Vremenski okvir: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6 mjeseci;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Zadatak: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oni su voditelji projekta (PM) u IT tvrtki koja isporučuje digitalno rješenje za maloprodajnog klijenta;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Klijent: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trgovina koja prodaje materijale (Bauhaus, Brico ili slično – električni materijal, DIY, građevinski materijal);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Tim: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može imati 5 članova;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Tvrtka: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20 zaposlenika, uključujući developere, UX/IX dizajnere, financijski i ugovorni odjel, grafičke dizajnere, bez poslovnog analitičara;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Zahtjevi klijenta: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web platforma, korisnički račun (login), multimedijalni DIY </a:t>
            </a:r>
            <a:r>
              <a:rPr lang="hr-HR" sz="1600" dirty="0" err="1">
                <a:highlight>
                  <a:srgbClr val="FFFFFF"/>
                </a:highlight>
                <a:latin typeface="Bahnschrift SemiLight"/>
              </a:rPr>
              <a:t>tutorijali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, opcija sviđanja/nesviđanja </a:t>
            </a:r>
            <a:r>
              <a:rPr lang="hr-HR" sz="1600" dirty="0" err="1">
                <a:highlight>
                  <a:srgbClr val="FFFFFF"/>
                </a:highlight>
                <a:latin typeface="Bahnschrift SemiLight"/>
              </a:rPr>
              <a:t>tutorijala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, prijava na radionice;</a:t>
            </a:r>
          </a:p>
          <a:p>
            <a:r>
              <a:rPr lang="hr-HR" sz="1600" b="1" dirty="0">
                <a:highlight>
                  <a:srgbClr val="FFFFFF"/>
                </a:highlight>
                <a:latin typeface="Bahnschrift SemiLight"/>
              </a:rPr>
              <a:t>Uloge na platformi: 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korisnik platforme (gleda izrađene DIY projekte), zaposlenik trgovine (izrađuje DIY </a:t>
            </a:r>
            <a:r>
              <a:rPr lang="hr-HR" sz="1600" dirty="0" err="1">
                <a:highlight>
                  <a:srgbClr val="FFFFFF"/>
                </a:highlight>
                <a:latin typeface="Bahnschrift SemiLight"/>
              </a:rPr>
              <a:t>tutorijale</a:t>
            </a:r>
            <a:r>
              <a:rPr lang="hr-HR" sz="1600" dirty="0">
                <a:highlight>
                  <a:srgbClr val="FFFFFF"/>
                </a:highlight>
                <a:latin typeface="Bahnschrift SemiLight"/>
              </a:rPr>
              <a:t>/videozapise),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1529455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C1248-B769-C1F0-5FFF-C81A22CF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EA13CC-0ED2-11D6-C76B-35CB13932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2" y="1690687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u="sng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2"/>
              </a:rPr>
              <a:t>PMI.org</a:t>
            </a:r>
            <a:endParaRPr lang="en-GB" u="sng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GB" u="sng">
              <a:solidFill>
                <a:srgbClr val="0563C1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u="sng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3"/>
              </a:rPr>
              <a:t>PMBOK Guide</a:t>
            </a:r>
            <a:endParaRPr lang="en-GB" u="sng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u="sng">
              <a:solidFill>
                <a:srgbClr val="0563C1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>
                <a:hlinkClick r:id="rId4"/>
              </a:rPr>
              <a:t>Project Management Journal: Sage </a:t>
            </a:r>
            <a:r>
              <a:rPr lang="fr-FR" err="1">
                <a:hlinkClick r:id="rId4"/>
              </a:rPr>
              <a:t>Journals</a:t>
            </a: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r>
              <a:rPr lang="fr-FR" b="1">
                <a:cs typeface="Arial" panose="020B0604020202020204" pitchFamily="34" charset="0"/>
              </a:rPr>
              <a:t>How to </a:t>
            </a:r>
            <a:r>
              <a:rPr lang="fr-FR" b="1" err="1">
                <a:cs typeface="Arial" panose="020B0604020202020204" pitchFamily="34" charset="0"/>
              </a:rPr>
              <a:t>creat</a:t>
            </a:r>
            <a:r>
              <a:rPr lang="fr-FR" b="1">
                <a:cs typeface="Arial" panose="020B0604020202020204" pitchFamily="34" charset="0"/>
              </a:rPr>
              <a:t> a WBS</a:t>
            </a:r>
          </a:p>
          <a:p>
            <a:pPr marL="0" indent="0">
              <a:buNone/>
            </a:pPr>
            <a:r>
              <a:rPr lang="fr-FR">
                <a:cs typeface="Arial" panose="020B0604020202020204" pitchFamily="34" charset="0"/>
                <a:hlinkClick r:id="rId5"/>
              </a:rPr>
              <a:t>https://www.youtube.com/watch?v=PyR2VLP3xnA&amp;ab_channel=OnlinePMCourses-MikeClayton</a:t>
            </a:r>
            <a:r>
              <a:rPr lang="fr-FR"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b="1" i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b="1" i="0">
                <a:solidFill>
                  <a:srgbClr val="0F0F0F"/>
                </a:solidFill>
                <a:effectLst/>
              </a:rPr>
              <a:t>How Great IT Project Managers Create Project Budget</a:t>
            </a:r>
          </a:p>
          <a:p>
            <a:pPr marL="0" indent="0">
              <a:buNone/>
            </a:pPr>
            <a:r>
              <a:rPr lang="en-US">
                <a:cs typeface="Arial" panose="020B0604020202020204" pitchFamily="34" charset="0"/>
                <a:hlinkClick r:id="rId6"/>
              </a:rPr>
              <a:t>https://youtu.be/cJ2WGy0I3wg?si=hHK44hitRQeN26b9</a:t>
            </a:r>
            <a:r>
              <a:rPr lang="fr-FR">
                <a:cs typeface="Arial" panose="020B0604020202020204" pitchFamily="34" charset="0"/>
              </a:rPr>
              <a:t> </a:t>
            </a:r>
            <a:endParaRPr lang="en-US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75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85A2BCC9-DFAF-A944-3825-DE48AB02071D}"/>
              </a:ext>
            </a:extLst>
          </p:cNvPr>
          <p:cNvSpPr txBox="1"/>
          <p:nvPr/>
        </p:nvSpPr>
        <p:spPr>
          <a:xfrm>
            <a:off x="914400" y="553452"/>
            <a:ext cx="8145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DODATNI MATERIJALI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566B8B66-D8DF-9BDD-0AD5-997A33A86E00}"/>
              </a:ext>
            </a:extLst>
          </p:cNvPr>
          <p:cNvSpPr txBox="1"/>
          <p:nvPr/>
        </p:nvSpPr>
        <p:spPr>
          <a:xfrm>
            <a:off x="446776" y="2027977"/>
            <a:ext cx="908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o-RO" dirty="0"/>
            </a:br>
            <a:endParaRPr lang="ro-RO" dirty="0"/>
          </a:p>
          <a:p>
            <a:endParaRPr lang="ro-RO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CCA2F5CC-E586-965A-2FB8-42013F8AE37A}"/>
              </a:ext>
            </a:extLst>
          </p:cNvPr>
          <p:cNvSpPr txBox="1"/>
          <p:nvPr/>
        </p:nvSpPr>
        <p:spPr>
          <a:xfrm>
            <a:off x="1021532" y="2152367"/>
            <a:ext cx="949708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sz="2800" u="sng" noProof="0" dirty="0">
                <a:solidFill>
                  <a:srgbClr val="0563C1"/>
                </a:solidFill>
                <a:latin typeface="Bahnschrift Semi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Atlassian – Project Scope Guide</a:t>
            </a:r>
            <a:endParaRPr lang="en-US" sz="2800" noProof="0" dirty="0"/>
          </a:p>
          <a:p>
            <a:br>
              <a:rPr lang="en-US" sz="2800" noProof="0" dirty="0"/>
            </a:br>
            <a:r>
              <a:rPr lang="en-US" sz="2800" u="sng" noProof="0" dirty="0">
                <a:solidFill>
                  <a:srgbClr val="0563C1"/>
                </a:solidFill>
                <a:latin typeface="Bahnschrift Semi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Atlassian – Work Breakdown Structure Guide</a:t>
            </a:r>
            <a:br>
              <a:rPr lang="en-US" sz="2800" noProof="0" dirty="0"/>
            </a:br>
            <a:br>
              <a:rPr lang="en-US" sz="2800" noProof="0" dirty="0"/>
            </a:br>
            <a:r>
              <a:rPr lang="en-US" sz="2800" u="sng" noProof="0" dirty="0">
                <a:solidFill>
                  <a:srgbClr val="0563C1"/>
                </a:solidFill>
                <a:latin typeface="Bahnschrift SemiLigh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ProjectManager – Gantt Chart Guide</a:t>
            </a:r>
            <a:br>
              <a:rPr lang="en-US" sz="2800" noProof="0" dirty="0"/>
            </a:br>
            <a:endParaRPr lang="en-US" sz="2800" noProof="0" dirty="0"/>
          </a:p>
          <a:p>
            <a:r>
              <a:rPr lang="ro-RO" dirty="0"/>
              <a:t> </a:t>
            </a:r>
            <a:endParaRPr lang="ro-RO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8699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0725af-73e2-4213-b62d-dcea596e5d6d">
      <Terms xmlns="http://schemas.microsoft.com/office/infopath/2007/PartnerControls"/>
    </lcf76f155ced4ddcb4097134ff3c332f>
    <TaxCatchAll xmlns="e6fa96dc-0a02-4bd9-bdcb-2aa22c1a57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CC08E76AEB004B8A6B2F235BBAB143" ma:contentTypeVersion="19" ma:contentTypeDescription="Create a new document." ma:contentTypeScope="" ma:versionID="b126276037d73a60ecdb5034901a4665">
  <xsd:schema xmlns:xsd="http://www.w3.org/2001/XMLSchema" xmlns:xs="http://www.w3.org/2001/XMLSchema" xmlns:p="http://schemas.microsoft.com/office/2006/metadata/properties" xmlns:ns2="5e0725af-73e2-4213-b62d-dcea596e5d6d" xmlns:ns3="e6fa96dc-0a02-4bd9-bdcb-2aa22c1a578f" targetNamespace="http://schemas.microsoft.com/office/2006/metadata/properties" ma:root="true" ma:fieldsID="77aeb5855ce30fad2cc8b28886ebdb2f" ns2:_="" ns3:_="">
    <xsd:import namespace="5e0725af-73e2-4213-b62d-dcea596e5d6d"/>
    <xsd:import namespace="e6fa96dc-0a02-4bd9-bdcb-2aa22c1a5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725af-73e2-4213-b62d-dcea596e5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051300b-affb-4af5-9054-83ab1355c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fa96dc-0a02-4bd9-bdcb-2aa22c1a57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ee04ee1-424f-44c6-b165-f66518ce87aa}" ma:internalName="TaxCatchAll" ma:showField="CatchAllData" ma:web="e6fa96dc-0a02-4bd9-bdcb-2aa22c1a57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167A6-4509-4CDC-872E-B75078D0A4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8D62CC-B914-477D-B9D0-0F95ABEF2B0F}">
  <ds:schemaRefs>
    <ds:schemaRef ds:uri="178ab0e0-c460-419a-847d-ca81e089ac39"/>
    <ds:schemaRef ds:uri="5ccc8f2e-ac27-4ac8-8955-ea2701adcc78"/>
    <ds:schemaRef ds:uri="5e0725af-73e2-4213-b62d-dcea596e5d6d"/>
    <ds:schemaRef ds:uri="e6fa96dc-0a02-4bd9-bdcb-2aa22c1a578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42D9652-0109-4799-9275-987FA4CDD1C4}">
  <ds:schemaRefs>
    <ds:schemaRef ds:uri="5e0725af-73e2-4213-b62d-dcea596e5d6d"/>
    <ds:schemaRef ds:uri="e6fa96dc-0a02-4bd9-bdcb-2aa22c1a57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3713</Words>
  <Application>Microsoft Macintosh PowerPoint</Application>
  <PresentationFormat>Widescreen</PresentationFormat>
  <Paragraphs>445</Paragraphs>
  <Slides>39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Aptos</vt:lpstr>
      <vt:lpstr>Arial</vt:lpstr>
      <vt:lpstr>Bahnschrift</vt:lpstr>
      <vt:lpstr>Bahnschrift SemiBold</vt:lpstr>
      <vt:lpstr>Bahnschrift SemiLight</vt:lpstr>
      <vt:lpstr>Calibri</vt:lpstr>
      <vt:lpstr>Calibri Light</vt:lpstr>
      <vt:lpstr>Montserrat</vt:lpstr>
      <vt:lpstr>Nunito</vt:lpstr>
      <vt:lpstr>Roboto</vt:lpstr>
      <vt:lpstr>Wingdings</vt:lpstr>
      <vt:lpstr>Tema sustava Office</vt:lpstr>
      <vt:lpstr>1_Tema sustava Office</vt:lpstr>
      <vt:lpstr>SHIFT4IT</vt:lpstr>
      <vt:lpstr>  Planiranje rada</vt:lpstr>
      <vt:lpstr>Sažetak</vt:lpstr>
      <vt:lpstr>Definirati komponente plana upravljanja projektom Međusobna ovisnost opsega, rasporeda i proračuna u PMP-u</vt:lpstr>
      <vt:lpstr> Plan upravljanja projektom</vt:lpstr>
      <vt:lpstr>Komponente plana upravljanja projektom I.</vt:lpstr>
      <vt:lpstr>Komponente plana upravljanja projektom II.</vt:lpstr>
      <vt:lpstr>Komponente plana upravljanja projektom III.</vt:lpstr>
      <vt:lpstr>Plan upravljanja projektom (PMP)  primjer I. </vt:lpstr>
      <vt:lpstr>Plan upravljanja projektom (PMP)  primjer II. </vt:lpstr>
      <vt:lpstr>Plan upravljanja projektom (PMP)  primjer III. </vt:lpstr>
      <vt:lpstr>Plan upravljanja projektom (PMP)  primjer IV. </vt:lpstr>
      <vt:lpstr>Grupne vježbe</vt:lpstr>
      <vt:lpstr>PLANIRANJE RADA </vt:lpstr>
      <vt:lpstr>Kako napisati jasan i sažet opis opsega projekta?</vt:lpstr>
      <vt:lpstr>Opis opsega projekta (Scope Statement)_primjer: Strategija22</vt:lpstr>
      <vt:lpstr>Opis opsega projekta (Scope Statement)_primjer: Strategija22</vt:lpstr>
      <vt:lpstr>Vježba  </vt:lpstr>
      <vt:lpstr>Što je struktura raščlambe rada (Work Breakdown Structure - WBS)?</vt:lpstr>
      <vt:lpstr>Zašto je WBS važan? I.</vt:lpstr>
      <vt:lpstr>Zašto je WBS važan? II.</vt:lpstr>
      <vt:lpstr>Primjer WBS-a za projekt razvoja mobilne aplikacije</vt:lpstr>
      <vt:lpstr>Vježba  </vt:lpstr>
      <vt:lpstr>PLANIRANJE RADA </vt:lpstr>
      <vt:lpstr>Ključna terminologija vezana uz raspoređivanje u upravljanju projektima I.  </vt:lpstr>
      <vt:lpstr>Ključna terminologija vezana uz raspoređivanje u upravljanju projektima II.  </vt:lpstr>
      <vt:lpstr>Ključna terminologija vezana uz raspoređivanje u upravljanju projektima III.  </vt:lpstr>
      <vt:lpstr>Ključna terminologija vezana uz raspoređivanje u upravljanju projektima IV.  </vt:lpstr>
      <vt:lpstr>Utjecaj dostupnosti resursa na raspored projekta I.  </vt:lpstr>
      <vt:lpstr>Utjecaj dostupnosti resursa na raspored projekta II.  </vt:lpstr>
      <vt:lpstr>Grupna vježba - CraftEase   </vt:lpstr>
      <vt:lpstr>Grupna vježba  - CraftEase</vt:lpstr>
      <vt:lpstr>PLANIRANJE RADA </vt:lpstr>
      <vt:lpstr>1. Top-Down budžetiranje</vt:lpstr>
      <vt:lpstr>2. Bottom-Up budžetiranje </vt:lpstr>
      <vt:lpstr>3. Three Point budžetiranje</vt:lpstr>
      <vt:lpstr>Vježba u tri grupe</vt:lpstr>
      <vt:lpstr>IZVORI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Dino Duvnjak</cp:lastModifiedBy>
  <cp:revision>66</cp:revision>
  <dcterms:created xsi:type="dcterms:W3CDTF">2024-02-12T13:35:47Z</dcterms:created>
  <dcterms:modified xsi:type="dcterms:W3CDTF">2026-05-18T07:43:28Z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0x010100AACC08E76AEB004B8A6B2F235BBAB143</vt:lpwstr>
  </property>
  <property fmtid="{D5CDD505-2E9C-101B-9397-08002B2CF9AE}" pid="3" name="MediaServiceImageTags">
    <vt:lpwstr/>
  </property>
</Properties>
</file>
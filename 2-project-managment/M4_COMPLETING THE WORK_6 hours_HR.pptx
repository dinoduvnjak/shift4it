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Lst>
  <p:notesMasterIdLst>
    <p:notesMasterId r:id="rId62"/>
  </p:notesMasterIdLst>
  <p:sldIdLst>
    <p:sldId id="373" r:id="rId6"/>
    <p:sldId id="451" r:id="rId7"/>
    <p:sldId id="257" r:id="rId8"/>
    <p:sldId id="312" r:id="rId9"/>
    <p:sldId id="313" r:id="rId10"/>
    <p:sldId id="314" r:id="rId11"/>
    <p:sldId id="315" r:id="rId12"/>
    <p:sldId id="316" r:id="rId13"/>
    <p:sldId id="452" r:id="rId14"/>
    <p:sldId id="317" r:id="rId15"/>
    <p:sldId id="453" r:id="rId16"/>
    <p:sldId id="273" r:id="rId17"/>
    <p:sldId id="318" r:id="rId18"/>
    <p:sldId id="319" r:id="rId19"/>
    <p:sldId id="320" r:id="rId20"/>
    <p:sldId id="321" r:id="rId21"/>
    <p:sldId id="454" r:id="rId22"/>
    <p:sldId id="322" r:id="rId23"/>
    <p:sldId id="323" r:id="rId24"/>
    <p:sldId id="324" r:id="rId25"/>
    <p:sldId id="455" r:id="rId26"/>
    <p:sldId id="325" r:id="rId27"/>
    <p:sldId id="326" r:id="rId28"/>
    <p:sldId id="327" r:id="rId29"/>
    <p:sldId id="328" r:id="rId30"/>
    <p:sldId id="329" r:id="rId31"/>
    <p:sldId id="333" r:id="rId32"/>
    <p:sldId id="330" r:id="rId33"/>
    <p:sldId id="331" r:id="rId34"/>
    <p:sldId id="332" r:id="rId35"/>
    <p:sldId id="338" r:id="rId36"/>
    <p:sldId id="334" r:id="rId37"/>
    <p:sldId id="337" r:id="rId38"/>
    <p:sldId id="335" r:id="rId39"/>
    <p:sldId id="456" r:id="rId40"/>
    <p:sldId id="336" r:id="rId41"/>
    <p:sldId id="457" r:id="rId42"/>
    <p:sldId id="339" r:id="rId43"/>
    <p:sldId id="341" r:id="rId44"/>
    <p:sldId id="458" r:id="rId45"/>
    <p:sldId id="342" r:id="rId46"/>
    <p:sldId id="343" r:id="rId47"/>
    <p:sldId id="344" r:id="rId48"/>
    <p:sldId id="345" r:id="rId49"/>
    <p:sldId id="346" r:id="rId50"/>
    <p:sldId id="347" r:id="rId51"/>
    <p:sldId id="348" r:id="rId52"/>
    <p:sldId id="459" r:id="rId53"/>
    <p:sldId id="349" r:id="rId54"/>
    <p:sldId id="350" r:id="rId55"/>
    <p:sldId id="353" r:id="rId56"/>
    <p:sldId id="354" r:id="rId57"/>
    <p:sldId id="351" r:id="rId58"/>
    <p:sldId id="372" r:id="rId59"/>
    <p:sldId id="371" r:id="rId60"/>
    <p:sldId id="462" r:id="rId61"/>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DCBD"/>
    <a:srgbClr val="CBF7F0"/>
    <a:srgbClr val="80ECDD"/>
    <a:srgbClr val="15DDC0"/>
    <a:srgbClr val="10DDBE"/>
    <a:srgbClr val="9CEFE5"/>
    <a:srgbClr val="0ADBBC"/>
    <a:srgbClr val="1BDEC0"/>
    <a:srgbClr val="22DFC1"/>
    <a:srgbClr val="78E8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A98CD-8709-47EB-90CF-757BB3F74BED}" v="58" dt="2026-03-11T14:55:22.6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74" autoAdjust="0"/>
    <p:restoredTop sz="80704" autoAdjust="0"/>
  </p:normalViewPr>
  <p:slideViewPr>
    <p:cSldViewPr snapToGrid="0">
      <p:cViewPr varScale="1">
        <p:scale>
          <a:sx n="60" d="100"/>
          <a:sy n="60" d="100"/>
        </p:scale>
        <p:origin x="108" y="7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nelia Popescu" userId="444ac7d1-afda-4314-b2c2-4aff562fe857" providerId="ADAL" clId="{3812F0D7-A263-41B2-AC96-1F3B68D731C9}"/>
    <pc:docChg chg="undo custSel addSld delSld modSld sldOrd">
      <pc:chgData name="Cornelia Popescu" userId="444ac7d1-afda-4314-b2c2-4aff562fe857" providerId="ADAL" clId="{3812F0D7-A263-41B2-AC96-1F3B68D731C9}" dt="2026-03-11T14:59:45.031" v="1331" actId="255"/>
      <pc:docMkLst>
        <pc:docMk/>
      </pc:docMkLst>
      <pc:sldChg chg="del">
        <pc:chgData name="Cornelia Popescu" userId="444ac7d1-afda-4314-b2c2-4aff562fe857" providerId="ADAL" clId="{3812F0D7-A263-41B2-AC96-1F3B68D731C9}" dt="2026-03-11T10:41:58.727" v="58" actId="2696"/>
        <pc:sldMkLst>
          <pc:docMk/>
          <pc:sldMk cId="495518943" sldId="256"/>
        </pc:sldMkLst>
      </pc:sldChg>
      <pc:sldChg chg="modSp mod">
        <pc:chgData name="Cornelia Popescu" userId="444ac7d1-afda-4314-b2c2-4aff562fe857" providerId="ADAL" clId="{3812F0D7-A263-41B2-AC96-1F3B68D731C9}" dt="2026-03-11T10:43:55.590" v="115" actId="1076"/>
        <pc:sldMkLst>
          <pc:docMk/>
          <pc:sldMk cId="1289221887" sldId="257"/>
        </pc:sldMkLst>
        <pc:spChg chg="mod">
          <ac:chgData name="Cornelia Popescu" userId="444ac7d1-afda-4314-b2c2-4aff562fe857" providerId="ADAL" clId="{3812F0D7-A263-41B2-AC96-1F3B68D731C9}" dt="2026-03-11T10:43:55.590" v="115" actId="1076"/>
          <ac:spMkLst>
            <pc:docMk/>
            <pc:sldMk cId="1289221887" sldId="257"/>
            <ac:spMk id="5" creationId="{570ECF99-E624-738F-8E5E-81BC8BE6E325}"/>
          </ac:spMkLst>
        </pc:spChg>
      </pc:sldChg>
      <pc:sldChg chg="modSp mod">
        <pc:chgData name="Cornelia Popescu" userId="444ac7d1-afda-4314-b2c2-4aff562fe857" providerId="ADAL" clId="{3812F0D7-A263-41B2-AC96-1F3B68D731C9}" dt="2026-03-11T11:52:28.605" v="229" actId="108"/>
        <pc:sldMkLst>
          <pc:docMk/>
          <pc:sldMk cId="3159480992" sldId="273"/>
        </pc:sldMkLst>
        <pc:spChg chg="mod">
          <ac:chgData name="Cornelia Popescu" userId="444ac7d1-afda-4314-b2c2-4aff562fe857" providerId="ADAL" clId="{3812F0D7-A263-41B2-AC96-1F3B68D731C9}" dt="2026-03-11T11:51:51.825" v="226" actId="1076"/>
          <ac:spMkLst>
            <pc:docMk/>
            <pc:sldMk cId="3159480992" sldId="273"/>
            <ac:spMk id="2" creationId="{FE0C4193-E25D-93F4-D4F6-B0A6D7A99D7C}"/>
          </ac:spMkLst>
        </pc:spChg>
        <pc:spChg chg="mod">
          <ac:chgData name="Cornelia Popescu" userId="444ac7d1-afda-4314-b2c2-4aff562fe857" providerId="ADAL" clId="{3812F0D7-A263-41B2-AC96-1F3B68D731C9}" dt="2026-03-11T11:52:28.605" v="229" actId="108"/>
          <ac:spMkLst>
            <pc:docMk/>
            <pc:sldMk cId="3159480992" sldId="273"/>
            <ac:spMk id="3" creationId="{E4C04CC9-1646-FB74-90EC-0DCF5D5176B9}"/>
          </ac:spMkLst>
        </pc:spChg>
      </pc:sldChg>
      <pc:sldChg chg="modSp mod">
        <pc:chgData name="Cornelia Popescu" userId="444ac7d1-afda-4314-b2c2-4aff562fe857" providerId="ADAL" clId="{3812F0D7-A263-41B2-AC96-1F3B68D731C9}" dt="2026-03-11T10:45:16.096" v="125" actId="1076"/>
        <pc:sldMkLst>
          <pc:docMk/>
          <pc:sldMk cId="830877371" sldId="312"/>
        </pc:sldMkLst>
        <pc:spChg chg="mod">
          <ac:chgData name="Cornelia Popescu" userId="444ac7d1-afda-4314-b2c2-4aff562fe857" providerId="ADAL" clId="{3812F0D7-A263-41B2-AC96-1F3B68D731C9}" dt="2026-03-11T10:44:50.868" v="121" actId="108"/>
          <ac:spMkLst>
            <pc:docMk/>
            <pc:sldMk cId="830877371" sldId="312"/>
            <ac:spMk id="4" creationId="{D1EC24C1-8AAE-18C1-BE59-53E8E2103662}"/>
          </ac:spMkLst>
        </pc:spChg>
        <pc:spChg chg="mod">
          <ac:chgData name="Cornelia Popescu" userId="444ac7d1-afda-4314-b2c2-4aff562fe857" providerId="ADAL" clId="{3812F0D7-A263-41B2-AC96-1F3B68D731C9}" dt="2026-03-11T10:45:16.096" v="125" actId="1076"/>
          <ac:spMkLst>
            <pc:docMk/>
            <pc:sldMk cId="830877371" sldId="312"/>
            <ac:spMk id="5" creationId="{40030248-DCEA-913D-14AD-9F59B5C79460}"/>
          </ac:spMkLst>
        </pc:spChg>
      </pc:sldChg>
      <pc:sldChg chg="modSp mod">
        <pc:chgData name="Cornelia Popescu" userId="444ac7d1-afda-4314-b2c2-4aff562fe857" providerId="ADAL" clId="{3812F0D7-A263-41B2-AC96-1F3B68D731C9}" dt="2026-03-11T10:49:12.454" v="137" actId="108"/>
        <pc:sldMkLst>
          <pc:docMk/>
          <pc:sldMk cId="60367082" sldId="313"/>
        </pc:sldMkLst>
        <pc:spChg chg="mod">
          <ac:chgData name="Cornelia Popescu" userId="444ac7d1-afda-4314-b2c2-4aff562fe857" providerId="ADAL" clId="{3812F0D7-A263-41B2-AC96-1F3B68D731C9}" dt="2026-03-11T10:48:33.004" v="131" actId="1076"/>
          <ac:spMkLst>
            <pc:docMk/>
            <pc:sldMk cId="60367082" sldId="313"/>
            <ac:spMk id="7" creationId="{B5D4CE24-3211-4CEF-0CC3-39ABDBDDB912}"/>
          </ac:spMkLst>
        </pc:spChg>
        <pc:spChg chg="mod">
          <ac:chgData name="Cornelia Popescu" userId="444ac7d1-afda-4314-b2c2-4aff562fe857" providerId="ADAL" clId="{3812F0D7-A263-41B2-AC96-1F3B68D731C9}" dt="2026-03-11T10:49:12.454" v="137" actId="108"/>
          <ac:spMkLst>
            <pc:docMk/>
            <pc:sldMk cId="60367082" sldId="313"/>
            <ac:spMk id="8" creationId="{34EFA878-5D94-3737-2213-973832634294}"/>
          </ac:spMkLst>
        </pc:spChg>
      </pc:sldChg>
      <pc:sldChg chg="modSp mod">
        <pc:chgData name="Cornelia Popescu" userId="444ac7d1-afda-4314-b2c2-4aff562fe857" providerId="ADAL" clId="{3812F0D7-A263-41B2-AC96-1F3B68D731C9}" dt="2026-03-11T10:50:39.606" v="144" actId="108"/>
        <pc:sldMkLst>
          <pc:docMk/>
          <pc:sldMk cId="1444725985" sldId="314"/>
        </pc:sldMkLst>
        <pc:spChg chg="mod">
          <ac:chgData name="Cornelia Popescu" userId="444ac7d1-afda-4314-b2c2-4aff562fe857" providerId="ADAL" clId="{3812F0D7-A263-41B2-AC96-1F3B68D731C9}" dt="2026-03-11T10:50:03.171" v="138" actId="108"/>
          <ac:spMkLst>
            <pc:docMk/>
            <pc:sldMk cId="1444725985" sldId="314"/>
            <ac:spMk id="5" creationId="{0C2E7BBC-975C-5D7B-27A3-6F52411EB232}"/>
          </ac:spMkLst>
        </pc:spChg>
        <pc:spChg chg="mod">
          <ac:chgData name="Cornelia Popescu" userId="444ac7d1-afda-4314-b2c2-4aff562fe857" providerId="ADAL" clId="{3812F0D7-A263-41B2-AC96-1F3B68D731C9}" dt="2026-03-11T10:50:39.606" v="144" actId="108"/>
          <ac:spMkLst>
            <pc:docMk/>
            <pc:sldMk cId="1444725985" sldId="314"/>
            <ac:spMk id="7" creationId="{E15CF992-BFA5-3C48-2A6A-FCCDC6C0BB13}"/>
          </ac:spMkLst>
        </pc:spChg>
      </pc:sldChg>
      <pc:sldChg chg="modSp mod">
        <pc:chgData name="Cornelia Popescu" userId="444ac7d1-afda-4314-b2c2-4aff562fe857" providerId="ADAL" clId="{3812F0D7-A263-41B2-AC96-1F3B68D731C9}" dt="2026-03-11T11:34:10.564" v="152" actId="108"/>
        <pc:sldMkLst>
          <pc:docMk/>
          <pc:sldMk cId="1438216629" sldId="315"/>
        </pc:sldMkLst>
        <pc:spChg chg="mod">
          <ac:chgData name="Cornelia Popescu" userId="444ac7d1-afda-4314-b2c2-4aff562fe857" providerId="ADAL" clId="{3812F0D7-A263-41B2-AC96-1F3B68D731C9}" dt="2026-03-11T11:30:36.341" v="149" actId="255"/>
          <ac:spMkLst>
            <pc:docMk/>
            <pc:sldMk cId="1438216629" sldId="315"/>
            <ac:spMk id="2" creationId="{08352084-D1A1-75EB-47E3-B2C0FF4078B7}"/>
          </ac:spMkLst>
        </pc:spChg>
        <pc:spChg chg="mod">
          <ac:chgData name="Cornelia Popescu" userId="444ac7d1-afda-4314-b2c2-4aff562fe857" providerId="ADAL" clId="{3812F0D7-A263-41B2-AC96-1F3B68D731C9}" dt="2026-03-11T11:34:10.564" v="152" actId="108"/>
          <ac:spMkLst>
            <pc:docMk/>
            <pc:sldMk cId="1438216629" sldId="315"/>
            <ac:spMk id="3" creationId="{4089338D-7FCD-76C2-BAD2-D98AD98851FF}"/>
          </ac:spMkLst>
        </pc:spChg>
      </pc:sldChg>
      <pc:sldChg chg="modSp mod">
        <pc:chgData name="Cornelia Popescu" userId="444ac7d1-afda-4314-b2c2-4aff562fe857" providerId="ADAL" clId="{3812F0D7-A263-41B2-AC96-1F3B68D731C9}" dt="2026-03-11T11:41:03.306" v="200" actId="255"/>
        <pc:sldMkLst>
          <pc:docMk/>
          <pc:sldMk cId="2876685787" sldId="316"/>
        </pc:sldMkLst>
        <pc:spChg chg="mod">
          <ac:chgData name="Cornelia Popescu" userId="444ac7d1-afda-4314-b2c2-4aff562fe857" providerId="ADAL" clId="{3812F0D7-A263-41B2-AC96-1F3B68D731C9}" dt="2026-03-11T11:41:03.306" v="200" actId="255"/>
          <ac:spMkLst>
            <pc:docMk/>
            <pc:sldMk cId="2876685787" sldId="316"/>
            <ac:spMk id="2" creationId="{329B0339-35CB-F665-5F15-4FC91A22FEAB}"/>
          </ac:spMkLst>
        </pc:spChg>
        <pc:spChg chg="mod">
          <ac:chgData name="Cornelia Popescu" userId="444ac7d1-afda-4314-b2c2-4aff562fe857" providerId="ADAL" clId="{3812F0D7-A263-41B2-AC96-1F3B68D731C9}" dt="2026-03-11T11:38:48.259" v="186" actId="255"/>
          <ac:spMkLst>
            <pc:docMk/>
            <pc:sldMk cId="2876685787" sldId="316"/>
            <ac:spMk id="3" creationId="{6637A77D-AA92-4BB1-591B-FCA51CA979D2}"/>
          </ac:spMkLst>
        </pc:spChg>
      </pc:sldChg>
      <pc:sldChg chg="modSp mod">
        <pc:chgData name="Cornelia Popescu" userId="444ac7d1-afda-4314-b2c2-4aff562fe857" providerId="ADAL" clId="{3812F0D7-A263-41B2-AC96-1F3B68D731C9}" dt="2026-03-11T11:42:55.920" v="211" actId="108"/>
        <pc:sldMkLst>
          <pc:docMk/>
          <pc:sldMk cId="3049684316" sldId="317"/>
        </pc:sldMkLst>
        <pc:spChg chg="mod">
          <ac:chgData name="Cornelia Popescu" userId="444ac7d1-afda-4314-b2c2-4aff562fe857" providerId="ADAL" clId="{3812F0D7-A263-41B2-AC96-1F3B68D731C9}" dt="2026-03-11T11:41:36.472" v="202" actId="108"/>
          <ac:spMkLst>
            <pc:docMk/>
            <pc:sldMk cId="3049684316" sldId="317"/>
            <ac:spMk id="2" creationId="{A2B76458-3DE5-AAB3-D650-2F01BFBEC461}"/>
          </ac:spMkLst>
        </pc:spChg>
        <pc:spChg chg="mod">
          <ac:chgData name="Cornelia Popescu" userId="444ac7d1-afda-4314-b2c2-4aff562fe857" providerId="ADAL" clId="{3812F0D7-A263-41B2-AC96-1F3B68D731C9}" dt="2026-03-11T11:42:55.920" v="211" actId="108"/>
          <ac:spMkLst>
            <pc:docMk/>
            <pc:sldMk cId="3049684316" sldId="317"/>
            <ac:spMk id="3" creationId="{1AD4B7F4-9606-AEAB-2F25-C2F30AB216A6}"/>
          </ac:spMkLst>
        </pc:spChg>
      </pc:sldChg>
      <pc:sldChg chg="modSp mod">
        <pc:chgData name="Cornelia Popescu" userId="444ac7d1-afda-4314-b2c2-4aff562fe857" providerId="ADAL" clId="{3812F0D7-A263-41B2-AC96-1F3B68D731C9}" dt="2026-03-11T11:53:53.116" v="237" actId="1076"/>
        <pc:sldMkLst>
          <pc:docMk/>
          <pc:sldMk cId="2740787956" sldId="318"/>
        </pc:sldMkLst>
        <pc:spChg chg="mod">
          <ac:chgData name="Cornelia Popescu" userId="444ac7d1-afda-4314-b2c2-4aff562fe857" providerId="ADAL" clId="{3812F0D7-A263-41B2-AC96-1F3B68D731C9}" dt="2026-03-11T11:53:12.637" v="230" actId="108"/>
          <ac:spMkLst>
            <pc:docMk/>
            <pc:sldMk cId="2740787956" sldId="318"/>
            <ac:spMk id="4" creationId="{C894F1FC-46C2-9ADC-64BD-523E5350C4B8}"/>
          </ac:spMkLst>
        </pc:spChg>
        <pc:spChg chg="mod">
          <ac:chgData name="Cornelia Popescu" userId="444ac7d1-afda-4314-b2c2-4aff562fe857" providerId="ADAL" clId="{3812F0D7-A263-41B2-AC96-1F3B68D731C9}" dt="2026-03-11T11:53:53.116" v="237" actId="1076"/>
          <ac:spMkLst>
            <pc:docMk/>
            <pc:sldMk cId="2740787956" sldId="318"/>
            <ac:spMk id="5" creationId="{69EBB6CF-9947-FC56-7DCD-C6307D7EA6F3}"/>
          </ac:spMkLst>
        </pc:spChg>
      </pc:sldChg>
      <pc:sldChg chg="modSp mod">
        <pc:chgData name="Cornelia Popescu" userId="444ac7d1-afda-4314-b2c2-4aff562fe857" providerId="ADAL" clId="{3812F0D7-A263-41B2-AC96-1F3B68D731C9}" dt="2026-03-11T11:57:47.951" v="247" actId="113"/>
        <pc:sldMkLst>
          <pc:docMk/>
          <pc:sldMk cId="1710772358" sldId="319"/>
        </pc:sldMkLst>
        <pc:spChg chg="mod">
          <ac:chgData name="Cornelia Popescu" userId="444ac7d1-afda-4314-b2c2-4aff562fe857" providerId="ADAL" clId="{3812F0D7-A263-41B2-AC96-1F3B68D731C9}" dt="2026-03-11T11:56:28.541" v="239" actId="1076"/>
          <ac:spMkLst>
            <pc:docMk/>
            <pc:sldMk cId="1710772358" sldId="319"/>
            <ac:spMk id="2" creationId="{4A37DF54-D66A-332A-79EA-4910C63BB767}"/>
          </ac:spMkLst>
        </pc:spChg>
        <pc:spChg chg="mod">
          <ac:chgData name="Cornelia Popescu" userId="444ac7d1-afda-4314-b2c2-4aff562fe857" providerId="ADAL" clId="{3812F0D7-A263-41B2-AC96-1F3B68D731C9}" dt="2026-03-11T11:57:47.951" v="247" actId="113"/>
          <ac:spMkLst>
            <pc:docMk/>
            <pc:sldMk cId="1710772358" sldId="319"/>
            <ac:spMk id="3" creationId="{2872A9ED-86B0-ACF8-A134-F1BC94F4E727}"/>
          </ac:spMkLst>
        </pc:spChg>
      </pc:sldChg>
      <pc:sldChg chg="modSp mod">
        <pc:chgData name="Cornelia Popescu" userId="444ac7d1-afda-4314-b2c2-4aff562fe857" providerId="ADAL" clId="{3812F0D7-A263-41B2-AC96-1F3B68D731C9}" dt="2026-03-11T11:58:46.725" v="252" actId="108"/>
        <pc:sldMkLst>
          <pc:docMk/>
          <pc:sldMk cId="3018342298" sldId="320"/>
        </pc:sldMkLst>
        <pc:spChg chg="mod">
          <ac:chgData name="Cornelia Popescu" userId="444ac7d1-afda-4314-b2c2-4aff562fe857" providerId="ADAL" clId="{3812F0D7-A263-41B2-AC96-1F3B68D731C9}" dt="2026-03-11T11:58:33.244" v="250" actId="1076"/>
          <ac:spMkLst>
            <pc:docMk/>
            <pc:sldMk cId="3018342298" sldId="320"/>
            <ac:spMk id="2" creationId="{7531F715-FF27-E61D-0ADA-2425B5F82BD0}"/>
          </ac:spMkLst>
        </pc:spChg>
        <pc:spChg chg="mod">
          <ac:chgData name="Cornelia Popescu" userId="444ac7d1-afda-4314-b2c2-4aff562fe857" providerId="ADAL" clId="{3812F0D7-A263-41B2-AC96-1F3B68D731C9}" dt="2026-03-11T11:58:46.725" v="252" actId="108"/>
          <ac:spMkLst>
            <pc:docMk/>
            <pc:sldMk cId="3018342298" sldId="320"/>
            <ac:spMk id="3" creationId="{DE59B7EE-7ABA-2930-EFCA-7F5743258D55}"/>
          </ac:spMkLst>
        </pc:spChg>
      </pc:sldChg>
      <pc:sldChg chg="modSp mod">
        <pc:chgData name="Cornelia Popescu" userId="444ac7d1-afda-4314-b2c2-4aff562fe857" providerId="ADAL" clId="{3812F0D7-A263-41B2-AC96-1F3B68D731C9}" dt="2026-03-11T12:03:27.008" v="303" actId="11"/>
        <pc:sldMkLst>
          <pc:docMk/>
          <pc:sldMk cId="3265920867" sldId="321"/>
        </pc:sldMkLst>
        <pc:spChg chg="mod">
          <ac:chgData name="Cornelia Popescu" userId="444ac7d1-afda-4314-b2c2-4aff562fe857" providerId="ADAL" clId="{3812F0D7-A263-41B2-AC96-1F3B68D731C9}" dt="2026-03-11T11:58:59.293" v="253" actId="108"/>
          <ac:spMkLst>
            <pc:docMk/>
            <pc:sldMk cId="3265920867" sldId="321"/>
            <ac:spMk id="2" creationId="{A1A7FF03-9B3E-B4AE-E13E-C81870160FF0}"/>
          </ac:spMkLst>
        </pc:spChg>
        <pc:spChg chg="mod">
          <ac:chgData name="Cornelia Popescu" userId="444ac7d1-afda-4314-b2c2-4aff562fe857" providerId="ADAL" clId="{3812F0D7-A263-41B2-AC96-1F3B68D731C9}" dt="2026-03-11T12:03:27.008" v="303" actId="11"/>
          <ac:spMkLst>
            <pc:docMk/>
            <pc:sldMk cId="3265920867" sldId="321"/>
            <ac:spMk id="3" creationId="{1BEA6E8A-C6B4-2829-C1E9-3A031646A255}"/>
          </ac:spMkLst>
        </pc:spChg>
      </pc:sldChg>
      <pc:sldChg chg="modSp mod">
        <pc:chgData name="Cornelia Popescu" userId="444ac7d1-afda-4314-b2c2-4aff562fe857" providerId="ADAL" clId="{3812F0D7-A263-41B2-AC96-1F3B68D731C9}" dt="2026-03-11T12:05:52.585" v="319" actId="108"/>
        <pc:sldMkLst>
          <pc:docMk/>
          <pc:sldMk cId="1688596635" sldId="322"/>
        </pc:sldMkLst>
        <pc:spChg chg="mod">
          <ac:chgData name="Cornelia Popescu" userId="444ac7d1-afda-4314-b2c2-4aff562fe857" providerId="ADAL" clId="{3812F0D7-A263-41B2-AC96-1F3B68D731C9}" dt="2026-03-11T12:05:18.633" v="311" actId="108"/>
          <ac:spMkLst>
            <pc:docMk/>
            <pc:sldMk cId="1688596635" sldId="322"/>
            <ac:spMk id="2" creationId="{DEB19103-B5F4-219B-6750-EB2FD99E1400}"/>
          </ac:spMkLst>
        </pc:spChg>
        <pc:spChg chg="mod">
          <ac:chgData name="Cornelia Popescu" userId="444ac7d1-afda-4314-b2c2-4aff562fe857" providerId="ADAL" clId="{3812F0D7-A263-41B2-AC96-1F3B68D731C9}" dt="2026-03-11T12:05:52.585" v="319" actId="108"/>
          <ac:spMkLst>
            <pc:docMk/>
            <pc:sldMk cId="1688596635" sldId="322"/>
            <ac:spMk id="3" creationId="{E03A447F-9FE3-CC81-1711-71995E980D31}"/>
          </ac:spMkLst>
        </pc:spChg>
      </pc:sldChg>
      <pc:sldChg chg="modSp mod setBg">
        <pc:chgData name="Cornelia Popescu" userId="444ac7d1-afda-4314-b2c2-4aff562fe857" providerId="ADAL" clId="{3812F0D7-A263-41B2-AC96-1F3B68D731C9}" dt="2026-03-11T12:17:59.299" v="428"/>
        <pc:sldMkLst>
          <pc:docMk/>
          <pc:sldMk cId="211712862" sldId="323"/>
        </pc:sldMkLst>
        <pc:spChg chg="mod">
          <ac:chgData name="Cornelia Popescu" userId="444ac7d1-afda-4314-b2c2-4aff562fe857" providerId="ADAL" clId="{3812F0D7-A263-41B2-AC96-1F3B68D731C9}" dt="2026-03-11T12:06:21.887" v="320" actId="108"/>
          <ac:spMkLst>
            <pc:docMk/>
            <pc:sldMk cId="211712862" sldId="323"/>
            <ac:spMk id="2" creationId="{96A2822A-E50C-2DC8-274D-15F05E991626}"/>
          </ac:spMkLst>
        </pc:spChg>
        <pc:spChg chg="mod">
          <ac:chgData name="Cornelia Popescu" userId="444ac7d1-afda-4314-b2c2-4aff562fe857" providerId="ADAL" clId="{3812F0D7-A263-41B2-AC96-1F3B68D731C9}" dt="2026-03-11T12:06:42.937" v="324" actId="108"/>
          <ac:spMkLst>
            <pc:docMk/>
            <pc:sldMk cId="211712862" sldId="323"/>
            <ac:spMk id="3" creationId="{206264C4-33AB-F5BA-35C0-496C1015EC20}"/>
          </ac:spMkLst>
        </pc:spChg>
        <pc:graphicFrameChg chg="mod modGraphic">
          <ac:chgData name="Cornelia Popescu" userId="444ac7d1-afda-4314-b2c2-4aff562fe857" providerId="ADAL" clId="{3812F0D7-A263-41B2-AC96-1F3B68D731C9}" dt="2026-03-11T12:17:59.299" v="428"/>
          <ac:graphicFrameMkLst>
            <pc:docMk/>
            <pc:sldMk cId="211712862" sldId="323"/>
            <ac:graphicFrameMk id="13" creationId="{1A40CC86-842D-79BA-CA3B-B92A0029B005}"/>
          </ac:graphicFrameMkLst>
        </pc:graphicFrameChg>
      </pc:sldChg>
      <pc:sldChg chg="delSp modSp mod">
        <pc:chgData name="Cornelia Popescu" userId="444ac7d1-afda-4314-b2c2-4aff562fe857" providerId="ADAL" clId="{3812F0D7-A263-41B2-AC96-1F3B68D731C9}" dt="2026-03-11T12:19:22.705" v="436" actId="1076"/>
        <pc:sldMkLst>
          <pc:docMk/>
          <pc:sldMk cId="1177302838" sldId="324"/>
        </pc:sldMkLst>
        <pc:spChg chg="mod">
          <ac:chgData name="Cornelia Popescu" userId="444ac7d1-afda-4314-b2c2-4aff562fe857" providerId="ADAL" clId="{3812F0D7-A263-41B2-AC96-1F3B68D731C9}" dt="2026-03-11T12:18:28.207" v="429" actId="108"/>
          <ac:spMkLst>
            <pc:docMk/>
            <pc:sldMk cId="1177302838" sldId="324"/>
            <ac:spMk id="2" creationId="{C7878E8C-D4B2-7E35-563E-5A454ACF57AD}"/>
          </ac:spMkLst>
        </pc:spChg>
        <pc:spChg chg="mod">
          <ac:chgData name="Cornelia Popescu" userId="444ac7d1-afda-4314-b2c2-4aff562fe857" providerId="ADAL" clId="{3812F0D7-A263-41B2-AC96-1F3B68D731C9}" dt="2026-03-11T12:19:22.705" v="436" actId="1076"/>
          <ac:spMkLst>
            <pc:docMk/>
            <pc:sldMk cId="1177302838" sldId="324"/>
            <ac:spMk id="15" creationId="{6E33650C-7AC3-885B-F4F5-A2C34B8449E0}"/>
          </ac:spMkLst>
        </pc:spChg>
        <pc:spChg chg="del mod">
          <ac:chgData name="Cornelia Popescu" userId="444ac7d1-afda-4314-b2c2-4aff562fe857" providerId="ADAL" clId="{3812F0D7-A263-41B2-AC96-1F3B68D731C9}" dt="2026-03-11T12:19:12.499" v="434" actId="478"/>
          <ac:spMkLst>
            <pc:docMk/>
            <pc:sldMk cId="1177302838" sldId="324"/>
            <ac:spMk id="17" creationId="{6BF2C190-97C7-DFE9-6313-3D7E2329DAEA}"/>
          </ac:spMkLst>
        </pc:spChg>
      </pc:sldChg>
      <pc:sldChg chg="modSp mod">
        <pc:chgData name="Cornelia Popescu" userId="444ac7d1-afda-4314-b2c2-4aff562fe857" providerId="ADAL" clId="{3812F0D7-A263-41B2-AC96-1F3B68D731C9}" dt="2026-03-11T12:22:20.120" v="452" actId="1076"/>
        <pc:sldMkLst>
          <pc:docMk/>
          <pc:sldMk cId="3331202660" sldId="325"/>
        </pc:sldMkLst>
        <pc:spChg chg="mod">
          <ac:chgData name="Cornelia Popescu" userId="444ac7d1-afda-4314-b2c2-4aff562fe857" providerId="ADAL" clId="{3812F0D7-A263-41B2-AC96-1F3B68D731C9}" dt="2026-03-11T12:22:20.120" v="452" actId="1076"/>
          <ac:spMkLst>
            <pc:docMk/>
            <pc:sldMk cId="3331202660" sldId="325"/>
            <ac:spMk id="4" creationId="{B6A7102A-00DD-9A12-3879-294245AAD564}"/>
          </ac:spMkLst>
        </pc:spChg>
        <pc:spChg chg="mod">
          <ac:chgData name="Cornelia Popescu" userId="444ac7d1-afda-4314-b2c2-4aff562fe857" providerId="ADAL" clId="{3812F0D7-A263-41B2-AC96-1F3B68D731C9}" dt="2026-03-11T12:21:08.271" v="451" actId="1076"/>
          <ac:spMkLst>
            <pc:docMk/>
            <pc:sldMk cId="3331202660" sldId="325"/>
            <ac:spMk id="5" creationId="{B534EF97-7B38-C56B-93EB-AC996A9E7603}"/>
          </ac:spMkLst>
        </pc:spChg>
      </pc:sldChg>
      <pc:sldChg chg="modSp mod">
        <pc:chgData name="Cornelia Popescu" userId="444ac7d1-afda-4314-b2c2-4aff562fe857" providerId="ADAL" clId="{3812F0D7-A263-41B2-AC96-1F3B68D731C9}" dt="2026-03-11T12:29:03.124" v="457" actId="255"/>
        <pc:sldMkLst>
          <pc:docMk/>
          <pc:sldMk cId="1580576412" sldId="326"/>
        </pc:sldMkLst>
        <pc:spChg chg="mod">
          <ac:chgData name="Cornelia Popescu" userId="444ac7d1-afda-4314-b2c2-4aff562fe857" providerId="ADAL" clId="{3812F0D7-A263-41B2-AC96-1F3B68D731C9}" dt="2026-03-11T12:22:30.909" v="453" actId="108"/>
          <ac:spMkLst>
            <pc:docMk/>
            <pc:sldMk cId="1580576412" sldId="326"/>
            <ac:spMk id="2" creationId="{1E7E4CAE-F817-AEEF-EDF1-BF898AE0426E}"/>
          </ac:spMkLst>
        </pc:spChg>
        <pc:spChg chg="mod">
          <ac:chgData name="Cornelia Popescu" userId="444ac7d1-afda-4314-b2c2-4aff562fe857" providerId="ADAL" clId="{3812F0D7-A263-41B2-AC96-1F3B68D731C9}" dt="2026-03-11T12:29:03.124" v="457" actId="255"/>
          <ac:spMkLst>
            <pc:docMk/>
            <pc:sldMk cId="1580576412" sldId="326"/>
            <ac:spMk id="4" creationId="{F3CF0B60-7287-3A41-08D3-00D2F3E7FA71}"/>
          </ac:spMkLst>
        </pc:spChg>
      </pc:sldChg>
      <pc:sldChg chg="modSp mod">
        <pc:chgData name="Cornelia Popescu" userId="444ac7d1-afda-4314-b2c2-4aff562fe857" providerId="ADAL" clId="{3812F0D7-A263-41B2-AC96-1F3B68D731C9}" dt="2026-03-11T12:30:41.308" v="469" actId="255"/>
        <pc:sldMkLst>
          <pc:docMk/>
          <pc:sldMk cId="277486519" sldId="327"/>
        </pc:sldMkLst>
        <pc:spChg chg="mod">
          <ac:chgData name="Cornelia Popescu" userId="444ac7d1-afda-4314-b2c2-4aff562fe857" providerId="ADAL" clId="{3812F0D7-A263-41B2-AC96-1F3B68D731C9}" dt="2026-03-11T12:29:19.748" v="458" actId="108"/>
          <ac:spMkLst>
            <pc:docMk/>
            <pc:sldMk cId="277486519" sldId="327"/>
            <ac:spMk id="2" creationId="{4B0B1D03-A759-73D6-7877-6EA968A730A6}"/>
          </ac:spMkLst>
        </pc:spChg>
        <pc:spChg chg="mod">
          <ac:chgData name="Cornelia Popescu" userId="444ac7d1-afda-4314-b2c2-4aff562fe857" providerId="ADAL" clId="{3812F0D7-A263-41B2-AC96-1F3B68D731C9}" dt="2026-03-11T12:30:41.308" v="469" actId="255"/>
          <ac:spMkLst>
            <pc:docMk/>
            <pc:sldMk cId="277486519" sldId="327"/>
            <ac:spMk id="4" creationId="{D7D2F9CF-8DC1-E845-3043-FEA9CC17FF81}"/>
          </ac:spMkLst>
        </pc:spChg>
      </pc:sldChg>
      <pc:sldChg chg="modSp mod">
        <pc:chgData name="Cornelia Popescu" userId="444ac7d1-afda-4314-b2c2-4aff562fe857" providerId="ADAL" clId="{3812F0D7-A263-41B2-AC96-1F3B68D731C9}" dt="2026-03-11T12:33:34.345" v="477" actId="113"/>
        <pc:sldMkLst>
          <pc:docMk/>
          <pc:sldMk cId="546462324" sldId="328"/>
        </pc:sldMkLst>
        <pc:spChg chg="mod">
          <ac:chgData name="Cornelia Popescu" userId="444ac7d1-afda-4314-b2c2-4aff562fe857" providerId="ADAL" clId="{3812F0D7-A263-41B2-AC96-1F3B68D731C9}" dt="2026-03-11T12:32:57.349" v="470" actId="108"/>
          <ac:spMkLst>
            <pc:docMk/>
            <pc:sldMk cId="546462324" sldId="328"/>
            <ac:spMk id="2" creationId="{23E9F279-1063-DF6F-B97E-1AF8446FA2A2}"/>
          </ac:spMkLst>
        </pc:spChg>
        <pc:spChg chg="mod">
          <ac:chgData name="Cornelia Popescu" userId="444ac7d1-afda-4314-b2c2-4aff562fe857" providerId="ADAL" clId="{3812F0D7-A263-41B2-AC96-1F3B68D731C9}" dt="2026-03-11T12:33:34.345" v="477" actId="113"/>
          <ac:spMkLst>
            <pc:docMk/>
            <pc:sldMk cId="546462324" sldId="328"/>
            <ac:spMk id="3" creationId="{144F6C26-C63A-CE3A-7CDF-33B7EF431CC8}"/>
          </ac:spMkLst>
        </pc:spChg>
      </pc:sldChg>
      <pc:sldChg chg="modSp mod">
        <pc:chgData name="Cornelia Popescu" userId="444ac7d1-afda-4314-b2c2-4aff562fe857" providerId="ADAL" clId="{3812F0D7-A263-41B2-AC96-1F3B68D731C9}" dt="2026-03-11T12:44:55.882" v="514" actId="20577"/>
        <pc:sldMkLst>
          <pc:docMk/>
          <pc:sldMk cId="2258412958" sldId="329"/>
        </pc:sldMkLst>
        <pc:spChg chg="mod">
          <ac:chgData name="Cornelia Popescu" userId="444ac7d1-afda-4314-b2c2-4aff562fe857" providerId="ADAL" clId="{3812F0D7-A263-41B2-AC96-1F3B68D731C9}" dt="2026-03-11T12:37:55.485" v="478" actId="108"/>
          <ac:spMkLst>
            <pc:docMk/>
            <pc:sldMk cId="2258412958" sldId="329"/>
            <ac:spMk id="2" creationId="{AF855EF3-8F45-7256-9214-1FBD9E43147F}"/>
          </ac:spMkLst>
        </pc:spChg>
        <pc:spChg chg="mod">
          <ac:chgData name="Cornelia Popescu" userId="444ac7d1-afda-4314-b2c2-4aff562fe857" providerId="ADAL" clId="{3812F0D7-A263-41B2-AC96-1F3B68D731C9}" dt="2026-03-11T12:44:55.882" v="514" actId="20577"/>
          <ac:spMkLst>
            <pc:docMk/>
            <pc:sldMk cId="2258412958" sldId="329"/>
            <ac:spMk id="3" creationId="{28E80C7D-1340-F79D-7805-F126AA8A49A7}"/>
          </ac:spMkLst>
        </pc:spChg>
      </pc:sldChg>
      <pc:sldChg chg="modSp mod">
        <pc:chgData name="Cornelia Popescu" userId="444ac7d1-afda-4314-b2c2-4aff562fe857" providerId="ADAL" clId="{3812F0D7-A263-41B2-AC96-1F3B68D731C9}" dt="2026-03-11T12:59:21.154" v="558" actId="207"/>
        <pc:sldMkLst>
          <pc:docMk/>
          <pc:sldMk cId="2234584730" sldId="330"/>
        </pc:sldMkLst>
        <pc:spChg chg="mod">
          <ac:chgData name="Cornelia Popescu" userId="444ac7d1-afda-4314-b2c2-4aff562fe857" providerId="ADAL" clId="{3812F0D7-A263-41B2-AC96-1F3B68D731C9}" dt="2026-03-11T12:49:11.941" v="534" actId="108"/>
          <ac:spMkLst>
            <pc:docMk/>
            <pc:sldMk cId="2234584730" sldId="330"/>
            <ac:spMk id="2" creationId="{02E8134F-D1D3-1D86-E34E-302BBFA046BC}"/>
          </ac:spMkLst>
        </pc:spChg>
        <pc:spChg chg="mod">
          <ac:chgData name="Cornelia Popescu" userId="444ac7d1-afda-4314-b2c2-4aff562fe857" providerId="ADAL" clId="{3812F0D7-A263-41B2-AC96-1F3B68D731C9}" dt="2026-03-11T12:49:44.336" v="537" actId="113"/>
          <ac:spMkLst>
            <pc:docMk/>
            <pc:sldMk cId="2234584730" sldId="330"/>
            <ac:spMk id="3" creationId="{DD50E891-5123-9535-816E-4813612A03C9}"/>
          </ac:spMkLst>
        </pc:spChg>
        <pc:graphicFrameChg chg="mod modGraphic">
          <ac:chgData name="Cornelia Popescu" userId="444ac7d1-afda-4314-b2c2-4aff562fe857" providerId="ADAL" clId="{3812F0D7-A263-41B2-AC96-1F3B68D731C9}" dt="2026-03-11T12:59:21.154" v="558" actId="207"/>
          <ac:graphicFrameMkLst>
            <pc:docMk/>
            <pc:sldMk cId="2234584730" sldId="330"/>
            <ac:graphicFrameMk id="4" creationId="{3CC99D3A-616F-F9FF-E81A-AC4FDAAE9468}"/>
          </ac:graphicFrameMkLst>
        </pc:graphicFrameChg>
      </pc:sldChg>
      <pc:sldChg chg="modSp mod">
        <pc:chgData name="Cornelia Popescu" userId="444ac7d1-afda-4314-b2c2-4aff562fe857" providerId="ADAL" clId="{3812F0D7-A263-41B2-AC96-1F3B68D731C9}" dt="2026-03-11T13:41:12.265" v="1044" actId="108"/>
        <pc:sldMkLst>
          <pc:docMk/>
          <pc:sldMk cId="3720438832" sldId="331"/>
        </pc:sldMkLst>
        <pc:spChg chg="mod">
          <ac:chgData name="Cornelia Popescu" userId="444ac7d1-afda-4314-b2c2-4aff562fe857" providerId="ADAL" clId="{3812F0D7-A263-41B2-AC96-1F3B68D731C9}" dt="2026-03-11T13:41:12.265" v="1044" actId="108"/>
          <ac:spMkLst>
            <pc:docMk/>
            <pc:sldMk cId="3720438832" sldId="331"/>
            <ac:spMk id="4" creationId="{E3992A03-987E-E1EB-86DC-45EFC8A537C6}"/>
          </ac:spMkLst>
        </pc:spChg>
        <pc:spChg chg="mod">
          <ac:chgData name="Cornelia Popescu" userId="444ac7d1-afda-4314-b2c2-4aff562fe857" providerId="ADAL" clId="{3812F0D7-A263-41B2-AC96-1F3B68D731C9}" dt="2026-03-11T13:04:18.549" v="567" actId="1076"/>
          <ac:spMkLst>
            <pc:docMk/>
            <pc:sldMk cId="3720438832" sldId="331"/>
            <ac:spMk id="5" creationId="{9CBA6F1A-19C0-2F08-06BA-9265F81F957A}"/>
          </ac:spMkLst>
        </pc:spChg>
      </pc:sldChg>
      <pc:sldChg chg="modSp mod">
        <pc:chgData name="Cornelia Popescu" userId="444ac7d1-afda-4314-b2c2-4aff562fe857" providerId="ADAL" clId="{3812F0D7-A263-41B2-AC96-1F3B68D731C9}" dt="2026-03-11T13:13:09.793" v="573" actId="108"/>
        <pc:sldMkLst>
          <pc:docMk/>
          <pc:sldMk cId="1631309458" sldId="332"/>
        </pc:sldMkLst>
        <pc:spChg chg="mod">
          <ac:chgData name="Cornelia Popescu" userId="444ac7d1-afda-4314-b2c2-4aff562fe857" providerId="ADAL" clId="{3812F0D7-A263-41B2-AC96-1F3B68D731C9}" dt="2026-03-11T13:12:26.102" v="568" actId="108"/>
          <ac:spMkLst>
            <pc:docMk/>
            <pc:sldMk cId="1631309458" sldId="332"/>
            <ac:spMk id="2" creationId="{61CDD845-E937-EB50-BCC1-BE292731A215}"/>
          </ac:spMkLst>
        </pc:spChg>
        <pc:spChg chg="mod">
          <ac:chgData name="Cornelia Popescu" userId="444ac7d1-afda-4314-b2c2-4aff562fe857" providerId="ADAL" clId="{3812F0D7-A263-41B2-AC96-1F3B68D731C9}" dt="2026-03-11T13:13:09.793" v="573" actId="108"/>
          <ac:spMkLst>
            <pc:docMk/>
            <pc:sldMk cId="1631309458" sldId="332"/>
            <ac:spMk id="3" creationId="{204FC689-1F38-C51B-A8AD-5D9CA07EEFC4}"/>
          </ac:spMkLst>
        </pc:spChg>
      </pc:sldChg>
      <pc:sldChg chg="modSp mod">
        <pc:chgData name="Cornelia Popescu" userId="444ac7d1-afda-4314-b2c2-4aff562fe857" providerId="ADAL" clId="{3812F0D7-A263-41B2-AC96-1F3B68D731C9}" dt="2026-03-11T12:48:14.962" v="533" actId="5793"/>
        <pc:sldMkLst>
          <pc:docMk/>
          <pc:sldMk cId="749939125" sldId="333"/>
        </pc:sldMkLst>
        <pc:spChg chg="mod">
          <ac:chgData name="Cornelia Popescu" userId="444ac7d1-afda-4314-b2c2-4aff562fe857" providerId="ADAL" clId="{3812F0D7-A263-41B2-AC96-1F3B68D731C9}" dt="2026-03-11T12:46:48.022" v="515" actId="108"/>
          <ac:spMkLst>
            <pc:docMk/>
            <pc:sldMk cId="749939125" sldId="333"/>
            <ac:spMk id="2" creationId="{227929D5-A6B1-1D0D-90FF-F3515B3FE9CE}"/>
          </ac:spMkLst>
        </pc:spChg>
        <pc:spChg chg="mod">
          <ac:chgData name="Cornelia Popescu" userId="444ac7d1-afda-4314-b2c2-4aff562fe857" providerId="ADAL" clId="{3812F0D7-A263-41B2-AC96-1F3B68D731C9}" dt="2026-03-11T12:48:14.962" v="533" actId="5793"/>
          <ac:spMkLst>
            <pc:docMk/>
            <pc:sldMk cId="749939125" sldId="333"/>
            <ac:spMk id="3" creationId="{84C36063-3AAF-11C1-1076-C2F6A61CC2EE}"/>
          </ac:spMkLst>
        </pc:spChg>
      </pc:sldChg>
      <pc:sldChg chg="modSp mod">
        <pc:chgData name="Cornelia Popescu" userId="444ac7d1-afda-4314-b2c2-4aff562fe857" providerId="ADAL" clId="{3812F0D7-A263-41B2-AC96-1F3B68D731C9}" dt="2026-03-11T13:23:26.780" v="622" actId="255"/>
        <pc:sldMkLst>
          <pc:docMk/>
          <pc:sldMk cId="1063912687" sldId="334"/>
        </pc:sldMkLst>
        <pc:spChg chg="mod">
          <ac:chgData name="Cornelia Popescu" userId="444ac7d1-afda-4314-b2c2-4aff562fe857" providerId="ADAL" clId="{3812F0D7-A263-41B2-AC96-1F3B68D731C9}" dt="2026-03-11T13:16:18.189" v="583" actId="108"/>
          <ac:spMkLst>
            <pc:docMk/>
            <pc:sldMk cId="1063912687" sldId="334"/>
            <ac:spMk id="2" creationId="{12431EE9-98B7-0476-14FD-C3F325282D55}"/>
          </ac:spMkLst>
        </pc:spChg>
        <pc:spChg chg="mod">
          <ac:chgData name="Cornelia Popescu" userId="444ac7d1-afda-4314-b2c2-4aff562fe857" providerId="ADAL" clId="{3812F0D7-A263-41B2-AC96-1F3B68D731C9}" dt="2026-03-11T13:23:26.780" v="622" actId="255"/>
          <ac:spMkLst>
            <pc:docMk/>
            <pc:sldMk cId="1063912687" sldId="334"/>
            <ac:spMk id="3" creationId="{A6E38F98-CCA5-9727-A211-273E22955070}"/>
          </ac:spMkLst>
        </pc:spChg>
      </pc:sldChg>
      <pc:sldChg chg="modSp mod">
        <pc:chgData name="Cornelia Popescu" userId="444ac7d1-afda-4314-b2c2-4aff562fe857" providerId="ADAL" clId="{3812F0D7-A263-41B2-AC96-1F3B68D731C9}" dt="2026-03-11T13:25:29.676" v="638" actId="20577"/>
        <pc:sldMkLst>
          <pc:docMk/>
          <pc:sldMk cId="3388244118" sldId="335"/>
        </pc:sldMkLst>
        <pc:spChg chg="mod">
          <ac:chgData name="Cornelia Popescu" userId="444ac7d1-afda-4314-b2c2-4aff562fe857" providerId="ADAL" clId="{3812F0D7-A263-41B2-AC96-1F3B68D731C9}" dt="2026-03-11T13:23:46.021" v="623" actId="108"/>
          <ac:spMkLst>
            <pc:docMk/>
            <pc:sldMk cId="3388244118" sldId="335"/>
            <ac:spMk id="2" creationId="{D070942C-D8F5-416F-B113-F09FEC8AC2D1}"/>
          </ac:spMkLst>
        </pc:spChg>
        <pc:spChg chg="mod">
          <ac:chgData name="Cornelia Popescu" userId="444ac7d1-afda-4314-b2c2-4aff562fe857" providerId="ADAL" clId="{3812F0D7-A263-41B2-AC96-1F3B68D731C9}" dt="2026-03-11T13:25:29.676" v="638" actId="20577"/>
          <ac:spMkLst>
            <pc:docMk/>
            <pc:sldMk cId="3388244118" sldId="335"/>
            <ac:spMk id="3" creationId="{C82AF942-3A79-A506-088C-C23A1F4E20E1}"/>
          </ac:spMkLst>
        </pc:spChg>
      </pc:sldChg>
      <pc:sldChg chg="modSp mod">
        <pc:chgData name="Cornelia Popescu" userId="444ac7d1-afda-4314-b2c2-4aff562fe857" providerId="ADAL" clId="{3812F0D7-A263-41B2-AC96-1F3B68D731C9}" dt="2026-03-11T13:30:00.036" v="964" actId="14100"/>
        <pc:sldMkLst>
          <pc:docMk/>
          <pc:sldMk cId="1405317230" sldId="336"/>
        </pc:sldMkLst>
        <pc:spChg chg="mod">
          <ac:chgData name="Cornelia Popescu" userId="444ac7d1-afda-4314-b2c2-4aff562fe857" providerId="ADAL" clId="{3812F0D7-A263-41B2-AC96-1F3B68D731C9}" dt="2026-03-11T13:28:34.199" v="957" actId="108"/>
          <ac:spMkLst>
            <pc:docMk/>
            <pc:sldMk cId="1405317230" sldId="336"/>
            <ac:spMk id="2" creationId="{F0BDFC89-C16F-5E9D-2097-D6251D7C8D17}"/>
          </ac:spMkLst>
        </pc:spChg>
        <pc:spChg chg="mod">
          <ac:chgData name="Cornelia Popescu" userId="444ac7d1-afda-4314-b2c2-4aff562fe857" providerId="ADAL" clId="{3812F0D7-A263-41B2-AC96-1F3B68D731C9}" dt="2026-03-11T13:30:00.036" v="964" actId="14100"/>
          <ac:spMkLst>
            <pc:docMk/>
            <pc:sldMk cId="1405317230" sldId="336"/>
            <ac:spMk id="3" creationId="{80DB1FF7-C34A-837C-D16B-652BDC24DAEF}"/>
          </ac:spMkLst>
        </pc:spChg>
      </pc:sldChg>
      <pc:sldChg chg="modSp mod">
        <pc:chgData name="Cornelia Popescu" userId="444ac7d1-afda-4314-b2c2-4aff562fe857" providerId="ADAL" clId="{3812F0D7-A263-41B2-AC96-1F3B68D731C9}" dt="2026-03-11T13:23:01.669" v="619" actId="255"/>
        <pc:sldMkLst>
          <pc:docMk/>
          <pc:sldMk cId="2282931874" sldId="337"/>
        </pc:sldMkLst>
        <pc:spChg chg="mod">
          <ac:chgData name="Cornelia Popescu" userId="444ac7d1-afda-4314-b2c2-4aff562fe857" providerId="ADAL" clId="{3812F0D7-A263-41B2-AC96-1F3B68D731C9}" dt="2026-03-11T13:21:14.036" v="607" actId="108"/>
          <ac:spMkLst>
            <pc:docMk/>
            <pc:sldMk cId="2282931874" sldId="337"/>
            <ac:spMk id="2" creationId="{62503D68-0A48-5503-5A72-EB38EBB3A1F8}"/>
          </ac:spMkLst>
        </pc:spChg>
        <pc:spChg chg="mod">
          <ac:chgData name="Cornelia Popescu" userId="444ac7d1-afda-4314-b2c2-4aff562fe857" providerId="ADAL" clId="{3812F0D7-A263-41B2-AC96-1F3B68D731C9}" dt="2026-03-11T13:23:01.669" v="619" actId="255"/>
          <ac:spMkLst>
            <pc:docMk/>
            <pc:sldMk cId="2282931874" sldId="337"/>
            <ac:spMk id="3" creationId="{C7CFF9DE-8E47-3CB8-CEA8-EA394B2E045B}"/>
          </ac:spMkLst>
        </pc:spChg>
      </pc:sldChg>
      <pc:sldChg chg="modSp mod">
        <pc:chgData name="Cornelia Popescu" userId="444ac7d1-afda-4314-b2c2-4aff562fe857" providerId="ADAL" clId="{3812F0D7-A263-41B2-AC96-1F3B68D731C9}" dt="2026-03-11T13:16:03.974" v="582" actId="108"/>
        <pc:sldMkLst>
          <pc:docMk/>
          <pc:sldMk cId="4183617880" sldId="338"/>
        </pc:sldMkLst>
        <pc:spChg chg="mod">
          <ac:chgData name="Cornelia Popescu" userId="444ac7d1-afda-4314-b2c2-4aff562fe857" providerId="ADAL" clId="{3812F0D7-A263-41B2-AC96-1F3B68D731C9}" dt="2026-03-11T13:15:12.279" v="574" actId="108"/>
          <ac:spMkLst>
            <pc:docMk/>
            <pc:sldMk cId="4183617880" sldId="338"/>
            <ac:spMk id="2" creationId="{AC45F944-95A7-7436-47BB-FDE1C284EFF2}"/>
          </ac:spMkLst>
        </pc:spChg>
        <pc:spChg chg="mod">
          <ac:chgData name="Cornelia Popescu" userId="444ac7d1-afda-4314-b2c2-4aff562fe857" providerId="ADAL" clId="{3812F0D7-A263-41B2-AC96-1F3B68D731C9}" dt="2026-03-11T13:16:03.974" v="582" actId="108"/>
          <ac:spMkLst>
            <pc:docMk/>
            <pc:sldMk cId="4183617880" sldId="338"/>
            <ac:spMk id="3" creationId="{FD7B5FC6-5CAE-FC89-C6B7-B9545B7B5D01}"/>
          </ac:spMkLst>
        </pc:spChg>
      </pc:sldChg>
      <pc:sldChg chg="modSp mod">
        <pc:chgData name="Cornelia Popescu" userId="444ac7d1-afda-4314-b2c2-4aff562fe857" providerId="ADAL" clId="{3812F0D7-A263-41B2-AC96-1F3B68D731C9}" dt="2026-03-11T13:34:03.355" v="988" actId="1076"/>
        <pc:sldMkLst>
          <pc:docMk/>
          <pc:sldMk cId="4168263544" sldId="339"/>
        </pc:sldMkLst>
        <pc:spChg chg="mod">
          <ac:chgData name="Cornelia Popescu" userId="444ac7d1-afda-4314-b2c2-4aff562fe857" providerId="ADAL" clId="{3812F0D7-A263-41B2-AC96-1F3B68D731C9}" dt="2026-03-11T13:30:15.841" v="965" actId="108"/>
          <ac:spMkLst>
            <pc:docMk/>
            <pc:sldMk cId="4168263544" sldId="339"/>
            <ac:spMk id="2" creationId="{ADAF7B8D-575B-2322-C39F-DD6D0628C609}"/>
          </ac:spMkLst>
        </pc:spChg>
        <pc:spChg chg="mod">
          <ac:chgData name="Cornelia Popescu" userId="444ac7d1-afda-4314-b2c2-4aff562fe857" providerId="ADAL" clId="{3812F0D7-A263-41B2-AC96-1F3B68D731C9}" dt="2026-03-11T13:34:03.355" v="988" actId="1076"/>
          <ac:spMkLst>
            <pc:docMk/>
            <pc:sldMk cId="4168263544" sldId="339"/>
            <ac:spMk id="3" creationId="{F29461AA-9184-6190-6DAC-FED62EE0F332}"/>
          </ac:spMkLst>
        </pc:spChg>
      </pc:sldChg>
      <pc:sldChg chg="modSp mod">
        <pc:chgData name="Cornelia Popescu" userId="444ac7d1-afda-4314-b2c2-4aff562fe857" providerId="ADAL" clId="{3812F0D7-A263-41B2-AC96-1F3B68D731C9}" dt="2026-03-11T13:40:34.108" v="1034" actId="20577"/>
        <pc:sldMkLst>
          <pc:docMk/>
          <pc:sldMk cId="20494832" sldId="341"/>
        </pc:sldMkLst>
        <pc:spChg chg="mod">
          <ac:chgData name="Cornelia Popescu" userId="444ac7d1-afda-4314-b2c2-4aff562fe857" providerId="ADAL" clId="{3812F0D7-A263-41B2-AC96-1F3B68D731C9}" dt="2026-03-11T13:35:47.896" v="990" actId="108"/>
          <ac:spMkLst>
            <pc:docMk/>
            <pc:sldMk cId="20494832" sldId="341"/>
            <ac:spMk id="2" creationId="{27B8EC32-BE71-2586-A08F-D7095A11E9BE}"/>
          </ac:spMkLst>
        </pc:spChg>
        <pc:spChg chg="mod">
          <ac:chgData name="Cornelia Popescu" userId="444ac7d1-afda-4314-b2c2-4aff562fe857" providerId="ADAL" clId="{3812F0D7-A263-41B2-AC96-1F3B68D731C9}" dt="2026-03-11T13:40:34.108" v="1034" actId="20577"/>
          <ac:spMkLst>
            <pc:docMk/>
            <pc:sldMk cId="20494832" sldId="341"/>
            <ac:spMk id="3" creationId="{FC4DDC64-F136-D6FC-0842-7FFC40C4272F}"/>
          </ac:spMkLst>
        </pc:spChg>
      </pc:sldChg>
      <pc:sldChg chg="modSp mod">
        <pc:chgData name="Cornelia Popescu" userId="444ac7d1-afda-4314-b2c2-4aff562fe857" providerId="ADAL" clId="{3812F0D7-A263-41B2-AC96-1F3B68D731C9}" dt="2026-03-11T13:40:56.938" v="1042" actId="20577"/>
        <pc:sldMkLst>
          <pc:docMk/>
          <pc:sldMk cId="921142903" sldId="342"/>
        </pc:sldMkLst>
        <pc:spChg chg="mod">
          <ac:chgData name="Cornelia Popescu" userId="444ac7d1-afda-4314-b2c2-4aff562fe857" providerId="ADAL" clId="{3812F0D7-A263-41B2-AC96-1F3B68D731C9}" dt="2026-03-11T13:40:18.795" v="1028" actId="108"/>
          <ac:spMkLst>
            <pc:docMk/>
            <pc:sldMk cId="921142903" sldId="342"/>
            <ac:spMk id="2" creationId="{6AA64CC4-5F5C-A1EB-3D08-0206A78F0467}"/>
          </ac:spMkLst>
        </pc:spChg>
        <pc:spChg chg="mod">
          <ac:chgData name="Cornelia Popescu" userId="444ac7d1-afda-4314-b2c2-4aff562fe857" providerId="ADAL" clId="{3812F0D7-A263-41B2-AC96-1F3B68D731C9}" dt="2026-03-11T13:40:56.938" v="1042" actId="20577"/>
          <ac:spMkLst>
            <pc:docMk/>
            <pc:sldMk cId="921142903" sldId="342"/>
            <ac:spMk id="3" creationId="{1D95D249-4B98-C09E-4699-053B96A83474}"/>
          </ac:spMkLst>
        </pc:spChg>
      </pc:sldChg>
      <pc:sldChg chg="modSp mod">
        <pc:chgData name="Cornelia Popescu" userId="444ac7d1-afda-4314-b2c2-4aff562fe857" providerId="ADAL" clId="{3812F0D7-A263-41B2-AC96-1F3B68D731C9}" dt="2026-03-11T13:55:03.874" v="1125" actId="108"/>
        <pc:sldMkLst>
          <pc:docMk/>
          <pc:sldMk cId="1960990906" sldId="343"/>
        </pc:sldMkLst>
        <pc:spChg chg="mod">
          <ac:chgData name="Cornelia Popescu" userId="444ac7d1-afda-4314-b2c2-4aff562fe857" providerId="ADAL" clId="{3812F0D7-A263-41B2-AC96-1F3B68D731C9}" dt="2026-03-11T13:55:03.874" v="1125" actId="108"/>
          <ac:spMkLst>
            <pc:docMk/>
            <pc:sldMk cId="1960990906" sldId="343"/>
            <ac:spMk id="4" creationId="{AC4D0233-459F-17FC-91AA-E05B1940848D}"/>
          </ac:spMkLst>
        </pc:spChg>
        <pc:spChg chg="mod">
          <ac:chgData name="Cornelia Popescu" userId="444ac7d1-afda-4314-b2c2-4aff562fe857" providerId="ADAL" clId="{3812F0D7-A263-41B2-AC96-1F3B68D731C9}" dt="2026-03-11T13:41:52.151" v="1054" actId="121"/>
          <ac:spMkLst>
            <pc:docMk/>
            <pc:sldMk cId="1960990906" sldId="343"/>
            <ac:spMk id="5" creationId="{5316C600-2D63-4022-5050-94054421AA9F}"/>
          </ac:spMkLst>
        </pc:spChg>
      </pc:sldChg>
      <pc:sldChg chg="modSp mod">
        <pc:chgData name="Cornelia Popescu" userId="444ac7d1-afda-4314-b2c2-4aff562fe857" providerId="ADAL" clId="{3812F0D7-A263-41B2-AC96-1F3B68D731C9}" dt="2026-03-11T13:48:10.221" v="1073" actId="5793"/>
        <pc:sldMkLst>
          <pc:docMk/>
          <pc:sldMk cId="3048521155" sldId="344"/>
        </pc:sldMkLst>
        <pc:spChg chg="mod">
          <ac:chgData name="Cornelia Popescu" userId="444ac7d1-afda-4314-b2c2-4aff562fe857" providerId="ADAL" clId="{3812F0D7-A263-41B2-AC96-1F3B68D731C9}" dt="2026-03-11T13:43:29.060" v="1056" actId="108"/>
          <ac:spMkLst>
            <pc:docMk/>
            <pc:sldMk cId="3048521155" sldId="344"/>
            <ac:spMk id="2" creationId="{B82C5893-DA1F-31E6-6F01-0F43BA4C73EE}"/>
          </ac:spMkLst>
        </pc:spChg>
        <pc:spChg chg="mod">
          <ac:chgData name="Cornelia Popescu" userId="444ac7d1-afda-4314-b2c2-4aff562fe857" providerId="ADAL" clId="{3812F0D7-A263-41B2-AC96-1F3B68D731C9}" dt="2026-03-11T13:48:10.221" v="1073" actId="5793"/>
          <ac:spMkLst>
            <pc:docMk/>
            <pc:sldMk cId="3048521155" sldId="344"/>
            <ac:spMk id="5" creationId="{C3817074-FF77-90F2-68F5-10CE2A213DBB}"/>
          </ac:spMkLst>
        </pc:spChg>
      </pc:sldChg>
      <pc:sldChg chg="modSp mod">
        <pc:chgData name="Cornelia Popescu" userId="444ac7d1-afda-4314-b2c2-4aff562fe857" providerId="ADAL" clId="{3812F0D7-A263-41B2-AC96-1F3B68D731C9}" dt="2026-03-11T13:49:05.644" v="1076" actId="108"/>
        <pc:sldMkLst>
          <pc:docMk/>
          <pc:sldMk cId="623413508" sldId="345"/>
        </pc:sldMkLst>
        <pc:spChg chg="mod">
          <ac:chgData name="Cornelia Popescu" userId="444ac7d1-afda-4314-b2c2-4aff562fe857" providerId="ADAL" clId="{3812F0D7-A263-41B2-AC96-1F3B68D731C9}" dt="2026-03-11T13:45:21.342" v="1057" actId="108"/>
          <ac:spMkLst>
            <pc:docMk/>
            <pc:sldMk cId="623413508" sldId="345"/>
            <ac:spMk id="2" creationId="{029D5EED-1759-D892-A381-E1DEF45B384E}"/>
          </ac:spMkLst>
        </pc:spChg>
        <pc:spChg chg="mod">
          <ac:chgData name="Cornelia Popescu" userId="444ac7d1-afda-4314-b2c2-4aff562fe857" providerId="ADAL" clId="{3812F0D7-A263-41B2-AC96-1F3B68D731C9}" dt="2026-03-11T13:49:05.644" v="1076" actId="108"/>
          <ac:spMkLst>
            <pc:docMk/>
            <pc:sldMk cId="623413508" sldId="345"/>
            <ac:spMk id="5" creationId="{3DB78BA9-C508-D812-8DA4-92D4920D482B}"/>
          </ac:spMkLst>
        </pc:spChg>
      </pc:sldChg>
      <pc:sldChg chg="modSp mod">
        <pc:chgData name="Cornelia Popescu" userId="444ac7d1-afda-4314-b2c2-4aff562fe857" providerId="ADAL" clId="{3812F0D7-A263-41B2-AC96-1F3B68D731C9}" dt="2026-03-11T13:51:21.515" v="1091" actId="207"/>
        <pc:sldMkLst>
          <pc:docMk/>
          <pc:sldMk cId="453072332" sldId="346"/>
        </pc:sldMkLst>
        <pc:spChg chg="mod">
          <ac:chgData name="Cornelia Popescu" userId="444ac7d1-afda-4314-b2c2-4aff562fe857" providerId="ADAL" clId="{3812F0D7-A263-41B2-AC96-1F3B68D731C9}" dt="2026-03-11T13:49:15.309" v="1077" actId="108"/>
          <ac:spMkLst>
            <pc:docMk/>
            <pc:sldMk cId="453072332" sldId="346"/>
            <ac:spMk id="2" creationId="{EEDF93A2-0334-8A18-6979-36A6FD6F436F}"/>
          </ac:spMkLst>
        </pc:spChg>
        <pc:graphicFrameChg chg="modGraphic">
          <ac:chgData name="Cornelia Popescu" userId="444ac7d1-afda-4314-b2c2-4aff562fe857" providerId="ADAL" clId="{3812F0D7-A263-41B2-AC96-1F3B68D731C9}" dt="2026-03-11T13:51:21.515" v="1091" actId="207"/>
          <ac:graphicFrameMkLst>
            <pc:docMk/>
            <pc:sldMk cId="453072332" sldId="346"/>
            <ac:graphicFrameMk id="4" creationId="{42288D10-72AE-AA3F-8D84-3C10BE2BE14A}"/>
          </ac:graphicFrameMkLst>
        </pc:graphicFrameChg>
      </pc:sldChg>
      <pc:sldChg chg="modSp mod">
        <pc:chgData name="Cornelia Popescu" userId="444ac7d1-afda-4314-b2c2-4aff562fe857" providerId="ADAL" clId="{3812F0D7-A263-41B2-AC96-1F3B68D731C9}" dt="2026-03-11T13:54:17.674" v="1124" actId="1076"/>
        <pc:sldMkLst>
          <pc:docMk/>
          <pc:sldMk cId="247532444" sldId="347"/>
        </pc:sldMkLst>
        <pc:spChg chg="mod">
          <ac:chgData name="Cornelia Popescu" userId="444ac7d1-afda-4314-b2c2-4aff562fe857" providerId="ADAL" clId="{3812F0D7-A263-41B2-AC96-1F3B68D731C9}" dt="2026-03-11T13:51:57.887" v="1093" actId="1076"/>
          <ac:spMkLst>
            <pc:docMk/>
            <pc:sldMk cId="247532444" sldId="347"/>
            <ac:spMk id="2" creationId="{A527E997-E2C4-21C7-4621-FBE65768EBB9}"/>
          </ac:spMkLst>
        </pc:spChg>
        <pc:spChg chg="mod">
          <ac:chgData name="Cornelia Popescu" userId="444ac7d1-afda-4314-b2c2-4aff562fe857" providerId="ADAL" clId="{3812F0D7-A263-41B2-AC96-1F3B68D731C9}" dt="2026-03-11T13:54:17.674" v="1124" actId="1076"/>
          <ac:spMkLst>
            <pc:docMk/>
            <pc:sldMk cId="247532444" sldId="347"/>
            <ac:spMk id="3" creationId="{6C083BE2-49C0-6171-C57D-4B0FDACD9818}"/>
          </ac:spMkLst>
        </pc:spChg>
      </pc:sldChg>
      <pc:sldChg chg="modSp mod">
        <pc:chgData name="Cornelia Popescu" userId="444ac7d1-afda-4314-b2c2-4aff562fe857" providerId="ADAL" clId="{3812F0D7-A263-41B2-AC96-1F3B68D731C9}" dt="2026-03-11T13:57:25.084" v="1129" actId="20577"/>
        <pc:sldMkLst>
          <pc:docMk/>
          <pc:sldMk cId="556434140" sldId="348"/>
        </pc:sldMkLst>
        <pc:spChg chg="mod">
          <ac:chgData name="Cornelia Popescu" userId="444ac7d1-afda-4314-b2c2-4aff562fe857" providerId="ADAL" clId="{3812F0D7-A263-41B2-AC96-1F3B68D731C9}" dt="2026-03-11T13:56:54.806" v="1126" actId="108"/>
          <ac:spMkLst>
            <pc:docMk/>
            <pc:sldMk cId="556434140" sldId="348"/>
            <ac:spMk id="4" creationId="{F96F6BE4-2E56-8591-CC96-CBBC77038D6F}"/>
          </ac:spMkLst>
        </pc:spChg>
        <pc:spChg chg="mod">
          <ac:chgData name="Cornelia Popescu" userId="444ac7d1-afda-4314-b2c2-4aff562fe857" providerId="ADAL" clId="{3812F0D7-A263-41B2-AC96-1F3B68D731C9}" dt="2026-03-11T13:57:25.084" v="1129" actId="20577"/>
          <ac:spMkLst>
            <pc:docMk/>
            <pc:sldMk cId="556434140" sldId="348"/>
            <ac:spMk id="5" creationId="{9E413056-1687-6116-2D88-9BA0F585203E}"/>
          </ac:spMkLst>
        </pc:spChg>
      </pc:sldChg>
      <pc:sldChg chg="modSp mod ord">
        <pc:chgData name="Cornelia Popescu" userId="444ac7d1-afda-4314-b2c2-4aff562fe857" providerId="ADAL" clId="{3812F0D7-A263-41B2-AC96-1F3B68D731C9}" dt="2026-03-11T14:01:18.236" v="1171" actId="1076"/>
        <pc:sldMkLst>
          <pc:docMk/>
          <pc:sldMk cId="3970683037" sldId="349"/>
        </pc:sldMkLst>
        <pc:spChg chg="mod">
          <ac:chgData name="Cornelia Popescu" userId="444ac7d1-afda-4314-b2c2-4aff562fe857" providerId="ADAL" clId="{3812F0D7-A263-41B2-AC96-1F3B68D731C9}" dt="2026-03-11T13:57:42.338" v="1130" actId="108"/>
          <ac:spMkLst>
            <pc:docMk/>
            <pc:sldMk cId="3970683037" sldId="349"/>
            <ac:spMk id="2" creationId="{6BDBD109-813F-48A7-124C-53CC285A3BAC}"/>
          </ac:spMkLst>
        </pc:spChg>
        <pc:spChg chg="mod">
          <ac:chgData name="Cornelia Popescu" userId="444ac7d1-afda-4314-b2c2-4aff562fe857" providerId="ADAL" clId="{3812F0D7-A263-41B2-AC96-1F3B68D731C9}" dt="2026-03-11T14:01:18.236" v="1171" actId="1076"/>
          <ac:spMkLst>
            <pc:docMk/>
            <pc:sldMk cId="3970683037" sldId="349"/>
            <ac:spMk id="5" creationId="{8CE27C45-9058-10E6-0920-8F9836501C07}"/>
          </ac:spMkLst>
        </pc:spChg>
      </pc:sldChg>
      <pc:sldChg chg="modSp mod">
        <pc:chgData name="Cornelia Popescu" userId="444ac7d1-afda-4314-b2c2-4aff562fe857" providerId="ADAL" clId="{3812F0D7-A263-41B2-AC96-1F3B68D731C9}" dt="2026-03-11T14:02:42.495" v="1180" actId="108"/>
        <pc:sldMkLst>
          <pc:docMk/>
          <pc:sldMk cId="1851756152" sldId="350"/>
        </pc:sldMkLst>
        <pc:spChg chg="mod">
          <ac:chgData name="Cornelia Popescu" userId="444ac7d1-afda-4314-b2c2-4aff562fe857" providerId="ADAL" clId="{3812F0D7-A263-41B2-AC96-1F3B68D731C9}" dt="2026-03-11T14:01:45.243" v="1172" actId="108"/>
          <ac:spMkLst>
            <pc:docMk/>
            <pc:sldMk cId="1851756152" sldId="350"/>
            <ac:spMk id="2" creationId="{98D8A9B8-49C3-2D1E-39C6-2DA747E3CDA7}"/>
          </ac:spMkLst>
        </pc:spChg>
        <pc:spChg chg="mod">
          <ac:chgData name="Cornelia Popescu" userId="444ac7d1-afda-4314-b2c2-4aff562fe857" providerId="ADAL" clId="{3812F0D7-A263-41B2-AC96-1F3B68D731C9}" dt="2026-03-11T14:02:42.495" v="1180" actId="108"/>
          <ac:spMkLst>
            <pc:docMk/>
            <pc:sldMk cId="1851756152" sldId="350"/>
            <ac:spMk id="5" creationId="{C9419891-3BDE-13B9-6C9E-ACAD8470145E}"/>
          </ac:spMkLst>
        </pc:spChg>
      </pc:sldChg>
      <pc:sldChg chg="addSp delSp modSp mod">
        <pc:chgData name="Cornelia Popescu" userId="444ac7d1-afda-4314-b2c2-4aff562fe857" providerId="ADAL" clId="{3812F0D7-A263-41B2-AC96-1F3B68D731C9}" dt="2026-03-11T14:21:44.364" v="1282" actId="1076"/>
        <pc:sldMkLst>
          <pc:docMk/>
          <pc:sldMk cId="3721246022" sldId="351"/>
        </pc:sldMkLst>
        <pc:spChg chg="mod">
          <ac:chgData name="Cornelia Popescu" userId="444ac7d1-afda-4314-b2c2-4aff562fe857" providerId="ADAL" clId="{3812F0D7-A263-41B2-AC96-1F3B68D731C9}" dt="2026-03-11T14:21:44.364" v="1282" actId="1076"/>
          <ac:spMkLst>
            <pc:docMk/>
            <pc:sldMk cId="3721246022" sldId="351"/>
            <ac:spMk id="2" creationId="{C399EA0B-49F4-A2DE-1169-92D15E990D07}"/>
          </ac:spMkLst>
        </pc:spChg>
        <pc:spChg chg="del mod">
          <ac:chgData name="Cornelia Popescu" userId="444ac7d1-afda-4314-b2c2-4aff562fe857" providerId="ADAL" clId="{3812F0D7-A263-41B2-AC96-1F3B68D731C9}" dt="2026-03-11T14:20:30.961" v="1277" actId="478"/>
          <ac:spMkLst>
            <pc:docMk/>
            <pc:sldMk cId="3721246022" sldId="351"/>
            <ac:spMk id="3" creationId="{42D8F1CF-C18D-EBCC-EF26-2F9DA82CA2F4}"/>
          </ac:spMkLst>
        </pc:spChg>
        <pc:spChg chg="mod">
          <ac:chgData name="Cornelia Popescu" userId="444ac7d1-afda-4314-b2c2-4aff562fe857" providerId="ADAL" clId="{3812F0D7-A263-41B2-AC96-1F3B68D731C9}" dt="2026-03-10T11:23:36.806" v="25" actId="20577"/>
          <ac:spMkLst>
            <pc:docMk/>
            <pc:sldMk cId="3721246022" sldId="351"/>
            <ac:spMk id="4" creationId="{84F3F576-644F-537C-0A13-15D0BAC5F432}"/>
          </ac:spMkLst>
        </pc:spChg>
        <pc:spChg chg="add del mod">
          <ac:chgData name="Cornelia Popescu" userId="444ac7d1-afda-4314-b2c2-4aff562fe857" providerId="ADAL" clId="{3812F0D7-A263-41B2-AC96-1F3B68D731C9}" dt="2026-03-11T14:11:22.980" v="1220"/>
          <ac:spMkLst>
            <pc:docMk/>
            <pc:sldMk cId="3721246022" sldId="351"/>
            <ac:spMk id="5" creationId="{185E885B-3E37-36F5-ECF4-7528C961BBA9}"/>
          </ac:spMkLst>
        </pc:spChg>
        <pc:spChg chg="add mod">
          <ac:chgData name="Cornelia Popescu" userId="444ac7d1-afda-4314-b2c2-4aff562fe857" providerId="ADAL" clId="{3812F0D7-A263-41B2-AC96-1F3B68D731C9}" dt="2026-03-11T14:20:39.945" v="1279" actId="1076"/>
          <ac:spMkLst>
            <pc:docMk/>
            <pc:sldMk cId="3721246022" sldId="351"/>
            <ac:spMk id="6" creationId="{58B1AA55-6778-6B7C-DDC9-B405E1C17BDB}"/>
          </ac:spMkLst>
        </pc:spChg>
        <pc:spChg chg="add del mod">
          <ac:chgData name="Cornelia Popescu" userId="444ac7d1-afda-4314-b2c2-4aff562fe857" providerId="ADAL" clId="{3812F0D7-A263-41B2-AC96-1F3B68D731C9}" dt="2026-03-11T14:20:35.254" v="1278" actId="478"/>
          <ac:spMkLst>
            <pc:docMk/>
            <pc:sldMk cId="3721246022" sldId="351"/>
            <ac:spMk id="8" creationId="{DA17C9CD-D3EB-4F00-BBA9-E183E6F400F1}"/>
          </ac:spMkLst>
        </pc:spChg>
      </pc:sldChg>
      <pc:sldChg chg="modSp mod">
        <pc:chgData name="Cornelia Popescu" userId="444ac7d1-afda-4314-b2c2-4aff562fe857" providerId="ADAL" clId="{3812F0D7-A263-41B2-AC96-1F3B68D731C9}" dt="2026-03-11T14:59:45.031" v="1331" actId="255"/>
        <pc:sldMkLst>
          <pc:docMk/>
          <pc:sldMk cId="657972593" sldId="353"/>
        </pc:sldMkLst>
        <pc:spChg chg="mod">
          <ac:chgData name="Cornelia Popescu" userId="444ac7d1-afda-4314-b2c2-4aff562fe857" providerId="ADAL" clId="{3812F0D7-A263-41B2-AC96-1F3B68D731C9}" dt="2026-03-11T14:02:53.704" v="1181" actId="108"/>
          <ac:spMkLst>
            <pc:docMk/>
            <pc:sldMk cId="657972593" sldId="353"/>
            <ac:spMk id="2" creationId="{02115CF2-7D58-93BA-5F22-936D7B65FAD8}"/>
          </ac:spMkLst>
        </pc:spChg>
        <pc:spChg chg="mod">
          <ac:chgData name="Cornelia Popescu" userId="444ac7d1-afda-4314-b2c2-4aff562fe857" providerId="ADAL" clId="{3812F0D7-A263-41B2-AC96-1F3B68D731C9}" dt="2026-03-11T14:59:45.031" v="1331" actId="255"/>
          <ac:spMkLst>
            <pc:docMk/>
            <pc:sldMk cId="657972593" sldId="353"/>
            <ac:spMk id="3" creationId="{D7791BE4-92FB-8636-0702-B519D6BA6FF8}"/>
          </ac:spMkLst>
        </pc:spChg>
      </pc:sldChg>
      <pc:sldChg chg="modSp mod">
        <pc:chgData name="Cornelia Popescu" userId="444ac7d1-afda-4314-b2c2-4aff562fe857" providerId="ADAL" clId="{3812F0D7-A263-41B2-AC96-1F3B68D731C9}" dt="2026-03-11T14:04:01.004" v="1192" actId="108"/>
        <pc:sldMkLst>
          <pc:docMk/>
          <pc:sldMk cId="1338772817" sldId="354"/>
        </pc:sldMkLst>
        <pc:spChg chg="mod">
          <ac:chgData name="Cornelia Popescu" userId="444ac7d1-afda-4314-b2c2-4aff562fe857" providerId="ADAL" clId="{3812F0D7-A263-41B2-AC96-1F3B68D731C9}" dt="2026-03-11T14:03:42.744" v="1187" actId="108"/>
          <ac:spMkLst>
            <pc:docMk/>
            <pc:sldMk cId="1338772817" sldId="354"/>
            <ac:spMk id="2" creationId="{37581494-8FB1-C7EE-8846-69605968B1DB}"/>
          </ac:spMkLst>
        </pc:spChg>
        <pc:spChg chg="mod">
          <ac:chgData name="Cornelia Popescu" userId="444ac7d1-afda-4314-b2c2-4aff562fe857" providerId="ADAL" clId="{3812F0D7-A263-41B2-AC96-1F3B68D731C9}" dt="2026-03-11T14:04:01.004" v="1192" actId="108"/>
          <ac:spMkLst>
            <pc:docMk/>
            <pc:sldMk cId="1338772817" sldId="354"/>
            <ac:spMk id="5" creationId="{A179B0E4-B749-A422-4023-DFD9A5648687}"/>
          </ac:spMkLst>
        </pc:spChg>
      </pc:sldChg>
      <pc:sldChg chg="addSp delSp modSp add mod">
        <pc:chgData name="Cornelia Popescu" userId="444ac7d1-afda-4314-b2c2-4aff562fe857" providerId="ADAL" clId="{3812F0D7-A263-41B2-AC96-1F3B68D731C9}" dt="2026-03-11T14:22:50.025" v="1287" actId="20577"/>
        <pc:sldMkLst>
          <pc:docMk/>
          <pc:sldMk cId="2022807858" sldId="372"/>
        </pc:sldMkLst>
        <pc:spChg chg="mod">
          <ac:chgData name="Cornelia Popescu" userId="444ac7d1-afda-4314-b2c2-4aff562fe857" providerId="ADAL" clId="{3812F0D7-A263-41B2-AC96-1F3B68D731C9}" dt="2026-03-11T14:17:46.669" v="1257" actId="20577"/>
          <ac:spMkLst>
            <pc:docMk/>
            <pc:sldMk cId="2022807858" sldId="372"/>
            <ac:spMk id="2" creationId="{D15D02E2-CE42-71C2-871B-76155BD2789C}"/>
          </ac:spMkLst>
        </pc:spChg>
        <pc:spChg chg="del mod">
          <ac:chgData name="Cornelia Popescu" userId="444ac7d1-afda-4314-b2c2-4aff562fe857" providerId="ADAL" clId="{3812F0D7-A263-41B2-AC96-1F3B68D731C9}" dt="2026-03-11T14:17:45.110" v="1256" actId="478"/>
          <ac:spMkLst>
            <pc:docMk/>
            <pc:sldMk cId="2022807858" sldId="372"/>
            <ac:spMk id="3" creationId="{A5E66070-8A59-A2B2-63C4-8F1A83D45065}"/>
          </ac:spMkLst>
        </pc:spChg>
        <pc:spChg chg="del mod">
          <ac:chgData name="Cornelia Popescu" userId="444ac7d1-afda-4314-b2c2-4aff562fe857" providerId="ADAL" clId="{3812F0D7-A263-41B2-AC96-1F3B68D731C9}" dt="2026-03-11T14:17:54.070" v="1260" actId="478"/>
          <ac:spMkLst>
            <pc:docMk/>
            <pc:sldMk cId="2022807858" sldId="372"/>
            <ac:spMk id="5" creationId="{F7D9B038-AD54-CF46-588B-5CFD0F04A0F1}"/>
          </ac:spMkLst>
        </pc:spChg>
        <pc:spChg chg="add del mod">
          <ac:chgData name="Cornelia Popescu" userId="444ac7d1-afda-4314-b2c2-4aff562fe857" providerId="ADAL" clId="{3812F0D7-A263-41B2-AC96-1F3B68D731C9}" dt="2026-03-11T14:17:52.233" v="1259" actId="478"/>
          <ac:spMkLst>
            <pc:docMk/>
            <pc:sldMk cId="2022807858" sldId="372"/>
            <ac:spMk id="7" creationId="{8070089C-E415-A379-F6F9-784CBA176592}"/>
          </ac:spMkLst>
        </pc:spChg>
        <pc:spChg chg="add mod">
          <ac:chgData name="Cornelia Popescu" userId="444ac7d1-afda-4314-b2c2-4aff562fe857" providerId="ADAL" clId="{3812F0D7-A263-41B2-AC96-1F3B68D731C9}" dt="2026-03-11T14:22:50.025" v="1287" actId="20577"/>
          <ac:spMkLst>
            <pc:docMk/>
            <pc:sldMk cId="2022807858" sldId="372"/>
            <ac:spMk id="9" creationId="{445A3E5B-4A5D-7363-974F-8B0E87BA667C}"/>
          </ac:spMkLst>
        </pc:spChg>
      </pc:sldChg>
      <pc:sldChg chg="add">
        <pc:chgData name="Cornelia Popescu" userId="444ac7d1-afda-4314-b2c2-4aff562fe857" providerId="ADAL" clId="{3812F0D7-A263-41B2-AC96-1F3B68D731C9}" dt="2026-03-11T10:41:29.649" v="56"/>
        <pc:sldMkLst>
          <pc:docMk/>
          <pc:sldMk cId="1075045137" sldId="373"/>
        </pc:sldMkLst>
      </pc:sldChg>
      <pc:sldChg chg="modSp add mod">
        <pc:chgData name="Cornelia Popescu" userId="444ac7d1-afda-4314-b2c2-4aff562fe857" providerId="ADAL" clId="{3812F0D7-A263-41B2-AC96-1F3B68D731C9}" dt="2026-03-11T10:42:52.550" v="95" actId="255"/>
        <pc:sldMkLst>
          <pc:docMk/>
          <pc:sldMk cId="2623230634" sldId="451"/>
        </pc:sldMkLst>
        <pc:spChg chg="mod">
          <ac:chgData name="Cornelia Popescu" userId="444ac7d1-afda-4314-b2c2-4aff562fe857" providerId="ADAL" clId="{3812F0D7-A263-41B2-AC96-1F3B68D731C9}" dt="2026-03-11T10:42:52.550" v="95" actId="255"/>
          <ac:spMkLst>
            <pc:docMk/>
            <pc:sldMk cId="2623230634" sldId="451"/>
            <ac:spMk id="2" creationId="{13DF1749-1A1D-3164-354A-8D2A8109F7D1}"/>
          </ac:spMkLst>
        </pc:spChg>
      </pc:sldChg>
      <pc:sldChg chg="modSp add del mod">
        <pc:chgData name="Cornelia Popescu" userId="444ac7d1-afda-4314-b2c2-4aff562fe857" providerId="ADAL" clId="{3812F0D7-A263-41B2-AC96-1F3B68D731C9}" dt="2026-03-11T11:37:28.173" v="182" actId="2696"/>
        <pc:sldMkLst>
          <pc:docMk/>
          <pc:sldMk cId="3206101474" sldId="452"/>
        </pc:sldMkLst>
        <pc:spChg chg="mod">
          <ac:chgData name="Cornelia Popescu" userId="444ac7d1-afda-4314-b2c2-4aff562fe857" providerId="ADAL" clId="{3812F0D7-A263-41B2-AC96-1F3B68D731C9}" dt="2026-03-11T11:37:19.511" v="176" actId="20577"/>
          <ac:spMkLst>
            <pc:docMk/>
            <pc:sldMk cId="3206101474" sldId="452"/>
            <ac:spMk id="3" creationId="{4BC82A4F-BFD7-FD3F-C80E-B3C62E8D5FAE}"/>
          </ac:spMkLst>
        </pc:spChg>
      </pc:sldChg>
      <pc:sldChg chg="modSp add mod">
        <pc:chgData name="Cornelia Popescu" userId="444ac7d1-afda-4314-b2c2-4aff562fe857" providerId="ADAL" clId="{3812F0D7-A263-41B2-AC96-1F3B68D731C9}" dt="2026-03-11T11:44:22.553" v="213" actId="20577"/>
        <pc:sldMkLst>
          <pc:docMk/>
          <pc:sldMk cId="3843178596" sldId="452"/>
        </pc:sldMkLst>
        <pc:spChg chg="mod">
          <ac:chgData name="Cornelia Popescu" userId="444ac7d1-afda-4314-b2c2-4aff562fe857" providerId="ADAL" clId="{3812F0D7-A263-41B2-AC96-1F3B68D731C9}" dt="2026-03-11T11:41:21.203" v="201" actId="108"/>
          <ac:spMkLst>
            <pc:docMk/>
            <pc:sldMk cId="3843178596" sldId="452"/>
            <ac:spMk id="2" creationId="{2583F51D-1B6A-1FAC-9D02-C182CDD86714}"/>
          </ac:spMkLst>
        </pc:spChg>
        <pc:spChg chg="mod">
          <ac:chgData name="Cornelia Popescu" userId="444ac7d1-afda-4314-b2c2-4aff562fe857" providerId="ADAL" clId="{3812F0D7-A263-41B2-AC96-1F3B68D731C9}" dt="2026-03-11T11:44:22.553" v="213" actId="20577"/>
          <ac:spMkLst>
            <pc:docMk/>
            <pc:sldMk cId="3843178596" sldId="452"/>
            <ac:spMk id="3" creationId="{3D4A7DF2-5500-4461-A882-C0C911502299}"/>
          </ac:spMkLst>
        </pc:spChg>
      </pc:sldChg>
      <pc:sldChg chg="modSp add mod">
        <pc:chgData name="Cornelia Popescu" userId="444ac7d1-afda-4314-b2c2-4aff562fe857" providerId="ADAL" clId="{3812F0D7-A263-41B2-AC96-1F3B68D731C9}" dt="2026-03-11T11:46:11.382" v="224" actId="108"/>
        <pc:sldMkLst>
          <pc:docMk/>
          <pc:sldMk cId="3151053819" sldId="453"/>
        </pc:sldMkLst>
        <pc:spChg chg="mod">
          <ac:chgData name="Cornelia Popescu" userId="444ac7d1-afda-4314-b2c2-4aff562fe857" providerId="ADAL" clId="{3812F0D7-A263-41B2-AC96-1F3B68D731C9}" dt="2026-03-11T11:46:11.382" v="224" actId="108"/>
          <ac:spMkLst>
            <pc:docMk/>
            <pc:sldMk cId="3151053819" sldId="453"/>
            <ac:spMk id="3" creationId="{78912525-E04D-931F-09CB-93E6C87F0F8B}"/>
          </ac:spMkLst>
        </pc:spChg>
      </pc:sldChg>
      <pc:sldChg chg="modSp add mod">
        <pc:chgData name="Cornelia Popescu" userId="444ac7d1-afda-4314-b2c2-4aff562fe857" providerId="ADAL" clId="{3812F0D7-A263-41B2-AC96-1F3B68D731C9}" dt="2026-03-11T12:04:32.693" v="310" actId="108"/>
        <pc:sldMkLst>
          <pc:docMk/>
          <pc:sldMk cId="2643762479" sldId="454"/>
        </pc:sldMkLst>
        <pc:spChg chg="mod">
          <ac:chgData name="Cornelia Popescu" userId="444ac7d1-afda-4314-b2c2-4aff562fe857" providerId="ADAL" clId="{3812F0D7-A263-41B2-AC96-1F3B68D731C9}" dt="2026-03-11T12:04:32.693" v="310" actId="108"/>
          <ac:spMkLst>
            <pc:docMk/>
            <pc:sldMk cId="2643762479" sldId="454"/>
            <ac:spMk id="3" creationId="{9D0964D6-73A6-4605-35ED-B911BC5A05D0}"/>
          </ac:spMkLst>
        </pc:spChg>
      </pc:sldChg>
      <pc:sldChg chg="delSp modSp add mod">
        <pc:chgData name="Cornelia Popescu" userId="444ac7d1-afda-4314-b2c2-4aff562fe857" providerId="ADAL" clId="{3812F0D7-A263-41B2-AC96-1F3B68D731C9}" dt="2026-03-11T12:20:02.580" v="444" actId="1076"/>
        <pc:sldMkLst>
          <pc:docMk/>
          <pc:sldMk cId="3369390936" sldId="455"/>
        </pc:sldMkLst>
        <pc:spChg chg="del">
          <ac:chgData name="Cornelia Popescu" userId="444ac7d1-afda-4314-b2c2-4aff562fe857" providerId="ADAL" clId="{3812F0D7-A263-41B2-AC96-1F3B68D731C9}" dt="2026-03-11T12:19:28.885" v="437" actId="478"/>
          <ac:spMkLst>
            <pc:docMk/>
            <pc:sldMk cId="3369390936" sldId="455"/>
            <ac:spMk id="15" creationId="{42973B3D-55A4-3E53-49E7-6358AC808EDC}"/>
          </ac:spMkLst>
        </pc:spChg>
        <pc:spChg chg="mod">
          <ac:chgData name="Cornelia Popescu" userId="444ac7d1-afda-4314-b2c2-4aff562fe857" providerId="ADAL" clId="{3812F0D7-A263-41B2-AC96-1F3B68D731C9}" dt="2026-03-11T12:20:02.580" v="444" actId="1076"/>
          <ac:spMkLst>
            <pc:docMk/>
            <pc:sldMk cId="3369390936" sldId="455"/>
            <ac:spMk id="17" creationId="{8553316B-41C7-A187-74C1-21ADE410FB0E}"/>
          </ac:spMkLst>
        </pc:spChg>
      </pc:sldChg>
      <pc:sldChg chg="addSp delSp modSp add mod">
        <pc:chgData name="Cornelia Popescu" userId="444ac7d1-afda-4314-b2c2-4aff562fe857" providerId="ADAL" clId="{3812F0D7-A263-41B2-AC96-1F3B68D731C9}" dt="2026-03-11T13:27:21.281" v="956" actId="20577"/>
        <pc:sldMkLst>
          <pc:docMk/>
          <pc:sldMk cId="3576800751" sldId="456"/>
        </pc:sldMkLst>
        <pc:spChg chg="add del mod">
          <ac:chgData name="Cornelia Popescu" userId="444ac7d1-afda-4314-b2c2-4aff562fe857" providerId="ADAL" clId="{3812F0D7-A263-41B2-AC96-1F3B68D731C9}" dt="2026-03-11T13:27:21.281" v="956" actId="20577"/>
          <ac:spMkLst>
            <pc:docMk/>
            <pc:sldMk cId="3576800751" sldId="456"/>
            <ac:spMk id="3" creationId="{74F9A85B-1B80-B87C-C7F2-BA4E1ABC6271}"/>
          </ac:spMkLst>
        </pc:spChg>
        <pc:spChg chg="add del mod">
          <ac:chgData name="Cornelia Popescu" userId="444ac7d1-afda-4314-b2c2-4aff562fe857" providerId="ADAL" clId="{3812F0D7-A263-41B2-AC96-1F3B68D731C9}" dt="2026-03-11T13:25:47.500" v="642" actId="478"/>
          <ac:spMkLst>
            <pc:docMk/>
            <pc:sldMk cId="3576800751" sldId="456"/>
            <ac:spMk id="5" creationId="{0C657323-DF76-BD3C-2799-1A28D9659DB0}"/>
          </ac:spMkLst>
        </pc:spChg>
        <pc:spChg chg="add del mod">
          <ac:chgData name="Cornelia Popescu" userId="444ac7d1-afda-4314-b2c2-4aff562fe857" providerId="ADAL" clId="{3812F0D7-A263-41B2-AC96-1F3B68D731C9}" dt="2026-03-11T13:26:53.946" v="949" actId="478"/>
          <ac:spMkLst>
            <pc:docMk/>
            <pc:sldMk cId="3576800751" sldId="456"/>
            <ac:spMk id="7" creationId="{8CD5B395-99C2-54C9-A10C-BAC6FED75650}"/>
          </ac:spMkLst>
        </pc:spChg>
      </pc:sldChg>
      <pc:sldChg chg="modSp add mod ord">
        <pc:chgData name="Cornelia Popescu" userId="444ac7d1-afda-4314-b2c2-4aff562fe857" providerId="ADAL" clId="{3812F0D7-A263-41B2-AC96-1F3B68D731C9}" dt="2026-03-11T13:32:36.640" v="977" actId="108"/>
        <pc:sldMkLst>
          <pc:docMk/>
          <pc:sldMk cId="1231092441" sldId="457"/>
        </pc:sldMkLst>
        <pc:spChg chg="mod">
          <ac:chgData name="Cornelia Popescu" userId="444ac7d1-afda-4314-b2c2-4aff562fe857" providerId="ADAL" clId="{3812F0D7-A263-41B2-AC96-1F3B68D731C9}" dt="2026-03-11T13:32:36.640" v="977" actId="108"/>
          <ac:spMkLst>
            <pc:docMk/>
            <pc:sldMk cId="1231092441" sldId="457"/>
            <ac:spMk id="3" creationId="{A531EBD1-0908-A6D8-8862-E4B71490347C}"/>
          </ac:spMkLst>
        </pc:spChg>
      </pc:sldChg>
      <pc:sldChg chg="modSp add mod">
        <pc:chgData name="Cornelia Popescu" userId="444ac7d1-afda-4314-b2c2-4aff562fe857" providerId="ADAL" clId="{3812F0D7-A263-41B2-AC96-1F3B68D731C9}" dt="2026-03-11T13:40:41.250" v="1040" actId="20577"/>
        <pc:sldMkLst>
          <pc:docMk/>
          <pc:sldMk cId="50049749" sldId="458"/>
        </pc:sldMkLst>
        <pc:spChg chg="mod">
          <ac:chgData name="Cornelia Popescu" userId="444ac7d1-afda-4314-b2c2-4aff562fe857" providerId="ADAL" clId="{3812F0D7-A263-41B2-AC96-1F3B68D731C9}" dt="2026-03-11T13:40:41.250" v="1040" actId="20577"/>
          <ac:spMkLst>
            <pc:docMk/>
            <pc:sldMk cId="50049749" sldId="458"/>
            <ac:spMk id="3" creationId="{5C849B39-3A73-46B6-2A6C-3B6070C9FEA0}"/>
          </ac:spMkLst>
        </pc:spChg>
      </pc:sldChg>
      <pc:sldChg chg="modSp add mod">
        <pc:chgData name="Cornelia Popescu" userId="444ac7d1-afda-4314-b2c2-4aff562fe857" providerId="ADAL" clId="{3812F0D7-A263-41B2-AC96-1F3B68D731C9}" dt="2026-03-11T13:59:36.796" v="1150" actId="20577"/>
        <pc:sldMkLst>
          <pc:docMk/>
          <pc:sldMk cId="2423907241" sldId="459"/>
        </pc:sldMkLst>
        <pc:spChg chg="mod">
          <ac:chgData name="Cornelia Popescu" userId="444ac7d1-afda-4314-b2c2-4aff562fe857" providerId="ADAL" clId="{3812F0D7-A263-41B2-AC96-1F3B68D731C9}" dt="2026-03-11T13:59:36.796" v="1150" actId="20577"/>
          <ac:spMkLst>
            <pc:docMk/>
            <pc:sldMk cId="2423907241" sldId="459"/>
            <ac:spMk id="5" creationId="{375AC476-6D01-9291-0E30-9359CF6B4021}"/>
          </ac:spMkLst>
        </pc:spChg>
      </pc:sldChg>
      <pc:sldChg chg="modSp add mod">
        <pc:chgData name="Cornelia Popescu" userId="444ac7d1-afda-4314-b2c2-4aff562fe857" providerId="ADAL" clId="{3812F0D7-A263-41B2-AC96-1F3B68D731C9}" dt="2026-03-11T14:58:51.311" v="1325" actId="1076"/>
        <pc:sldMkLst>
          <pc:docMk/>
          <pc:sldMk cId="368699384" sldId="462"/>
        </pc:sldMkLst>
        <pc:spChg chg="mod">
          <ac:chgData name="Cornelia Popescu" userId="444ac7d1-afda-4314-b2c2-4aff562fe857" providerId="ADAL" clId="{3812F0D7-A263-41B2-AC96-1F3B68D731C9}" dt="2026-03-11T14:58:51.311" v="1325" actId="1076"/>
          <ac:spMkLst>
            <pc:docMk/>
            <pc:sldMk cId="368699384" sldId="462"/>
            <ac:spMk id="15" creationId="{CCA2F5CC-E586-965A-2FB8-42013F8AE37A}"/>
          </ac:spMkLst>
        </pc:spChg>
      </pc:sldChg>
    </pc:docChg>
  </pc:docChgLst>
  <pc:docChgLst>
    <pc:chgData name="Guest User" userId="S::urn:spo:tenantanon#ed2b45ec-3dfc-411c-9ffc-cb053e727a4c::" providerId="AD" clId="Web-{F4D41AED-7FC9-F8F5-D8CC-8F3C3CB6FC47}"/>
    <pc:docChg chg="delSld modSld">
      <pc:chgData name="Guest User" userId="S::urn:spo:tenantanon#ed2b45ec-3dfc-411c-9ffc-cb053e727a4c::" providerId="AD" clId="Web-{F4D41AED-7FC9-F8F5-D8CC-8F3C3CB6FC47}" dt="2026-03-10T08:39:29.890" v="6"/>
      <pc:docMkLst>
        <pc:docMk/>
      </pc:docMkLst>
      <pc:sldChg chg="addSp modSp">
        <pc:chgData name="Guest User" userId="S::urn:spo:tenantanon#ed2b45ec-3dfc-411c-9ffc-cb053e727a4c::" providerId="AD" clId="Web-{F4D41AED-7FC9-F8F5-D8CC-8F3C3CB6FC47}" dt="2026-03-10T08:38:12.820" v="5" actId="14100"/>
        <pc:sldMkLst>
          <pc:docMk/>
          <pc:sldMk cId="3721246022" sldId="351"/>
        </pc:sldMkLst>
        <pc:spChg chg="mod">
          <ac:chgData name="Guest User" userId="S::urn:spo:tenantanon#ed2b45ec-3dfc-411c-9ffc-cb053e727a4c::" providerId="AD" clId="Web-{F4D41AED-7FC9-F8F5-D8CC-8F3C3CB6FC47}" dt="2026-03-10T08:37:52.271" v="2" actId="1076"/>
          <ac:spMkLst>
            <pc:docMk/>
            <pc:sldMk cId="3721246022" sldId="351"/>
            <ac:spMk id="3" creationId="{42D8F1CF-C18D-EBCC-EF26-2F9DA82CA2F4}"/>
          </ac:spMkLst>
        </pc:spChg>
        <pc:spChg chg="add mod">
          <ac:chgData name="Guest User" userId="S::urn:spo:tenantanon#ed2b45ec-3dfc-411c-9ffc-cb053e727a4c::" providerId="AD" clId="Web-{F4D41AED-7FC9-F8F5-D8CC-8F3C3CB6FC47}" dt="2026-03-10T08:38:12.820" v="5" actId="14100"/>
          <ac:spMkLst>
            <pc:docMk/>
            <pc:sldMk cId="3721246022" sldId="351"/>
            <ac:spMk id="4" creationId="{84F3F576-644F-537C-0A13-15D0BAC5F432}"/>
          </ac:spMkLst>
        </pc:spChg>
      </pc:sldChg>
      <pc:sldChg chg="del">
        <pc:chgData name="Guest User" userId="S::urn:spo:tenantanon#ed2b45ec-3dfc-411c-9ffc-cb053e727a4c::" providerId="AD" clId="Web-{F4D41AED-7FC9-F8F5-D8CC-8F3C3CB6FC47}" dt="2026-03-10T08:39:29.890" v="6"/>
        <pc:sldMkLst>
          <pc:docMk/>
          <pc:sldMk cId="2756700704" sldId="352"/>
        </pc:sldMkLst>
      </pc:sldChg>
    </pc:docChg>
  </pc:docChgLst>
  <pc:docChgLst>
    <pc:chgData name="nicu@nicuzegheanu.ro" userId="S::urn:spo:guest#nicu@nicuzegheanu.ro::" providerId="AD" clId="Web-{7F9EB44B-4C91-FEBA-B2E2-D941BD54AF43}"/>
    <pc:docChg chg="modSld">
      <pc:chgData name="nicu@nicuzegheanu.ro" userId="S::urn:spo:guest#nicu@nicuzegheanu.ro::" providerId="AD" clId="Web-{7F9EB44B-4C91-FEBA-B2E2-D941BD54AF43}" dt="2026-02-20T12:23:08.150" v="0" actId="14100"/>
      <pc:docMkLst>
        <pc:docMk/>
      </pc:docMkLst>
      <pc:sldChg chg="modSp">
        <pc:chgData name="nicu@nicuzegheanu.ro" userId="S::urn:spo:guest#nicu@nicuzegheanu.ro::" providerId="AD" clId="Web-{7F9EB44B-4C91-FEBA-B2E2-D941BD54AF43}" dt="2026-02-20T12:23:08.150" v="0" actId="14100"/>
        <pc:sldMkLst>
          <pc:docMk/>
          <pc:sldMk cId="3194375770" sldId="371"/>
        </pc:sldMkLst>
        <pc:spChg chg="mod">
          <ac:chgData name="nicu@nicuzegheanu.ro" userId="S::urn:spo:guest#nicu@nicuzegheanu.ro::" providerId="AD" clId="Web-{7F9EB44B-4C91-FEBA-B2E2-D941BD54AF43}" dt="2026-02-20T12:23:08.150" v="0" actId="14100"/>
          <ac:spMkLst>
            <pc:docMk/>
            <pc:sldMk cId="3194375770" sldId="371"/>
            <ac:spMk id="5" creationId="{1FEA13CC-0ED2-11D6-C76B-35CB1393240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1DDD4-3CED-4400-A9AC-F2C4A6E68C52}"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845E0-60C2-446A-9A7D-97133A17FFD2}" type="slidenum">
              <a:rPr lang="en-US" smtClean="0"/>
              <a:t>‹#›</a:t>
            </a:fld>
            <a:endParaRPr lang="en-US"/>
          </a:p>
        </p:txBody>
      </p:sp>
    </p:spTree>
    <p:extLst>
      <p:ext uri="{BB962C8B-B14F-4D97-AF65-F5344CB8AC3E}">
        <p14:creationId xmlns:p14="http://schemas.microsoft.com/office/powerpoint/2010/main" val="279805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o-R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0845E0-60C2-446A-9A7D-97133A17FFD2}" type="slidenum">
              <a:rPr lang="en-US" smtClean="0"/>
              <a:t>4</a:t>
            </a:fld>
            <a:endParaRPr lang="en-US"/>
          </a:p>
        </p:txBody>
      </p:sp>
    </p:spTree>
    <p:extLst>
      <p:ext uri="{BB962C8B-B14F-4D97-AF65-F5344CB8AC3E}">
        <p14:creationId xmlns:p14="http://schemas.microsoft.com/office/powerpoint/2010/main" val="1564651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11</a:t>
            </a:fld>
            <a:endParaRPr lang="en-US"/>
          </a:p>
        </p:txBody>
      </p:sp>
    </p:spTree>
    <p:extLst>
      <p:ext uri="{BB962C8B-B14F-4D97-AF65-F5344CB8AC3E}">
        <p14:creationId xmlns:p14="http://schemas.microsoft.com/office/powerpoint/2010/main" val="51399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o-RO"/>
          </a:p>
        </p:txBody>
      </p:sp>
      <p:sp>
        <p:nvSpPr>
          <p:cNvPr id="3" name="Notes Placeholder 2"/>
          <p:cNvSpPr>
            <a:spLocks noGrp="1"/>
          </p:cNvSpPr>
          <p:nvPr>
            <p:ph type="body" idx="1"/>
          </p:nvPr>
        </p:nvSpPr>
        <p:spPr/>
        <p:txBody>
          <a:bodyPr/>
          <a:lstStyle/>
          <a:p>
            <a:r>
              <a:rPr lang="hr-HR" b="1" dirty="0"/>
              <a:t>Primjena plana upravljanja promjenama opsega</a:t>
            </a:r>
          </a:p>
          <a:p>
            <a:r>
              <a:rPr lang="hr-HR" b="1" dirty="0"/>
              <a:t>Korak 1: Identificirati zahtjev za promjenom opsega</a:t>
            </a:r>
          </a:p>
          <a:p>
            <a:pPr marL="171450" indent="-171450">
              <a:buFont typeface="Arial" panose="020B0604020202020204" pitchFamily="34" charset="0"/>
              <a:buChar char="•"/>
            </a:pPr>
            <a:r>
              <a:rPr lang="hr-HR" dirty="0"/>
              <a:t>Voditelj nabave škole podnosi formalni obrazac zahtjeva za promjenom opsega s detaljima o dodatnih 500 uniformi i zimskim jaknama.</a:t>
            </a:r>
          </a:p>
          <a:p>
            <a:pPr marL="171450" indent="-171450">
              <a:buFont typeface="Arial" panose="020B0604020202020204" pitchFamily="34" charset="0"/>
              <a:buChar char="•"/>
            </a:pPr>
            <a:r>
              <a:rPr lang="hr-HR" dirty="0"/>
              <a:t>Zahtjev uključuje razloge (upis novih učenika) i hitnost (isporuka je i dalje potrebna do 1. kolovoza).</a:t>
            </a:r>
          </a:p>
          <a:p>
            <a:r>
              <a:rPr lang="hr-HR" b="1" dirty="0"/>
              <a:t>Korak 2: Procijeniti utjecaj</a:t>
            </a:r>
            <a:br>
              <a:rPr lang="hr-HR" dirty="0"/>
            </a:br>
            <a:r>
              <a:rPr lang="hr-HR" dirty="0"/>
              <a:t>Voditelj projekta i tim provode analizu utjecaja:</a:t>
            </a:r>
          </a:p>
          <a:p>
            <a:pPr marL="171450" indent="-171450">
              <a:buFont typeface="Arial" panose="020B0604020202020204" pitchFamily="34" charset="0"/>
              <a:buChar char="•"/>
            </a:pPr>
            <a:r>
              <a:rPr lang="hr-HR" b="1" dirty="0"/>
              <a:t>Utjecaj na raspored: </a:t>
            </a:r>
            <a:r>
              <a:rPr lang="hr-HR" dirty="0"/>
              <a:t>Potrebno dodatno vrijeme proizvodnje (+3 tjedna).</a:t>
            </a:r>
          </a:p>
          <a:p>
            <a:pPr marL="171450" indent="-171450">
              <a:buFont typeface="Arial" panose="020B0604020202020204" pitchFamily="34" charset="0"/>
              <a:buChar char="•"/>
            </a:pPr>
            <a:r>
              <a:rPr lang="hr-HR" b="1" dirty="0"/>
              <a:t>Utjecaj na proračun: </a:t>
            </a:r>
            <a:r>
              <a:rPr lang="hr-HR" dirty="0"/>
              <a:t>Procijenjeno povećanje od 75.000 </a:t>
            </a:r>
            <a:r>
              <a:rPr lang="hr-HR" dirty="0" err="1"/>
              <a:t>leja</a:t>
            </a:r>
            <a:r>
              <a:rPr lang="hr-HR" dirty="0"/>
              <a:t>.</a:t>
            </a:r>
          </a:p>
          <a:p>
            <a:pPr marL="171450" indent="-171450">
              <a:buFont typeface="Arial" panose="020B0604020202020204" pitchFamily="34" charset="0"/>
              <a:buChar char="•"/>
            </a:pPr>
            <a:r>
              <a:rPr lang="hr-HR" b="1" dirty="0"/>
              <a:t>Utjecaj na resurse: </a:t>
            </a:r>
            <a:r>
              <a:rPr lang="hr-HR" dirty="0"/>
              <a:t>Potrebno više tkanine i materijala, moguće zapošljavanje privremenih radnika.</a:t>
            </a:r>
          </a:p>
          <a:p>
            <a:pPr marL="171450" indent="-171450">
              <a:buFont typeface="Arial" panose="020B0604020202020204" pitchFamily="34" charset="0"/>
              <a:buChar char="•"/>
            </a:pPr>
            <a:r>
              <a:rPr lang="hr-HR" b="1" dirty="0"/>
              <a:t>Procjena rizika: </a:t>
            </a:r>
            <a:r>
              <a:rPr lang="hr-HR" dirty="0"/>
              <a:t>Kašnjenja u nabavi tkanine i rizik nepoštivanja roka.</a:t>
            </a:r>
          </a:p>
          <a:p>
            <a:r>
              <a:rPr lang="hr-HR" b="1" dirty="0"/>
              <a:t>Korak 3: Pregled i odobrenje</a:t>
            </a:r>
          </a:p>
          <a:p>
            <a:pPr marL="171450" indent="-171450">
              <a:buFont typeface="Arial" panose="020B0604020202020204" pitchFamily="34" charset="0"/>
              <a:buChar char="•"/>
            </a:pPr>
            <a:r>
              <a:rPr lang="hr-HR" b="1" dirty="0"/>
              <a:t>Odbor za kontrolu promjena (CCB)</a:t>
            </a:r>
            <a:r>
              <a:rPr lang="hr-HR" dirty="0"/>
              <a:t> (uključujući voditelja projekta, voditelja proizvodnje i financijskog službenika) pregledava zahtjev.</a:t>
            </a:r>
          </a:p>
          <a:p>
            <a:pPr marL="171450" indent="-171450">
              <a:buFont typeface="Arial" panose="020B0604020202020204" pitchFamily="34" charset="0"/>
              <a:buChar char="•"/>
            </a:pPr>
            <a:r>
              <a:rPr lang="hr-HR" dirty="0"/>
              <a:t>Razmatrane opcije:</a:t>
            </a:r>
          </a:p>
          <a:p>
            <a:pPr marL="628650" lvl="1" indent="-171450">
              <a:buFont typeface="Arial" panose="020B0604020202020204" pitchFamily="34" charset="0"/>
              <a:buChar char="•"/>
            </a:pPr>
            <a:r>
              <a:rPr lang="hr-HR" dirty="0"/>
              <a:t>Odobriti promjenu uz produljenje roka.</a:t>
            </a:r>
          </a:p>
          <a:p>
            <a:pPr marL="628650" lvl="1" indent="-171450">
              <a:buFont typeface="Arial" panose="020B0604020202020204" pitchFamily="34" charset="0"/>
              <a:buChar char="•"/>
            </a:pPr>
            <a:r>
              <a:rPr lang="hr-HR" dirty="0"/>
              <a:t>Odobriti promjenu uz pregovaranje o dodatnim troškovima.</a:t>
            </a:r>
          </a:p>
          <a:p>
            <a:pPr marL="628650" lvl="1" indent="-171450">
              <a:buFont typeface="Arial" panose="020B0604020202020204" pitchFamily="34" charset="0"/>
              <a:buChar char="•"/>
            </a:pPr>
            <a:r>
              <a:rPr lang="hr-HR" dirty="0"/>
              <a:t>Odbiti zbog rizika kašnjenja projekta.</a:t>
            </a:r>
          </a:p>
          <a:p>
            <a:pPr marL="0" lvl="0" indent="0">
              <a:buFont typeface="Arial" panose="020B0604020202020204" pitchFamily="34" charset="0"/>
              <a:buNone/>
            </a:pPr>
            <a:r>
              <a:rPr lang="hr-HR" b="1" dirty="0"/>
              <a:t>Odluka: </a:t>
            </a:r>
            <a:r>
              <a:rPr lang="hr-HR" dirty="0"/>
              <a:t>Odobreno uz </a:t>
            </a:r>
            <a:r>
              <a:rPr lang="hr-HR" b="1" dirty="0"/>
              <a:t>revidirani proračun od 325.000 </a:t>
            </a:r>
            <a:r>
              <a:rPr lang="hr-HR" b="1" dirty="0" err="1"/>
              <a:t>leja</a:t>
            </a:r>
            <a:r>
              <a:rPr lang="hr-HR" b="1" dirty="0"/>
              <a:t> </a:t>
            </a:r>
            <a:r>
              <a:rPr lang="hr-HR" dirty="0"/>
              <a:t>i </a:t>
            </a:r>
            <a:r>
              <a:rPr lang="hr-HR" b="1" dirty="0"/>
              <a:t>produljenje roka do 20. kolovoza</a:t>
            </a:r>
            <a:r>
              <a:rPr lang="hr-HR" dirty="0"/>
              <a:t>.</a:t>
            </a:r>
          </a:p>
          <a:p>
            <a:r>
              <a:rPr lang="hr-HR" b="1" dirty="0"/>
              <a:t>Korak 4: Komunicirati odluku</a:t>
            </a:r>
          </a:p>
          <a:p>
            <a:pPr marL="171450" indent="-171450">
              <a:buFont typeface="Arial" panose="020B0604020202020204" pitchFamily="34" charset="0"/>
              <a:buChar char="•"/>
            </a:pPr>
            <a:r>
              <a:rPr lang="hr-HR" dirty="0"/>
              <a:t>Voditelj projekta obavještava sve dionike, uključujući proizvodno osoblje i dobavljače.</a:t>
            </a:r>
          </a:p>
          <a:p>
            <a:pPr marL="171450" indent="-171450">
              <a:buFont typeface="Arial" panose="020B0604020202020204" pitchFamily="34" charset="0"/>
              <a:buChar char="•"/>
            </a:pPr>
            <a:r>
              <a:rPr lang="hr-HR" dirty="0"/>
              <a:t>Novi raspored i proračun dokumentirani su u </a:t>
            </a:r>
            <a:r>
              <a:rPr lang="hr-HR" b="1" dirty="0"/>
              <a:t>evidenciji promjena opsega (</a:t>
            </a:r>
            <a:r>
              <a:rPr lang="hr-HR" b="1" dirty="0" err="1"/>
              <a:t>Scope</a:t>
            </a:r>
            <a:r>
              <a:rPr lang="hr-HR" b="1" dirty="0"/>
              <a:t> </a:t>
            </a:r>
            <a:r>
              <a:rPr lang="hr-HR" b="1" dirty="0" err="1"/>
              <a:t>Change</a:t>
            </a:r>
            <a:r>
              <a:rPr lang="hr-HR" b="1" dirty="0"/>
              <a:t> Log)</a:t>
            </a:r>
            <a:r>
              <a:rPr lang="hr-HR" dirty="0"/>
              <a:t>.</a:t>
            </a:r>
          </a:p>
          <a:p>
            <a:r>
              <a:rPr lang="hr-HR" b="1" dirty="0"/>
              <a:t>Korak 5: Provesti promjenu</a:t>
            </a:r>
          </a:p>
          <a:p>
            <a:pPr marL="171450" indent="-171450">
              <a:buFont typeface="Arial" panose="020B0604020202020204" pitchFamily="34" charset="0"/>
              <a:buChar char="•"/>
            </a:pPr>
            <a:r>
              <a:rPr lang="hr-HR" dirty="0"/>
              <a:t>Naručena dodatna tkanina uz ubrzanu isporuku.</a:t>
            </a:r>
          </a:p>
          <a:p>
            <a:pPr marL="171450" indent="-171450">
              <a:buFont typeface="Arial" panose="020B0604020202020204" pitchFamily="34" charset="0"/>
              <a:buChar char="•"/>
            </a:pPr>
            <a:r>
              <a:rPr lang="hr-HR" dirty="0"/>
              <a:t>Organizirane prekovremene smjene za proizvodne radnike.</a:t>
            </a:r>
          </a:p>
          <a:p>
            <a:pPr marL="171450" indent="-171450">
              <a:buFont typeface="Arial" panose="020B0604020202020204" pitchFamily="34" charset="0"/>
              <a:buChar char="•"/>
            </a:pPr>
            <a:r>
              <a:rPr lang="hr-HR" dirty="0"/>
              <a:t>Tim za kontrolu kvalitete prilagođava proces inspekcije za novi dizajn jakni.</a:t>
            </a:r>
          </a:p>
          <a:p>
            <a:r>
              <a:rPr lang="hr-HR" b="1" dirty="0"/>
              <a:t>Korak 6: Pratiti i nadzirati napredak</a:t>
            </a:r>
          </a:p>
          <a:p>
            <a:pPr marL="171450" indent="-171450">
              <a:buFont typeface="Arial" panose="020B0604020202020204" pitchFamily="34" charset="0"/>
              <a:buChar char="•"/>
            </a:pPr>
            <a:r>
              <a:rPr lang="hr-HR" dirty="0"/>
              <a:t>Tjedni sastanci prate proizvodne prekretnice.</a:t>
            </a:r>
          </a:p>
          <a:p>
            <a:pPr marL="171450" indent="-171450">
              <a:buFont typeface="Arial" panose="020B0604020202020204" pitchFamily="34" charset="0"/>
              <a:buChar char="•"/>
            </a:pPr>
            <a:r>
              <a:rPr lang="hr-HR" dirty="0"/>
              <a:t>Tim za nabavu osigurava pravovremenu isporuku materijala.</a:t>
            </a:r>
          </a:p>
          <a:p>
            <a:pPr marL="171450" indent="-171450">
              <a:buFont typeface="Arial" panose="020B0604020202020204" pitchFamily="34" charset="0"/>
              <a:buChar char="•"/>
            </a:pPr>
            <a:r>
              <a:rPr lang="hr-HR" dirty="0"/>
              <a:t>Završna inspekcija zakazana 5 dana prije novog roka.</a:t>
            </a:r>
          </a:p>
          <a:p>
            <a:r>
              <a:rPr lang="hr-HR" b="1" dirty="0"/>
              <a:t>Korak 7: Dokumentirati naučene lekcije</a:t>
            </a:r>
          </a:p>
          <a:p>
            <a:pPr marL="171450" indent="-171450">
              <a:buFont typeface="Arial" panose="020B0604020202020204" pitchFamily="34" charset="0"/>
              <a:buChar char="•"/>
            </a:pPr>
            <a:r>
              <a:rPr lang="hr-HR" dirty="0"/>
              <a:t>Tim prepoznaje potrebu za </a:t>
            </a:r>
            <a:r>
              <a:rPr lang="hr-HR" b="1" dirty="0"/>
              <a:t>fleksibilnim ugovorima </a:t>
            </a:r>
            <a:r>
              <a:rPr lang="hr-HR" dirty="0"/>
              <a:t>s dobavljačima radi buduće skalabilnosti.</a:t>
            </a:r>
          </a:p>
          <a:p>
            <a:pPr marL="171450" indent="-171450">
              <a:buFont typeface="Arial" panose="020B0604020202020204" pitchFamily="34" charset="0"/>
              <a:buChar char="•"/>
            </a:pPr>
            <a:r>
              <a:rPr lang="hr-HR" dirty="0"/>
              <a:t>Preporučuje se uvođenje vremenskog “</a:t>
            </a:r>
            <a:r>
              <a:rPr lang="hr-HR" dirty="0" err="1"/>
              <a:t>buffera</a:t>
            </a:r>
            <a:r>
              <a:rPr lang="hr-HR" dirty="0"/>
              <a:t>” u buduće rasporede kako bi se prilagodilo nepredviđenim promjenama.</a:t>
            </a:r>
          </a:p>
          <a:p>
            <a:endParaRPr lang="en-US" dirty="0"/>
          </a:p>
        </p:txBody>
      </p:sp>
      <p:sp>
        <p:nvSpPr>
          <p:cNvPr id="4" name="Slide Number Placeholder 3"/>
          <p:cNvSpPr>
            <a:spLocks noGrp="1"/>
          </p:cNvSpPr>
          <p:nvPr>
            <p:ph type="sldNum" sz="quarter" idx="5"/>
          </p:nvPr>
        </p:nvSpPr>
        <p:spPr/>
        <p:txBody>
          <a:bodyPr/>
          <a:lstStyle/>
          <a:p>
            <a:fld id="{860845E0-60C2-446A-9A7D-97133A17FFD2}" type="slidenum">
              <a:rPr lang="en-US" smtClean="0"/>
              <a:t>12</a:t>
            </a:fld>
            <a:endParaRPr lang="en-US"/>
          </a:p>
        </p:txBody>
      </p:sp>
    </p:spTree>
    <p:extLst>
      <p:ext uri="{BB962C8B-B14F-4D97-AF65-F5344CB8AC3E}">
        <p14:creationId xmlns:p14="http://schemas.microsoft.com/office/powerpoint/2010/main" val="2943159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25396-C555-E156-1BFC-362C06BB1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FC8F8-B928-56F3-DC72-D73FEB4D5BEE}"/>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7A3C9871-3B1C-7CDC-E0B3-F5B9DB8922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EB396B-A965-F96E-F59C-C4989F8C68E4}"/>
              </a:ext>
            </a:extLst>
          </p:cNvPr>
          <p:cNvSpPr>
            <a:spLocks noGrp="1"/>
          </p:cNvSpPr>
          <p:nvPr>
            <p:ph type="sldNum" sz="quarter" idx="5"/>
          </p:nvPr>
        </p:nvSpPr>
        <p:spPr/>
        <p:txBody>
          <a:bodyPr/>
          <a:lstStyle/>
          <a:p>
            <a:fld id="{860845E0-60C2-446A-9A7D-97133A17FFD2}" type="slidenum">
              <a:rPr lang="en-US" smtClean="0"/>
              <a:t>13</a:t>
            </a:fld>
            <a:endParaRPr lang="en-US"/>
          </a:p>
        </p:txBody>
      </p:sp>
    </p:spTree>
    <p:extLst>
      <p:ext uri="{BB962C8B-B14F-4D97-AF65-F5344CB8AC3E}">
        <p14:creationId xmlns:p14="http://schemas.microsoft.com/office/powerpoint/2010/main" val="463824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14</a:t>
            </a:fld>
            <a:endParaRPr lang="en-US"/>
          </a:p>
        </p:txBody>
      </p:sp>
    </p:spTree>
    <p:extLst>
      <p:ext uri="{BB962C8B-B14F-4D97-AF65-F5344CB8AC3E}">
        <p14:creationId xmlns:p14="http://schemas.microsoft.com/office/powerpoint/2010/main" val="1505429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80BB-F733-0E97-EE8C-206784FF8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BE754-30FD-BB53-9919-3029FAEB8658}"/>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107BECF1-DABB-4AE5-2C9E-4458837E39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1A08B-9049-835D-6B1C-C01BEDDF1E50}"/>
              </a:ext>
            </a:extLst>
          </p:cNvPr>
          <p:cNvSpPr>
            <a:spLocks noGrp="1"/>
          </p:cNvSpPr>
          <p:nvPr>
            <p:ph type="sldNum" sz="quarter" idx="5"/>
          </p:nvPr>
        </p:nvSpPr>
        <p:spPr/>
        <p:txBody>
          <a:bodyPr/>
          <a:lstStyle/>
          <a:p>
            <a:fld id="{860845E0-60C2-446A-9A7D-97133A17FFD2}" type="slidenum">
              <a:rPr lang="en-US" smtClean="0"/>
              <a:t>19</a:t>
            </a:fld>
            <a:endParaRPr lang="en-US"/>
          </a:p>
        </p:txBody>
      </p:sp>
    </p:spTree>
    <p:extLst>
      <p:ext uri="{BB962C8B-B14F-4D97-AF65-F5344CB8AC3E}">
        <p14:creationId xmlns:p14="http://schemas.microsoft.com/office/powerpoint/2010/main" val="3308049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CD2A1-14DF-6F03-1401-FD4922510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65886-0C0D-D3E0-B6E9-301F38E21677}"/>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009DA4E3-4957-399A-7A24-353EED9850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7D0415-139D-C020-4576-C32542C9B1C6}"/>
              </a:ext>
            </a:extLst>
          </p:cNvPr>
          <p:cNvSpPr>
            <a:spLocks noGrp="1"/>
          </p:cNvSpPr>
          <p:nvPr>
            <p:ph type="sldNum" sz="quarter" idx="5"/>
          </p:nvPr>
        </p:nvSpPr>
        <p:spPr/>
        <p:txBody>
          <a:bodyPr/>
          <a:lstStyle/>
          <a:p>
            <a:fld id="{860845E0-60C2-446A-9A7D-97133A17FFD2}" type="slidenum">
              <a:rPr lang="en-US" smtClean="0"/>
              <a:t>22</a:t>
            </a:fld>
            <a:endParaRPr lang="en-US"/>
          </a:p>
        </p:txBody>
      </p:sp>
    </p:spTree>
    <p:extLst>
      <p:ext uri="{BB962C8B-B14F-4D97-AF65-F5344CB8AC3E}">
        <p14:creationId xmlns:p14="http://schemas.microsoft.com/office/powerpoint/2010/main" val="3677966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24</a:t>
            </a:fld>
            <a:endParaRPr lang="en-US"/>
          </a:p>
        </p:txBody>
      </p:sp>
    </p:spTree>
    <p:extLst>
      <p:ext uri="{BB962C8B-B14F-4D97-AF65-F5344CB8AC3E}">
        <p14:creationId xmlns:p14="http://schemas.microsoft.com/office/powerpoint/2010/main" val="3335135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o-RO"/>
          </a:p>
        </p:txBody>
      </p:sp>
      <p:sp>
        <p:nvSpPr>
          <p:cNvPr id="3" name="Notes Placeholder 2"/>
          <p:cNvSpPr>
            <a:spLocks noGrp="1"/>
          </p:cNvSpPr>
          <p:nvPr>
            <p:ph type="body" idx="1"/>
          </p:nvPr>
        </p:nvSpPr>
        <p:spPr/>
        <p:txBody>
          <a:bodyPr/>
          <a:lstStyle/>
          <a:p>
            <a:r>
              <a:rPr lang="hr-HR" b="1" dirty="0"/>
              <a:t>ANALIZA USPJEŠNOSTI:</a:t>
            </a:r>
          </a:p>
          <a:p>
            <a:endParaRPr lang="hr-HR" b="1" dirty="0"/>
          </a:p>
          <a:p>
            <a:pPr marL="0" indent="0">
              <a:buFont typeface="Arial" panose="020B0604020202020204" pitchFamily="34" charset="0"/>
              <a:buNone/>
            </a:pPr>
            <a:r>
              <a:rPr lang="hr-HR" b="1" dirty="0"/>
              <a:t>Siječanj:</a:t>
            </a:r>
          </a:p>
          <a:p>
            <a:pPr marL="171450" indent="-171450">
              <a:buFont typeface="Arial" panose="020B0604020202020204" pitchFamily="34" charset="0"/>
              <a:buChar char="•"/>
            </a:pPr>
            <a:r>
              <a:rPr lang="hr-HR" b="1" dirty="0"/>
              <a:t>Planirana vrijednost (PV): </a:t>
            </a:r>
            <a:r>
              <a:rPr lang="hr-HR" dirty="0"/>
              <a:t>100.000</a:t>
            </a:r>
          </a:p>
          <a:p>
            <a:pPr marL="171450" indent="-171450">
              <a:buFont typeface="Arial" panose="020B0604020202020204" pitchFamily="34" charset="0"/>
              <a:buChar char="•"/>
            </a:pPr>
            <a:r>
              <a:rPr lang="hr-HR" b="1" dirty="0"/>
              <a:t>Zarađena vrijednost (EV): </a:t>
            </a:r>
            <a:r>
              <a:rPr lang="hr-HR" dirty="0"/>
              <a:t>90.000</a:t>
            </a:r>
          </a:p>
          <a:p>
            <a:pPr marL="171450" indent="-171450">
              <a:buFont typeface="Arial" panose="020B0604020202020204" pitchFamily="34" charset="0"/>
              <a:buChar char="•"/>
            </a:pPr>
            <a:r>
              <a:rPr lang="hr-HR" b="1" dirty="0"/>
              <a:t>Stvarni trošak (AC): </a:t>
            </a:r>
            <a:r>
              <a:rPr lang="hr-HR" dirty="0"/>
              <a:t>95.000</a:t>
            </a:r>
          </a:p>
          <a:p>
            <a:pPr marL="0" indent="0">
              <a:buFont typeface="Arial" panose="020B0604020202020204" pitchFamily="34" charset="0"/>
              <a:buNone/>
            </a:pPr>
            <a:r>
              <a:rPr lang="hr-HR" b="1" dirty="0"/>
              <a:t>Odstupanje troškova (CV): </a:t>
            </a:r>
            <a:r>
              <a:rPr lang="hr-HR" dirty="0"/>
              <a:t>EV - AC = 90.000 - 95.000 = -5.000</a:t>
            </a:r>
            <a:br>
              <a:rPr lang="hr-HR" dirty="0"/>
            </a:br>
            <a:r>
              <a:rPr lang="hr-HR" b="1" dirty="0"/>
              <a:t>Odstupanje rasporeda (SV): </a:t>
            </a:r>
            <a:r>
              <a:rPr lang="hr-HR" dirty="0"/>
              <a:t>EV - PV = 90.000 - 100.000 = -10.000</a:t>
            </a:r>
            <a:br>
              <a:rPr lang="hr-HR" dirty="0"/>
            </a:br>
            <a:r>
              <a:rPr lang="hr-HR" b="1" dirty="0"/>
              <a:t>CPI:</a:t>
            </a:r>
            <a:r>
              <a:rPr lang="hr-HR" dirty="0"/>
              <a:t> EV / AC = 90.000 / 95.000 = 0,947</a:t>
            </a:r>
            <a:br>
              <a:rPr lang="hr-HR" dirty="0"/>
            </a:br>
            <a:r>
              <a:rPr lang="hr-HR" b="1" dirty="0"/>
              <a:t>SPI:</a:t>
            </a:r>
            <a:r>
              <a:rPr lang="hr-HR" dirty="0"/>
              <a:t> EV / PV = 90.000 / 100.000 = 0,9</a:t>
            </a:r>
          </a:p>
          <a:p>
            <a:pPr marL="171450" indent="-171450">
              <a:buFont typeface="Arial" panose="020B0604020202020204" pitchFamily="34" charset="0"/>
              <a:buChar char="•"/>
            </a:pPr>
            <a:r>
              <a:rPr lang="hr-HR" b="1" dirty="0"/>
              <a:t>Interpretacija:</a:t>
            </a:r>
            <a:r>
              <a:rPr lang="hr-HR" dirty="0"/>
              <a:t> Projekt kasni i premašuje proračun. Negativna odstupanja pokazuju da rad napreduje sporije od planiranog i da se troši više novca nego što je predviđeno. Vrijednosti CPI i SPI ukazuju na neučinkovitost.</a:t>
            </a:r>
          </a:p>
          <a:p>
            <a:pPr marL="0" marR="0">
              <a:lnSpc>
                <a:spcPct val="115000"/>
              </a:lnSpc>
              <a:spcAft>
                <a:spcPts val="800"/>
              </a:spcAft>
              <a:buNone/>
            </a:pPr>
            <a:r>
              <a:rPr lang="en-US" sz="1200" b="1" kern="0" dirty="0">
                <a:effectLst/>
                <a:latin typeface="Montserrat" panose="00000500000000000000" pitchFamily="2" charset="0"/>
                <a:ea typeface="Times New Roman" panose="02020603050405020304" pitchFamily="18"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hr-HR" b="1" dirty="0"/>
              <a:t>Veljača:</a:t>
            </a:r>
          </a:p>
          <a:p>
            <a:pPr marL="171450" marR="0" indent="-171450">
              <a:lnSpc>
                <a:spcPct val="115000"/>
              </a:lnSpc>
              <a:spcAft>
                <a:spcPts val="800"/>
              </a:spcAft>
              <a:buFont typeface="Arial" panose="020B0604020202020204" pitchFamily="34" charset="0"/>
              <a:buChar char="•"/>
            </a:pPr>
            <a:r>
              <a:rPr lang="hr-HR" b="1" dirty="0"/>
              <a:t>Planirana vrijednost (PV): </a:t>
            </a:r>
            <a:r>
              <a:rPr lang="hr-HR" dirty="0"/>
              <a:t>200.000</a:t>
            </a:r>
          </a:p>
          <a:p>
            <a:pPr marL="171450" marR="0" indent="-171450">
              <a:lnSpc>
                <a:spcPct val="115000"/>
              </a:lnSpc>
              <a:spcAft>
                <a:spcPts val="800"/>
              </a:spcAft>
              <a:buFont typeface="Arial" panose="020B0604020202020204" pitchFamily="34" charset="0"/>
              <a:buChar char="•"/>
            </a:pPr>
            <a:r>
              <a:rPr lang="hr-HR" b="1" dirty="0"/>
              <a:t>Zarađena vrijednost (EV): </a:t>
            </a:r>
            <a:r>
              <a:rPr lang="hr-HR" dirty="0"/>
              <a:t>210.000</a:t>
            </a:r>
          </a:p>
          <a:p>
            <a:pPr marL="171450" marR="0" indent="-171450">
              <a:lnSpc>
                <a:spcPct val="115000"/>
              </a:lnSpc>
              <a:spcAft>
                <a:spcPts val="800"/>
              </a:spcAft>
              <a:buFont typeface="Arial" panose="020B0604020202020204" pitchFamily="34" charset="0"/>
              <a:buChar char="•"/>
            </a:pPr>
            <a:r>
              <a:rPr lang="hr-HR" b="1" dirty="0"/>
              <a:t>Stvarni trošak (AC): </a:t>
            </a:r>
            <a:r>
              <a:rPr lang="hr-HR" dirty="0"/>
              <a:t>220.000</a:t>
            </a:r>
          </a:p>
          <a:p>
            <a:pPr marL="0" marR="0">
              <a:lnSpc>
                <a:spcPct val="115000"/>
              </a:lnSpc>
              <a:spcAft>
                <a:spcPts val="800"/>
              </a:spcAft>
              <a:buNone/>
            </a:pPr>
            <a:r>
              <a:rPr lang="hr-HR" b="1" dirty="0"/>
              <a:t>Odstupanje troškova (CV):</a:t>
            </a:r>
            <a:r>
              <a:rPr lang="hr-HR" dirty="0"/>
              <a:t> EV - AC = 210.000 - 220.000 = -10.000</a:t>
            </a:r>
            <a:br>
              <a:rPr lang="hr-HR" dirty="0"/>
            </a:br>
            <a:r>
              <a:rPr lang="hr-HR" b="1" dirty="0"/>
              <a:t>Odstupanje rasporeda (SV): </a:t>
            </a:r>
            <a:r>
              <a:rPr lang="hr-HR" dirty="0"/>
              <a:t>EV - PV = 210.000 - 200.000 = 10.000</a:t>
            </a:r>
            <a:br>
              <a:rPr lang="hr-HR" dirty="0"/>
            </a:br>
            <a:r>
              <a:rPr lang="hr-HR" b="1" dirty="0"/>
              <a:t>CPI:</a:t>
            </a:r>
            <a:r>
              <a:rPr lang="hr-HR" dirty="0"/>
              <a:t> EV / AC = 210.000 / 220.000 = 0,955</a:t>
            </a:r>
            <a:br>
              <a:rPr lang="hr-HR" dirty="0"/>
            </a:br>
            <a:r>
              <a:rPr lang="hr-HR" b="1" dirty="0"/>
              <a:t>SPI:</a:t>
            </a:r>
            <a:r>
              <a:rPr lang="hr-HR" dirty="0"/>
              <a:t> EV / PV = 210.000 / 200.000 = 1,05</a:t>
            </a:r>
          </a:p>
          <a:p>
            <a:pPr marL="171450" marR="0" indent="-171450">
              <a:lnSpc>
                <a:spcPct val="115000"/>
              </a:lnSpc>
              <a:spcAft>
                <a:spcPts val="800"/>
              </a:spcAft>
              <a:buFont typeface="Arial" panose="020B0604020202020204" pitchFamily="34" charset="0"/>
              <a:buChar char="•"/>
            </a:pPr>
            <a:r>
              <a:rPr lang="hr-HR" b="1" dirty="0"/>
              <a:t>Interpretacija:</a:t>
            </a:r>
            <a:r>
              <a:rPr lang="hr-HR" dirty="0"/>
              <a:t> Projekt je ispred rasporeda, ali premašuje proračun. Iako je dovršeno više rada nego što je planirano, troškovi su premašili očekivanja, što pokazuje negativno odstupanje troškova. SPI pokazuje da projekt napreduje brže od planiranog, ali CPI ukazuje na neučinkovitost u pogledu kontrole troškova.</a:t>
            </a:r>
          </a:p>
          <a:p>
            <a:pPr marL="0" marR="0">
              <a:lnSpc>
                <a:spcPct val="115000"/>
              </a:lnSpc>
              <a:spcAft>
                <a:spcPts val="800"/>
              </a:spcAft>
              <a:buNone/>
            </a:pP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hr-HR" b="1" dirty="0"/>
              <a:t>Ožujak (trenutno):</a:t>
            </a:r>
          </a:p>
          <a:p>
            <a:pPr marL="171450" marR="0" indent="-171450">
              <a:lnSpc>
                <a:spcPct val="115000"/>
              </a:lnSpc>
              <a:spcAft>
                <a:spcPts val="800"/>
              </a:spcAft>
              <a:buFont typeface="Arial" panose="020B0604020202020204" pitchFamily="34" charset="0"/>
              <a:buChar char="•"/>
            </a:pPr>
            <a:r>
              <a:rPr lang="hr-HR" b="1" dirty="0"/>
              <a:t>Planirana vrijednost (PV): </a:t>
            </a:r>
            <a:r>
              <a:rPr lang="hr-HR" dirty="0"/>
              <a:t>300.000</a:t>
            </a:r>
          </a:p>
          <a:p>
            <a:pPr marL="171450" marR="0" indent="-171450">
              <a:lnSpc>
                <a:spcPct val="115000"/>
              </a:lnSpc>
              <a:spcAft>
                <a:spcPts val="800"/>
              </a:spcAft>
              <a:buFont typeface="Arial" panose="020B0604020202020204" pitchFamily="34" charset="0"/>
              <a:buChar char="•"/>
            </a:pPr>
            <a:r>
              <a:rPr lang="hr-HR" b="1" dirty="0"/>
              <a:t>Zarađena vrijednost (EV): </a:t>
            </a:r>
            <a:r>
              <a:rPr lang="hr-HR" dirty="0"/>
              <a:t>270.000</a:t>
            </a:r>
          </a:p>
          <a:p>
            <a:pPr marL="171450" marR="0" indent="-171450">
              <a:lnSpc>
                <a:spcPct val="115000"/>
              </a:lnSpc>
              <a:spcAft>
                <a:spcPts val="800"/>
              </a:spcAft>
              <a:buFont typeface="Arial" panose="020B0604020202020204" pitchFamily="34" charset="0"/>
              <a:buChar char="•"/>
            </a:pPr>
            <a:r>
              <a:rPr lang="hr-HR" b="1" dirty="0"/>
              <a:t>Stvarni trošak (AC): </a:t>
            </a:r>
            <a:r>
              <a:rPr lang="hr-HR" dirty="0"/>
              <a:t>280.000</a:t>
            </a:r>
          </a:p>
          <a:p>
            <a:pPr marL="0" marR="0">
              <a:lnSpc>
                <a:spcPct val="115000"/>
              </a:lnSpc>
              <a:spcAft>
                <a:spcPts val="800"/>
              </a:spcAft>
              <a:buNone/>
            </a:pPr>
            <a:r>
              <a:rPr lang="hr-HR" b="1" dirty="0"/>
              <a:t>Odstupanje troškova (CV): </a:t>
            </a:r>
            <a:r>
              <a:rPr lang="hr-HR" dirty="0"/>
              <a:t>EV - AC = 270.000 - 280.000 = -10.000</a:t>
            </a:r>
            <a:br>
              <a:rPr lang="hr-HR" dirty="0"/>
            </a:br>
            <a:r>
              <a:rPr lang="hr-HR" b="1" dirty="0"/>
              <a:t>Odstupanje rasporeda (SV): </a:t>
            </a:r>
            <a:r>
              <a:rPr lang="hr-HR" dirty="0"/>
              <a:t>EV - PV = 270.000 - 300.000 = -30.000</a:t>
            </a:r>
            <a:br>
              <a:rPr lang="hr-HR" dirty="0"/>
            </a:br>
            <a:r>
              <a:rPr lang="hr-HR" b="1" dirty="0"/>
              <a:t>CPI:</a:t>
            </a:r>
            <a:r>
              <a:rPr lang="hr-HR" dirty="0"/>
              <a:t> EV / AC = 270.000 / 280.000 = 0,964</a:t>
            </a:r>
            <a:br>
              <a:rPr lang="hr-HR" dirty="0"/>
            </a:br>
            <a:r>
              <a:rPr lang="hr-HR" b="1" dirty="0"/>
              <a:t>SPI:</a:t>
            </a:r>
            <a:r>
              <a:rPr lang="hr-HR" dirty="0"/>
              <a:t> EV / PV = 270.000 / 300.000 = 0,9</a:t>
            </a:r>
          </a:p>
          <a:p>
            <a:pPr marL="171450" marR="0" indent="-171450">
              <a:lnSpc>
                <a:spcPct val="115000"/>
              </a:lnSpc>
              <a:spcAft>
                <a:spcPts val="800"/>
              </a:spcAft>
              <a:buFont typeface="Arial" panose="020B0604020202020204" pitchFamily="34" charset="0"/>
              <a:buChar char="•"/>
            </a:pPr>
            <a:r>
              <a:rPr lang="hr-HR" b="1" dirty="0"/>
              <a:t>Interpretacija:</a:t>
            </a:r>
            <a:r>
              <a:rPr lang="hr-HR" dirty="0"/>
              <a:t> Projekt kasni i premašuje proračun. CV i SV pokazuju da postoji kašnjenje u dovršavanju rada i da je trošak napretka veći od očekivanog. Vrijednosti CPI i SPI ukazuju na neučinkovitost u pogledu troškova i rasporeda.</a:t>
            </a:r>
          </a:p>
          <a:p>
            <a:pPr marL="0" marR="0">
              <a:lnSpc>
                <a:spcPct val="115000"/>
              </a:lnSpc>
              <a:spcAft>
                <a:spcPts val="800"/>
              </a:spcAft>
              <a:buNone/>
            </a:pP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r>
              <a:rPr lang="hr-HR" b="1" dirty="0"/>
              <a:t>PROJEKCIJE:</a:t>
            </a:r>
          </a:p>
          <a:p>
            <a:r>
              <a:rPr lang="hr-HR" dirty="0"/>
              <a:t>Korištenjem </a:t>
            </a:r>
            <a:r>
              <a:rPr lang="hr-HR" b="1" dirty="0"/>
              <a:t>CPI-ja</a:t>
            </a:r>
            <a:r>
              <a:rPr lang="hr-HR" dirty="0"/>
              <a:t> i </a:t>
            </a:r>
            <a:r>
              <a:rPr lang="hr-HR" b="1" dirty="0"/>
              <a:t>SPI-ja</a:t>
            </a:r>
            <a:r>
              <a:rPr lang="hr-HR" dirty="0"/>
              <a:t> možemo predvidjeti kako će se projekt odvijati u budućnosti.</a:t>
            </a:r>
          </a:p>
          <a:p>
            <a:pPr marL="171450" lvl="0" indent="-171450">
              <a:buFont typeface="Arial" panose="020B0604020202020204" pitchFamily="34" charset="0"/>
              <a:buChar char="•"/>
            </a:pPr>
            <a:r>
              <a:rPr lang="hr-HR" b="1" dirty="0"/>
              <a:t>Procjena pri završetku (</a:t>
            </a:r>
            <a:r>
              <a:rPr lang="hr-HR" b="1" dirty="0" err="1"/>
              <a:t>Estimate</a:t>
            </a:r>
            <a:r>
              <a:rPr lang="hr-HR" b="1" dirty="0"/>
              <a:t> at </a:t>
            </a:r>
            <a:r>
              <a:rPr lang="hr-HR" b="1" dirty="0" err="1"/>
              <a:t>Completion</a:t>
            </a:r>
            <a:r>
              <a:rPr lang="hr-HR" b="1" dirty="0"/>
              <a:t> - EAC): </a:t>
            </a:r>
            <a:r>
              <a:rPr lang="hr-HR" dirty="0"/>
              <a:t>Predviđeni ukupni trošak projekta ako se trenutni trendovi uspješnosti nastave:</a:t>
            </a:r>
          </a:p>
          <a:p>
            <a:pPr marL="628650" lvl="1" indent="-171450">
              <a:buFont typeface="Arial" panose="020B0604020202020204" pitchFamily="34" charset="0"/>
              <a:buChar char="•"/>
            </a:pPr>
            <a:r>
              <a:rPr lang="hr-HR" dirty="0"/>
              <a:t>EAC = proračun pri završetku (BAC) / CPI</a:t>
            </a:r>
          </a:p>
          <a:p>
            <a:pPr marL="628650" lvl="1" indent="-171450">
              <a:buFont typeface="Arial" panose="020B0604020202020204" pitchFamily="34" charset="0"/>
              <a:buChar char="•"/>
            </a:pPr>
            <a:r>
              <a:rPr lang="hr-HR" dirty="0"/>
              <a:t>Pretpostavimo da je BAC 1.000.000.</a:t>
            </a:r>
          </a:p>
          <a:p>
            <a:pPr marL="628650" lvl="1" indent="-171450">
              <a:buFont typeface="Arial" panose="020B0604020202020204" pitchFamily="34" charset="0"/>
              <a:buChar char="•"/>
            </a:pPr>
            <a:r>
              <a:rPr lang="hr-HR" dirty="0"/>
              <a:t>EAC = 1.000.000 / 0,964 = 1.037.171.</a:t>
            </a:r>
            <a:br>
              <a:rPr lang="hr-HR" dirty="0"/>
            </a:br>
            <a:r>
              <a:rPr lang="hr-HR" dirty="0"/>
              <a:t>To pokazuje da će, ako se trenutne neučinkovitosti nastave, ukupni trošak premašiti izvorni proračun.</a:t>
            </a:r>
          </a:p>
          <a:p>
            <a:pPr marL="171450" marR="0" lvl="0" indent="-171450">
              <a:lnSpc>
                <a:spcPct val="115000"/>
              </a:lnSpc>
              <a:spcAft>
                <a:spcPts val="800"/>
              </a:spcAft>
              <a:buSzPts val="1000"/>
              <a:buFont typeface="Arial" panose="020B0604020202020204" pitchFamily="34" charset="0"/>
              <a:buChar char="•"/>
              <a:tabLst>
                <a:tab pos="457200" algn="l"/>
              </a:tabLst>
            </a:pPr>
            <a:r>
              <a:rPr lang="hr-HR" b="1" dirty="0"/>
              <a:t>Procjena do završetka (</a:t>
            </a:r>
            <a:r>
              <a:rPr lang="hr-HR" b="1" dirty="0" err="1"/>
              <a:t>Estimate</a:t>
            </a:r>
            <a:r>
              <a:rPr lang="hr-HR" b="1" dirty="0"/>
              <a:t> to </a:t>
            </a:r>
            <a:r>
              <a:rPr lang="hr-HR" b="1" dirty="0" err="1"/>
              <a:t>Complete</a:t>
            </a:r>
            <a:r>
              <a:rPr lang="hr-HR" b="1" dirty="0"/>
              <a:t> - ETC):</a:t>
            </a:r>
            <a:r>
              <a:rPr lang="hr-HR" dirty="0"/>
              <a:t> Očekivani trošak za dovršetak preostalog rada:</a:t>
            </a:r>
          </a:p>
          <a:p>
            <a:pPr marL="628650" marR="0" lvl="1" indent="-171450">
              <a:lnSpc>
                <a:spcPct val="115000"/>
              </a:lnSpc>
              <a:spcAft>
                <a:spcPts val="800"/>
              </a:spcAft>
              <a:buSzPts val="1000"/>
              <a:buFont typeface="Arial" panose="020B0604020202020204" pitchFamily="34" charset="0"/>
              <a:buChar char="•"/>
              <a:tabLst>
                <a:tab pos="457200" algn="l"/>
              </a:tabLst>
            </a:pPr>
            <a:r>
              <a:rPr lang="hr-HR" dirty="0"/>
              <a:t>ETC = EAC - AC (trenutni stvarni trošak)</a:t>
            </a:r>
          </a:p>
          <a:p>
            <a:pPr marL="628650" marR="0" lvl="1" indent="-171450">
              <a:lnSpc>
                <a:spcPct val="115000"/>
              </a:lnSpc>
              <a:spcAft>
                <a:spcPts val="800"/>
              </a:spcAft>
              <a:buSzPts val="1000"/>
              <a:buFont typeface="Arial" panose="020B0604020202020204" pitchFamily="34" charset="0"/>
              <a:buChar char="•"/>
              <a:tabLst>
                <a:tab pos="457200" algn="l"/>
              </a:tabLst>
            </a:pPr>
            <a:r>
              <a:rPr lang="hr-HR" dirty="0"/>
              <a:t>ETC = 1.037.171 - 280.000 = 757.171.</a:t>
            </a:r>
          </a:p>
          <a:p>
            <a:pPr marL="457200" marR="0" lvl="1" indent="0">
              <a:lnSpc>
                <a:spcPct val="115000"/>
              </a:lnSpc>
              <a:spcAft>
                <a:spcPts val="800"/>
              </a:spcAft>
              <a:buSzPts val="1000"/>
              <a:buFont typeface="Symbol" panose="05050102010706020507" pitchFamily="18" charset="2"/>
              <a:buNone/>
              <a:tabLst>
                <a:tab pos="457200" algn="l"/>
              </a:tabLst>
            </a:pPr>
            <a:r>
              <a:rPr lang="hr-HR" dirty="0"/>
              <a:t>To je dodatni iznos potreban za završetak projekta.</a:t>
            </a:r>
          </a:p>
          <a:p>
            <a:pPr marL="171450" marR="0" lvl="0" indent="-171450">
              <a:lnSpc>
                <a:spcPct val="115000"/>
              </a:lnSpc>
              <a:spcAft>
                <a:spcPts val="800"/>
              </a:spcAft>
              <a:buSzPts val="1000"/>
              <a:buFont typeface="Arial" panose="020B0604020202020204" pitchFamily="34" charset="0"/>
              <a:buChar char="•"/>
              <a:tabLst>
                <a:tab pos="457200" algn="l"/>
              </a:tabLst>
            </a:pPr>
            <a:r>
              <a:rPr lang="hr-HR" b="1" dirty="0"/>
              <a:t>Predviđeni datum završetka: </a:t>
            </a:r>
            <a:r>
              <a:rPr lang="hr-HR" dirty="0"/>
              <a:t>Na temelju SPI-ja, ako se projekt nastavi istim tempom:</a:t>
            </a:r>
          </a:p>
          <a:p>
            <a:pPr marL="628650" marR="0" lvl="1" indent="-171450">
              <a:lnSpc>
                <a:spcPct val="115000"/>
              </a:lnSpc>
              <a:spcAft>
                <a:spcPts val="800"/>
              </a:spcAft>
              <a:buSzPts val="1000"/>
              <a:buFont typeface="Arial" panose="020B0604020202020204" pitchFamily="34" charset="0"/>
              <a:buChar char="•"/>
              <a:tabLst>
                <a:tab pos="457200" algn="l"/>
              </a:tabLst>
            </a:pPr>
            <a:r>
              <a:rPr lang="hr-HR" dirty="0"/>
              <a:t>Pretpostavimo da je preostali rad 400.000 i SPI = 0,9.</a:t>
            </a:r>
          </a:p>
          <a:p>
            <a:pPr marL="628650" marR="0" lvl="1" indent="-171450">
              <a:lnSpc>
                <a:spcPct val="115000"/>
              </a:lnSpc>
              <a:spcAft>
                <a:spcPts val="800"/>
              </a:spcAft>
              <a:buSzPts val="1000"/>
              <a:buFont typeface="Arial" panose="020B0604020202020204" pitchFamily="34" charset="0"/>
              <a:buChar char="•"/>
              <a:tabLst>
                <a:tab pos="457200" algn="l"/>
              </a:tabLst>
            </a:pPr>
            <a:r>
              <a:rPr lang="hr-HR" dirty="0"/>
              <a:t>Vrijeme do završetka = (preostali rad / SPI) = 400.000 / 0,9 = 444.444 (približno 444 dana).</a:t>
            </a:r>
            <a:br>
              <a:rPr lang="hr-HR" dirty="0"/>
            </a:br>
            <a:r>
              <a:rPr lang="hr-HR" dirty="0"/>
              <a:t>To bi ukazivalo na to da će projekt trajati znatno dulje nego što je prvotno planirano.</a:t>
            </a:r>
          </a:p>
          <a:p>
            <a:pPr marL="0" marR="0" lvl="0" indent="0">
              <a:lnSpc>
                <a:spcPct val="115000"/>
              </a:lnSpc>
              <a:spcAft>
                <a:spcPts val="800"/>
              </a:spcAft>
              <a:buSzPts val="1000"/>
              <a:buFont typeface="Symbol" panose="05050102010706020507" pitchFamily="18" charset="2"/>
              <a:buNone/>
              <a:tabLst>
                <a:tab pos="457200" algn="l"/>
              </a:tabLst>
            </a:pPr>
            <a:endParaRPr lang="hr-HR" sz="1200" b="1" kern="0" dirty="0">
              <a:effectLst/>
              <a:latin typeface="Montserrat" panose="00000500000000000000" pitchFamily="2" charset="0"/>
              <a:ea typeface="Times New Roman" panose="02020603050405020304" pitchFamily="18" charset="0"/>
              <a:cs typeface="Times New Roman" panose="02020603050405020304" pitchFamily="18" charset="0"/>
            </a:endParaRPr>
          </a:p>
          <a:p>
            <a:r>
              <a:rPr lang="hr-HR" b="1" dirty="0"/>
              <a:t>SAŽETAK:</a:t>
            </a:r>
          </a:p>
          <a:p>
            <a:pPr marL="171450" indent="-171450">
              <a:buFont typeface="Arial" panose="020B0604020202020204" pitchFamily="34" charset="0"/>
              <a:buChar char="•"/>
            </a:pPr>
            <a:r>
              <a:rPr lang="hr-HR" dirty="0"/>
              <a:t>IT projekt kasni i premašuje proračun.</a:t>
            </a:r>
          </a:p>
          <a:p>
            <a:pPr marL="171450" indent="-171450">
              <a:buFont typeface="Arial" panose="020B0604020202020204" pitchFamily="34" charset="0"/>
              <a:buChar char="•"/>
            </a:pPr>
            <a:r>
              <a:rPr lang="hr-HR" dirty="0"/>
              <a:t>Trenutne neučinkovitosti u pogledu troškova i rasporeda potrebno je riješiti kako bi se izbjegla daljnja kašnjenja i prekomjerna potrošnja.</a:t>
            </a:r>
          </a:p>
          <a:p>
            <a:pPr marL="171450" indent="-171450">
              <a:buFont typeface="Arial" panose="020B0604020202020204" pitchFamily="34" charset="0"/>
              <a:buChar char="•"/>
            </a:pPr>
            <a:r>
              <a:rPr lang="hr-HR" dirty="0"/>
              <a:t>Korektivne mjere mogu uključivati ponovnu procjenu raspodjele resursa, poboljšanje učinkovitosti provedbe projekta ili reviziju proračuna i vremenskog plana.</a:t>
            </a:r>
          </a:p>
          <a:p>
            <a:endParaRPr lang="en-US" dirty="0"/>
          </a:p>
        </p:txBody>
      </p:sp>
      <p:sp>
        <p:nvSpPr>
          <p:cNvPr id="4" name="Slide Number Placeholder 3"/>
          <p:cNvSpPr>
            <a:spLocks noGrp="1"/>
          </p:cNvSpPr>
          <p:nvPr>
            <p:ph type="sldNum" sz="quarter" idx="5"/>
          </p:nvPr>
        </p:nvSpPr>
        <p:spPr/>
        <p:txBody>
          <a:bodyPr/>
          <a:lstStyle/>
          <a:p>
            <a:fld id="{860845E0-60C2-446A-9A7D-97133A17FFD2}" type="slidenum">
              <a:rPr lang="en-US" smtClean="0"/>
              <a:t>28</a:t>
            </a:fld>
            <a:endParaRPr lang="en-US"/>
          </a:p>
        </p:txBody>
      </p:sp>
    </p:spTree>
    <p:extLst>
      <p:ext uri="{BB962C8B-B14F-4D97-AF65-F5344CB8AC3E}">
        <p14:creationId xmlns:p14="http://schemas.microsoft.com/office/powerpoint/2010/main" val="1433108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4A631-FE95-2127-9E34-0185798B3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3653C-E34A-5C65-7D25-47F3290BC6B4}"/>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FB84CB05-42E2-A73B-F04D-92E6A7576C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9BDCF9-1E4D-A4AC-0B6F-B4D9DCA26222}"/>
              </a:ext>
            </a:extLst>
          </p:cNvPr>
          <p:cNvSpPr>
            <a:spLocks noGrp="1"/>
          </p:cNvSpPr>
          <p:nvPr>
            <p:ph type="sldNum" sz="quarter" idx="5"/>
          </p:nvPr>
        </p:nvSpPr>
        <p:spPr/>
        <p:txBody>
          <a:bodyPr/>
          <a:lstStyle/>
          <a:p>
            <a:fld id="{860845E0-60C2-446A-9A7D-97133A17FFD2}" type="slidenum">
              <a:rPr lang="en-US" smtClean="0"/>
              <a:t>29</a:t>
            </a:fld>
            <a:endParaRPr lang="en-US"/>
          </a:p>
        </p:txBody>
      </p:sp>
    </p:spTree>
    <p:extLst>
      <p:ext uri="{BB962C8B-B14F-4D97-AF65-F5344CB8AC3E}">
        <p14:creationId xmlns:p14="http://schemas.microsoft.com/office/powerpoint/2010/main" val="2625486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o-R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0845E0-60C2-446A-9A7D-97133A17FFD2}" type="slidenum">
              <a:rPr lang="en-US" smtClean="0"/>
              <a:t>30</a:t>
            </a:fld>
            <a:endParaRPr lang="en-US"/>
          </a:p>
        </p:txBody>
      </p:sp>
    </p:spTree>
    <p:extLst>
      <p:ext uri="{BB962C8B-B14F-4D97-AF65-F5344CB8AC3E}">
        <p14:creationId xmlns:p14="http://schemas.microsoft.com/office/powerpoint/2010/main" val="1897738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81A98-CDAF-9618-3A41-65FFC2501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D5096-83D4-A566-6FDE-273E0604F152}"/>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C4A33076-E4AA-FB6F-169E-D0A9413F87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0C88D0-3F0F-FD13-E1F7-61AA6B04BF17}"/>
              </a:ext>
            </a:extLst>
          </p:cNvPr>
          <p:cNvSpPr>
            <a:spLocks noGrp="1"/>
          </p:cNvSpPr>
          <p:nvPr>
            <p:ph type="sldNum" sz="quarter" idx="5"/>
          </p:nvPr>
        </p:nvSpPr>
        <p:spPr/>
        <p:txBody>
          <a:bodyPr/>
          <a:lstStyle/>
          <a:p>
            <a:fld id="{860845E0-60C2-446A-9A7D-97133A17FFD2}" type="slidenum">
              <a:rPr lang="en-US" smtClean="0"/>
              <a:t>31</a:t>
            </a:fld>
            <a:endParaRPr lang="en-US"/>
          </a:p>
        </p:txBody>
      </p:sp>
    </p:spTree>
    <p:extLst>
      <p:ext uri="{BB962C8B-B14F-4D97-AF65-F5344CB8AC3E}">
        <p14:creationId xmlns:p14="http://schemas.microsoft.com/office/powerpoint/2010/main" val="1992720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32</a:t>
            </a:fld>
            <a:endParaRPr lang="en-US"/>
          </a:p>
        </p:txBody>
      </p:sp>
    </p:spTree>
    <p:extLst>
      <p:ext uri="{BB962C8B-B14F-4D97-AF65-F5344CB8AC3E}">
        <p14:creationId xmlns:p14="http://schemas.microsoft.com/office/powerpoint/2010/main" val="2529394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35</a:t>
            </a:fld>
            <a:endParaRPr lang="en-US"/>
          </a:p>
        </p:txBody>
      </p:sp>
    </p:spTree>
    <p:extLst>
      <p:ext uri="{BB962C8B-B14F-4D97-AF65-F5344CB8AC3E}">
        <p14:creationId xmlns:p14="http://schemas.microsoft.com/office/powerpoint/2010/main" val="914676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o-RO"/>
          </a:p>
        </p:txBody>
      </p:sp>
      <p:sp>
        <p:nvSpPr>
          <p:cNvPr id="3" name="Notes Placeholder 2"/>
          <p:cNvSpPr>
            <a:spLocks noGrp="1"/>
          </p:cNvSpPr>
          <p:nvPr>
            <p:ph type="body" idx="1"/>
          </p:nvPr>
        </p:nvSpPr>
        <p:spPr/>
        <p:txBody>
          <a:bodyPr/>
          <a:lstStyle/>
          <a:p>
            <a:r>
              <a:rPr lang="hr-HR" b="1" dirty="0"/>
              <a:t>Načela upravljanja kvalitetom prema PMI-u:</a:t>
            </a:r>
          </a:p>
          <a:p>
            <a:br>
              <a:rPr lang="hr-HR" b="1" dirty="0"/>
            </a:br>
            <a:r>
              <a:rPr lang="hr-HR" dirty="0"/>
              <a:t>PMI-</a:t>
            </a:r>
            <a:r>
              <a:rPr lang="hr-HR" dirty="0" err="1"/>
              <a:t>jev</a:t>
            </a:r>
            <a:r>
              <a:rPr lang="hr-HR" dirty="0"/>
              <a:t> pristup upravljanju kvalitetom temelji se na sljedećim načelima:</a:t>
            </a:r>
          </a:p>
          <a:p>
            <a:pPr marL="228600" indent="-228600">
              <a:buFont typeface="+mj-lt"/>
              <a:buAutoNum type="arabicPeriod"/>
            </a:pPr>
            <a:r>
              <a:rPr lang="hr-HR" b="1" dirty="0"/>
              <a:t>Zadovoljstvo kupaca: </a:t>
            </a:r>
            <a:r>
              <a:rPr lang="hr-HR" dirty="0"/>
              <a:t>Primarni cilj je zadovoljiti potrebe i očekivanja kupaca isporukom visokokvalitetnih rezultata.</a:t>
            </a:r>
          </a:p>
          <a:p>
            <a:pPr marL="228600" indent="-228600">
              <a:buFont typeface="+mj-lt"/>
              <a:buAutoNum type="arabicPeriod"/>
            </a:pPr>
            <a:r>
              <a:rPr lang="hr-HR" b="1" dirty="0"/>
              <a:t>Kontinuirano poboljšanje: </a:t>
            </a:r>
            <a:r>
              <a:rPr lang="hr-HR" dirty="0"/>
              <a:t>PMI naglašava važnost stalnog unapređenja procesa kako bi se kvaliteta procesa i </a:t>
            </a:r>
            <a:r>
              <a:rPr lang="hr-HR" dirty="0" err="1"/>
              <a:t>isporučivih</a:t>
            </a:r>
            <a:r>
              <a:rPr lang="hr-HR" dirty="0"/>
              <a:t> rezultata s vremenom poboljšavala.</a:t>
            </a:r>
          </a:p>
          <a:p>
            <a:pPr marL="228600" indent="-228600">
              <a:buFont typeface="+mj-lt"/>
              <a:buAutoNum type="arabicPeriod"/>
            </a:pPr>
            <a:r>
              <a:rPr lang="hr-HR" b="1" dirty="0"/>
              <a:t>Uključenost svih dionika: </a:t>
            </a:r>
            <a:r>
              <a:rPr lang="hr-HR" dirty="0"/>
              <a:t>Upravljanje kvalitetom je zajednička odgovornost. Članovi tima, dionici i dobavljači trebaju biti uključeni u definiranje i osiguravanje kvalitete tijekom cijelog projekta.</a:t>
            </a:r>
          </a:p>
          <a:p>
            <a:pPr marL="228600" indent="-228600">
              <a:buFont typeface="+mj-lt"/>
              <a:buAutoNum type="arabicPeriod"/>
            </a:pPr>
            <a:r>
              <a:rPr lang="hr-HR" b="1" dirty="0"/>
              <a:t>Prevencija umjesto inspekcije: </a:t>
            </a:r>
            <a:r>
              <a:rPr lang="hr-HR" dirty="0"/>
              <a:t>Umjesto da se nedostaci samo otkrivaju na kraju procesa, PMI zagovara sprječavanje problema u ranoj fazi kroz proaktivno planiranje kvalitete i unapređenje procesa.</a:t>
            </a:r>
          </a:p>
          <a:p>
            <a:pPr marL="228600" indent="-228600">
              <a:buFont typeface="+mj-lt"/>
              <a:buAutoNum type="arabicPeriod"/>
            </a:pPr>
            <a:r>
              <a:rPr lang="hr-HR" b="1" dirty="0"/>
              <a:t>Odluke temeljene na podacima (data-</a:t>
            </a:r>
            <a:r>
              <a:rPr lang="hr-HR" b="1" dirty="0" err="1"/>
              <a:t>driven</a:t>
            </a:r>
            <a:r>
              <a:rPr lang="hr-HR" b="1" dirty="0"/>
              <a:t>): </a:t>
            </a:r>
            <a:r>
              <a:rPr lang="hr-HR" dirty="0"/>
              <a:t>Upravljanje kvalitetom treba se oslanjati na objektivne podatke, uključujući metrike uspješnosti i rezultate testiranja, kako bi se procijenila kvaliteta i potaknula poboljšanja.</a:t>
            </a:r>
          </a:p>
          <a:p>
            <a:endParaRPr lang="hr-HR" b="1" dirty="0"/>
          </a:p>
          <a:p>
            <a:r>
              <a:rPr lang="hr-HR" b="1" dirty="0"/>
              <a:t>Alati i tehnike za upravljanje kvalitetom:</a:t>
            </a:r>
            <a:br>
              <a:rPr lang="hr-HR" b="1" dirty="0"/>
            </a:br>
            <a:r>
              <a:rPr lang="hr-HR" dirty="0"/>
              <a:t>PMI predlaže nekoliko alata i tehnika koji se koriste tijekom procesa upravljanja kvalitetom:</a:t>
            </a:r>
          </a:p>
          <a:p>
            <a:pPr marL="228600" indent="-228600">
              <a:buAutoNum type="arabicPeriod"/>
            </a:pPr>
            <a:r>
              <a:rPr lang="hr-HR" b="1" dirty="0"/>
              <a:t>Dijagrami toka (</a:t>
            </a:r>
            <a:r>
              <a:rPr lang="hr-HR" b="1" dirty="0" err="1"/>
              <a:t>flowcharts</a:t>
            </a:r>
            <a:r>
              <a:rPr lang="hr-HR" b="1" dirty="0"/>
              <a:t>):</a:t>
            </a:r>
            <a:r>
              <a:rPr lang="hr-HR" dirty="0"/>
              <a:t> Za vizualizaciju i razumijevanje procesa.</a:t>
            </a:r>
          </a:p>
          <a:p>
            <a:pPr marL="228600" indent="-228600">
              <a:buAutoNum type="arabicPeriod"/>
            </a:pPr>
            <a:r>
              <a:rPr lang="hr-HR" b="1" dirty="0"/>
              <a:t>Dijagrami uzroka i posljedice (</a:t>
            </a:r>
            <a:r>
              <a:rPr lang="hr-HR" b="1" dirty="0" err="1"/>
              <a:t>Cause</a:t>
            </a:r>
            <a:r>
              <a:rPr lang="hr-HR" b="1" dirty="0"/>
              <a:t>-and-</a:t>
            </a:r>
            <a:r>
              <a:rPr lang="hr-HR" b="1" dirty="0" err="1"/>
              <a:t>effect</a:t>
            </a:r>
            <a:r>
              <a:rPr lang="hr-HR" b="1" dirty="0"/>
              <a:t> </a:t>
            </a:r>
            <a:r>
              <a:rPr lang="hr-HR" b="1" dirty="0" err="1"/>
              <a:t>diagrams</a:t>
            </a:r>
            <a:r>
              <a:rPr lang="hr-HR" b="1" dirty="0"/>
              <a:t>):</a:t>
            </a:r>
            <a:r>
              <a:rPr lang="hr-HR" dirty="0"/>
              <a:t> Za identificiranje uzroka problema s kvalitetom.</a:t>
            </a:r>
          </a:p>
          <a:p>
            <a:pPr marL="228600" indent="-228600">
              <a:buAutoNum type="arabicPeriod"/>
            </a:pPr>
            <a:r>
              <a:rPr lang="hr-HR" b="1" dirty="0"/>
              <a:t>Kontrolne karte (</a:t>
            </a:r>
            <a:r>
              <a:rPr lang="hr-HR" b="1" dirty="0" err="1"/>
              <a:t>control</a:t>
            </a:r>
            <a:r>
              <a:rPr lang="hr-HR" b="1" dirty="0"/>
              <a:t> </a:t>
            </a:r>
            <a:r>
              <a:rPr lang="hr-HR" b="1" dirty="0" err="1"/>
              <a:t>charts</a:t>
            </a:r>
            <a:r>
              <a:rPr lang="hr-HR" b="1" dirty="0"/>
              <a:t>): </a:t>
            </a:r>
            <a:r>
              <a:rPr lang="hr-HR" dirty="0"/>
              <a:t>Za praćenje uspješnosti i trendova kvalitete tijekom vremena.</a:t>
            </a:r>
          </a:p>
          <a:p>
            <a:pPr marL="228600" indent="-228600">
              <a:buAutoNum type="arabicPeriod"/>
            </a:pPr>
            <a:r>
              <a:rPr lang="hr-HR" b="1" dirty="0" err="1"/>
              <a:t>Pareto</a:t>
            </a:r>
            <a:r>
              <a:rPr lang="hr-HR" b="1" dirty="0"/>
              <a:t> analiza: </a:t>
            </a:r>
            <a:r>
              <a:rPr lang="hr-HR" dirty="0"/>
              <a:t>Za identificiranje najvažnijih problema ili nedostataka fokusiranjem na „vitalnih nekoliko” pitanja.</a:t>
            </a:r>
          </a:p>
          <a:p>
            <a:pPr marL="228600" indent="-228600">
              <a:buAutoNum type="arabicPeriod"/>
            </a:pPr>
            <a:r>
              <a:rPr lang="hr-HR" b="1" i="1" dirty="0" err="1"/>
              <a:t>Benchmarking</a:t>
            </a:r>
            <a:r>
              <a:rPr lang="hr-HR" b="1" i="1" dirty="0"/>
              <a:t>: </a:t>
            </a:r>
            <a:r>
              <a:rPr lang="hr-HR" dirty="0"/>
              <a:t>Usporedba uspješnosti projekta s najboljim praksama u industriji ili konkurencijom.</a:t>
            </a:r>
          </a:p>
          <a:p>
            <a:pPr marL="228600" indent="-228600">
              <a:buAutoNum type="arabicPeriod"/>
            </a:pPr>
            <a:r>
              <a:rPr lang="hr-HR" b="1" dirty="0"/>
              <a:t>Revizije kvalitete: </a:t>
            </a:r>
            <a:r>
              <a:rPr lang="hr-HR" dirty="0"/>
              <a:t>Sustavni pregledi sustava upravljanja kvalitetom kako bi se osigurala usklađenost sa standardima kvalitete.</a:t>
            </a:r>
          </a:p>
          <a:p>
            <a:pPr marL="228600" indent="-228600">
              <a:buAutoNum type="arabicPeriod"/>
            </a:pPr>
            <a:r>
              <a:rPr lang="hr-HR" b="1" dirty="0"/>
              <a:t>Statističko uzorkovanje: </a:t>
            </a:r>
            <a:r>
              <a:rPr lang="hr-HR" dirty="0"/>
              <a:t>Korištenje nasumičnog uzorkovanja podataka za donošenje zaključaka o kvaliteti cjelokupnog rezultata.</a:t>
            </a:r>
          </a:p>
          <a:p>
            <a:endParaRPr lang="hr-HR" dirty="0"/>
          </a:p>
          <a:p>
            <a:r>
              <a:rPr lang="hr-HR" b="1" dirty="0"/>
              <a:t>Integracija s drugim područjima upravljanja projektima:</a:t>
            </a:r>
            <a:br>
              <a:rPr lang="hr-HR" b="1" dirty="0"/>
            </a:br>
            <a:r>
              <a:rPr lang="hr-HR" dirty="0"/>
              <a:t>Upravljanje kvalitetom mora biti integrirano sa svim ostalim područjima upravljanja projektima, uključujući opseg, raspored, troškove i upravljanje rizicima. Visokokvalitetan rad često zahtijeva prilagodbe u drugim područjima kako bi projekt ostao usklađen sa svojim ciljevima uz istovremeno ispunjavanje standarda kvalitete.</a:t>
            </a:r>
          </a:p>
          <a:p>
            <a:endParaRPr lang="hr-HR" dirty="0"/>
          </a:p>
          <a:p>
            <a:r>
              <a:rPr lang="hr-HR" b="1" dirty="0"/>
              <a:t>Zaključak:</a:t>
            </a:r>
            <a:br>
              <a:rPr lang="hr-HR" dirty="0"/>
            </a:br>
            <a:r>
              <a:rPr lang="hr-HR" dirty="0"/>
              <a:t>PMI smjernice za upravljanje kvalitetom osiguravaju da je kvaliteta prioritet u svim fazama projekta. Fokusiranjem na planiranje, upravljanje i kontrolu kvalitete, voditelji projekata mogu isporučiti proizvode i usluge koji zadovoljavaju ili nadmašuju očekivanja kupaca. Korištenjem alata poput revizija kvalitete, statističkih tehnika i kontinuiranog poboljšanja, kvaliteta se osigurava kroz cijeli životni ciklus projekta.</a:t>
            </a:r>
          </a:p>
        </p:txBody>
      </p:sp>
      <p:sp>
        <p:nvSpPr>
          <p:cNvPr id="4" name="Slide Number Placeholder 3"/>
          <p:cNvSpPr>
            <a:spLocks noGrp="1"/>
          </p:cNvSpPr>
          <p:nvPr>
            <p:ph type="sldNum" sz="quarter" idx="5"/>
          </p:nvPr>
        </p:nvSpPr>
        <p:spPr/>
        <p:txBody>
          <a:bodyPr/>
          <a:lstStyle/>
          <a:p>
            <a:fld id="{860845E0-60C2-446A-9A7D-97133A17FFD2}" type="slidenum">
              <a:rPr lang="en-US" smtClean="0"/>
              <a:t>36</a:t>
            </a:fld>
            <a:endParaRPr lang="en-US"/>
          </a:p>
        </p:txBody>
      </p:sp>
    </p:spTree>
    <p:extLst>
      <p:ext uri="{BB962C8B-B14F-4D97-AF65-F5344CB8AC3E}">
        <p14:creationId xmlns:p14="http://schemas.microsoft.com/office/powerpoint/2010/main" val="2382887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6210-3509-2323-9317-755673FF0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4FBC4-365B-EC56-8AA0-B4E1FAD477B6}"/>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FD443F68-A407-6D17-63D5-B4BA3F2FA2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983B76-DEDE-B51E-C017-37A8EEF6F4B7}"/>
              </a:ext>
            </a:extLst>
          </p:cNvPr>
          <p:cNvSpPr>
            <a:spLocks noGrp="1"/>
          </p:cNvSpPr>
          <p:nvPr>
            <p:ph type="sldNum" sz="quarter" idx="5"/>
          </p:nvPr>
        </p:nvSpPr>
        <p:spPr/>
        <p:txBody>
          <a:bodyPr/>
          <a:lstStyle/>
          <a:p>
            <a:fld id="{860845E0-60C2-446A-9A7D-97133A17FFD2}" type="slidenum">
              <a:rPr lang="en-US" smtClean="0"/>
              <a:t>37</a:t>
            </a:fld>
            <a:endParaRPr lang="en-US"/>
          </a:p>
        </p:txBody>
      </p:sp>
    </p:spTree>
    <p:extLst>
      <p:ext uri="{BB962C8B-B14F-4D97-AF65-F5344CB8AC3E}">
        <p14:creationId xmlns:p14="http://schemas.microsoft.com/office/powerpoint/2010/main" val="768884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D1E17-E1FB-7693-8223-BC59A655C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B1A3C-6339-6150-9EF4-D8D44381CD8A}"/>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8963D047-3EEA-8E4B-5BEF-8C3571C39A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F0137B-7405-FC91-5E89-3AB50F7E19E3}"/>
              </a:ext>
            </a:extLst>
          </p:cNvPr>
          <p:cNvSpPr>
            <a:spLocks noGrp="1"/>
          </p:cNvSpPr>
          <p:nvPr>
            <p:ph type="sldNum" sz="quarter" idx="5"/>
          </p:nvPr>
        </p:nvSpPr>
        <p:spPr/>
        <p:txBody>
          <a:bodyPr/>
          <a:lstStyle/>
          <a:p>
            <a:fld id="{860845E0-60C2-446A-9A7D-97133A17FFD2}" type="slidenum">
              <a:rPr lang="en-US" smtClean="0"/>
              <a:t>38</a:t>
            </a:fld>
            <a:endParaRPr lang="en-US"/>
          </a:p>
        </p:txBody>
      </p:sp>
    </p:spTree>
    <p:extLst>
      <p:ext uri="{BB962C8B-B14F-4D97-AF65-F5344CB8AC3E}">
        <p14:creationId xmlns:p14="http://schemas.microsoft.com/office/powerpoint/2010/main" val="3814676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7BF22-2970-22B1-4221-B489AF44E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19B98-D23A-4895-3974-71C1147FDDDF}"/>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2158AFB8-6453-FD63-364C-4FE234CB87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04551B-4C01-DF96-E77E-99B7BBB53FA9}"/>
              </a:ext>
            </a:extLst>
          </p:cNvPr>
          <p:cNvSpPr>
            <a:spLocks noGrp="1"/>
          </p:cNvSpPr>
          <p:nvPr>
            <p:ph type="sldNum" sz="quarter" idx="5"/>
          </p:nvPr>
        </p:nvSpPr>
        <p:spPr/>
        <p:txBody>
          <a:bodyPr/>
          <a:lstStyle/>
          <a:p>
            <a:fld id="{860845E0-60C2-446A-9A7D-97133A17FFD2}" type="slidenum">
              <a:rPr lang="en-US" smtClean="0"/>
              <a:t>39</a:t>
            </a:fld>
            <a:endParaRPr lang="en-US"/>
          </a:p>
        </p:txBody>
      </p:sp>
    </p:spTree>
    <p:extLst>
      <p:ext uri="{BB962C8B-B14F-4D97-AF65-F5344CB8AC3E}">
        <p14:creationId xmlns:p14="http://schemas.microsoft.com/office/powerpoint/2010/main" val="1155158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55103-FC7C-AE4E-F87B-B8F02E5A4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BBD23-1224-0D99-7E13-E149888F2877}"/>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D1B5B29B-63C4-9905-3A75-230192278C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750DC1-CF98-F15C-1187-30C9FF66F035}"/>
              </a:ext>
            </a:extLst>
          </p:cNvPr>
          <p:cNvSpPr>
            <a:spLocks noGrp="1"/>
          </p:cNvSpPr>
          <p:nvPr>
            <p:ph type="sldNum" sz="quarter" idx="5"/>
          </p:nvPr>
        </p:nvSpPr>
        <p:spPr/>
        <p:txBody>
          <a:bodyPr/>
          <a:lstStyle/>
          <a:p>
            <a:fld id="{860845E0-60C2-446A-9A7D-97133A17FFD2}" type="slidenum">
              <a:rPr lang="en-US" smtClean="0"/>
              <a:t>40</a:t>
            </a:fld>
            <a:endParaRPr lang="en-US"/>
          </a:p>
        </p:txBody>
      </p:sp>
    </p:spTree>
    <p:extLst>
      <p:ext uri="{BB962C8B-B14F-4D97-AF65-F5344CB8AC3E}">
        <p14:creationId xmlns:p14="http://schemas.microsoft.com/office/powerpoint/2010/main" val="30784676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ABB9-99A4-9006-A603-AD3B71D53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7B6DE-DFAD-649A-245E-77751C63BCD5}"/>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6D377EB5-388C-7C9C-F827-76966F589850}"/>
              </a:ext>
            </a:extLst>
          </p:cNvPr>
          <p:cNvSpPr>
            <a:spLocks noGrp="1"/>
          </p:cNvSpPr>
          <p:nvPr>
            <p:ph type="body" idx="1"/>
          </p:nvPr>
        </p:nvSpPr>
        <p:spPr/>
        <p:txBody>
          <a:bodyPr/>
          <a:lstStyle/>
          <a:p>
            <a:r>
              <a:rPr lang="hr-HR" b="1" dirty="0"/>
              <a:t>Predložene korektivne mjere:</a:t>
            </a:r>
          </a:p>
          <a:p>
            <a:pPr marL="228600" indent="-228600">
              <a:buFont typeface="+mj-lt"/>
              <a:buAutoNum type="arabicPeriod"/>
            </a:pPr>
            <a:r>
              <a:rPr lang="hr-HR" b="1" dirty="0"/>
              <a:t>Optimizacija performansi:</a:t>
            </a:r>
          </a:p>
          <a:p>
            <a:pPr marL="685800" lvl="1" indent="-228600">
              <a:buFont typeface="+mj-lt"/>
              <a:buAutoNum type="arabicPeriod"/>
            </a:pPr>
            <a:r>
              <a:rPr lang="hr-HR" dirty="0"/>
              <a:t>Optimizirati upite baze podataka korištenjem indeksiranja i </a:t>
            </a:r>
            <a:r>
              <a:rPr lang="hr-HR" dirty="0" err="1"/>
              <a:t>predmemoriranja</a:t>
            </a:r>
            <a:r>
              <a:rPr lang="hr-HR" dirty="0"/>
              <a:t>.</a:t>
            </a:r>
          </a:p>
          <a:p>
            <a:pPr marL="685800" lvl="1" indent="-228600">
              <a:buFont typeface="+mj-lt"/>
              <a:buAutoNum type="arabicPeriod"/>
            </a:pPr>
            <a:r>
              <a:rPr lang="hr-HR" dirty="0"/>
              <a:t>Implementirati </a:t>
            </a:r>
            <a:r>
              <a:rPr lang="hr-HR" b="1" dirty="0"/>
              <a:t>mreže za isporuku sadržaja (</a:t>
            </a:r>
            <a:r>
              <a:rPr lang="hr-HR" b="1" dirty="0" err="1"/>
              <a:t>content</a:t>
            </a:r>
            <a:r>
              <a:rPr lang="hr-HR" b="1" dirty="0"/>
              <a:t> </a:t>
            </a:r>
            <a:r>
              <a:rPr lang="hr-HR" b="1" dirty="0" err="1"/>
              <a:t>delivery</a:t>
            </a:r>
            <a:r>
              <a:rPr lang="hr-HR" b="1" dirty="0"/>
              <a:t> </a:t>
            </a:r>
            <a:r>
              <a:rPr lang="hr-HR" b="1" dirty="0" err="1"/>
              <a:t>networks</a:t>
            </a:r>
            <a:r>
              <a:rPr lang="hr-HR" b="1" dirty="0"/>
              <a:t> - CDN) </a:t>
            </a:r>
            <a:r>
              <a:rPr lang="hr-HR" dirty="0"/>
              <a:t>za brže učitavanje.</a:t>
            </a:r>
          </a:p>
          <a:p>
            <a:pPr marL="685800" lvl="1" indent="-228600">
              <a:buFont typeface="+mj-lt"/>
              <a:buAutoNum type="arabicPeriod"/>
            </a:pPr>
            <a:r>
              <a:rPr lang="hr-HR" dirty="0"/>
              <a:t>Provesti </a:t>
            </a:r>
            <a:r>
              <a:rPr lang="hr-HR" b="1" dirty="0"/>
              <a:t>testiranje opterećenja (</a:t>
            </a:r>
            <a:r>
              <a:rPr lang="hr-HR" b="1" dirty="0" err="1"/>
              <a:t>load</a:t>
            </a:r>
            <a:r>
              <a:rPr lang="hr-HR" b="1" dirty="0"/>
              <a:t> </a:t>
            </a:r>
            <a:r>
              <a:rPr lang="hr-HR" b="1" dirty="0" err="1"/>
              <a:t>testing</a:t>
            </a:r>
            <a:r>
              <a:rPr lang="hr-HR" b="1" dirty="0"/>
              <a:t>) </a:t>
            </a:r>
            <a:r>
              <a:rPr lang="hr-HR" dirty="0"/>
              <a:t>kako bi se osigurala stabilnost pri velikom prometu.</a:t>
            </a:r>
          </a:p>
          <a:p>
            <a:pPr marL="228600" indent="-228600">
              <a:buFont typeface="+mj-lt"/>
              <a:buAutoNum type="arabicPeriod"/>
            </a:pPr>
            <a:r>
              <a:rPr lang="hr-HR" b="1" dirty="0"/>
              <a:t>Poboljšanja sigurnosti:</a:t>
            </a:r>
          </a:p>
          <a:p>
            <a:pPr marL="685800" lvl="1" indent="-228600">
              <a:buFont typeface="+mj-lt"/>
              <a:buAutoNum type="arabicPeriod"/>
            </a:pPr>
            <a:r>
              <a:rPr lang="hr-HR" dirty="0"/>
              <a:t>Nadograditi </a:t>
            </a:r>
            <a:r>
              <a:rPr lang="hr-HR" b="1" dirty="0"/>
              <a:t>enkripciju na AES-256 </a:t>
            </a:r>
            <a:r>
              <a:rPr lang="hr-HR" dirty="0"/>
              <a:t>za sigurnost transakcija.</a:t>
            </a:r>
          </a:p>
          <a:p>
            <a:pPr marL="685800" lvl="1" indent="-228600">
              <a:buFont typeface="+mj-lt"/>
              <a:buAutoNum type="arabicPeriod"/>
            </a:pPr>
            <a:r>
              <a:rPr lang="hr-HR" dirty="0"/>
              <a:t>Redovito provoditi </a:t>
            </a:r>
            <a:r>
              <a:rPr lang="hr-HR" b="1" dirty="0"/>
              <a:t>penetracijsko testiranje </a:t>
            </a:r>
            <a:r>
              <a:rPr lang="hr-HR" dirty="0"/>
              <a:t>kako bi se identificirale ranjivosti.</a:t>
            </a:r>
          </a:p>
          <a:p>
            <a:pPr marL="685800" lvl="1" indent="-228600">
              <a:buFont typeface="+mj-lt"/>
              <a:buAutoNum type="arabicPeriod"/>
            </a:pPr>
            <a:r>
              <a:rPr lang="hr-HR" dirty="0"/>
              <a:t>Implementirati </a:t>
            </a:r>
            <a:r>
              <a:rPr lang="hr-HR" b="1" dirty="0" err="1"/>
              <a:t>dvofaktorsku</a:t>
            </a:r>
            <a:r>
              <a:rPr lang="hr-HR" b="1" dirty="0"/>
              <a:t> autentifikaciju (2FA) </a:t>
            </a:r>
            <a:r>
              <a:rPr lang="hr-HR" dirty="0"/>
              <a:t>za korisničke račune.</a:t>
            </a:r>
          </a:p>
          <a:p>
            <a:pPr marL="457200" lvl="1" indent="0">
              <a:buFont typeface="+mj-lt"/>
              <a:buNone/>
            </a:pPr>
            <a:endParaRPr lang="hr-HR" dirty="0"/>
          </a:p>
          <a:p>
            <a:pPr marL="228600" lvl="0" indent="-228600">
              <a:buFont typeface="+mj-lt"/>
              <a:buAutoNum type="arabicPeriod"/>
            </a:pPr>
            <a:r>
              <a:rPr lang="hr-HR" b="1" dirty="0"/>
              <a:t>Poboljšanja korisničkog iskustva:</a:t>
            </a:r>
          </a:p>
          <a:p>
            <a:pPr marL="685800" lvl="1" indent="-228600">
              <a:buFont typeface="+mj-lt"/>
              <a:buAutoNum type="arabicPeriod"/>
            </a:pPr>
            <a:r>
              <a:rPr lang="hr-HR" dirty="0"/>
              <a:t>Provesti </a:t>
            </a:r>
            <a:r>
              <a:rPr lang="hr-HR" b="1" dirty="0"/>
              <a:t>A/B testiranje </a:t>
            </a:r>
            <a:r>
              <a:rPr lang="hr-HR" dirty="0"/>
              <a:t>za poboljšanje navigacije.</a:t>
            </a:r>
          </a:p>
          <a:p>
            <a:pPr marL="685800" lvl="1" indent="-228600">
              <a:buFont typeface="+mj-lt"/>
              <a:buAutoNum type="arabicPeriod"/>
            </a:pPr>
            <a:r>
              <a:rPr lang="hr-HR" dirty="0"/>
              <a:t>Prikupiti povratne informacije korisnika putem anketa i koristiti </a:t>
            </a:r>
            <a:r>
              <a:rPr lang="hr-HR" b="1" i="1" dirty="0" err="1"/>
              <a:t>heatmape</a:t>
            </a:r>
            <a:r>
              <a:rPr lang="hr-HR" dirty="0"/>
              <a:t> za praćenje ponašanja.</a:t>
            </a:r>
          </a:p>
          <a:p>
            <a:pPr marL="685800" lvl="1" indent="-228600">
              <a:buFont typeface="+mj-lt"/>
              <a:buAutoNum type="arabicPeriod"/>
            </a:pPr>
            <a:r>
              <a:rPr lang="hr-HR" dirty="0"/>
              <a:t>Fino podesiti algoritme za preporuke temeljene na umjetnoj inteligenciji ponovnim </a:t>
            </a:r>
            <a:r>
              <a:rPr lang="hr-HR" b="1" dirty="0"/>
              <a:t>treniranjem modela strojnog učenja</a:t>
            </a:r>
            <a:r>
              <a:rPr lang="hr-HR" dirty="0"/>
              <a:t>.</a:t>
            </a:r>
          </a:p>
          <a:p>
            <a:pPr marL="457200" lvl="1" indent="0">
              <a:buFont typeface="+mj-lt"/>
              <a:buNone/>
            </a:pPr>
            <a:endParaRPr lang="hr-HR" dirty="0"/>
          </a:p>
          <a:p>
            <a:pPr marL="228600" lvl="0" indent="-228600">
              <a:buFont typeface="+mj-lt"/>
              <a:buAutoNum type="arabicPeriod"/>
            </a:pPr>
            <a:r>
              <a:rPr lang="hr-HR" b="1" dirty="0"/>
              <a:t>Ispravci integracije i komunikacije:</a:t>
            </a:r>
          </a:p>
          <a:p>
            <a:pPr marL="685800" lvl="1" indent="-228600">
              <a:buFont typeface="+mj-lt"/>
              <a:buAutoNum type="arabicPeriod"/>
            </a:pPr>
            <a:r>
              <a:rPr lang="hr-HR" dirty="0"/>
              <a:t>Implementirati </a:t>
            </a:r>
            <a:r>
              <a:rPr lang="hr-HR" b="1" dirty="0" err="1"/>
              <a:t>verzioniranje</a:t>
            </a:r>
            <a:r>
              <a:rPr lang="hr-HR" b="1" dirty="0"/>
              <a:t> API-ja </a:t>
            </a:r>
            <a:r>
              <a:rPr lang="hr-HR" dirty="0"/>
              <a:t>za stabilnu integraciju.</a:t>
            </a:r>
          </a:p>
          <a:p>
            <a:pPr marL="685800" lvl="1" indent="-228600">
              <a:buFont typeface="+mj-lt"/>
              <a:buAutoNum type="arabicPeriod"/>
            </a:pPr>
            <a:r>
              <a:rPr lang="hr-HR" dirty="0"/>
              <a:t>Uspostaviti </a:t>
            </a:r>
            <a:r>
              <a:rPr lang="hr-HR" b="1" dirty="0" err="1"/>
              <a:t>DevOps</a:t>
            </a:r>
            <a:r>
              <a:rPr lang="hr-HR" b="1" dirty="0"/>
              <a:t> kulturu </a:t>
            </a:r>
            <a:r>
              <a:rPr lang="hr-HR" dirty="0"/>
              <a:t>s CI/CD procesima za brže i pouzdanije implementacije.</a:t>
            </a:r>
          </a:p>
          <a:p>
            <a:pPr marL="685800" lvl="1" indent="-228600">
              <a:buFont typeface="+mj-lt"/>
              <a:buAutoNum type="arabicPeriod"/>
            </a:pPr>
            <a:r>
              <a:rPr lang="hr-HR" dirty="0"/>
              <a:t>Poboljšati suradnju između razvojnih, operativnih i QA timova kroz </a:t>
            </a:r>
            <a:r>
              <a:rPr lang="hr-HR" b="1" dirty="0"/>
              <a:t>dnevne sastanke (</a:t>
            </a:r>
            <a:r>
              <a:rPr lang="hr-HR" b="1" i="1" dirty="0" err="1"/>
              <a:t>standups</a:t>
            </a:r>
            <a:r>
              <a:rPr lang="hr-HR" b="1" dirty="0"/>
              <a:t>) </a:t>
            </a:r>
            <a:r>
              <a:rPr lang="hr-HR" dirty="0"/>
              <a:t>i </a:t>
            </a:r>
            <a:r>
              <a:rPr lang="hr-HR" b="1" dirty="0"/>
              <a:t>agilne </a:t>
            </a:r>
            <a:r>
              <a:rPr lang="hr-HR" b="1" i="1" dirty="0"/>
              <a:t>sprint</a:t>
            </a:r>
            <a:r>
              <a:rPr lang="hr-HR" b="1" dirty="0"/>
              <a:t> revizije</a:t>
            </a:r>
            <a:r>
              <a:rPr lang="hr-HR" dirty="0"/>
              <a:t>.</a:t>
            </a:r>
          </a:p>
        </p:txBody>
      </p:sp>
      <p:sp>
        <p:nvSpPr>
          <p:cNvPr id="4" name="Slide Number Placeholder 3">
            <a:extLst>
              <a:ext uri="{FF2B5EF4-FFF2-40B4-BE49-F238E27FC236}">
                <a16:creationId xmlns:a16="http://schemas.microsoft.com/office/drawing/2014/main" id="{54DDC51B-FA93-BABD-7589-504837115536}"/>
              </a:ext>
            </a:extLst>
          </p:cNvPr>
          <p:cNvSpPr>
            <a:spLocks noGrp="1"/>
          </p:cNvSpPr>
          <p:nvPr>
            <p:ph type="sldNum" sz="quarter" idx="5"/>
          </p:nvPr>
        </p:nvSpPr>
        <p:spPr/>
        <p:txBody>
          <a:bodyPr/>
          <a:lstStyle/>
          <a:p>
            <a:fld id="{860845E0-60C2-446A-9A7D-97133A17FFD2}" type="slidenum">
              <a:rPr lang="en-US" smtClean="0"/>
              <a:t>41</a:t>
            </a:fld>
            <a:endParaRPr lang="en-US"/>
          </a:p>
        </p:txBody>
      </p:sp>
    </p:spTree>
    <p:extLst>
      <p:ext uri="{BB962C8B-B14F-4D97-AF65-F5344CB8AC3E}">
        <p14:creationId xmlns:p14="http://schemas.microsoft.com/office/powerpoint/2010/main" val="32899402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381F3-C672-6AEE-C3FE-14954E56F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C2A46-503C-44E9-5D08-FD4E8F295A9F}"/>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A83A1987-AF9E-04FA-ED5A-9464D7CFF2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7A2F64-78D8-9292-A4E0-954E71F5217B}"/>
              </a:ext>
            </a:extLst>
          </p:cNvPr>
          <p:cNvSpPr>
            <a:spLocks noGrp="1"/>
          </p:cNvSpPr>
          <p:nvPr>
            <p:ph type="sldNum" sz="quarter" idx="5"/>
          </p:nvPr>
        </p:nvSpPr>
        <p:spPr/>
        <p:txBody>
          <a:bodyPr/>
          <a:lstStyle/>
          <a:p>
            <a:fld id="{860845E0-60C2-446A-9A7D-97133A17FFD2}" type="slidenum">
              <a:rPr lang="en-US" smtClean="0"/>
              <a:t>42</a:t>
            </a:fld>
            <a:endParaRPr lang="en-US"/>
          </a:p>
        </p:txBody>
      </p:sp>
    </p:spTree>
    <p:extLst>
      <p:ext uri="{BB962C8B-B14F-4D97-AF65-F5344CB8AC3E}">
        <p14:creationId xmlns:p14="http://schemas.microsoft.com/office/powerpoint/2010/main" val="392257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3A9EE-FC82-51CB-BA9F-DC19E3751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BED18-AEE0-44EA-96C5-A14BC7ABDB79}"/>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5596E277-AD66-1C29-8577-AFAFC165DD40}"/>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EDF541DA-833B-0CC9-162D-ED3F09E58A22}"/>
              </a:ext>
            </a:extLst>
          </p:cNvPr>
          <p:cNvSpPr>
            <a:spLocks noGrp="1"/>
          </p:cNvSpPr>
          <p:nvPr>
            <p:ph type="sldNum" sz="quarter" idx="5"/>
          </p:nvPr>
        </p:nvSpPr>
        <p:spPr/>
        <p:txBody>
          <a:bodyPr/>
          <a:lstStyle/>
          <a:p>
            <a:fld id="{860845E0-60C2-446A-9A7D-97133A17FFD2}" type="slidenum">
              <a:rPr lang="en-US" smtClean="0"/>
              <a:t>43</a:t>
            </a:fld>
            <a:endParaRPr lang="en-US"/>
          </a:p>
        </p:txBody>
      </p:sp>
    </p:spTree>
    <p:extLst>
      <p:ext uri="{BB962C8B-B14F-4D97-AF65-F5344CB8AC3E}">
        <p14:creationId xmlns:p14="http://schemas.microsoft.com/office/powerpoint/2010/main" val="20407301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B255D-56C1-0FD2-2D1A-74B3820CF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8EBE7-D9D6-F7E5-AE3E-1EADC579D20D}"/>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6CD725BB-4F5E-E46C-A0D6-63410C145584}"/>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6B84F2C1-0E39-5211-688F-330CFAC48933}"/>
              </a:ext>
            </a:extLst>
          </p:cNvPr>
          <p:cNvSpPr>
            <a:spLocks noGrp="1"/>
          </p:cNvSpPr>
          <p:nvPr>
            <p:ph type="sldNum" sz="quarter" idx="5"/>
          </p:nvPr>
        </p:nvSpPr>
        <p:spPr/>
        <p:txBody>
          <a:bodyPr/>
          <a:lstStyle/>
          <a:p>
            <a:fld id="{860845E0-60C2-446A-9A7D-97133A17FFD2}" type="slidenum">
              <a:rPr lang="en-US" smtClean="0"/>
              <a:t>44</a:t>
            </a:fld>
            <a:endParaRPr lang="en-US"/>
          </a:p>
        </p:txBody>
      </p:sp>
    </p:spTree>
    <p:extLst>
      <p:ext uri="{BB962C8B-B14F-4D97-AF65-F5344CB8AC3E}">
        <p14:creationId xmlns:p14="http://schemas.microsoft.com/office/powerpoint/2010/main" val="586001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o-RO"/>
          </a:p>
        </p:txBody>
      </p:sp>
      <p:sp>
        <p:nvSpPr>
          <p:cNvPr id="3" name="Notes Placeholder 2"/>
          <p:cNvSpPr>
            <a:spLocks noGrp="1"/>
          </p:cNvSpPr>
          <p:nvPr>
            <p:ph type="body" idx="1"/>
          </p:nvPr>
        </p:nvSpPr>
        <p:spPr/>
        <p:txBody>
          <a:bodyPr/>
          <a:lstStyle/>
          <a:p>
            <a:r>
              <a:rPr lang="hr-HR" b="1" dirty="0"/>
              <a:t>PMI smjernice za upravljanje promjenama</a:t>
            </a:r>
            <a:br>
              <a:rPr lang="hr-HR" dirty="0"/>
            </a:br>
            <a:r>
              <a:rPr lang="hr-HR" b="1" dirty="0"/>
              <a:t>Project Management Institute (PMI) </a:t>
            </a:r>
            <a:r>
              <a:rPr lang="hr-HR" dirty="0"/>
              <a:t>pruža </a:t>
            </a:r>
            <a:r>
              <a:rPr lang="hr-HR" b="1" dirty="0"/>
              <a:t>strukturirani</a:t>
            </a:r>
            <a:r>
              <a:rPr lang="hr-HR" dirty="0"/>
              <a:t> pristup upravljanju promjenama unutar svog </a:t>
            </a:r>
            <a:r>
              <a:rPr lang="hr-HR" b="1" dirty="0"/>
              <a:t>PMBOK vodiča (Project Management </a:t>
            </a:r>
            <a:r>
              <a:rPr lang="hr-HR" b="1" dirty="0" err="1"/>
              <a:t>Body</a:t>
            </a:r>
            <a:r>
              <a:rPr lang="hr-HR" b="1" dirty="0"/>
              <a:t> of </a:t>
            </a:r>
            <a:r>
              <a:rPr lang="hr-HR" b="1" dirty="0" err="1"/>
              <a:t>Knowledge</a:t>
            </a:r>
            <a:r>
              <a:rPr lang="hr-HR" b="1" dirty="0"/>
              <a:t>)</a:t>
            </a:r>
            <a:r>
              <a:rPr lang="hr-HR" dirty="0"/>
              <a:t>. PMI naglašava da promjene trebaju biti </a:t>
            </a:r>
            <a:r>
              <a:rPr lang="hr-HR" b="1" dirty="0"/>
              <a:t>pravilno procijenjene, odobrene, provedene i kontrolirane</a:t>
            </a:r>
            <a:r>
              <a:rPr lang="hr-HR" dirty="0"/>
              <a:t> kako bi se spriječio neuspjeh projekta, prekoračenje troškova i širenje opsega.</a:t>
            </a:r>
          </a:p>
          <a:p>
            <a:endParaRPr lang="hr-HR" dirty="0"/>
          </a:p>
          <a:p>
            <a:r>
              <a:rPr lang="hr-HR" b="1" dirty="0"/>
              <a:t>1. PMI-</a:t>
            </a:r>
            <a:r>
              <a:rPr lang="hr-HR" b="1" dirty="0" err="1"/>
              <a:t>jev</a:t>
            </a:r>
            <a:r>
              <a:rPr lang="hr-HR" b="1" dirty="0"/>
              <a:t> pristup upravljanju promjenama</a:t>
            </a:r>
            <a:br>
              <a:rPr lang="hr-HR" dirty="0"/>
            </a:br>
            <a:r>
              <a:rPr lang="hr-HR" dirty="0"/>
              <a:t>PMI uključuje upravljanje promjenama kroz </a:t>
            </a:r>
            <a:r>
              <a:rPr lang="hr-HR" b="1" dirty="0"/>
              <a:t>integriranu kontrolu promjena</a:t>
            </a:r>
            <a:r>
              <a:rPr lang="hr-HR" dirty="0"/>
              <a:t>, koja se prvenstveno provodi unutar područja upravljanja </a:t>
            </a:r>
            <a:r>
              <a:rPr lang="hr-HR" b="1" dirty="0"/>
              <a:t>integracijom projekta</a:t>
            </a:r>
            <a:r>
              <a:rPr lang="hr-HR" dirty="0"/>
              <a:t>. Ovaj proces osigurava da se provode </a:t>
            </a:r>
            <a:r>
              <a:rPr lang="hr-HR" b="1" dirty="0"/>
              <a:t>samo odobrene promjene</a:t>
            </a:r>
            <a:r>
              <a:rPr lang="hr-HR" dirty="0"/>
              <a:t> uz održavanje usklađenosti projekta s ciljevima i ograničenjima.</a:t>
            </a:r>
          </a:p>
          <a:p>
            <a:r>
              <a:rPr lang="hr-HR" b="1" dirty="0"/>
              <a:t>Ključni ciljevi upravljanja promjenama prema PMI-u:</a:t>
            </a:r>
            <a:br>
              <a:rPr lang="hr-HR" b="1" dirty="0"/>
            </a:br>
            <a:r>
              <a:rPr lang="hr-HR" dirty="0"/>
              <a:t>✅ Minimizirati poremećaje u projektu uzrokovane </a:t>
            </a:r>
            <a:r>
              <a:rPr lang="hr-HR" b="1" dirty="0"/>
              <a:t>nekontroliranim promjenama</a:t>
            </a:r>
            <a:br>
              <a:rPr lang="hr-HR" dirty="0"/>
            </a:br>
            <a:r>
              <a:rPr lang="hr-HR" dirty="0"/>
              <a:t>✅ Osigurati da su promjene </a:t>
            </a:r>
            <a:r>
              <a:rPr lang="hr-HR" b="1" dirty="0"/>
              <a:t>pravilno procijenjene, dokumentirane i odobrene</a:t>
            </a:r>
            <a:br>
              <a:rPr lang="hr-HR" dirty="0"/>
            </a:br>
            <a:r>
              <a:rPr lang="hr-HR" dirty="0"/>
              <a:t>✅ Uskladiti </a:t>
            </a:r>
            <a:r>
              <a:rPr lang="hr-HR" dirty="0" err="1"/>
              <a:t>isporučevine</a:t>
            </a:r>
            <a:r>
              <a:rPr lang="hr-HR" dirty="0"/>
              <a:t> (</a:t>
            </a:r>
            <a:r>
              <a:rPr lang="hr-HR" dirty="0" err="1"/>
              <a:t>deliverables</a:t>
            </a:r>
            <a:r>
              <a:rPr lang="hr-HR" dirty="0"/>
              <a:t>) projekta s poslovnim potrebama i </a:t>
            </a:r>
            <a:r>
              <a:rPr lang="hr-HR" b="1" dirty="0"/>
              <a:t>očekivanjima dionika</a:t>
            </a:r>
            <a:br>
              <a:rPr lang="hr-HR" dirty="0"/>
            </a:br>
            <a:r>
              <a:rPr lang="hr-HR" dirty="0"/>
              <a:t>✅ Poboljšati </a:t>
            </a:r>
            <a:r>
              <a:rPr lang="hr-HR" b="1" dirty="0"/>
              <a:t>upravljanje rizicima </a:t>
            </a:r>
            <a:r>
              <a:rPr lang="hr-HR" dirty="0"/>
              <a:t>procjenom potencijalnih utjecaja prije odobrenja</a:t>
            </a:r>
          </a:p>
          <a:p>
            <a:endParaRPr lang="hr-HR" dirty="0"/>
          </a:p>
          <a:p>
            <a:r>
              <a:rPr lang="hr-HR" b="1" dirty="0"/>
              <a:t>2. PMI-</a:t>
            </a:r>
            <a:r>
              <a:rPr lang="hr-HR" b="1" dirty="0" err="1"/>
              <a:t>jev</a:t>
            </a:r>
            <a:r>
              <a:rPr lang="hr-HR" b="1" dirty="0"/>
              <a:t> proces upravljanja promjenama (integrirana kontrola promjena)</a:t>
            </a:r>
            <a:br>
              <a:rPr lang="hr-HR" b="1" dirty="0"/>
            </a:br>
            <a:r>
              <a:rPr lang="hr-HR" dirty="0"/>
              <a:t>PMI smjernice preporučuju </a:t>
            </a:r>
            <a:r>
              <a:rPr lang="hr-HR" b="1" dirty="0"/>
              <a:t>formalni proces </a:t>
            </a:r>
            <a:r>
              <a:rPr lang="hr-HR" dirty="0"/>
              <a:t>upravljanja promjenama koji uključuje sljedeće korake:</a:t>
            </a:r>
          </a:p>
          <a:p>
            <a:endParaRPr lang="hr-HR" b="1" dirty="0"/>
          </a:p>
          <a:p>
            <a:r>
              <a:rPr lang="hr-HR" b="1" dirty="0"/>
              <a:t>2.1. Identificirati i dokumentirati zahtjev za promjenom</a:t>
            </a:r>
            <a:br>
              <a:rPr lang="hr-HR" dirty="0"/>
            </a:br>
            <a:r>
              <a:rPr lang="hr-HR" dirty="0"/>
              <a:t>Promjene mogu potjecati od </a:t>
            </a:r>
            <a:r>
              <a:rPr lang="hr-HR" b="1" dirty="0"/>
              <a:t>dionika, projektnog tima, vanjskih čimbenika ili odgovora na rizike</a:t>
            </a:r>
            <a:r>
              <a:rPr lang="hr-HR" dirty="0"/>
              <a:t>.</a:t>
            </a:r>
            <a:br>
              <a:rPr lang="hr-HR" dirty="0"/>
            </a:br>
            <a:r>
              <a:rPr lang="hr-HR" dirty="0"/>
              <a:t>Izrađuje se </a:t>
            </a:r>
            <a:r>
              <a:rPr lang="hr-HR" b="1" dirty="0"/>
              <a:t>zahtjev za promjenom (</a:t>
            </a:r>
            <a:r>
              <a:rPr lang="hr-HR" b="1" dirty="0" err="1"/>
              <a:t>Change</a:t>
            </a:r>
            <a:r>
              <a:rPr lang="hr-HR" b="1" dirty="0"/>
              <a:t> </a:t>
            </a:r>
            <a:r>
              <a:rPr lang="hr-HR" b="1" dirty="0" err="1"/>
              <a:t>Request</a:t>
            </a:r>
            <a:r>
              <a:rPr lang="hr-HR" b="1" dirty="0"/>
              <a:t> - CR)</a:t>
            </a:r>
            <a:r>
              <a:rPr lang="hr-HR" dirty="0"/>
              <a:t> koji dokumentira prirodu, razlog i utjecaj predložene promjene.</a:t>
            </a:r>
          </a:p>
          <a:p>
            <a:r>
              <a:rPr lang="hr-HR" dirty="0"/>
              <a:t>Vrste zahtjeva za promjenom:</a:t>
            </a:r>
          </a:p>
          <a:p>
            <a:pPr marL="628650" lvl="1" indent="-171450">
              <a:buFont typeface="Arial" panose="020B0604020202020204" pitchFamily="34" charset="0"/>
              <a:buChar char="•"/>
            </a:pPr>
            <a:r>
              <a:rPr lang="hr-HR" b="1" dirty="0"/>
              <a:t>Korektivne radnje </a:t>
            </a:r>
            <a:r>
              <a:rPr lang="hr-HR" dirty="0"/>
              <a:t>(ispravljanje odstupanja od plana)</a:t>
            </a:r>
          </a:p>
          <a:p>
            <a:pPr marL="628650" lvl="1" indent="-171450">
              <a:buFont typeface="Arial" panose="020B0604020202020204" pitchFamily="34" charset="0"/>
              <a:buChar char="•"/>
            </a:pPr>
            <a:r>
              <a:rPr lang="hr-HR" b="1" dirty="0"/>
              <a:t>Preventivne radnje </a:t>
            </a:r>
            <a:r>
              <a:rPr lang="hr-HR" dirty="0"/>
              <a:t>(rješavanje potencijalnih rizika)</a:t>
            </a:r>
          </a:p>
          <a:p>
            <a:pPr marL="628650" lvl="1" indent="-171450">
              <a:buFont typeface="Arial" panose="020B0604020202020204" pitchFamily="34" charset="0"/>
              <a:buChar char="•"/>
            </a:pPr>
            <a:r>
              <a:rPr lang="hr-HR" b="1" dirty="0"/>
              <a:t>Popravci nedostataka </a:t>
            </a:r>
            <a:r>
              <a:rPr lang="hr-HR" dirty="0"/>
              <a:t>(ispravljanje problema s kvalitetom)</a:t>
            </a:r>
          </a:p>
          <a:p>
            <a:pPr marL="628650" lvl="1" indent="-171450">
              <a:buFont typeface="Arial" panose="020B0604020202020204" pitchFamily="34" charset="0"/>
              <a:buChar char="•"/>
            </a:pPr>
            <a:r>
              <a:rPr lang="hr-HR" b="1" dirty="0"/>
              <a:t>Promjene opsega, troškova, rasporeda ili resursa</a:t>
            </a:r>
          </a:p>
          <a:p>
            <a:endParaRPr lang="hr-HR" dirty="0"/>
          </a:p>
          <a:p>
            <a:r>
              <a:rPr lang="hr-HR" b="1" dirty="0"/>
              <a:t>2.2. Analizirati i procijeniti utjecaj</a:t>
            </a:r>
          </a:p>
          <a:p>
            <a:pPr marL="171450" indent="-171450">
              <a:buFont typeface="Arial" panose="020B0604020202020204" pitchFamily="34" charset="0"/>
              <a:buChar char="•"/>
            </a:pPr>
            <a:r>
              <a:rPr lang="hr-HR" dirty="0"/>
              <a:t>Procijeniti </a:t>
            </a:r>
            <a:r>
              <a:rPr lang="hr-HR" b="1" dirty="0"/>
              <a:t>utjecaj na opseg, raspored, proračun, kvalitetu i rizike</a:t>
            </a:r>
            <a:r>
              <a:rPr lang="hr-HR" dirty="0"/>
              <a:t>.</a:t>
            </a:r>
          </a:p>
          <a:p>
            <a:pPr marL="171450" indent="-171450">
              <a:buFont typeface="Arial" panose="020B0604020202020204" pitchFamily="34" charset="0"/>
              <a:buChar char="•"/>
            </a:pPr>
            <a:r>
              <a:rPr lang="hr-HR" dirty="0"/>
              <a:t>Razmotriti ovisnosti s drugim elementima projekta.</a:t>
            </a:r>
          </a:p>
          <a:p>
            <a:pPr marL="171450" indent="-171450">
              <a:buFont typeface="Arial" panose="020B0604020202020204" pitchFamily="34" charset="0"/>
              <a:buChar char="•"/>
            </a:pPr>
            <a:r>
              <a:rPr lang="hr-HR" dirty="0"/>
              <a:t>Provesti </a:t>
            </a:r>
            <a:r>
              <a:rPr lang="hr-HR" b="1" dirty="0"/>
              <a:t>analizu troškova i koristi </a:t>
            </a:r>
            <a:r>
              <a:rPr lang="hr-HR" dirty="0"/>
              <a:t>kako bi se opravdala promjena.</a:t>
            </a:r>
          </a:p>
          <a:p>
            <a:endParaRPr lang="hr-HR" dirty="0"/>
          </a:p>
          <a:p>
            <a:r>
              <a:rPr lang="hr-HR" b="1" dirty="0"/>
              <a:t>2.3. Zatražiti odobrenje od Odbora za kontrolu promjena (CCB)</a:t>
            </a:r>
            <a:br>
              <a:rPr lang="hr-HR" b="1" dirty="0"/>
            </a:br>
            <a:r>
              <a:rPr lang="hr-HR" b="1" dirty="0"/>
              <a:t>CCB (</a:t>
            </a:r>
            <a:r>
              <a:rPr lang="hr-HR" b="1" dirty="0" err="1"/>
              <a:t>Change</a:t>
            </a:r>
            <a:r>
              <a:rPr lang="hr-HR" b="1" dirty="0"/>
              <a:t> </a:t>
            </a:r>
            <a:r>
              <a:rPr lang="hr-HR" b="1" dirty="0" err="1"/>
              <a:t>Control</a:t>
            </a:r>
            <a:r>
              <a:rPr lang="hr-HR" b="1" dirty="0"/>
              <a:t> </a:t>
            </a:r>
            <a:r>
              <a:rPr lang="hr-HR" b="1" dirty="0" err="1"/>
              <a:t>Board</a:t>
            </a:r>
            <a:r>
              <a:rPr lang="hr-HR" b="1" dirty="0"/>
              <a:t>)</a:t>
            </a:r>
            <a:r>
              <a:rPr lang="hr-HR" dirty="0"/>
              <a:t> sastoji se od ključnih dionika i donositelja odluka.</a:t>
            </a:r>
            <a:br>
              <a:rPr lang="hr-HR" dirty="0"/>
            </a:br>
            <a:r>
              <a:rPr lang="hr-HR" dirty="0"/>
              <a:t>Odbor </a:t>
            </a:r>
            <a:r>
              <a:rPr lang="hr-HR" b="1" dirty="0"/>
              <a:t>pregledava, odobrava, odbija ili odgađa </a:t>
            </a:r>
            <a:r>
              <a:rPr lang="hr-HR" dirty="0"/>
              <a:t>zahtjev na temelju projektnih ograničenja i koristi.</a:t>
            </a:r>
            <a:br>
              <a:rPr lang="hr-HR" dirty="0"/>
            </a:br>
            <a:r>
              <a:rPr lang="hr-HR" dirty="0"/>
              <a:t>U nekim slučajevima manje promjene može odobriti </a:t>
            </a:r>
            <a:r>
              <a:rPr lang="hr-HR" b="1" dirty="0"/>
              <a:t>voditelj projekta </a:t>
            </a:r>
            <a:r>
              <a:rPr lang="hr-HR" dirty="0"/>
              <a:t>bez intervencije CCB-a.</a:t>
            </a:r>
          </a:p>
          <a:p>
            <a:endParaRPr lang="hr-HR" dirty="0"/>
          </a:p>
          <a:p>
            <a:r>
              <a:rPr lang="hr-HR" b="1" dirty="0"/>
              <a:t>2.4. Provesti odobrene promjene</a:t>
            </a:r>
            <a:br>
              <a:rPr lang="hr-HR" dirty="0"/>
            </a:br>
            <a:r>
              <a:rPr lang="hr-HR" dirty="0"/>
              <a:t>Odobrene promjene dokumentiraju se u </a:t>
            </a:r>
            <a:r>
              <a:rPr lang="hr-HR" b="1" dirty="0"/>
              <a:t>Planu upravljanja projektom</a:t>
            </a:r>
            <a:r>
              <a:rPr lang="hr-HR" dirty="0"/>
              <a:t>.</a:t>
            </a:r>
            <a:br>
              <a:rPr lang="hr-HR" dirty="0"/>
            </a:br>
            <a:r>
              <a:rPr lang="hr-HR" dirty="0"/>
              <a:t>Timovi se obavještavaju, a provedba se odvija na kontroliran način.</a:t>
            </a:r>
            <a:br>
              <a:rPr lang="hr-HR" dirty="0"/>
            </a:br>
            <a:r>
              <a:rPr lang="hr-HR" dirty="0"/>
              <a:t>Promjene se moraju testirati i </a:t>
            </a:r>
            <a:r>
              <a:rPr lang="hr-HR" dirty="0" err="1"/>
              <a:t>validirati</a:t>
            </a:r>
            <a:r>
              <a:rPr lang="hr-HR" dirty="0"/>
              <a:t> prije potpune implementacije.</a:t>
            </a:r>
          </a:p>
          <a:p>
            <a:endParaRPr lang="hr-HR" dirty="0"/>
          </a:p>
          <a:p>
            <a:r>
              <a:rPr lang="hr-HR" b="1" dirty="0"/>
              <a:t>2.5. Pratiti i evaluirati promjenu</a:t>
            </a:r>
            <a:br>
              <a:rPr lang="hr-HR" dirty="0"/>
            </a:br>
            <a:r>
              <a:rPr lang="hr-HR" dirty="0"/>
              <a:t>Pratiti učinkovitost promjene i njezin utjecaj na ciljeve projekta.</a:t>
            </a:r>
            <a:br>
              <a:rPr lang="hr-HR" dirty="0"/>
            </a:br>
            <a:r>
              <a:rPr lang="hr-HR" dirty="0"/>
              <a:t>Identificirati naučene lekcije i prema potrebi prilagoditi buduće procese.</a:t>
            </a:r>
            <a:br>
              <a:rPr lang="hr-HR" dirty="0"/>
            </a:br>
            <a:r>
              <a:rPr lang="hr-HR" dirty="0"/>
              <a:t>Ažurirati relevantnu projektnu dokumentaciju kako bi odražavala odobrene promjene.</a:t>
            </a:r>
          </a:p>
          <a:p>
            <a:endParaRPr lang="hr-HR" dirty="0"/>
          </a:p>
          <a:p>
            <a:r>
              <a:rPr lang="hr-HR" b="1" dirty="0"/>
              <a:t>3. Ključni alati i tehnike za upravljanje promjenama (prema PMI-u)</a:t>
            </a:r>
            <a:br>
              <a:rPr lang="hr-HR" b="1" dirty="0"/>
            </a:br>
            <a:r>
              <a:rPr lang="hr-HR" dirty="0"/>
              <a:t>PMI predlaže korištenje različitih alata za učinkovitu </a:t>
            </a:r>
            <a:r>
              <a:rPr lang="hr-HR" b="1" dirty="0"/>
              <a:t>procjenu, dokumentiranje i provedbu</a:t>
            </a:r>
            <a:r>
              <a:rPr lang="hr-HR" dirty="0"/>
              <a:t> promjena:</a:t>
            </a:r>
          </a:p>
          <a:p>
            <a:r>
              <a:rPr lang="hr-HR" b="0" dirty="0"/>
              <a:t>Alat/tehnika, svrha, s</a:t>
            </a:r>
            <a:r>
              <a:rPr lang="hr-HR" dirty="0"/>
              <a:t>ustav kontrole promjena — Definira postupke za podnošenje, pregled i odobravanje promjena.</a:t>
            </a:r>
            <a:br>
              <a:rPr lang="hr-HR" dirty="0"/>
            </a:br>
            <a:r>
              <a:rPr lang="hr-HR" dirty="0"/>
              <a:t>Analiza utjecaja — Procjenjuje učinak promjena na opseg, troškove, vrijeme, kvalitetu i rizike.</a:t>
            </a:r>
            <a:br>
              <a:rPr lang="hr-HR" dirty="0"/>
            </a:br>
            <a:r>
              <a:rPr lang="hr-HR" dirty="0"/>
              <a:t>Odbor za kontrolu promjena (CCB) — Odobrava, odbija ili odgađa zahtjeve za promjenama.</a:t>
            </a:r>
            <a:br>
              <a:rPr lang="hr-HR" dirty="0"/>
            </a:br>
            <a:r>
              <a:rPr lang="hr-HR" dirty="0"/>
              <a:t>Upravljanje konfiguracijom — Osigurava da se sve promjene prate i dosljedno provode.</a:t>
            </a:r>
            <a:br>
              <a:rPr lang="hr-HR" dirty="0"/>
            </a:br>
            <a:r>
              <a:rPr lang="hr-HR" dirty="0"/>
              <a:t>Analiza rizika — Identificira potencijalne prijetnje ili prilike koje proizlaze iz promjene.</a:t>
            </a:r>
            <a:br>
              <a:rPr lang="hr-HR" dirty="0"/>
            </a:br>
            <a:r>
              <a:rPr lang="hr-HR" dirty="0"/>
              <a:t>Plan komunikacije s dionicima — Osigurava jasnu komunikaciju o odobrenjima i utjecajima promjena.</a:t>
            </a:r>
          </a:p>
          <a:p>
            <a:endParaRPr lang="hr-HR" dirty="0"/>
          </a:p>
          <a:p>
            <a:r>
              <a:rPr lang="hr-HR" b="1" dirty="0"/>
              <a:t>4. Izazovi u upravljanju promjenama i PMI-</a:t>
            </a:r>
            <a:r>
              <a:rPr lang="hr-HR" b="1" dirty="0" err="1"/>
              <a:t>jeve</a:t>
            </a:r>
            <a:r>
              <a:rPr lang="hr-HR" b="1" dirty="0"/>
              <a:t> preporuke</a:t>
            </a:r>
            <a:br>
              <a:rPr lang="hr-HR" dirty="0"/>
            </a:br>
            <a:r>
              <a:rPr lang="hr-HR" dirty="0"/>
              <a:t>Izazov, Preporučeno rješenje prema PMI-u, Širenje opsega (</a:t>
            </a:r>
            <a:r>
              <a:rPr lang="hr-HR" dirty="0" err="1"/>
              <a:t>scope</a:t>
            </a:r>
            <a:r>
              <a:rPr lang="hr-HR" dirty="0"/>
              <a:t> </a:t>
            </a:r>
            <a:r>
              <a:rPr lang="hr-HR" dirty="0" err="1"/>
              <a:t>creep</a:t>
            </a:r>
            <a:r>
              <a:rPr lang="hr-HR" dirty="0"/>
              <a:t>) (nekontrolirane promjene) — Uspostaviti formalni proces zahtjeva za promjenama s odobrenjima CCB-a.</a:t>
            </a:r>
            <a:br>
              <a:rPr lang="hr-HR" dirty="0"/>
            </a:br>
            <a:r>
              <a:rPr lang="hr-HR" dirty="0"/>
              <a:t>Otpor dionika — Komunicirati prednosti promjene i uključiti dionike u ranoj fazi.</a:t>
            </a:r>
            <a:br>
              <a:rPr lang="hr-HR" dirty="0"/>
            </a:br>
            <a:r>
              <a:rPr lang="hr-HR" dirty="0"/>
              <a:t>Loša dokumentacija</a:t>
            </a:r>
          </a:p>
          <a:p>
            <a:endParaRPr lang="en-US" dirty="0"/>
          </a:p>
        </p:txBody>
      </p:sp>
      <p:sp>
        <p:nvSpPr>
          <p:cNvPr id="4" name="Slide Number Placeholder 3"/>
          <p:cNvSpPr>
            <a:spLocks noGrp="1"/>
          </p:cNvSpPr>
          <p:nvPr>
            <p:ph type="sldNum" sz="quarter" idx="5"/>
          </p:nvPr>
        </p:nvSpPr>
        <p:spPr/>
        <p:txBody>
          <a:bodyPr/>
          <a:lstStyle/>
          <a:p>
            <a:fld id="{860845E0-60C2-446A-9A7D-97133A17FFD2}" type="slidenum">
              <a:rPr lang="en-US" smtClean="0"/>
              <a:t>45</a:t>
            </a:fld>
            <a:endParaRPr lang="en-US"/>
          </a:p>
        </p:txBody>
      </p:sp>
    </p:spTree>
    <p:extLst>
      <p:ext uri="{BB962C8B-B14F-4D97-AF65-F5344CB8AC3E}">
        <p14:creationId xmlns:p14="http://schemas.microsoft.com/office/powerpoint/2010/main" val="24753883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D577B-7666-92C2-6DA6-4D81B5F20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CD41C-79A2-C411-BE6E-52A9D526CBB6}"/>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40AFD44A-C6E2-7378-5401-990C8FF403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A9FF0F-A0E8-ED4C-648C-FB712D2D644E}"/>
              </a:ext>
            </a:extLst>
          </p:cNvPr>
          <p:cNvSpPr>
            <a:spLocks noGrp="1"/>
          </p:cNvSpPr>
          <p:nvPr>
            <p:ph type="sldNum" sz="quarter" idx="5"/>
          </p:nvPr>
        </p:nvSpPr>
        <p:spPr/>
        <p:txBody>
          <a:bodyPr/>
          <a:lstStyle/>
          <a:p>
            <a:fld id="{860845E0-60C2-446A-9A7D-97133A17FFD2}" type="slidenum">
              <a:rPr lang="en-US" smtClean="0"/>
              <a:t>46</a:t>
            </a:fld>
            <a:endParaRPr lang="en-US"/>
          </a:p>
        </p:txBody>
      </p:sp>
    </p:spTree>
    <p:extLst>
      <p:ext uri="{BB962C8B-B14F-4D97-AF65-F5344CB8AC3E}">
        <p14:creationId xmlns:p14="http://schemas.microsoft.com/office/powerpoint/2010/main" val="8773454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8765-3C20-0498-0B55-971CB1317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9B855-A120-EC5D-840C-39DCD2C505B8}"/>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006620EC-DAB0-E5D3-7BFC-B545D453C66B}"/>
              </a:ext>
            </a:extLst>
          </p:cNvPr>
          <p:cNvSpPr>
            <a:spLocks noGrp="1"/>
          </p:cNvSpPr>
          <p:nvPr>
            <p:ph type="body" idx="1"/>
          </p:nvPr>
        </p:nvSpPr>
        <p:spPr/>
        <p:txBody>
          <a:bodyPr/>
          <a:lstStyle/>
          <a:p>
            <a:pPr>
              <a:buNone/>
            </a:pPr>
            <a:r>
              <a:rPr lang="hr-HR" b="1" dirty="0"/>
              <a:t>PMI smjernice za upravljanje rizicima</a:t>
            </a:r>
            <a:br>
              <a:rPr lang="hr-HR" dirty="0"/>
            </a:br>
            <a:r>
              <a:rPr lang="hr-HR" b="1" dirty="0"/>
              <a:t>Project Management Institute (PMI) </a:t>
            </a:r>
            <a:r>
              <a:rPr lang="hr-HR" dirty="0"/>
              <a:t>definira upravljanje rizicima kao strukturirani pristup u </a:t>
            </a:r>
            <a:r>
              <a:rPr lang="hr-HR" b="1" dirty="0"/>
              <a:t>PMBOK vodiču (Project Management </a:t>
            </a:r>
            <a:r>
              <a:rPr lang="hr-HR" b="1" dirty="0" err="1"/>
              <a:t>Body</a:t>
            </a:r>
            <a:r>
              <a:rPr lang="hr-HR" b="1" dirty="0"/>
              <a:t> of </a:t>
            </a:r>
            <a:r>
              <a:rPr lang="hr-HR" b="1" dirty="0" err="1"/>
              <a:t>Knowledge</a:t>
            </a:r>
            <a:r>
              <a:rPr lang="hr-HR" b="1" dirty="0"/>
              <a:t>)</a:t>
            </a:r>
            <a:r>
              <a:rPr lang="hr-HR" dirty="0"/>
              <a:t>. Ono je dio područja upravljanja projektnim rizicima i osigurava da projekti proaktivno identificiraju, analiziraju i odgovaraju na rizike kako bi </a:t>
            </a:r>
            <a:r>
              <a:rPr lang="hr-HR" b="1" dirty="0"/>
              <a:t>minimizirali prijetnje i maksimalno iskoristili prilike</a:t>
            </a:r>
            <a:r>
              <a:rPr lang="hr-HR" dirty="0"/>
              <a:t>.</a:t>
            </a:r>
          </a:p>
          <a:p>
            <a:pPr>
              <a:buNone/>
            </a:pPr>
            <a:endParaRPr lang="hr-HR" dirty="0"/>
          </a:p>
          <a:p>
            <a:pPr>
              <a:buFont typeface="+mj-lt"/>
              <a:buAutoNum type="arabicPeriod"/>
            </a:pPr>
            <a:r>
              <a:rPr lang="hr-HR" b="1" dirty="0"/>
              <a:t>PMI-</a:t>
            </a:r>
            <a:r>
              <a:rPr lang="hr-HR" b="1" dirty="0" err="1"/>
              <a:t>jev</a:t>
            </a:r>
            <a:r>
              <a:rPr lang="hr-HR" b="1" dirty="0"/>
              <a:t> proces upravljanja rizicima (prema PMBOK vodiču)</a:t>
            </a:r>
          </a:p>
          <a:p>
            <a:pPr marL="0" indent="0">
              <a:buFont typeface="Arial" panose="020B0604020202020204" pitchFamily="34" charset="0"/>
              <a:buNone/>
            </a:pPr>
            <a:r>
              <a:rPr lang="hr-HR" b="1" dirty="0"/>
              <a:t>1.1. Planiranje upravljanja rizicima</a:t>
            </a:r>
            <a:br>
              <a:rPr lang="hr-HR" dirty="0"/>
            </a:br>
            <a:r>
              <a:rPr lang="hr-HR" b="1" dirty="0"/>
              <a:t>Cilj: </a:t>
            </a:r>
            <a:r>
              <a:rPr lang="hr-HR" dirty="0"/>
              <a:t>Definirati kako će se upravljanje rizicima provoditi tijekom cijelog projekta.</a:t>
            </a:r>
            <a:br>
              <a:rPr lang="hr-HR" dirty="0"/>
            </a:br>
            <a:r>
              <a:rPr lang="hr-HR" dirty="0"/>
              <a:t>✅ Ključne aktivnosti:</a:t>
            </a:r>
          </a:p>
          <a:p>
            <a:pPr marL="171450" indent="-171450">
              <a:buFont typeface="Arial" panose="020B0604020202020204" pitchFamily="34" charset="0"/>
              <a:buChar char="•"/>
            </a:pPr>
            <a:r>
              <a:rPr lang="hr-HR" dirty="0"/>
              <a:t>Izraditi </a:t>
            </a:r>
            <a:r>
              <a:rPr lang="hr-HR" b="1" dirty="0"/>
              <a:t>plan upravljanja rizicima</a:t>
            </a:r>
          </a:p>
          <a:p>
            <a:pPr marL="171450" indent="-171450">
              <a:buFont typeface="Arial" panose="020B0604020202020204" pitchFamily="34" charset="0"/>
              <a:buChar char="•"/>
            </a:pPr>
            <a:r>
              <a:rPr lang="hr-HR" dirty="0"/>
              <a:t>Definirati </a:t>
            </a:r>
            <a:r>
              <a:rPr lang="hr-HR" b="1" dirty="0"/>
              <a:t>kategorije rizika</a:t>
            </a:r>
          </a:p>
          <a:p>
            <a:pPr marL="171450" indent="-171450">
              <a:buFont typeface="Arial" panose="020B0604020202020204" pitchFamily="34" charset="0"/>
              <a:buChar char="•"/>
            </a:pPr>
            <a:r>
              <a:rPr lang="hr-HR" dirty="0"/>
              <a:t>Dodijeliti </a:t>
            </a:r>
            <a:r>
              <a:rPr lang="hr-HR" b="1" dirty="0"/>
              <a:t>uloge i odgovornosti </a:t>
            </a:r>
            <a:r>
              <a:rPr lang="hr-HR" dirty="0"/>
              <a:t>za upravljanje rizicima</a:t>
            </a:r>
          </a:p>
          <a:p>
            <a:pPr>
              <a:buNone/>
            </a:pPr>
            <a:r>
              <a:rPr lang="hr-HR" b="1" dirty="0"/>
              <a:t>1.2. Identificirati rizike</a:t>
            </a:r>
            <a:br>
              <a:rPr lang="hr-HR" dirty="0"/>
            </a:br>
            <a:r>
              <a:rPr lang="hr-HR" b="1" dirty="0"/>
              <a:t>Cilj:</a:t>
            </a:r>
            <a:r>
              <a:rPr lang="hr-HR" dirty="0"/>
              <a:t> Odrediti potencijalne rizike koji mogu utjecati na projekt.</a:t>
            </a:r>
            <a:br>
              <a:rPr lang="hr-HR" dirty="0"/>
            </a:br>
            <a:r>
              <a:rPr lang="hr-HR" dirty="0"/>
              <a:t>✅ Ključne aktivnosti:</a:t>
            </a:r>
          </a:p>
          <a:p>
            <a:pPr marL="171450" indent="-171450">
              <a:buFont typeface="Arial" panose="020B0604020202020204" pitchFamily="34" charset="0"/>
              <a:buChar char="•"/>
            </a:pPr>
            <a:r>
              <a:rPr lang="hr-HR" dirty="0"/>
              <a:t>Koristiti </a:t>
            </a:r>
            <a:r>
              <a:rPr lang="hr-HR" b="1" dirty="0"/>
              <a:t>brainstorming, stručno prosuđivanje i kontrolne liste</a:t>
            </a:r>
          </a:p>
          <a:p>
            <a:pPr marL="171450" indent="-171450">
              <a:buFont typeface="Arial" panose="020B0604020202020204" pitchFamily="34" charset="0"/>
              <a:buChar char="•"/>
            </a:pPr>
            <a:r>
              <a:rPr lang="hr-HR" dirty="0"/>
              <a:t>Dokumentirati rizike u </a:t>
            </a:r>
            <a:r>
              <a:rPr lang="hr-HR" b="1" dirty="0"/>
              <a:t>registru rizika</a:t>
            </a:r>
          </a:p>
          <a:p>
            <a:pPr marL="171450" indent="-171450">
              <a:buFont typeface="Arial" panose="020B0604020202020204" pitchFamily="34" charset="0"/>
              <a:buChar char="•"/>
            </a:pPr>
            <a:r>
              <a:rPr lang="hr-HR" dirty="0"/>
              <a:t>Klasificirati rizike kao </a:t>
            </a:r>
            <a:r>
              <a:rPr lang="hr-HR" b="1" dirty="0"/>
              <a:t>interne, eksterne, tehničke ili operativne</a:t>
            </a:r>
          </a:p>
          <a:p>
            <a:pPr>
              <a:buNone/>
            </a:pPr>
            <a:r>
              <a:rPr lang="hr-HR" b="1" dirty="0"/>
              <a:t>1.3. Provesti kvalitativnu analizu rizika</a:t>
            </a:r>
            <a:br>
              <a:rPr lang="hr-HR" dirty="0"/>
            </a:br>
            <a:r>
              <a:rPr lang="hr-HR" b="1" dirty="0"/>
              <a:t>Cilj: </a:t>
            </a:r>
            <a:r>
              <a:rPr lang="hr-HR" dirty="0" err="1"/>
              <a:t>Prioritizirati</a:t>
            </a:r>
            <a:r>
              <a:rPr lang="hr-HR" dirty="0"/>
              <a:t> rizike prema vjerojatnosti i utjecaju.</a:t>
            </a:r>
            <a:br>
              <a:rPr lang="hr-HR" dirty="0"/>
            </a:br>
            <a:r>
              <a:rPr lang="hr-HR" dirty="0"/>
              <a:t>✅ Ključne aktivnosti:</a:t>
            </a:r>
          </a:p>
          <a:p>
            <a:pPr marL="171450" indent="-171450">
              <a:buFont typeface="Arial" panose="020B0604020202020204" pitchFamily="34" charset="0"/>
              <a:buChar char="•"/>
            </a:pPr>
            <a:r>
              <a:rPr lang="hr-HR" dirty="0"/>
              <a:t>Koristiti </a:t>
            </a:r>
            <a:r>
              <a:rPr lang="hr-HR" b="1" dirty="0"/>
              <a:t>matricu vjerojatnosti i utjecaja</a:t>
            </a:r>
          </a:p>
          <a:p>
            <a:pPr marL="171450" indent="-171450">
              <a:buFont typeface="Arial" panose="020B0604020202020204" pitchFamily="34" charset="0"/>
              <a:buChar char="•"/>
            </a:pPr>
            <a:r>
              <a:rPr lang="hr-HR" dirty="0"/>
              <a:t>Klasificirati rizike kao </a:t>
            </a:r>
            <a:r>
              <a:rPr lang="hr-HR" b="1" dirty="0"/>
              <a:t>visoke, srednje ili niske prioritete</a:t>
            </a:r>
          </a:p>
          <a:p>
            <a:pPr marL="171450" indent="-171450">
              <a:buFont typeface="Arial" panose="020B0604020202020204" pitchFamily="34" charset="0"/>
              <a:buChar char="•"/>
            </a:pPr>
            <a:r>
              <a:rPr lang="hr-HR" dirty="0"/>
              <a:t>Fokusirati se na </a:t>
            </a:r>
            <a:r>
              <a:rPr lang="hr-HR" b="1" dirty="0"/>
              <a:t>kritične rizike koji zahtijevaju hitnu pažnju</a:t>
            </a:r>
          </a:p>
          <a:p>
            <a:pPr>
              <a:buNone/>
            </a:pPr>
            <a:r>
              <a:rPr lang="hr-HR" b="1" dirty="0"/>
              <a:t>1.4. Provesti kvantitativnu analizu rizika (opcionalno – za složene projekte)</a:t>
            </a:r>
            <a:br>
              <a:rPr lang="hr-HR" dirty="0"/>
            </a:br>
            <a:r>
              <a:rPr lang="hr-HR" b="1" dirty="0"/>
              <a:t>Cilj:</a:t>
            </a:r>
            <a:r>
              <a:rPr lang="hr-HR" dirty="0"/>
              <a:t> Dodijeliti numeričke vrijednosti rizicima za dublju analizu.</a:t>
            </a:r>
            <a:br>
              <a:rPr lang="hr-HR" dirty="0"/>
            </a:br>
            <a:r>
              <a:rPr lang="hr-HR" dirty="0"/>
              <a:t>✅ Ključne aktivnosti:</a:t>
            </a:r>
          </a:p>
          <a:p>
            <a:pPr marL="171450" indent="-171450">
              <a:buFont typeface="Arial" panose="020B0604020202020204" pitchFamily="34" charset="0"/>
              <a:buChar char="•"/>
            </a:pPr>
            <a:r>
              <a:rPr lang="hr-HR" dirty="0"/>
              <a:t>Koristiti </a:t>
            </a:r>
            <a:r>
              <a:rPr lang="hr-HR" b="1" dirty="0"/>
              <a:t>Monte Carlo simulaciju </a:t>
            </a:r>
            <a:r>
              <a:rPr lang="hr-HR" dirty="0"/>
              <a:t>i </a:t>
            </a:r>
            <a:r>
              <a:rPr lang="hr-HR" b="1" dirty="0"/>
              <a:t>analizu stabla odlučivanja</a:t>
            </a:r>
          </a:p>
          <a:p>
            <a:pPr marL="171450" indent="-171450">
              <a:buFont typeface="Arial" panose="020B0604020202020204" pitchFamily="34" charset="0"/>
              <a:buChar char="•"/>
            </a:pPr>
            <a:r>
              <a:rPr lang="hr-HR" dirty="0"/>
              <a:t>Kvantificirati potencijalne utjecaje na troškove i raspored</a:t>
            </a:r>
          </a:p>
          <a:p>
            <a:pPr marL="171450" indent="-171450">
              <a:buFont typeface="Arial" panose="020B0604020202020204" pitchFamily="34" charset="0"/>
              <a:buChar char="•"/>
            </a:pPr>
            <a:r>
              <a:rPr lang="hr-HR" dirty="0"/>
              <a:t>Izračunati </a:t>
            </a:r>
            <a:r>
              <a:rPr lang="hr-HR" b="1" dirty="0"/>
              <a:t>očekivanu novčanu vrijednost (EMV)</a:t>
            </a:r>
            <a:r>
              <a:rPr lang="hr-HR" dirty="0"/>
              <a:t> rizika</a:t>
            </a:r>
          </a:p>
          <a:p>
            <a:pPr>
              <a:buNone/>
            </a:pPr>
            <a:r>
              <a:rPr lang="hr-HR" b="1" dirty="0"/>
              <a:t>1.5. Planirati odgovore na rizike</a:t>
            </a:r>
            <a:br>
              <a:rPr lang="hr-HR" dirty="0"/>
            </a:br>
            <a:r>
              <a:rPr lang="hr-HR" b="1" dirty="0"/>
              <a:t>Cilj: </a:t>
            </a:r>
            <a:r>
              <a:rPr lang="hr-HR" dirty="0"/>
              <a:t>Razviti strategije za učinkovito upravljanje rizicima.</a:t>
            </a:r>
            <a:br>
              <a:rPr lang="hr-HR" dirty="0"/>
            </a:br>
            <a:r>
              <a:rPr lang="hr-HR" dirty="0"/>
              <a:t>✅ Strategije odgovora na rizike:</a:t>
            </a:r>
          </a:p>
          <a:p>
            <a:pPr marL="171450" indent="-171450">
              <a:buFont typeface="Arial" panose="020B0604020202020204" pitchFamily="34" charset="0"/>
              <a:buChar char="•"/>
            </a:pPr>
            <a:r>
              <a:rPr lang="hr-HR" b="1" dirty="0"/>
              <a:t>Izbjegavanje</a:t>
            </a:r>
            <a:r>
              <a:rPr lang="hr-HR" dirty="0"/>
              <a:t> – Ukloniti rizik u potpunosti (npr. promjenom opsega projekta).</a:t>
            </a:r>
          </a:p>
          <a:p>
            <a:pPr marL="171450" indent="-171450">
              <a:buFont typeface="Arial" panose="020B0604020202020204" pitchFamily="34" charset="0"/>
              <a:buChar char="•"/>
            </a:pPr>
            <a:r>
              <a:rPr lang="hr-HR" b="1" dirty="0"/>
              <a:t>Ublažavanje</a:t>
            </a:r>
            <a:r>
              <a:rPr lang="hr-HR" dirty="0"/>
              <a:t> – Smanjiti vjerojatnost ili utjecaj (npr. dodavanjem faza testiranja).</a:t>
            </a:r>
          </a:p>
          <a:p>
            <a:pPr marL="171450" indent="-171450">
              <a:buFont typeface="Arial" panose="020B0604020202020204" pitchFamily="34" charset="0"/>
              <a:buChar char="•"/>
            </a:pPr>
            <a:r>
              <a:rPr lang="hr-HR" b="1" dirty="0"/>
              <a:t>Prijenos</a:t>
            </a:r>
            <a:r>
              <a:rPr lang="hr-HR" dirty="0"/>
              <a:t> – Prenijeti rizik na treću stranu (npr. outsourcing, osiguranje).</a:t>
            </a:r>
          </a:p>
          <a:p>
            <a:pPr marL="171450" indent="-171450">
              <a:buFont typeface="Arial" panose="020B0604020202020204" pitchFamily="34" charset="0"/>
              <a:buChar char="•"/>
            </a:pPr>
            <a:r>
              <a:rPr lang="hr-HR" b="1" dirty="0"/>
              <a:t>Prihvaćanje</a:t>
            </a:r>
            <a:r>
              <a:rPr lang="hr-HR" dirty="0"/>
              <a:t> – Ne poduzimati akciju, ali pratiti rizik (npr. planiranje rezervi).</a:t>
            </a:r>
          </a:p>
          <a:p>
            <a:pPr>
              <a:buNone/>
            </a:pPr>
            <a:r>
              <a:rPr lang="hr-HR" b="1" dirty="0"/>
              <a:t>1.6. Provesti odgovore na rizike</a:t>
            </a:r>
            <a:br>
              <a:rPr lang="hr-HR" dirty="0"/>
            </a:br>
            <a:r>
              <a:rPr lang="hr-HR" b="1" dirty="0"/>
              <a:t>Cilj: </a:t>
            </a:r>
            <a:r>
              <a:rPr lang="hr-HR" dirty="0"/>
              <a:t>Primijeniti strategije odgovora na rizike.</a:t>
            </a:r>
            <a:br>
              <a:rPr lang="hr-HR" dirty="0"/>
            </a:br>
            <a:r>
              <a:rPr lang="hr-HR" dirty="0"/>
              <a:t>✅ Ključne aktivnosti:</a:t>
            </a:r>
          </a:p>
          <a:p>
            <a:pPr marL="171450" indent="-171450">
              <a:buFont typeface="Arial" panose="020B0604020202020204" pitchFamily="34" charset="0"/>
              <a:buChar char="•"/>
            </a:pPr>
            <a:r>
              <a:rPr lang="hr-HR" dirty="0"/>
              <a:t>Dodijeliti vlasnike rizika odgovorne za praćenje i upravljanje rizicima</a:t>
            </a:r>
          </a:p>
          <a:p>
            <a:pPr marL="171450" indent="-171450">
              <a:buFont typeface="Arial" panose="020B0604020202020204" pitchFamily="34" charset="0"/>
              <a:buChar char="•"/>
            </a:pPr>
            <a:r>
              <a:rPr lang="hr-HR" dirty="0"/>
              <a:t>Provesti preventivne mjere za smanjenje utjecaja rizika</a:t>
            </a:r>
          </a:p>
          <a:p>
            <a:pPr marL="171450" indent="-171450">
              <a:buFont typeface="Arial" panose="020B0604020202020204" pitchFamily="34" charset="0"/>
              <a:buChar char="•"/>
            </a:pPr>
            <a:r>
              <a:rPr lang="hr-HR" dirty="0"/>
              <a:t>Ažurirati registar rizika s mjerama odgovora</a:t>
            </a:r>
          </a:p>
          <a:p>
            <a:pPr>
              <a:buNone/>
            </a:pPr>
            <a:r>
              <a:rPr lang="hr-HR" b="1" dirty="0"/>
              <a:t>1.7. Pratiti rizike</a:t>
            </a:r>
            <a:br>
              <a:rPr lang="hr-HR" dirty="0"/>
            </a:br>
            <a:r>
              <a:rPr lang="hr-HR" b="1" dirty="0"/>
              <a:t>Cilj:</a:t>
            </a:r>
            <a:r>
              <a:rPr lang="hr-HR" dirty="0"/>
              <a:t> Kontinuirano pratiti rizike tijekom životnog ciklusa projekta.</a:t>
            </a:r>
            <a:br>
              <a:rPr lang="hr-HR" dirty="0"/>
            </a:br>
            <a:r>
              <a:rPr lang="hr-HR" dirty="0"/>
              <a:t>✅ Ključne aktivnosti:</a:t>
            </a:r>
          </a:p>
          <a:p>
            <a:pPr marL="171450" indent="-171450">
              <a:buFont typeface="Arial" panose="020B0604020202020204" pitchFamily="34" charset="0"/>
              <a:buChar char="•"/>
            </a:pPr>
            <a:r>
              <a:rPr lang="hr-HR" dirty="0"/>
              <a:t>Provoditi redovite preglede rizika i ažurirati njihov status</a:t>
            </a:r>
          </a:p>
          <a:p>
            <a:pPr marL="171450" indent="-171450">
              <a:buFont typeface="Arial" panose="020B0604020202020204" pitchFamily="34" charset="0"/>
              <a:buChar char="•"/>
            </a:pPr>
            <a:r>
              <a:rPr lang="hr-HR" dirty="0"/>
              <a:t>Koristiti revizije rizika kako bi se osiguralo da planovi odgovora funkcioniraju</a:t>
            </a:r>
          </a:p>
          <a:p>
            <a:pPr marL="171450" indent="-171450">
              <a:buFont typeface="Arial" panose="020B0604020202020204" pitchFamily="34" charset="0"/>
              <a:buChar char="•"/>
            </a:pPr>
            <a:r>
              <a:rPr lang="hr-HR" dirty="0"/>
              <a:t>Prilagoditi strategije rizika na temelju novih prijetnji i prilika</a:t>
            </a:r>
          </a:p>
          <a:p>
            <a:pPr>
              <a:buFont typeface="+mj-lt"/>
              <a:buAutoNum type="arabicPeriod" startAt="2"/>
            </a:pPr>
            <a:r>
              <a:rPr lang="hr-HR" b="1" dirty="0"/>
              <a:t> Najbolje prakse upravljanja rizicima prema PMI-u</a:t>
            </a:r>
            <a:br>
              <a:rPr lang="hr-HR" dirty="0"/>
            </a:br>
            <a:r>
              <a:rPr lang="hr-HR" dirty="0"/>
              <a:t>📌 </a:t>
            </a:r>
            <a:r>
              <a:rPr lang="hr-HR" b="1" dirty="0"/>
              <a:t>Rano identificiranje rizika </a:t>
            </a:r>
            <a:r>
              <a:rPr lang="hr-HR" dirty="0"/>
              <a:t>– Identificirati rizike što je ranije moguće.</a:t>
            </a:r>
            <a:br>
              <a:rPr lang="hr-HR" dirty="0"/>
            </a:br>
            <a:r>
              <a:rPr lang="hr-HR" dirty="0"/>
              <a:t>📌 </a:t>
            </a:r>
            <a:r>
              <a:rPr lang="hr-HR" b="1" dirty="0"/>
              <a:t>Uključenost dionika </a:t>
            </a:r>
            <a:r>
              <a:rPr lang="hr-HR" dirty="0"/>
              <a:t>– Uključiti ključne dionike u rasprave o rizicima.</a:t>
            </a:r>
            <a:br>
              <a:rPr lang="hr-HR" dirty="0"/>
            </a:br>
            <a:r>
              <a:rPr lang="hr-HR" dirty="0"/>
              <a:t>📌 </a:t>
            </a:r>
            <a:r>
              <a:rPr lang="hr-HR" b="1" dirty="0"/>
              <a:t>Odluke temeljene na podacima </a:t>
            </a:r>
            <a:r>
              <a:rPr lang="hr-HR" dirty="0"/>
              <a:t>– Koristiti kvalitativne i kvantitativne analize.</a:t>
            </a:r>
            <a:br>
              <a:rPr lang="hr-HR" dirty="0"/>
            </a:br>
            <a:r>
              <a:rPr lang="hr-HR" dirty="0"/>
              <a:t>📌 </a:t>
            </a:r>
            <a:r>
              <a:rPr lang="hr-HR" b="1" dirty="0"/>
              <a:t>Kontinuirano praćenje </a:t>
            </a:r>
            <a:r>
              <a:rPr lang="hr-HR" dirty="0"/>
              <a:t>– Upravljanje rizicima je kontinuiran proces.</a:t>
            </a:r>
            <a:br>
              <a:rPr lang="hr-HR" dirty="0"/>
            </a:br>
            <a:r>
              <a:rPr lang="hr-HR" dirty="0"/>
              <a:t>📌 </a:t>
            </a:r>
            <a:r>
              <a:rPr lang="hr-HR" b="1" dirty="0"/>
              <a:t>Korištenje registra rizika </a:t>
            </a:r>
            <a:r>
              <a:rPr lang="hr-HR" dirty="0"/>
              <a:t>– Održavati centralni dokument za praćenje svih rizika.</a:t>
            </a:r>
          </a:p>
          <a:p>
            <a:pPr>
              <a:buFont typeface="+mj-lt"/>
              <a:buAutoNum type="arabicPeriod" startAt="2"/>
            </a:pPr>
            <a:endParaRPr lang="hr-HR" dirty="0"/>
          </a:p>
          <a:p>
            <a:pPr>
              <a:buFont typeface="+mj-lt"/>
              <a:buAutoNum type="arabicPeriod" startAt="2"/>
            </a:pPr>
            <a:r>
              <a:rPr lang="hr-HR" b="1" dirty="0"/>
              <a:t>Zaključak</a:t>
            </a:r>
            <a:br>
              <a:rPr lang="hr-HR" dirty="0"/>
            </a:br>
            <a:r>
              <a:rPr lang="hr-HR" b="1" dirty="0"/>
              <a:t>Strukturirani PMI-</a:t>
            </a:r>
            <a:r>
              <a:rPr lang="hr-HR" b="1" dirty="0" err="1"/>
              <a:t>jev</a:t>
            </a:r>
            <a:r>
              <a:rPr lang="hr-HR" b="1" dirty="0"/>
              <a:t> proces upravljanja rizicima </a:t>
            </a:r>
            <a:r>
              <a:rPr lang="hr-HR" dirty="0"/>
              <a:t>pomaže voditeljima projekata u predviđanju neizvjesnosti, pripremi planova odgovora i povećanju uspješnosti projekata. </a:t>
            </a:r>
            <a:r>
              <a:rPr lang="hr-HR" b="1" dirty="0"/>
              <a:t>Aktivnim upravljanjem rizicima projekti mogu ostati u okviru rasporeda, proračuna i očekivanja dionika</a:t>
            </a:r>
            <a:r>
              <a:rPr lang="hr-HR" dirty="0"/>
              <a:t>. 🚀</a:t>
            </a:r>
          </a:p>
          <a:p>
            <a:endParaRPr lang="en-US" dirty="0"/>
          </a:p>
        </p:txBody>
      </p:sp>
      <p:sp>
        <p:nvSpPr>
          <p:cNvPr id="4" name="Slide Number Placeholder 3">
            <a:extLst>
              <a:ext uri="{FF2B5EF4-FFF2-40B4-BE49-F238E27FC236}">
                <a16:creationId xmlns:a16="http://schemas.microsoft.com/office/drawing/2014/main" id="{3093FF6A-E557-FCE8-7FA8-FA54A5CD0D26}"/>
              </a:ext>
            </a:extLst>
          </p:cNvPr>
          <p:cNvSpPr>
            <a:spLocks noGrp="1"/>
          </p:cNvSpPr>
          <p:nvPr>
            <p:ph type="sldNum" sz="quarter" idx="5"/>
          </p:nvPr>
        </p:nvSpPr>
        <p:spPr/>
        <p:txBody>
          <a:bodyPr/>
          <a:lstStyle/>
          <a:p>
            <a:fld id="{860845E0-60C2-446A-9A7D-97133A17FFD2}" type="slidenum">
              <a:rPr lang="en-US" smtClean="0"/>
              <a:t>47</a:t>
            </a:fld>
            <a:endParaRPr lang="en-US"/>
          </a:p>
        </p:txBody>
      </p:sp>
    </p:spTree>
    <p:extLst>
      <p:ext uri="{BB962C8B-B14F-4D97-AF65-F5344CB8AC3E}">
        <p14:creationId xmlns:p14="http://schemas.microsoft.com/office/powerpoint/2010/main" val="7416890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FD42B-0350-63E7-A936-1425FF215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CB329-8050-8B59-B733-2F198D189D80}"/>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1C3795A2-F392-C12E-CBFB-2563F4D6F448}"/>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A8586D2B-3312-FBE3-C9B1-E07F21A712A5}"/>
              </a:ext>
            </a:extLst>
          </p:cNvPr>
          <p:cNvSpPr>
            <a:spLocks noGrp="1"/>
          </p:cNvSpPr>
          <p:nvPr>
            <p:ph type="sldNum" sz="quarter" idx="5"/>
          </p:nvPr>
        </p:nvSpPr>
        <p:spPr/>
        <p:txBody>
          <a:bodyPr/>
          <a:lstStyle/>
          <a:p>
            <a:fld id="{860845E0-60C2-446A-9A7D-97133A17FFD2}" type="slidenum">
              <a:rPr lang="en-US" smtClean="0"/>
              <a:t>48</a:t>
            </a:fld>
            <a:endParaRPr lang="en-US"/>
          </a:p>
        </p:txBody>
      </p:sp>
    </p:spTree>
    <p:extLst>
      <p:ext uri="{BB962C8B-B14F-4D97-AF65-F5344CB8AC3E}">
        <p14:creationId xmlns:p14="http://schemas.microsoft.com/office/powerpoint/2010/main" val="2255631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E1CC-935E-B2E2-80E8-49243E045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07FDA-1340-6920-C74B-2158B085993C}"/>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BD5CF497-7A18-DCC9-8682-53249546D4E4}"/>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5C8A4B1E-619C-AA37-C1E3-A5F82D969DA2}"/>
              </a:ext>
            </a:extLst>
          </p:cNvPr>
          <p:cNvSpPr>
            <a:spLocks noGrp="1"/>
          </p:cNvSpPr>
          <p:nvPr>
            <p:ph type="sldNum" sz="quarter" idx="5"/>
          </p:nvPr>
        </p:nvSpPr>
        <p:spPr/>
        <p:txBody>
          <a:bodyPr/>
          <a:lstStyle/>
          <a:p>
            <a:fld id="{860845E0-60C2-446A-9A7D-97133A17FFD2}" type="slidenum">
              <a:rPr lang="en-US" smtClean="0"/>
              <a:t>49</a:t>
            </a:fld>
            <a:endParaRPr lang="en-US"/>
          </a:p>
        </p:txBody>
      </p:sp>
    </p:spTree>
    <p:extLst>
      <p:ext uri="{BB962C8B-B14F-4D97-AF65-F5344CB8AC3E}">
        <p14:creationId xmlns:p14="http://schemas.microsoft.com/office/powerpoint/2010/main" val="24964898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7DB40-8D4F-6C20-5892-7434DDCC1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DCCDA-ABCD-2388-F50A-F6DD3970CD2E}"/>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6A32F740-86C5-97DC-BE39-31E2F8914980}"/>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8B6D4012-EE89-19B0-079B-FE14D1884F97}"/>
              </a:ext>
            </a:extLst>
          </p:cNvPr>
          <p:cNvSpPr>
            <a:spLocks noGrp="1"/>
          </p:cNvSpPr>
          <p:nvPr>
            <p:ph type="sldNum" sz="quarter" idx="5"/>
          </p:nvPr>
        </p:nvSpPr>
        <p:spPr/>
        <p:txBody>
          <a:bodyPr/>
          <a:lstStyle/>
          <a:p>
            <a:fld id="{860845E0-60C2-446A-9A7D-97133A17FFD2}" type="slidenum">
              <a:rPr lang="en-US" smtClean="0"/>
              <a:t>50</a:t>
            </a:fld>
            <a:endParaRPr lang="en-US"/>
          </a:p>
        </p:txBody>
      </p:sp>
    </p:spTree>
    <p:extLst>
      <p:ext uri="{BB962C8B-B14F-4D97-AF65-F5344CB8AC3E}">
        <p14:creationId xmlns:p14="http://schemas.microsoft.com/office/powerpoint/2010/main" val="22860513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51</a:t>
            </a:fld>
            <a:endParaRPr lang="en-US"/>
          </a:p>
        </p:txBody>
      </p:sp>
    </p:spTree>
    <p:extLst>
      <p:ext uri="{BB962C8B-B14F-4D97-AF65-F5344CB8AC3E}">
        <p14:creationId xmlns:p14="http://schemas.microsoft.com/office/powerpoint/2010/main" val="38356945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o-R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0845E0-60C2-446A-9A7D-97133A17FFD2}" type="slidenum">
              <a:rPr lang="en-US" smtClean="0"/>
              <a:t>52</a:t>
            </a:fld>
            <a:endParaRPr lang="en-US"/>
          </a:p>
        </p:txBody>
      </p:sp>
    </p:spTree>
    <p:extLst>
      <p:ext uri="{BB962C8B-B14F-4D97-AF65-F5344CB8AC3E}">
        <p14:creationId xmlns:p14="http://schemas.microsoft.com/office/powerpoint/2010/main" val="29117014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D1365-4322-AE73-FF52-34CA22C24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05C24-5477-42CB-CFC9-9ACAD2928EB3}"/>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A6209132-E75E-9B19-F7CE-4F619A2449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68BAB-22F5-4852-7A3A-11580FC3D143}"/>
              </a:ext>
            </a:extLst>
          </p:cNvPr>
          <p:cNvSpPr>
            <a:spLocks noGrp="1"/>
          </p:cNvSpPr>
          <p:nvPr>
            <p:ph type="sldNum" sz="quarter" idx="5"/>
          </p:nvPr>
        </p:nvSpPr>
        <p:spPr/>
        <p:txBody>
          <a:bodyPr/>
          <a:lstStyle/>
          <a:p>
            <a:fld id="{860845E0-60C2-446A-9A7D-97133A17FFD2}" type="slidenum">
              <a:rPr lang="en-US" smtClean="0"/>
              <a:t>53</a:t>
            </a:fld>
            <a:endParaRPr lang="en-US"/>
          </a:p>
        </p:txBody>
      </p:sp>
    </p:spTree>
    <p:extLst>
      <p:ext uri="{BB962C8B-B14F-4D97-AF65-F5344CB8AC3E}">
        <p14:creationId xmlns:p14="http://schemas.microsoft.com/office/powerpoint/2010/main" val="7896593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EA6A0-96B4-71E1-6A55-0B056002A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81E8D-57A7-16D3-A51B-8831C6EC066D}"/>
              </a:ext>
            </a:extLst>
          </p:cNvPr>
          <p:cNvSpPr>
            <a:spLocks noGrp="1" noRot="1" noChangeAspect="1"/>
          </p:cNvSpPr>
          <p:nvPr>
            <p:ph type="sldImg"/>
          </p:nvPr>
        </p:nvSpPr>
        <p:spPr/>
        <p:txBody>
          <a:bodyPr/>
          <a:lstStyle/>
          <a:p>
            <a:endParaRPr lang="ro-RO"/>
          </a:p>
        </p:txBody>
      </p:sp>
      <p:sp>
        <p:nvSpPr>
          <p:cNvPr id="3" name="Notes Placeholder 2">
            <a:extLst>
              <a:ext uri="{FF2B5EF4-FFF2-40B4-BE49-F238E27FC236}">
                <a16:creationId xmlns:a16="http://schemas.microsoft.com/office/drawing/2014/main" id="{BBF9C6F5-1ECA-2D71-A852-6C9441731F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9E97EE-6751-31C9-9F21-F3D13A1DDC78}"/>
              </a:ext>
            </a:extLst>
          </p:cNvPr>
          <p:cNvSpPr>
            <a:spLocks noGrp="1"/>
          </p:cNvSpPr>
          <p:nvPr>
            <p:ph type="sldNum" sz="quarter" idx="5"/>
          </p:nvPr>
        </p:nvSpPr>
        <p:spPr/>
        <p:txBody>
          <a:bodyPr/>
          <a:lstStyle/>
          <a:p>
            <a:fld id="{860845E0-60C2-446A-9A7D-97133A17FFD2}" type="slidenum">
              <a:rPr lang="en-US" smtClean="0"/>
              <a:t>54</a:t>
            </a:fld>
            <a:endParaRPr lang="en-US"/>
          </a:p>
        </p:txBody>
      </p:sp>
    </p:spTree>
    <p:extLst>
      <p:ext uri="{BB962C8B-B14F-4D97-AF65-F5344CB8AC3E}">
        <p14:creationId xmlns:p14="http://schemas.microsoft.com/office/powerpoint/2010/main" val="28665599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55</a:t>
            </a:fld>
            <a:endParaRPr lang="en-US"/>
          </a:p>
        </p:txBody>
      </p:sp>
    </p:spTree>
    <p:extLst>
      <p:ext uri="{BB962C8B-B14F-4D97-AF65-F5344CB8AC3E}">
        <p14:creationId xmlns:p14="http://schemas.microsoft.com/office/powerpoint/2010/main" val="2741410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txBody>
          <a:bodyPr/>
          <a:lstStyle/>
          <a:p>
            <a:endParaRPr lang="ro-RO"/>
          </a:p>
        </p:txBody>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60845E0-60C2-446A-9A7D-97133A17FFD2}" type="slidenum">
              <a:rPr lang="en-US" smtClean="0"/>
              <a:t>56</a:t>
            </a:fld>
            <a:endParaRPr lang="en-US"/>
          </a:p>
        </p:txBody>
      </p:sp>
    </p:spTree>
    <p:extLst>
      <p:ext uri="{BB962C8B-B14F-4D97-AF65-F5344CB8AC3E}">
        <p14:creationId xmlns:p14="http://schemas.microsoft.com/office/powerpoint/2010/main" val="2342715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Naslovni slajd">
    <p:spTree>
      <p:nvGrpSpPr>
        <p:cNvPr id="1" name=""/>
        <p:cNvGrpSpPr/>
        <p:nvPr/>
      </p:nvGrpSpPr>
      <p:grpSpPr>
        <a:xfrm>
          <a:off x="0" y="0"/>
          <a:ext cx="0" cy="0"/>
          <a:chOff x="0" y="0"/>
          <a:chExt cx="0" cy="0"/>
        </a:xfrm>
      </p:grpSpPr>
      <p:pic>
        <p:nvPicPr>
          <p:cNvPr id="4" name="Slika 3">
            <a:extLst>
              <a:ext uri="{FF2B5EF4-FFF2-40B4-BE49-F238E27FC236}">
                <a16:creationId xmlns:a16="http://schemas.microsoft.com/office/drawing/2014/main" id="{4911BAC4-6BC8-78C9-C3A0-3B8193B50B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2941421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Naslov i sadržaj">
    <p:spTree>
      <p:nvGrpSpPr>
        <p:cNvPr id="1" name=""/>
        <p:cNvGrpSpPr/>
        <p:nvPr/>
      </p:nvGrpSpPr>
      <p:grpSpPr>
        <a:xfrm>
          <a:off x="0" y="0"/>
          <a:ext cx="0" cy="0"/>
          <a:chOff x="0" y="0"/>
          <a:chExt cx="0" cy="0"/>
        </a:xfrm>
      </p:grpSpPr>
      <p:pic>
        <p:nvPicPr>
          <p:cNvPr id="7" name="Slika 6" descr="Slika na kojoj se prikazuje crta, snimka zaslona, dizajn&#10;&#10;Opis je automatski generiran">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558903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1_Dva sadržaja">
    <p:spTree>
      <p:nvGrpSpPr>
        <p:cNvPr id="1" name=""/>
        <p:cNvGrpSpPr/>
        <p:nvPr/>
      </p:nvGrpSpPr>
      <p:grpSpPr>
        <a:xfrm>
          <a:off x="0" y="0"/>
          <a:ext cx="0" cy="0"/>
          <a:chOff x="0" y="0"/>
          <a:chExt cx="0" cy="0"/>
        </a:xfrm>
      </p:grpSpPr>
      <p:pic>
        <p:nvPicPr>
          <p:cNvPr id="5" name="Slika 4" descr="Slika na kojoj se prikazuje crta, snimka zaslona, dizajn&#10;&#10;Opis je automatski generiran">
            <a:extLst>
              <a:ext uri="{FF2B5EF4-FFF2-40B4-BE49-F238E27FC236}">
                <a16:creationId xmlns:a16="http://schemas.microsoft.com/office/drawing/2014/main" id="{5FF10651-A88B-132B-AE77-005E725B18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2556830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Naslovni slaj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8A7D5785-C017-9CDE-887E-053A663A78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3811607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_Naslov i sadržaj">
    <p:spTree>
      <p:nvGrpSpPr>
        <p:cNvPr id="1" name=""/>
        <p:cNvGrpSpPr/>
        <p:nvPr/>
      </p:nvGrpSpPr>
      <p:grpSpPr>
        <a:xfrm>
          <a:off x="0" y="0"/>
          <a:ext cx="0" cy="0"/>
          <a:chOff x="0" y="0"/>
          <a:chExt cx="0" cy="0"/>
        </a:xfrm>
      </p:grpSpPr>
      <p:pic>
        <p:nvPicPr>
          <p:cNvPr id="5" name="Slika 4" descr="Slika na kojoj se prikazuje crta, alat, dizajn&#10;&#10;Opis je automatski generiran">
            <a:extLst>
              <a:ext uri="{FF2B5EF4-FFF2-40B4-BE49-F238E27FC236}">
                <a16:creationId xmlns:a16="http://schemas.microsoft.com/office/drawing/2014/main" id="{7174B7B0-D794-7A54-5CF6-E0A21E0E58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98932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78154B72-B9D9-7CC8-2522-C7E3F4476C3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638972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Naslovni slajd">
    <p:spTree>
      <p:nvGrpSpPr>
        <p:cNvPr id="1" name=""/>
        <p:cNvGrpSpPr/>
        <p:nvPr/>
      </p:nvGrpSpPr>
      <p:grpSpPr>
        <a:xfrm>
          <a:off x="0" y="0"/>
          <a:ext cx="0" cy="0"/>
          <a:chOff x="0" y="0"/>
          <a:chExt cx="0" cy="0"/>
        </a:xfrm>
      </p:grpSpPr>
      <p:pic>
        <p:nvPicPr>
          <p:cNvPr id="4" name="Slika 3">
            <a:extLst>
              <a:ext uri="{FF2B5EF4-FFF2-40B4-BE49-F238E27FC236}">
                <a16:creationId xmlns:a16="http://schemas.microsoft.com/office/drawing/2014/main" id="{5F67D23E-A28C-75D8-1345-0AB914675C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225255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_Naslov i sadržaj">
    <p:spTree>
      <p:nvGrpSpPr>
        <p:cNvPr id="1" name=""/>
        <p:cNvGrpSpPr/>
        <p:nvPr/>
      </p:nvGrpSpPr>
      <p:grpSpPr>
        <a:xfrm>
          <a:off x="0" y="0"/>
          <a:ext cx="0" cy="0"/>
          <a:chOff x="0" y="0"/>
          <a:chExt cx="0" cy="0"/>
        </a:xfrm>
      </p:grpSpPr>
      <p:pic>
        <p:nvPicPr>
          <p:cNvPr id="6" name="Slika 5" descr="Slika na kojoj se prikazuje ljubičasto, Magenta, Jorgovan, ljubičica&#10;&#10;Opis je automatski generiran">
            <a:extLst>
              <a:ext uri="{FF2B5EF4-FFF2-40B4-BE49-F238E27FC236}">
                <a16:creationId xmlns:a16="http://schemas.microsoft.com/office/drawing/2014/main" id="{35DF2062-AC53-CC06-3408-F03D9B95BB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226208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3_Dva sadržaja">
    <p:spTree>
      <p:nvGrpSpPr>
        <p:cNvPr id="1" name=""/>
        <p:cNvGrpSpPr/>
        <p:nvPr/>
      </p:nvGrpSpPr>
      <p:grpSpPr>
        <a:xfrm>
          <a:off x="0" y="0"/>
          <a:ext cx="0" cy="0"/>
          <a:chOff x="0" y="0"/>
          <a:chExt cx="0" cy="0"/>
        </a:xfrm>
      </p:grpSpPr>
      <p:pic>
        <p:nvPicPr>
          <p:cNvPr id="5" name="Slika 4" descr="Slika na kojoj se prikazuje ljubičasto, Magenta, Jorgovan, ljubičica&#10;&#10;Opis je automatski generiran">
            <a:extLst>
              <a:ext uri="{FF2B5EF4-FFF2-40B4-BE49-F238E27FC236}">
                <a16:creationId xmlns:a16="http://schemas.microsoft.com/office/drawing/2014/main" id="{9FAA237F-8481-A276-5DC5-A3FC50F5B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883575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Naslovni slajd">
    <p:spTree>
      <p:nvGrpSpPr>
        <p:cNvPr id="1" name=""/>
        <p:cNvGrpSpPr/>
        <p:nvPr/>
      </p:nvGrpSpPr>
      <p:grpSpPr>
        <a:xfrm>
          <a:off x="0" y="0"/>
          <a:ext cx="0" cy="0"/>
          <a:chOff x="0" y="0"/>
          <a:chExt cx="0" cy="0"/>
        </a:xfrm>
      </p:grpSpPr>
      <p:pic>
        <p:nvPicPr>
          <p:cNvPr id="4" name="Slika 3">
            <a:extLst>
              <a:ext uri="{FF2B5EF4-FFF2-40B4-BE49-F238E27FC236}">
                <a16:creationId xmlns:a16="http://schemas.microsoft.com/office/drawing/2014/main" id="{ACF3BB00-7BB7-10A7-AF1C-C068963059F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511350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4_Naslov i sadržaj">
    <p:spTree>
      <p:nvGrpSpPr>
        <p:cNvPr id="1" name=""/>
        <p:cNvGrpSpPr/>
        <p:nvPr/>
      </p:nvGrpSpPr>
      <p:grpSpPr>
        <a:xfrm>
          <a:off x="0" y="0"/>
          <a:ext cx="0" cy="0"/>
          <a:chOff x="0" y="0"/>
          <a:chExt cx="0" cy="0"/>
        </a:xfrm>
      </p:grpSpPr>
      <p:pic>
        <p:nvPicPr>
          <p:cNvPr id="5" name="Slika 4" descr="Slika na kojoj se prikazuje crta, dizajn&#10;&#10;Opis je automatski generiran">
            <a:extLst>
              <a:ext uri="{FF2B5EF4-FFF2-40B4-BE49-F238E27FC236}">
                <a16:creationId xmlns:a16="http://schemas.microsoft.com/office/drawing/2014/main" id="{B7D62D7D-7D80-2656-0C29-220AC7C0C0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911371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4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1FCDBB5E-C312-9CA7-3D6E-5B05ED0C9D08}"/>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3467470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4067097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9515881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4772481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830186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Naslovni slajd">
    <p:spTree>
      <p:nvGrpSpPr>
        <p:cNvPr id="1" name=""/>
        <p:cNvGrpSpPr/>
        <p:nvPr/>
      </p:nvGrpSpPr>
      <p:grpSpPr>
        <a:xfrm>
          <a:off x="0" y="0"/>
          <a:ext cx="0" cy="0"/>
          <a:chOff x="0" y="0"/>
          <a:chExt cx="0" cy="0"/>
        </a:xfrm>
      </p:grpSpPr>
      <p:pic>
        <p:nvPicPr>
          <p:cNvPr id="4" name="Slika 3">
            <a:extLst>
              <a:ext uri="{FF2B5EF4-FFF2-40B4-BE49-F238E27FC236}">
                <a16:creationId xmlns:a16="http://schemas.microsoft.com/office/drawing/2014/main" id="{ACF3BB00-7BB7-10A7-AF1C-C068963059F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30182678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ilagođeni izgled">
    <p:spTree>
      <p:nvGrpSpPr>
        <p:cNvPr id="1" name=""/>
        <p:cNvGrpSpPr/>
        <p:nvPr/>
      </p:nvGrpSpPr>
      <p:grpSpPr>
        <a:xfrm>
          <a:off x="0" y="0"/>
          <a:ext cx="0" cy="0"/>
          <a:chOff x="0" y="0"/>
          <a:chExt cx="0" cy="0"/>
        </a:xfrm>
      </p:grpSpPr>
      <p:pic>
        <p:nvPicPr>
          <p:cNvPr id="7" name="Slika 6" descr="Slika na kojoj se prikazuje crta, snimka zaslona, dijagram, dizajn">
            <a:extLst>
              <a:ext uri="{FF2B5EF4-FFF2-40B4-BE49-F238E27FC236}">
                <a16:creationId xmlns:a16="http://schemas.microsoft.com/office/drawing/2014/main" id="{3A63C51E-BBBB-22E4-3216-33F3A8DECE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AE0E3769-885C-635A-42E6-2DFD4C0884B2}"/>
              </a:ext>
            </a:extLst>
          </p:cNvPr>
          <p:cNvSpPr>
            <a:spLocks noGrp="1"/>
          </p:cNvSpPr>
          <p:nvPr>
            <p:ph type="title" hasCustomPrompt="1"/>
          </p:nvPr>
        </p:nvSpPr>
        <p:spPr/>
        <p:txBody>
          <a:bodyPr/>
          <a:lstStyle/>
          <a:p>
            <a:r>
              <a:rPr lang="hr-HR" dirty="0"/>
              <a:t>SUMMARY</a:t>
            </a:r>
          </a:p>
        </p:txBody>
      </p:sp>
    </p:spTree>
    <p:extLst>
      <p:ext uri="{BB962C8B-B14F-4D97-AF65-F5344CB8AC3E}">
        <p14:creationId xmlns:p14="http://schemas.microsoft.com/office/powerpoint/2010/main" val="648164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4_Naslov i sadržaj">
    <p:spTree>
      <p:nvGrpSpPr>
        <p:cNvPr id="1" name=""/>
        <p:cNvGrpSpPr/>
        <p:nvPr/>
      </p:nvGrpSpPr>
      <p:grpSpPr>
        <a:xfrm>
          <a:off x="0" y="0"/>
          <a:ext cx="0" cy="0"/>
          <a:chOff x="0" y="0"/>
          <a:chExt cx="0" cy="0"/>
        </a:xfrm>
      </p:grpSpPr>
      <p:pic>
        <p:nvPicPr>
          <p:cNvPr id="5" name="Slika 4" descr="Slika na kojoj se prikazuje crta, dizajn&#10;&#10;Opis je automatski generiran">
            <a:extLst>
              <a:ext uri="{FF2B5EF4-FFF2-40B4-BE49-F238E27FC236}">
                <a16:creationId xmlns:a16="http://schemas.microsoft.com/office/drawing/2014/main" id="{B7D62D7D-7D80-2656-0C29-220AC7C0C0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40449695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4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1FCDBB5E-C312-9CA7-3D6E-5B05ED0C9D08}"/>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27905004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23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912052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24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7597032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25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787780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26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443323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27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3"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1967791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28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3" cy="6857138"/>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0700560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1278330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6" Type="http://schemas.openxmlformats.org/officeDocument/2006/relationships/theme" Target="../theme/theme2.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30.4.2026.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5" r:id="rId5"/>
    <p:sldLayoutId id="2147483651" r:id="rId6"/>
    <p:sldLayoutId id="2147483660" r:id="rId7"/>
    <p:sldLayoutId id="2147483666" r:id="rId8"/>
    <p:sldLayoutId id="2147483652" r:id="rId9"/>
    <p:sldLayoutId id="2147483661" r:id="rId10"/>
    <p:sldLayoutId id="2147483667" r:id="rId11"/>
    <p:sldLayoutId id="2147483653" r:id="rId12"/>
    <p:sldLayoutId id="2147483662" r:id="rId13"/>
    <p:sldLayoutId id="2147483668" r:id="rId14"/>
    <p:sldLayoutId id="2147483654" r:id="rId15"/>
    <p:sldLayoutId id="2147483663" r:id="rId16"/>
    <p:sldLayoutId id="2147483669"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30.4.2026.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180652794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3" Type="http://schemas.openxmlformats.org/officeDocument/2006/relationships/hyperlink" Target="https://www.pmi.org/" TargetMode="External"/><Relationship Id="rId2" Type="http://schemas.openxmlformats.org/officeDocument/2006/relationships/notesSlide" Target="../notesSlides/notesSlide34.xml"/><Relationship Id="rId1" Type="http://schemas.openxmlformats.org/officeDocument/2006/relationships/slideLayout" Target="../slideLayouts/slideLayout31.xml"/><Relationship Id="rId6" Type="http://schemas.openxmlformats.org/officeDocument/2006/relationships/hyperlink" Target="https://youtu.be/yuH35ottILU?si=VmYxOOSz8N_SRSUT" TargetMode="External"/><Relationship Id="rId5" Type="http://schemas.openxmlformats.org/officeDocument/2006/relationships/hyperlink" Target="https://journals.sagepub.com/home/pmx" TargetMode="External"/><Relationship Id="rId4" Type="http://schemas.openxmlformats.org/officeDocument/2006/relationships/hyperlink" Target="https://www.pmi.org/pmbok-guide-standards/foundational/pmbok"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www.pmi.org/learning/thought-leadership/pulse" TargetMode="External"/><Relationship Id="rId2" Type="http://schemas.openxmlformats.org/officeDocument/2006/relationships/notesSlide" Target="../notesSlides/notesSlide35.xml"/><Relationship Id="rId1" Type="http://schemas.openxmlformats.org/officeDocument/2006/relationships/slideLayout" Target="../slideLayouts/slideLayout30.xml"/><Relationship Id="rId6" Type="http://schemas.openxmlformats.org/officeDocument/2006/relationships/hyperlink" Target="https://www.smartsheet.com/content/project-monitoring-control" TargetMode="External"/><Relationship Id="rId5" Type="http://schemas.openxmlformats.org/officeDocument/2006/relationships/hyperlink" Target="https://www.mindtools.com/pages/article/newPPM_87.htm" TargetMode="External"/><Relationship Id="rId4" Type="http://schemas.openxmlformats.org/officeDocument/2006/relationships/hyperlink" Target="https://www.atlassian.com/work-management/project-manage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lstStyle/>
          <a:p>
            <a:r>
              <a:rPr lang="fr-BE" dirty="0"/>
              <a:t>SHIFT4IT</a:t>
            </a:r>
            <a:endParaRPr lang="hr-HR" dirty="0"/>
          </a:p>
        </p:txBody>
      </p:sp>
      <p:sp>
        <p:nvSpPr>
          <p:cNvPr id="5" name="Podnaslov 4">
            <a:extLst>
              <a:ext uri="{FF2B5EF4-FFF2-40B4-BE49-F238E27FC236}">
                <a16:creationId xmlns:a16="http://schemas.microsoft.com/office/drawing/2014/main" id="{2D59F4E1-B531-21D4-1874-34304F7DAD4F}"/>
              </a:ext>
            </a:extLst>
          </p:cNvPr>
          <p:cNvSpPr>
            <a:spLocks noGrp="1"/>
          </p:cNvSpPr>
          <p:nvPr>
            <p:ph type="subTitle" idx="1"/>
          </p:nvPr>
        </p:nvSpPr>
        <p:spPr/>
        <p:txBody>
          <a:bodyPr/>
          <a:lstStyle/>
          <a:p>
            <a:r>
              <a:rPr lang="en-US" b="0" i="0" dirty="0">
                <a:solidFill>
                  <a:srgbClr val="000000"/>
                </a:solidFill>
                <a:effectLst/>
                <a:latin typeface="Nunito" pitchFamily="2" charset="0"/>
              </a:rPr>
              <a:t>Shifting the paradigm for women in IT sector</a:t>
            </a:r>
            <a:endParaRPr lang="hr-HR" dirty="0"/>
          </a:p>
        </p:txBody>
      </p:sp>
    </p:spTree>
    <p:extLst>
      <p:ext uri="{BB962C8B-B14F-4D97-AF65-F5344CB8AC3E}">
        <p14:creationId xmlns:p14="http://schemas.microsoft.com/office/powerpoint/2010/main" val="107504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13DF1749-1A1D-3164-354A-8D2A8109F7D1}"/>
              </a:ext>
            </a:extLst>
          </p:cNvPr>
          <p:cNvSpPr>
            <a:spLocks noGrp="1"/>
          </p:cNvSpPr>
          <p:nvPr>
            <p:ph type="ctrTitle"/>
          </p:nvPr>
        </p:nvSpPr>
        <p:spPr>
          <a:xfrm>
            <a:off x="2724011" y="2875581"/>
            <a:ext cx="9144000" cy="2387600"/>
          </a:xfrm>
        </p:spPr>
        <p:txBody>
          <a:bodyPr>
            <a:normAutofit/>
          </a:bodyPr>
          <a:lstStyle/>
          <a:p>
            <a:br>
              <a:rPr lang="ro-RO" dirty="0"/>
            </a:br>
            <a:br>
              <a:rPr lang="ro-RO" dirty="0"/>
            </a:br>
            <a:r>
              <a:rPr lang="hr-HR" sz="5000" b="1" dirty="0"/>
              <a:t>Izvršavanje zadataka</a:t>
            </a:r>
          </a:p>
        </p:txBody>
      </p:sp>
    </p:spTree>
    <p:extLst>
      <p:ext uri="{BB962C8B-B14F-4D97-AF65-F5344CB8AC3E}">
        <p14:creationId xmlns:p14="http://schemas.microsoft.com/office/powerpoint/2010/main" val="2623230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1DECF8D-6E84-91C4-43BD-A273D6DC3B09}"/>
              </a:ext>
            </a:extLst>
          </p:cNvPr>
          <p:cNvSpPr>
            <a:spLocks noGrp="1" noChangeArrowheads="1"/>
          </p:cNvSpPr>
          <p:nvPr>
            <p:ph type="title"/>
          </p:nvPr>
        </p:nvSpPr>
        <p:spPr bwMode="auto">
          <a:xfrm>
            <a:off x="796290" y="1869967"/>
            <a:ext cx="9467850" cy="4406343"/>
          </a:xfrm>
          <a:prstGeom prst="rect">
            <a:avLst/>
          </a:prstGeom>
          <a:solidFill>
            <a:schemeClr val="bg1"/>
          </a:solidFill>
          <a:ln>
            <a:noFill/>
          </a:ln>
          <a:effectLst/>
        </p:spPr>
        <p:txBody>
          <a:bodyPr vert="horz" wrap="square" lIns="0" tIns="-12696" rIns="0" bIns="-12696" numCol="1" anchor="ctr" anchorCtr="0" compatLnSpc="1">
            <a:prstTxWarp prst="textNoShape">
              <a:avLst/>
            </a:prstTxWarp>
            <a:spAutoFit/>
          </a:bodyPr>
          <a:lstStyle/>
          <a:p>
            <a:pPr algn="l" eaLnBrk="0" fontAlgn="base" hangingPunct="0">
              <a:lnSpc>
                <a:spcPct val="100000"/>
              </a:lnSpc>
              <a:spcAft>
                <a:spcPct val="0"/>
              </a:spcAft>
            </a:pPr>
            <a:r>
              <a:rPr lang="en-US" altLang="en-US" sz="2400" dirty="0">
                <a:solidFill>
                  <a:srgbClr val="1F1F1F"/>
                </a:solidFill>
                <a:latin typeface="Bahnschrift SemiLight" panose="020B0502040204020203" pitchFamily="34" charset="0"/>
                <a:cs typeface="Arial" panose="020B0604020202020204" pitchFamily="34" charset="0"/>
              </a:rPr>
              <a:t>1. Učinci </a:t>
            </a:r>
            <a:r>
              <a:rPr lang="en-US" altLang="en-US" sz="2400" dirty="0" err="1">
                <a:solidFill>
                  <a:srgbClr val="1F1F1F"/>
                </a:solidFill>
                <a:latin typeface="Bahnschrift SemiLight" panose="020B0502040204020203" pitchFamily="34" charset="0"/>
                <a:cs typeface="Arial" panose="020B0604020202020204" pitchFamily="34" charset="0"/>
              </a:rPr>
              <a:t>neplaniranih</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promjena</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opsega</a:t>
            </a:r>
            <a:r>
              <a:rPr lang="hr-HR" altLang="en-US" sz="2400" dirty="0">
                <a:solidFill>
                  <a:srgbClr val="1F1F1F"/>
                </a:solidFill>
                <a:latin typeface="Bahnschrift SemiLight" panose="020B0502040204020203" pitchFamily="34" charset="0"/>
                <a:cs typeface="Arial" panose="020B0604020202020204" pitchFamily="34" charset="0"/>
              </a:rPr>
              <a:t> (</a:t>
            </a:r>
            <a:r>
              <a:rPr lang="hr-HR" altLang="en-US" sz="2400" dirty="0" err="1">
                <a:solidFill>
                  <a:srgbClr val="1F1F1F"/>
                </a:solidFill>
                <a:latin typeface="Bahnschrift SemiLight" panose="020B0502040204020203" pitchFamily="34" charset="0"/>
                <a:cs typeface="Arial" panose="020B0604020202020204" pitchFamily="34" charset="0"/>
              </a:rPr>
              <a:t>scope</a:t>
            </a:r>
            <a:r>
              <a:rPr lang="hr-HR" altLang="en-US" sz="2400" dirty="0">
                <a:solidFill>
                  <a:srgbClr val="1F1F1F"/>
                </a:solidFill>
                <a:latin typeface="Bahnschrift SemiLight" panose="020B0502040204020203" pitchFamily="34" charset="0"/>
                <a:cs typeface="Arial" panose="020B0604020202020204" pitchFamily="34" charset="0"/>
              </a:rPr>
              <a:t>)</a:t>
            </a:r>
            <a:r>
              <a:rPr lang="en-US" altLang="en-US" sz="2400" dirty="0">
                <a:solidFill>
                  <a:srgbClr val="1F1F1F"/>
                </a:solidFill>
                <a:latin typeface="Bahnschrift SemiLight" panose="020B0502040204020203" pitchFamily="34" charset="0"/>
                <a:cs typeface="Arial" panose="020B0604020202020204" pitchFamily="34" charset="0"/>
              </a:rPr>
              <a:t> (1 h)</a:t>
            </a:r>
            <a:br>
              <a:rPr lang="en-US" altLang="en-US" sz="2400" dirty="0">
                <a:solidFill>
                  <a:srgbClr val="1F1F1F"/>
                </a:solidFill>
                <a:latin typeface="Bahnschrift SemiLight" panose="020B0502040204020203" pitchFamily="34" charset="0"/>
                <a:cs typeface="Arial" panose="020B0604020202020204" pitchFamily="34" charset="0"/>
              </a:rPr>
            </a:br>
            <a:br>
              <a:rPr lang="en-US" altLang="en-US" sz="2400" dirty="0">
                <a:solidFill>
                  <a:srgbClr val="1F1F1F"/>
                </a:solidFill>
                <a:latin typeface="Bahnschrift SemiLight" panose="020B0502040204020203" pitchFamily="34" charset="0"/>
                <a:cs typeface="Arial" panose="020B0604020202020204" pitchFamily="34" charset="0"/>
              </a:rPr>
            </a:br>
            <a:r>
              <a:rPr lang="en-US" altLang="en-US" sz="2400" dirty="0">
                <a:solidFill>
                  <a:srgbClr val="1F1F1F"/>
                </a:solidFill>
                <a:latin typeface="Bahnschrift SemiLight" panose="020B0502040204020203" pitchFamily="34" charset="0"/>
                <a:cs typeface="Arial" panose="020B0604020202020204" pitchFamily="34" charset="0"/>
              </a:rPr>
              <a:t>2. </a:t>
            </a:r>
            <a:r>
              <a:rPr lang="en-US" altLang="en-US" sz="2400" dirty="0" err="1">
                <a:solidFill>
                  <a:srgbClr val="1F1F1F"/>
                </a:solidFill>
                <a:latin typeface="Bahnschrift SemiLight" panose="020B0502040204020203" pitchFamily="34" charset="0"/>
                <a:cs typeface="Arial" panose="020B0604020202020204" pitchFamily="34" charset="0"/>
              </a:rPr>
              <a:t>Važnost</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praćenja</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rasporeda</a:t>
            </a:r>
            <a:r>
              <a:rPr lang="en-US" altLang="en-US" sz="2400" dirty="0">
                <a:solidFill>
                  <a:srgbClr val="1F1F1F"/>
                </a:solidFill>
                <a:latin typeface="Bahnschrift SemiLight" panose="020B0502040204020203" pitchFamily="34" charset="0"/>
                <a:cs typeface="Arial" panose="020B0604020202020204" pitchFamily="34" charset="0"/>
              </a:rPr>
              <a:t> (1 h)</a:t>
            </a:r>
            <a:br>
              <a:rPr lang="en-US" altLang="en-US" sz="2400" dirty="0">
                <a:solidFill>
                  <a:srgbClr val="1F1F1F"/>
                </a:solidFill>
                <a:latin typeface="Bahnschrift SemiLight" panose="020B0502040204020203" pitchFamily="34" charset="0"/>
                <a:cs typeface="Arial" panose="020B0604020202020204" pitchFamily="34" charset="0"/>
              </a:rPr>
            </a:br>
            <a:br>
              <a:rPr lang="en-US" altLang="en-US" sz="2400" dirty="0">
                <a:solidFill>
                  <a:srgbClr val="1F1F1F"/>
                </a:solidFill>
                <a:latin typeface="Bahnschrift SemiLight" panose="020B0502040204020203" pitchFamily="34" charset="0"/>
                <a:cs typeface="Arial" panose="020B0604020202020204" pitchFamily="34" charset="0"/>
              </a:rPr>
            </a:br>
            <a:r>
              <a:rPr lang="en-US" altLang="en-US" sz="2400" dirty="0">
                <a:solidFill>
                  <a:srgbClr val="1F1F1F"/>
                </a:solidFill>
                <a:latin typeface="Bahnschrift SemiLight" panose="020B0502040204020203" pitchFamily="34" charset="0"/>
                <a:cs typeface="Arial" panose="020B0604020202020204" pitchFamily="34" charset="0"/>
              </a:rPr>
              <a:t>3. Značaj </a:t>
            </a:r>
            <a:r>
              <a:rPr lang="en-US" altLang="en-US" sz="2400" dirty="0" err="1">
                <a:solidFill>
                  <a:srgbClr val="1F1F1F"/>
                </a:solidFill>
                <a:latin typeface="Bahnschrift SemiLight" panose="020B0502040204020203" pitchFamily="34" charset="0"/>
                <a:cs typeface="Arial" panose="020B0604020202020204" pitchFamily="34" charset="0"/>
              </a:rPr>
              <a:t>praćenja</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proračuna</a:t>
            </a:r>
            <a:r>
              <a:rPr lang="en-US" altLang="en-US" sz="2400" dirty="0">
                <a:solidFill>
                  <a:srgbClr val="1F1F1F"/>
                </a:solidFill>
                <a:latin typeface="Bahnschrift SemiLight" panose="020B0502040204020203" pitchFamily="34" charset="0"/>
                <a:cs typeface="Arial" panose="020B0604020202020204" pitchFamily="34" charset="0"/>
              </a:rPr>
              <a:t> (1 h)</a:t>
            </a:r>
            <a:br>
              <a:rPr lang="en-US" altLang="en-US" sz="2400" dirty="0">
                <a:solidFill>
                  <a:srgbClr val="1F1F1F"/>
                </a:solidFill>
                <a:latin typeface="Bahnschrift SemiLight" panose="020B0502040204020203" pitchFamily="34" charset="0"/>
                <a:cs typeface="Arial" panose="020B0604020202020204" pitchFamily="34" charset="0"/>
              </a:rPr>
            </a:br>
            <a:br>
              <a:rPr lang="en-US" altLang="en-US" sz="2400" dirty="0">
                <a:solidFill>
                  <a:srgbClr val="1F1F1F"/>
                </a:solidFill>
                <a:latin typeface="Bahnschrift SemiLight" panose="020B0502040204020203" pitchFamily="34" charset="0"/>
                <a:cs typeface="Arial" panose="020B0604020202020204" pitchFamily="34" charset="0"/>
              </a:rPr>
            </a:br>
            <a:r>
              <a:rPr lang="en-US" altLang="en-US" sz="2400" dirty="0">
                <a:solidFill>
                  <a:srgbClr val="1F1F1F"/>
                </a:solidFill>
                <a:latin typeface="Bahnschrift SemiLight" panose="020B0502040204020203" pitchFamily="34" charset="0"/>
                <a:cs typeface="Arial" panose="020B0604020202020204" pitchFamily="34" charset="0"/>
              </a:rPr>
              <a:t>4. </a:t>
            </a:r>
            <a:r>
              <a:rPr lang="en-US" altLang="en-US" sz="2400" dirty="0" err="1">
                <a:solidFill>
                  <a:srgbClr val="1F1F1F"/>
                </a:solidFill>
                <a:latin typeface="Bahnschrift SemiLight" panose="020B0502040204020203" pitchFamily="34" charset="0"/>
                <a:cs typeface="Arial" panose="020B0604020202020204" pitchFamily="34" charset="0"/>
              </a:rPr>
              <a:t>Osiguranje</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kvalitete</a:t>
            </a:r>
            <a:r>
              <a:rPr lang="en-US" altLang="en-US" sz="2400" dirty="0">
                <a:solidFill>
                  <a:srgbClr val="1F1F1F"/>
                </a:solidFill>
                <a:latin typeface="Bahnschrift SemiLight" panose="020B0502040204020203" pitchFamily="34" charset="0"/>
                <a:cs typeface="Arial" panose="020B0604020202020204" pitchFamily="34" charset="0"/>
              </a:rPr>
              <a:t> u </a:t>
            </a:r>
            <a:r>
              <a:rPr lang="en-US" altLang="en-US" sz="2400" dirty="0" err="1">
                <a:solidFill>
                  <a:srgbClr val="1F1F1F"/>
                </a:solidFill>
                <a:latin typeface="Bahnschrift SemiLight" panose="020B0502040204020203" pitchFamily="34" charset="0"/>
                <a:cs typeface="Arial" panose="020B0604020202020204" pitchFamily="34" charset="0"/>
              </a:rPr>
              <a:t>upravljanju</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projektima</a:t>
            </a:r>
            <a:r>
              <a:rPr lang="en-US" altLang="en-US" sz="2400" dirty="0">
                <a:solidFill>
                  <a:srgbClr val="1F1F1F"/>
                </a:solidFill>
                <a:latin typeface="Bahnschrift SemiLight" panose="020B0502040204020203" pitchFamily="34" charset="0"/>
                <a:cs typeface="Arial" panose="020B0604020202020204" pitchFamily="34" charset="0"/>
              </a:rPr>
              <a:t> (1 h)</a:t>
            </a:r>
            <a:br>
              <a:rPr lang="en-US" altLang="en-US" sz="2400" dirty="0">
                <a:solidFill>
                  <a:srgbClr val="1F1F1F"/>
                </a:solidFill>
                <a:latin typeface="Bahnschrift SemiLight" panose="020B0502040204020203" pitchFamily="34" charset="0"/>
                <a:cs typeface="Arial" panose="020B0604020202020204" pitchFamily="34" charset="0"/>
              </a:rPr>
            </a:br>
            <a:br>
              <a:rPr lang="en-US" altLang="en-US" sz="2400" dirty="0">
                <a:solidFill>
                  <a:srgbClr val="1F1F1F"/>
                </a:solidFill>
                <a:latin typeface="Bahnschrift SemiLight" panose="020B0502040204020203" pitchFamily="34" charset="0"/>
                <a:cs typeface="Arial" panose="020B0604020202020204" pitchFamily="34" charset="0"/>
              </a:rPr>
            </a:br>
            <a:r>
              <a:rPr lang="en-US" altLang="en-US" sz="2400" dirty="0">
                <a:solidFill>
                  <a:srgbClr val="1F1F1F"/>
                </a:solidFill>
                <a:latin typeface="Bahnschrift SemiLight" panose="020B0502040204020203" pitchFamily="34" charset="0"/>
                <a:cs typeface="Arial" panose="020B0604020202020204" pitchFamily="34" charset="0"/>
              </a:rPr>
              <a:t>5. </a:t>
            </a:r>
            <a:r>
              <a:rPr lang="en-US" altLang="en-US" sz="2400" dirty="0" err="1">
                <a:solidFill>
                  <a:srgbClr val="1F1F1F"/>
                </a:solidFill>
                <a:latin typeface="Bahnschrift SemiLight" panose="020B0502040204020203" pitchFamily="34" charset="0"/>
                <a:cs typeface="Arial" panose="020B0604020202020204" pitchFamily="34" charset="0"/>
              </a:rPr>
              <a:t>Važnost</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upravljanja</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promjenama</a:t>
            </a:r>
            <a:r>
              <a:rPr lang="en-US" altLang="en-US" sz="2400" dirty="0">
                <a:solidFill>
                  <a:srgbClr val="1F1F1F"/>
                </a:solidFill>
                <a:latin typeface="Bahnschrift SemiLight" panose="020B0502040204020203" pitchFamily="34" charset="0"/>
                <a:cs typeface="Arial" panose="020B0604020202020204" pitchFamily="34" charset="0"/>
              </a:rPr>
              <a:t> u </a:t>
            </a:r>
            <a:r>
              <a:rPr lang="en-US" altLang="en-US" sz="2400" dirty="0" err="1">
                <a:solidFill>
                  <a:srgbClr val="1F1F1F"/>
                </a:solidFill>
                <a:latin typeface="Bahnschrift SemiLight" panose="020B0502040204020203" pitchFamily="34" charset="0"/>
                <a:cs typeface="Arial" panose="020B0604020202020204" pitchFamily="34" charset="0"/>
              </a:rPr>
              <a:t>projektima</a:t>
            </a:r>
            <a:r>
              <a:rPr lang="en-US" altLang="en-US" sz="2400" dirty="0">
                <a:solidFill>
                  <a:srgbClr val="1F1F1F"/>
                </a:solidFill>
                <a:latin typeface="Bahnschrift SemiLight" panose="020B0502040204020203" pitchFamily="34" charset="0"/>
                <a:cs typeface="Arial" panose="020B0604020202020204" pitchFamily="34" charset="0"/>
              </a:rPr>
              <a:t> (1 h)</a:t>
            </a:r>
            <a:br>
              <a:rPr lang="en-US" altLang="en-US" sz="2400" dirty="0">
                <a:solidFill>
                  <a:srgbClr val="1F1F1F"/>
                </a:solidFill>
                <a:latin typeface="Bahnschrift SemiLight" panose="020B0502040204020203" pitchFamily="34" charset="0"/>
                <a:cs typeface="Arial" panose="020B0604020202020204" pitchFamily="34" charset="0"/>
              </a:rPr>
            </a:br>
            <a:br>
              <a:rPr lang="en-US" altLang="en-US" sz="2400" dirty="0">
                <a:solidFill>
                  <a:srgbClr val="1F1F1F"/>
                </a:solidFill>
                <a:latin typeface="Bahnschrift SemiLight" panose="020B0502040204020203" pitchFamily="34" charset="0"/>
                <a:cs typeface="Arial" panose="020B0604020202020204" pitchFamily="34" charset="0"/>
              </a:rPr>
            </a:br>
            <a:r>
              <a:rPr lang="en-US" altLang="en-US" sz="2400" dirty="0">
                <a:solidFill>
                  <a:srgbClr val="1F1F1F"/>
                </a:solidFill>
                <a:latin typeface="Bahnschrift SemiLight" panose="020B0502040204020203" pitchFamily="34" charset="0"/>
                <a:cs typeface="Arial" panose="020B0604020202020204" pitchFamily="34" charset="0"/>
              </a:rPr>
              <a:t>6. </a:t>
            </a:r>
            <a:r>
              <a:rPr lang="en-US" altLang="en-US" sz="2400" dirty="0" err="1">
                <a:solidFill>
                  <a:srgbClr val="1F1F1F"/>
                </a:solidFill>
                <a:latin typeface="Bahnschrift SemiLight" panose="020B0502040204020203" pitchFamily="34" charset="0"/>
                <a:cs typeface="Arial" panose="020B0604020202020204" pitchFamily="34" charset="0"/>
              </a:rPr>
              <a:t>Važnost</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upravljanja</a:t>
            </a:r>
            <a:r>
              <a:rPr lang="en-US" altLang="en-US" sz="2400" dirty="0">
                <a:solidFill>
                  <a:srgbClr val="1F1F1F"/>
                </a:solidFill>
                <a:latin typeface="Bahnschrift SemiLight" panose="020B0502040204020203" pitchFamily="34" charset="0"/>
                <a:cs typeface="Arial" panose="020B0604020202020204" pitchFamily="34" charset="0"/>
              </a:rPr>
              <a:t> </a:t>
            </a:r>
            <a:r>
              <a:rPr lang="en-US" altLang="en-US" sz="2400" dirty="0" err="1">
                <a:solidFill>
                  <a:srgbClr val="1F1F1F"/>
                </a:solidFill>
                <a:latin typeface="Bahnschrift SemiLight" panose="020B0502040204020203" pitchFamily="34" charset="0"/>
                <a:cs typeface="Arial" panose="020B0604020202020204" pitchFamily="34" charset="0"/>
              </a:rPr>
              <a:t>rizicima</a:t>
            </a:r>
            <a:r>
              <a:rPr lang="en-US" altLang="en-US" sz="2400" dirty="0">
                <a:solidFill>
                  <a:srgbClr val="1F1F1F"/>
                </a:solidFill>
                <a:latin typeface="Bahnschrift SemiLight" panose="020B0502040204020203" pitchFamily="34" charset="0"/>
                <a:cs typeface="Arial" panose="020B0604020202020204" pitchFamily="34" charset="0"/>
              </a:rPr>
              <a:t> u </a:t>
            </a:r>
            <a:r>
              <a:rPr lang="en-US" altLang="en-US" sz="2400" dirty="0" err="1">
                <a:solidFill>
                  <a:srgbClr val="1F1F1F"/>
                </a:solidFill>
                <a:latin typeface="Bahnschrift SemiLight" panose="020B0502040204020203" pitchFamily="34" charset="0"/>
                <a:cs typeface="Arial" panose="020B0604020202020204" pitchFamily="34" charset="0"/>
              </a:rPr>
              <a:t>projektima</a:t>
            </a:r>
            <a:r>
              <a:rPr lang="en-US" altLang="en-US" sz="2400" dirty="0">
                <a:solidFill>
                  <a:srgbClr val="1F1F1F"/>
                </a:solidFill>
                <a:latin typeface="Bahnschrift SemiLight" panose="020B0502040204020203" pitchFamily="34" charset="0"/>
                <a:cs typeface="Arial" panose="020B0604020202020204" pitchFamily="34" charset="0"/>
              </a:rPr>
              <a:t> (1 h)</a:t>
            </a:r>
            <a:br>
              <a:rPr lang="en-US" altLang="en-US" sz="2400" dirty="0">
                <a:solidFill>
                  <a:srgbClr val="1F1F1F"/>
                </a:solidFill>
                <a:latin typeface="Bahnschrift SemiLight" panose="020B0502040204020203" pitchFamily="34" charset="0"/>
                <a:cs typeface="Arial" panose="020B0604020202020204" pitchFamily="34" charset="0"/>
              </a:rPr>
            </a:br>
            <a:endParaRPr kumimoji="0" lang="en-US" altLang="en-US" sz="2400" b="0" i="0" u="none" strike="noStrike" cap="none" normalizeH="0" baseline="0" dirty="0">
              <a:ln>
                <a:noFill/>
              </a:ln>
              <a:solidFill>
                <a:schemeClr val="tx1"/>
              </a:solidFill>
              <a:effectLst/>
              <a:latin typeface="Bahnschrift SemiLight" panose="020B0502040204020203" pitchFamily="34" charset="0"/>
              <a:cs typeface="Arial" panose="020B0604020202020204" pitchFamily="34" charset="0"/>
            </a:endParaRPr>
          </a:p>
        </p:txBody>
      </p:sp>
      <p:sp>
        <p:nvSpPr>
          <p:cNvPr id="5" name="TextBox 4">
            <a:extLst>
              <a:ext uri="{FF2B5EF4-FFF2-40B4-BE49-F238E27FC236}">
                <a16:creationId xmlns:a16="http://schemas.microsoft.com/office/drawing/2014/main" id="{570ECF99-E624-738F-8E5E-81BC8BE6E325}"/>
              </a:ext>
            </a:extLst>
          </p:cNvPr>
          <p:cNvSpPr txBox="1"/>
          <p:nvPr/>
        </p:nvSpPr>
        <p:spPr>
          <a:xfrm>
            <a:off x="896995" y="581690"/>
            <a:ext cx="6097904" cy="646331"/>
          </a:xfrm>
          <a:prstGeom prst="rect">
            <a:avLst/>
          </a:prstGeom>
          <a:noFill/>
        </p:spPr>
        <p:txBody>
          <a:bodyPr wrap="square">
            <a:spAutoFit/>
          </a:bodyPr>
          <a:lstStyle/>
          <a:p>
            <a:r>
              <a:rPr lang="hr-HR" sz="3600" dirty="0">
                <a:latin typeface="Bahnschrift SemiBold"/>
              </a:rPr>
              <a:t>S</a:t>
            </a:r>
            <a:r>
              <a:rPr lang="en-US" sz="3600" dirty="0" err="1">
                <a:latin typeface="Bahnschrift SemiBold"/>
              </a:rPr>
              <a:t>ažetak</a:t>
            </a:r>
            <a:endParaRPr lang="en-US" sz="3600" dirty="0">
              <a:latin typeface="Bahnschrift SemiBold"/>
            </a:endParaRPr>
          </a:p>
        </p:txBody>
      </p:sp>
    </p:spTree>
    <p:extLst>
      <p:ext uri="{BB962C8B-B14F-4D97-AF65-F5344CB8AC3E}">
        <p14:creationId xmlns:p14="http://schemas.microsoft.com/office/powerpoint/2010/main" val="1289221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2AA6-1E9F-A2C3-3813-1EF5FF0BD372}"/>
            </a:ext>
          </a:extLst>
        </p:cNvPr>
        <p:cNvGrpSpPr/>
        <p:nvPr/>
      </p:nvGrpSpPr>
      <p:grpSpPr>
        <a:xfrm>
          <a:off x="0" y="0"/>
          <a:ext cx="0" cy="0"/>
          <a:chOff x="0" y="0"/>
          <a:chExt cx="0" cy="0"/>
        </a:xfrm>
      </p:grpSpPr>
      <p:sp>
        <p:nvSpPr>
          <p:cNvPr id="4" name="Naslov 3">
            <a:extLst>
              <a:ext uri="{FF2B5EF4-FFF2-40B4-BE49-F238E27FC236}">
                <a16:creationId xmlns:a16="http://schemas.microsoft.com/office/drawing/2014/main" id="{D1EC24C1-8AAE-18C1-BE59-53E8E2103662}"/>
              </a:ext>
            </a:extLst>
          </p:cNvPr>
          <p:cNvSpPr>
            <a:spLocks noGrp="1"/>
          </p:cNvSpPr>
          <p:nvPr>
            <p:ph type="ctrTitle"/>
          </p:nvPr>
        </p:nvSpPr>
        <p:spPr>
          <a:xfrm>
            <a:off x="2879515" y="2038182"/>
            <a:ext cx="9144000" cy="2387600"/>
          </a:xfrm>
        </p:spPr>
        <p:txBody>
          <a:bodyPr>
            <a:normAutofit/>
          </a:bodyPr>
          <a:lstStyle/>
          <a:p>
            <a:r>
              <a:rPr lang="en-US" b="1" dirty="0">
                <a:solidFill>
                  <a:prstClr val="black"/>
                </a:solidFill>
              </a:rPr>
              <a:t>IZVRŠAVANJE ZADATAKA</a:t>
            </a:r>
            <a:br>
              <a:rPr lang="en-US" sz="4800" b="1" dirty="0">
                <a:latin typeface="Bahnschrift SemiLight" panose="020B0502040204020203" pitchFamily="34" charset="0"/>
              </a:rPr>
            </a:br>
            <a:endParaRPr lang="hr-HR" sz="4800" dirty="0">
              <a:latin typeface="Bahnschrift SemiLight" panose="020B0502040204020203" pitchFamily="34" charset="0"/>
            </a:endParaRPr>
          </a:p>
        </p:txBody>
      </p:sp>
      <p:sp>
        <p:nvSpPr>
          <p:cNvPr id="5" name="Podnaslov 4">
            <a:extLst>
              <a:ext uri="{FF2B5EF4-FFF2-40B4-BE49-F238E27FC236}">
                <a16:creationId xmlns:a16="http://schemas.microsoft.com/office/drawing/2014/main" id="{40030248-DCEA-913D-14AD-9F59B5C79460}"/>
              </a:ext>
            </a:extLst>
          </p:cNvPr>
          <p:cNvSpPr>
            <a:spLocks noGrp="1"/>
          </p:cNvSpPr>
          <p:nvPr>
            <p:ph type="subTitle" idx="4294967295"/>
          </p:nvPr>
        </p:nvSpPr>
        <p:spPr>
          <a:xfrm>
            <a:off x="4136707" y="4615012"/>
            <a:ext cx="7886808" cy="771525"/>
          </a:xfrm>
          <a:solidFill>
            <a:schemeClr val="bg1"/>
          </a:solidFill>
        </p:spPr>
        <p:txBody>
          <a:bodyPr>
            <a:noAutofit/>
          </a:bodyPr>
          <a:lstStyle/>
          <a:p>
            <a:pPr marL="0" indent="0" algn="r">
              <a:buNone/>
            </a:pPr>
            <a:r>
              <a:rPr lang="en-US" sz="3400" dirty="0">
                <a:latin typeface="Bahnschrift" panose="020B0502040204020203" pitchFamily="34" charset="0"/>
                <a:ea typeface="+mj-ea"/>
                <a:cs typeface="+mj-cs"/>
              </a:rPr>
              <a:t>Učinci </a:t>
            </a:r>
            <a:r>
              <a:rPr lang="en-US" sz="3400" dirty="0" err="1">
                <a:latin typeface="Bahnschrift" panose="020B0502040204020203" pitchFamily="34" charset="0"/>
                <a:ea typeface="+mj-ea"/>
                <a:cs typeface="+mj-cs"/>
              </a:rPr>
              <a:t>neplaniranih</a:t>
            </a:r>
            <a:r>
              <a:rPr lang="en-US" sz="3400" dirty="0">
                <a:latin typeface="Bahnschrift" panose="020B0502040204020203" pitchFamily="34" charset="0"/>
                <a:ea typeface="+mj-ea"/>
                <a:cs typeface="+mj-cs"/>
              </a:rPr>
              <a:t> </a:t>
            </a:r>
            <a:r>
              <a:rPr lang="en-US" sz="3400" dirty="0" err="1">
                <a:latin typeface="Bahnschrift" panose="020B0502040204020203" pitchFamily="34" charset="0"/>
                <a:ea typeface="+mj-ea"/>
                <a:cs typeface="+mj-cs"/>
              </a:rPr>
              <a:t>promjena</a:t>
            </a:r>
            <a:r>
              <a:rPr lang="en-US" sz="3400" dirty="0">
                <a:latin typeface="Bahnschrift" panose="020B0502040204020203" pitchFamily="34" charset="0"/>
                <a:ea typeface="+mj-ea"/>
                <a:cs typeface="+mj-cs"/>
              </a:rPr>
              <a:t> </a:t>
            </a:r>
            <a:r>
              <a:rPr lang="en-US" sz="3400" dirty="0" err="1">
                <a:latin typeface="Bahnschrift" panose="020B0502040204020203" pitchFamily="34" charset="0"/>
                <a:ea typeface="+mj-ea"/>
                <a:cs typeface="+mj-cs"/>
              </a:rPr>
              <a:t>opsega</a:t>
            </a:r>
            <a:r>
              <a:rPr lang="en-US" sz="3400" dirty="0">
                <a:latin typeface="Bahnschrift" panose="020B0502040204020203" pitchFamily="34" charset="0"/>
                <a:ea typeface="+mj-ea"/>
                <a:cs typeface="+mj-cs"/>
              </a:rPr>
              <a:t> </a:t>
            </a:r>
          </a:p>
          <a:p>
            <a:endParaRPr lang="en-US" sz="3200" dirty="0">
              <a:solidFill>
                <a:srgbClr val="0070C0"/>
              </a:solidFill>
              <a:latin typeface="Bahnschrift SemiLight" panose="020B0502040204020203" pitchFamily="34" charset="0"/>
            </a:endParaRPr>
          </a:p>
          <a:p>
            <a:endParaRPr lang="hr-HR" sz="3200" dirty="0">
              <a:solidFill>
                <a:srgbClr val="0070C0"/>
              </a:solidFill>
              <a:latin typeface="Bahnschrift SemiLight" panose="020B0502040204020203" pitchFamily="34" charset="0"/>
            </a:endParaRPr>
          </a:p>
        </p:txBody>
      </p:sp>
    </p:spTree>
    <p:extLst>
      <p:ext uri="{BB962C8B-B14F-4D97-AF65-F5344CB8AC3E}">
        <p14:creationId xmlns:p14="http://schemas.microsoft.com/office/powerpoint/2010/main" val="830877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36CE-F4E1-C1C7-D054-047BCAD47953}"/>
              </a:ext>
            </a:extLst>
          </p:cNvPr>
          <p:cNvSpPr>
            <a:spLocks noGrp="1"/>
          </p:cNvSpPr>
          <p:nvPr>
            <p:ph type="title"/>
          </p:nvPr>
        </p:nvSpPr>
        <p:spPr/>
        <p:txBody>
          <a:bodyPr anchor="ctr">
            <a:normAutofit/>
          </a:bodyPr>
          <a:lstStyle/>
          <a:p>
            <a:br>
              <a:rPr lang="en-US" b="1" dirty="0">
                <a:latin typeface="Montserrat" panose="00000500000000000000" pitchFamily="2" charset="0"/>
              </a:rPr>
            </a:br>
            <a:endParaRPr lang="en-US" b="1" dirty="0">
              <a:latin typeface="Montserrat" panose="00000500000000000000" pitchFamily="2" charset="0"/>
            </a:endParaRPr>
          </a:p>
        </p:txBody>
      </p:sp>
      <p:sp>
        <p:nvSpPr>
          <p:cNvPr id="8" name="Rectangle 1">
            <a:extLst>
              <a:ext uri="{FF2B5EF4-FFF2-40B4-BE49-F238E27FC236}">
                <a16:creationId xmlns:a16="http://schemas.microsoft.com/office/drawing/2014/main" id="{34EFA878-5D94-3737-2213-973832634294}"/>
              </a:ext>
            </a:extLst>
          </p:cNvPr>
          <p:cNvSpPr>
            <a:spLocks noGrp="1" noChangeArrowheads="1"/>
          </p:cNvSpPr>
          <p:nvPr>
            <p:ph idx="1"/>
          </p:nvPr>
        </p:nvSpPr>
        <p:spPr bwMode="auto">
          <a:xfrm>
            <a:off x="643890" y="1912373"/>
            <a:ext cx="1070991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lang="en-US" altLang="en-US" sz="2400" b="1" dirty="0" err="1">
                <a:solidFill>
                  <a:srgbClr val="0ADBBC"/>
                </a:solidFill>
              </a:rPr>
              <a:t>Kašnjenja</a:t>
            </a:r>
            <a:r>
              <a:rPr lang="en-US" altLang="en-US" sz="2400" b="1" dirty="0">
                <a:solidFill>
                  <a:srgbClr val="0ADBBC"/>
                </a:solidFill>
              </a:rPr>
              <a:t> u </a:t>
            </a:r>
            <a:r>
              <a:rPr lang="en-US" altLang="en-US" sz="2400" b="1" dirty="0" err="1">
                <a:solidFill>
                  <a:srgbClr val="0ADBBC"/>
                </a:solidFill>
              </a:rPr>
              <a:t>rasporedu</a:t>
            </a:r>
            <a:r>
              <a:rPr lang="en-US" altLang="en-US" sz="2400" b="1" dirty="0">
                <a:solidFill>
                  <a:srgbClr val="0ADBBC"/>
                </a:solidFill>
              </a:rPr>
              <a:t>: </a:t>
            </a:r>
            <a:r>
              <a:rPr kumimoji="0" lang="en-US" altLang="en-US" sz="2400" b="0" i="0" u="none" strike="noStrike" cap="none" normalizeH="0" baseline="0" dirty="0" err="1">
                <a:ln>
                  <a:noFill/>
                </a:ln>
                <a:solidFill>
                  <a:schemeClr val="tx1"/>
                </a:solidFill>
                <a:effectLst/>
              </a:rPr>
              <a:t>Dodatni</a:t>
            </a:r>
            <a:r>
              <a:rPr kumimoji="0" lang="en-US" altLang="en-US" sz="2400" b="0" i="0" u="none" strike="noStrike" cap="none" normalizeH="0" baseline="0" dirty="0">
                <a:ln>
                  <a:noFill/>
                </a:ln>
                <a:solidFill>
                  <a:schemeClr val="tx1"/>
                </a:solidFill>
                <a:effectLst/>
              </a:rPr>
              <a:t> rad </a:t>
            </a:r>
            <a:r>
              <a:rPr kumimoji="0" lang="en-US" altLang="en-US" sz="2400" b="0" i="0" u="none" strike="noStrike" cap="none" normalizeH="0" baseline="0" dirty="0" err="1">
                <a:ln>
                  <a:noFill/>
                </a:ln>
                <a:solidFill>
                  <a:schemeClr val="tx1"/>
                </a:solidFill>
                <a:effectLst/>
              </a:rPr>
              <a:t>produljuje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trajanje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projekta</a:t>
            </a:r>
            <a:r>
              <a:rPr kumimoji="0" lang="en-US" altLang="en-US" sz="2400"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err="1">
                <a:ln>
                  <a:noFill/>
                </a:ln>
                <a:solidFill>
                  <a:srgbClr val="0FDCBD"/>
                </a:solidFill>
                <a:effectLst/>
              </a:rPr>
              <a:t>Povećani</a:t>
            </a:r>
            <a:r>
              <a:rPr kumimoji="0" lang="en-US" altLang="en-US" sz="2400" b="1" i="0" u="none" strike="noStrike" cap="none" normalizeH="0" baseline="0" dirty="0">
                <a:ln>
                  <a:noFill/>
                </a:ln>
                <a:solidFill>
                  <a:srgbClr val="0FDCBD"/>
                </a:solidFill>
                <a:effectLst/>
              </a:rPr>
              <a:t> </a:t>
            </a:r>
            <a:r>
              <a:rPr kumimoji="0" lang="en-US" altLang="en-US" sz="2400" b="1" i="0" u="none" strike="noStrike" cap="none" normalizeH="0" baseline="0" dirty="0" err="1">
                <a:ln>
                  <a:noFill/>
                </a:ln>
                <a:solidFill>
                  <a:srgbClr val="0FDCBD"/>
                </a:solidFill>
                <a:effectLst/>
              </a:rPr>
              <a:t>troškovi</a:t>
            </a:r>
            <a:r>
              <a:rPr kumimoji="0" lang="en-US" altLang="en-US" sz="2400" b="1" i="0" u="none" strike="noStrike" cap="none" normalizeH="0" baseline="0" dirty="0">
                <a:ln>
                  <a:noFill/>
                </a:ln>
                <a:solidFill>
                  <a:srgbClr val="0FDCBD"/>
                </a:solidFill>
                <a:effectLst/>
              </a:rPr>
              <a:t>:</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Potrebno</a:t>
            </a:r>
            <a:r>
              <a:rPr kumimoji="0" lang="en-US" altLang="en-US" sz="2400" b="0" i="0" u="none" strike="noStrike" cap="none" normalizeH="0" baseline="0" dirty="0">
                <a:ln>
                  <a:noFill/>
                </a:ln>
                <a:solidFill>
                  <a:schemeClr val="tx1"/>
                </a:solidFill>
                <a:effectLst/>
              </a:rPr>
              <a:t> je </a:t>
            </a:r>
            <a:r>
              <a:rPr kumimoji="0" lang="en-US" altLang="en-US" sz="2400" b="0" i="0" u="none" strike="noStrike" cap="none" normalizeH="0" baseline="0" dirty="0" err="1">
                <a:ln>
                  <a:noFill/>
                </a:ln>
                <a:solidFill>
                  <a:schemeClr val="tx1"/>
                </a:solidFill>
                <a:effectLst/>
              </a:rPr>
              <a:t>više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resursa</a:t>
            </a:r>
            <a:r>
              <a:rPr kumimoji="0" lang="en-US" altLang="en-US" sz="2400" b="0" i="0" u="none" strike="noStrike" cap="none" normalizeH="0" baseline="0" dirty="0">
                <a:ln>
                  <a:noFill/>
                </a:ln>
                <a:solidFill>
                  <a:schemeClr val="tx1"/>
                </a:solidFill>
                <a:effectLst/>
              </a:rPr>
              <a:t> i </a:t>
            </a:r>
            <a:r>
              <a:rPr kumimoji="0" lang="en-US" altLang="en-US" sz="2400" b="0" i="0" u="none" strike="noStrike" cap="none" normalizeH="0" baseline="0" dirty="0" err="1">
                <a:ln>
                  <a:noFill/>
                </a:ln>
                <a:solidFill>
                  <a:schemeClr val="tx1"/>
                </a:solidFill>
                <a:effectLst/>
              </a:rPr>
              <a:t>veći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proračun</a:t>
            </a:r>
            <a:r>
              <a:rPr kumimoji="0" lang="en-US" altLang="en-US" sz="2400"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err="1">
                <a:ln>
                  <a:noFill/>
                </a:ln>
                <a:solidFill>
                  <a:srgbClr val="0FDCBD"/>
                </a:solidFill>
                <a:effectLst/>
              </a:rPr>
              <a:t>Opterećenje</a:t>
            </a:r>
            <a:r>
              <a:rPr kumimoji="0" lang="en-US" altLang="en-US" sz="2400" b="1" i="0" u="none" strike="noStrike" cap="none" normalizeH="0" baseline="0" dirty="0">
                <a:ln>
                  <a:noFill/>
                </a:ln>
                <a:solidFill>
                  <a:srgbClr val="0FDCBD"/>
                </a:solidFill>
                <a:effectLst/>
              </a:rPr>
              <a:t> </a:t>
            </a:r>
            <a:r>
              <a:rPr kumimoji="0" lang="en-US" altLang="en-US" sz="2400" b="1" i="0" u="none" strike="noStrike" cap="none" normalizeH="0" baseline="0" dirty="0" err="1">
                <a:ln>
                  <a:noFill/>
                </a:ln>
                <a:solidFill>
                  <a:srgbClr val="0FDCBD"/>
                </a:solidFill>
                <a:effectLst/>
              </a:rPr>
              <a:t>resursa</a:t>
            </a:r>
            <a:r>
              <a:rPr kumimoji="0" lang="en-US" altLang="en-US" sz="2400" b="1" i="0" u="none" strike="noStrike" cap="none" normalizeH="0" baseline="0" dirty="0">
                <a:ln>
                  <a:noFill/>
                </a:ln>
                <a:solidFill>
                  <a:srgbClr val="0FDCBD"/>
                </a:solidFill>
                <a:effectLst/>
              </a:rPr>
              <a:t>: </a:t>
            </a:r>
            <a:r>
              <a:rPr kumimoji="0" lang="en-US" altLang="en-US" sz="2400" b="0" i="0" u="none" strike="noStrike" cap="none" normalizeH="0" baseline="0" dirty="0" err="1">
                <a:ln>
                  <a:noFill/>
                </a:ln>
                <a:solidFill>
                  <a:schemeClr val="tx1"/>
                </a:solidFill>
                <a:effectLst/>
              </a:rPr>
              <a:t>Timovi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mogu</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biti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preopterećeni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što</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smanjuje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produktivnost</a:t>
            </a:r>
            <a:r>
              <a:rPr kumimoji="0" lang="en-US" altLang="en-US" sz="2400"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err="1">
                <a:ln>
                  <a:noFill/>
                </a:ln>
                <a:solidFill>
                  <a:srgbClr val="0FDCBD"/>
                </a:solidFill>
                <a:effectLst/>
              </a:rPr>
              <a:t>Rizici</a:t>
            </a:r>
            <a:r>
              <a:rPr kumimoji="0" lang="en-US" altLang="en-US" sz="2400" b="1" i="0" u="none" strike="noStrike" cap="none" normalizeH="0" baseline="0" dirty="0">
                <a:ln>
                  <a:noFill/>
                </a:ln>
                <a:solidFill>
                  <a:srgbClr val="0FDCBD"/>
                </a:solidFill>
                <a:effectLst/>
              </a:rPr>
              <a:t> za </a:t>
            </a:r>
            <a:r>
              <a:rPr kumimoji="0" lang="en-US" altLang="en-US" sz="2400" b="1" i="0" u="none" strike="noStrike" cap="none" normalizeH="0" baseline="0" dirty="0" err="1">
                <a:ln>
                  <a:noFill/>
                </a:ln>
                <a:solidFill>
                  <a:srgbClr val="0FDCBD"/>
                </a:solidFill>
                <a:effectLst/>
              </a:rPr>
              <a:t>kvalitetu</a:t>
            </a:r>
            <a:r>
              <a:rPr kumimoji="0" lang="en-US" altLang="en-US" sz="2400" b="1" i="0" u="none" strike="noStrike" cap="none" normalizeH="0" baseline="0" dirty="0">
                <a:ln>
                  <a:noFill/>
                </a:ln>
                <a:solidFill>
                  <a:srgbClr val="0FDCBD"/>
                </a:solidFill>
                <a:effectLst/>
              </a:rPr>
              <a:t>: </a:t>
            </a:r>
            <a:r>
              <a:rPr kumimoji="0" lang="en-US" altLang="en-US" sz="2400" b="0" i="0" u="none" strike="noStrike" cap="none" normalizeH="0" baseline="0" dirty="0" err="1">
                <a:ln>
                  <a:noFill/>
                </a:ln>
                <a:solidFill>
                  <a:schemeClr val="tx1"/>
                </a:solidFill>
                <a:effectLst/>
              </a:rPr>
              <a:t>Ubrzani</a:t>
            </a:r>
            <a:r>
              <a:rPr kumimoji="0" lang="en-US" altLang="en-US" sz="2400" b="0" i="0" u="none" strike="noStrike" cap="none" normalizeH="0" baseline="0" dirty="0">
                <a:ln>
                  <a:noFill/>
                </a:ln>
                <a:solidFill>
                  <a:schemeClr val="tx1"/>
                </a:solidFill>
                <a:effectLst/>
              </a:rPr>
              <a:t> rad </a:t>
            </a:r>
            <a:r>
              <a:rPr kumimoji="0" lang="en-US" altLang="en-US" sz="2400" b="0" i="0" u="none" strike="noStrike" cap="none" normalizeH="0" baseline="0" dirty="0" err="1">
                <a:ln>
                  <a:noFill/>
                </a:ln>
                <a:solidFill>
                  <a:schemeClr val="tx1"/>
                </a:solidFill>
                <a:effectLst/>
              </a:rPr>
              <a:t>može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dovesti</a:t>
            </a:r>
            <a:r>
              <a:rPr kumimoji="0" lang="en-US" altLang="en-US" sz="2400" b="0" i="0" u="none" strike="noStrike" cap="none" normalizeH="0" baseline="0" dirty="0">
                <a:ln>
                  <a:noFill/>
                </a:ln>
                <a:solidFill>
                  <a:schemeClr val="tx1"/>
                </a:solidFill>
                <a:effectLst/>
              </a:rPr>
              <a:t> do </a:t>
            </a:r>
            <a:r>
              <a:rPr kumimoji="0" lang="en-US" altLang="en-US" sz="2400" b="0" i="0" u="none" strike="noStrike" cap="none" normalizeH="0" baseline="0" dirty="0" err="1">
                <a:ln>
                  <a:noFill/>
                </a:ln>
                <a:solidFill>
                  <a:schemeClr val="tx1"/>
                </a:solidFill>
                <a:effectLst/>
              </a:rPr>
              <a:t>pogrešaka</a:t>
            </a:r>
            <a:r>
              <a:rPr kumimoji="0" lang="en-US" altLang="en-US" sz="2400" b="0" i="0" u="none" strike="noStrike" cap="none" normalizeH="0" baseline="0" dirty="0">
                <a:ln>
                  <a:noFill/>
                </a:ln>
                <a:solidFill>
                  <a:schemeClr val="tx1"/>
                </a:solidFill>
                <a:effectLst/>
              </a:rPr>
              <a:t> i </a:t>
            </a:r>
            <a:r>
              <a:rPr kumimoji="0" lang="en-US" altLang="en-US" sz="2400" b="0" i="0" u="none" strike="noStrike" cap="none" normalizeH="0" baseline="0" dirty="0" err="1">
                <a:ln>
                  <a:noFill/>
                </a:ln>
                <a:solidFill>
                  <a:schemeClr val="tx1"/>
                </a:solidFill>
                <a:effectLst/>
              </a:rPr>
              <a:t>nedostataka</a:t>
            </a:r>
            <a:r>
              <a:rPr kumimoji="0" lang="en-US" altLang="en-US" sz="2400"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err="1">
                <a:ln>
                  <a:noFill/>
                </a:ln>
                <a:solidFill>
                  <a:srgbClr val="0FDCBD"/>
                </a:solidFill>
                <a:effectLst/>
              </a:rPr>
              <a:t>Sukobi</a:t>
            </a:r>
            <a:r>
              <a:rPr kumimoji="0" lang="en-US" altLang="en-US" sz="2400" b="1" i="0" u="none" strike="noStrike" cap="none" normalizeH="0" baseline="0" dirty="0">
                <a:ln>
                  <a:noFill/>
                </a:ln>
                <a:solidFill>
                  <a:srgbClr val="0FDCBD"/>
                </a:solidFill>
                <a:effectLst/>
              </a:rPr>
              <a:t> </a:t>
            </a:r>
            <a:r>
              <a:rPr kumimoji="0" lang="en-US" altLang="en-US" sz="2400" b="1" i="0" u="none" strike="noStrike" cap="none" normalizeH="0" baseline="0" dirty="0" err="1">
                <a:ln>
                  <a:noFill/>
                </a:ln>
                <a:solidFill>
                  <a:srgbClr val="0FDCBD"/>
                </a:solidFill>
                <a:effectLst/>
              </a:rPr>
              <a:t>među</a:t>
            </a:r>
            <a:r>
              <a:rPr kumimoji="0" lang="en-US" altLang="en-US" sz="2400" b="1" i="0" u="none" strike="noStrike" cap="none" normalizeH="0" baseline="0" dirty="0">
                <a:ln>
                  <a:noFill/>
                </a:ln>
                <a:solidFill>
                  <a:srgbClr val="0FDCBD"/>
                </a:solidFill>
                <a:effectLst/>
              </a:rPr>
              <a:t> </a:t>
            </a:r>
            <a:r>
              <a:rPr kumimoji="0" lang="en-US" altLang="en-US" sz="2400" b="1" i="0" u="none" strike="noStrike" cap="none" normalizeH="0" baseline="0" dirty="0" err="1">
                <a:ln>
                  <a:noFill/>
                </a:ln>
                <a:solidFill>
                  <a:srgbClr val="0FDCBD"/>
                </a:solidFill>
                <a:effectLst/>
              </a:rPr>
              <a:t>dionicima</a:t>
            </a:r>
            <a:r>
              <a:rPr kumimoji="0" lang="en-US" altLang="en-US" sz="2400" b="1" i="0" u="none" strike="noStrike" cap="none" normalizeH="0" baseline="0" dirty="0">
                <a:ln>
                  <a:noFill/>
                </a:ln>
                <a:solidFill>
                  <a:srgbClr val="0FDCBD"/>
                </a:solidFill>
                <a:effectLst/>
              </a:rPr>
              <a:t>: </a:t>
            </a:r>
            <a:r>
              <a:rPr kumimoji="0" lang="en-US" altLang="en-US" sz="2400" b="0" i="0" u="none" strike="noStrike" cap="none" normalizeH="0" baseline="0" dirty="0" err="1">
                <a:ln>
                  <a:noFill/>
                </a:ln>
                <a:solidFill>
                  <a:schemeClr val="tx1"/>
                </a:solidFill>
                <a:effectLst/>
              </a:rPr>
              <a:t>Neusklađena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očekivanja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mogu</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uzrokovati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nezadovoljstvo</a:t>
            </a:r>
            <a:r>
              <a:rPr kumimoji="0" lang="en-US" altLang="en-US" sz="2400" b="0" i="0" u="none" strike="noStrike" cap="none" normalizeH="0" baseline="0" dirty="0">
                <a:ln>
                  <a:noFill/>
                </a:ln>
                <a:solidFill>
                  <a:schemeClr val="tx1"/>
                </a:solidFill>
                <a:effectLst/>
              </a:rPr>
              <a:t>.</a:t>
            </a:r>
          </a:p>
        </p:txBody>
      </p:sp>
      <p:sp>
        <p:nvSpPr>
          <p:cNvPr id="7" name="TextBox 6">
            <a:extLst>
              <a:ext uri="{FF2B5EF4-FFF2-40B4-BE49-F238E27FC236}">
                <a16:creationId xmlns:a16="http://schemas.microsoft.com/office/drawing/2014/main" id="{B5D4CE24-3211-4CEF-0CC3-39ABDBDDB912}"/>
              </a:ext>
            </a:extLst>
          </p:cNvPr>
          <p:cNvSpPr txBox="1"/>
          <p:nvPr/>
        </p:nvSpPr>
        <p:spPr>
          <a:xfrm>
            <a:off x="3144984" y="548235"/>
            <a:ext cx="9601199" cy="677108"/>
          </a:xfrm>
          <a:prstGeom prst="rect">
            <a:avLst/>
          </a:prstGeom>
          <a:noFill/>
        </p:spPr>
        <p:txBody>
          <a:bodyPr wrap="square">
            <a:spAutoFit/>
          </a:bodyPr>
          <a:lstStyle/>
          <a:p>
            <a:r>
              <a:rPr lang="en-US" sz="3800" dirty="0">
                <a:latin typeface="Bahnschrift SemiBold"/>
              </a:rPr>
              <a:t>1. </a:t>
            </a:r>
            <a:r>
              <a:rPr lang="en-US" sz="3800" dirty="0" err="1">
                <a:latin typeface="Bahnschrift SemiBold"/>
              </a:rPr>
              <a:t>Utjecaj</a:t>
            </a:r>
            <a:r>
              <a:rPr lang="en-US" sz="3800" dirty="0">
                <a:latin typeface="Bahnschrift SemiBold"/>
              </a:rPr>
              <a:t> </a:t>
            </a:r>
            <a:r>
              <a:rPr lang="en-US" sz="3800" dirty="0" err="1">
                <a:latin typeface="Bahnschrift SemiBold"/>
              </a:rPr>
              <a:t>neplaniranih</a:t>
            </a:r>
            <a:r>
              <a:rPr lang="en-US" sz="3800" dirty="0">
                <a:latin typeface="Bahnschrift SemiBold"/>
              </a:rPr>
              <a:t> </a:t>
            </a:r>
            <a:r>
              <a:rPr lang="en-US" sz="3800" dirty="0" err="1">
                <a:latin typeface="Bahnschrift SemiBold"/>
              </a:rPr>
              <a:t>promjena</a:t>
            </a:r>
            <a:r>
              <a:rPr lang="en-US" sz="3800" dirty="0">
                <a:latin typeface="Bahnschrift SemiBold"/>
              </a:rPr>
              <a:t> </a:t>
            </a:r>
            <a:r>
              <a:rPr lang="en-US" sz="3800" dirty="0" err="1">
                <a:latin typeface="Bahnschrift SemiBold"/>
              </a:rPr>
              <a:t>opsega</a:t>
            </a:r>
            <a:endParaRPr lang="en-US" sz="3800" dirty="0">
              <a:latin typeface="Bahnschrift SemiBold"/>
            </a:endParaRPr>
          </a:p>
        </p:txBody>
      </p:sp>
    </p:spTree>
    <p:extLst>
      <p:ext uri="{BB962C8B-B14F-4D97-AF65-F5344CB8AC3E}">
        <p14:creationId xmlns:p14="http://schemas.microsoft.com/office/powerpoint/2010/main" val="60367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2E7BBC-975C-5D7B-27A3-6F52411EB232}"/>
              </a:ext>
            </a:extLst>
          </p:cNvPr>
          <p:cNvSpPr>
            <a:spLocks noGrp="1"/>
          </p:cNvSpPr>
          <p:nvPr>
            <p:ph type="title"/>
          </p:nvPr>
        </p:nvSpPr>
        <p:spPr>
          <a:xfrm>
            <a:off x="918210" y="319405"/>
            <a:ext cx="10515600" cy="1325563"/>
          </a:xfrm>
        </p:spPr>
        <p:txBody>
          <a:bodyPr/>
          <a:lstStyle/>
          <a:p>
            <a:r>
              <a:rPr lang="en-US" sz="3800" dirty="0">
                <a:latin typeface="Bahnschrift SemiBold"/>
                <a:ea typeface="+mn-ea"/>
                <a:cs typeface="+mn-cs"/>
              </a:rPr>
              <a:t>2. </a:t>
            </a:r>
            <a:r>
              <a:rPr lang="pl-PL" sz="3800" dirty="0">
                <a:latin typeface="Bahnschrift SemiBold"/>
                <a:ea typeface="+mn-ea"/>
                <a:cs typeface="+mn-cs"/>
              </a:rPr>
              <a:t>Strategije za sprječavanje promjena opsega</a:t>
            </a:r>
            <a:endParaRPr lang="en-US" sz="3800" dirty="0">
              <a:latin typeface="Bahnschrift SemiBold"/>
              <a:ea typeface="+mn-ea"/>
              <a:cs typeface="+mn-cs"/>
            </a:endParaRPr>
          </a:p>
        </p:txBody>
      </p:sp>
      <p:sp>
        <p:nvSpPr>
          <p:cNvPr id="7" name="Rectangle 1">
            <a:extLst>
              <a:ext uri="{FF2B5EF4-FFF2-40B4-BE49-F238E27FC236}">
                <a16:creationId xmlns:a16="http://schemas.microsoft.com/office/drawing/2014/main" id="{E15CF992-BFA5-3C48-2A6A-FCCDC6C0BB13}"/>
              </a:ext>
            </a:extLst>
          </p:cNvPr>
          <p:cNvSpPr>
            <a:spLocks noGrp="1" noChangeArrowheads="1"/>
          </p:cNvSpPr>
          <p:nvPr>
            <p:ph idx="1"/>
          </p:nvPr>
        </p:nvSpPr>
        <p:spPr bwMode="auto">
          <a:xfrm>
            <a:off x="714375" y="1789262"/>
            <a:ext cx="1092327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lang="en-US" altLang="en-US" b="1" dirty="0">
                <a:solidFill>
                  <a:srgbClr val="0ADBBC"/>
                </a:solidFill>
              </a:rPr>
              <a:t>Jasno </a:t>
            </a:r>
            <a:r>
              <a:rPr lang="en-US" altLang="en-US" b="1" dirty="0" err="1">
                <a:solidFill>
                  <a:srgbClr val="0ADBBC"/>
                </a:solidFill>
              </a:rPr>
              <a:t>definirati</a:t>
            </a:r>
            <a:r>
              <a:rPr lang="en-US" altLang="en-US" b="1" dirty="0">
                <a:solidFill>
                  <a:srgbClr val="0ADBBC"/>
                </a:solidFill>
              </a:rPr>
              <a:t> </a:t>
            </a:r>
            <a:r>
              <a:rPr lang="en-US" altLang="en-US" b="1" dirty="0" err="1">
                <a:solidFill>
                  <a:srgbClr val="0ADBBC"/>
                </a:solidFill>
              </a:rPr>
              <a:t>opseg</a:t>
            </a:r>
            <a:r>
              <a:rPr lang="en-US" altLang="en-US" b="1" dirty="0">
                <a:solidFill>
                  <a:srgbClr val="0ADBBC"/>
                </a:solidFill>
              </a:rPr>
              <a:t> </a:t>
            </a:r>
            <a:r>
              <a:rPr lang="en-US" altLang="en-US" b="1" dirty="0" err="1">
                <a:solidFill>
                  <a:srgbClr val="0ADBBC"/>
                </a:solidFill>
              </a:rPr>
              <a:t>projekta</a:t>
            </a:r>
            <a:r>
              <a:rPr lang="en-US" altLang="en-US" b="1" dirty="0">
                <a:solidFill>
                  <a:srgbClr val="0ADBBC"/>
                </a:solidFill>
              </a:rPr>
              <a:t>: </a:t>
            </a:r>
            <a:r>
              <a:rPr kumimoji="0" lang="en-US" altLang="en-US" b="0" i="0" u="none" strike="noStrike" cap="none" normalizeH="0" baseline="0" dirty="0" err="1">
                <a:ln>
                  <a:noFill/>
                </a:ln>
                <a:solidFill>
                  <a:schemeClr val="tx1"/>
                </a:solidFill>
                <a:effectLst/>
              </a:rPr>
              <a:t>Koristiti</a:t>
            </a:r>
            <a:r>
              <a:rPr kumimoji="0" lang="en-US" altLang="en-US" b="0" i="0" u="none" strike="noStrike" cap="none" normalizeH="0" baseline="0" dirty="0">
                <a:ln>
                  <a:noFill/>
                </a:ln>
                <a:solidFill>
                  <a:schemeClr val="tx1"/>
                </a:solidFill>
                <a:effectLst/>
              </a:rPr>
              <a:t> dobro </a:t>
            </a:r>
            <a:r>
              <a:rPr kumimoji="0" lang="en-US" altLang="en-US" b="0" i="0" u="none" strike="noStrike" cap="none" normalizeH="0" baseline="0" dirty="0" err="1">
                <a:ln>
                  <a:noFill/>
                </a:ln>
                <a:solidFill>
                  <a:schemeClr val="tx1"/>
                </a:solidFill>
                <a:effectLst/>
              </a:rPr>
              <a:t>dokumentiranu</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izjavu</a:t>
            </a:r>
            <a:r>
              <a:rPr kumimoji="0" lang="en-US" altLang="en-US" b="0" i="0" u="none" strike="noStrike" cap="none" normalizeH="0" baseline="0" dirty="0">
                <a:ln>
                  <a:noFill/>
                </a:ln>
                <a:solidFill>
                  <a:schemeClr val="tx1"/>
                </a:solidFill>
                <a:effectLst/>
              </a:rPr>
              <a:t> o </a:t>
            </a:r>
            <a:r>
              <a:rPr kumimoji="0" lang="en-US" altLang="en-US" b="0" i="0" u="none" strike="noStrike" cap="none" normalizeH="0" baseline="0" dirty="0" err="1">
                <a:ln>
                  <a:noFill/>
                </a:ln>
                <a:solidFill>
                  <a:schemeClr val="tx1"/>
                </a:solidFill>
                <a:effectLst/>
              </a:rPr>
              <a:t>opsegu</a:t>
            </a:r>
            <a:r>
              <a:rPr kumimoji="0" lang="en-US" altLang="en-US"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err="1">
                <a:ln>
                  <a:noFill/>
                </a:ln>
                <a:solidFill>
                  <a:srgbClr val="0FDCBD"/>
                </a:solidFill>
                <a:effectLst/>
              </a:rPr>
              <a:t>Usklađivanje</a:t>
            </a:r>
            <a:r>
              <a:rPr kumimoji="0" lang="en-US" altLang="en-US" b="1" i="0" u="none" strike="noStrike" cap="none" normalizeH="0" baseline="0" dirty="0">
                <a:ln>
                  <a:noFill/>
                </a:ln>
                <a:solidFill>
                  <a:srgbClr val="0FDCBD"/>
                </a:solidFill>
                <a:effectLst/>
              </a:rPr>
              <a:t> </a:t>
            </a:r>
            <a:r>
              <a:rPr kumimoji="0" lang="en-US" altLang="en-US" b="1" i="0" u="none" strike="noStrike" cap="none" normalizeH="0" baseline="0" dirty="0" err="1">
                <a:ln>
                  <a:noFill/>
                </a:ln>
                <a:solidFill>
                  <a:srgbClr val="0FDCBD"/>
                </a:solidFill>
                <a:effectLst/>
              </a:rPr>
              <a:t>dionika</a:t>
            </a:r>
            <a:r>
              <a:rPr kumimoji="0" lang="en-US" altLang="en-US" b="1" i="0" u="none" strike="noStrike" cap="none" normalizeH="0" baseline="0" dirty="0">
                <a:ln>
                  <a:noFill/>
                </a:ln>
                <a:solidFill>
                  <a:srgbClr val="0FDCBD"/>
                </a:solidFill>
                <a:effectLst/>
              </a:rPr>
              <a:t>: </a:t>
            </a:r>
            <a:r>
              <a:rPr kumimoji="0" lang="en-US" altLang="en-US" b="0" i="0" u="none" strike="noStrike" cap="none" normalizeH="0" baseline="0" dirty="0" err="1">
                <a:ln>
                  <a:noFill/>
                </a:ln>
                <a:solidFill>
                  <a:schemeClr val="tx1"/>
                </a:solidFill>
                <a:effectLst/>
              </a:rPr>
              <a:t>Osigurati</a:t>
            </a:r>
            <a:r>
              <a:rPr kumimoji="0" lang="en-US" altLang="en-US" b="0" i="0" u="none" strike="noStrike" cap="none" normalizeH="0" baseline="0" dirty="0">
                <a:ln>
                  <a:noFill/>
                </a:ln>
                <a:solidFill>
                  <a:schemeClr val="tx1"/>
                </a:solidFill>
                <a:effectLst/>
              </a:rPr>
              <a:t> da se </a:t>
            </a:r>
            <a:r>
              <a:rPr kumimoji="0" lang="en-US" altLang="en-US" b="0" i="0" u="none" strike="noStrike" cap="none" normalizeH="0" baseline="0" dirty="0" err="1">
                <a:ln>
                  <a:noFill/>
                </a:ln>
                <a:solidFill>
                  <a:schemeClr val="tx1"/>
                </a:solidFill>
                <a:effectLst/>
              </a:rPr>
              <a:t>svi</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dionici</a:t>
            </a:r>
            <a:r>
              <a:rPr kumimoji="0" lang="en-US" altLang="en-US" b="0" i="0" u="none" strike="noStrike" cap="none" normalizeH="0" baseline="0" dirty="0">
                <a:ln>
                  <a:noFill/>
                </a:ln>
                <a:solidFill>
                  <a:schemeClr val="tx1"/>
                </a:solidFill>
                <a:effectLst/>
              </a:rPr>
              <a:t> od </a:t>
            </a:r>
            <a:r>
              <a:rPr kumimoji="0" lang="en-US" altLang="en-US" b="0" i="0" u="none" strike="noStrike" cap="none" normalizeH="0" baseline="0" dirty="0" err="1">
                <a:ln>
                  <a:noFill/>
                </a:ln>
                <a:solidFill>
                  <a:schemeClr val="tx1"/>
                </a:solidFill>
                <a:effectLst/>
              </a:rPr>
              <a:t>početka</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slažu</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oko</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isporučivih</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rezultata</a:t>
            </a:r>
            <a:r>
              <a:rPr kumimoji="0" lang="en-US" altLang="en-US"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err="1">
                <a:ln>
                  <a:noFill/>
                </a:ln>
                <a:solidFill>
                  <a:srgbClr val="0FDCBD"/>
                </a:solidFill>
                <a:effectLst/>
              </a:rPr>
              <a:t>Proces</a:t>
            </a:r>
            <a:r>
              <a:rPr kumimoji="0" lang="en-US" altLang="en-US" b="1" i="0" u="none" strike="noStrike" cap="none" normalizeH="0" baseline="0" dirty="0">
                <a:ln>
                  <a:noFill/>
                </a:ln>
                <a:solidFill>
                  <a:srgbClr val="0FDCBD"/>
                </a:solidFill>
                <a:effectLst/>
              </a:rPr>
              <a:t> </a:t>
            </a:r>
            <a:r>
              <a:rPr kumimoji="0" lang="en-US" altLang="en-US" b="1" i="0" u="none" strike="noStrike" cap="none" normalizeH="0" baseline="0" dirty="0" err="1">
                <a:ln>
                  <a:noFill/>
                </a:ln>
                <a:solidFill>
                  <a:srgbClr val="0FDCBD"/>
                </a:solidFill>
                <a:effectLst/>
              </a:rPr>
              <a:t>kontrole</a:t>
            </a:r>
            <a:r>
              <a:rPr kumimoji="0" lang="en-US" altLang="en-US" b="1" i="0" u="none" strike="noStrike" cap="none" normalizeH="0" baseline="0" dirty="0">
                <a:ln>
                  <a:noFill/>
                </a:ln>
                <a:solidFill>
                  <a:srgbClr val="0FDCBD"/>
                </a:solidFill>
                <a:effectLst/>
              </a:rPr>
              <a:t> </a:t>
            </a:r>
            <a:r>
              <a:rPr kumimoji="0" lang="en-US" altLang="en-US" b="1" i="0" u="none" strike="noStrike" cap="none" normalizeH="0" baseline="0" dirty="0" err="1">
                <a:ln>
                  <a:noFill/>
                </a:ln>
                <a:solidFill>
                  <a:srgbClr val="0FDCBD"/>
                </a:solidFill>
                <a:effectLst/>
              </a:rPr>
              <a:t>promjena</a:t>
            </a:r>
            <a:r>
              <a:rPr kumimoji="0" lang="en-US" altLang="en-US" b="1" i="0" u="none" strike="noStrike" cap="none" normalizeH="0" baseline="0" dirty="0">
                <a:ln>
                  <a:noFill/>
                </a:ln>
                <a:solidFill>
                  <a:srgbClr val="0FDCBD"/>
                </a:solidFill>
                <a:effectLst/>
              </a:rPr>
              <a:t>: </a:t>
            </a:r>
            <a:r>
              <a:rPr kumimoji="0" lang="en-US" altLang="en-US" b="0" i="0" u="none" strike="noStrike" cap="none" normalizeH="0" baseline="0" dirty="0" err="1">
                <a:ln>
                  <a:noFill/>
                </a:ln>
                <a:solidFill>
                  <a:schemeClr val="tx1"/>
                </a:solidFill>
                <a:effectLst/>
              </a:rPr>
              <a:t>Uvesti</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formalni</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proces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odobravanja</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promjena</a:t>
            </a:r>
            <a:r>
              <a:rPr kumimoji="0" lang="en-US" altLang="en-US"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err="1">
                <a:ln>
                  <a:noFill/>
                </a:ln>
                <a:solidFill>
                  <a:srgbClr val="0FDCBD"/>
                </a:solidFill>
                <a:effectLst/>
              </a:rPr>
              <a:t>Pregledi</a:t>
            </a:r>
            <a:r>
              <a:rPr kumimoji="0" lang="en-US" altLang="en-US" b="1" i="0" u="none" strike="noStrike" cap="none" normalizeH="0" baseline="0" dirty="0">
                <a:ln>
                  <a:noFill/>
                </a:ln>
                <a:solidFill>
                  <a:srgbClr val="0FDCBD"/>
                </a:solidFill>
                <a:effectLst/>
              </a:rPr>
              <a:t> </a:t>
            </a:r>
            <a:r>
              <a:rPr kumimoji="0" lang="en-US" altLang="en-US" b="1" i="0" u="none" strike="noStrike" cap="none" normalizeH="0" baseline="0" dirty="0" err="1">
                <a:ln>
                  <a:noFill/>
                </a:ln>
                <a:solidFill>
                  <a:srgbClr val="0FDCBD"/>
                </a:solidFill>
                <a:effectLst/>
              </a:rPr>
              <a:t>napretka</a:t>
            </a:r>
            <a:r>
              <a:rPr kumimoji="0" lang="en-US" altLang="en-US" b="1" i="0" u="none" strike="noStrike" cap="none" normalizeH="0" baseline="0" dirty="0">
                <a:ln>
                  <a:noFill/>
                </a:ln>
                <a:solidFill>
                  <a:srgbClr val="0FDCBD"/>
                </a:solidFill>
                <a:effectLst/>
              </a:rPr>
              <a:t>: </a:t>
            </a:r>
            <a:r>
              <a:rPr kumimoji="0" lang="en-US" altLang="en-US" b="0" i="0" u="none" strike="noStrike" cap="none" normalizeH="0" baseline="0" dirty="0" err="1">
                <a:ln>
                  <a:noFill/>
                </a:ln>
                <a:solidFill>
                  <a:schemeClr val="tx1"/>
                </a:solidFill>
                <a:effectLst/>
              </a:rPr>
              <a:t>Redovito</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provoditi</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provjere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kako</a:t>
            </a:r>
            <a:r>
              <a:rPr kumimoji="0" lang="en-US" altLang="en-US" b="0" i="0" u="none" strike="noStrike" cap="none" normalizeH="0" baseline="0" dirty="0">
                <a:ln>
                  <a:noFill/>
                </a:ln>
                <a:solidFill>
                  <a:schemeClr val="tx1"/>
                </a:solidFill>
                <a:effectLst/>
              </a:rPr>
              <a:t> bi se </a:t>
            </a:r>
            <a:r>
              <a:rPr kumimoji="0" lang="en-US" altLang="en-US" b="0" i="0" u="none" strike="noStrike" cap="none" normalizeH="0" baseline="0" dirty="0" err="1">
                <a:ln>
                  <a:noFill/>
                </a:ln>
                <a:solidFill>
                  <a:schemeClr val="tx1"/>
                </a:solidFill>
                <a:effectLst/>
              </a:rPr>
              <a:t>pratilo</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pridržavanje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opsega</a:t>
            </a:r>
            <a:r>
              <a:rPr kumimoji="0" lang="en-US" altLang="en-US"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rgbClr val="0FDCBD"/>
                </a:solidFill>
                <a:effectLst/>
              </a:rPr>
              <a:t>Upravljanje </a:t>
            </a:r>
            <a:r>
              <a:rPr kumimoji="0" lang="en-US" altLang="en-US" b="1" i="0" u="none" strike="noStrike" cap="none" normalizeH="0" baseline="0" dirty="0" err="1">
                <a:ln>
                  <a:noFill/>
                </a:ln>
                <a:solidFill>
                  <a:srgbClr val="0FDCBD"/>
                </a:solidFill>
                <a:effectLst/>
              </a:rPr>
              <a:t>rizicima</a:t>
            </a:r>
            <a:r>
              <a:rPr kumimoji="0" lang="en-US" altLang="en-US" b="1" i="0" u="none" strike="noStrike" cap="none" normalizeH="0" baseline="0" dirty="0">
                <a:ln>
                  <a:noFill/>
                </a:ln>
                <a:solidFill>
                  <a:srgbClr val="0FDCBD"/>
                </a:solidFill>
                <a:effectLst/>
              </a:rPr>
              <a:t>: </a:t>
            </a:r>
            <a:r>
              <a:rPr kumimoji="0" lang="en-US" altLang="en-US" b="0" i="0" u="none" strike="noStrike" cap="none" normalizeH="0" baseline="0" dirty="0">
                <a:ln>
                  <a:noFill/>
                </a:ln>
                <a:solidFill>
                  <a:schemeClr val="tx1"/>
                </a:solidFill>
                <a:effectLst/>
              </a:rPr>
              <a:t>Rano </a:t>
            </a:r>
            <a:r>
              <a:rPr kumimoji="0" lang="en-US" altLang="en-US" b="0" i="0" u="none" strike="noStrike" cap="none" normalizeH="0" baseline="0" dirty="0" err="1">
                <a:ln>
                  <a:noFill/>
                </a:ln>
                <a:solidFill>
                  <a:schemeClr val="tx1"/>
                </a:solidFill>
                <a:effectLst/>
              </a:rPr>
              <a:t>identificirati</a:t>
            </a:r>
            <a:r>
              <a:rPr kumimoji="0" lang="en-US" altLang="en-US" b="0" i="0" u="none" strike="noStrike" cap="none" normalizeH="0" baseline="0" dirty="0">
                <a:ln>
                  <a:noFill/>
                </a:ln>
                <a:solidFill>
                  <a:schemeClr val="tx1"/>
                </a:solidFill>
                <a:effectLst/>
              </a:rPr>
              <a:t> i </a:t>
            </a:r>
            <a:r>
              <a:rPr kumimoji="0" lang="en-US" altLang="en-US" b="0" i="0" u="none" strike="noStrike" cap="none" normalizeH="0" baseline="0" dirty="0" err="1">
                <a:ln>
                  <a:noFill/>
                </a:ln>
                <a:solidFill>
                  <a:schemeClr val="tx1"/>
                </a:solidFill>
                <a:effectLst/>
              </a:rPr>
              <a:t>ublažiti</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potencijalno</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širenje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opsega</a:t>
            </a:r>
            <a:r>
              <a:rPr kumimoji="0" lang="en-US" altLang="en-US" b="0" i="0" u="none" strike="noStrike" cap="none" normalizeH="0" baseline="0" dirty="0">
                <a:ln>
                  <a:noFill/>
                </a:ln>
                <a:solidFill>
                  <a:schemeClr val="tx1"/>
                </a:solidFill>
                <a:effectLst/>
              </a:rPr>
              <a:t> (scope creep). </a:t>
            </a:r>
          </a:p>
        </p:txBody>
      </p:sp>
    </p:spTree>
    <p:extLst>
      <p:ext uri="{BB962C8B-B14F-4D97-AF65-F5344CB8AC3E}">
        <p14:creationId xmlns:p14="http://schemas.microsoft.com/office/powerpoint/2010/main" val="1444725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52084-D1A1-75EB-47E3-B2C0FF4078B7}"/>
              </a:ext>
            </a:extLst>
          </p:cNvPr>
          <p:cNvSpPr>
            <a:spLocks noGrp="1"/>
          </p:cNvSpPr>
          <p:nvPr>
            <p:ph type="title"/>
          </p:nvPr>
        </p:nvSpPr>
        <p:spPr>
          <a:xfrm>
            <a:off x="838200" y="209261"/>
            <a:ext cx="10515600" cy="1325563"/>
          </a:xfrm>
        </p:spPr>
        <p:txBody>
          <a:bodyPr>
            <a:normAutofit/>
          </a:bodyPr>
          <a:lstStyle/>
          <a:p>
            <a:r>
              <a:rPr lang="en-US" dirty="0">
                <a:latin typeface="Bahnschrift SemiBold"/>
                <a:ea typeface="+mn-ea"/>
                <a:cs typeface="+mn-cs"/>
              </a:rPr>
              <a:t>3. </a:t>
            </a:r>
            <a:r>
              <a:rPr lang="en-US" dirty="0" err="1">
                <a:latin typeface="Bahnschrift SemiBold"/>
                <a:ea typeface="+mn-ea"/>
                <a:cs typeface="+mn-cs"/>
              </a:rPr>
              <a:t>Prepoznavanje</a:t>
            </a:r>
            <a:r>
              <a:rPr lang="en-US" dirty="0">
                <a:latin typeface="Bahnschrift SemiBold"/>
                <a:ea typeface="+mn-ea"/>
                <a:cs typeface="+mn-cs"/>
              </a:rPr>
              <a:t> </a:t>
            </a:r>
            <a:r>
              <a:rPr lang="en-US" dirty="0" err="1">
                <a:latin typeface="Bahnschrift SemiBold"/>
                <a:ea typeface="+mn-ea"/>
                <a:cs typeface="+mn-cs"/>
              </a:rPr>
              <a:t>utjecaja</a:t>
            </a:r>
            <a:r>
              <a:rPr lang="en-US" dirty="0">
                <a:latin typeface="Bahnschrift SemiBold"/>
                <a:ea typeface="+mn-ea"/>
                <a:cs typeface="+mn-cs"/>
              </a:rPr>
              <a:t> </a:t>
            </a:r>
            <a:r>
              <a:rPr lang="en-US" dirty="0" err="1">
                <a:latin typeface="Bahnschrift SemiBold"/>
                <a:ea typeface="+mn-ea"/>
                <a:cs typeface="+mn-cs"/>
              </a:rPr>
              <a:t>na</a:t>
            </a:r>
            <a:r>
              <a:rPr lang="en-US" dirty="0">
                <a:latin typeface="Bahnschrift SemiBold"/>
                <a:ea typeface="+mn-ea"/>
                <a:cs typeface="+mn-cs"/>
              </a:rPr>
              <a:t> </a:t>
            </a:r>
            <a:r>
              <a:rPr lang="en-US" dirty="0" err="1">
                <a:latin typeface="Bahnschrift SemiBold"/>
                <a:ea typeface="+mn-ea"/>
                <a:cs typeface="+mn-cs"/>
              </a:rPr>
              <a:t>raspored</a:t>
            </a:r>
            <a:r>
              <a:rPr lang="en-US" dirty="0">
                <a:latin typeface="Bahnschrift SemiBold"/>
                <a:ea typeface="+mn-ea"/>
                <a:cs typeface="+mn-cs"/>
              </a:rPr>
              <a:t> i </a:t>
            </a:r>
            <a:r>
              <a:rPr lang="en-US" dirty="0" err="1">
                <a:latin typeface="Bahnschrift SemiBold"/>
                <a:ea typeface="+mn-ea"/>
                <a:cs typeface="+mn-cs"/>
              </a:rPr>
              <a:t>proračun</a:t>
            </a:r>
            <a:endParaRPr lang="en-US" dirty="0">
              <a:latin typeface="Bahnschrift SemiBold"/>
              <a:ea typeface="+mn-ea"/>
              <a:cs typeface="+mn-cs"/>
            </a:endParaRPr>
          </a:p>
        </p:txBody>
      </p:sp>
      <p:sp>
        <p:nvSpPr>
          <p:cNvPr id="3" name="Content Placeholder 2">
            <a:extLst>
              <a:ext uri="{FF2B5EF4-FFF2-40B4-BE49-F238E27FC236}">
                <a16:creationId xmlns:a16="http://schemas.microsoft.com/office/drawing/2014/main" id="{4089338D-7FCD-76C2-BAD2-D98AD98851FF}"/>
              </a:ext>
            </a:extLst>
          </p:cNvPr>
          <p:cNvSpPr>
            <a:spLocks noGrp="1"/>
          </p:cNvSpPr>
          <p:nvPr>
            <p:ph idx="1"/>
          </p:nvPr>
        </p:nvSpPr>
        <p:spPr>
          <a:xfrm>
            <a:off x="678180" y="1939925"/>
            <a:ext cx="10515600" cy="4351338"/>
          </a:xfrm>
        </p:spPr>
        <p:txBody>
          <a:bodyPr/>
          <a:lstStyle/>
          <a:p>
            <a:pPr marL="514350" indent="-514350">
              <a:buFont typeface="+mj-lt"/>
              <a:buAutoNum type="arabicPeriod"/>
            </a:pPr>
            <a:r>
              <a:rPr lang="en-US" b="1" dirty="0" err="1">
                <a:solidFill>
                  <a:srgbClr val="0ADBBC"/>
                </a:solidFill>
              </a:rPr>
              <a:t>Utjecaj</a:t>
            </a:r>
            <a:r>
              <a:rPr lang="en-US" b="1" dirty="0">
                <a:solidFill>
                  <a:srgbClr val="0ADBBC"/>
                </a:solidFill>
              </a:rPr>
              <a:t> </a:t>
            </a:r>
            <a:r>
              <a:rPr lang="en-US" b="1" dirty="0" err="1">
                <a:solidFill>
                  <a:srgbClr val="0ADBBC"/>
                </a:solidFill>
              </a:rPr>
              <a:t>na</a:t>
            </a:r>
            <a:r>
              <a:rPr lang="en-US" b="1" dirty="0">
                <a:solidFill>
                  <a:srgbClr val="0ADBBC"/>
                </a:solidFill>
              </a:rPr>
              <a:t> </a:t>
            </a:r>
            <a:r>
              <a:rPr lang="en-US" b="1" dirty="0" err="1">
                <a:solidFill>
                  <a:srgbClr val="0ADBBC"/>
                </a:solidFill>
              </a:rPr>
              <a:t>raspored</a:t>
            </a:r>
            <a:r>
              <a:rPr lang="en-US" b="1" dirty="0">
                <a:solidFill>
                  <a:srgbClr val="0ADBBC"/>
                </a:solidFill>
              </a:rPr>
              <a:t>: </a:t>
            </a:r>
            <a:r>
              <a:rPr lang="en-US" dirty="0" err="1"/>
              <a:t>Svaka</a:t>
            </a:r>
            <a:r>
              <a:rPr lang="en-US" dirty="0"/>
              <a:t> </a:t>
            </a:r>
            <a:r>
              <a:rPr lang="en-US" dirty="0" err="1"/>
              <a:t>dodatna</a:t>
            </a:r>
            <a:r>
              <a:rPr lang="en-US" dirty="0"/>
              <a:t> </a:t>
            </a:r>
            <a:r>
              <a:rPr lang="en-US" dirty="0" err="1"/>
              <a:t>funkcionalnost</a:t>
            </a:r>
            <a:r>
              <a:rPr lang="en-US" dirty="0"/>
              <a:t> </a:t>
            </a:r>
            <a:r>
              <a:rPr lang="en-US" dirty="0" err="1"/>
              <a:t>zahtijeva</a:t>
            </a:r>
            <a:r>
              <a:rPr lang="en-US" dirty="0"/>
              <a:t> </a:t>
            </a:r>
            <a:r>
              <a:rPr lang="en-US" dirty="0" err="1"/>
              <a:t>dodatno</a:t>
            </a:r>
            <a:r>
              <a:rPr lang="en-US" dirty="0"/>
              <a:t> </a:t>
            </a:r>
            <a:r>
              <a:rPr lang="en-US" dirty="0" err="1"/>
              <a:t>vrijeme</a:t>
            </a:r>
            <a:r>
              <a:rPr lang="en-US" dirty="0"/>
              <a:t>, </a:t>
            </a:r>
            <a:r>
              <a:rPr lang="en-US" dirty="0" err="1"/>
              <a:t>što</a:t>
            </a:r>
            <a:r>
              <a:rPr lang="en-US" dirty="0"/>
              <a:t> </a:t>
            </a:r>
            <a:r>
              <a:rPr lang="en-US" dirty="0" err="1"/>
              <a:t>može</a:t>
            </a:r>
            <a:r>
              <a:rPr lang="en-US" dirty="0"/>
              <a:t> </a:t>
            </a:r>
            <a:r>
              <a:rPr lang="en-US" dirty="0" err="1"/>
              <a:t>uzrokovati</a:t>
            </a:r>
            <a:r>
              <a:rPr lang="en-US" dirty="0"/>
              <a:t> </a:t>
            </a:r>
            <a:r>
              <a:rPr lang="en-US" dirty="0" err="1"/>
              <a:t>kašnjenja</a:t>
            </a:r>
            <a:r>
              <a:rPr lang="en-US" dirty="0"/>
              <a:t>.</a:t>
            </a:r>
          </a:p>
          <a:p>
            <a:pPr marL="514350" indent="-514350">
              <a:buFont typeface="+mj-lt"/>
              <a:buAutoNum type="arabicPeriod"/>
            </a:pPr>
            <a:r>
              <a:rPr lang="en-US" b="1" dirty="0" err="1">
                <a:solidFill>
                  <a:srgbClr val="0FDCBD"/>
                </a:solidFill>
              </a:rPr>
              <a:t>Utjecaj</a:t>
            </a:r>
            <a:r>
              <a:rPr lang="en-US" b="1" dirty="0">
                <a:solidFill>
                  <a:srgbClr val="0FDCBD"/>
                </a:solidFill>
              </a:rPr>
              <a:t> </a:t>
            </a:r>
            <a:r>
              <a:rPr lang="en-US" b="1" dirty="0" err="1">
                <a:solidFill>
                  <a:srgbClr val="0FDCBD"/>
                </a:solidFill>
              </a:rPr>
              <a:t>na</a:t>
            </a:r>
            <a:r>
              <a:rPr lang="en-US" b="1" dirty="0">
                <a:solidFill>
                  <a:srgbClr val="0FDCBD"/>
                </a:solidFill>
              </a:rPr>
              <a:t> </a:t>
            </a:r>
            <a:r>
              <a:rPr lang="en-US" b="1" dirty="0" err="1">
                <a:solidFill>
                  <a:srgbClr val="0FDCBD"/>
                </a:solidFill>
              </a:rPr>
              <a:t>proračun</a:t>
            </a:r>
            <a:r>
              <a:rPr lang="en-US" b="1" dirty="0">
                <a:solidFill>
                  <a:srgbClr val="0FDCBD"/>
                </a:solidFill>
              </a:rPr>
              <a:t>: </a:t>
            </a:r>
            <a:r>
              <a:rPr lang="en-US" dirty="0" err="1"/>
              <a:t>Povećanje</a:t>
            </a:r>
            <a:r>
              <a:rPr lang="en-US" dirty="0"/>
              <a:t> </a:t>
            </a:r>
            <a:r>
              <a:rPr lang="en-US" dirty="0" err="1"/>
              <a:t>opsega</a:t>
            </a:r>
            <a:r>
              <a:rPr lang="en-US" dirty="0"/>
              <a:t> </a:t>
            </a:r>
            <a:r>
              <a:rPr lang="en-US" dirty="0" err="1"/>
              <a:t>dovodi</a:t>
            </a:r>
            <a:r>
              <a:rPr lang="en-US" dirty="0"/>
              <a:t> do </a:t>
            </a:r>
            <a:r>
              <a:rPr lang="en-US" dirty="0" err="1"/>
              <a:t>dodatnih</a:t>
            </a:r>
            <a:r>
              <a:rPr lang="en-US" dirty="0"/>
              <a:t> </a:t>
            </a:r>
            <a:r>
              <a:rPr lang="en-US" dirty="0" err="1"/>
              <a:t>troškova</a:t>
            </a:r>
            <a:r>
              <a:rPr lang="en-US" dirty="0"/>
              <a:t> rada, </a:t>
            </a:r>
            <a:r>
              <a:rPr lang="en-US" dirty="0" err="1"/>
              <a:t>materijala</a:t>
            </a:r>
            <a:r>
              <a:rPr lang="en-US" dirty="0"/>
              <a:t> i </a:t>
            </a:r>
            <a:r>
              <a:rPr lang="en-US" dirty="0" err="1"/>
              <a:t>tehnologije</a:t>
            </a:r>
            <a:r>
              <a:rPr lang="en-US" dirty="0"/>
              <a:t>.</a:t>
            </a:r>
          </a:p>
          <a:p>
            <a:pPr marL="514350" indent="-514350">
              <a:buFont typeface="+mj-lt"/>
              <a:buAutoNum type="arabicPeriod"/>
            </a:pPr>
            <a:r>
              <a:rPr lang="en-US" b="1" dirty="0" err="1">
                <a:solidFill>
                  <a:srgbClr val="0FDCBD"/>
                </a:solidFill>
              </a:rPr>
              <a:t>Profitabilnost</a:t>
            </a:r>
            <a:r>
              <a:rPr lang="en-US" b="1" dirty="0">
                <a:solidFill>
                  <a:srgbClr val="0FDCBD"/>
                </a:solidFill>
              </a:rPr>
              <a:t> </a:t>
            </a:r>
            <a:r>
              <a:rPr lang="en-US" b="1" dirty="0" err="1">
                <a:solidFill>
                  <a:srgbClr val="0FDCBD"/>
                </a:solidFill>
              </a:rPr>
              <a:t>projekta</a:t>
            </a:r>
            <a:r>
              <a:rPr lang="en-US" b="1" dirty="0">
                <a:solidFill>
                  <a:srgbClr val="0FDCBD"/>
                </a:solidFill>
              </a:rPr>
              <a:t>: </a:t>
            </a:r>
            <a:r>
              <a:rPr lang="en-US" dirty="0"/>
              <a:t>Ako </a:t>
            </a:r>
            <a:r>
              <a:rPr lang="en-US" dirty="0" err="1"/>
              <a:t>troškovi</a:t>
            </a:r>
            <a:r>
              <a:rPr lang="en-US" dirty="0"/>
              <a:t> </a:t>
            </a:r>
            <a:r>
              <a:rPr lang="en-US" dirty="0" err="1"/>
              <a:t>premaše</a:t>
            </a:r>
            <a:r>
              <a:rPr lang="en-US" dirty="0"/>
              <a:t> </a:t>
            </a:r>
            <a:r>
              <a:rPr lang="en-US" dirty="0" err="1"/>
              <a:t>početne</a:t>
            </a:r>
            <a:r>
              <a:rPr lang="en-US" dirty="0"/>
              <a:t> </a:t>
            </a:r>
            <a:r>
              <a:rPr lang="en-US" dirty="0" err="1"/>
              <a:t>procjene</a:t>
            </a:r>
            <a:r>
              <a:rPr lang="en-US" dirty="0"/>
              <a:t>, </a:t>
            </a:r>
            <a:r>
              <a:rPr lang="en-US" dirty="0" err="1"/>
              <a:t>profitabilnost</a:t>
            </a:r>
            <a:r>
              <a:rPr lang="en-US" dirty="0"/>
              <a:t> se </a:t>
            </a:r>
            <a:r>
              <a:rPr lang="en-US" dirty="0" err="1"/>
              <a:t>može</a:t>
            </a:r>
            <a:r>
              <a:rPr lang="en-US" dirty="0"/>
              <a:t> </a:t>
            </a:r>
            <a:r>
              <a:rPr lang="en-US" dirty="0" err="1"/>
              <a:t>smanjiti</a:t>
            </a:r>
            <a:r>
              <a:rPr lang="en-US" dirty="0"/>
              <a:t>.</a:t>
            </a:r>
          </a:p>
        </p:txBody>
      </p:sp>
    </p:spTree>
    <p:extLst>
      <p:ext uri="{BB962C8B-B14F-4D97-AF65-F5344CB8AC3E}">
        <p14:creationId xmlns:p14="http://schemas.microsoft.com/office/powerpoint/2010/main" val="1438216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0339-35CB-F665-5F15-4FC91A22FEAB}"/>
              </a:ext>
            </a:extLst>
          </p:cNvPr>
          <p:cNvSpPr>
            <a:spLocks noGrp="1"/>
          </p:cNvSpPr>
          <p:nvPr>
            <p:ph type="title"/>
          </p:nvPr>
        </p:nvSpPr>
        <p:spPr>
          <a:xfrm>
            <a:off x="838200" y="250825"/>
            <a:ext cx="10515600" cy="1325563"/>
          </a:xfrm>
        </p:spPr>
        <p:txBody>
          <a:bodyPr>
            <a:normAutofit/>
          </a:bodyPr>
          <a:lstStyle/>
          <a:p>
            <a:r>
              <a:rPr lang="en-US" sz="3800" dirty="0">
                <a:latin typeface="Bahnschrift SemiBold"/>
                <a:ea typeface="+mn-ea"/>
                <a:cs typeface="+mn-cs"/>
              </a:rPr>
              <a:t>Plan </a:t>
            </a:r>
            <a:r>
              <a:rPr lang="en-US" sz="3800" dirty="0" err="1">
                <a:latin typeface="Bahnschrift SemiBold"/>
                <a:ea typeface="+mn-ea"/>
                <a:cs typeface="+mn-cs"/>
              </a:rPr>
              <a:t>upravljanja</a:t>
            </a:r>
            <a:r>
              <a:rPr lang="en-US" sz="3800" dirty="0">
                <a:latin typeface="Bahnschrift SemiBold"/>
                <a:ea typeface="+mn-ea"/>
                <a:cs typeface="+mn-cs"/>
              </a:rPr>
              <a:t> </a:t>
            </a:r>
            <a:r>
              <a:rPr lang="en-US" sz="3800" dirty="0" err="1">
                <a:latin typeface="Bahnschrift SemiBold"/>
                <a:ea typeface="+mn-ea"/>
                <a:cs typeface="+mn-cs"/>
              </a:rPr>
              <a:t>promjenama</a:t>
            </a:r>
            <a:r>
              <a:rPr lang="en-US" sz="3800" dirty="0">
                <a:latin typeface="Bahnschrift SemiBold"/>
                <a:ea typeface="+mn-ea"/>
                <a:cs typeface="+mn-cs"/>
              </a:rPr>
              <a:t> </a:t>
            </a:r>
            <a:r>
              <a:rPr lang="en-US" sz="3800" dirty="0" err="1">
                <a:latin typeface="Bahnschrift SemiBold"/>
                <a:ea typeface="+mn-ea"/>
                <a:cs typeface="+mn-cs"/>
              </a:rPr>
              <a:t>opsega</a:t>
            </a:r>
            <a:r>
              <a:rPr lang="hr-HR" sz="3800" dirty="0">
                <a:latin typeface="Bahnschrift SemiBold"/>
                <a:ea typeface="+mn-ea"/>
                <a:cs typeface="+mn-cs"/>
              </a:rPr>
              <a:t> </a:t>
            </a:r>
            <a:r>
              <a:rPr lang="en-US" sz="3800" dirty="0">
                <a:latin typeface="Bahnschrift SemiBold"/>
                <a:ea typeface="+mn-ea"/>
                <a:cs typeface="+mn-cs"/>
              </a:rPr>
              <a:t>I.</a:t>
            </a:r>
          </a:p>
        </p:txBody>
      </p:sp>
      <p:sp>
        <p:nvSpPr>
          <p:cNvPr id="3" name="Content Placeholder 2">
            <a:extLst>
              <a:ext uri="{FF2B5EF4-FFF2-40B4-BE49-F238E27FC236}">
                <a16:creationId xmlns:a16="http://schemas.microsoft.com/office/drawing/2014/main" id="{6637A77D-AA92-4BB1-591B-FCA51CA979D2}"/>
              </a:ext>
            </a:extLst>
          </p:cNvPr>
          <p:cNvSpPr>
            <a:spLocks noGrp="1"/>
          </p:cNvSpPr>
          <p:nvPr>
            <p:ph idx="1"/>
          </p:nvPr>
        </p:nvSpPr>
        <p:spPr>
          <a:xfrm>
            <a:off x="417195" y="1882775"/>
            <a:ext cx="11357610" cy="4351338"/>
          </a:xfrm>
        </p:spPr>
        <p:txBody>
          <a:bodyPr>
            <a:noAutofit/>
          </a:bodyPr>
          <a:lstStyle/>
          <a:p>
            <a:pPr>
              <a:buNone/>
            </a:pPr>
            <a:r>
              <a:rPr lang="en-US" sz="2600" b="1" dirty="0">
                <a:solidFill>
                  <a:srgbClr val="0FDCBD"/>
                </a:solidFill>
              </a:rPr>
              <a:t>Plan </a:t>
            </a:r>
            <a:r>
              <a:rPr lang="en-US" sz="2600" b="1" dirty="0" err="1">
                <a:solidFill>
                  <a:srgbClr val="0FDCBD"/>
                </a:solidFill>
              </a:rPr>
              <a:t>upravljanja</a:t>
            </a:r>
            <a:r>
              <a:rPr lang="en-US" sz="2600" b="1" dirty="0">
                <a:solidFill>
                  <a:srgbClr val="0FDCBD"/>
                </a:solidFill>
              </a:rPr>
              <a:t> </a:t>
            </a:r>
            <a:r>
              <a:rPr lang="en-US" sz="2600" b="1" dirty="0" err="1">
                <a:solidFill>
                  <a:srgbClr val="0FDCBD"/>
                </a:solidFill>
              </a:rPr>
              <a:t>promjenama</a:t>
            </a:r>
            <a:r>
              <a:rPr lang="en-US" sz="2600" b="1" dirty="0">
                <a:solidFill>
                  <a:srgbClr val="0FDCBD"/>
                </a:solidFill>
              </a:rPr>
              <a:t> </a:t>
            </a:r>
            <a:r>
              <a:rPr lang="en-US" sz="2600" b="1" dirty="0" err="1">
                <a:solidFill>
                  <a:srgbClr val="0FDCBD"/>
                </a:solidFill>
              </a:rPr>
              <a:t>opsega</a:t>
            </a:r>
            <a:r>
              <a:rPr lang="en-US" sz="2600" b="1" dirty="0">
                <a:solidFill>
                  <a:srgbClr val="0FDCBD"/>
                </a:solidFill>
              </a:rPr>
              <a:t> </a:t>
            </a:r>
            <a:r>
              <a:rPr lang="en-US" sz="2600" dirty="0" err="1"/>
              <a:t>osigurava</a:t>
            </a:r>
            <a:r>
              <a:rPr lang="en-US" sz="2600" dirty="0"/>
              <a:t> da se </a:t>
            </a:r>
            <a:r>
              <a:rPr lang="en-US" sz="2600" dirty="0" err="1"/>
              <a:t>promjene</a:t>
            </a:r>
            <a:r>
              <a:rPr lang="en-US" sz="2600" dirty="0"/>
              <a:t> u </a:t>
            </a:r>
            <a:r>
              <a:rPr lang="en-US" sz="2600" dirty="0" err="1"/>
              <a:t>opsegu</a:t>
            </a:r>
            <a:r>
              <a:rPr lang="en-US" sz="2600" dirty="0"/>
              <a:t> </a:t>
            </a:r>
            <a:r>
              <a:rPr lang="en-US" sz="2600" dirty="0" err="1"/>
              <a:t>projekta</a:t>
            </a:r>
            <a:r>
              <a:rPr lang="en-US" sz="2600" dirty="0"/>
              <a:t> </a:t>
            </a:r>
            <a:r>
              <a:rPr lang="en-US" sz="2600" dirty="0" err="1"/>
              <a:t>pravilno</a:t>
            </a:r>
            <a:r>
              <a:rPr lang="en-US" sz="2600" dirty="0"/>
              <a:t> </a:t>
            </a:r>
            <a:r>
              <a:rPr lang="en-US" sz="2600" dirty="0" err="1"/>
              <a:t>procjenjuju</a:t>
            </a:r>
            <a:r>
              <a:rPr lang="en-US" sz="2600" dirty="0"/>
              <a:t>, </a:t>
            </a:r>
            <a:r>
              <a:rPr lang="en-US" sz="2600" dirty="0" err="1"/>
              <a:t>odobravaju</a:t>
            </a:r>
            <a:r>
              <a:rPr lang="en-US" sz="2600" dirty="0"/>
              <a:t> i </a:t>
            </a:r>
            <a:r>
              <a:rPr lang="en-US" sz="2600" dirty="0" err="1"/>
              <a:t>provode</a:t>
            </a:r>
            <a:r>
              <a:rPr lang="en-US" sz="2600" dirty="0"/>
              <a:t>. Evo </a:t>
            </a:r>
            <a:r>
              <a:rPr lang="en-US" sz="2600" dirty="0" err="1"/>
              <a:t>ključnih</a:t>
            </a:r>
            <a:r>
              <a:rPr lang="en-US" sz="2600" dirty="0"/>
              <a:t> </a:t>
            </a:r>
            <a:r>
              <a:rPr lang="en-US" sz="2600" dirty="0" err="1"/>
              <a:t>koraka</a:t>
            </a:r>
            <a:r>
              <a:rPr lang="en-US" sz="2600" dirty="0"/>
              <a:t>:</a:t>
            </a:r>
          </a:p>
          <a:p>
            <a:pPr>
              <a:buNone/>
            </a:pPr>
            <a:endParaRPr lang="en-US" sz="2600" dirty="0"/>
          </a:p>
          <a:p>
            <a:pPr>
              <a:buNone/>
            </a:pPr>
            <a:r>
              <a:rPr lang="en-US" sz="2600" b="1" dirty="0">
                <a:solidFill>
                  <a:srgbClr val="0FDCBD"/>
                </a:solidFill>
              </a:rPr>
              <a:t>1. </a:t>
            </a:r>
            <a:r>
              <a:rPr lang="en-US" sz="2600" b="1" dirty="0" err="1">
                <a:solidFill>
                  <a:srgbClr val="0FDCBD"/>
                </a:solidFill>
              </a:rPr>
              <a:t>Identificirati</a:t>
            </a:r>
            <a:r>
              <a:rPr lang="en-US" sz="2600" b="1" dirty="0">
                <a:solidFill>
                  <a:srgbClr val="0FDCBD"/>
                </a:solidFill>
              </a:rPr>
              <a:t> </a:t>
            </a:r>
            <a:r>
              <a:rPr lang="en-US" sz="2600" b="1" dirty="0" err="1">
                <a:solidFill>
                  <a:srgbClr val="0FDCBD"/>
                </a:solidFill>
              </a:rPr>
              <a:t>zahtjev</a:t>
            </a:r>
            <a:r>
              <a:rPr lang="en-US" sz="2600" b="1" dirty="0">
                <a:solidFill>
                  <a:srgbClr val="0FDCBD"/>
                </a:solidFill>
              </a:rPr>
              <a:t> za </a:t>
            </a:r>
            <a:r>
              <a:rPr lang="en-US" sz="2600" b="1" dirty="0" err="1">
                <a:solidFill>
                  <a:srgbClr val="0FDCBD"/>
                </a:solidFill>
              </a:rPr>
              <a:t>promjenom</a:t>
            </a:r>
            <a:r>
              <a:rPr lang="en-US" sz="2600" b="1" dirty="0">
                <a:solidFill>
                  <a:srgbClr val="0FDCBD"/>
                </a:solidFill>
              </a:rPr>
              <a:t> </a:t>
            </a:r>
            <a:r>
              <a:rPr lang="en-US" sz="2600" b="1" dirty="0" err="1">
                <a:solidFill>
                  <a:srgbClr val="0FDCBD"/>
                </a:solidFill>
              </a:rPr>
              <a:t>opsega</a:t>
            </a:r>
            <a:endParaRPr lang="en-US" sz="2600" b="1" dirty="0">
              <a:solidFill>
                <a:srgbClr val="0FDCBD"/>
              </a:solidFill>
            </a:endParaRPr>
          </a:p>
          <a:p>
            <a:r>
              <a:rPr lang="en-US" sz="2600" dirty="0"/>
              <a:t>Bilo koji </a:t>
            </a:r>
            <a:r>
              <a:rPr lang="en-US" sz="2600" dirty="0" err="1"/>
              <a:t>član</a:t>
            </a:r>
            <a:r>
              <a:rPr lang="en-US" sz="2600" dirty="0"/>
              <a:t> </a:t>
            </a:r>
            <a:r>
              <a:rPr lang="en-US" sz="2600" dirty="0" err="1"/>
              <a:t>tima</a:t>
            </a:r>
            <a:r>
              <a:rPr lang="en-US" sz="2600" dirty="0"/>
              <a:t>, </a:t>
            </a:r>
            <a:r>
              <a:rPr lang="en-US" sz="2600" dirty="0" err="1"/>
              <a:t>dionik</a:t>
            </a:r>
            <a:r>
              <a:rPr lang="en-US" sz="2600" dirty="0"/>
              <a:t> </a:t>
            </a:r>
            <a:r>
              <a:rPr lang="en-US" sz="2600" dirty="0" err="1"/>
              <a:t>ili</a:t>
            </a:r>
            <a:r>
              <a:rPr lang="en-US" sz="2600" dirty="0"/>
              <a:t> </a:t>
            </a:r>
            <a:r>
              <a:rPr lang="en-US" sz="2600" dirty="0" err="1"/>
              <a:t>klijent</a:t>
            </a:r>
            <a:r>
              <a:rPr lang="en-US" sz="2600" dirty="0"/>
              <a:t> </a:t>
            </a:r>
            <a:r>
              <a:rPr lang="en-US" sz="2600" dirty="0" err="1"/>
              <a:t>može</a:t>
            </a:r>
            <a:r>
              <a:rPr lang="en-US" sz="2600" dirty="0"/>
              <a:t> </a:t>
            </a:r>
            <a:r>
              <a:rPr lang="en-US" sz="2600" dirty="0" err="1"/>
              <a:t>podnijeti</a:t>
            </a:r>
            <a:r>
              <a:rPr lang="en-US" sz="2600" dirty="0"/>
              <a:t> </a:t>
            </a:r>
            <a:r>
              <a:rPr lang="en-US" sz="2600" dirty="0" err="1"/>
              <a:t>zahtjev</a:t>
            </a:r>
            <a:r>
              <a:rPr lang="en-US" sz="2600" dirty="0"/>
              <a:t> za </a:t>
            </a:r>
            <a:r>
              <a:rPr lang="en-US" sz="2600" dirty="0" err="1"/>
              <a:t>promjenom</a:t>
            </a:r>
            <a:r>
              <a:rPr lang="en-US" sz="2600" dirty="0"/>
              <a:t>.</a:t>
            </a:r>
          </a:p>
          <a:p>
            <a:r>
              <a:rPr lang="en-US" sz="2600" dirty="0"/>
              <a:t>Jasno </a:t>
            </a:r>
            <a:r>
              <a:rPr lang="en-US" sz="2600" dirty="0" err="1"/>
              <a:t>dokumentirati</a:t>
            </a:r>
            <a:r>
              <a:rPr lang="en-US" sz="2600" dirty="0"/>
              <a:t> </a:t>
            </a:r>
            <a:r>
              <a:rPr lang="en-US" sz="2600" dirty="0" err="1"/>
              <a:t>traženu</a:t>
            </a:r>
            <a:r>
              <a:rPr lang="en-US" sz="2600" dirty="0"/>
              <a:t> </a:t>
            </a:r>
            <a:r>
              <a:rPr lang="en-US" sz="2600" dirty="0" err="1"/>
              <a:t>promjenu</a:t>
            </a:r>
            <a:r>
              <a:rPr lang="en-US" sz="2600" dirty="0"/>
              <a:t>, </a:t>
            </a:r>
            <a:r>
              <a:rPr lang="en-US" sz="2600" dirty="0" err="1"/>
              <a:t>uključujući</a:t>
            </a:r>
            <a:r>
              <a:rPr lang="en-US" sz="2600" dirty="0"/>
              <a:t> </a:t>
            </a:r>
            <a:r>
              <a:rPr lang="en-US" sz="2600" dirty="0" err="1"/>
              <a:t>obrazloženje</a:t>
            </a:r>
            <a:r>
              <a:rPr lang="en-US" sz="2600" dirty="0"/>
              <a:t> i </a:t>
            </a:r>
            <a:r>
              <a:rPr lang="en-US" sz="2600" dirty="0" err="1"/>
              <a:t>očekivani</a:t>
            </a:r>
            <a:r>
              <a:rPr lang="hr-HR" sz="2600" dirty="0"/>
              <a:t> </a:t>
            </a:r>
            <a:r>
              <a:rPr lang="en-US" sz="2600" dirty="0" err="1"/>
              <a:t>utjecaj</a:t>
            </a:r>
            <a:r>
              <a:rPr lang="en-US" sz="2600" dirty="0"/>
              <a:t>.</a:t>
            </a:r>
          </a:p>
          <a:p>
            <a:pPr>
              <a:buNone/>
            </a:pPr>
            <a:r>
              <a:rPr lang="en-US" sz="2200" b="1" dirty="0">
                <a:solidFill>
                  <a:srgbClr val="0070C0"/>
                </a:solidFill>
              </a:rPr>
              <a:t>	</a:t>
            </a:r>
            <a:endParaRPr lang="en-US" sz="2200" dirty="0"/>
          </a:p>
        </p:txBody>
      </p:sp>
    </p:spTree>
    <p:extLst>
      <p:ext uri="{BB962C8B-B14F-4D97-AF65-F5344CB8AC3E}">
        <p14:creationId xmlns:p14="http://schemas.microsoft.com/office/powerpoint/2010/main" val="2876685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46BC1-5194-C04A-6EEB-7A98EAA89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3F51D-1B6A-1FAC-9D02-C182CDD86714}"/>
              </a:ext>
            </a:extLst>
          </p:cNvPr>
          <p:cNvSpPr>
            <a:spLocks noGrp="1"/>
          </p:cNvSpPr>
          <p:nvPr>
            <p:ph type="title"/>
          </p:nvPr>
        </p:nvSpPr>
        <p:spPr>
          <a:xfrm>
            <a:off x="838200" y="250825"/>
            <a:ext cx="10515600" cy="1325563"/>
          </a:xfrm>
        </p:spPr>
        <p:txBody>
          <a:bodyPr>
            <a:normAutofit/>
          </a:bodyPr>
          <a:lstStyle/>
          <a:p>
            <a:r>
              <a:rPr lang="en-US" sz="3800" dirty="0">
                <a:latin typeface="Bahnschrift SemiBold"/>
                <a:ea typeface="+mn-ea"/>
                <a:cs typeface="+mn-cs"/>
              </a:rPr>
              <a:t>Plan </a:t>
            </a:r>
            <a:r>
              <a:rPr lang="en-US" sz="3800" dirty="0" err="1">
                <a:latin typeface="Bahnschrift SemiBold"/>
                <a:ea typeface="+mn-ea"/>
                <a:cs typeface="+mn-cs"/>
              </a:rPr>
              <a:t>upravljanja</a:t>
            </a:r>
            <a:r>
              <a:rPr lang="en-US" sz="3800" dirty="0">
                <a:latin typeface="Bahnschrift SemiBold"/>
                <a:ea typeface="+mn-ea"/>
                <a:cs typeface="+mn-cs"/>
              </a:rPr>
              <a:t> </a:t>
            </a:r>
            <a:r>
              <a:rPr lang="en-US" sz="3800" dirty="0" err="1">
                <a:latin typeface="Bahnschrift SemiBold"/>
                <a:ea typeface="+mn-ea"/>
                <a:cs typeface="+mn-cs"/>
              </a:rPr>
              <a:t>promjenama</a:t>
            </a:r>
            <a:r>
              <a:rPr lang="en-US" sz="3800" dirty="0">
                <a:latin typeface="Bahnschrift SemiBold"/>
                <a:ea typeface="+mn-ea"/>
                <a:cs typeface="+mn-cs"/>
              </a:rPr>
              <a:t> </a:t>
            </a:r>
            <a:r>
              <a:rPr lang="en-US" sz="3800" dirty="0" err="1">
                <a:latin typeface="Bahnschrift SemiBold"/>
                <a:ea typeface="+mn-ea"/>
                <a:cs typeface="+mn-cs"/>
              </a:rPr>
              <a:t>opsega</a:t>
            </a:r>
            <a:r>
              <a:rPr lang="en-US" sz="3800" dirty="0">
                <a:latin typeface="Bahnschrift SemiBold"/>
                <a:ea typeface="+mn-ea"/>
                <a:cs typeface="+mn-cs"/>
              </a:rPr>
              <a:t> I.</a:t>
            </a:r>
          </a:p>
        </p:txBody>
      </p:sp>
      <p:sp>
        <p:nvSpPr>
          <p:cNvPr id="3" name="Content Placeholder 2">
            <a:extLst>
              <a:ext uri="{FF2B5EF4-FFF2-40B4-BE49-F238E27FC236}">
                <a16:creationId xmlns:a16="http://schemas.microsoft.com/office/drawing/2014/main" id="{3D4A7DF2-5500-4461-A882-C0C911502299}"/>
              </a:ext>
            </a:extLst>
          </p:cNvPr>
          <p:cNvSpPr>
            <a:spLocks noGrp="1"/>
          </p:cNvSpPr>
          <p:nvPr>
            <p:ph idx="1"/>
          </p:nvPr>
        </p:nvSpPr>
        <p:spPr>
          <a:xfrm>
            <a:off x="303253" y="1864144"/>
            <a:ext cx="11357610" cy="4351338"/>
          </a:xfrm>
        </p:spPr>
        <p:txBody>
          <a:bodyPr>
            <a:noAutofit/>
          </a:bodyPr>
          <a:lstStyle/>
          <a:p>
            <a:pPr>
              <a:buNone/>
            </a:pPr>
            <a:r>
              <a:rPr lang="en-US" sz="2600" b="1" dirty="0">
                <a:solidFill>
                  <a:srgbClr val="0ADBBC"/>
                </a:solidFill>
              </a:rPr>
              <a:t>2. </a:t>
            </a:r>
            <a:r>
              <a:rPr lang="en-US" sz="2600" b="1" dirty="0" err="1">
                <a:solidFill>
                  <a:srgbClr val="0ADBBC"/>
                </a:solidFill>
              </a:rPr>
              <a:t>Procijeniti</a:t>
            </a:r>
            <a:r>
              <a:rPr lang="en-US" sz="2600" b="1" dirty="0">
                <a:solidFill>
                  <a:srgbClr val="0ADBBC"/>
                </a:solidFill>
              </a:rPr>
              <a:t> </a:t>
            </a:r>
            <a:r>
              <a:rPr lang="en-US" sz="2600" b="1" dirty="0" err="1">
                <a:solidFill>
                  <a:srgbClr val="0ADBBC"/>
                </a:solidFill>
              </a:rPr>
              <a:t>utjecaj</a:t>
            </a:r>
            <a:endParaRPr lang="en-US" sz="2600" b="1" dirty="0">
              <a:solidFill>
                <a:srgbClr val="0ADBBC"/>
              </a:solidFill>
            </a:endParaRPr>
          </a:p>
          <a:p>
            <a:pPr>
              <a:buFont typeface="Arial" panose="020B0604020202020204" pitchFamily="34" charset="0"/>
              <a:buChar char="•"/>
            </a:pPr>
            <a:r>
              <a:rPr lang="en-US" sz="2600" dirty="0"/>
              <a:t>Analizirati </a:t>
            </a:r>
            <a:r>
              <a:rPr lang="en-US" sz="2600" dirty="0" err="1"/>
              <a:t>kako</a:t>
            </a:r>
            <a:r>
              <a:rPr lang="en-US" sz="2600" dirty="0"/>
              <a:t> </a:t>
            </a:r>
            <a:r>
              <a:rPr lang="en-US" sz="2600" dirty="0" err="1"/>
              <a:t>promjena</a:t>
            </a:r>
            <a:r>
              <a:rPr lang="en-US" sz="2600" dirty="0"/>
              <a:t> </a:t>
            </a:r>
            <a:r>
              <a:rPr lang="en-US" sz="2600" dirty="0" err="1"/>
              <a:t>utječe</a:t>
            </a:r>
            <a:r>
              <a:rPr lang="en-US" sz="2600" dirty="0"/>
              <a:t> </a:t>
            </a:r>
            <a:r>
              <a:rPr lang="en-US" sz="2600" dirty="0" err="1"/>
              <a:t>na</a:t>
            </a:r>
            <a:r>
              <a:rPr lang="en-US" sz="2600" dirty="0"/>
              <a:t> </a:t>
            </a:r>
            <a:r>
              <a:rPr lang="en-US" sz="2600" b="1" dirty="0" err="1"/>
              <a:t>raspored</a:t>
            </a:r>
            <a:r>
              <a:rPr lang="en-US" sz="2600" b="1" dirty="0"/>
              <a:t> </a:t>
            </a:r>
            <a:r>
              <a:rPr lang="en-US" sz="2600" b="1" dirty="0" err="1"/>
              <a:t>projekta</a:t>
            </a:r>
            <a:r>
              <a:rPr lang="en-US" sz="2600" b="1" dirty="0"/>
              <a:t>, </a:t>
            </a:r>
            <a:r>
              <a:rPr lang="en-US" sz="2600" b="1" dirty="0" err="1"/>
              <a:t>troškove</a:t>
            </a:r>
            <a:r>
              <a:rPr lang="en-US" sz="2600" b="1" dirty="0"/>
              <a:t>, </a:t>
            </a:r>
            <a:r>
              <a:rPr lang="en-US" sz="2600" b="1" dirty="0" err="1"/>
              <a:t>resurse</a:t>
            </a:r>
            <a:r>
              <a:rPr lang="en-US" sz="2600" b="1" dirty="0"/>
              <a:t> i </a:t>
            </a:r>
            <a:r>
              <a:rPr lang="en-US" sz="2600" b="1" dirty="0" err="1"/>
              <a:t>rizike</a:t>
            </a:r>
            <a:r>
              <a:rPr lang="en-US" sz="2600" dirty="0"/>
              <a:t>.</a:t>
            </a:r>
          </a:p>
          <a:p>
            <a:pPr>
              <a:buFont typeface="Arial" panose="020B0604020202020204" pitchFamily="34" charset="0"/>
              <a:buChar char="•"/>
            </a:pPr>
            <a:r>
              <a:rPr lang="en-US" sz="2600" dirty="0" err="1"/>
              <a:t>Procijeniti</a:t>
            </a:r>
            <a:r>
              <a:rPr lang="en-US" sz="2600" dirty="0"/>
              <a:t> </a:t>
            </a:r>
            <a:r>
              <a:rPr lang="en-US" sz="2600" dirty="0" err="1"/>
              <a:t>ovisnosti</a:t>
            </a:r>
            <a:r>
              <a:rPr lang="en-US" sz="2600" dirty="0"/>
              <a:t> s </a:t>
            </a:r>
            <a:r>
              <a:rPr lang="en-US" sz="2600" dirty="0" err="1"/>
              <a:t>ostalim</a:t>
            </a:r>
            <a:r>
              <a:rPr lang="en-US" sz="2600" dirty="0"/>
              <a:t> </a:t>
            </a:r>
            <a:r>
              <a:rPr lang="en-US" sz="2600" dirty="0" err="1"/>
              <a:t>komponentama</a:t>
            </a:r>
            <a:r>
              <a:rPr lang="en-US" sz="2600" dirty="0"/>
              <a:t> </a:t>
            </a:r>
            <a:r>
              <a:rPr lang="en-US" sz="2600" dirty="0" err="1"/>
              <a:t>projekta</a:t>
            </a:r>
            <a:r>
              <a:rPr lang="en-US" sz="2600" dirty="0"/>
              <a:t>.</a:t>
            </a:r>
          </a:p>
          <a:p>
            <a:pPr>
              <a:buFont typeface="Arial" panose="020B0604020202020204" pitchFamily="34" charset="0"/>
              <a:buChar char="•"/>
            </a:pPr>
            <a:endParaRPr lang="en-US" sz="2600" dirty="0"/>
          </a:p>
          <a:p>
            <a:pPr marL="0" indent="0">
              <a:buNone/>
            </a:pPr>
            <a:r>
              <a:rPr lang="en-US" sz="2600" b="1" dirty="0">
                <a:solidFill>
                  <a:srgbClr val="0FDCBD"/>
                </a:solidFill>
              </a:rPr>
              <a:t>3. </a:t>
            </a:r>
            <a:r>
              <a:rPr lang="en-US" sz="2600" b="1" dirty="0" err="1">
                <a:solidFill>
                  <a:srgbClr val="0FDCBD"/>
                </a:solidFill>
              </a:rPr>
              <a:t>Proces</a:t>
            </a:r>
            <a:r>
              <a:rPr lang="en-US" sz="2600" b="1" dirty="0">
                <a:solidFill>
                  <a:srgbClr val="0FDCBD"/>
                </a:solidFill>
              </a:rPr>
              <a:t> </a:t>
            </a:r>
            <a:r>
              <a:rPr lang="en-US" sz="2600" b="1" dirty="0" err="1">
                <a:solidFill>
                  <a:srgbClr val="0FDCBD"/>
                </a:solidFill>
              </a:rPr>
              <a:t>pregleda</a:t>
            </a:r>
            <a:r>
              <a:rPr lang="en-US" sz="2600" b="1" dirty="0">
                <a:solidFill>
                  <a:srgbClr val="0FDCBD"/>
                </a:solidFill>
              </a:rPr>
              <a:t> i </a:t>
            </a:r>
            <a:r>
              <a:rPr lang="en-US" sz="2600" b="1" dirty="0" err="1">
                <a:solidFill>
                  <a:srgbClr val="0FDCBD"/>
                </a:solidFill>
              </a:rPr>
              <a:t>odobravanja</a:t>
            </a:r>
            <a:endParaRPr lang="en-US" sz="2600" b="1" dirty="0">
              <a:solidFill>
                <a:srgbClr val="0FDCBD"/>
              </a:solidFill>
            </a:endParaRPr>
          </a:p>
          <a:p>
            <a:r>
              <a:rPr lang="en-US" sz="2600" dirty="0" err="1"/>
              <a:t>Podnijeti</a:t>
            </a:r>
            <a:r>
              <a:rPr lang="en-US" sz="2600" dirty="0"/>
              <a:t> </a:t>
            </a:r>
            <a:r>
              <a:rPr lang="en-US" sz="2600" dirty="0" err="1"/>
              <a:t>zahtjev</a:t>
            </a:r>
            <a:r>
              <a:rPr lang="en-US" sz="2600" dirty="0"/>
              <a:t> </a:t>
            </a:r>
            <a:r>
              <a:rPr lang="en-US" sz="2600" b="1" dirty="0"/>
              <a:t>Odboru za </a:t>
            </a:r>
            <a:r>
              <a:rPr lang="en-US" sz="2600" b="1" dirty="0" err="1"/>
              <a:t>kontrolu</a:t>
            </a:r>
            <a:r>
              <a:rPr lang="en-US" sz="2600" b="1" dirty="0"/>
              <a:t> </a:t>
            </a:r>
            <a:r>
              <a:rPr lang="en-US" sz="2600" b="1" dirty="0" err="1"/>
              <a:t>promjena</a:t>
            </a:r>
            <a:r>
              <a:rPr lang="en-US" sz="2600" b="1" dirty="0"/>
              <a:t> (</a:t>
            </a:r>
            <a:r>
              <a:rPr lang="hr-HR" sz="2600" b="1" dirty="0" err="1"/>
              <a:t>Change</a:t>
            </a:r>
            <a:r>
              <a:rPr lang="hr-HR" sz="2600" b="1" dirty="0"/>
              <a:t> </a:t>
            </a:r>
            <a:r>
              <a:rPr lang="hr-HR" sz="2600" b="1" dirty="0" err="1"/>
              <a:t>Control</a:t>
            </a:r>
            <a:r>
              <a:rPr lang="hr-HR" sz="2600" b="1" dirty="0"/>
              <a:t> Bord - </a:t>
            </a:r>
            <a:r>
              <a:rPr lang="en-US" sz="2600" b="1" dirty="0"/>
              <a:t>CCB)</a:t>
            </a:r>
            <a:r>
              <a:rPr lang="en-US" sz="2600" dirty="0"/>
              <a:t> </a:t>
            </a:r>
            <a:r>
              <a:rPr lang="en-US" sz="2600" dirty="0" err="1"/>
              <a:t>ili</a:t>
            </a:r>
            <a:r>
              <a:rPr lang="en-US" sz="2600" dirty="0"/>
              <a:t> </a:t>
            </a:r>
            <a:r>
              <a:rPr lang="en-US" sz="2600" dirty="0" err="1"/>
              <a:t>sponzoru</a:t>
            </a:r>
            <a:r>
              <a:rPr lang="en-US" sz="2600" dirty="0"/>
              <a:t> </a:t>
            </a:r>
            <a:r>
              <a:rPr lang="en-US" sz="2600" dirty="0" err="1"/>
              <a:t>projekta</a:t>
            </a:r>
            <a:r>
              <a:rPr lang="en-US" sz="2600" dirty="0"/>
              <a:t>.</a:t>
            </a:r>
          </a:p>
          <a:p>
            <a:r>
              <a:rPr lang="en-US" sz="2600" dirty="0" err="1"/>
              <a:t>Odbor</a:t>
            </a:r>
            <a:r>
              <a:rPr lang="en-US" sz="2600" dirty="0"/>
              <a:t> </a:t>
            </a:r>
            <a:r>
              <a:rPr lang="en-US" sz="2600" dirty="0" err="1"/>
              <a:t>procjenjuje</a:t>
            </a:r>
            <a:r>
              <a:rPr lang="en-US" sz="2600" dirty="0"/>
              <a:t> </a:t>
            </a:r>
            <a:r>
              <a:rPr lang="en-US" sz="2600" dirty="0" err="1"/>
              <a:t>izvedivost</a:t>
            </a:r>
            <a:r>
              <a:rPr lang="en-US" sz="2600" dirty="0"/>
              <a:t>, </a:t>
            </a:r>
            <a:r>
              <a:rPr lang="en-US" sz="2600" dirty="0" err="1"/>
              <a:t>hitnost</a:t>
            </a:r>
            <a:r>
              <a:rPr lang="en-US" sz="2600" dirty="0"/>
              <a:t> i </a:t>
            </a:r>
            <a:r>
              <a:rPr lang="en-US" sz="2600" dirty="0" err="1"/>
              <a:t>poslovnu</a:t>
            </a:r>
            <a:r>
              <a:rPr lang="en-US" sz="2600" dirty="0"/>
              <a:t> </a:t>
            </a:r>
            <a:r>
              <a:rPr lang="en-US" sz="2600" dirty="0" err="1"/>
              <a:t>vrijednost</a:t>
            </a:r>
            <a:r>
              <a:rPr lang="en-US" sz="2600" dirty="0"/>
              <a:t>.</a:t>
            </a:r>
          </a:p>
          <a:p>
            <a:pPr marL="0" indent="0">
              <a:buNone/>
            </a:pPr>
            <a:endParaRPr lang="en-US" sz="2200" dirty="0"/>
          </a:p>
        </p:txBody>
      </p:sp>
    </p:spTree>
    <p:extLst>
      <p:ext uri="{BB962C8B-B14F-4D97-AF65-F5344CB8AC3E}">
        <p14:creationId xmlns:p14="http://schemas.microsoft.com/office/powerpoint/2010/main" val="3843178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21892-DA91-5E1D-8CBE-709387D38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76458-3DE5-AAB3-D650-2F01BFBEC461}"/>
              </a:ext>
            </a:extLst>
          </p:cNvPr>
          <p:cNvSpPr>
            <a:spLocks noGrp="1"/>
          </p:cNvSpPr>
          <p:nvPr>
            <p:ph type="title"/>
          </p:nvPr>
        </p:nvSpPr>
        <p:spPr/>
        <p:txBody>
          <a:bodyPr/>
          <a:lstStyle/>
          <a:p>
            <a:r>
              <a:rPr lang="en-US" sz="3800" dirty="0">
                <a:latin typeface="Bahnschrift SemiBold"/>
                <a:ea typeface="+mn-ea"/>
                <a:cs typeface="+mn-cs"/>
              </a:rPr>
              <a:t>Plan </a:t>
            </a:r>
            <a:r>
              <a:rPr lang="en-US" sz="3800" dirty="0" err="1">
                <a:latin typeface="Bahnschrift SemiBold"/>
                <a:ea typeface="+mn-ea"/>
                <a:cs typeface="+mn-cs"/>
              </a:rPr>
              <a:t>upravljanja</a:t>
            </a:r>
            <a:r>
              <a:rPr lang="en-US" sz="3800" dirty="0">
                <a:latin typeface="Bahnschrift SemiBold"/>
                <a:ea typeface="+mn-ea"/>
                <a:cs typeface="+mn-cs"/>
              </a:rPr>
              <a:t> </a:t>
            </a:r>
            <a:r>
              <a:rPr lang="en-US" sz="3800" dirty="0" err="1">
                <a:latin typeface="Bahnschrift SemiBold"/>
                <a:ea typeface="+mn-ea"/>
                <a:cs typeface="+mn-cs"/>
              </a:rPr>
              <a:t>promjenama</a:t>
            </a:r>
            <a:r>
              <a:rPr lang="en-US" sz="3800" dirty="0">
                <a:latin typeface="Bahnschrift SemiBold"/>
                <a:ea typeface="+mn-ea"/>
                <a:cs typeface="+mn-cs"/>
              </a:rPr>
              <a:t> </a:t>
            </a:r>
            <a:r>
              <a:rPr lang="en-US" sz="3800" dirty="0" err="1">
                <a:latin typeface="Bahnschrift SemiBold"/>
                <a:ea typeface="+mn-ea"/>
                <a:cs typeface="+mn-cs"/>
              </a:rPr>
              <a:t>opsega</a:t>
            </a:r>
            <a:r>
              <a:rPr lang="en-US" sz="3800" dirty="0">
                <a:latin typeface="Bahnschrift SemiBold"/>
                <a:ea typeface="+mn-ea"/>
                <a:cs typeface="+mn-cs"/>
              </a:rPr>
              <a:t> II</a:t>
            </a:r>
            <a:r>
              <a:rPr lang="en-US" dirty="0">
                <a:latin typeface="Bahnschrift SemiBold"/>
                <a:ea typeface="+mn-ea"/>
                <a:cs typeface="+mn-cs"/>
              </a:rPr>
              <a:t>.</a:t>
            </a:r>
          </a:p>
        </p:txBody>
      </p:sp>
      <p:sp>
        <p:nvSpPr>
          <p:cNvPr id="3" name="Content Placeholder 2">
            <a:extLst>
              <a:ext uri="{FF2B5EF4-FFF2-40B4-BE49-F238E27FC236}">
                <a16:creationId xmlns:a16="http://schemas.microsoft.com/office/drawing/2014/main" id="{1AD4B7F4-9606-AEAB-2F25-C2F30AB216A6}"/>
              </a:ext>
            </a:extLst>
          </p:cNvPr>
          <p:cNvSpPr>
            <a:spLocks noGrp="1"/>
          </p:cNvSpPr>
          <p:nvPr>
            <p:ph idx="1"/>
          </p:nvPr>
        </p:nvSpPr>
        <p:spPr>
          <a:xfrm>
            <a:off x="483870" y="1802765"/>
            <a:ext cx="10789920" cy="4351338"/>
          </a:xfrm>
        </p:spPr>
        <p:txBody>
          <a:bodyPr>
            <a:noAutofit/>
          </a:bodyPr>
          <a:lstStyle/>
          <a:p>
            <a:pPr>
              <a:buNone/>
            </a:pPr>
            <a:r>
              <a:rPr lang="en-US" sz="2600" b="1" dirty="0">
                <a:solidFill>
                  <a:srgbClr val="0ADBBC"/>
                </a:solidFill>
              </a:rPr>
              <a:t>	4. </a:t>
            </a:r>
            <a:r>
              <a:rPr lang="en-US" sz="2600" b="1" dirty="0" err="1">
                <a:solidFill>
                  <a:srgbClr val="0ADBBC"/>
                </a:solidFill>
              </a:rPr>
              <a:t>Komunicirati</a:t>
            </a:r>
            <a:r>
              <a:rPr lang="en-US" sz="2600" b="1" dirty="0">
                <a:solidFill>
                  <a:srgbClr val="0ADBBC"/>
                </a:solidFill>
              </a:rPr>
              <a:t> </a:t>
            </a:r>
            <a:r>
              <a:rPr lang="en-US" sz="2600" b="1" dirty="0" err="1">
                <a:solidFill>
                  <a:srgbClr val="0ADBBC"/>
                </a:solidFill>
              </a:rPr>
              <a:t>odluku</a:t>
            </a:r>
            <a:endParaRPr lang="en-US" sz="2600" b="1" dirty="0">
              <a:solidFill>
                <a:srgbClr val="0ADBBC"/>
              </a:solidFill>
            </a:endParaRPr>
          </a:p>
          <a:p>
            <a:pPr>
              <a:buFont typeface="Arial" panose="020B0604020202020204" pitchFamily="34" charset="0"/>
              <a:buChar char="•"/>
            </a:pPr>
            <a:r>
              <a:rPr lang="en-US" sz="2600" dirty="0" err="1"/>
              <a:t>Obavijestiti</a:t>
            </a:r>
            <a:r>
              <a:rPr lang="en-US" sz="2600" dirty="0"/>
              <a:t> </a:t>
            </a:r>
            <a:r>
              <a:rPr lang="en-US" sz="2600" dirty="0" err="1"/>
              <a:t>dionike</a:t>
            </a:r>
            <a:r>
              <a:rPr lang="en-US" sz="2600" dirty="0"/>
              <a:t> o </a:t>
            </a:r>
            <a:r>
              <a:rPr lang="en-US" sz="2600" dirty="0" err="1"/>
              <a:t>odluci</a:t>
            </a:r>
            <a:r>
              <a:rPr lang="en-US" sz="2600" dirty="0"/>
              <a:t> i </a:t>
            </a:r>
            <a:r>
              <a:rPr lang="en-US" sz="2600" dirty="0" err="1"/>
              <a:t>obrazloženju</a:t>
            </a:r>
            <a:r>
              <a:rPr lang="en-US" sz="2600" dirty="0"/>
              <a:t>.</a:t>
            </a:r>
          </a:p>
          <a:p>
            <a:pPr>
              <a:buFont typeface="Arial" panose="020B0604020202020204" pitchFamily="34" charset="0"/>
              <a:buChar char="•"/>
            </a:pPr>
            <a:r>
              <a:rPr lang="en-US" sz="2600" dirty="0" err="1"/>
              <a:t>Ažurirati</a:t>
            </a:r>
            <a:r>
              <a:rPr lang="en-US" sz="2600" dirty="0"/>
              <a:t> </a:t>
            </a:r>
            <a:r>
              <a:rPr lang="en-US" sz="2600" dirty="0" err="1"/>
              <a:t>projektnu</a:t>
            </a:r>
            <a:r>
              <a:rPr lang="en-US" sz="2600" dirty="0"/>
              <a:t> </a:t>
            </a:r>
            <a:r>
              <a:rPr lang="en-US" sz="2600" dirty="0" err="1"/>
              <a:t>dokumentaciju</a:t>
            </a:r>
            <a:r>
              <a:rPr lang="en-US" sz="2600" dirty="0"/>
              <a:t>, </a:t>
            </a:r>
            <a:r>
              <a:rPr lang="en-US" sz="2600" dirty="0" err="1"/>
              <a:t>uključujući</a:t>
            </a:r>
            <a:r>
              <a:rPr lang="en-US" sz="2600" dirty="0"/>
              <a:t> </a:t>
            </a:r>
            <a:r>
              <a:rPr lang="en-US" sz="2600" dirty="0" err="1"/>
              <a:t>izjavu</a:t>
            </a:r>
            <a:r>
              <a:rPr lang="en-US" sz="2600" dirty="0"/>
              <a:t> o </a:t>
            </a:r>
            <a:r>
              <a:rPr lang="en-US" sz="2600" dirty="0" err="1"/>
              <a:t>opsegu</a:t>
            </a:r>
            <a:r>
              <a:rPr lang="en-US" sz="2600" dirty="0"/>
              <a:t> </a:t>
            </a:r>
            <a:r>
              <a:rPr lang="en-US" sz="2600" dirty="0" err="1"/>
              <a:t>projekta</a:t>
            </a:r>
            <a:r>
              <a:rPr lang="en-US" sz="2600" dirty="0"/>
              <a:t>.</a:t>
            </a:r>
          </a:p>
          <a:p>
            <a:pPr marL="0" indent="0">
              <a:buNone/>
            </a:pPr>
            <a:endParaRPr lang="en-US" sz="2600" dirty="0"/>
          </a:p>
          <a:p>
            <a:pPr>
              <a:buNone/>
            </a:pPr>
            <a:r>
              <a:rPr lang="en-US" sz="2600" b="1" dirty="0">
                <a:solidFill>
                  <a:srgbClr val="0ADBBC"/>
                </a:solidFill>
              </a:rPr>
              <a:t>	5. </a:t>
            </a:r>
            <a:r>
              <a:rPr lang="en-US" sz="2600" b="1" dirty="0" err="1">
                <a:solidFill>
                  <a:srgbClr val="0ADBBC"/>
                </a:solidFill>
              </a:rPr>
              <a:t>Provesti</a:t>
            </a:r>
            <a:r>
              <a:rPr lang="en-US" sz="2600" b="1" dirty="0">
                <a:solidFill>
                  <a:srgbClr val="0ADBBC"/>
                </a:solidFill>
              </a:rPr>
              <a:t> </a:t>
            </a:r>
            <a:r>
              <a:rPr lang="en-US" sz="2600" b="1" dirty="0" err="1">
                <a:solidFill>
                  <a:srgbClr val="0ADBBC"/>
                </a:solidFill>
              </a:rPr>
              <a:t>odobrenu</a:t>
            </a:r>
            <a:r>
              <a:rPr lang="en-US" sz="2600" b="1" dirty="0">
                <a:solidFill>
                  <a:srgbClr val="0ADBBC"/>
                </a:solidFill>
              </a:rPr>
              <a:t> </a:t>
            </a:r>
            <a:r>
              <a:rPr lang="en-US" sz="2600" b="1" dirty="0" err="1">
                <a:solidFill>
                  <a:srgbClr val="0ADBBC"/>
                </a:solidFill>
              </a:rPr>
              <a:t>promjenu</a:t>
            </a:r>
            <a:endParaRPr lang="en-US" sz="2600" b="1" dirty="0">
              <a:solidFill>
                <a:srgbClr val="0ADBBC"/>
              </a:solidFill>
            </a:endParaRPr>
          </a:p>
          <a:p>
            <a:pPr>
              <a:buFont typeface="Arial" panose="020B0604020202020204" pitchFamily="34" charset="0"/>
              <a:buChar char="•"/>
            </a:pPr>
            <a:r>
              <a:rPr lang="en-US" sz="2600" dirty="0"/>
              <a:t>Ažurirati </a:t>
            </a:r>
            <a:r>
              <a:rPr lang="en-US" sz="2600" dirty="0" err="1"/>
              <a:t>projektne</a:t>
            </a:r>
            <a:r>
              <a:rPr lang="en-US" sz="2600" dirty="0"/>
              <a:t> </a:t>
            </a:r>
            <a:r>
              <a:rPr lang="en-US" sz="2600" dirty="0" err="1"/>
              <a:t>planove</a:t>
            </a:r>
            <a:r>
              <a:rPr lang="en-US" sz="2600" dirty="0"/>
              <a:t>, </a:t>
            </a:r>
            <a:r>
              <a:rPr lang="en-US" sz="2600" dirty="0" err="1"/>
              <a:t>rasporede</a:t>
            </a:r>
            <a:r>
              <a:rPr lang="en-US" sz="2600" dirty="0"/>
              <a:t> i </a:t>
            </a:r>
            <a:r>
              <a:rPr lang="en-US" sz="2600" dirty="0" err="1"/>
              <a:t>proračune</a:t>
            </a:r>
            <a:r>
              <a:rPr lang="en-US" sz="2600" dirty="0"/>
              <a:t> u </a:t>
            </a:r>
            <a:r>
              <a:rPr lang="en-US" sz="2600" dirty="0" err="1"/>
              <a:t>skladu</a:t>
            </a:r>
            <a:r>
              <a:rPr lang="en-US" sz="2600" dirty="0"/>
              <a:t> s </a:t>
            </a:r>
            <a:r>
              <a:rPr lang="en-US" sz="2600" dirty="0" err="1"/>
              <a:t>promjenom</a:t>
            </a:r>
            <a:r>
              <a:rPr lang="en-US" sz="2600" dirty="0"/>
              <a:t>.</a:t>
            </a:r>
          </a:p>
          <a:p>
            <a:pPr>
              <a:buFont typeface="Arial" panose="020B0604020202020204" pitchFamily="34" charset="0"/>
              <a:buChar char="•"/>
            </a:pPr>
            <a:r>
              <a:rPr lang="en-US" sz="2600" dirty="0" err="1"/>
              <a:t>Raspodijeliti</a:t>
            </a:r>
            <a:r>
              <a:rPr lang="en-US" sz="2600" dirty="0"/>
              <a:t> </a:t>
            </a:r>
            <a:r>
              <a:rPr lang="en-US" sz="2600" dirty="0" err="1"/>
              <a:t>potrebne</a:t>
            </a:r>
            <a:r>
              <a:rPr lang="en-US" sz="2600" dirty="0"/>
              <a:t> </a:t>
            </a:r>
            <a:r>
              <a:rPr lang="en-US" sz="2600" dirty="0" err="1"/>
              <a:t>resurse</a:t>
            </a:r>
            <a:r>
              <a:rPr lang="en-US" sz="2600" dirty="0"/>
              <a:t> za </a:t>
            </a:r>
            <a:r>
              <a:rPr lang="en-US" sz="2600" dirty="0" err="1"/>
              <a:t>provedbu</a:t>
            </a:r>
            <a:r>
              <a:rPr lang="en-US" sz="2600" dirty="0"/>
              <a:t>.</a:t>
            </a:r>
          </a:p>
          <a:p>
            <a:pPr>
              <a:buNone/>
            </a:pPr>
            <a:r>
              <a:rPr lang="en-US" sz="2600" b="1" dirty="0"/>
              <a:t>	</a:t>
            </a:r>
            <a:endParaRPr lang="en-US" sz="2600" dirty="0"/>
          </a:p>
        </p:txBody>
      </p:sp>
    </p:spTree>
    <p:extLst>
      <p:ext uri="{BB962C8B-B14F-4D97-AF65-F5344CB8AC3E}">
        <p14:creationId xmlns:p14="http://schemas.microsoft.com/office/powerpoint/2010/main" val="3049684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9478-5E14-7B84-D813-90CA64EDA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CA626-E10E-D491-0098-98EDC3B1584F}"/>
              </a:ext>
            </a:extLst>
          </p:cNvPr>
          <p:cNvSpPr>
            <a:spLocks noGrp="1"/>
          </p:cNvSpPr>
          <p:nvPr>
            <p:ph type="title"/>
          </p:nvPr>
        </p:nvSpPr>
        <p:spPr/>
        <p:txBody>
          <a:bodyPr/>
          <a:lstStyle/>
          <a:p>
            <a:r>
              <a:rPr lang="en-US" sz="3800" dirty="0">
                <a:latin typeface="Bahnschrift SemiBold"/>
                <a:ea typeface="+mn-ea"/>
                <a:cs typeface="+mn-cs"/>
              </a:rPr>
              <a:t>Plan </a:t>
            </a:r>
            <a:r>
              <a:rPr lang="en-US" sz="3800" dirty="0" err="1">
                <a:latin typeface="Bahnschrift SemiBold"/>
                <a:ea typeface="+mn-ea"/>
                <a:cs typeface="+mn-cs"/>
              </a:rPr>
              <a:t>upravljanja</a:t>
            </a:r>
            <a:r>
              <a:rPr lang="en-US" sz="3800" dirty="0">
                <a:latin typeface="Bahnschrift SemiBold"/>
                <a:ea typeface="+mn-ea"/>
                <a:cs typeface="+mn-cs"/>
              </a:rPr>
              <a:t> </a:t>
            </a:r>
            <a:r>
              <a:rPr lang="en-US" sz="3800" dirty="0" err="1">
                <a:latin typeface="Bahnschrift SemiBold"/>
                <a:ea typeface="+mn-ea"/>
                <a:cs typeface="+mn-cs"/>
              </a:rPr>
              <a:t>promjenama</a:t>
            </a:r>
            <a:r>
              <a:rPr lang="en-US" sz="3800" dirty="0">
                <a:latin typeface="Bahnschrift SemiBold"/>
                <a:ea typeface="+mn-ea"/>
                <a:cs typeface="+mn-cs"/>
              </a:rPr>
              <a:t> </a:t>
            </a:r>
            <a:r>
              <a:rPr lang="en-US" sz="3800" dirty="0" err="1">
                <a:latin typeface="Bahnschrift SemiBold"/>
                <a:ea typeface="+mn-ea"/>
                <a:cs typeface="+mn-cs"/>
              </a:rPr>
              <a:t>opsega</a:t>
            </a:r>
            <a:r>
              <a:rPr lang="en-US" sz="3800" dirty="0">
                <a:latin typeface="Bahnschrift SemiBold"/>
                <a:ea typeface="+mn-ea"/>
                <a:cs typeface="+mn-cs"/>
              </a:rPr>
              <a:t> II</a:t>
            </a:r>
            <a:r>
              <a:rPr lang="en-US" dirty="0">
                <a:latin typeface="Bahnschrift SemiBold"/>
                <a:ea typeface="+mn-ea"/>
                <a:cs typeface="+mn-cs"/>
              </a:rPr>
              <a:t>.</a:t>
            </a:r>
          </a:p>
        </p:txBody>
      </p:sp>
      <p:sp>
        <p:nvSpPr>
          <p:cNvPr id="3" name="Content Placeholder 2">
            <a:extLst>
              <a:ext uri="{FF2B5EF4-FFF2-40B4-BE49-F238E27FC236}">
                <a16:creationId xmlns:a16="http://schemas.microsoft.com/office/drawing/2014/main" id="{78912525-E04D-931F-09CB-93E6C87F0F8B}"/>
              </a:ext>
            </a:extLst>
          </p:cNvPr>
          <p:cNvSpPr>
            <a:spLocks noGrp="1"/>
          </p:cNvSpPr>
          <p:nvPr>
            <p:ph idx="1"/>
          </p:nvPr>
        </p:nvSpPr>
        <p:spPr>
          <a:xfrm>
            <a:off x="483870" y="1802765"/>
            <a:ext cx="10789920" cy="4351338"/>
          </a:xfrm>
        </p:spPr>
        <p:txBody>
          <a:bodyPr>
            <a:noAutofit/>
          </a:bodyPr>
          <a:lstStyle/>
          <a:p>
            <a:pPr>
              <a:buNone/>
            </a:pPr>
            <a:r>
              <a:rPr lang="en-US" sz="2600" b="1" dirty="0">
                <a:solidFill>
                  <a:srgbClr val="0ADBBC"/>
                </a:solidFill>
              </a:rPr>
              <a:t>	6. Pratiti i </a:t>
            </a:r>
            <a:r>
              <a:rPr lang="en-US" sz="2600" b="1" dirty="0" err="1">
                <a:solidFill>
                  <a:srgbClr val="0ADBBC"/>
                </a:solidFill>
              </a:rPr>
              <a:t>nadzirati</a:t>
            </a:r>
            <a:r>
              <a:rPr lang="en-US" sz="2600" b="1" dirty="0">
                <a:solidFill>
                  <a:srgbClr val="0ADBBC"/>
                </a:solidFill>
              </a:rPr>
              <a:t> </a:t>
            </a:r>
            <a:r>
              <a:rPr lang="en-US" sz="2600" b="1" dirty="0" err="1">
                <a:solidFill>
                  <a:srgbClr val="0ADBBC"/>
                </a:solidFill>
              </a:rPr>
              <a:t>promjene</a:t>
            </a:r>
            <a:endParaRPr lang="en-US" sz="2600" b="1" dirty="0">
              <a:solidFill>
                <a:srgbClr val="0ADBBC"/>
              </a:solidFill>
            </a:endParaRPr>
          </a:p>
          <a:p>
            <a:pPr>
              <a:buFont typeface="Arial" panose="020B0604020202020204" pitchFamily="34" charset="0"/>
              <a:buChar char="•"/>
            </a:pPr>
            <a:r>
              <a:rPr lang="it-IT" sz="2600" dirty="0" err="1"/>
              <a:t>Osigurati</a:t>
            </a:r>
            <a:r>
              <a:rPr lang="it-IT" sz="2600" dirty="0"/>
              <a:t> da se </a:t>
            </a:r>
            <a:r>
              <a:rPr lang="it-IT" sz="2600" dirty="0" err="1"/>
              <a:t>promjena</a:t>
            </a:r>
            <a:r>
              <a:rPr lang="it-IT" sz="2600" dirty="0"/>
              <a:t> </a:t>
            </a:r>
            <a:r>
              <a:rPr lang="it-IT" sz="2600" dirty="0" err="1"/>
              <a:t>ispravno</a:t>
            </a:r>
            <a:r>
              <a:rPr lang="it-IT" sz="2600" dirty="0"/>
              <a:t> </a:t>
            </a:r>
            <a:r>
              <a:rPr lang="it-IT" sz="2600" dirty="0" err="1"/>
              <a:t>provodi</a:t>
            </a:r>
            <a:r>
              <a:rPr lang="it-IT" sz="2600" dirty="0"/>
              <a:t> i da ne </a:t>
            </a:r>
            <a:r>
              <a:rPr lang="it-IT" sz="2600" dirty="0" err="1"/>
              <a:t>uvodi</a:t>
            </a:r>
            <a:r>
              <a:rPr lang="it-IT" sz="2600" dirty="0"/>
              <a:t> nove </a:t>
            </a:r>
            <a:r>
              <a:rPr lang="it-IT" sz="2600" dirty="0" err="1"/>
              <a:t>rizike</a:t>
            </a:r>
            <a:r>
              <a:rPr lang="it-IT" sz="2600" dirty="0"/>
              <a:t>.</a:t>
            </a:r>
          </a:p>
          <a:p>
            <a:pPr>
              <a:buFont typeface="Arial" panose="020B0604020202020204" pitchFamily="34" charset="0"/>
              <a:buChar char="•"/>
            </a:pPr>
            <a:r>
              <a:rPr lang="it-IT" sz="2600" dirty="0"/>
              <a:t>Pratiti </a:t>
            </a:r>
            <a:r>
              <a:rPr lang="it-IT" sz="2600" dirty="0" err="1"/>
              <a:t>napredak</a:t>
            </a:r>
            <a:r>
              <a:rPr lang="it-IT" sz="2600" dirty="0"/>
              <a:t> i </a:t>
            </a:r>
            <a:r>
              <a:rPr lang="it-IT" sz="2600" dirty="0" err="1"/>
              <a:t>procijeniti</a:t>
            </a:r>
            <a:r>
              <a:rPr lang="it-IT" sz="2600" dirty="0"/>
              <a:t> </a:t>
            </a:r>
            <a:r>
              <a:rPr lang="it-IT" sz="2600" dirty="0" err="1"/>
              <a:t>jesu</a:t>
            </a:r>
            <a:r>
              <a:rPr lang="it-IT" sz="2600" dirty="0"/>
              <a:t> li </a:t>
            </a:r>
            <a:r>
              <a:rPr lang="it-IT" sz="2600" dirty="0" err="1"/>
              <a:t>potrebne</a:t>
            </a:r>
            <a:r>
              <a:rPr lang="it-IT" sz="2600" dirty="0"/>
              <a:t> </a:t>
            </a:r>
            <a:r>
              <a:rPr lang="it-IT" sz="2600" dirty="0" err="1"/>
              <a:t>dodatne</a:t>
            </a:r>
            <a:r>
              <a:rPr lang="it-IT" sz="2600" dirty="0"/>
              <a:t> </a:t>
            </a:r>
            <a:r>
              <a:rPr lang="it-IT" sz="2600" dirty="0" err="1"/>
              <a:t>prilagodbe</a:t>
            </a:r>
            <a:r>
              <a:rPr lang="en-US" sz="2600" dirty="0"/>
              <a:t>.</a:t>
            </a:r>
          </a:p>
          <a:p>
            <a:pPr>
              <a:buFont typeface="Arial" panose="020B0604020202020204" pitchFamily="34" charset="0"/>
              <a:buChar char="•"/>
            </a:pPr>
            <a:endParaRPr lang="en-US" sz="2600" dirty="0"/>
          </a:p>
          <a:p>
            <a:pPr>
              <a:buNone/>
            </a:pPr>
            <a:r>
              <a:rPr lang="en-US" sz="2600" b="1" dirty="0">
                <a:solidFill>
                  <a:srgbClr val="0ADBBC"/>
                </a:solidFill>
              </a:rPr>
              <a:t>	7. </a:t>
            </a:r>
            <a:r>
              <a:rPr lang="en-US" sz="2600" b="1" dirty="0" err="1">
                <a:solidFill>
                  <a:srgbClr val="0ADBBC"/>
                </a:solidFill>
              </a:rPr>
              <a:t>Dokumentirati</a:t>
            </a:r>
            <a:r>
              <a:rPr lang="en-US" sz="2600" b="1" dirty="0">
                <a:solidFill>
                  <a:srgbClr val="0ADBBC"/>
                </a:solidFill>
              </a:rPr>
              <a:t> i </a:t>
            </a:r>
            <a:r>
              <a:rPr lang="en-US" sz="2600" b="1" dirty="0" err="1">
                <a:solidFill>
                  <a:srgbClr val="0ADBBC"/>
                </a:solidFill>
              </a:rPr>
              <a:t>arhivirati</a:t>
            </a:r>
            <a:endParaRPr lang="en-US" sz="2600" b="1" dirty="0">
              <a:solidFill>
                <a:srgbClr val="0ADBBC"/>
              </a:solidFill>
            </a:endParaRPr>
          </a:p>
          <a:p>
            <a:pPr>
              <a:buFont typeface="Arial" panose="020B0604020202020204" pitchFamily="34" charset="0"/>
              <a:buChar char="•"/>
            </a:pPr>
            <a:r>
              <a:rPr lang="en-US" sz="2600" dirty="0" err="1"/>
              <a:t>Voditi</a:t>
            </a:r>
            <a:r>
              <a:rPr lang="en-US" sz="2600" dirty="0"/>
              <a:t> </a:t>
            </a:r>
            <a:r>
              <a:rPr lang="en-US" sz="2600" dirty="0" err="1"/>
              <a:t>evidenciju</a:t>
            </a:r>
            <a:r>
              <a:rPr lang="en-US" sz="2600" dirty="0"/>
              <a:t> </a:t>
            </a:r>
            <a:r>
              <a:rPr lang="en-US" sz="2600" dirty="0" err="1"/>
              <a:t>svih</a:t>
            </a:r>
            <a:r>
              <a:rPr lang="en-US" sz="2600" dirty="0"/>
              <a:t> </a:t>
            </a:r>
            <a:r>
              <a:rPr lang="en-US" sz="2600" dirty="0" err="1"/>
              <a:t>zahtjeva</a:t>
            </a:r>
            <a:r>
              <a:rPr lang="en-US" sz="2600" dirty="0"/>
              <a:t> za </a:t>
            </a:r>
            <a:r>
              <a:rPr lang="en-US" sz="2600" dirty="0" err="1"/>
              <a:t>promjenama</a:t>
            </a:r>
            <a:r>
              <a:rPr lang="en-US" sz="2600" dirty="0"/>
              <a:t> i </a:t>
            </a:r>
            <a:r>
              <a:rPr lang="en-US" sz="2600" dirty="0" err="1"/>
              <a:t>donesenih</a:t>
            </a:r>
            <a:r>
              <a:rPr lang="en-US" sz="2600" dirty="0"/>
              <a:t> </a:t>
            </a:r>
            <a:r>
              <a:rPr lang="en-US" sz="2600" dirty="0" err="1"/>
              <a:t>odluka</a:t>
            </a:r>
            <a:r>
              <a:rPr lang="en-US" sz="2600" dirty="0"/>
              <a:t> za </a:t>
            </a:r>
            <a:r>
              <a:rPr lang="en-US" sz="2600" dirty="0" err="1"/>
              <a:t>buduću</a:t>
            </a:r>
            <a:r>
              <a:rPr lang="en-US" sz="2600" dirty="0"/>
              <a:t> </a:t>
            </a:r>
            <a:r>
              <a:rPr lang="en-US" sz="2600" dirty="0" err="1"/>
              <a:t>referencu</a:t>
            </a:r>
            <a:r>
              <a:rPr lang="en-US" sz="2600" dirty="0"/>
              <a:t>.</a:t>
            </a:r>
          </a:p>
          <a:p>
            <a:pPr>
              <a:buFont typeface="Arial" panose="020B0604020202020204" pitchFamily="34" charset="0"/>
              <a:buChar char="•"/>
            </a:pPr>
            <a:r>
              <a:rPr lang="en-US" sz="2600" dirty="0" err="1"/>
              <a:t>Iskoristiti</a:t>
            </a:r>
            <a:r>
              <a:rPr lang="en-US" sz="2600" dirty="0"/>
              <a:t> </a:t>
            </a:r>
            <a:r>
              <a:rPr lang="en-US" sz="2600" dirty="0" err="1"/>
              <a:t>naučene</a:t>
            </a:r>
            <a:r>
              <a:rPr lang="en-US" sz="2600" dirty="0"/>
              <a:t> </a:t>
            </a:r>
            <a:r>
              <a:rPr lang="en-US" sz="2600" dirty="0" err="1"/>
              <a:t>lekcije</a:t>
            </a:r>
            <a:r>
              <a:rPr lang="en-US" sz="2600" dirty="0"/>
              <a:t> za </a:t>
            </a:r>
            <a:r>
              <a:rPr lang="en-US" sz="2600" dirty="0" err="1"/>
              <a:t>unapređenje</a:t>
            </a:r>
            <a:r>
              <a:rPr lang="en-US" sz="2600" dirty="0"/>
              <a:t> </a:t>
            </a:r>
            <a:r>
              <a:rPr lang="en-US" sz="2600" dirty="0" err="1"/>
              <a:t>budućih</a:t>
            </a:r>
            <a:r>
              <a:rPr lang="en-US" sz="2600" dirty="0"/>
              <a:t> </a:t>
            </a:r>
            <a:r>
              <a:rPr lang="en-US" sz="2600" dirty="0" err="1"/>
              <a:t>procesa</a:t>
            </a:r>
            <a:r>
              <a:rPr lang="en-US" sz="2600" dirty="0"/>
              <a:t> </a:t>
            </a:r>
            <a:r>
              <a:rPr lang="en-US" sz="2600" dirty="0" err="1"/>
              <a:t>upravljanja</a:t>
            </a:r>
            <a:r>
              <a:rPr lang="en-US" sz="2600" dirty="0"/>
              <a:t> </a:t>
            </a:r>
            <a:r>
              <a:rPr lang="en-US" sz="2600" dirty="0" err="1"/>
              <a:t>promjenama</a:t>
            </a:r>
            <a:r>
              <a:rPr lang="en-US" sz="2600" dirty="0"/>
              <a:t>.</a:t>
            </a:r>
          </a:p>
          <a:p>
            <a:pPr marL="0" indent="0">
              <a:buNone/>
            </a:pPr>
            <a:endParaRPr lang="en-US" sz="2600" dirty="0"/>
          </a:p>
          <a:p>
            <a:pPr marL="0" indent="0">
              <a:buNone/>
            </a:pPr>
            <a:endParaRPr lang="en-US" sz="2600" dirty="0"/>
          </a:p>
          <a:p>
            <a:pPr>
              <a:buNone/>
            </a:pPr>
            <a:endParaRPr lang="en-US" sz="2000" dirty="0"/>
          </a:p>
        </p:txBody>
      </p:sp>
    </p:spTree>
    <p:extLst>
      <p:ext uri="{BB962C8B-B14F-4D97-AF65-F5344CB8AC3E}">
        <p14:creationId xmlns:p14="http://schemas.microsoft.com/office/powerpoint/2010/main" val="3151053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CE9A-14E4-18BF-FA8F-1333B23DE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C4193-E25D-93F4-D4F6-B0A6D7A99D7C}"/>
              </a:ext>
            </a:extLst>
          </p:cNvPr>
          <p:cNvSpPr>
            <a:spLocks noGrp="1"/>
          </p:cNvSpPr>
          <p:nvPr>
            <p:ph type="title"/>
          </p:nvPr>
        </p:nvSpPr>
        <p:spPr>
          <a:xfrm>
            <a:off x="1014846" y="250825"/>
            <a:ext cx="10515600" cy="1325563"/>
          </a:xfrm>
        </p:spPr>
        <p:txBody>
          <a:bodyPr>
            <a:normAutofit fontScale="90000"/>
          </a:bodyPr>
          <a:lstStyle/>
          <a:p>
            <a:r>
              <a:rPr lang="en-US" sz="4800" dirty="0">
                <a:latin typeface="Bahnschrift SemiLight" panose="020B0502040204020203" pitchFamily="34" charset="0"/>
              </a:rPr>
              <a:t> </a:t>
            </a:r>
            <a:br>
              <a:rPr lang="en-US" sz="4800" dirty="0">
                <a:latin typeface="Bahnschrift SemiLight" panose="020B0502040204020203" pitchFamily="34" charset="0"/>
              </a:rPr>
            </a:br>
            <a:r>
              <a:rPr lang="en-US" sz="4200" dirty="0">
                <a:latin typeface="Bahnschrift SemiBold"/>
                <a:ea typeface="+mn-ea"/>
                <a:cs typeface="+mn-cs"/>
              </a:rPr>
              <a:t>Studija </a:t>
            </a:r>
            <a:r>
              <a:rPr lang="en-US" sz="4200" dirty="0" err="1">
                <a:latin typeface="Bahnschrift SemiBold"/>
                <a:ea typeface="+mn-ea"/>
                <a:cs typeface="+mn-cs"/>
              </a:rPr>
              <a:t>slučaja</a:t>
            </a:r>
            <a:r>
              <a:rPr lang="en-US" sz="4200" dirty="0">
                <a:latin typeface="Bahnschrift SemiBold"/>
                <a:ea typeface="+mn-ea"/>
                <a:cs typeface="+mn-cs"/>
              </a:rPr>
              <a:t>: </a:t>
            </a:r>
            <a:r>
              <a:rPr lang="en-US" sz="4200" dirty="0" err="1">
                <a:latin typeface="Bahnschrift SemiBold"/>
                <a:ea typeface="+mn-ea"/>
                <a:cs typeface="+mn-cs"/>
              </a:rPr>
              <a:t>Provedba</a:t>
            </a:r>
            <a:r>
              <a:rPr lang="en-US" sz="4200" dirty="0">
                <a:latin typeface="Bahnschrift SemiBold"/>
                <a:ea typeface="+mn-ea"/>
                <a:cs typeface="+mn-cs"/>
              </a:rPr>
              <a:t> </a:t>
            </a:r>
            <a:r>
              <a:rPr lang="en-US" sz="4200" dirty="0" err="1">
                <a:latin typeface="Bahnschrift SemiBold"/>
                <a:ea typeface="+mn-ea"/>
                <a:cs typeface="+mn-cs"/>
              </a:rPr>
              <a:t>promjene</a:t>
            </a:r>
            <a:r>
              <a:rPr lang="en-US" sz="4200" dirty="0">
                <a:latin typeface="Bahnschrift SemiBold"/>
                <a:ea typeface="+mn-ea"/>
                <a:cs typeface="+mn-cs"/>
              </a:rPr>
              <a:t> </a:t>
            </a:r>
            <a:r>
              <a:rPr lang="en-US" sz="4200" dirty="0" err="1">
                <a:latin typeface="Bahnschrift SemiBold"/>
                <a:ea typeface="+mn-ea"/>
                <a:cs typeface="+mn-cs"/>
              </a:rPr>
              <a:t>opsega</a:t>
            </a:r>
            <a:r>
              <a:rPr lang="en-US" sz="4200" dirty="0">
                <a:latin typeface="Bahnschrift SemiBold"/>
                <a:ea typeface="+mn-ea"/>
                <a:cs typeface="+mn-cs"/>
              </a:rPr>
              <a:t> u </a:t>
            </a:r>
            <a:r>
              <a:rPr lang="en-US" sz="4200" dirty="0" err="1">
                <a:latin typeface="Bahnschrift SemiBold"/>
                <a:ea typeface="+mn-ea"/>
                <a:cs typeface="+mn-cs"/>
              </a:rPr>
              <a:t>projektu</a:t>
            </a:r>
            <a:r>
              <a:rPr lang="en-US" sz="4200" dirty="0">
                <a:latin typeface="Bahnschrift SemiBold"/>
                <a:ea typeface="+mn-ea"/>
                <a:cs typeface="+mn-cs"/>
              </a:rPr>
              <a:t> </a:t>
            </a:r>
            <a:r>
              <a:rPr lang="en-US" sz="4200" dirty="0" err="1">
                <a:latin typeface="Bahnschrift SemiBold"/>
                <a:ea typeface="+mn-ea"/>
                <a:cs typeface="+mn-cs"/>
              </a:rPr>
              <a:t>proizvodnje</a:t>
            </a:r>
            <a:r>
              <a:rPr lang="en-US" sz="4200" dirty="0">
                <a:latin typeface="Bahnschrift SemiBold"/>
                <a:ea typeface="+mn-ea"/>
                <a:cs typeface="+mn-cs"/>
              </a:rPr>
              <a:t> </a:t>
            </a:r>
            <a:r>
              <a:rPr lang="en-US" sz="4200" dirty="0" err="1">
                <a:latin typeface="Bahnschrift SemiBold"/>
                <a:ea typeface="+mn-ea"/>
                <a:cs typeface="+mn-cs"/>
              </a:rPr>
              <a:t>uniformi</a:t>
            </a:r>
            <a:br>
              <a:rPr lang="en-US" b="1" dirty="0">
                <a:latin typeface="Bahnschrift SemiLight" panose="020B0502040204020203" pitchFamily="34" charset="0"/>
              </a:rPr>
            </a:br>
            <a:br>
              <a:rPr lang="en-US" b="1" dirty="0">
                <a:latin typeface="Bahnschrift SemiLight" panose="020B0502040204020203" pitchFamily="34" charset="0"/>
              </a:rPr>
            </a:br>
            <a:r>
              <a:rPr lang="en-US" b="1" dirty="0">
                <a:latin typeface="Bahnschrift SemiLight" panose="020B0502040204020203" pitchFamily="34" charset="0"/>
              </a:rPr>
              <a:t> </a:t>
            </a:r>
          </a:p>
        </p:txBody>
      </p:sp>
      <p:sp>
        <p:nvSpPr>
          <p:cNvPr id="3" name="Content Placeholder 2">
            <a:extLst>
              <a:ext uri="{FF2B5EF4-FFF2-40B4-BE49-F238E27FC236}">
                <a16:creationId xmlns:a16="http://schemas.microsoft.com/office/drawing/2014/main" id="{E4C04CC9-1646-FB74-90EC-0DCF5D5176B9}"/>
              </a:ext>
            </a:extLst>
          </p:cNvPr>
          <p:cNvSpPr>
            <a:spLocks noGrp="1"/>
          </p:cNvSpPr>
          <p:nvPr>
            <p:ph idx="1"/>
          </p:nvPr>
        </p:nvSpPr>
        <p:spPr>
          <a:xfrm>
            <a:off x="436559" y="1825625"/>
            <a:ext cx="10515600" cy="4351338"/>
          </a:xfrm>
        </p:spPr>
        <p:txBody>
          <a:bodyPr>
            <a:normAutofit fontScale="92500" lnSpcReduction="20000"/>
          </a:bodyPr>
          <a:lstStyle/>
          <a:p>
            <a:pPr>
              <a:buNone/>
            </a:pPr>
            <a:r>
              <a:rPr lang="en-US" sz="2400" b="1" dirty="0" err="1"/>
              <a:t>Pregled</a:t>
            </a:r>
            <a:r>
              <a:rPr lang="en-US" sz="2400" b="1" dirty="0"/>
              <a:t> </a:t>
            </a:r>
            <a:r>
              <a:rPr lang="en-US" sz="2400" b="1" dirty="0" err="1"/>
              <a:t>projekta</a:t>
            </a:r>
            <a:endParaRPr lang="en-US" sz="2400" b="1" dirty="0"/>
          </a:p>
          <a:p>
            <a:pPr>
              <a:buNone/>
            </a:pPr>
            <a:r>
              <a:rPr lang="en-US" sz="2400" b="1" dirty="0" err="1">
                <a:solidFill>
                  <a:srgbClr val="0FDCBD"/>
                </a:solidFill>
              </a:rPr>
              <a:t>Naziv</a:t>
            </a:r>
            <a:r>
              <a:rPr lang="en-US" sz="2400" b="1" dirty="0">
                <a:solidFill>
                  <a:srgbClr val="0FDCBD"/>
                </a:solidFill>
              </a:rPr>
              <a:t> </a:t>
            </a:r>
            <a:r>
              <a:rPr lang="en-US" sz="2400" b="1" dirty="0" err="1">
                <a:solidFill>
                  <a:srgbClr val="0FDCBD"/>
                </a:solidFill>
              </a:rPr>
              <a:t>projekta</a:t>
            </a:r>
            <a:r>
              <a:rPr lang="en-US" sz="2400" b="1" dirty="0">
                <a:solidFill>
                  <a:srgbClr val="0FDCBD"/>
                </a:solidFill>
              </a:rPr>
              <a:t>: </a:t>
            </a:r>
            <a:r>
              <a:rPr lang="en-US" sz="2400" dirty="0" err="1"/>
              <a:t>Proizvodnja</a:t>
            </a:r>
            <a:r>
              <a:rPr lang="en-US" sz="2400" dirty="0"/>
              <a:t> </a:t>
            </a:r>
            <a:r>
              <a:rPr lang="en-US" sz="2400" dirty="0" err="1"/>
              <a:t>školskih</a:t>
            </a:r>
            <a:r>
              <a:rPr lang="en-US" sz="2400" dirty="0"/>
              <a:t> </a:t>
            </a:r>
            <a:r>
              <a:rPr lang="en-US" sz="2400" dirty="0" err="1"/>
              <a:t>uniformi</a:t>
            </a:r>
            <a:r>
              <a:rPr lang="en-US" sz="2400" dirty="0"/>
              <a:t> za Greenfield Academy</a:t>
            </a:r>
          </a:p>
          <a:p>
            <a:pPr>
              <a:buNone/>
            </a:pPr>
            <a:r>
              <a:rPr lang="en-US" sz="2400" b="1" dirty="0" err="1"/>
              <a:t>Cilj</a:t>
            </a:r>
            <a:r>
              <a:rPr lang="en-US" sz="2400" b="1" dirty="0"/>
              <a:t>: </a:t>
            </a:r>
            <a:r>
              <a:rPr lang="en-US" sz="2400" dirty="0" err="1"/>
              <a:t>Proizvesti</a:t>
            </a:r>
            <a:r>
              <a:rPr lang="en-US" sz="2400" dirty="0"/>
              <a:t> i </a:t>
            </a:r>
            <a:r>
              <a:rPr lang="en-US" sz="2400" dirty="0" err="1"/>
              <a:t>isporučiti</a:t>
            </a:r>
            <a:r>
              <a:rPr lang="en-US" sz="2400" dirty="0"/>
              <a:t> 2.000 </a:t>
            </a:r>
            <a:r>
              <a:rPr lang="en-US" sz="2400" dirty="0" err="1"/>
              <a:t>školskih</a:t>
            </a:r>
            <a:r>
              <a:rPr lang="en-US" sz="2400" dirty="0"/>
              <a:t> </a:t>
            </a:r>
            <a:r>
              <a:rPr lang="en-US" sz="2400" dirty="0" err="1"/>
              <a:t>uniformi</a:t>
            </a:r>
            <a:r>
              <a:rPr lang="en-US" sz="2400" dirty="0"/>
              <a:t> (</a:t>
            </a:r>
            <a:r>
              <a:rPr lang="en-US" sz="2400" dirty="0" err="1"/>
              <a:t>košulje</a:t>
            </a:r>
            <a:r>
              <a:rPr lang="en-US" sz="2400" dirty="0"/>
              <a:t>, </a:t>
            </a:r>
            <a:r>
              <a:rPr lang="en-US" sz="2400" dirty="0" err="1"/>
              <a:t>hlače</a:t>
            </a:r>
            <a:r>
              <a:rPr lang="en-US" sz="2400" dirty="0"/>
              <a:t> i </a:t>
            </a:r>
            <a:r>
              <a:rPr lang="en-US" sz="2400" dirty="0" err="1"/>
              <a:t>suknje</a:t>
            </a:r>
            <a:r>
              <a:rPr lang="en-US" sz="2400" dirty="0"/>
              <a:t>) do 1. </a:t>
            </a:r>
            <a:r>
              <a:rPr lang="en-US" sz="2400" dirty="0" err="1"/>
              <a:t>kolovoza</a:t>
            </a:r>
            <a:r>
              <a:rPr lang="en-US" sz="2400" dirty="0"/>
              <a:t>.</a:t>
            </a:r>
          </a:p>
          <a:p>
            <a:pPr>
              <a:buNone/>
            </a:pPr>
            <a:r>
              <a:rPr lang="en-US" sz="2400" b="1" dirty="0" err="1"/>
              <a:t>Proračun</a:t>
            </a:r>
            <a:r>
              <a:rPr lang="en-US" sz="2400" b="1" dirty="0"/>
              <a:t>: </a:t>
            </a:r>
            <a:r>
              <a:rPr lang="en-US" sz="2400" dirty="0"/>
              <a:t>250.000 </a:t>
            </a:r>
            <a:r>
              <a:rPr lang="en-US" sz="2400" dirty="0" err="1"/>
              <a:t>leja</a:t>
            </a:r>
            <a:endParaRPr lang="en-US" sz="2400" dirty="0"/>
          </a:p>
          <a:p>
            <a:pPr>
              <a:buNone/>
            </a:pPr>
            <a:r>
              <a:rPr lang="en-US" sz="2400" b="1" dirty="0" err="1"/>
              <a:t>Trajanje</a:t>
            </a:r>
            <a:r>
              <a:rPr lang="en-US" sz="2400" b="1" dirty="0"/>
              <a:t>: </a:t>
            </a:r>
            <a:r>
              <a:rPr lang="en-US" sz="2400" dirty="0"/>
              <a:t>6 </a:t>
            </a:r>
            <a:r>
              <a:rPr lang="en-US" sz="2400" dirty="0" err="1"/>
              <a:t>mjeseci</a:t>
            </a:r>
            <a:endParaRPr lang="en-US" sz="2400" dirty="0"/>
          </a:p>
          <a:p>
            <a:pPr>
              <a:buNone/>
            </a:pPr>
            <a:r>
              <a:rPr lang="en-US" sz="2400" b="1" dirty="0"/>
              <a:t>Tim: </a:t>
            </a:r>
            <a:r>
              <a:rPr lang="en-US" sz="2400" dirty="0"/>
              <a:t>12 </a:t>
            </a:r>
            <a:r>
              <a:rPr lang="en-US" sz="2400" dirty="0" err="1"/>
              <a:t>zaposlenika</a:t>
            </a:r>
            <a:r>
              <a:rPr lang="en-US" sz="2400" dirty="0"/>
              <a:t> u </a:t>
            </a:r>
            <a:r>
              <a:rPr lang="en-US" sz="2400" dirty="0" err="1"/>
              <a:t>proizvodnji</a:t>
            </a:r>
            <a:r>
              <a:rPr lang="en-US" sz="2400" dirty="0"/>
              <a:t>, 2 u </a:t>
            </a:r>
            <a:r>
              <a:rPr lang="en-US" sz="2400" dirty="0" err="1"/>
              <a:t>kontroli</a:t>
            </a:r>
            <a:r>
              <a:rPr lang="en-US" sz="2400" dirty="0"/>
              <a:t> </a:t>
            </a:r>
            <a:r>
              <a:rPr lang="en-US" sz="2400" dirty="0" err="1"/>
              <a:t>kvalitete</a:t>
            </a:r>
            <a:r>
              <a:rPr lang="en-US" sz="2400" dirty="0"/>
              <a:t>, 1 </a:t>
            </a:r>
            <a:r>
              <a:rPr lang="en-US" sz="2400" dirty="0" err="1"/>
              <a:t>voditelj</a:t>
            </a:r>
            <a:r>
              <a:rPr lang="en-US" sz="2400" dirty="0"/>
              <a:t> </a:t>
            </a:r>
            <a:r>
              <a:rPr lang="en-US" sz="2400" dirty="0" err="1"/>
              <a:t>projekta</a:t>
            </a:r>
            <a:endParaRPr lang="en-US" sz="2400" dirty="0"/>
          </a:p>
          <a:p>
            <a:pPr>
              <a:buNone/>
            </a:pPr>
            <a:endParaRPr lang="en-US" sz="2400" b="1" dirty="0"/>
          </a:p>
          <a:p>
            <a:pPr>
              <a:buNone/>
            </a:pPr>
            <a:r>
              <a:rPr lang="en-US" sz="2400" b="1" dirty="0" err="1">
                <a:solidFill>
                  <a:srgbClr val="0FDCBD"/>
                </a:solidFill>
              </a:rPr>
              <a:t>Scenarij</a:t>
            </a:r>
            <a:r>
              <a:rPr lang="en-US" sz="2400" b="1" dirty="0">
                <a:solidFill>
                  <a:srgbClr val="0FDCBD"/>
                </a:solidFill>
              </a:rPr>
              <a:t> </a:t>
            </a:r>
            <a:r>
              <a:rPr lang="en-US" sz="2400" b="1" dirty="0" err="1">
                <a:solidFill>
                  <a:srgbClr val="0FDCBD"/>
                </a:solidFill>
              </a:rPr>
              <a:t>promjene</a:t>
            </a:r>
            <a:r>
              <a:rPr lang="en-US" sz="2400" b="1" dirty="0">
                <a:solidFill>
                  <a:srgbClr val="0FDCBD"/>
                </a:solidFill>
              </a:rPr>
              <a:t> </a:t>
            </a:r>
            <a:r>
              <a:rPr lang="en-US" sz="2400" b="1" dirty="0" err="1">
                <a:solidFill>
                  <a:srgbClr val="0FDCBD"/>
                </a:solidFill>
              </a:rPr>
              <a:t>opsega</a:t>
            </a:r>
            <a:endParaRPr lang="en-US" sz="2400" b="1" dirty="0">
              <a:solidFill>
                <a:srgbClr val="0FDCBD"/>
              </a:solidFill>
            </a:endParaRPr>
          </a:p>
          <a:p>
            <a:pPr>
              <a:buNone/>
            </a:pPr>
            <a:r>
              <a:rPr lang="en-US" sz="2400" b="1" dirty="0" err="1"/>
              <a:t>Zahtjev</a:t>
            </a:r>
            <a:r>
              <a:rPr lang="en-US" sz="2400" b="1" dirty="0"/>
              <a:t> za </a:t>
            </a:r>
            <a:r>
              <a:rPr lang="en-US" sz="2400" b="1" dirty="0" err="1"/>
              <a:t>promjenom</a:t>
            </a:r>
            <a:r>
              <a:rPr lang="en-US" sz="2400" b="1" dirty="0"/>
              <a:t>:</a:t>
            </a:r>
          </a:p>
          <a:p>
            <a:pPr>
              <a:buNone/>
            </a:pPr>
            <a:r>
              <a:rPr lang="en-US" sz="2400" dirty="0" err="1"/>
              <a:t>Mjesec</a:t>
            </a:r>
            <a:r>
              <a:rPr lang="en-US" sz="2400" dirty="0"/>
              <a:t> dana </a:t>
            </a:r>
            <a:r>
              <a:rPr lang="en-US" sz="2400" dirty="0" err="1"/>
              <a:t>nakon</a:t>
            </a:r>
            <a:r>
              <a:rPr lang="en-US" sz="2400" dirty="0"/>
              <a:t> </a:t>
            </a:r>
            <a:r>
              <a:rPr lang="en-US" sz="2400" dirty="0" err="1"/>
              <a:t>pokretanja</a:t>
            </a:r>
            <a:r>
              <a:rPr lang="en-US" sz="2400" dirty="0"/>
              <a:t> </a:t>
            </a:r>
            <a:r>
              <a:rPr lang="en-US" sz="2400" dirty="0" err="1"/>
              <a:t>projekta</a:t>
            </a:r>
            <a:r>
              <a:rPr lang="en-US" sz="2400" dirty="0"/>
              <a:t>, Greenfield Academy </a:t>
            </a:r>
            <a:r>
              <a:rPr lang="en-US" sz="2400" dirty="0" err="1"/>
              <a:t>traži</a:t>
            </a:r>
            <a:r>
              <a:rPr lang="en-US" sz="2400" dirty="0"/>
              <a:t> </a:t>
            </a:r>
            <a:r>
              <a:rPr lang="en-US" sz="2400" dirty="0" err="1"/>
              <a:t>dodatnih</a:t>
            </a:r>
            <a:r>
              <a:rPr lang="en-US" sz="2400" dirty="0"/>
              <a:t> 500 </a:t>
            </a:r>
            <a:r>
              <a:rPr lang="en-US" sz="2400" dirty="0" err="1"/>
              <a:t>uniformi</a:t>
            </a:r>
            <a:r>
              <a:rPr lang="en-US" sz="2400" dirty="0"/>
              <a:t>, </a:t>
            </a:r>
            <a:r>
              <a:rPr lang="en-US" sz="2400" dirty="0" err="1"/>
              <a:t>uključujući</a:t>
            </a:r>
            <a:r>
              <a:rPr lang="en-US" sz="2400" dirty="0"/>
              <a:t> novi </a:t>
            </a:r>
            <a:r>
              <a:rPr lang="en-US" sz="2400" dirty="0" err="1"/>
              <a:t>dizajn</a:t>
            </a:r>
            <a:r>
              <a:rPr lang="en-US" sz="2400" dirty="0"/>
              <a:t> </a:t>
            </a:r>
            <a:r>
              <a:rPr lang="en-US" sz="2400" dirty="0" err="1"/>
              <a:t>zimskih</a:t>
            </a:r>
            <a:r>
              <a:rPr lang="en-US" sz="2400" dirty="0"/>
              <a:t> </a:t>
            </a:r>
            <a:r>
              <a:rPr lang="en-US" sz="2400" dirty="0" err="1"/>
              <a:t>jakni</a:t>
            </a:r>
            <a:r>
              <a:rPr lang="en-US" sz="2400" dirty="0"/>
              <a:t>, </a:t>
            </a:r>
            <a:r>
              <a:rPr lang="en-US" sz="2400" dirty="0" err="1"/>
              <a:t>zbog</a:t>
            </a:r>
            <a:r>
              <a:rPr lang="en-US" sz="2400" dirty="0"/>
              <a:t> </a:t>
            </a:r>
            <a:r>
              <a:rPr lang="en-US" sz="2400" dirty="0" err="1"/>
              <a:t>povećanog</a:t>
            </a:r>
            <a:r>
              <a:rPr lang="en-US" sz="2400" dirty="0"/>
              <a:t> </a:t>
            </a:r>
            <a:r>
              <a:rPr lang="en-US" sz="2400" dirty="0" err="1"/>
              <a:t>broja</a:t>
            </a:r>
            <a:r>
              <a:rPr lang="en-US" sz="2400" dirty="0"/>
              <a:t> </a:t>
            </a:r>
            <a:r>
              <a:rPr lang="en-US" sz="2400" dirty="0" err="1"/>
              <a:t>učenika</a:t>
            </a:r>
            <a:r>
              <a:rPr lang="en-US" sz="2400" dirty="0"/>
              <a:t>.</a:t>
            </a:r>
          </a:p>
          <a:p>
            <a:pPr marL="0" indent="0">
              <a:buNone/>
            </a:pPr>
            <a:endParaRPr lang="en-US" sz="2400" dirty="0"/>
          </a:p>
        </p:txBody>
      </p:sp>
    </p:spTree>
    <p:extLst>
      <p:ext uri="{BB962C8B-B14F-4D97-AF65-F5344CB8AC3E}">
        <p14:creationId xmlns:p14="http://schemas.microsoft.com/office/powerpoint/2010/main" val="3159480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BBFE8-FA5F-D593-0110-60CE0E14FB14}"/>
            </a:ext>
          </a:extLst>
        </p:cNvPr>
        <p:cNvGrpSpPr/>
        <p:nvPr/>
      </p:nvGrpSpPr>
      <p:grpSpPr>
        <a:xfrm>
          <a:off x="0" y="0"/>
          <a:ext cx="0" cy="0"/>
          <a:chOff x="0" y="0"/>
          <a:chExt cx="0" cy="0"/>
        </a:xfrm>
      </p:grpSpPr>
      <p:sp>
        <p:nvSpPr>
          <p:cNvPr id="4" name="Naslov 3">
            <a:extLst>
              <a:ext uri="{FF2B5EF4-FFF2-40B4-BE49-F238E27FC236}">
                <a16:creationId xmlns:a16="http://schemas.microsoft.com/office/drawing/2014/main" id="{C894F1FC-46C2-9ADC-64BD-523E5350C4B8}"/>
              </a:ext>
            </a:extLst>
          </p:cNvPr>
          <p:cNvSpPr>
            <a:spLocks noGrp="1"/>
          </p:cNvSpPr>
          <p:nvPr>
            <p:ph type="ctrTitle"/>
          </p:nvPr>
        </p:nvSpPr>
        <p:spPr>
          <a:xfrm>
            <a:off x="2895600" y="2366108"/>
            <a:ext cx="9144000" cy="2387600"/>
          </a:xfrm>
        </p:spPr>
        <p:txBody>
          <a:bodyPr>
            <a:normAutofit/>
          </a:bodyPr>
          <a:lstStyle/>
          <a:p>
            <a:r>
              <a:rPr lang="en-US" sz="5000" b="1" dirty="0"/>
              <a:t>IZVRŠAVANJE ZADATAKA</a:t>
            </a:r>
            <a:br>
              <a:rPr lang="en-US" sz="4800" b="1" dirty="0">
                <a:latin typeface="Bahnschrift SemiLight" panose="020B0502040204020203" pitchFamily="34" charset="0"/>
              </a:rPr>
            </a:br>
            <a:endParaRPr lang="hr-HR" sz="4800" dirty="0">
              <a:latin typeface="Bahnschrift SemiLight" panose="020B0502040204020203" pitchFamily="34" charset="0"/>
            </a:endParaRPr>
          </a:p>
        </p:txBody>
      </p:sp>
      <p:sp>
        <p:nvSpPr>
          <p:cNvPr id="5" name="Podnaslov 4">
            <a:extLst>
              <a:ext uri="{FF2B5EF4-FFF2-40B4-BE49-F238E27FC236}">
                <a16:creationId xmlns:a16="http://schemas.microsoft.com/office/drawing/2014/main" id="{69EBB6CF-9947-FC56-7DCD-C6307D7EA6F3}"/>
              </a:ext>
            </a:extLst>
          </p:cNvPr>
          <p:cNvSpPr>
            <a:spLocks noGrp="1"/>
          </p:cNvSpPr>
          <p:nvPr>
            <p:ph type="subTitle" idx="4294967295"/>
          </p:nvPr>
        </p:nvSpPr>
        <p:spPr>
          <a:xfrm>
            <a:off x="4405746" y="4753708"/>
            <a:ext cx="7467600" cy="771525"/>
          </a:xfrm>
          <a:solidFill>
            <a:schemeClr val="bg1"/>
          </a:solidFill>
        </p:spPr>
        <p:txBody>
          <a:bodyPr>
            <a:noAutofit/>
          </a:bodyPr>
          <a:lstStyle/>
          <a:p>
            <a:pPr marL="0" indent="0" algn="r">
              <a:buNone/>
            </a:pPr>
            <a:r>
              <a:rPr lang="en-US" sz="3600" dirty="0" err="1">
                <a:latin typeface="Bahnschrift" panose="020B0502040204020203" pitchFamily="34" charset="0"/>
                <a:ea typeface="+mj-ea"/>
                <a:cs typeface="+mj-cs"/>
              </a:rPr>
              <a:t>Važnost</a:t>
            </a:r>
            <a:r>
              <a:rPr lang="en-US" sz="3600" dirty="0">
                <a:latin typeface="Bahnschrift" panose="020B0502040204020203" pitchFamily="34" charset="0"/>
                <a:ea typeface="+mj-ea"/>
                <a:cs typeface="+mj-cs"/>
              </a:rPr>
              <a:t> </a:t>
            </a:r>
            <a:r>
              <a:rPr lang="en-US" sz="3600" dirty="0" err="1">
                <a:latin typeface="Bahnschrift" panose="020B0502040204020203" pitchFamily="34" charset="0"/>
                <a:ea typeface="+mj-ea"/>
                <a:cs typeface="+mj-cs"/>
              </a:rPr>
              <a:t>praćenja</a:t>
            </a:r>
            <a:r>
              <a:rPr lang="en-US" sz="3600" dirty="0">
                <a:latin typeface="Bahnschrift" panose="020B0502040204020203" pitchFamily="34" charset="0"/>
                <a:ea typeface="+mj-ea"/>
                <a:cs typeface="+mj-cs"/>
              </a:rPr>
              <a:t> </a:t>
            </a:r>
            <a:r>
              <a:rPr lang="en-US" sz="3600" dirty="0" err="1">
                <a:latin typeface="Bahnschrift" panose="020B0502040204020203" pitchFamily="34" charset="0"/>
                <a:ea typeface="+mj-ea"/>
                <a:cs typeface="+mj-cs"/>
              </a:rPr>
              <a:t>rasporeda</a:t>
            </a:r>
            <a:endParaRPr lang="en-US" sz="3200" dirty="0">
              <a:solidFill>
                <a:srgbClr val="0070C0"/>
              </a:solidFill>
              <a:latin typeface="Bahnschrift SemiLight" panose="020B0502040204020203" pitchFamily="34" charset="0"/>
            </a:endParaRPr>
          </a:p>
          <a:p>
            <a:endParaRPr lang="hr-HR" sz="3200" dirty="0">
              <a:solidFill>
                <a:srgbClr val="0070C0"/>
              </a:solidFill>
              <a:latin typeface="Bahnschrift SemiLight" panose="020B0502040204020203" pitchFamily="34" charset="0"/>
            </a:endParaRPr>
          </a:p>
        </p:txBody>
      </p:sp>
    </p:spTree>
    <p:extLst>
      <p:ext uri="{BB962C8B-B14F-4D97-AF65-F5344CB8AC3E}">
        <p14:creationId xmlns:p14="http://schemas.microsoft.com/office/powerpoint/2010/main" val="2740787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4ED1E-9CF0-65F6-6A22-174327962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7DF54-D66A-332A-79EA-4910C63BB767}"/>
              </a:ext>
            </a:extLst>
          </p:cNvPr>
          <p:cNvSpPr>
            <a:spLocks noGrp="1"/>
          </p:cNvSpPr>
          <p:nvPr>
            <p:ph type="title"/>
          </p:nvPr>
        </p:nvSpPr>
        <p:spPr>
          <a:xfrm>
            <a:off x="838200" y="188480"/>
            <a:ext cx="10515600" cy="1325563"/>
          </a:xfrm>
        </p:spPr>
        <p:txBody>
          <a:bodyPr>
            <a:normAutofit/>
          </a:bodyPr>
          <a:lstStyle/>
          <a:p>
            <a:r>
              <a:rPr lang="pl-PL" sz="3800" dirty="0">
                <a:latin typeface="Bahnschrift SemiBold"/>
                <a:ea typeface="+mn-ea"/>
                <a:cs typeface="+mn-cs"/>
              </a:rPr>
              <a:t>Tehnike za praćenje i kontrolu projektnih rasporeda</a:t>
            </a:r>
            <a:r>
              <a:rPr lang="en-US" sz="3800" dirty="0">
                <a:latin typeface="Bahnschrift SemiBold"/>
                <a:ea typeface="+mn-ea"/>
                <a:cs typeface="+mn-cs"/>
              </a:rPr>
              <a:t> I.</a:t>
            </a:r>
          </a:p>
        </p:txBody>
      </p:sp>
      <p:sp>
        <p:nvSpPr>
          <p:cNvPr id="3" name="Content Placeholder 2">
            <a:extLst>
              <a:ext uri="{FF2B5EF4-FFF2-40B4-BE49-F238E27FC236}">
                <a16:creationId xmlns:a16="http://schemas.microsoft.com/office/drawing/2014/main" id="{2872A9ED-86B0-ACF8-A134-F1BC94F4E727}"/>
              </a:ext>
            </a:extLst>
          </p:cNvPr>
          <p:cNvSpPr>
            <a:spLocks noGrp="1"/>
          </p:cNvSpPr>
          <p:nvPr>
            <p:ph idx="1"/>
          </p:nvPr>
        </p:nvSpPr>
        <p:spPr>
          <a:xfrm>
            <a:off x="492477" y="1674782"/>
            <a:ext cx="11207045" cy="4351338"/>
          </a:xfrm>
        </p:spPr>
        <p:txBody>
          <a:bodyPr>
            <a:noAutofit/>
          </a:bodyPr>
          <a:lstStyle/>
          <a:p>
            <a:pPr>
              <a:buNone/>
            </a:pPr>
            <a:r>
              <a:rPr lang="en-US" sz="2200" dirty="0" err="1"/>
              <a:t>Učinkovito</a:t>
            </a:r>
            <a:r>
              <a:rPr lang="en-US" sz="2200" dirty="0"/>
              <a:t> </a:t>
            </a:r>
            <a:r>
              <a:rPr lang="en-US" sz="2200" dirty="0" err="1"/>
              <a:t>praćenje</a:t>
            </a:r>
            <a:r>
              <a:rPr lang="en-US" sz="2200" dirty="0"/>
              <a:t> i </a:t>
            </a:r>
            <a:r>
              <a:rPr lang="en-US" sz="2200" dirty="0" err="1"/>
              <a:t>kontrola</a:t>
            </a:r>
            <a:r>
              <a:rPr lang="en-US" sz="2200" dirty="0"/>
              <a:t> </a:t>
            </a:r>
            <a:r>
              <a:rPr lang="en-US" sz="2200" dirty="0" err="1"/>
              <a:t>projektnog</a:t>
            </a:r>
            <a:r>
              <a:rPr lang="en-US" sz="2200" dirty="0"/>
              <a:t> </a:t>
            </a:r>
            <a:r>
              <a:rPr lang="en-US" sz="2200" dirty="0" err="1"/>
              <a:t>rasporeda</a:t>
            </a:r>
            <a:r>
              <a:rPr lang="en-US" sz="2200" dirty="0"/>
              <a:t> </a:t>
            </a:r>
            <a:r>
              <a:rPr lang="en-US" sz="2200" dirty="0" err="1"/>
              <a:t>osiguravaju</a:t>
            </a:r>
            <a:r>
              <a:rPr lang="en-US" sz="2200" dirty="0"/>
              <a:t> da rad </a:t>
            </a:r>
            <a:r>
              <a:rPr lang="en-US" sz="2200" dirty="0" err="1"/>
              <a:t>ostane</a:t>
            </a:r>
            <a:endParaRPr lang="hr-HR" sz="2200" dirty="0"/>
          </a:p>
          <a:p>
            <a:pPr>
              <a:buNone/>
            </a:pPr>
            <a:r>
              <a:rPr lang="en-US" sz="2200" dirty="0" err="1"/>
              <a:t>na</a:t>
            </a:r>
            <a:r>
              <a:rPr lang="en-US" sz="2200" dirty="0"/>
              <a:t> </a:t>
            </a:r>
            <a:r>
              <a:rPr lang="en-US" sz="2200" dirty="0" err="1"/>
              <a:t>planiranom</a:t>
            </a:r>
            <a:r>
              <a:rPr lang="en-US" sz="2200" dirty="0"/>
              <a:t> putu, </a:t>
            </a:r>
            <a:r>
              <a:rPr lang="en-US" sz="2200" dirty="0" err="1"/>
              <a:t>rokovi</a:t>
            </a:r>
            <a:r>
              <a:rPr lang="en-US" sz="2200" dirty="0"/>
              <a:t> </a:t>
            </a:r>
            <a:r>
              <a:rPr lang="en-US" sz="2200" dirty="0" err="1"/>
              <a:t>budu</a:t>
            </a:r>
            <a:r>
              <a:rPr lang="en-US" sz="2200" dirty="0"/>
              <a:t> </a:t>
            </a:r>
            <a:r>
              <a:rPr lang="en-US" sz="2200" dirty="0" err="1"/>
              <a:t>ispunjeni</a:t>
            </a:r>
            <a:r>
              <a:rPr lang="en-US" sz="2200" dirty="0"/>
              <a:t>, </a:t>
            </a:r>
            <a:r>
              <a:rPr lang="hr-HR" sz="2200" dirty="0"/>
              <a:t>i da se</a:t>
            </a:r>
            <a:r>
              <a:rPr lang="en-US" sz="2200" dirty="0"/>
              <a:t> </a:t>
            </a:r>
            <a:r>
              <a:rPr lang="en-US" sz="2200" dirty="0" err="1"/>
              <a:t>odstupanj</a:t>
            </a:r>
            <a:r>
              <a:rPr lang="hr-HR" sz="2200" dirty="0"/>
              <a:t>ima</a:t>
            </a:r>
            <a:r>
              <a:rPr lang="en-US" sz="2200" dirty="0"/>
              <a:t> </a:t>
            </a:r>
            <a:r>
              <a:rPr lang="en-US" sz="2200" dirty="0" err="1"/>
              <a:t>pravovremeno</a:t>
            </a:r>
            <a:endParaRPr lang="hr-HR" sz="2200" dirty="0"/>
          </a:p>
          <a:p>
            <a:pPr>
              <a:buNone/>
            </a:pPr>
            <a:r>
              <a:rPr lang="en-US" sz="2200" dirty="0" err="1"/>
              <a:t>upravlja</a:t>
            </a:r>
            <a:r>
              <a:rPr lang="en-US" sz="2200" dirty="0"/>
              <a:t>.</a:t>
            </a:r>
          </a:p>
          <a:p>
            <a:pPr>
              <a:buNone/>
            </a:pPr>
            <a:r>
              <a:rPr lang="en-US" sz="2200" b="1" dirty="0">
                <a:solidFill>
                  <a:srgbClr val="0FDCBD"/>
                </a:solidFill>
              </a:rPr>
              <a:t>Pet </a:t>
            </a:r>
            <a:r>
              <a:rPr lang="en-US" sz="2200" b="1" dirty="0" err="1">
                <a:solidFill>
                  <a:srgbClr val="0FDCBD"/>
                </a:solidFill>
              </a:rPr>
              <a:t>ključnih</a:t>
            </a:r>
            <a:r>
              <a:rPr lang="en-US" sz="2200" b="1" dirty="0">
                <a:solidFill>
                  <a:srgbClr val="0FDCBD"/>
                </a:solidFill>
              </a:rPr>
              <a:t> </a:t>
            </a:r>
            <a:r>
              <a:rPr lang="en-US" sz="2200" b="1" dirty="0" err="1">
                <a:solidFill>
                  <a:srgbClr val="0FDCBD"/>
                </a:solidFill>
              </a:rPr>
              <a:t>tehnika</a:t>
            </a:r>
            <a:r>
              <a:rPr lang="en-US" sz="2200" b="1" dirty="0">
                <a:solidFill>
                  <a:srgbClr val="0FDCBD"/>
                </a:solidFill>
              </a:rPr>
              <a:t> </a:t>
            </a:r>
            <a:r>
              <a:rPr lang="en-US" sz="2200" dirty="0" err="1"/>
              <a:t>koje</a:t>
            </a:r>
            <a:r>
              <a:rPr lang="en-US" sz="2200" dirty="0"/>
              <a:t> se </a:t>
            </a:r>
            <a:r>
              <a:rPr lang="en-US" sz="2200" dirty="0" err="1"/>
              <a:t>koriste</a:t>
            </a:r>
            <a:r>
              <a:rPr lang="en-US" sz="2200" dirty="0"/>
              <a:t> u </a:t>
            </a:r>
            <a:r>
              <a:rPr lang="en-US" sz="2200" dirty="0" err="1"/>
              <a:t>upravljanju</a:t>
            </a:r>
            <a:r>
              <a:rPr lang="en-US" sz="2200" dirty="0"/>
              <a:t> </a:t>
            </a:r>
            <a:r>
              <a:rPr lang="en-US" sz="2200" dirty="0" err="1"/>
              <a:t>projektima</a:t>
            </a:r>
            <a:r>
              <a:rPr lang="en-US" sz="2200" dirty="0"/>
              <a:t>:</a:t>
            </a:r>
            <a:endParaRPr lang="hr-HR" sz="2200" dirty="0"/>
          </a:p>
          <a:p>
            <a:pPr>
              <a:buNone/>
            </a:pPr>
            <a:endParaRPr lang="en-US" sz="2200" dirty="0"/>
          </a:p>
          <a:p>
            <a:pPr marL="457200" indent="-457200">
              <a:buFont typeface="+mj-lt"/>
              <a:buAutoNum type="arabicPeriod"/>
            </a:pPr>
            <a:r>
              <a:rPr lang="en-US" sz="2200" b="1" dirty="0">
                <a:solidFill>
                  <a:srgbClr val="0FDCBD"/>
                </a:solidFill>
              </a:rPr>
              <a:t>Gantt</a:t>
            </a:r>
            <a:r>
              <a:rPr lang="hr-HR" sz="2200" b="1" dirty="0">
                <a:solidFill>
                  <a:srgbClr val="0FDCBD"/>
                </a:solidFill>
              </a:rPr>
              <a:t>ovi</a:t>
            </a:r>
            <a:r>
              <a:rPr lang="en-US" sz="2200" b="1" dirty="0">
                <a:solidFill>
                  <a:srgbClr val="0FDCBD"/>
                </a:solidFill>
              </a:rPr>
              <a:t> </a:t>
            </a:r>
            <a:r>
              <a:rPr lang="en-US" sz="2200" b="1" dirty="0" err="1">
                <a:solidFill>
                  <a:srgbClr val="0FDCBD"/>
                </a:solidFill>
              </a:rPr>
              <a:t>dijagrami</a:t>
            </a:r>
            <a:r>
              <a:rPr lang="en-US" sz="2200" dirty="0"/>
              <a:t> – </a:t>
            </a:r>
            <a:r>
              <a:rPr lang="en-US" sz="2200" dirty="0" err="1"/>
              <a:t>Vizualni</a:t>
            </a:r>
            <a:r>
              <a:rPr lang="en-US" sz="2200" dirty="0"/>
              <a:t> </a:t>
            </a:r>
            <a:r>
              <a:rPr lang="en-US" sz="2200" dirty="0" err="1"/>
              <a:t>vremenski</a:t>
            </a:r>
            <a:r>
              <a:rPr lang="en-US" sz="2200" dirty="0"/>
              <a:t> </a:t>
            </a:r>
            <a:r>
              <a:rPr lang="en-US" sz="2200" dirty="0" err="1"/>
              <a:t>prikaz</a:t>
            </a:r>
            <a:r>
              <a:rPr lang="en-US" sz="2200" dirty="0"/>
              <a:t> koji </a:t>
            </a:r>
            <a:r>
              <a:rPr lang="en-US" sz="2200" dirty="0" err="1"/>
              <a:t>pokazuje</a:t>
            </a:r>
            <a:r>
              <a:rPr lang="en-US" sz="2200" dirty="0"/>
              <a:t> </a:t>
            </a:r>
            <a:r>
              <a:rPr lang="en-US" sz="2200" dirty="0" err="1"/>
              <a:t>ovisnosti</a:t>
            </a:r>
            <a:r>
              <a:rPr lang="en-US" sz="2200" dirty="0"/>
              <a:t> </a:t>
            </a:r>
            <a:r>
              <a:rPr lang="en-US" sz="2200" dirty="0" err="1"/>
              <a:t>između</a:t>
            </a:r>
            <a:r>
              <a:rPr lang="en-US" sz="2200" dirty="0"/>
              <a:t> </a:t>
            </a:r>
            <a:r>
              <a:rPr lang="en-US" sz="2200" dirty="0" err="1"/>
              <a:t>zadataka</a:t>
            </a:r>
            <a:r>
              <a:rPr lang="en-US" sz="2200" dirty="0"/>
              <a:t> i </a:t>
            </a:r>
            <a:r>
              <a:rPr lang="en-US" sz="2200" dirty="0" err="1"/>
              <a:t>napredak</a:t>
            </a:r>
            <a:r>
              <a:rPr lang="en-US" sz="2200" dirty="0"/>
              <a:t>.</a:t>
            </a:r>
          </a:p>
          <a:p>
            <a:pPr marL="457200" indent="-457200">
              <a:buFont typeface="+mj-lt"/>
              <a:buAutoNum type="arabicPeriod"/>
            </a:pPr>
            <a:r>
              <a:rPr lang="en-US" sz="2200" b="1" dirty="0" err="1">
                <a:solidFill>
                  <a:srgbClr val="0FDCBD"/>
                </a:solidFill>
              </a:rPr>
              <a:t>Metoda</a:t>
            </a:r>
            <a:r>
              <a:rPr lang="en-US" sz="2200" b="1" dirty="0">
                <a:solidFill>
                  <a:srgbClr val="0FDCBD"/>
                </a:solidFill>
              </a:rPr>
              <a:t> </a:t>
            </a:r>
            <a:r>
              <a:rPr lang="en-US" sz="2200" b="1" dirty="0" err="1">
                <a:solidFill>
                  <a:srgbClr val="0FDCBD"/>
                </a:solidFill>
              </a:rPr>
              <a:t>kritičnog</a:t>
            </a:r>
            <a:r>
              <a:rPr lang="en-US" sz="2200" b="1" dirty="0">
                <a:solidFill>
                  <a:srgbClr val="0FDCBD"/>
                </a:solidFill>
              </a:rPr>
              <a:t> puta (</a:t>
            </a:r>
            <a:r>
              <a:rPr lang="hr-HR" sz="2200" b="1" dirty="0" err="1">
                <a:solidFill>
                  <a:srgbClr val="0FDCBD"/>
                </a:solidFill>
              </a:rPr>
              <a:t>Critical</a:t>
            </a:r>
            <a:r>
              <a:rPr lang="hr-HR" sz="2200" b="1" dirty="0">
                <a:solidFill>
                  <a:srgbClr val="0FDCBD"/>
                </a:solidFill>
              </a:rPr>
              <a:t> </a:t>
            </a:r>
            <a:r>
              <a:rPr lang="hr-HR" sz="2200" b="1" dirty="0" err="1">
                <a:solidFill>
                  <a:srgbClr val="0FDCBD"/>
                </a:solidFill>
              </a:rPr>
              <a:t>Path</a:t>
            </a:r>
            <a:r>
              <a:rPr lang="hr-HR" sz="2200" b="1" dirty="0">
                <a:solidFill>
                  <a:srgbClr val="0FDCBD"/>
                </a:solidFill>
              </a:rPr>
              <a:t> </a:t>
            </a:r>
            <a:r>
              <a:rPr lang="hr-HR" sz="2200" b="1" dirty="0" err="1">
                <a:solidFill>
                  <a:srgbClr val="0FDCBD"/>
                </a:solidFill>
              </a:rPr>
              <a:t>Method</a:t>
            </a:r>
            <a:r>
              <a:rPr lang="hr-HR" sz="2200" b="1" dirty="0">
                <a:solidFill>
                  <a:srgbClr val="0FDCBD"/>
                </a:solidFill>
              </a:rPr>
              <a:t> - </a:t>
            </a:r>
            <a:r>
              <a:rPr lang="en-US" sz="2200" b="1" dirty="0">
                <a:solidFill>
                  <a:srgbClr val="0FDCBD"/>
                </a:solidFill>
              </a:rPr>
              <a:t>CPM)</a:t>
            </a:r>
            <a:r>
              <a:rPr lang="en-US" sz="2200" dirty="0"/>
              <a:t> – </a:t>
            </a:r>
            <a:r>
              <a:rPr lang="en-US" sz="2200" dirty="0" err="1"/>
              <a:t>Identificira</a:t>
            </a:r>
            <a:r>
              <a:rPr lang="en-US" sz="2200" dirty="0"/>
              <a:t> </a:t>
            </a:r>
            <a:r>
              <a:rPr lang="en-US" sz="2200" dirty="0" err="1"/>
              <a:t>najdulji</a:t>
            </a:r>
            <a:r>
              <a:rPr lang="en-US" sz="2200" dirty="0"/>
              <a:t> </a:t>
            </a:r>
            <a:r>
              <a:rPr lang="en-US" sz="2200" dirty="0" err="1"/>
              <a:t>niz</a:t>
            </a:r>
            <a:r>
              <a:rPr lang="en-US" sz="2200" dirty="0"/>
              <a:t> </a:t>
            </a:r>
            <a:r>
              <a:rPr lang="en-US" sz="2200" dirty="0" err="1"/>
              <a:t>međusobno</a:t>
            </a:r>
            <a:r>
              <a:rPr lang="en-US" sz="2200" dirty="0"/>
              <a:t> </a:t>
            </a:r>
            <a:r>
              <a:rPr lang="en-US" sz="2200" dirty="0" err="1"/>
              <a:t>ovisnih</a:t>
            </a:r>
            <a:r>
              <a:rPr lang="en-US" sz="2200" dirty="0"/>
              <a:t> </a:t>
            </a:r>
            <a:r>
              <a:rPr lang="en-US" sz="2200" dirty="0" err="1"/>
              <a:t>zadataka</a:t>
            </a:r>
            <a:r>
              <a:rPr lang="en-US" sz="2200" dirty="0"/>
              <a:t> </a:t>
            </a:r>
            <a:r>
              <a:rPr lang="en-US" sz="2200" dirty="0" err="1"/>
              <a:t>kako</a:t>
            </a:r>
            <a:r>
              <a:rPr lang="en-US" sz="2200" dirty="0"/>
              <a:t> bi se </a:t>
            </a:r>
            <a:r>
              <a:rPr lang="en-US" sz="2200" dirty="0" err="1"/>
              <a:t>odredilo</a:t>
            </a:r>
            <a:r>
              <a:rPr lang="en-US" sz="2200" dirty="0"/>
              <a:t> </a:t>
            </a:r>
            <a:r>
              <a:rPr lang="en-US" sz="2200" dirty="0" err="1"/>
              <a:t>najkraće</a:t>
            </a:r>
            <a:r>
              <a:rPr lang="en-US" sz="2200" dirty="0"/>
              <a:t> </a:t>
            </a:r>
            <a:r>
              <a:rPr lang="en-US" sz="2200" dirty="0" err="1"/>
              <a:t>trajanje</a:t>
            </a:r>
            <a:r>
              <a:rPr lang="en-US" sz="2200" dirty="0"/>
              <a:t> </a:t>
            </a:r>
            <a:r>
              <a:rPr lang="en-US" sz="2200" dirty="0" err="1"/>
              <a:t>projekta</a:t>
            </a:r>
            <a:r>
              <a:rPr lang="en-US" sz="2200" dirty="0"/>
              <a:t>.</a:t>
            </a:r>
          </a:p>
          <a:p>
            <a:pPr marL="457200" indent="-457200">
              <a:buFont typeface="+mj-lt"/>
              <a:buAutoNum type="arabicPeriod"/>
            </a:pPr>
            <a:r>
              <a:rPr lang="en-US" sz="2200" b="1" dirty="0">
                <a:solidFill>
                  <a:srgbClr val="0FDCBD"/>
                </a:solidFill>
              </a:rPr>
              <a:t>Upravljanje </a:t>
            </a:r>
            <a:r>
              <a:rPr lang="en-US" sz="2200" b="1" dirty="0" err="1">
                <a:solidFill>
                  <a:srgbClr val="0FDCBD"/>
                </a:solidFill>
              </a:rPr>
              <a:t>zarađenom</a:t>
            </a:r>
            <a:r>
              <a:rPr lang="en-US" sz="2200" b="1" dirty="0">
                <a:solidFill>
                  <a:srgbClr val="0FDCBD"/>
                </a:solidFill>
              </a:rPr>
              <a:t> </a:t>
            </a:r>
            <a:r>
              <a:rPr lang="en-US" sz="2200" b="1" dirty="0" err="1">
                <a:solidFill>
                  <a:srgbClr val="0FDCBD"/>
                </a:solidFill>
              </a:rPr>
              <a:t>vrijednošću</a:t>
            </a:r>
            <a:r>
              <a:rPr lang="en-US" sz="2200" b="1" dirty="0">
                <a:solidFill>
                  <a:srgbClr val="0FDCBD"/>
                </a:solidFill>
              </a:rPr>
              <a:t> (</a:t>
            </a:r>
            <a:r>
              <a:rPr lang="hr-HR" sz="2200" b="1" dirty="0" err="1">
                <a:solidFill>
                  <a:srgbClr val="0FDCBD"/>
                </a:solidFill>
              </a:rPr>
              <a:t>Earned</a:t>
            </a:r>
            <a:r>
              <a:rPr lang="hr-HR" sz="2200" b="1" dirty="0">
                <a:solidFill>
                  <a:srgbClr val="0FDCBD"/>
                </a:solidFill>
              </a:rPr>
              <a:t> Value Management - </a:t>
            </a:r>
            <a:r>
              <a:rPr lang="en-US" sz="2200" b="1" dirty="0">
                <a:solidFill>
                  <a:srgbClr val="0FDCBD"/>
                </a:solidFill>
              </a:rPr>
              <a:t>EVM)</a:t>
            </a:r>
            <a:r>
              <a:rPr lang="en-US" sz="2200" dirty="0"/>
              <a:t> – Mjeri </a:t>
            </a:r>
            <a:r>
              <a:rPr lang="en-US" sz="2200" dirty="0" err="1"/>
              <a:t>uspješnost</a:t>
            </a:r>
            <a:r>
              <a:rPr lang="en-US" sz="2200" dirty="0"/>
              <a:t> </a:t>
            </a:r>
            <a:r>
              <a:rPr lang="en-US" sz="2200" dirty="0" err="1"/>
              <a:t>rasporeda</a:t>
            </a:r>
            <a:r>
              <a:rPr lang="en-US" sz="2200" dirty="0"/>
              <a:t> </a:t>
            </a:r>
            <a:r>
              <a:rPr lang="en-US" sz="2200" dirty="0" err="1"/>
              <a:t>pomoću</a:t>
            </a:r>
            <a:r>
              <a:rPr lang="en-US" sz="2200" dirty="0"/>
              <a:t> </a:t>
            </a:r>
            <a:r>
              <a:rPr lang="en-US" sz="2200" dirty="0" err="1"/>
              <a:t>planirane</a:t>
            </a:r>
            <a:r>
              <a:rPr lang="en-US" sz="2200" dirty="0"/>
              <a:t> </a:t>
            </a:r>
            <a:r>
              <a:rPr lang="en-US" sz="2200" dirty="0" err="1"/>
              <a:t>vrijednosti</a:t>
            </a:r>
            <a:r>
              <a:rPr lang="en-US" sz="2200" dirty="0"/>
              <a:t> (</a:t>
            </a:r>
            <a:r>
              <a:rPr lang="hr-HR" sz="2200" dirty="0" err="1"/>
              <a:t>Planned</a:t>
            </a:r>
            <a:r>
              <a:rPr lang="hr-HR" sz="2200" dirty="0"/>
              <a:t> Value - </a:t>
            </a:r>
            <a:r>
              <a:rPr lang="en-US" sz="2200" dirty="0"/>
              <a:t>PV), </a:t>
            </a:r>
            <a:r>
              <a:rPr lang="en-US" sz="2200" dirty="0" err="1"/>
              <a:t>zarađene</a:t>
            </a:r>
            <a:r>
              <a:rPr lang="en-US" sz="2200" dirty="0"/>
              <a:t> </a:t>
            </a:r>
            <a:r>
              <a:rPr lang="en-US" sz="2200" dirty="0" err="1"/>
              <a:t>vrijednosti</a:t>
            </a:r>
            <a:r>
              <a:rPr lang="en-US" sz="2200" dirty="0"/>
              <a:t> (</a:t>
            </a:r>
            <a:r>
              <a:rPr lang="hr-HR" sz="2200" dirty="0" err="1"/>
              <a:t>Earned</a:t>
            </a:r>
            <a:r>
              <a:rPr lang="hr-HR" sz="2200" dirty="0"/>
              <a:t> Value - </a:t>
            </a:r>
            <a:r>
              <a:rPr lang="en-US" sz="2200" dirty="0"/>
              <a:t>EV) i </a:t>
            </a:r>
            <a:r>
              <a:rPr lang="en-US" sz="2200" dirty="0" err="1"/>
              <a:t>indeksa</a:t>
            </a:r>
            <a:r>
              <a:rPr lang="en-US" sz="2200" dirty="0"/>
              <a:t> </a:t>
            </a:r>
            <a:r>
              <a:rPr lang="en-US" sz="2200" dirty="0" err="1"/>
              <a:t>uspješnosti</a:t>
            </a:r>
            <a:r>
              <a:rPr lang="en-US" sz="2200" dirty="0"/>
              <a:t> </a:t>
            </a:r>
            <a:r>
              <a:rPr lang="en-US" sz="2200" dirty="0" err="1"/>
              <a:t>rasporeda</a:t>
            </a:r>
            <a:r>
              <a:rPr lang="en-US" sz="2200" dirty="0"/>
              <a:t> (Schedule Performance </a:t>
            </a:r>
            <a:r>
              <a:rPr lang="en-US" sz="2200" dirty="0" err="1"/>
              <a:t>Indeks</a:t>
            </a:r>
            <a:r>
              <a:rPr lang="hr-HR" sz="2200" dirty="0"/>
              <a:t> - </a:t>
            </a:r>
            <a:r>
              <a:rPr lang="en-US" sz="2200" dirty="0"/>
              <a:t>SPI).</a:t>
            </a:r>
          </a:p>
        </p:txBody>
      </p:sp>
    </p:spTree>
    <p:extLst>
      <p:ext uri="{BB962C8B-B14F-4D97-AF65-F5344CB8AC3E}">
        <p14:creationId xmlns:p14="http://schemas.microsoft.com/office/powerpoint/2010/main" val="1710772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79BE-6914-9233-FE62-4A4927486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1F715-FF27-E61D-0ADA-2425B5F82BD0}"/>
              </a:ext>
            </a:extLst>
          </p:cNvPr>
          <p:cNvSpPr>
            <a:spLocks noGrp="1"/>
          </p:cNvSpPr>
          <p:nvPr>
            <p:ph type="title"/>
          </p:nvPr>
        </p:nvSpPr>
        <p:spPr>
          <a:xfrm>
            <a:off x="838200" y="188480"/>
            <a:ext cx="10515600" cy="1325563"/>
          </a:xfrm>
        </p:spPr>
        <p:txBody>
          <a:bodyPr>
            <a:normAutofit/>
          </a:bodyPr>
          <a:lstStyle/>
          <a:p>
            <a:r>
              <a:rPr lang="pl-PL" sz="3800" dirty="0">
                <a:latin typeface="Bahnschrift SemiBold"/>
                <a:ea typeface="+mn-ea"/>
                <a:cs typeface="+mn-cs"/>
              </a:rPr>
              <a:t>Tehnike za praćenje i kontrolu projektnih rasporeda</a:t>
            </a:r>
            <a:r>
              <a:rPr lang="en-US" sz="3800" dirty="0">
                <a:latin typeface="Bahnschrift SemiBold"/>
                <a:ea typeface="+mn-ea"/>
                <a:cs typeface="+mn-cs"/>
              </a:rPr>
              <a:t> II.</a:t>
            </a:r>
          </a:p>
        </p:txBody>
      </p:sp>
      <p:sp>
        <p:nvSpPr>
          <p:cNvPr id="3" name="Content Placeholder 2">
            <a:extLst>
              <a:ext uri="{FF2B5EF4-FFF2-40B4-BE49-F238E27FC236}">
                <a16:creationId xmlns:a16="http://schemas.microsoft.com/office/drawing/2014/main" id="{DE59B7EE-7ABA-2930-EFCA-7F5743258D55}"/>
              </a:ext>
            </a:extLst>
          </p:cNvPr>
          <p:cNvSpPr>
            <a:spLocks noGrp="1"/>
          </p:cNvSpPr>
          <p:nvPr>
            <p:ph idx="1"/>
          </p:nvPr>
        </p:nvSpPr>
        <p:spPr>
          <a:xfrm>
            <a:off x="838200" y="1972380"/>
            <a:ext cx="10515600" cy="4351338"/>
          </a:xfrm>
        </p:spPr>
        <p:txBody>
          <a:bodyPr>
            <a:noAutofit/>
          </a:bodyPr>
          <a:lstStyle/>
          <a:p>
            <a:pPr marL="457200" indent="-457200">
              <a:buFont typeface="+mj-lt"/>
              <a:buAutoNum type="arabicPeriod" startAt="4"/>
            </a:pPr>
            <a:r>
              <a:rPr lang="en-US" sz="2400" b="1" dirty="0" err="1">
                <a:solidFill>
                  <a:srgbClr val="0ADBBC"/>
                </a:solidFill>
              </a:rPr>
              <a:t>Praćenje</a:t>
            </a:r>
            <a:r>
              <a:rPr lang="en-US" sz="2400" b="1" dirty="0">
                <a:solidFill>
                  <a:srgbClr val="0ADBBC"/>
                </a:solidFill>
              </a:rPr>
              <a:t> </a:t>
            </a:r>
            <a:r>
              <a:rPr lang="en-US" sz="2400" b="1" dirty="0" err="1">
                <a:solidFill>
                  <a:srgbClr val="0ADBBC"/>
                </a:solidFill>
              </a:rPr>
              <a:t>ključnih</a:t>
            </a:r>
            <a:r>
              <a:rPr lang="en-US" sz="2400" b="1" dirty="0">
                <a:solidFill>
                  <a:srgbClr val="0ADBBC"/>
                </a:solidFill>
              </a:rPr>
              <a:t> </a:t>
            </a:r>
            <a:r>
              <a:rPr lang="en-US" sz="2400" b="1" dirty="0" err="1">
                <a:solidFill>
                  <a:srgbClr val="0ADBBC"/>
                </a:solidFill>
              </a:rPr>
              <a:t>prekretnica</a:t>
            </a:r>
            <a:r>
              <a:rPr lang="hr-HR" sz="2400" b="1" dirty="0">
                <a:solidFill>
                  <a:srgbClr val="0ADBBC"/>
                </a:solidFill>
              </a:rPr>
              <a:t> (</a:t>
            </a:r>
            <a:r>
              <a:rPr lang="hr-HR" sz="2400" b="1" dirty="0" err="1">
                <a:solidFill>
                  <a:srgbClr val="0ADBBC"/>
                </a:solidFill>
              </a:rPr>
              <a:t>milestones</a:t>
            </a:r>
            <a:r>
              <a:rPr lang="hr-HR" sz="2400" b="1" dirty="0">
                <a:solidFill>
                  <a:srgbClr val="0ADBBC"/>
                </a:solidFill>
              </a:rPr>
              <a:t>)</a:t>
            </a:r>
            <a:r>
              <a:rPr lang="en-US" sz="2400" b="1" dirty="0">
                <a:solidFill>
                  <a:srgbClr val="0ADBBC"/>
                </a:solidFill>
              </a:rPr>
              <a:t> </a:t>
            </a:r>
            <a:r>
              <a:rPr lang="en-US" sz="2400" dirty="0"/>
              <a:t>– Prati </a:t>
            </a:r>
            <a:r>
              <a:rPr lang="en-US" sz="2400" dirty="0" err="1"/>
              <a:t>ključne</a:t>
            </a:r>
            <a:r>
              <a:rPr lang="en-US" sz="2400" dirty="0"/>
              <a:t> faze </a:t>
            </a:r>
            <a:r>
              <a:rPr lang="en-US" sz="2400" dirty="0" err="1"/>
              <a:t>projekta</a:t>
            </a:r>
            <a:r>
              <a:rPr lang="en-US" sz="2400" dirty="0"/>
              <a:t> </a:t>
            </a:r>
            <a:r>
              <a:rPr lang="en-US" sz="2400" dirty="0" err="1"/>
              <a:t>kako</a:t>
            </a:r>
            <a:r>
              <a:rPr lang="en-US" sz="2400" dirty="0"/>
              <a:t> bi se </a:t>
            </a:r>
            <a:r>
              <a:rPr lang="en-US" sz="2400" dirty="0" err="1"/>
              <a:t>osigurala</a:t>
            </a:r>
            <a:r>
              <a:rPr lang="en-US" sz="2400" dirty="0"/>
              <a:t> </a:t>
            </a:r>
            <a:r>
              <a:rPr lang="en-US" sz="2400" dirty="0" err="1"/>
              <a:t>usklađenost</a:t>
            </a:r>
            <a:r>
              <a:rPr lang="en-US" sz="2400" dirty="0"/>
              <a:t> s </a:t>
            </a:r>
            <a:r>
              <a:rPr lang="en-US" sz="2400" dirty="0" err="1"/>
              <a:t>rokovima</a:t>
            </a:r>
            <a:r>
              <a:rPr lang="en-US" sz="2400" dirty="0"/>
              <a:t>.</a:t>
            </a:r>
          </a:p>
          <a:p>
            <a:pPr marL="457200" indent="-457200">
              <a:buFont typeface="+mj-lt"/>
              <a:buAutoNum type="arabicPeriod" startAt="4"/>
            </a:pPr>
            <a:endParaRPr lang="en-US" sz="2400" dirty="0"/>
          </a:p>
          <a:p>
            <a:pPr marL="457200" indent="-457200">
              <a:buFont typeface="+mj-lt"/>
              <a:buAutoNum type="arabicPeriod" startAt="4"/>
            </a:pPr>
            <a:r>
              <a:rPr lang="en-US" sz="2400" b="1" dirty="0" err="1">
                <a:solidFill>
                  <a:srgbClr val="0FDCBD"/>
                </a:solidFill>
              </a:rPr>
              <a:t>Agilne</a:t>
            </a:r>
            <a:r>
              <a:rPr lang="en-US" sz="2400" b="1" dirty="0">
                <a:solidFill>
                  <a:srgbClr val="0FDCBD"/>
                </a:solidFill>
              </a:rPr>
              <a:t> </a:t>
            </a:r>
            <a:r>
              <a:rPr lang="en-US" sz="2400" b="1" dirty="0" err="1">
                <a:solidFill>
                  <a:srgbClr val="0FDCBD"/>
                </a:solidFill>
              </a:rPr>
              <a:t>metodologije</a:t>
            </a:r>
            <a:r>
              <a:rPr lang="en-US" sz="2400" b="1" dirty="0">
                <a:solidFill>
                  <a:srgbClr val="0FDCBD"/>
                </a:solidFill>
              </a:rPr>
              <a:t> (Scrum/Kanban) </a:t>
            </a:r>
            <a:r>
              <a:rPr lang="en-US" sz="2400" dirty="0"/>
              <a:t>– </a:t>
            </a:r>
            <a:r>
              <a:rPr lang="en-US" sz="2400" dirty="0" err="1"/>
              <a:t>Koriste</a:t>
            </a:r>
            <a:r>
              <a:rPr lang="en-US" sz="2400" dirty="0"/>
              <a:t> </a:t>
            </a:r>
            <a:r>
              <a:rPr lang="en-US" sz="2400" dirty="0" err="1"/>
              <a:t>iterativne</a:t>
            </a:r>
            <a:r>
              <a:rPr lang="en-US" sz="2400" dirty="0"/>
              <a:t> </a:t>
            </a:r>
            <a:r>
              <a:rPr lang="en-US" sz="2400" dirty="0" err="1"/>
              <a:t>radne</a:t>
            </a:r>
            <a:r>
              <a:rPr lang="en-US" sz="2400" dirty="0"/>
              <a:t> </a:t>
            </a:r>
            <a:r>
              <a:rPr lang="en-US" sz="2400" dirty="0" err="1"/>
              <a:t>cikluse</a:t>
            </a:r>
            <a:r>
              <a:rPr lang="en-US" sz="2400" dirty="0"/>
              <a:t> i </a:t>
            </a:r>
            <a:r>
              <a:rPr lang="en-US" sz="2400" dirty="0" err="1"/>
              <a:t>vizualne</a:t>
            </a:r>
            <a:r>
              <a:rPr lang="en-US" sz="2400" dirty="0"/>
              <a:t> </a:t>
            </a:r>
            <a:r>
              <a:rPr lang="en-US" sz="2400" dirty="0" err="1"/>
              <a:t>ploče</a:t>
            </a:r>
            <a:r>
              <a:rPr lang="en-US" sz="2400" dirty="0"/>
              <a:t> za </a:t>
            </a:r>
            <a:r>
              <a:rPr lang="en-US" sz="2400" dirty="0" err="1"/>
              <a:t>praćenje</a:t>
            </a:r>
            <a:r>
              <a:rPr lang="en-US" sz="2400" dirty="0"/>
              <a:t> </a:t>
            </a:r>
            <a:r>
              <a:rPr lang="en-US" sz="2400" dirty="0" err="1"/>
              <a:t>napretka</a:t>
            </a:r>
            <a:r>
              <a:rPr lang="en-US" sz="2400" dirty="0"/>
              <a:t> i </a:t>
            </a:r>
            <a:r>
              <a:rPr lang="en-US" sz="2400" dirty="0" err="1"/>
              <a:t>dinamičko</a:t>
            </a:r>
            <a:r>
              <a:rPr lang="en-US" sz="2400" dirty="0"/>
              <a:t> </a:t>
            </a:r>
            <a:r>
              <a:rPr lang="en-US" sz="2400" dirty="0" err="1"/>
              <a:t>prilagođavanje</a:t>
            </a:r>
            <a:r>
              <a:rPr lang="en-US" sz="2400" dirty="0"/>
              <a:t> </a:t>
            </a:r>
            <a:r>
              <a:rPr lang="en-US" sz="2400" dirty="0" err="1"/>
              <a:t>rasporeda</a:t>
            </a:r>
            <a:r>
              <a:rPr lang="en-US" sz="2400" dirty="0"/>
              <a:t>.</a:t>
            </a:r>
          </a:p>
        </p:txBody>
      </p:sp>
    </p:spTree>
    <p:extLst>
      <p:ext uri="{BB962C8B-B14F-4D97-AF65-F5344CB8AC3E}">
        <p14:creationId xmlns:p14="http://schemas.microsoft.com/office/powerpoint/2010/main" val="3018342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7FF03-9B3E-B4AE-E13E-C81870160FF0}"/>
              </a:ext>
            </a:extLst>
          </p:cNvPr>
          <p:cNvSpPr>
            <a:spLocks noGrp="1"/>
          </p:cNvSpPr>
          <p:nvPr>
            <p:ph type="title"/>
          </p:nvPr>
        </p:nvSpPr>
        <p:spPr/>
        <p:txBody>
          <a:bodyPr/>
          <a:lstStyle/>
          <a:p>
            <a:r>
              <a:rPr lang="hr-HR" sz="3800" dirty="0">
                <a:latin typeface="Bahnschrift SemiBold"/>
                <a:ea typeface="+mn-ea"/>
                <a:cs typeface="+mn-cs"/>
              </a:rPr>
              <a:t>Metoda CPM (</a:t>
            </a:r>
            <a:r>
              <a:rPr lang="en-US" sz="3800" dirty="0">
                <a:latin typeface="Bahnschrift SemiBold"/>
                <a:ea typeface="+mn-ea"/>
                <a:cs typeface="+mn-cs"/>
              </a:rPr>
              <a:t>Critical Path Method )</a:t>
            </a:r>
          </a:p>
        </p:txBody>
      </p:sp>
      <p:sp>
        <p:nvSpPr>
          <p:cNvPr id="3" name="Content Placeholder 2">
            <a:extLst>
              <a:ext uri="{FF2B5EF4-FFF2-40B4-BE49-F238E27FC236}">
                <a16:creationId xmlns:a16="http://schemas.microsoft.com/office/drawing/2014/main" id="{1BEA6E8A-C6B4-2829-C1E9-3A031646A255}"/>
              </a:ext>
            </a:extLst>
          </p:cNvPr>
          <p:cNvSpPr>
            <a:spLocks noGrp="1"/>
          </p:cNvSpPr>
          <p:nvPr>
            <p:ph idx="1"/>
          </p:nvPr>
        </p:nvSpPr>
        <p:spPr>
          <a:xfrm>
            <a:off x="533399" y="1690688"/>
            <a:ext cx="10938165" cy="5032230"/>
          </a:xfrm>
        </p:spPr>
        <p:txBody>
          <a:bodyPr>
            <a:noAutofit/>
          </a:bodyPr>
          <a:lstStyle/>
          <a:p>
            <a:pPr>
              <a:buNone/>
            </a:pPr>
            <a:r>
              <a:rPr lang="en-US" b="1" dirty="0"/>
              <a:t>Ključni </a:t>
            </a:r>
            <a:r>
              <a:rPr lang="en-US" b="1" dirty="0" err="1"/>
              <a:t>elementi</a:t>
            </a:r>
            <a:r>
              <a:rPr lang="en-US" b="1" dirty="0"/>
              <a:t> CPM-a</a:t>
            </a:r>
            <a:endParaRPr lang="hr-HR" b="1" dirty="0"/>
          </a:p>
          <a:p>
            <a:pPr marL="514350" indent="-514350">
              <a:buFont typeface="+mj-lt"/>
              <a:buAutoNum type="arabicPeriod"/>
            </a:pPr>
            <a:r>
              <a:rPr lang="en-US" b="1" dirty="0" err="1">
                <a:solidFill>
                  <a:srgbClr val="0FDCBD"/>
                </a:solidFill>
              </a:rPr>
              <a:t>Aktivnosti</a:t>
            </a:r>
            <a:r>
              <a:rPr lang="en-US" b="1" dirty="0">
                <a:solidFill>
                  <a:srgbClr val="0FDCBD"/>
                </a:solidFill>
              </a:rPr>
              <a:t> i </a:t>
            </a:r>
            <a:r>
              <a:rPr lang="en-US" b="1" dirty="0" err="1">
                <a:solidFill>
                  <a:srgbClr val="0FDCBD"/>
                </a:solidFill>
              </a:rPr>
              <a:t>zadaci</a:t>
            </a:r>
            <a:r>
              <a:rPr lang="en-US" b="1" dirty="0"/>
              <a:t> </a:t>
            </a:r>
            <a:r>
              <a:rPr lang="en-US" dirty="0"/>
              <a:t>– Projekt se </a:t>
            </a:r>
            <a:r>
              <a:rPr lang="en-US" dirty="0" err="1"/>
              <a:t>razlaže</a:t>
            </a:r>
            <a:r>
              <a:rPr lang="en-US" dirty="0"/>
              <a:t> </a:t>
            </a:r>
            <a:r>
              <a:rPr lang="en-US" dirty="0" err="1"/>
              <a:t>na</a:t>
            </a:r>
            <a:r>
              <a:rPr lang="en-US" dirty="0"/>
              <a:t> </a:t>
            </a:r>
            <a:r>
              <a:rPr lang="en-US" dirty="0" err="1"/>
              <a:t>pojedinačne</a:t>
            </a:r>
            <a:r>
              <a:rPr lang="en-US" dirty="0"/>
              <a:t> </a:t>
            </a:r>
            <a:r>
              <a:rPr lang="en-US" dirty="0" err="1"/>
              <a:t>zadatke</a:t>
            </a:r>
            <a:r>
              <a:rPr lang="en-US" dirty="0"/>
              <a:t>.</a:t>
            </a:r>
          </a:p>
          <a:p>
            <a:pPr marL="514350" indent="-514350">
              <a:buFont typeface="+mj-lt"/>
              <a:buAutoNum type="arabicPeriod"/>
            </a:pPr>
            <a:endParaRPr lang="hr-HR" b="1" dirty="0"/>
          </a:p>
          <a:p>
            <a:pPr marL="514350" indent="-514350">
              <a:buFont typeface="+mj-lt"/>
              <a:buAutoNum type="arabicPeriod"/>
            </a:pPr>
            <a:r>
              <a:rPr lang="en-US" b="1" dirty="0" err="1">
                <a:solidFill>
                  <a:srgbClr val="0FDCBD"/>
                </a:solidFill>
              </a:rPr>
              <a:t>Ovisnosti</a:t>
            </a:r>
            <a:r>
              <a:rPr lang="en-US" b="1" dirty="0"/>
              <a:t> </a:t>
            </a:r>
            <a:r>
              <a:rPr lang="en-US" dirty="0"/>
              <a:t>– </a:t>
            </a:r>
            <a:r>
              <a:rPr lang="en-US" dirty="0" err="1"/>
              <a:t>Odnosi</a:t>
            </a:r>
            <a:r>
              <a:rPr lang="en-US" dirty="0"/>
              <a:t> </a:t>
            </a:r>
            <a:r>
              <a:rPr lang="en-US" dirty="0" err="1"/>
              <a:t>između</a:t>
            </a:r>
            <a:r>
              <a:rPr lang="en-US" dirty="0"/>
              <a:t> </a:t>
            </a:r>
            <a:r>
              <a:rPr lang="en-US" dirty="0" err="1"/>
              <a:t>zadataka</a:t>
            </a:r>
            <a:r>
              <a:rPr lang="en-US" dirty="0"/>
              <a:t> (</a:t>
            </a:r>
            <a:r>
              <a:rPr lang="en-US" dirty="0" err="1"/>
              <a:t>npr</a:t>
            </a:r>
            <a:r>
              <a:rPr lang="en-US" dirty="0"/>
              <a:t>. </a:t>
            </a:r>
            <a:r>
              <a:rPr lang="en-US" dirty="0" err="1"/>
              <a:t>jedan</a:t>
            </a:r>
            <a:r>
              <a:rPr lang="en-US" dirty="0"/>
              <a:t> </a:t>
            </a:r>
            <a:r>
              <a:rPr lang="en-US" dirty="0" err="1"/>
              <a:t>zadatak</a:t>
            </a:r>
            <a:r>
              <a:rPr lang="en-US" dirty="0"/>
              <a:t> mora </a:t>
            </a:r>
            <a:r>
              <a:rPr lang="en-US" dirty="0" err="1"/>
              <a:t>biti</a:t>
            </a:r>
            <a:r>
              <a:rPr lang="en-US" dirty="0"/>
              <a:t> </a:t>
            </a:r>
            <a:r>
              <a:rPr lang="en-US" dirty="0" err="1"/>
              <a:t>dovršen</a:t>
            </a:r>
            <a:r>
              <a:rPr lang="en-US" dirty="0"/>
              <a:t> </a:t>
            </a:r>
            <a:r>
              <a:rPr lang="en-US" dirty="0" err="1"/>
              <a:t>prije</a:t>
            </a:r>
            <a:r>
              <a:rPr lang="en-US" dirty="0"/>
              <a:t> </a:t>
            </a:r>
            <a:r>
              <a:rPr lang="en-US" dirty="0" err="1"/>
              <a:t>nego</a:t>
            </a:r>
            <a:r>
              <a:rPr lang="en-US" dirty="0"/>
              <a:t> </a:t>
            </a:r>
            <a:r>
              <a:rPr lang="en-US" dirty="0" err="1"/>
              <a:t>što</a:t>
            </a:r>
            <a:r>
              <a:rPr lang="en-US" dirty="0"/>
              <a:t> </a:t>
            </a:r>
            <a:r>
              <a:rPr lang="en-US" dirty="0" err="1"/>
              <a:t>drugi</a:t>
            </a:r>
            <a:r>
              <a:rPr lang="en-US" dirty="0"/>
              <a:t> </a:t>
            </a:r>
            <a:r>
              <a:rPr lang="en-US" dirty="0" err="1"/>
              <a:t>može</a:t>
            </a:r>
            <a:r>
              <a:rPr lang="en-US" dirty="0"/>
              <a:t> </a:t>
            </a:r>
            <a:r>
              <a:rPr lang="en-US" dirty="0" err="1"/>
              <a:t>započeti</a:t>
            </a:r>
            <a:r>
              <a:rPr lang="en-US" dirty="0"/>
              <a:t>).</a:t>
            </a:r>
          </a:p>
          <a:p>
            <a:pPr marL="514350" indent="-514350">
              <a:buFont typeface="+mj-lt"/>
              <a:buAutoNum type="arabicPeriod"/>
            </a:pPr>
            <a:endParaRPr lang="hr-HR" b="1" dirty="0"/>
          </a:p>
          <a:p>
            <a:pPr marL="514350" indent="-514350">
              <a:buFont typeface="+mj-lt"/>
              <a:buAutoNum type="arabicPeriod"/>
            </a:pPr>
            <a:r>
              <a:rPr lang="en-US" b="1" dirty="0" err="1">
                <a:solidFill>
                  <a:srgbClr val="0FDCBD"/>
                </a:solidFill>
              </a:rPr>
              <a:t>Trajanja</a:t>
            </a:r>
            <a:r>
              <a:rPr lang="en-US" b="1" dirty="0"/>
              <a:t> </a:t>
            </a:r>
            <a:r>
              <a:rPr lang="en-US" dirty="0"/>
              <a:t>– </a:t>
            </a:r>
            <a:r>
              <a:rPr lang="en-US" dirty="0" err="1"/>
              <a:t>Procijenjeno</a:t>
            </a:r>
            <a:r>
              <a:rPr lang="en-US" dirty="0"/>
              <a:t> </a:t>
            </a:r>
            <a:r>
              <a:rPr lang="en-US" dirty="0" err="1"/>
              <a:t>vrijeme</a:t>
            </a:r>
            <a:r>
              <a:rPr lang="en-US" dirty="0"/>
              <a:t> </a:t>
            </a:r>
            <a:r>
              <a:rPr lang="en-US" dirty="0" err="1"/>
              <a:t>potrebno</a:t>
            </a:r>
            <a:r>
              <a:rPr lang="en-US" dirty="0"/>
              <a:t> za </a:t>
            </a:r>
            <a:r>
              <a:rPr lang="en-US" dirty="0" err="1"/>
              <a:t>svaki</a:t>
            </a:r>
            <a:r>
              <a:rPr lang="en-US" dirty="0"/>
              <a:t> </a:t>
            </a:r>
            <a:r>
              <a:rPr lang="en-US" dirty="0" err="1"/>
              <a:t>zadatak</a:t>
            </a:r>
            <a:r>
              <a:rPr lang="en-US" dirty="0"/>
              <a:t>.</a:t>
            </a:r>
          </a:p>
          <a:p>
            <a:pPr marL="0" indent="0">
              <a:buNone/>
            </a:pPr>
            <a:endParaRPr lang="en-US" sz="2400" dirty="0"/>
          </a:p>
        </p:txBody>
      </p:sp>
    </p:spTree>
    <p:extLst>
      <p:ext uri="{BB962C8B-B14F-4D97-AF65-F5344CB8AC3E}">
        <p14:creationId xmlns:p14="http://schemas.microsoft.com/office/powerpoint/2010/main" val="3265920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5C3D7-D8AA-5465-C635-7834DB18F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16011-86D6-AF53-3C98-0F8487E5FA39}"/>
              </a:ext>
            </a:extLst>
          </p:cNvPr>
          <p:cNvSpPr>
            <a:spLocks noGrp="1"/>
          </p:cNvSpPr>
          <p:nvPr>
            <p:ph type="title"/>
          </p:nvPr>
        </p:nvSpPr>
        <p:spPr/>
        <p:txBody>
          <a:bodyPr/>
          <a:lstStyle/>
          <a:p>
            <a:r>
              <a:rPr lang="en-US" sz="3800" dirty="0" err="1">
                <a:latin typeface="Bahnschrift SemiBold"/>
                <a:ea typeface="+mn-ea"/>
                <a:cs typeface="+mn-cs"/>
              </a:rPr>
              <a:t>Metoda</a:t>
            </a:r>
            <a:r>
              <a:rPr lang="en-US" sz="3800" dirty="0">
                <a:latin typeface="Bahnschrift SemiBold"/>
                <a:ea typeface="+mn-ea"/>
                <a:cs typeface="+mn-cs"/>
              </a:rPr>
              <a:t> CPM (Critical Path Method )</a:t>
            </a:r>
          </a:p>
        </p:txBody>
      </p:sp>
      <p:sp>
        <p:nvSpPr>
          <p:cNvPr id="3" name="Content Placeholder 2">
            <a:extLst>
              <a:ext uri="{FF2B5EF4-FFF2-40B4-BE49-F238E27FC236}">
                <a16:creationId xmlns:a16="http://schemas.microsoft.com/office/drawing/2014/main" id="{9D0964D6-73A6-4605-35ED-B911BC5A05D0}"/>
              </a:ext>
            </a:extLst>
          </p:cNvPr>
          <p:cNvSpPr>
            <a:spLocks noGrp="1"/>
          </p:cNvSpPr>
          <p:nvPr>
            <p:ph idx="1"/>
          </p:nvPr>
        </p:nvSpPr>
        <p:spPr>
          <a:xfrm>
            <a:off x="533399" y="1690688"/>
            <a:ext cx="10938165" cy="5032230"/>
          </a:xfrm>
        </p:spPr>
        <p:txBody>
          <a:bodyPr>
            <a:noAutofit/>
          </a:bodyPr>
          <a:lstStyle/>
          <a:p>
            <a:pPr>
              <a:buNone/>
            </a:pPr>
            <a:r>
              <a:rPr lang="en-US" b="1" dirty="0"/>
              <a:t>Ključni </a:t>
            </a:r>
            <a:r>
              <a:rPr lang="en-US" b="1" dirty="0" err="1"/>
              <a:t>elementi</a:t>
            </a:r>
            <a:r>
              <a:rPr lang="en-US" b="1" dirty="0"/>
              <a:t> CPM-a</a:t>
            </a:r>
          </a:p>
          <a:p>
            <a:pPr>
              <a:buNone/>
            </a:pPr>
            <a:endParaRPr lang="en-US" b="1" dirty="0"/>
          </a:p>
          <a:p>
            <a:pPr marL="457200" indent="-457200">
              <a:buFont typeface="+mj-lt"/>
              <a:buAutoNum type="arabicPeriod" startAt="4"/>
            </a:pPr>
            <a:r>
              <a:rPr lang="en-US" b="1" dirty="0">
                <a:solidFill>
                  <a:srgbClr val="0ADBBC"/>
                </a:solidFill>
              </a:rPr>
              <a:t>Najranije </a:t>
            </a:r>
            <a:r>
              <a:rPr lang="en-US" b="1" dirty="0" err="1">
                <a:solidFill>
                  <a:srgbClr val="0ADBBC"/>
                </a:solidFill>
              </a:rPr>
              <a:t>vrijeme</a:t>
            </a:r>
            <a:r>
              <a:rPr lang="en-US" b="1" dirty="0">
                <a:solidFill>
                  <a:srgbClr val="0ADBBC"/>
                </a:solidFill>
              </a:rPr>
              <a:t> </a:t>
            </a:r>
            <a:r>
              <a:rPr lang="en-US" b="1" dirty="0" err="1">
                <a:solidFill>
                  <a:srgbClr val="0ADBBC"/>
                </a:solidFill>
              </a:rPr>
              <a:t>početka</a:t>
            </a:r>
            <a:r>
              <a:rPr lang="en-US" b="1" dirty="0">
                <a:solidFill>
                  <a:srgbClr val="0ADBBC"/>
                </a:solidFill>
              </a:rPr>
              <a:t> i </a:t>
            </a:r>
            <a:r>
              <a:rPr lang="en-US" b="1" dirty="0" err="1">
                <a:solidFill>
                  <a:srgbClr val="0ADBBC"/>
                </a:solidFill>
              </a:rPr>
              <a:t>završetka</a:t>
            </a:r>
            <a:r>
              <a:rPr lang="en-US" b="1" dirty="0">
                <a:solidFill>
                  <a:srgbClr val="0ADBBC"/>
                </a:solidFill>
              </a:rPr>
              <a:t> (ES i EF)</a:t>
            </a:r>
            <a:r>
              <a:rPr lang="hr-HR" b="1" dirty="0">
                <a:solidFill>
                  <a:srgbClr val="0ADBBC"/>
                </a:solidFill>
              </a:rPr>
              <a:t> </a:t>
            </a:r>
            <a:r>
              <a:rPr lang="en-US" dirty="0"/>
              <a:t>– </a:t>
            </a:r>
            <a:r>
              <a:rPr lang="en-US" dirty="0" err="1"/>
              <a:t>Najranije</a:t>
            </a:r>
            <a:r>
              <a:rPr lang="en-US" dirty="0"/>
              <a:t> </a:t>
            </a:r>
            <a:r>
              <a:rPr lang="en-US" dirty="0" err="1"/>
              <a:t>vrijeme</a:t>
            </a:r>
            <a:r>
              <a:rPr lang="en-US" dirty="0"/>
              <a:t> </a:t>
            </a:r>
            <a:r>
              <a:rPr lang="en-US" dirty="0" err="1"/>
              <a:t>kada</a:t>
            </a:r>
            <a:r>
              <a:rPr lang="en-US" dirty="0"/>
              <a:t> </a:t>
            </a:r>
            <a:r>
              <a:rPr lang="en-US" dirty="0" err="1"/>
              <a:t>zadatak</a:t>
            </a:r>
            <a:r>
              <a:rPr lang="en-US" dirty="0"/>
              <a:t> </a:t>
            </a:r>
            <a:r>
              <a:rPr lang="en-US" dirty="0" err="1"/>
              <a:t>može</a:t>
            </a:r>
            <a:r>
              <a:rPr lang="en-US" dirty="0"/>
              <a:t> </a:t>
            </a:r>
            <a:r>
              <a:rPr lang="en-US" dirty="0" err="1"/>
              <a:t>započeti</a:t>
            </a:r>
            <a:r>
              <a:rPr lang="en-US" dirty="0"/>
              <a:t> i </a:t>
            </a:r>
            <a:r>
              <a:rPr lang="en-US" dirty="0" err="1"/>
              <a:t>završiti</a:t>
            </a:r>
            <a:r>
              <a:rPr lang="en-US" dirty="0"/>
              <a:t> bez </a:t>
            </a:r>
            <a:r>
              <a:rPr lang="en-US" dirty="0" err="1"/>
              <a:t>odgađanja</a:t>
            </a:r>
            <a:r>
              <a:rPr lang="en-US" dirty="0"/>
              <a:t> </a:t>
            </a:r>
            <a:r>
              <a:rPr lang="en-US" dirty="0" err="1"/>
              <a:t>projekta</a:t>
            </a:r>
            <a:r>
              <a:rPr lang="en-US" dirty="0"/>
              <a:t>.</a:t>
            </a:r>
          </a:p>
          <a:p>
            <a:pPr marL="457200" indent="-457200">
              <a:buFont typeface="+mj-lt"/>
              <a:buAutoNum type="arabicPeriod" startAt="4"/>
            </a:pPr>
            <a:r>
              <a:rPr lang="en-US" b="1" dirty="0">
                <a:solidFill>
                  <a:srgbClr val="0FDCBD"/>
                </a:solidFill>
              </a:rPr>
              <a:t>Najkasnije </a:t>
            </a:r>
            <a:r>
              <a:rPr lang="en-US" b="1" dirty="0" err="1">
                <a:solidFill>
                  <a:srgbClr val="0FDCBD"/>
                </a:solidFill>
              </a:rPr>
              <a:t>vrijeme</a:t>
            </a:r>
            <a:r>
              <a:rPr lang="en-US" b="1" dirty="0">
                <a:solidFill>
                  <a:srgbClr val="0FDCBD"/>
                </a:solidFill>
              </a:rPr>
              <a:t> </a:t>
            </a:r>
            <a:r>
              <a:rPr lang="en-US" b="1" dirty="0" err="1">
                <a:solidFill>
                  <a:srgbClr val="0FDCBD"/>
                </a:solidFill>
              </a:rPr>
              <a:t>početka</a:t>
            </a:r>
            <a:r>
              <a:rPr lang="en-US" b="1" dirty="0">
                <a:solidFill>
                  <a:srgbClr val="0FDCBD"/>
                </a:solidFill>
              </a:rPr>
              <a:t> i </a:t>
            </a:r>
            <a:r>
              <a:rPr lang="en-US" b="1" dirty="0" err="1">
                <a:solidFill>
                  <a:srgbClr val="0FDCBD"/>
                </a:solidFill>
              </a:rPr>
              <a:t>završetka</a:t>
            </a:r>
            <a:r>
              <a:rPr lang="en-US" b="1" dirty="0">
                <a:solidFill>
                  <a:srgbClr val="0FDCBD"/>
                </a:solidFill>
              </a:rPr>
              <a:t> (LS i LF)</a:t>
            </a:r>
            <a:r>
              <a:rPr lang="en-US" dirty="0"/>
              <a:t> – </a:t>
            </a:r>
            <a:r>
              <a:rPr lang="en-US" dirty="0" err="1"/>
              <a:t>Najkasnije</a:t>
            </a:r>
            <a:r>
              <a:rPr lang="en-US" dirty="0"/>
              <a:t> </a:t>
            </a:r>
            <a:r>
              <a:rPr lang="en-US" dirty="0" err="1"/>
              <a:t>vrijeme</a:t>
            </a:r>
            <a:r>
              <a:rPr lang="en-US" dirty="0"/>
              <a:t> </a:t>
            </a:r>
            <a:r>
              <a:rPr lang="en-US" dirty="0" err="1"/>
              <a:t>kada</a:t>
            </a:r>
            <a:r>
              <a:rPr lang="en-US" dirty="0"/>
              <a:t> </a:t>
            </a:r>
            <a:r>
              <a:rPr lang="en-US" dirty="0" err="1"/>
              <a:t>zadatak</a:t>
            </a:r>
            <a:r>
              <a:rPr lang="en-US" dirty="0"/>
              <a:t> </a:t>
            </a:r>
            <a:r>
              <a:rPr lang="en-US" dirty="0" err="1"/>
              <a:t>može</a:t>
            </a:r>
            <a:r>
              <a:rPr lang="en-US" dirty="0"/>
              <a:t> </a:t>
            </a:r>
            <a:r>
              <a:rPr lang="en-US" dirty="0" err="1"/>
              <a:t>započeti</a:t>
            </a:r>
            <a:r>
              <a:rPr lang="en-US" dirty="0"/>
              <a:t>/</a:t>
            </a:r>
            <a:r>
              <a:rPr lang="en-US" dirty="0" err="1"/>
              <a:t>završiti</a:t>
            </a:r>
            <a:r>
              <a:rPr lang="en-US" dirty="0"/>
              <a:t> bez </a:t>
            </a:r>
            <a:r>
              <a:rPr lang="en-US" dirty="0" err="1"/>
              <a:t>odgađanja</a:t>
            </a:r>
            <a:r>
              <a:rPr lang="en-US" dirty="0"/>
              <a:t> </a:t>
            </a:r>
            <a:r>
              <a:rPr lang="en-US" dirty="0" err="1"/>
              <a:t>projekta</a:t>
            </a:r>
            <a:r>
              <a:rPr lang="en-US" dirty="0"/>
              <a:t>.</a:t>
            </a:r>
          </a:p>
          <a:p>
            <a:pPr marL="457200" indent="-457200">
              <a:buFont typeface="+mj-lt"/>
              <a:buAutoNum type="arabicPeriod" startAt="4"/>
            </a:pPr>
            <a:r>
              <a:rPr lang="en-US" b="1" dirty="0"/>
              <a:t>Rezerva </a:t>
            </a:r>
            <a:r>
              <a:rPr lang="en-US" b="1" dirty="0" err="1"/>
              <a:t>vremena</a:t>
            </a:r>
            <a:r>
              <a:rPr lang="hr-HR" b="1" dirty="0"/>
              <a:t> - </a:t>
            </a:r>
            <a:r>
              <a:rPr lang="hr-HR" b="1" dirty="0" err="1"/>
              <a:t>float</a:t>
            </a:r>
            <a:r>
              <a:rPr lang="en-US" b="1" dirty="0"/>
              <a:t> (slack)</a:t>
            </a:r>
            <a:r>
              <a:rPr lang="en-US" dirty="0"/>
              <a:t> – </a:t>
            </a:r>
            <a:r>
              <a:rPr lang="en-US" dirty="0" err="1"/>
              <a:t>Dodatno</a:t>
            </a:r>
            <a:r>
              <a:rPr lang="en-US" dirty="0"/>
              <a:t> </a:t>
            </a:r>
            <a:r>
              <a:rPr lang="en-US" dirty="0" err="1"/>
              <a:t>vrijeme</a:t>
            </a:r>
            <a:r>
              <a:rPr lang="en-US" dirty="0"/>
              <a:t> za </a:t>
            </a:r>
            <a:r>
              <a:rPr lang="en-US" dirty="0" err="1"/>
              <a:t>koje</a:t>
            </a:r>
            <a:r>
              <a:rPr lang="en-US" dirty="0"/>
              <a:t> se </a:t>
            </a:r>
            <a:r>
              <a:rPr lang="en-US" dirty="0" err="1"/>
              <a:t>zadatak</a:t>
            </a:r>
            <a:r>
              <a:rPr lang="en-US" dirty="0"/>
              <a:t> </a:t>
            </a:r>
            <a:r>
              <a:rPr lang="en-US" dirty="0" err="1"/>
              <a:t>može</a:t>
            </a:r>
            <a:r>
              <a:rPr lang="en-US" dirty="0"/>
              <a:t> </a:t>
            </a:r>
            <a:r>
              <a:rPr lang="en-US" dirty="0" err="1"/>
              <a:t>odgoditi</a:t>
            </a:r>
            <a:r>
              <a:rPr lang="en-US" dirty="0"/>
              <a:t> bez </a:t>
            </a:r>
            <a:r>
              <a:rPr lang="en-US" dirty="0" err="1"/>
              <a:t>utjecaja</a:t>
            </a:r>
            <a:r>
              <a:rPr lang="en-US" dirty="0"/>
              <a:t> </a:t>
            </a:r>
            <a:r>
              <a:rPr lang="en-US" dirty="0" err="1"/>
              <a:t>na</a:t>
            </a:r>
            <a:r>
              <a:rPr lang="en-US" dirty="0"/>
              <a:t> </a:t>
            </a:r>
            <a:r>
              <a:rPr lang="en-US" dirty="0" err="1"/>
              <a:t>vremenski</a:t>
            </a:r>
            <a:r>
              <a:rPr lang="en-US" dirty="0"/>
              <a:t> plan </a:t>
            </a:r>
            <a:r>
              <a:rPr lang="en-US" dirty="0" err="1"/>
              <a:t>projekta</a:t>
            </a:r>
            <a:r>
              <a:rPr lang="en-US" dirty="0"/>
              <a:t>.</a:t>
            </a:r>
          </a:p>
          <a:p>
            <a:pPr marL="0" indent="0">
              <a:buNone/>
            </a:pPr>
            <a:endParaRPr lang="en-US" sz="2400" dirty="0"/>
          </a:p>
        </p:txBody>
      </p:sp>
    </p:spTree>
    <p:extLst>
      <p:ext uri="{BB962C8B-B14F-4D97-AF65-F5344CB8AC3E}">
        <p14:creationId xmlns:p14="http://schemas.microsoft.com/office/powerpoint/2010/main" val="264376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9103-B5F4-219B-6750-EB2FD99E1400}"/>
              </a:ext>
            </a:extLst>
          </p:cNvPr>
          <p:cNvSpPr>
            <a:spLocks noGrp="1"/>
          </p:cNvSpPr>
          <p:nvPr>
            <p:ph type="title"/>
          </p:nvPr>
        </p:nvSpPr>
        <p:spPr/>
        <p:txBody>
          <a:bodyPr>
            <a:normAutofit/>
          </a:bodyPr>
          <a:lstStyle/>
          <a:p>
            <a:r>
              <a:rPr lang="en-US" sz="3800" dirty="0" err="1">
                <a:latin typeface="Bahnschrift SemiBold"/>
                <a:ea typeface="+mn-ea"/>
                <a:cs typeface="+mn-cs"/>
              </a:rPr>
              <a:t>Koraci</a:t>
            </a:r>
            <a:r>
              <a:rPr lang="en-US" sz="3800" dirty="0">
                <a:latin typeface="Bahnschrift SemiBold"/>
                <a:ea typeface="+mn-ea"/>
                <a:cs typeface="+mn-cs"/>
              </a:rPr>
              <a:t> za </a:t>
            </a:r>
            <a:r>
              <a:rPr lang="en-US" sz="3800" dirty="0" err="1">
                <a:latin typeface="Bahnschrift SemiBold"/>
                <a:ea typeface="+mn-ea"/>
                <a:cs typeface="+mn-cs"/>
              </a:rPr>
              <a:t>primjenu</a:t>
            </a:r>
            <a:r>
              <a:rPr lang="en-US" sz="3800" dirty="0">
                <a:latin typeface="Bahnschrift SemiBold"/>
                <a:ea typeface="+mn-ea"/>
                <a:cs typeface="+mn-cs"/>
              </a:rPr>
              <a:t> CPM-a</a:t>
            </a:r>
            <a:br>
              <a:rPr lang="en-US" b="1" dirty="0">
                <a:latin typeface="Bahnschrift SemiLight" panose="020B0502040204020203" pitchFamily="34" charset="0"/>
              </a:rPr>
            </a:br>
            <a:endParaRPr lang="en-US" dirty="0">
              <a:latin typeface="Bahnschrift SemiLight" panose="020B0502040204020203" pitchFamily="34" charset="0"/>
            </a:endParaRPr>
          </a:p>
        </p:txBody>
      </p:sp>
      <p:sp>
        <p:nvSpPr>
          <p:cNvPr id="3" name="Content Placeholder 2">
            <a:extLst>
              <a:ext uri="{FF2B5EF4-FFF2-40B4-BE49-F238E27FC236}">
                <a16:creationId xmlns:a16="http://schemas.microsoft.com/office/drawing/2014/main" id="{E03A447F-9FE3-CC81-1711-71995E980D31}"/>
              </a:ext>
            </a:extLst>
          </p:cNvPr>
          <p:cNvSpPr>
            <a:spLocks noGrp="1"/>
          </p:cNvSpPr>
          <p:nvPr>
            <p:ph idx="1"/>
          </p:nvPr>
        </p:nvSpPr>
        <p:spPr>
          <a:xfrm>
            <a:off x="838200" y="1972380"/>
            <a:ext cx="10947400" cy="4351338"/>
          </a:xfrm>
        </p:spPr>
        <p:txBody>
          <a:bodyPr>
            <a:normAutofit/>
          </a:bodyPr>
          <a:lstStyle/>
          <a:p>
            <a:pPr>
              <a:lnSpc>
                <a:spcPct val="150000"/>
              </a:lnSpc>
              <a:buFont typeface="+mj-lt"/>
              <a:buAutoNum type="arabicPeriod"/>
            </a:pPr>
            <a:r>
              <a:rPr lang="en-US" sz="2600" b="1" dirty="0">
                <a:solidFill>
                  <a:srgbClr val="0FDCBD"/>
                </a:solidFill>
              </a:rPr>
              <a:t> </a:t>
            </a:r>
            <a:r>
              <a:rPr lang="en-US" sz="2600" b="1" dirty="0" err="1">
                <a:solidFill>
                  <a:srgbClr val="0FDCBD"/>
                </a:solidFill>
              </a:rPr>
              <a:t>Navesti</a:t>
            </a:r>
            <a:r>
              <a:rPr lang="en-US" sz="2600" b="1" dirty="0">
                <a:solidFill>
                  <a:srgbClr val="0FDCBD"/>
                </a:solidFill>
              </a:rPr>
              <a:t> </a:t>
            </a:r>
            <a:r>
              <a:rPr lang="en-US" sz="2600" b="1" dirty="0" err="1">
                <a:solidFill>
                  <a:srgbClr val="0FDCBD"/>
                </a:solidFill>
              </a:rPr>
              <a:t>sve</a:t>
            </a:r>
            <a:r>
              <a:rPr lang="en-US" sz="2600" b="1" dirty="0">
                <a:solidFill>
                  <a:srgbClr val="0FDCBD"/>
                </a:solidFill>
              </a:rPr>
              <a:t> </a:t>
            </a:r>
            <a:r>
              <a:rPr lang="en-US" sz="2600" b="1" dirty="0" err="1">
                <a:solidFill>
                  <a:srgbClr val="0FDCBD"/>
                </a:solidFill>
              </a:rPr>
              <a:t>zadatke</a:t>
            </a:r>
            <a:r>
              <a:rPr lang="en-US" sz="2600" b="1" dirty="0">
                <a:solidFill>
                  <a:srgbClr val="0FDCBD"/>
                </a:solidFill>
              </a:rPr>
              <a:t> </a:t>
            </a:r>
            <a:r>
              <a:rPr lang="en-US" sz="2600" dirty="0"/>
              <a:t>i </a:t>
            </a:r>
            <a:r>
              <a:rPr lang="en-US" sz="2600" dirty="0" err="1"/>
              <a:t>definirati</a:t>
            </a:r>
            <a:r>
              <a:rPr lang="en-US" sz="2600" dirty="0"/>
              <a:t> </a:t>
            </a:r>
            <a:r>
              <a:rPr lang="en-US" sz="2600" dirty="0" err="1"/>
              <a:t>njihovo</a:t>
            </a:r>
            <a:r>
              <a:rPr lang="en-US" sz="2600" dirty="0"/>
              <a:t> </a:t>
            </a:r>
            <a:r>
              <a:rPr lang="en-US" sz="2600" dirty="0" err="1"/>
              <a:t>trajanje</a:t>
            </a:r>
            <a:r>
              <a:rPr lang="en-US" sz="2600" dirty="0"/>
              <a:t>.</a:t>
            </a:r>
          </a:p>
          <a:p>
            <a:pPr>
              <a:lnSpc>
                <a:spcPct val="150000"/>
              </a:lnSpc>
              <a:buFont typeface="+mj-lt"/>
              <a:buAutoNum type="arabicPeriod"/>
            </a:pPr>
            <a:r>
              <a:rPr lang="hr-HR" sz="2600" dirty="0">
                <a:solidFill>
                  <a:srgbClr val="0FDCBD"/>
                </a:solidFill>
              </a:rPr>
              <a:t> </a:t>
            </a:r>
            <a:r>
              <a:rPr lang="en-US" sz="2600" b="1" dirty="0" err="1">
                <a:solidFill>
                  <a:srgbClr val="0FDCBD"/>
                </a:solidFill>
              </a:rPr>
              <a:t>Identificirati</a:t>
            </a:r>
            <a:r>
              <a:rPr lang="en-US" sz="2600" b="1" dirty="0">
                <a:solidFill>
                  <a:srgbClr val="0FDCBD"/>
                </a:solidFill>
              </a:rPr>
              <a:t> </a:t>
            </a:r>
            <a:r>
              <a:rPr lang="en-US" sz="2600" b="1" dirty="0" err="1">
                <a:solidFill>
                  <a:srgbClr val="0FDCBD"/>
                </a:solidFill>
              </a:rPr>
              <a:t>ovisnosti</a:t>
            </a:r>
            <a:r>
              <a:rPr lang="en-US" sz="2600" b="1" dirty="0">
                <a:solidFill>
                  <a:srgbClr val="0FDCBD"/>
                </a:solidFill>
              </a:rPr>
              <a:t> </a:t>
            </a:r>
            <a:r>
              <a:rPr lang="en-US" sz="2600" dirty="0" err="1"/>
              <a:t>između</a:t>
            </a:r>
            <a:r>
              <a:rPr lang="en-US" sz="2600" dirty="0"/>
              <a:t> </a:t>
            </a:r>
            <a:r>
              <a:rPr lang="en-US" sz="2600" dirty="0" err="1"/>
              <a:t>zadataka</a:t>
            </a:r>
            <a:r>
              <a:rPr lang="en-US" sz="2600" dirty="0"/>
              <a:t>.</a:t>
            </a:r>
          </a:p>
          <a:p>
            <a:pPr>
              <a:lnSpc>
                <a:spcPct val="150000"/>
              </a:lnSpc>
              <a:buFont typeface="+mj-lt"/>
              <a:buAutoNum type="arabicPeriod"/>
            </a:pPr>
            <a:r>
              <a:rPr lang="hr-HR" sz="2600" b="1" dirty="0">
                <a:solidFill>
                  <a:srgbClr val="0FDCBD"/>
                </a:solidFill>
              </a:rPr>
              <a:t> </a:t>
            </a:r>
            <a:r>
              <a:rPr lang="en-US" sz="2600" b="1" dirty="0">
                <a:solidFill>
                  <a:srgbClr val="0FDCBD"/>
                </a:solidFill>
              </a:rPr>
              <a:t>Izraditi </a:t>
            </a:r>
            <a:r>
              <a:rPr lang="en-US" sz="2600" b="1" dirty="0" err="1">
                <a:solidFill>
                  <a:srgbClr val="0FDCBD"/>
                </a:solidFill>
              </a:rPr>
              <a:t>mrežni</a:t>
            </a:r>
            <a:r>
              <a:rPr lang="en-US" sz="2600" b="1" dirty="0">
                <a:solidFill>
                  <a:srgbClr val="0FDCBD"/>
                </a:solidFill>
              </a:rPr>
              <a:t> </a:t>
            </a:r>
            <a:r>
              <a:rPr lang="en-US" sz="2600" b="1" dirty="0" err="1">
                <a:solidFill>
                  <a:srgbClr val="0FDCBD"/>
                </a:solidFill>
              </a:rPr>
              <a:t>dijagram</a:t>
            </a:r>
            <a:r>
              <a:rPr lang="en-US" sz="2600" b="1" dirty="0">
                <a:solidFill>
                  <a:srgbClr val="0FDCBD"/>
                </a:solidFill>
              </a:rPr>
              <a:t> </a:t>
            </a:r>
            <a:r>
              <a:rPr lang="en-US" sz="2600" dirty="0"/>
              <a:t>koji </a:t>
            </a:r>
            <a:r>
              <a:rPr lang="en-US" sz="2600" dirty="0" err="1"/>
              <a:t>prikazuje</a:t>
            </a:r>
            <a:r>
              <a:rPr lang="en-US" sz="2600" dirty="0"/>
              <a:t> </a:t>
            </a:r>
            <a:r>
              <a:rPr lang="en-US" sz="2600" dirty="0" err="1"/>
              <a:t>slijed</a:t>
            </a:r>
            <a:r>
              <a:rPr lang="en-US" sz="2600" dirty="0"/>
              <a:t> </a:t>
            </a:r>
            <a:r>
              <a:rPr lang="en-US" sz="2600" dirty="0" err="1"/>
              <a:t>zadataka</a:t>
            </a:r>
            <a:r>
              <a:rPr lang="en-US" sz="2600" dirty="0"/>
              <a:t>.</a:t>
            </a:r>
          </a:p>
          <a:p>
            <a:pPr>
              <a:lnSpc>
                <a:spcPct val="150000"/>
              </a:lnSpc>
              <a:buFont typeface="+mj-lt"/>
              <a:buAutoNum type="arabicPeriod"/>
            </a:pPr>
            <a:r>
              <a:rPr lang="hr-HR" sz="2600" b="1" dirty="0">
                <a:solidFill>
                  <a:srgbClr val="0FDCBD"/>
                </a:solidFill>
              </a:rPr>
              <a:t> </a:t>
            </a:r>
            <a:r>
              <a:rPr lang="en-US" sz="2600" b="1" dirty="0" err="1">
                <a:solidFill>
                  <a:srgbClr val="0FDCBD"/>
                </a:solidFill>
              </a:rPr>
              <a:t>Odrediti</a:t>
            </a:r>
            <a:r>
              <a:rPr lang="en-US" sz="2600" b="1" dirty="0">
                <a:solidFill>
                  <a:srgbClr val="0FDCBD"/>
                </a:solidFill>
              </a:rPr>
              <a:t> </a:t>
            </a:r>
            <a:r>
              <a:rPr lang="en-US" sz="2600" b="1" dirty="0" err="1">
                <a:solidFill>
                  <a:srgbClr val="0FDCBD"/>
                </a:solidFill>
              </a:rPr>
              <a:t>najdulji</a:t>
            </a:r>
            <a:r>
              <a:rPr lang="en-US" sz="2600" b="1" dirty="0">
                <a:solidFill>
                  <a:srgbClr val="0FDCBD"/>
                </a:solidFill>
              </a:rPr>
              <a:t> put </a:t>
            </a:r>
            <a:r>
              <a:rPr lang="en-US" sz="2600" b="1" dirty="0"/>
              <a:t>(</a:t>
            </a:r>
            <a:r>
              <a:rPr lang="hr-HR" sz="2600" b="1" dirty="0" err="1"/>
              <a:t>Critical</a:t>
            </a:r>
            <a:r>
              <a:rPr lang="hr-HR" sz="2600" b="1" dirty="0"/>
              <a:t> </a:t>
            </a:r>
            <a:r>
              <a:rPr lang="hr-HR" sz="2600" b="1" dirty="0" err="1"/>
              <a:t>Path</a:t>
            </a:r>
            <a:r>
              <a:rPr lang="en-US" sz="2600" b="1" dirty="0"/>
              <a:t>)</a:t>
            </a:r>
            <a:r>
              <a:rPr lang="en-US" sz="2600" dirty="0"/>
              <a:t> </a:t>
            </a:r>
            <a:r>
              <a:rPr lang="en-US" sz="2600" dirty="0" err="1"/>
              <a:t>zbrajanjem</a:t>
            </a:r>
            <a:r>
              <a:rPr lang="en-US" sz="2600" dirty="0"/>
              <a:t> </a:t>
            </a:r>
            <a:r>
              <a:rPr lang="en-US" sz="2600" dirty="0" err="1"/>
              <a:t>trajanja</a:t>
            </a:r>
            <a:r>
              <a:rPr lang="en-US" sz="2600" dirty="0"/>
              <a:t> </a:t>
            </a:r>
            <a:r>
              <a:rPr lang="en-US" sz="2600" dirty="0" err="1"/>
              <a:t>zadataka</a:t>
            </a:r>
            <a:r>
              <a:rPr lang="en-US" sz="2600" dirty="0"/>
              <a:t>.</a:t>
            </a:r>
          </a:p>
          <a:p>
            <a:pPr>
              <a:lnSpc>
                <a:spcPct val="150000"/>
              </a:lnSpc>
              <a:buFont typeface="+mj-lt"/>
              <a:buAutoNum type="arabicPeriod"/>
            </a:pPr>
            <a:r>
              <a:rPr lang="hr-HR" sz="2600" b="1" dirty="0">
                <a:solidFill>
                  <a:srgbClr val="0FDCBD"/>
                </a:solidFill>
              </a:rPr>
              <a:t> </a:t>
            </a:r>
            <a:r>
              <a:rPr lang="en-US" sz="2600" b="1" dirty="0">
                <a:solidFill>
                  <a:srgbClr val="0FDCBD"/>
                </a:solidFill>
              </a:rPr>
              <a:t>Pratiti i </a:t>
            </a:r>
            <a:r>
              <a:rPr lang="en-US" sz="2600" b="1" dirty="0" err="1">
                <a:solidFill>
                  <a:srgbClr val="0FDCBD"/>
                </a:solidFill>
              </a:rPr>
              <a:t>prilagođavati</a:t>
            </a:r>
            <a:r>
              <a:rPr lang="en-US" sz="2600" b="1" dirty="0">
                <a:solidFill>
                  <a:srgbClr val="0FDCBD"/>
                </a:solidFill>
              </a:rPr>
              <a:t> </a:t>
            </a:r>
            <a:r>
              <a:rPr lang="en-US" sz="2600" dirty="0" err="1"/>
              <a:t>kritične</a:t>
            </a:r>
            <a:r>
              <a:rPr lang="en-US" sz="2600" dirty="0"/>
              <a:t> </a:t>
            </a:r>
            <a:r>
              <a:rPr lang="en-US" sz="2600" dirty="0" err="1"/>
              <a:t>zadatke</a:t>
            </a:r>
            <a:r>
              <a:rPr lang="en-US" sz="2600" dirty="0"/>
              <a:t> </a:t>
            </a:r>
            <a:r>
              <a:rPr lang="en-US" sz="2600" dirty="0" err="1"/>
              <a:t>kako</a:t>
            </a:r>
            <a:r>
              <a:rPr lang="en-US" sz="2600" dirty="0"/>
              <a:t> bi </a:t>
            </a:r>
            <a:r>
              <a:rPr lang="en-US" sz="2600" dirty="0" err="1"/>
              <a:t>projekt</a:t>
            </a:r>
            <a:r>
              <a:rPr lang="en-US" sz="2600" dirty="0"/>
              <a:t> </a:t>
            </a:r>
            <a:r>
              <a:rPr lang="en-US" sz="2600" dirty="0" err="1"/>
              <a:t>ostao</a:t>
            </a:r>
            <a:r>
              <a:rPr lang="en-US" sz="2600" dirty="0"/>
              <a:t> u </a:t>
            </a:r>
            <a:r>
              <a:rPr lang="en-US" sz="2600" dirty="0" err="1"/>
              <a:t>skladu</a:t>
            </a:r>
            <a:r>
              <a:rPr lang="en-US" sz="2600" dirty="0"/>
              <a:t> s </a:t>
            </a:r>
            <a:r>
              <a:rPr lang="en-US" sz="2600" dirty="0" err="1"/>
              <a:t>rasporedom</a:t>
            </a:r>
            <a:r>
              <a:rPr lang="en-US" sz="2600" dirty="0"/>
              <a:t>.</a:t>
            </a:r>
          </a:p>
          <a:p>
            <a:pPr marL="0" indent="0">
              <a:lnSpc>
                <a:spcPct val="150000"/>
              </a:lnSpc>
              <a:buNone/>
            </a:pPr>
            <a:endParaRPr lang="en-US" sz="2600" dirty="0"/>
          </a:p>
        </p:txBody>
      </p:sp>
    </p:spTree>
    <p:extLst>
      <p:ext uri="{BB962C8B-B14F-4D97-AF65-F5344CB8AC3E}">
        <p14:creationId xmlns:p14="http://schemas.microsoft.com/office/powerpoint/2010/main" val="1688596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9FF1E5"/>
        </a:solidFill>
        <a:effectLst/>
      </p:bgPr>
    </p:bg>
    <p:spTree>
      <p:nvGrpSpPr>
        <p:cNvPr id="1" name="">
          <a:extLst>
            <a:ext uri="{FF2B5EF4-FFF2-40B4-BE49-F238E27FC236}">
              <a16:creationId xmlns:a16="http://schemas.microsoft.com/office/drawing/2014/main" id="{D390E9EE-0F20-70CB-D9F5-3D64621ED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2822A-E50C-2DC8-274D-15F05E991626}"/>
              </a:ext>
            </a:extLst>
          </p:cNvPr>
          <p:cNvSpPr>
            <a:spLocks noGrp="1"/>
          </p:cNvSpPr>
          <p:nvPr>
            <p:ph type="title"/>
          </p:nvPr>
        </p:nvSpPr>
        <p:spPr>
          <a:xfrm>
            <a:off x="838200" y="364876"/>
            <a:ext cx="10515600" cy="1325563"/>
          </a:xfrm>
        </p:spPr>
        <p:txBody>
          <a:bodyPr>
            <a:normAutofit fontScale="90000"/>
          </a:bodyPr>
          <a:lstStyle/>
          <a:p>
            <a:r>
              <a:rPr lang="en-US" sz="4800" dirty="0">
                <a:latin typeface="Bahnschrift SemiLight" panose="020B0502040204020203" pitchFamily="34" charset="0"/>
              </a:rPr>
              <a:t> </a:t>
            </a:r>
            <a:br>
              <a:rPr lang="en-US" sz="4800" dirty="0">
                <a:latin typeface="Bahnschrift SemiLight" panose="020B0502040204020203" pitchFamily="34" charset="0"/>
              </a:rPr>
            </a:br>
            <a:r>
              <a:rPr lang="en-US" sz="4200" dirty="0">
                <a:latin typeface="Bahnschrift SemiBold"/>
                <a:ea typeface="+mn-ea"/>
                <a:cs typeface="+mn-cs"/>
              </a:rPr>
              <a:t>Primjer CPM-a I.</a:t>
            </a:r>
            <a:br>
              <a:rPr lang="en-US" b="1" dirty="0">
                <a:latin typeface="Bahnschrift SemiLight" panose="020B0502040204020203" pitchFamily="34" charset="0"/>
              </a:rPr>
            </a:br>
            <a:br>
              <a:rPr lang="en-US" b="1" dirty="0">
                <a:latin typeface="Bahnschrift SemiLight" panose="020B0502040204020203" pitchFamily="34" charset="0"/>
              </a:rPr>
            </a:br>
            <a:r>
              <a:rPr lang="en-US" b="1" dirty="0">
                <a:latin typeface="Bahnschrift SemiLight" panose="020B0502040204020203" pitchFamily="34" charset="0"/>
              </a:rPr>
              <a:t> </a:t>
            </a:r>
          </a:p>
        </p:txBody>
      </p:sp>
      <p:sp>
        <p:nvSpPr>
          <p:cNvPr id="3" name="Content Placeholder 2">
            <a:extLst>
              <a:ext uri="{FF2B5EF4-FFF2-40B4-BE49-F238E27FC236}">
                <a16:creationId xmlns:a16="http://schemas.microsoft.com/office/drawing/2014/main" id="{206264C4-33AB-F5BA-35C0-496C1015EC20}"/>
              </a:ext>
            </a:extLst>
          </p:cNvPr>
          <p:cNvSpPr>
            <a:spLocks noGrp="1"/>
          </p:cNvSpPr>
          <p:nvPr>
            <p:ph idx="1"/>
          </p:nvPr>
        </p:nvSpPr>
        <p:spPr>
          <a:xfrm>
            <a:off x="454378" y="1690439"/>
            <a:ext cx="10515600" cy="4351338"/>
          </a:xfrm>
        </p:spPr>
        <p:txBody>
          <a:bodyPr>
            <a:normAutofit/>
          </a:bodyPr>
          <a:lstStyle/>
          <a:p>
            <a:pPr>
              <a:buNone/>
            </a:pPr>
            <a:r>
              <a:rPr lang="hr-HR" sz="2000" b="1" dirty="0">
                <a:solidFill>
                  <a:srgbClr val="0ADBBC"/>
                </a:solidFill>
              </a:rPr>
              <a:t>Projekt</a:t>
            </a:r>
            <a:r>
              <a:rPr lang="en-US" sz="2000" b="1" dirty="0">
                <a:solidFill>
                  <a:srgbClr val="0ADBBC"/>
                </a:solidFill>
              </a:rPr>
              <a:t>: </a:t>
            </a:r>
            <a:r>
              <a:rPr lang="en-US" sz="2000" b="1" dirty="0" err="1"/>
              <a:t>Razvoj</a:t>
            </a:r>
            <a:r>
              <a:rPr lang="en-US" sz="2000" b="1" dirty="0"/>
              <a:t> </a:t>
            </a:r>
            <a:r>
              <a:rPr lang="en-US" sz="2000" b="1" dirty="0" err="1"/>
              <a:t>mobilne</a:t>
            </a:r>
            <a:r>
              <a:rPr lang="en-US" sz="2000" b="1" dirty="0"/>
              <a:t> </a:t>
            </a:r>
            <a:r>
              <a:rPr lang="en-US" sz="2000" b="1" dirty="0" err="1"/>
              <a:t>aplikacije</a:t>
            </a:r>
            <a:endParaRPr lang="en-US" sz="2000" b="1" dirty="0"/>
          </a:p>
          <a:p>
            <a:pPr>
              <a:buNone/>
            </a:pPr>
            <a:r>
              <a:rPr lang="en-US" sz="2000" b="1" dirty="0" err="1">
                <a:solidFill>
                  <a:srgbClr val="0FDCBD"/>
                </a:solidFill>
              </a:rPr>
              <a:t>Cilj</a:t>
            </a:r>
            <a:r>
              <a:rPr lang="en-US" sz="2000" b="1" dirty="0">
                <a:solidFill>
                  <a:srgbClr val="0FDCBD"/>
                </a:solidFill>
              </a:rPr>
              <a:t>: </a:t>
            </a:r>
            <a:r>
              <a:rPr lang="en-US" sz="2000" dirty="0" err="1"/>
              <a:t>Izgraditi</a:t>
            </a:r>
            <a:r>
              <a:rPr lang="en-US" sz="2000" dirty="0"/>
              <a:t> i </a:t>
            </a:r>
            <a:r>
              <a:rPr lang="en-US" sz="2000" dirty="0" err="1"/>
              <a:t>lansirati</a:t>
            </a:r>
            <a:r>
              <a:rPr lang="en-US" sz="2000" dirty="0"/>
              <a:t> </a:t>
            </a:r>
            <a:r>
              <a:rPr lang="en-US" sz="2000" dirty="0" err="1"/>
              <a:t>mobilnu</a:t>
            </a:r>
            <a:r>
              <a:rPr lang="en-US" sz="2000" dirty="0"/>
              <a:t> </a:t>
            </a:r>
            <a:r>
              <a:rPr lang="en-US" sz="2000" dirty="0" err="1"/>
              <a:t>aplikaciju</a:t>
            </a:r>
            <a:r>
              <a:rPr lang="en-US" sz="2000" dirty="0"/>
              <a:t> </a:t>
            </a:r>
            <a:r>
              <a:rPr lang="en-US" sz="2000" dirty="0" err="1"/>
              <a:t>unutar</a:t>
            </a:r>
            <a:r>
              <a:rPr lang="en-US" sz="2000" b="1" dirty="0"/>
              <a:t> 3 </a:t>
            </a:r>
            <a:r>
              <a:rPr lang="en-US" sz="2000" b="1" dirty="0" err="1"/>
              <a:t>mjeseca</a:t>
            </a:r>
            <a:r>
              <a:rPr lang="en-US" sz="2000" b="1" dirty="0"/>
              <a:t>.</a:t>
            </a:r>
          </a:p>
          <a:p>
            <a:pPr>
              <a:buNone/>
            </a:pPr>
            <a:r>
              <a:rPr lang="en-US" sz="2000" b="1" dirty="0">
                <a:solidFill>
                  <a:srgbClr val="0FDCBD"/>
                </a:solidFill>
              </a:rPr>
              <a:t>Korak 1: </a:t>
            </a:r>
            <a:r>
              <a:rPr lang="en-US" sz="2000" b="1" dirty="0" err="1">
                <a:solidFill>
                  <a:srgbClr val="0FDCBD"/>
                </a:solidFill>
              </a:rPr>
              <a:t>Identificirati</a:t>
            </a:r>
            <a:r>
              <a:rPr lang="en-US" sz="2000" b="1" dirty="0">
                <a:solidFill>
                  <a:srgbClr val="0FDCBD"/>
                </a:solidFill>
              </a:rPr>
              <a:t> </a:t>
            </a:r>
            <a:r>
              <a:rPr lang="en-US" sz="2000" b="1" dirty="0" err="1">
                <a:solidFill>
                  <a:srgbClr val="0FDCBD"/>
                </a:solidFill>
              </a:rPr>
              <a:t>ključne</a:t>
            </a:r>
            <a:r>
              <a:rPr lang="en-US" sz="2000" b="1" dirty="0">
                <a:solidFill>
                  <a:srgbClr val="0FDCBD"/>
                </a:solidFill>
              </a:rPr>
              <a:t> </a:t>
            </a:r>
            <a:r>
              <a:rPr lang="en-US" sz="2000" b="1" dirty="0" err="1">
                <a:solidFill>
                  <a:srgbClr val="0FDCBD"/>
                </a:solidFill>
              </a:rPr>
              <a:t>zadatke</a:t>
            </a:r>
            <a:r>
              <a:rPr lang="en-US" sz="2000" b="1" dirty="0">
                <a:solidFill>
                  <a:srgbClr val="0FDCBD"/>
                </a:solidFill>
              </a:rPr>
              <a:t> i </a:t>
            </a:r>
            <a:r>
              <a:rPr lang="en-US" sz="2000" b="1" dirty="0" err="1">
                <a:solidFill>
                  <a:srgbClr val="0FDCBD"/>
                </a:solidFill>
              </a:rPr>
              <a:t>ovisnosti</a:t>
            </a:r>
            <a:endParaRPr lang="en-US" sz="2000" b="1" dirty="0">
              <a:solidFill>
                <a:srgbClr val="0FDCBD"/>
              </a:solidFill>
            </a:endParaRPr>
          </a:p>
          <a:p>
            <a:pPr marL="0" indent="0">
              <a:buNone/>
            </a:pPr>
            <a:endParaRPr lang="en-US" sz="2000" b="1" dirty="0"/>
          </a:p>
          <a:p>
            <a:pPr marL="0" indent="0">
              <a:buNone/>
            </a:pPr>
            <a:endParaRPr lang="en-US" sz="2000" dirty="0"/>
          </a:p>
        </p:txBody>
      </p:sp>
      <p:graphicFrame>
        <p:nvGraphicFramePr>
          <p:cNvPr id="13" name="Table 12">
            <a:extLst>
              <a:ext uri="{FF2B5EF4-FFF2-40B4-BE49-F238E27FC236}">
                <a16:creationId xmlns:a16="http://schemas.microsoft.com/office/drawing/2014/main" id="{1A40CC86-842D-79BA-CA3B-B92A0029B005}"/>
              </a:ext>
            </a:extLst>
          </p:cNvPr>
          <p:cNvGraphicFramePr>
            <a:graphicFrameLocks noGrp="1"/>
          </p:cNvGraphicFramePr>
          <p:nvPr>
            <p:extLst>
              <p:ext uri="{D42A27DB-BD31-4B8C-83A1-F6EECF244321}">
                <p14:modId xmlns:p14="http://schemas.microsoft.com/office/powerpoint/2010/main" val="4105455049"/>
              </p:ext>
            </p:extLst>
          </p:nvPr>
        </p:nvGraphicFramePr>
        <p:xfrm>
          <a:off x="2192482" y="2880815"/>
          <a:ext cx="8108630" cy="3742097"/>
        </p:xfrm>
        <a:graphic>
          <a:graphicData uri="http://schemas.openxmlformats.org/drawingml/2006/table">
            <a:tbl>
              <a:tblPr>
                <a:solidFill>
                  <a:srgbClr val="9FF1E5"/>
                </a:solidFill>
                <a:tableStyleId>{2D5ABB26-0587-4C30-8999-92F81FD0307C}</a:tableStyleId>
              </a:tblPr>
              <a:tblGrid>
                <a:gridCol w="1013562">
                  <a:extLst>
                    <a:ext uri="{9D8B030D-6E8A-4147-A177-3AD203B41FA5}">
                      <a16:colId xmlns:a16="http://schemas.microsoft.com/office/drawing/2014/main" val="2980114550"/>
                    </a:ext>
                  </a:extLst>
                </a:gridCol>
                <a:gridCol w="2889956">
                  <a:extLst>
                    <a:ext uri="{9D8B030D-6E8A-4147-A177-3AD203B41FA5}">
                      <a16:colId xmlns:a16="http://schemas.microsoft.com/office/drawing/2014/main" val="4240894553"/>
                    </a:ext>
                  </a:extLst>
                </a:gridCol>
                <a:gridCol w="2102556">
                  <a:extLst>
                    <a:ext uri="{9D8B030D-6E8A-4147-A177-3AD203B41FA5}">
                      <a16:colId xmlns:a16="http://schemas.microsoft.com/office/drawing/2014/main" val="163016135"/>
                    </a:ext>
                  </a:extLst>
                </a:gridCol>
                <a:gridCol w="2102556">
                  <a:extLst>
                    <a:ext uri="{9D8B030D-6E8A-4147-A177-3AD203B41FA5}">
                      <a16:colId xmlns:a16="http://schemas.microsoft.com/office/drawing/2014/main" val="1695999615"/>
                    </a:ext>
                  </a:extLst>
                </a:gridCol>
              </a:tblGrid>
              <a:tr h="372821">
                <a:tc>
                  <a:txBody>
                    <a:bodyPr/>
                    <a:lstStyle/>
                    <a:p>
                      <a:pPr algn="ctr"/>
                      <a:r>
                        <a:rPr lang="hr-HR" b="1" dirty="0">
                          <a:latin typeface="Bahnschrift SemiLight" panose="020B0502040204020203" pitchFamily="34" charset="0"/>
                        </a:rPr>
                        <a:t>Zadatak</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hr-HR" b="1" dirty="0">
                          <a:latin typeface="Bahnschrift SemiLight" panose="020B0502040204020203" pitchFamily="34" charset="0"/>
                        </a:rPr>
                        <a:t>Opis</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hr-HR" b="1" dirty="0">
                          <a:latin typeface="Bahnschrift SemiLight" panose="020B0502040204020203" pitchFamily="34" charset="0"/>
                        </a:rPr>
                        <a:t>Trajanje</a:t>
                      </a:r>
                      <a:r>
                        <a:rPr lang="en-US" b="1" dirty="0">
                          <a:latin typeface="Bahnschrift SemiLight" panose="020B0502040204020203" pitchFamily="34" charset="0"/>
                        </a:rPr>
                        <a:t> (da</a:t>
                      </a:r>
                      <a:r>
                        <a:rPr lang="hr-HR" b="1" dirty="0">
                          <a:latin typeface="Bahnschrift SemiLight" panose="020B0502040204020203" pitchFamily="34" charset="0"/>
                        </a:rPr>
                        <a:t>ni</a:t>
                      </a:r>
                      <a:r>
                        <a:rPr lang="en-US" b="1" dirty="0">
                          <a:latin typeface="Bahnschrift SemiLight" panose="020B0502040204020203" pitchFamily="34" charset="0"/>
                        </a:rPr>
                        <a:t>)</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b="1" dirty="0">
                          <a:latin typeface="Bahnschrift SemiLight" panose="020B0502040204020203" pitchFamily="34" charset="0"/>
                        </a:rPr>
                        <a:t>Ovisi 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extLst>
                  <a:ext uri="{0D108BD9-81ED-4DB2-BD59-A6C34878D82A}">
                    <a16:rowId xmlns:a16="http://schemas.microsoft.com/office/drawing/2014/main" val="4267241879"/>
                  </a:ext>
                </a:extLst>
              </a:tr>
              <a:tr h="597832">
                <a:tc>
                  <a:txBody>
                    <a:bodyPr/>
                    <a:lstStyle/>
                    <a:p>
                      <a:pPr algn="ctr"/>
                      <a:r>
                        <a:rPr lang="en-US" dirty="0">
                          <a:latin typeface="Bahnschrift SemiLight" panose="020B0502040204020203" pitchFamily="34"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F2E7"/>
                    </a:solidFill>
                  </a:tcPr>
                </a:tc>
                <a:tc>
                  <a:txBody>
                    <a:bodyPr/>
                    <a:lstStyle/>
                    <a:p>
                      <a:r>
                        <a:rPr lang="en-US" dirty="0" err="1">
                          <a:latin typeface="Bahnschrift SemiLight" panose="020B0502040204020203" pitchFamily="34" charset="0"/>
                        </a:rPr>
                        <a:t>Prikupljanje</a:t>
                      </a:r>
                      <a:r>
                        <a:rPr lang="en-US" dirty="0">
                          <a:latin typeface="Bahnschrift SemiLight" panose="020B0502040204020203" pitchFamily="34" charset="0"/>
                        </a:rPr>
                        <a:t> </a:t>
                      </a:r>
                      <a:r>
                        <a:rPr lang="en-US" dirty="0" err="1">
                          <a:latin typeface="Bahnschrift SemiLight" panose="020B0502040204020203" pitchFamily="34" charset="0"/>
                        </a:rPr>
                        <a:t>zahtjeva</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ECDD"/>
                    </a:solidFill>
                  </a:tcPr>
                </a:tc>
                <a:tc>
                  <a:txBody>
                    <a:bodyPr/>
                    <a:lstStyle/>
                    <a:p>
                      <a:pPr algn="ctr"/>
                      <a:r>
                        <a:rPr lang="en-US" dirty="0">
                          <a:latin typeface="Bahnschrift SemiLight" panose="020B0502040204020203"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dirty="0">
                          <a:latin typeface="Bahnschrift SemiLight" panose="020B0502040204020203"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F7F0"/>
                    </a:solidFill>
                  </a:tcPr>
                </a:tc>
                <a:extLst>
                  <a:ext uri="{0D108BD9-81ED-4DB2-BD59-A6C34878D82A}">
                    <a16:rowId xmlns:a16="http://schemas.microsoft.com/office/drawing/2014/main" val="851770297"/>
                  </a:ext>
                </a:extLst>
              </a:tr>
              <a:tr h="372821">
                <a:tc>
                  <a:txBody>
                    <a:bodyPr/>
                    <a:lstStyle/>
                    <a:p>
                      <a:pPr algn="ctr"/>
                      <a:r>
                        <a:rPr lang="en-US" dirty="0">
                          <a:latin typeface="Bahnschrift SemiLight" panose="020B0502040204020203" pitchFamily="34" charset="0"/>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F2E7"/>
                    </a:solidFill>
                  </a:tcPr>
                </a:tc>
                <a:tc>
                  <a:txBody>
                    <a:bodyPr/>
                    <a:lstStyle/>
                    <a:p>
                      <a:r>
                        <a:rPr lang="en-US" dirty="0">
                          <a:latin typeface="Bahnschrift SemiLight" panose="020B0502040204020203" pitchFamily="34" charset="0"/>
                        </a:rPr>
                        <a:t>UI/UX </a:t>
                      </a:r>
                      <a:r>
                        <a:rPr lang="hr-HR" dirty="0">
                          <a:latin typeface="Bahnschrift SemiLight" panose="020B0502040204020203" pitchFamily="34" charset="0"/>
                        </a:rPr>
                        <a:t>dizajn</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ECDD"/>
                    </a:solidFill>
                  </a:tcPr>
                </a:tc>
                <a:tc>
                  <a:txBody>
                    <a:bodyPr/>
                    <a:lstStyle/>
                    <a:p>
                      <a:pPr algn="ctr"/>
                      <a:r>
                        <a:rPr lang="en-US" dirty="0">
                          <a:latin typeface="Bahnschrift SemiLight" panose="020B0502040204020203"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dirty="0">
                          <a:latin typeface="Bahnschrift SemiLight" panose="020B0502040204020203" pitchFamily="34"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F7F0"/>
                    </a:solidFill>
                  </a:tcPr>
                </a:tc>
                <a:extLst>
                  <a:ext uri="{0D108BD9-81ED-4DB2-BD59-A6C34878D82A}">
                    <a16:rowId xmlns:a16="http://schemas.microsoft.com/office/drawing/2014/main" val="414913328"/>
                  </a:ext>
                </a:extLst>
              </a:tr>
              <a:tr h="597832">
                <a:tc>
                  <a:txBody>
                    <a:bodyPr/>
                    <a:lstStyle/>
                    <a:p>
                      <a:pPr algn="ctr"/>
                      <a:r>
                        <a:rPr lang="en-US" dirty="0">
                          <a:latin typeface="Bahnschrift SemiLight" panose="020B0502040204020203" pitchFamily="34"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F2E7"/>
                    </a:solidFill>
                  </a:tcPr>
                </a:tc>
                <a:tc>
                  <a:txBody>
                    <a:bodyPr/>
                    <a:lstStyle/>
                    <a:p>
                      <a:r>
                        <a:rPr lang="hr-HR" dirty="0">
                          <a:latin typeface="Bahnschrift SemiLight" panose="020B0502040204020203" pitchFamily="34" charset="0"/>
                        </a:rPr>
                        <a:t>Razvoj pozadinskog sustava (</a:t>
                      </a:r>
                      <a:r>
                        <a:rPr lang="hr-HR" i="0" dirty="0">
                          <a:latin typeface="Bahnschrift SemiLight" panose="020B0502040204020203" pitchFamily="34" charset="0"/>
                        </a:rPr>
                        <a:t>b</a:t>
                      </a:r>
                      <a:r>
                        <a:rPr lang="en-US" i="0" dirty="0" err="1">
                          <a:latin typeface="Bahnschrift SemiLight" panose="020B0502040204020203" pitchFamily="34" charset="0"/>
                        </a:rPr>
                        <a:t>ackend</a:t>
                      </a:r>
                      <a:r>
                        <a:rPr lang="hr-HR" i="0" dirty="0">
                          <a:latin typeface="Bahnschrift SemiLight" panose="020B0502040204020203" pitchFamily="34" charset="0"/>
                        </a:rPr>
                        <a:t>)</a:t>
                      </a:r>
                      <a:endParaRPr lang="en-US" sz="1800" i="0" kern="1200" dirty="0">
                        <a:solidFill>
                          <a:schemeClr val="tx1"/>
                        </a:solidFill>
                        <a:latin typeface="Bahnschrift SemiLight" panose="020B0502040204020203"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ECDD"/>
                    </a:solidFill>
                  </a:tcPr>
                </a:tc>
                <a:tc>
                  <a:txBody>
                    <a:bodyPr/>
                    <a:lstStyle/>
                    <a:p>
                      <a:pPr algn="ctr"/>
                      <a:r>
                        <a:rPr lang="en-US" dirty="0">
                          <a:latin typeface="Bahnschrift SemiLight" panose="020B0502040204020203"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dirty="0">
                          <a:latin typeface="Bahnschrift SemiLight" panose="020B0502040204020203" pitchFamily="34"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F7F0"/>
                    </a:solidFill>
                  </a:tcPr>
                </a:tc>
                <a:extLst>
                  <a:ext uri="{0D108BD9-81ED-4DB2-BD59-A6C34878D82A}">
                    <a16:rowId xmlns:a16="http://schemas.microsoft.com/office/drawing/2014/main" val="1589792433"/>
                  </a:ext>
                </a:extLst>
              </a:tr>
              <a:tr h="597832">
                <a:tc>
                  <a:txBody>
                    <a:bodyPr/>
                    <a:lstStyle/>
                    <a:p>
                      <a:pPr algn="ctr"/>
                      <a:r>
                        <a:rPr lang="en-US" dirty="0">
                          <a:latin typeface="Bahnschrift SemiLight" panose="020B0502040204020203" pitchFamily="34"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F2E7"/>
                    </a:solidFill>
                  </a:tcPr>
                </a:tc>
                <a:tc>
                  <a:txBody>
                    <a:bodyPr/>
                    <a:lstStyle/>
                    <a:p>
                      <a:r>
                        <a:rPr lang="hr-HR" dirty="0">
                          <a:latin typeface="Bahnschrift SemiLight" panose="020B0502040204020203" pitchFamily="34" charset="0"/>
                        </a:rPr>
                        <a:t>Razvoj korisničkog sučelja (</a:t>
                      </a:r>
                      <a:r>
                        <a:rPr lang="hr-HR" i="0" dirty="0">
                          <a:latin typeface="Bahnschrift SemiLight" panose="020B0502040204020203" pitchFamily="34" charset="0"/>
                        </a:rPr>
                        <a:t>f</a:t>
                      </a:r>
                      <a:r>
                        <a:rPr lang="en-US" i="0" dirty="0" err="1">
                          <a:latin typeface="Bahnschrift SemiLight" panose="020B0502040204020203" pitchFamily="34" charset="0"/>
                        </a:rPr>
                        <a:t>rontend</a:t>
                      </a:r>
                      <a:r>
                        <a:rPr lang="hr-HR" i="0" dirty="0">
                          <a:latin typeface="Bahnschrift SemiLight" panose="020B0502040204020203" pitchFamily="34" charset="0"/>
                        </a:rPr>
                        <a:t>)</a:t>
                      </a:r>
                      <a:endParaRPr lang="en-US" i="0"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ECDD"/>
                    </a:solidFill>
                  </a:tcPr>
                </a:tc>
                <a:tc>
                  <a:txBody>
                    <a:bodyPr/>
                    <a:lstStyle/>
                    <a:p>
                      <a:pPr algn="ctr"/>
                      <a:r>
                        <a:rPr lang="en-US" dirty="0">
                          <a:latin typeface="Bahnschrift SemiLight" panose="020B0502040204020203" pitchFamily="34"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dirty="0">
                          <a:latin typeface="Bahnschrift SemiLight" panose="020B0502040204020203" pitchFamily="34" charset="0"/>
                        </a:rPr>
                        <a:t>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F7F0"/>
                    </a:solidFill>
                  </a:tcPr>
                </a:tc>
                <a:extLst>
                  <a:ext uri="{0D108BD9-81ED-4DB2-BD59-A6C34878D82A}">
                    <a16:rowId xmlns:a16="http://schemas.microsoft.com/office/drawing/2014/main" val="2376405332"/>
                  </a:ext>
                </a:extLst>
              </a:tr>
              <a:tr h="372821">
                <a:tc>
                  <a:txBody>
                    <a:bodyPr/>
                    <a:lstStyle/>
                    <a:p>
                      <a:pPr algn="ctr"/>
                      <a:r>
                        <a:rPr lang="en-US" dirty="0">
                          <a:latin typeface="Bahnschrift SemiLight" panose="020B0502040204020203" pitchFamily="34"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F2E7"/>
                    </a:solidFill>
                  </a:tcPr>
                </a:tc>
                <a:tc>
                  <a:txBody>
                    <a:bodyPr/>
                    <a:lstStyle/>
                    <a:p>
                      <a:r>
                        <a:rPr lang="hr-HR" dirty="0">
                          <a:latin typeface="Bahnschrift SemiLight" panose="020B0502040204020203" pitchFamily="34" charset="0"/>
                        </a:rPr>
                        <a:t>Razvoj </a:t>
                      </a:r>
                      <a:r>
                        <a:rPr lang="en-US" dirty="0">
                          <a:latin typeface="Bahnschrift SemiLight" panose="020B0502040204020203" pitchFamily="34" charset="0"/>
                        </a:rPr>
                        <a:t>API</a:t>
                      </a:r>
                      <a:r>
                        <a:rPr lang="hr-HR" dirty="0">
                          <a:latin typeface="Bahnschrift SemiLight" panose="020B0502040204020203" pitchFamily="34" charset="0"/>
                        </a:rPr>
                        <a:t>-ja</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ECDD"/>
                    </a:solidFill>
                  </a:tcPr>
                </a:tc>
                <a:tc>
                  <a:txBody>
                    <a:bodyPr/>
                    <a:lstStyle/>
                    <a:p>
                      <a:pPr algn="ctr"/>
                      <a:r>
                        <a:rPr lang="en-US" dirty="0">
                          <a:latin typeface="Bahnschrift SemiLight" panose="020B0502040204020203"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dirty="0">
                          <a:latin typeface="Bahnschrift SemiLight" panose="020B0502040204020203" pitchFamily="34"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F7F0"/>
                    </a:solidFill>
                  </a:tcPr>
                </a:tc>
                <a:extLst>
                  <a:ext uri="{0D108BD9-81ED-4DB2-BD59-A6C34878D82A}">
                    <a16:rowId xmlns:a16="http://schemas.microsoft.com/office/drawing/2014/main" val="2368986619"/>
                  </a:ext>
                </a:extLst>
              </a:tr>
              <a:tr h="372821">
                <a:tc>
                  <a:txBody>
                    <a:bodyPr/>
                    <a:lstStyle/>
                    <a:p>
                      <a:pPr algn="ctr"/>
                      <a:r>
                        <a:rPr lang="en-US" dirty="0">
                          <a:latin typeface="Bahnschrift SemiLight" panose="020B0502040204020203" pitchFamily="34" charset="0"/>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F2E7"/>
                    </a:solidFill>
                  </a:tcPr>
                </a:tc>
                <a:tc>
                  <a:txBody>
                    <a:bodyPr/>
                    <a:lstStyle/>
                    <a:p>
                      <a:r>
                        <a:rPr lang="en-US" dirty="0" err="1">
                          <a:latin typeface="Bahnschrift SemiLight" panose="020B0502040204020203" pitchFamily="34" charset="0"/>
                        </a:rPr>
                        <a:t>Te</a:t>
                      </a:r>
                      <a:r>
                        <a:rPr lang="hr-HR" dirty="0" err="1">
                          <a:latin typeface="Bahnschrift SemiLight" panose="020B0502040204020203" pitchFamily="34" charset="0"/>
                        </a:rPr>
                        <a:t>stiranje</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ECDD"/>
                    </a:solidFill>
                  </a:tcPr>
                </a:tc>
                <a:tc>
                  <a:txBody>
                    <a:bodyPr/>
                    <a:lstStyle/>
                    <a:p>
                      <a:pPr algn="ctr"/>
                      <a:r>
                        <a:rPr lang="en-US" dirty="0">
                          <a:latin typeface="Bahnschrift SemiLight" panose="020B0502040204020203"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dirty="0">
                          <a:latin typeface="Bahnschrift SemiLight" panose="020B0502040204020203" pitchFamily="34" charset="0"/>
                        </a:rPr>
                        <a:t>D,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F7F0"/>
                    </a:solidFill>
                  </a:tcPr>
                </a:tc>
                <a:extLst>
                  <a:ext uri="{0D108BD9-81ED-4DB2-BD59-A6C34878D82A}">
                    <a16:rowId xmlns:a16="http://schemas.microsoft.com/office/drawing/2014/main" val="1463471848"/>
                  </a:ext>
                </a:extLst>
              </a:tr>
              <a:tr h="372821">
                <a:tc>
                  <a:txBody>
                    <a:bodyPr/>
                    <a:lstStyle/>
                    <a:p>
                      <a:pPr algn="ctr"/>
                      <a:r>
                        <a:rPr lang="en-US" dirty="0">
                          <a:latin typeface="Bahnschrift SemiLight" panose="020B0502040204020203" pitchFamily="34" charset="0"/>
                        </a:rPr>
                        <a:t>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9F2E7"/>
                    </a:solidFill>
                  </a:tcPr>
                </a:tc>
                <a:tc>
                  <a:txBody>
                    <a:bodyPr/>
                    <a:lstStyle/>
                    <a:p>
                      <a:r>
                        <a:rPr lang="en-US" dirty="0" err="1">
                          <a:latin typeface="Bahnschrift SemiLight" panose="020B0502040204020203" pitchFamily="34" charset="0"/>
                        </a:rPr>
                        <a:t>Implementacija</a:t>
                      </a:r>
                      <a:endParaRPr lang="en-US"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ECDD"/>
                    </a:solidFill>
                  </a:tcPr>
                </a:tc>
                <a:tc>
                  <a:txBody>
                    <a:bodyPr/>
                    <a:lstStyle/>
                    <a:p>
                      <a:pPr algn="ctr"/>
                      <a:r>
                        <a:rPr lang="en-US" dirty="0">
                          <a:latin typeface="Bahnschrift SemiLight" panose="020B0502040204020203"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DBBC"/>
                    </a:solidFill>
                  </a:tcPr>
                </a:tc>
                <a:tc>
                  <a:txBody>
                    <a:bodyPr/>
                    <a:lstStyle/>
                    <a:p>
                      <a:pPr algn="ctr"/>
                      <a:r>
                        <a:rPr lang="en-US" dirty="0">
                          <a:latin typeface="Bahnschrift SemiLight" panose="020B0502040204020203" pitchFamily="34" charset="0"/>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F7F0"/>
                    </a:solidFill>
                  </a:tcPr>
                </a:tc>
                <a:extLst>
                  <a:ext uri="{0D108BD9-81ED-4DB2-BD59-A6C34878D82A}">
                    <a16:rowId xmlns:a16="http://schemas.microsoft.com/office/drawing/2014/main" val="215599298"/>
                  </a:ext>
                </a:extLst>
              </a:tr>
            </a:tbl>
          </a:graphicData>
        </a:graphic>
      </p:graphicFrame>
    </p:spTree>
    <p:extLst>
      <p:ext uri="{BB962C8B-B14F-4D97-AF65-F5344CB8AC3E}">
        <p14:creationId xmlns:p14="http://schemas.microsoft.com/office/powerpoint/2010/main" val="211712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8E8C-D4B2-7E35-563E-5A454ACF57AD}"/>
              </a:ext>
            </a:extLst>
          </p:cNvPr>
          <p:cNvSpPr>
            <a:spLocks noGrp="1"/>
          </p:cNvSpPr>
          <p:nvPr>
            <p:ph type="title"/>
          </p:nvPr>
        </p:nvSpPr>
        <p:spPr/>
        <p:txBody>
          <a:bodyPr>
            <a:normAutofit/>
          </a:bodyPr>
          <a:lstStyle/>
          <a:p>
            <a:r>
              <a:rPr lang="en-US" sz="3800" dirty="0">
                <a:latin typeface="Bahnschrift SemiBold"/>
                <a:ea typeface="+mn-ea"/>
                <a:cs typeface="+mn-cs"/>
              </a:rPr>
              <a:t>Primjer CPM-a II.</a:t>
            </a:r>
          </a:p>
        </p:txBody>
      </p:sp>
      <p:sp>
        <p:nvSpPr>
          <p:cNvPr id="15" name="TextBox 14">
            <a:extLst>
              <a:ext uri="{FF2B5EF4-FFF2-40B4-BE49-F238E27FC236}">
                <a16:creationId xmlns:a16="http://schemas.microsoft.com/office/drawing/2014/main" id="{6E33650C-7AC3-885B-F4F5-A2C34B8449E0}"/>
              </a:ext>
            </a:extLst>
          </p:cNvPr>
          <p:cNvSpPr txBox="1"/>
          <p:nvPr/>
        </p:nvSpPr>
        <p:spPr>
          <a:xfrm>
            <a:off x="657173" y="2082573"/>
            <a:ext cx="10236200" cy="3539430"/>
          </a:xfrm>
          <a:prstGeom prst="rect">
            <a:avLst/>
          </a:prstGeom>
          <a:noFill/>
        </p:spPr>
        <p:txBody>
          <a:bodyPr wrap="square">
            <a:spAutoFit/>
          </a:bodyPr>
          <a:lstStyle/>
          <a:p>
            <a:pPr>
              <a:buNone/>
            </a:pPr>
            <a:r>
              <a:rPr lang="it-IT" sz="2800" b="1" dirty="0">
                <a:solidFill>
                  <a:srgbClr val="0ADBBC"/>
                </a:solidFill>
                <a:latin typeface="Bahnschrift SemiLight" panose="020B0502040204020203" pitchFamily="34" charset="0"/>
              </a:rPr>
              <a:t>Korak 2: </a:t>
            </a:r>
            <a:r>
              <a:rPr lang="it-IT" sz="2800" b="1" dirty="0" err="1">
                <a:solidFill>
                  <a:srgbClr val="0ADBBC"/>
                </a:solidFill>
                <a:latin typeface="Bahnschrift SemiLight" panose="020B0502040204020203" pitchFamily="34" charset="0"/>
              </a:rPr>
              <a:t>Identificirati</a:t>
            </a:r>
            <a:r>
              <a:rPr lang="it-IT" sz="2800" b="1" dirty="0">
                <a:solidFill>
                  <a:srgbClr val="0ADBBC"/>
                </a:solidFill>
                <a:latin typeface="Bahnschrift SemiLight" panose="020B0502040204020203" pitchFamily="34" charset="0"/>
              </a:rPr>
              <a:t> </a:t>
            </a:r>
            <a:r>
              <a:rPr lang="it-IT" sz="2800" b="1" dirty="0" err="1">
                <a:solidFill>
                  <a:srgbClr val="0ADBBC"/>
                </a:solidFill>
                <a:latin typeface="Bahnschrift SemiLight" panose="020B0502040204020203" pitchFamily="34" charset="0"/>
              </a:rPr>
              <a:t>kritični</a:t>
            </a:r>
            <a:r>
              <a:rPr lang="it-IT" sz="2800" b="1" dirty="0">
                <a:solidFill>
                  <a:srgbClr val="0ADBBC"/>
                </a:solidFill>
                <a:latin typeface="Bahnschrift SemiLight" panose="020B0502040204020203" pitchFamily="34" charset="0"/>
              </a:rPr>
              <a:t> put</a:t>
            </a:r>
          </a:p>
          <a:p>
            <a:endParaRPr lang="en-US" sz="2800" b="1" dirty="0">
              <a:latin typeface="Bahnschrift SemiLight" panose="020B0502040204020203" pitchFamily="34" charset="0"/>
            </a:endParaRPr>
          </a:p>
          <a:p>
            <a:r>
              <a:rPr lang="en-US" sz="2800" b="1" dirty="0">
                <a:latin typeface="Bahnschrift SemiLight" panose="020B0502040204020203" pitchFamily="34" charset="0"/>
              </a:rPr>
              <a:t>Put 1:</a:t>
            </a:r>
            <a:r>
              <a:rPr lang="en-US" sz="2800" dirty="0">
                <a:latin typeface="Bahnschrift SemiLight" panose="020B0502040204020203" pitchFamily="34" charset="0"/>
              </a:rPr>
              <a:t> A → B → D → F → G = </a:t>
            </a:r>
            <a:r>
              <a:rPr lang="en-US" sz="2800" b="1" dirty="0">
                <a:latin typeface="Bahnschrift SemiLight" panose="020B0502040204020203" pitchFamily="34" charset="0"/>
              </a:rPr>
              <a:t>5 + 10 + 15 + 10 + 3 = 43 da</a:t>
            </a:r>
            <a:r>
              <a:rPr lang="hr-HR" sz="2800" b="1" dirty="0">
                <a:latin typeface="Bahnschrift SemiLight" panose="020B0502040204020203" pitchFamily="34" charset="0"/>
              </a:rPr>
              <a:t>na</a:t>
            </a:r>
            <a:endParaRPr lang="en-US" sz="2800" dirty="0">
              <a:latin typeface="Bahnschrift SemiLight" panose="020B0502040204020203" pitchFamily="34" charset="0"/>
            </a:endParaRPr>
          </a:p>
          <a:p>
            <a:endParaRPr lang="en-US" sz="2800" b="1" dirty="0">
              <a:latin typeface="Bahnschrift SemiLight" panose="020B0502040204020203" pitchFamily="34" charset="0"/>
            </a:endParaRPr>
          </a:p>
          <a:p>
            <a:r>
              <a:rPr lang="en-US" sz="2800" b="1" dirty="0">
                <a:latin typeface="Bahnschrift SemiLight" panose="020B0502040204020203" pitchFamily="34" charset="0"/>
              </a:rPr>
              <a:t>P</a:t>
            </a:r>
            <a:r>
              <a:rPr lang="hr-HR" sz="2800" b="1" dirty="0" err="1">
                <a:latin typeface="Bahnschrift SemiLight" panose="020B0502040204020203" pitchFamily="34" charset="0"/>
              </a:rPr>
              <a:t>ut</a:t>
            </a:r>
            <a:r>
              <a:rPr lang="en-US" sz="2800" b="1" dirty="0">
                <a:latin typeface="Bahnschrift SemiLight" panose="020B0502040204020203" pitchFamily="34" charset="0"/>
              </a:rPr>
              <a:t> 2:</a:t>
            </a:r>
            <a:r>
              <a:rPr lang="en-US" sz="2800" dirty="0">
                <a:latin typeface="Bahnschrift SemiLight" panose="020B0502040204020203" pitchFamily="34" charset="0"/>
              </a:rPr>
              <a:t> A → C → E → F → G = </a:t>
            </a:r>
            <a:r>
              <a:rPr lang="en-US" sz="2800" b="1" dirty="0">
                <a:latin typeface="Bahnschrift SemiLight" panose="020B0502040204020203" pitchFamily="34" charset="0"/>
              </a:rPr>
              <a:t>5 + 20 + 5 + 10 + 3 = 43 da</a:t>
            </a:r>
            <a:r>
              <a:rPr lang="hr-HR" sz="2800" b="1" dirty="0">
                <a:latin typeface="Bahnschrift SemiLight" panose="020B0502040204020203" pitchFamily="34" charset="0"/>
              </a:rPr>
              <a:t>na</a:t>
            </a:r>
            <a:endParaRPr lang="en-US" sz="2800" b="1" dirty="0">
              <a:latin typeface="Bahnschrift SemiLight" panose="020B0502040204020203" pitchFamily="34" charset="0"/>
            </a:endParaRPr>
          </a:p>
          <a:p>
            <a:endParaRPr lang="en-US" sz="2800" dirty="0">
              <a:latin typeface="Bahnschrift SemiLight" panose="020B0502040204020203" pitchFamily="34" charset="0"/>
            </a:endParaRPr>
          </a:p>
          <a:p>
            <a:r>
              <a:rPr lang="pl-PL" sz="2800" dirty="0">
                <a:latin typeface="Bahnschrift SemiLight" panose="020B0502040204020203" pitchFamily="34" charset="0"/>
              </a:rPr>
              <a:t>Oba puta traju </a:t>
            </a:r>
            <a:r>
              <a:rPr lang="pl-PL" sz="2800" b="1" dirty="0">
                <a:latin typeface="Bahnschrift SemiLight" panose="020B0502040204020203" pitchFamily="34" charset="0"/>
              </a:rPr>
              <a:t>43 dana</a:t>
            </a:r>
            <a:r>
              <a:rPr lang="pl-PL" sz="2800" dirty="0">
                <a:latin typeface="Bahnschrift SemiLight" panose="020B0502040204020203" pitchFamily="34" charset="0"/>
              </a:rPr>
              <a:t>, stoga su oba </a:t>
            </a:r>
            <a:r>
              <a:rPr lang="pl-PL" sz="2800" b="1" dirty="0">
                <a:latin typeface="Bahnschrift SemiLight" panose="020B0502040204020203" pitchFamily="34" charset="0"/>
              </a:rPr>
              <a:t>kritični putevi (critical path)</a:t>
            </a:r>
            <a:r>
              <a:rPr lang="pl-PL" sz="2800" dirty="0">
                <a:latin typeface="Bahnschrift SemiLight" panose="020B0502040204020203" pitchFamily="34" charset="0"/>
              </a:rPr>
              <a:t>.</a:t>
            </a:r>
          </a:p>
        </p:txBody>
      </p:sp>
    </p:spTree>
    <p:extLst>
      <p:ext uri="{BB962C8B-B14F-4D97-AF65-F5344CB8AC3E}">
        <p14:creationId xmlns:p14="http://schemas.microsoft.com/office/powerpoint/2010/main" val="1177302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73851-9B2A-56EB-6CD2-953388E02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2642E-ADB6-B6CC-8ECD-77FD13F172AB}"/>
              </a:ext>
            </a:extLst>
          </p:cNvPr>
          <p:cNvSpPr>
            <a:spLocks noGrp="1"/>
          </p:cNvSpPr>
          <p:nvPr>
            <p:ph type="title"/>
          </p:nvPr>
        </p:nvSpPr>
        <p:spPr/>
        <p:txBody>
          <a:bodyPr>
            <a:normAutofit/>
          </a:bodyPr>
          <a:lstStyle/>
          <a:p>
            <a:r>
              <a:rPr lang="en-US" sz="3800" dirty="0">
                <a:latin typeface="Bahnschrift SemiBold"/>
                <a:ea typeface="+mn-ea"/>
                <a:cs typeface="+mn-cs"/>
              </a:rPr>
              <a:t>Primjer CPM-a II.</a:t>
            </a:r>
          </a:p>
        </p:txBody>
      </p:sp>
      <p:sp>
        <p:nvSpPr>
          <p:cNvPr id="17" name="TextBox 16">
            <a:extLst>
              <a:ext uri="{FF2B5EF4-FFF2-40B4-BE49-F238E27FC236}">
                <a16:creationId xmlns:a16="http://schemas.microsoft.com/office/drawing/2014/main" id="{8553316B-41C7-A187-74C1-21ADE410FB0E}"/>
              </a:ext>
            </a:extLst>
          </p:cNvPr>
          <p:cNvSpPr txBox="1"/>
          <p:nvPr/>
        </p:nvSpPr>
        <p:spPr>
          <a:xfrm>
            <a:off x="521664" y="1846926"/>
            <a:ext cx="10515600" cy="4832092"/>
          </a:xfrm>
          <a:prstGeom prst="rect">
            <a:avLst/>
          </a:prstGeom>
          <a:noFill/>
        </p:spPr>
        <p:txBody>
          <a:bodyPr wrap="square">
            <a:spAutoFit/>
          </a:bodyPr>
          <a:lstStyle/>
          <a:p>
            <a:r>
              <a:rPr lang="it-IT" sz="2800" b="1" dirty="0">
                <a:solidFill>
                  <a:srgbClr val="0ADBBC"/>
                </a:solidFill>
                <a:latin typeface="Bahnschrift SemiLight" panose="020B0502040204020203" pitchFamily="34" charset="0"/>
              </a:rPr>
              <a:t>Korak 3: </a:t>
            </a:r>
            <a:r>
              <a:rPr lang="it-IT" sz="2800" b="1" dirty="0" err="1">
                <a:solidFill>
                  <a:srgbClr val="0ADBBC"/>
                </a:solidFill>
                <a:latin typeface="Bahnschrift SemiLight" panose="020B0502040204020203" pitchFamily="34" charset="0"/>
              </a:rPr>
              <a:t>Primijeniti</a:t>
            </a:r>
            <a:r>
              <a:rPr lang="it-IT" sz="2800" b="1" dirty="0">
                <a:solidFill>
                  <a:srgbClr val="0ADBBC"/>
                </a:solidFill>
                <a:latin typeface="Bahnschrift SemiLight" panose="020B0502040204020203" pitchFamily="34" charset="0"/>
              </a:rPr>
              <a:t> </a:t>
            </a:r>
            <a:r>
              <a:rPr lang="it-IT" sz="2800" b="1" dirty="0" err="1">
                <a:solidFill>
                  <a:srgbClr val="0ADBBC"/>
                </a:solidFill>
                <a:latin typeface="Bahnschrift SemiLight" panose="020B0502040204020203" pitchFamily="34" charset="0"/>
              </a:rPr>
              <a:t>načela</a:t>
            </a:r>
            <a:r>
              <a:rPr lang="it-IT" sz="2800" b="1" dirty="0">
                <a:solidFill>
                  <a:srgbClr val="0ADBBC"/>
                </a:solidFill>
                <a:latin typeface="Bahnschrift SemiLight" panose="020B0502040204020203" pitchFamily="34" charset="0"/>
              </a:rPr>
              <a:t> CPM-a</a:t>
            </a:r>
          </a:p>
          <a:p>
            <a:pPr>
              <a:buNone/>
            </a:pPr>
            <a:endParaRPr lang="en-US" sz="2800" b="1" dirty="0">
              <a:latin typeface="Bahnschrift SemiLight" panose="020B0502040204020203" pitchFamily="34" charset="0"/>
            </a:endParaRPr>
          </a:p>
          <a:p>
            <a:r>
              <a:rPr lang="en-US" sz="2800" dirty="0" err="1">
                <a:latin typeface="Bahnschrift SemiLight" panose="020B0502040204020203" pitchFamily="34" charset="0"/>
              </a:rPr>
              <a:t>Svako</a:t>
            </a:r>
            <a:r>
              <a:rPr lang="en-US" sz="2800" dirty="0">
                <a:latin typeface="Bahnschrift SemiLight" panose="020B0502040204020203" pitchFamily="34" charset="0"/>
              </a:rPr>
              <a:t> </a:t>
            </a:r>
            <a:r>
              <a:rPr lang="en-US" sz="2800" dirty="0" err="1">
                <a:latin typeface="Bahnschrift SemiLight" panose="020B0502040204020203" pitchFamily="34" charset="0"/>
              </a:rPr>
              <a:t>kašnjenje</a:t>
            </a:r>
            <a:r>
              <a:rPr lang="en-US" sz="2800" dirty="0">
                <a:latin typeface="Bahnschrift SemiLight" panose="020B0502040204020203" pitchFamily="34" charset="0"/>
              </a:rPr>
              <a:t> </a:t>
            </a:r>
            <a:r>
              <a:rPr lang="en-US" sz="2800" dirty="0" err="1">
                <a:latin typeface="Bahnschrift SemiLight" panose="020B0502040204020203" pitchFamily="34" charset="0"/>
              </a:rPr>
              <a:t>na</a:t>
            </a:r>
            <a:r>
              <a:rPr lang="en-US" sz="2800" dirty="0">
                <a:latin typeface="Bahnschrift SemiLight" panose="020B0502040204020203" pitchFamily="34" charset="0"/>
              </a:rPr>
              <a:t> </a:t>
            </a:r>
            <a:r>
              <a:rPr lang="en-US" sz="2800" b="1" dirty="0">
                <a:latin typeface="Bahnschrift SemiLight" panose="020B0502040204020203" pitchFamily="34" charset="0"/>
              </a:rPr>
              <a:t>putu 1 </a:t>
            </a:r>
            <a:r>
              <a:rPr lang="en-US" sz="2800" b="1" dirty="0" err="1">
                <a:latin typeface="Bahnschrift SemiLight" panose="020B0502040204020203" pitchFamily="34" charset="0"/>
              </a:rPr>
              <a:t>ili</a:t>
            </a:r>
            <a:r>
              <a:rPr lang="en-US" sz="2800" b="1" dirty="0">
                <a:latin typeface="Bahnschrift SemiLight" panose="020B0502040204020203" pitchFamily="34" charset="0"/>
              </a:rPr>
              <a:t> putu 2 </a:t>
            </a:r>
            <a:r>
              <a:rPr lang="en-US" sz="2800" dirty="0" err="1">
                <a:latin typeface="Bahnschrift SemiLight" panose="020B0502040204020203" pitchFamily="34" charset="0"/>
              </a:rPr>
              <a:t>uzrokovat</a:t>
            </a:r>
            <a:r>
              <a:rPr lang="en-US" sz="2800" dirty="0">
                <a:latin typeface="Bahnschrift SemiLight" panose="020B0502040204020203" pitchFamily="34" charset="0"/>
              </a:rPr>
              <a:t> </a:t>
            </a:r>
            <a:r>
              <a:rPr lang="en-US" sz="2800" dirty="0" err="1">
                <a:latin typeface="Bahnschrift SemiLight" panose="020B0502040204020203" pitchFamily="34" charset="0"/>
              </a:rPr>
              <a:t>će</a:t>
            </a:r>
            <a:r>
              <a:rPr lang="en-US" sz="2800" dirty="0">
                <a:latin typeface="Bahnschrift SemiLight" panose="020B0502040204020203" pitchFamily="34" charset="0"/>
              </a:rPr>
              <a:t> </a:t>
            </a:r>
            <a:r>
              <a:rPr lang="en-US" sz="2800" dirty="0" err="1">
                <a:latin typeface="Bahnschrift SemiLight" panose="020B0502040204020203" pitchFamily="34" charset="0"/>
              </a:rPr>
              <a:t>kašnjenje</a:t>
            </a:r>
            <a:r>
              <a:rPr lang="en-US" sz="2800" dirty="0">
                <a:latin typeface="Bahnschrift SemiLight" panose="020B0502040204020203" pitchFamily="34" charset="0"/>
              </a:rPr>
              <a:t> </a:t>
            </a:r>
            <a:r>
              <a:rPr lang="en-US" sz="2800" dirty="0" err="1">
                <a:latin typeface="Bahnschrift SemiLight" panose="020B0502040204020203" pitchFamily="34" charset="0"/>
              </a:rPr>
              <a:t>projekta</a:t>
            </a:r>
            <a:r>
              <a:rPr lang="en-US" sz="2800" dirty="0">
                <a:latin typeface="Bahnschrift SemiLight" panose="020B0502040204020203" pitchFamily="34" charset="0"/>
              </a:rPr>
              <a:t>.</a:t>
            </a:r>
          </a:p>
          <a:p>
            <a:r>
              <a:rPr lang="en-US" sz="2800" dirty="0">
                <a:latin typeface="Bahnschrift SemiLight" panose="020B0502040204020203" pitchFamily="34" charset="0"/>
              </a:rPr>
              <a:t>Zadaci </a:t>
            </a:r>
            <a:r>
              <a:rPr lang="en-US" sz="2800" b="1" dirty="0">
                <a:latin typeface="Bahnschrift SemiLight" panose="020B0502040204020203" pitchFamily="34" charset="0"/>
              </a:rPr>
              <a:t>B, C, D, E, F i G </a:t>
            </a:r>
            <a:r>
              <a:rPr lang="en-US" sz="2800" dirty="0" err="1">
                <a:latin typeface="Bahnschrift SemiLight" panose="020B0502040204020203" pitchFamily="34" charset="0"/>
              </a:rPr>
              <a:t>su</a:t>
            </a:r>
            <a:r>
              <a:rPr lang="en-US" sz="2800" dirty="0">
                <a:latin typeface="Bahnschrift SemiLight" panose="020B0502040204020203" pitchFamily="34" charset="0"/>
              </a:rPr>
              <a:t> </a:t>
            </a:r>
            <a:r>
              <a:rPr lang="en-US" sz="2800" dirty="0" err="1">
                <a:latin typeface="Bahnschrift SemiLight" panose="020B0502040204020203" pitchFamily="34" charset="0"/>
              </a:rPr>
              <a:t>kritični</a:t>
            </a:r>
            <a:r>
              <a:rPr lang="en-US" sz="2800" dirty="0">
                <a:latin typeface="Bahnschrift SemiLight" panose="020B0502040204020203" pitchFamily="34" charset="0"/>
              </a:rPr>
              <a:t> i </a:t>
            </a:r>
            <a:r>
              <a:rPr lang="en-US" sz="2800" dirty="0" err="1">
                <a:latin typeface="Bahnschrift SemiLight" panose="020B0502040204020203" pitchFamily="34" charset="0"/>
              </a:rPr>
              <a:t>moraju</a:t>
            </a:r>
            <a:r>
              <a:rPr lang="en-US" sz="2800" dirty="0">
                <a:latin typeface="Bahnschrift SemiLight" panose="020B0502040204020203" pitchFamily="34" charset="0"/>
              </a:rPr>
              <a:t> se </a:t>
            </a:r>
            <a:r>
              <a:rPr lang="en-US" sz="2800" dirty="0" err="1">
                <a:latin typeface="Bahnschrift SemiLight" panose="020B0502040204020203" pitchFamily="34" charset="0"/>
              </a:rPr>
              <a:t>pažljivo</a:t>
            </a:r>
            <a:r>
              <a:rPr lang="en-US" sz="2800" dirty="0">
                <a:latin typeface="Bahnschrift SemiLight" panose="020B0502040204020203" pitchFamily="34" charset="0"/>
              </a:rPr>
              <a:t> </a:t>
            </a:r>
            <a:r>
              <a:rPr lang="en-US" sz="2800" dirty="0" err="1">
                <a:latin typeface="Bahnschrift SemiLight" panose="020B0502040204020203" pitchFamily="34" charset="0"/>
              </a:rPr>
              <a:t>pratiti</a:t>
            </a:r>
            <a:r>
              <a:rPr lang="en-US" sz="2800" dirty="0">
                <a:latin typeface="Bahnschrift SemiLight" panose="020B0502040204020203" pitchFamily="34" charset="0"/>
              </a:rPr>
              <a:t>.</a:t>
            </a:r>
          </a:p>
          <a:p>
            <a:r>
              <a:rPr lang="en-US" sz="2800" dirty="0">
                <a:latin typeface="Bahnschrift SemiLight" panose="020B0502040204020203" pitchFamily="34" charset="0"/>
              </a:rPr>
              <a:t>Ako </a:t>
            </a:r>
            <a:r>
              <a:rPr lang="en-US" sz="2800" dirty="0" err="1">
                <a:latin typeface="Bahnschrift SemiLight" panose="020B0502040204020203" pitchFamily="34" charset="0"/>
              </a:rPr>
              <a:t>dođe</a:t>
            </a:r>
            <a:r>
              <a:rPr lang="en-US" sz="2800" dirty="0">
                <a:latin typeface="Bahnschrift SemiLight" panose="020B0502040204020203" pitchFamily="34" charset="0"/>
              </a:rPr>
              <a:t> do </a:t>
            </a:r>
            <a:r>
              <a:rPr lang="en-US" sz="2800" dirty="0" err="1">
                <a:latin typeface="Bahnschrift SemiLight" panose="020B0502040204020203" pitchFamily="34" charset="0"/>
              </a:rPr>
              <a:t>kašnjenja</a:t>
            </a:r>
            <a:r>
              <a:rPr lang="en-US" sz="2800" dirty="0">
                <a:latin typeface="Bahnschrift SemiLight" panose="020B0502040204020203" pitchFamily="34" charset="0"/>
              </a:rPr>
              <a:t>, možemo </a:t>
            </a:r>
            <a:r>
              <a:rPr lang="en-US" sz="2800" dirty="0" err="1">
                <a:latin typeface="Bahnschrift SemiLight" panose="020B0502040204020203" pitchFamily="34" charset="0"/>
              </a:rPr>
              <a:t>koristiti</a:t>
            </a:r>
            <a:r>
              <a:rPr lang="en-US" sz="2800" dirty="0">
                <a:latin typeface="Bahnschrift SemiLight" panose="020B0502040204020203" pitchFamily="34" charset="0"/>
              </a:rPr>
              <a:t>:</a:t>
            </a:r>
          </a:p>
          <a:p>
            <a:endParaRPr lang="en-US" sz="2800" dirty="0">
              <a:latin typeface="Bahnschrift SemiLight" panose="020B0502040204020203" pitchFamily="34" charset="0"/>
            </a:endParaRPr>
          </a:p>
          <a:p>
            <a:r>
              <a:rPr lang="en-US" sz="2800" b="1" i="1" dirty="0">
                <a:latin typeface="Bahnschrift SemiLight" panose="020B0502040204020203" pitchFamily="34" charset="0"/>
              </a:rPr>
              <a:t>Fast tracking</a:t>
            </a:r>
            <a:r>
              <a:rPr lang="en-US" sz="2800" i="1" dirty="0">
                <a:latin typeface="Bahnschrift SemiLight" panose="020B0502040204020203" pitchFamily="34" charset="0"/>
              </a:rPr>
              <a:t>:</a:t>
            </a:r>
            <a:r>
              <a:rPr lang="en-US" sz="2800" dirty="0">
                <a:latin typeface="Bahnschrift SemiLight" panose="020B0502040204020203" pitchFamily="34" charset="0"/>
              </a:rPr>
              <a:t> </a:t>
            </a:r>
            <a:r>
              <a:rPr lang="en-US" sz="2800" dirty="0" err="1">
                <a:latin typeface="Bahnschrift SemiLight" panose="020B0502040204020203" pitchFamily="34" charset="0"/>
              </a:rPr>
              <a:t>Paralelno</a:t>
            </a:r>
            <a:r>
              <a:rPr lang="en-US" sz="2800" dirty="0">
                <a:latin typeface="Bahnschrift SemiLight" panose="020B0502040204020203" pitchFamily="34" charset="0"/>
              </a:rPr>
              <a:t> </a:t>
            </a:r>
            <a:r>
              <a:rPr lang="en-US" sz="2800" dirty="0" err="1">
                <a:latin typeface="Bahnschrift SemiLight" panose="020B0502040204020203" pitchFamily="34" charset="0"/>
              </a:rPr>
              <a:t>raditi</a:t>
            </a:r>
            <a:r>
              <a:rPr lang="en-US" sz="2800" dirty="0">
                <a:latin typeface="Bahnschrift SemiLight" panose="020B0502040204020203" pitchFamily="34" charset="0"/>
              </a:rPr>
              <a:t> </a:t>
            </a:r>
            <a:r>
              <a:rPr lang="en-US" sz="2800" dirty="0" err="1">
                <a:latin typeface="Bahnschrift SemiLight" panose="020B0502040204020203" pitchFamily="34" charset="0"/>
              </a:rPr>
              <a:t>na</a:t>
            </a:r>
            <a:r>
              <a:rPr lang="en-US" sz="2800" dirty="0">
                <a:latin typeface="Bahnschrift SemiLight" panose="020B0502040204020203" pitchFamily="34" charset="0"/>
              </a:rPr>
              <a:t> </a:t>
            </a:r>
            <a:r>
              <a:rPr lang="en-US" sz="2800" dirty="0" err="1">
                <a:latin typeface="Bahnschrift SemiLight" panose="020B0502040204020203" pitchFamily="34" charset="0"/>
              </a:rPr>
              <a:t>korisničkom</a:t>
            </a:r>
            <a:r>
              <a:rPr lang="en-US" sz="2800" dirty="0">
                <a:latin typeface="Bahnschrift SemiLight" panose="020B0502040204020203" pitchFamily="34" charset="0"/>
              </a:rPr>
              <a:t> </a:t>
            </a:r>
            <a:r>
              <a:rPr lang="en-US" sz="2800" dirty="0" err="1">
                <a:latin typeface="Bahnschrift SemiLight" panose="020B0502040204020203" pitchFamily="34" charset="0"/>
              </a:rPr>
              <a:t>sučelju</a:t>
            </a:r>
            <a:r>
              <a:rPr lang="en-US" sz="2800" dirty="0">
                <a:latin typeface="Bahnschrift SemiLight" panose="020B0502040204020203" pitchFamily="34" charset="0"/>
              </a:rPr>
              <a:t> (D) i </a:t>
            </a:r>
            <a:r>
              <a:rPr lang="en-US" sz="2800" dirty="0" err="1">
                <a:latin typeface="Bahnschrift SemiLight" panose="020B0502040204020203" pitchFamily="34" charset="0"/>
              </a:rPr>
              <a:t>pozadinskom</a:t>
            </a:r>
            <a:r>
              <a:rPr lang="en-US" sz="2800" dirty="0">
                <a:latin typeface="Bahnschrift SemiLight" panose="020B0502040204020203" pitchFamily="34" charset="0"/>
              </a:rPr>
              <a:t> </a:t>
            </a:r>
            <a:r>
              <a:rPr lang="en-US" sz="2800" dirty="0" err="1">
                <a:latin typeface="Bahnschrift SemiLight" panose="020B0502040204020203" pitchFamily="34" charset="0"/>
              </a:rPr>
              <a:t>sustavu</a:t>
            </a:r>
            <a:r>
              <a:rPr lang="en-US" sz="2800" dirty="0">
                <a:latin typeface="Bahnschrift SemiLight" panose="020B0502040204020203" pitchFamily="34" charset="0"/>
              </a:rPr>
              <a:t> (C).</a:t>
            </a:r>
          </a:p>
          <a:p>
            <a:r>
              <a:rPr lang="en-US" sz="2800" b="1" i="1" dirty="0">
                <a:latin typeface="Bahnschrift SemiLight" panose="020B0502040204020203" pitchFamily="34" charset="0"/>
              </a:rPr>
              <a:t>Crashing:</a:t>
            </a:r>
            <a:r>
              <a:rPr lang="en-US" sz="2800" dirty="0">
                <a:latin typeface="Bahnschrift SemiLight" panose="020B0502040204020203" pitchFamily="34" charset="0"/>
              </a:rPr>
              <a:t> </a:t>
            </a:r>
            <a:r>
              <a:rPr lang="en-US" sz="2800" dirty="0" err="1">
                <a:latin typeface="Bahnschrift SemiLight" panose="020B0502040204020203" pitchFamily="34" charset="0"/>
              </a:rPr>
              <a:t>Dodijeliti</a:t>
            </a:r>
            <a:r>
              <a:rPr lang="en-US" sz="2800" dirty="0">
                <a:latin typeface="Bahnschrift SemiLight" panose="020B0502040204020203" pitchFamily="34" charset="0"/>
              </a:rPr>
              <a:t> </a:t>
            </a:r>
            <a:r>
              <a:rPr lang="en-US" sz="2800" dirty="0" err="1">
                <a:latin typeface="Bahnschrift SemiLight" panose="020B0502040204020203" pitchFamily="34" charset="0"/>
              </a:rPr>
              <a:t>više</a:t>
            </a:r>
            <a:r>
              <a:rPr lang="en-US" sz="2800" dirty="0">
                <a:latin typeface="Bahnschrift SemiLight" panose="020B0502040204020203" pitchFamily="34" charset="0"/>
              </a:rPr>
              <a:t> </a:t>
            </a:r>
            <a:r>
              <a:rPr lang="en-US" sz="2800" dirty="0" err="1">
                <a:latin typeface="Bahnschrift SemiLight" panose="020B0502040204020203" pitchFamily="34" charset="0"/>
              </a:rPr>
              <a:t>programera</a:t>
            </a:r>
            <a:r>
              <a:rPr lang="en-US" sz="2800" dirty="0">
                <a:latin typeface="Bahnschrift SemiLight" panose="020B0502040204020203" pitchFamily="34" charset="0"/>
              </a:rPr>
              <a:t> </a:t>
            </a:r>
            <a:r>
              <a:rPr lang="en-US" sz="2800" dirty="0" err="1">
                <a:latin typeface="Bahnschrift SemiLight" panose="020B0502040204020203" pitchFamily="34" charset="0"/>
              </a:rPr>
              <a:t>kako</a:t>
            </a:r>
            <a:r>
              <a:rPr lang="en-US" sz="2800" dirty="0">
                <a:latin typeface="Bahnschrift SemiLight" panose="020B0502040204020203" pitchFamily="34" charset="0"/>
              </a:rPr>
              <a:t> bi se </a:t>
            </a:r>
            <a:r>
              <a:rPr lang="en-US" sz="2800" dirty="0" err="1">
                <a:latin typeface="Bahnschrift SemiLight" panose="020B0502040204020203" pitchFamily="34" charset="0"/>
              </a:rPr>
              <a:t>ubrzao</a:t>
            </a:r>
            <a:r>
              <a:rPr lang="en-US" sz="2800" dirty="0">
                <a:latin typeface="Bahnschrift SemiLight" panose="020B0502040204020203" pitchFamily="34" charset="0"/>
              </a:rPr>
              <a:t> </a:t>
            </a:r>
            <a:r>
              <a:rPr lang="en-US" sz="2800" dirty="0" err="1">
                <a:latin typeface="Bahnschrift SemiLight" panose="020B0502040204020203" pitchFamily="34" charset="0"/>
              </a:rPr>
              <a:t>razvoj</a:t>
            </a:r>
            <a:r>
              <a:rPr lang="en-US" sz="2800" dirty="0">
                <a:latin typeface="Bahnschrift SemiLight" panose="020B0502040204020203" pitchFamily="34" charset="0"/>
              </a:rPr>
              <a:t> </a:t>
            </a:r>
            <a:r>
              <a:rPr lang="en-US" sz="2800" dirty="0" err="1">
                <a:latin typeface="Bahnschrift SemiLight" panose="020B0502040204020203" pitchFamily="34" charset="0"/>
              </a:rPr>
              <a:t>pozadinskog</a:t>
            </a:r>
            <a:r>
              <a:rPr lang="en-US" sz="2800" dirty="0">
                <a:latin typeface="Bahnschrift SemiLight" panose="020B0502040204020203" pitchFamily="34" charset="0"/>
              </a:rPr>
              <a:t> </a:t>
            </a:r>
            <a:r>
              <a:rPr lang="en-US" sz="2800" dirty="0" err="1">
                <a:latin typeface="Bahnschrift SemiLight" panose="020B0502040204020203" pitchFamily="34" charset="0"/>
              </a:rPr>
              <a:t>sustava</a:t>
            </a:r>
            <a:r>
              <a:rPr lang="en-US" sz="2800" dirty="0">
                <a:latin typeface="Bahnschrift SemiLight" panose="020B0502040204020203" pitchFamily="34" charset="0"/>
              </a:rPr>
              <a:t> (C) i </a:t>
            </a:r>
            <a:r>
              <a:rPr lang="en-US" sz="2800" dirty="0" err="1">
                <a:latin typeface="Bahnschrift SemiLight" panose="020B0502040204020203" pitchFamily="34" charset="0"/>
              </a:rPr>
              <a:t>testiranje</a:t>
            </a:r>
            <a:r>
              <a:rPr lang="en-US" sz="2800" dirty="0">
                <a:latin typeface="Bahnschrift SemiLight" panose="020B0502040204020203" pitchFamily="34" charset="0"/>
              </a:rPr>
              <a:t> (F).</a:t>
            </a:r>
          </a:p>
        </p:txBody>
      </p:sp>
    </p:spTree>
    <p:extLst>
      <p:ext uri="{BB962C8B-B14F-4D97-AF65-F5344CB8AC3E}">
        <p14:creationId xmlns:p14="http://schemas.microsoft.com/office/powerpoint/2010/main" val="3369390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7584-ED9D-8716-8FF1-55EAA2E09837}"/>
            </a:ext>
          </a:extLst>
        </p:cNvPr>
        <p:cNvGrpSpPr/>
        <p:nvPr/>
      </p:nvGrpSpPr>
      <p:grpSpPr>
        <a:xfrm>
          <a:off x="0" y="0"/>
          <a:ext cx="0" cy="0"/>
          <a:chOff x="0" y="0"/>
          <a:chExt cx="0" cy="0"/>
        </a:xfrm>
      </p:grpSpPr>
      <p:sp>
        <p:nvSpPr>
          <p:cNvPr id="4" name="Naslov 3">
            <a:extLst>
              <a:ext uri="{FF2B5EF4-FFF2-40B4-BE49-F238E27FC236}">
                <a16:creationId xmlns:a16="http://schemas.microsoft.com/office/drawing/2014/main" id="{B6A7102A-00DD-9A12-3879-294245AAD564}"/>
              </a:ext>
            </a:extLst>
          </p:cNvPr>
          <p:cNvSpPr>
            <a:spLocks noGrp="1"/>
          </p:cNvSpPr>
          <p:nvPr>
            <p:ph type="ctrTitle"/>
          </p:nvPr>
        </p:nvSpPr>
        <p:spPr>
          <a:xfrm>
            <a:off x="2803691" y="2074538"/>
            <a:ext cx="9144000" cy="2387600"/>
          </a:xfrm>
        </p:spPr>
        <p:txBody>
          <a:bodyPr>
            <a:normAutofit/>
          </a:bodyPr>
          <a:lstStyle/>
          <a:p>
            <a:r>
              <a:rPr lang="en-US" sz="5000" b="1" dirty="0"/>
              <a:t>IZVRŠAVANJE ZADATAKA</a:t>
            </a:r>
            <a:br>
              <a:rPr lang="en-US" sz="4800" b="1" dirty="0">
                <a:latin typeface="Bahnschrift SemiLight" panose="020B0502040204020203" pitchFamily="34" charset="0"/>
              </a:rPr>
            </a:br>
            <a:endParaRPr lang="hr-HR" sz="4800" dirty="0">
              <a:latin typeface="Bahnschrift SemiLight" panose="020B0502040204020203" pitchFamily="34" charset="0"/>
            </a:endParaRPr>
          </a:p>
        </p:txBody>
      </p:sp>
      <p:sp>
        <p:nvSpPr>
          <p:cNvPr id="5" name="Podnaslov 4">
            <a:extLst>
              <a:ext uri="{FF2B5EF4-FFF2-40B4-BE49-F238E27FC236}">
                <a16:creationId xmlns:a16="http://schemas.microsoft.com/office/drawing/2014/main" id="{B534EF97-7B38-C56B-93EB-AC996A9E7603}"/>
              </a:ext>
            </a:extLst>
          </p:cNvPr>
          <p:cNvSpPr>
            <a:spLocks noGrp="1"/>
          </p:cNvSpPr>
          <p:nvPr>
            <p:ph type="subTitle" idx="4294967295"/>
          </p:nvPr>
        </p:nvSpPr>
        <p:spPr>
          <a:xfrm>
            <a:off x="5010599" y="4462138"/>
            <a:ext cx="6937092" cy="771525"/>
          </a:xfrm>
          <a:solidFill>
            <a:schemeClr val="bg1"/>
          </a:solidFill>
        </p:spPr>
        <p:txBody>
          <a:bodyPr>
            <a:noAutofit/>
          </a:bodyPr>
          <a:lstStyle/>
          <a:p>
            <a:pPr marL="0" indent="0" algn="r">
              <a:buNone/>
            </a:pPr>
            <a:r>
              <a:rPr lang="en-US" sz="3600" dirty="0">
                <a:latin typeface="Bahnschrift" panose="020B0502040204020203" pitchFamily="34" charset="0"/>
                <a:ea typeface="+mj-ea"/>
                <a:cs typeface="+mj-cs"/>
              </a:rPr>
              <a:t>Značaj </a:t>
            </a:r>
            <a:r>
              <a:rPr lang="en-US" sz="3600" dirty="0" err="1">
                <a:latin typeface="Bahnschrift" panose="020B0502040204020203" pitchFamily="34" charset="0"/>
                <a:ea typeface="+mj-ea"/>
                <a:cs typeface="+mj-cs"/>
              </a:rPr>
              <a:t>praćenja</a:t>
            </a:r>
            <a:r>
              <a:rPr lang="en-US" sz="3600" dirty="0">
                <a:latin typeface="Bahnschrift" panose="020B0502040204020203" pitchFamily="34" charset="0"/>
                <a:ea typeface="+mj-ea"/>
                <a:cs typeface="+mj-cs"/>
              </a:rPr>
              <a:t> </a:t>
            </a:r>
            <a:r>
              <a:rPr lang="en-US" sz="3600" dirty="0" err="1">
                <a:latin typeface="Bahnschrift" panose="020B0502040204020203" pitchFamily="34" charset="0"/>
                <a:ea typeface="+mj-ea"/>
                <a:cs typeface="+mj-cs"/>
              </a:rPr>
              <a:t>proračuna</a:t>
            </a:r>
            <a:endParaRPr lang="en-US" sz="3600" dirty="0">
              <a:latin typeface="Bahnschrift" panose="020B0502040204020203" pitchFamily="34" charset="0"/>
              <a:ea typeface="+mj-ea"/>
              <a:cs typeface="+mj-cs"/>
            </a:endParaRPr>
          </a:p>
          <a:p>
            <a:pPr algn="r"/>
            <a:endParaRPr lang="hr-HR" sz="3200" dirty="0">
              <a:solidFill>
                <a:srgbClr val="0070C0"/>
              </a:solidFill>
              <a:latin typeface="Bahnschrift SemiLight" panose="020B0502040204020203" pitchFamily="34" charset="0"/>
            </a:endParaRPr>
          </a:p>
        </p:txBody>
      </p:sp>
    </p:spTree>
    <p:extLst>
      <p:ext uri="{BB962C8B-B14F-4D97-AF65-F5344CB8AC3E}">
        <p14:creationId xmlns:p14="http://schemas.microsoft.com/office/powerpoint/2010/main" val="3331202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0C4B6-0201-62DF-1643-C3A04876C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E4CAE-F817-AEEF-EDF1-BF898AE0426E}"/>
              </a:ext>
            </a:extLst>
          </p:cNvPr>
          <p:cNvSpPr>
            <a:spLocks noGrp="1"/>
          </p:cNvSpPr>
          <p:nvPr>
            <p:ph type="title"/>
          </p:nvPr>
        </p:nvSpPr>
        <p:spPr/>
        <p:txBody>
          <a:bodyPr>
            <a:noAutofit/>
          </a:bodyPr>
          <a:lstStyle/>
          <a:p>
            <a:r>
              <a:rPr lang="pl-PL" sz="3800" dirty="0">
                <a:latin typeface="Bahnschrift SemiBold"/>
                <a:ea typeface="+mn-ea"/>
                <a:cs typeface="+mn-cs"/>
              </a:rPr>
              <a:t>5 tehnika za praćenje i kontrolu projektnog proračuna</a:t>
            </a:r>
            <a:r>
              <a:rPr lang="en-US" sz="3800" dirty="0">
                <a:latin typeface="Bahnschrift SemiBold"/>
                <a:ea typeface="+mn-ea"/>
                <a:cs typeface="+mn-cs"/>
              </a:rPr>
              <a:t> I.</a:t>
            </a:r>
            <a:br>
              <a:rPr lang="en-US" sz="3800" dirty="0">
                <a:latin typeface="Bahnschrift SemiBold"/>
                <a:ea typeface="+mn-ea"/>
                <a:cs typeface="+mn-cs"/>
              </a:rPr>
            </a:br>
            <a:endParaRPr lang="en-US" sz="3800" dirty="0">
              <a:latin typeface="Bahnschrift SemiBold"/>
              <a:ea typeface="+mn-ea"/>
              <a:cs typeface="+mn-cs"/>
            </a:endParaRPr>
          </a:p>
        </p:txBody>
      </p:sp>
      <p:sp>
        <p:nvSpPr>
          <p:cNvPr id="4" name="Rectangle 1">
            <a:extLst>
              <a:ext uri="{FF2B5EF4-FFF2-40B4-BE49-F238E27FC236}">
                <a16:creationId xmlns:a16="http://schemas.microsoft.com/office/drawing/2014/main" id="{F3CF0B60-7287-3A41-08D3-00D2F3E7FA71}"/>
              </a:ext>
            </a:extLst>
          </p:cNvPr>
          <p:cNvSpPr>
            <a:spLocks noGrp="1" noChangeArrowheads="1"/>
          </p:cNvSpPr>
          <p:nvPr>
            <p:ph idx="1"/>
          </p:nvPr>
        </p:nvSpPr>
        <p:spPr bwMode="auto">
          <a:xfrm>
            <a:off x="838200" y="1690688"/>
            <a:ext cx="1069624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2400" b="1" dirty="0">
                <a:solidFill>
                  <a:srgbClr val="0ADBBC"/>
                </a:solidFill>
              </a:rPr>
              <a:t>1.</a:t>
            </a:r>
            <a:r>
              <a:rPr lang="hr-HR" altLang="en-US" sz="2400" b="1" dirty="0">
                <a:solidFill>
                  <a:srgbClr val="0ADBBC"/>
                </a:solidFill>
              </a:rPr>
              <a:t> </a:t>
            </a:r>
            <a:r>
              <a:rPr lang="en-US" altLang="en-US" sz="2400" b="1" dirty="0">
                <a:solidFill>
                  <a:srgbClr val="0ADBBC"/>
                </a:solidFill>
              </a:rPr>
              <a:t>Upravljanje </a:t>
            </a:r>
            <a:r>
              <a:rPr lang="en-US" altLang="en-US" sz="2400" b="1" dirty="0" err="1">
                <a:solidFill>
                  <a:srgbClr val="0ADBBC"/>
                </a:solidFill>
              </a:rPr>
              <a:t>zarađenom</a:t>
            </a:r>
            <a:r>
              <a:rPr lang="en-US" altLang="en-US" sz="2400" b="1" dirty="0">
                <a:solidFill>
                  <a:srgbClr val="0ADBBC"/>
                </a:solidFill>
              </a:rPr>
              <a:t> </a:t>
            </a:r>
            <a:r>
              <a:rPr lang="en-US" altLang="en-US" sz="2400" b="1" dirty="0" err="1">
                <a:solidFill>
                  <a:srgbClr val="0ADBBC"/>
                </a:solidFill>
              </a:rPr>
              <a:t>vrijednošću</a:t>
            </a:r>
            <a:r>
              <a:rPr lang="hr-HR" altLang="en-US" sz="2400" b="1" dirty="0">
                <a:solidFill>
                  <a:srgbClr val="0ADBBC"/>
                </a:solidFill>
              </a:rPr>
              <a:t> (</a:t>
            </a:r>
            <a:r>
              <a:rPr lang="en-US" altLang="en-US" sz="2400" b="1" dirty="0">
                <a:solidFill>
                  <a:srgbClr val="0ADBBC"/>
                </a:solidFill>
              </a:rPr>
              <a:t>Earned Value Management</a:t>
            </a:r>
            <a:r>
              <a:rPr lang="hr-HR" altLang="en-US" sz="2400" b="1" dirty="0">
                <a:solidFill>
                  <a:srgbClr val="0ADBBC"/>
                </a:solidFill>
              </a:rPr>
              <a:t> - </a:t>
            </a:r>
            <a:r>
              <a:rPr lang="en-US" altLang="en-US" sz="2400" b="1" dirty="0">
                <a:solidFill>
                  <a:srgbClr val="0ADBBC"/>
                </a:solidFill>
              </a:rPr>
              <a:t>EVM)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Uspoređuje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planirani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proračun</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sa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stvarnom</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potrošnjom</a:t>
            </a:r>
            <a:r>
              <a:rPr kumimoji="0" lang="en-US" altLang="en-US" sz="2400" b="0" i="0" u="none" strike="noStrike" cap="none" normalizeH="0" baseline="0" dirty="0">
                <a:ln>
                  <a:noFill/>
                </a:ln>
                <a:solidFill>
                  <a:schemeClr val="tx1"/>
                </a:solidFill>
                <a:effectLst/>
              </a:rPr>
              <a:t> i </a:t>
            </a:r>
            <a:r>
              <a:rPr kumimoji="0" lang="en-US" altLang="en-US" sz="2400" b="0" i="0" u="none" strike="noStrike" cap="none" normalizeH="0" baseline="0" dirty="0" err="1">
                <a:ln>
                  <a:noFill/>
                </a:ln>
                <a:solidFill>
                  <a:schemeClr val="tx1"/>
                </a:solidFill>
                <a:effectLst/>
              </a:rPr>
              <a:t>napretkom</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projekta</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hr-HR"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Ključne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metrike</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err="1">
                <a:ln>
                  <a:noFill/>
                </a:ln>
                <a:solidFill>
                  <a:schemeClr val="tx1"/>
                </a:solidFill>
                <a:effectLst/>
              </a:rPr>
              <a:t>Indeks</a:t>
            </a:r>
            <a:r>
              <a:rPr kumimoji="0" lang="en-US" altLang="en-US" sz="2400" b="1" i="0" u="none" strike="noStrike" cap="none" normalizeH="0" baseline="0" dirty="0">
                <a:ln>
                  <a:noFill/>
                </a:ln>
                <a:solidFill>
                  <a:schemeClr val="tx1"/>
                </a:solidFill>
                <a:effectLst/>
              </a:rPr>
              <a:t> </a:t>
            </a:r>
            <a:r>
              <a:rPr kumimoji="0" lang="en-US" altLang="en-US" sz="2400" b="1" i="0" u="none" strike="noStrike" cap="none" normalizeH="0" baseline="0" dirty="0" err="1">
                <a:ln>
                  <a:noFill/>
                </a:ln>
                <a:solidFill>
                  <a:schemeClr val="tx1"/>
                </a:solidFill>
                <a:effectLst/>
              </a:rPr>
              <a:t>uspješnosti</a:t>
            </a:r>
            <a:r>
              <a:rPr kumimoji="0" lang="en-US" altLang="en-US" sz="2400" b="1" i="0" u="none" strike="noStrike" cap="none" normalizeH="0" baseline="0" dirty="0">
                <a:ln>
                  <a:noFill/>
                </a:ln>
                <a:solidFill>
                  <a:schemeClr val="tx1"/>
                </a:solidFill>
                <a:effectLst/>
              </a:rPr>
              <a:t> </a:t>
            </a:r>
            <a:r>
              <a:rPr kumimoji="0" lang="en-US" altLang="en-US" sz="2400" b="1" i="0" u="none" strike="noStrike" cap="none" normalizeH="0" baseline="0" dirty="0" err="1">
                <a:ln>
                  <a:noFill/>
                </a:ln>
                <a:solidFill>
                  <a:schemeClr val="tx1"/>
                </a:solidFill>
                <a:effectLst/>
              </a:rPr>
              <a:t>troškova</a:t>
            </a:r>
            <a:r>
              <a:rPr kumimoji="0" lang="en-US" altLang="en-US" sz="2400" b="1" i="0" u="none" strike="noStrike" cap="none" normalizeH="0" baseline="0" dirty="0">
                <a:ln>
                  <a:noFill/>
                </a:ln>
                <a:solidFill>
                  <a:schemeClr val="tx1"/>
                </a:solidFill>
                <a:effectLst/>
              </a:rPr>
              <a:t> (Cost Performance </a:t>
            </a:r>
            <a:r>
              <a:rPr kumimoji="0" lang="en-US" altLang="en-US" sz="2400" b="1" i="0" u="none" strike="noStrike" cap="none" normalizeH="0" baseline="0" dirty="0" err="1">
                <a:ln>
                  <a:noFill/>
                </a:ln>
                <a:solidFill>
                  <a:schemeClr val="tx1"/>
                </a:solidFill>
                <a:effectLst/>
              </a:rPr>
              <a:t>Indeks</a:t>
            </a:r>
            <a:r>
              <a:rPr kumimoji="0" lang="hr-HR" altLang="en-US" sz="2400" b="1" i="0" u="none" strike="noStrike" cap="none" normalizeH="0" baseline="0" dirty="0">
                <a:ln>
                  <a:noFill/>
                </a:ln>
                <a:solidFill>
                  <a:schemeClr val="tx1"/>
                </a:solidFill>
                <a:effectLst/>
              </a:rPr>
              <a:t> - </a:t>
            </a:r>
            <a:r>
              <a:rPr kumimoji="0" lang="en-US" altLang="en-US" sz="2400" b="1" i="0" u="none" strike="noStrike" cap="none" normalizeH="0" baseline="0" dirty="0">
                <a:ln>
                  <a:noFill/>
                </a:ln>
                <a:solidFill>
                  <a:schemeClr val="tx1"/>
                </a:solidFill>
                <a:effectLst/>
              </a:rPr>
              <a:t>CPI) = EV / AC</a:t>
            </a:r>
            <a:r>
              <a:rPr kumimoji="0" lang="en-US" altLang="en-US" sz="2400" b="0" i="0" u="none" strike="noStrike" cap="none" normalizeH="0" baseline="0" dirty="0">
                <a:ln>
                  <a:noFill/>
                </a:ln>
                <a:solidFill>
                  <a:schemeClr val="tx1"/>
                </a:solidFill>
                <a:effectLst/>
              </a:rPr>
              <a:t> (Ako je CPI &lt; 1, </a:t>
            </a:r>
            <a:r>
              <a:rPr kumimoji="0" lang="en-US" altLang="en-US" sz="2400" b="0" i="0" u="none" strike="noStrike" cap="none" normalizeH="0" baseline="0" dirty="0" err="1">
                <a:ln>
                  <a:noFill/>
                </a:ln>
                <a:solidFill>
                  <a:schemeClr val="tx1"/>
                </a:solidFill>
                <a:effectLst/>
              </a:rPr>
              <a:t>projekt</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prelazi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proračun</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err="1">
                <a:ln>
                  <a:noFill/>
                </a:ln>
                <a:solidFill>
                  <a:schemeClr val="tx1"/>
                </a:solidFill>
                <a:effectLst/>
              </a:rPr>
              <a:t>Odstupanje</a:t>
            </a:r>
            <a:r>
              <a:rPr kumimoji="0" lang="en-US" altLang="en-US" sz="2400" b="1" i="0" u="none" strike="noStrike" cap="none" normalizeH="0" baseline="0" dirty="0">
                <a:ln>
                  <a:noFill/>
                </a:ln>
                <a:solidFill>
                  <a:schemeClr val="tx1"/>
                </a:solidFill>
                <a:effectLst/>
              </a:rPr>
              <a:t> </a:t>
            </a:r>
            <a:r>
              <a:rPr kumimoji="0" lang="en-US" altLang="en-US" sz="2400" b="1" i="0" u="none" strike="noStrike" cap="none" normalizeH="0" baseline="0" dirty="0" err="1">
                <a:ln>
                  <a:noFill/>
                </a:ln>
                <a:solidFill>
                  <a:schemeClr val="tx1"/>
                </a:solidFill>
                <a:effectLst/>
              </a:rPr>
              <a:t>troškova</a:t>
            </a:r>
            <a:r>
              <a:rPr kumimoji="0" lang="en-US" altLang="en-US" sz="2400" b="1" i="0" u="none" strike="noStrike" cap="none" normalizeH="0" baseline="0" dirty="0">
                <a:ln>
                  <a:noFill/>
                </a:ln>
                <a:solidFill>
                  <a:schemeClr val="tx1"/>
                </a:solidFill>
                <a:effectLst/>
              </a:rPr>
              <a:t> (Cost Variance </a:t>
            </a:r>
            <a:r>
              <a:rPr kumimoji="0" lang="hr-HR" altLang="en-US" sz="2400" b="1"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chemeClr val="tx1"/>
                </a:solidFill>
                <a:effectLst/>
              </a:rPr>
              <a:t>CV) = EV - AC</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Negativan</a:t>
            </a:r>
            <a:r>
              <a:rPr kumimoji="0" lang="en-US" altLang="en-US" sz="2400" b="0" i="0" u="none" strike="noStrike" cap="none" normalizeH="0" baseline="0" dirty="0">
                <a:ln>
                  <a:noFill/>
                </a:ln>
                <a:solidFill>
                  <a:schemeClr val="tx1"/>
                </a:solidFill>
                <a:effectLst/>
              </a:rPr>
              <a:t> CV </a:t>
            </a:r>
            <a:r>
              <a:rPr kumimoji="0" lang="en-US" altLang="en-US" sz="2400" b="0" i="0" u="none" strike="noStrike" cap="none" normalizeH="0" baseline="0" dirty="0" err="1">
                <a:ln>
                  <a:noFill/>
                </a:ln>
                <a:solidFill>
                  <a:schemeClr val="tx1"/>
                </a:solidFill>
                <a:effectLst/>
              </a:rPr>
              <a:t>ukazuje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na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prekomjernu</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potrošnju</a:t>
            </a:r>
            <a:r>
              <a:rPr kumimoji="0" lang="en-US" altLang="en-US" sz="24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indent="0" eaLnBrk="0" fontAlgn="base" hangingPunct="0">
              <a:lnSpc>
                <a:spcPct val="100000"/>
              </a:lnSpc>
              <a:spcBef>
                <a:spcPct val="0"/>
              </a:spcBef>
              <a:spcAft>
                <a:spcPct val="0"/>
              </a:spcAft>
              <a:buNone/>
            </a:pPr>
            <a:r>
              <a:rPr lang="en-US" altLang="en-US" sz="2400" b="1" dirty="0">
                <a:solidFill>
                  <a:srgbClr val="0ADBBC"/>
                </a:solidFill>
              </a:rPr>
              <a:t>2. </a:t>
            </a:r>
            <a:r>
              <a:rPr lang="en-US" altLang="en-US" sz="2400" b="1" dirty="0" err="1">
                <a:solidFill>
                  <a:srgbClr val="0ADBBC"/>
                </a:solidFill>
              </a:rPr>
              <a:t>Osnovica</a:t>
            </a:r>
            <a:r>
              <a:rPr lang="en-US" altLang="en-US" sz="2400" b="1" dirty="0">
                <a:solidFill>
                  <a:srgbClr val="0ADBBC"/>
                </a:solidFill>
              </a:rPr>
              <a:t> </a:t>
            </a:r>
            <a:r>
              <a:rPr lang="en-US" altLang="en-US" sz="2400" b="1" dirty="0" err="1">
                <a:solidFill>
                  <a:srgbClr val="0ADBBC"/>
                </a:solidFill>
              </a:rPr>
              <a:t>proračuna</a:t>
            </a:r>
            <a:r>
              <a:rPr lang="en-US" altLang="en-US" sz="2400" b="1" dirty="0">
                <a:solidFill>
                  <a:srgbClr val="0ADBBC"/>
                </a:solidFill>
              </a:rPr>
              <a:t> i </a:t>
            </a:r>
            <a:r>
              <a:rPr lang="en-US" altLang="en-US" sz="2400" b="1" dirty="0" err="1">
                <a:solidFill>
                  <a:srgbClr val="0ADBBC"/>
                </a:solidFill>
              </a:rPr>
              <a:t>analiza</a:t>
            </a:r>
            <a:r>
              <a:rPr lang="en-US" altLang="en-US" sz="2400" b="1" dirty="0">
                <a:solidFill>
                  <a:srgbClr val="0ADBBC"/>
                </a:solidFill>
              </a:rPr>
              <a:t> </a:t>
            </a:r>
            <a:r>
              <a:rPr lang="en-US" altLang="en-US" sz="2400" b="1" dirty="0" err="1">
                <a:solidFill>
                  <a:srgbClr val="0ADBBC"/>
                </a:solidFill>
              </a:rPr>
              <a:t>odstupanja</a:t>
            </a:r>
            <a:endParaRPr lang="en-US" altLang="en-US" sz="2400" b="1" dirty="0">
              <a:solidFill>
                <a:srgbClr val="0ADBBC"/>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Uspostavlja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početni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proračun</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kao</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referencu</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Redovito</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uspoređuje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stvarne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troškove</a:t>
            </a:r>
            <a:r>
              <a:rPr kumimoji="0" lang="en-US" altLang="en-US" sz="2400" b="0" i="0" u="none" strike="noStrike" cap="none" normalizeH="0" baseline="0" dirty="0">
                <a:ln>
                  <a:noFill/>
                </a:ln>
                <a:solidFill>
                  <a:schemeClr val="tx1"/>
                </a:solidFill>
                <a:effectLst/>
              </a:rPr>
              <a:t> s </a:t>
            </a:r>
            <a:r>
              <a:rPr kumimoji="0" lang="en-US" altLang="en-US" sz="2400" b="0" i="0" u="none" strike="noStrike" cap="none" normalizeH="0" baseline="0" dirty="0" err="1">
                <a:ln>
                  <a:noFill/>
                </a:ln>
                <a:solidFill>
                  <a:schemeClr val="tx1"/>
                </a:solidFill>
                <a:effectLst/>
              </a:rPr>
              <a:t>planiranim</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troškovima</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Rano </a:t>
            </a:r>
            <a:r>
              <a:rPr kumimoji="0" lang="en-US" altLang="en-US" sz="2400" b="0" i="0" u="none" strike="noStrike" cap="none" normalizeH="0" baseline="0" dirty="0" err="1">
                <a:ln>
                  <a:noFill/>
                </a:ln>
                <a:solidFill>
                  <a:schemeClr val="tx1"/>
                </a:solidFill>
                <a:effectLst/>
              </a:rPr>
              <a:t>identificira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prekoračenja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troškova</a:t>
            </a:r>
            <a:r>
              <a:rPr kumimoji="0" lang="en-US" altLang="en-US" sz="2400" b="0" i="0" u="none" strike="noStrike" cap="none" normalizeH="0" baseline="0" dirty="0">
                <a:ln>
                  <a:noFill/>
                </a:ln>
                <a:solidFill>
                  <a:schemeClr val="tx1"/>
                </a:solidFill>
                <a:effectLst/>
              </a:rPr>
              <a:t> i </a:t>
            </a:r>
            <a:r>
              <a:rPr kumimoji="0" lang="en-US" altLang="en-US" sz="2400" b="0" i="0" u="none" strike="noStrike" cap="none" normalizeH="0" baseline="0" dirty="0" err="1">
                <a:ln>
                  <a:noFill/>
                </a:ln>
                <a:solidFill>
                  <a:schemeClr val="tx1"/>
                </a:solidFill>
                <a:effectLst/>
              </a:rPr>
              <a:t>prema</a:t>
            </a:r>
            <a:r>
              <a:rPr kumimoji="0" lang="en-US" altLang="en-US" sz="2400" b="0" i="0" u="none" strike="noStrike" cap="none" normalizeH="0" baseline="0" dirty="0">
                <a:ln>
                  <a:noFill/>
                </a:ln>
                <a:solidFill>
                  <a:schemeClr val="tx1"/>
                </a:solidFill>
                <a:effectLst/>
              </a:rPr>
              <a:t> tome se </a:t>
            </a:r>
            <a:r>
              <a:rPr kumimoji="0" lang="en-US" altLang="en-US" sz="2400" b="0" i="0" u="none" strike="noStrike" cap="none" normalizeH="0" baseline="0" dirty="0" err="1">
                <a:ln>
                  <a:noFill/>
                </a:ln>
                <a:solidFill>
                  <a:schemeClr val="tx1"/>
                </a:solidFill>
                <a:effectLst/>
              </a:rPr>
              <a:t>prilagođava</a:t>
            </a:r>
            <a:r>
              <a:rPr kumimoji="0" lang="en-US" altLang="en-US" sz="24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1580576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9BDF8-301C-3106-8991-4935F6054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B1D03-A759-73D6-7877-6EA968A730A6}"/>
              </a:ext>
            </a:extLst>
          </p:cNvPr>
          <p:cNvSpPr>
            <a:spLocks noGrp="1"/>
          </p:cNvSpPr>
          <p:nvPr>
            <p:ph type="title"/>
          </p:nvPr>
        </p:nvSpPr>
        <p:spPr/>
        <p:txBody>
          <a:bodyPr>
            <a:noAutofit/>
          </a:bodyPr>
          <a:lstStyle/>
          <a:p>
            <a:r>
              <a:rPr lang="pl-PL" sz="3800" dirty="0">
                <a:latin typeface="Bahnschrift SemiBold"/>
                <a:ea typeface="+mn-ea"/>
                <a:cs typeface="+mn-cs"/>
              </a:rPr>
              <a:t>5 tehnika za praćenje i kontrolu projektnog proračuna</a:t>
            </a:r>
            <a:r>
              <a:rPr lang="en-US" sz="3800" dirty="0">
                <a:latin typeface="Bahnschrift SemiBold"/>
                <a:ea typeface="+mn-ea"/>
                <a:cs typeface="+mn-cs"/>
              </a:rPr>
              <a:t> II.</a:t>
            </a:r>
            <a:br>
              <a:rPr lang="en-US" sz="3800" dirty="0">
                <a:latin typeface="Bahnschrift SemiBold"/>
                <a:ea typeface="+mn-ea"/>
                <a:cs typeface="+mn-cs"/>
              </a:rPr>
            </a:br>
            <a:endParaRPr lang="en-US" sz="3800" dirty="0">
              <a:latin typeface="Bahnschrift SemiBold"/>
              <a:ea typeface="+mn-ea"/>
              <a:cs typeface="+mn-cs"/>
            </a:endParaRPr>
          </a:p>
        </p:txBody>
      </p:sp>
      <p:sp>
        <p:nvSpPr>
          <p:cNvPr id="4" name="Rectangle 1">
            <a:extLst>
              <a:ext uri="{FF2B5EF4-FFF2-40B4-BE49-F238E27FC236}">
                <a16:creationId xmlns:a16="http://schemas.microsoft.com/office/drawing/2014/main" id="{D7D2F9CF-8DC1-E845-3043-FEA9CC17FF81}"/>
              </a:ext>
            </a:extLst>
          </p:cNvPr>
          <p:cNvSpPr>
            <a:spLocks noGrp="1" noChangeArrowheads="1"/>
          </p:cNvSpPr>
          <p:nvPr>
            <p:ph idx="1"/>
          </p:nvPr>
        </p:nvSpPr>
        <p:spPr bwMode="auto">
          <a:xfrm>
            <a:off x="710878" y="1625799"/>
            <a:ext cx="10515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2600" b="1" dirty="0">
                <a:solidFill>
                  <a:srgbClr val="0ADBBC"/>
                </a:solidFill>
              </a:rPr>
              <a:t>3. </a:t>
            </a:r>
            <a:r>
              <a:rPr lang="en-US" altLang="en-US" sz="2600" b="1" dirty="0" err="1">
                <a:solidFill>
                  <a:srgbClr val="0ADBBC"/>
                </a:solidFill>
              </a:rPr>
              <a:t>Prognoziranje</a:t>
            </a:r>
            <a:endParaRPr lang="en-US" altLang="en-US" sz="2600" b="1" dirty="0">
              <a:solidFill>
                <a:srgbClr val="0ADBBC"/>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a:t>
            </a:r>
            <a:r>
              <a:rPr kumimoji="0" lang="hr-HR"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Koristi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trenutne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trendove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potrošnje</a:t>
            </a:r>
            <a:r>
              <a:rPr kumimoji="0" lang="en-US" altLang="en-US" sz="2400" b="0" i="0" u="none" strike="noStrike" cap="none" normalizeH="0" baseline="0" dirty="0">
                <a:ln>
                  <a:noFill/>
                </a:ln>
                <a:solidFill>
                  <a:schemeClr val="tx1"/>
                </a:solidFill>
                <a:effectLst/>
              </a:rPr>
              <a:t> za </a:t>
            </a:r>
            <a:r>
              <a:rPr kumimoji="0" lang="en-US" altLang="en-US" sz="2400" b="0" i="0" u="none" strike="noStrike" cap="none" normalizeH="0" baseline="0" dirty="0" err="1">
                <a:ln>
                  <a:noFill/>
                </a:ln>
                <a:solidFill>
                  <a:schemeClr val="tx1"/>
                </a:solidFill>
                <a:effectLst/>
              </a:rPr>
              <a:t>predviđanje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budućih</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troškova</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hr-HR" altLang="en-US" sz="2400" b="0" i="0" u="none" strike="noStrike" cap="none" normalizeH="0" baseline="0" dirty="0">
                <a:ln>
                  <a:noFill/>
                </a:ln>
                <a:solidFill>
                  <a:schemeClr val="tx1"/>
                </a:solidFill>
                <a:effectLst/>
              </a:rPr>
              <a:t>- </a:t>
            </a:r>
            <a:r>
              <a:rPr kumimoji="0" lang="en-US" altLang="en-US" sz="2400" b="0" i="0" u="none" strike="noStrike" cap="none" normalizeH="0" baseline="0" dirty="0">
                <a:ln>
                  <a:noFill/>
                </a:ln>
                <a:solidFill>
                  <a:schemeClr val="tx1"/>
                </a:solidFill>
                <a:effectLst/>
              </a:rPr>
              <a:t>Metode </a:t>
            </a:r>
            <a:r>
              <a:rPr kumimoji="0" lang="en-US" altLang="en-US" sz="2400" b="0" i="0" u="none" strike="noStrike" cap="none" normalizeH="0" baseline="0" dirty="0" err="1">
                <a:ln>
                  <a:noFill/>
                </a:ln>
                <a:solidFill>
                  <a:schemeClr val="tx1"/>
                </a:solidFill>
                <a:effectLst/>
              </a:rPr>
              <a:t>uključuju</a:t>
            </a:r>
            <a:r>
              <a:rPr kumimoji="0" lang="en-US" altLang="en-US" sz="2400" b="0" i="0" u="none" strike="noStrike" cap="none" normalizeH="0" baseline="0" dirty="0">
                <a:ln>
                  <a:noFill/>
                </a:ln>
                <a:solidFill>
                  <a:schemeClr val="tx1"/>
                </a:solidFill>
                <a:effectLst/>
              </a:rPr>
              <a:t> </a:t>
            </a:r>
            <a:r>
              <a:rPr kumimoji="0" lang="en-US" altLang="en-US" sz="2400" b="1" i="0" u="none" strike="noStrike" cap="none" normalizeH="0" baseline="0" dirty="0" err="1">
                <a:ln>
                  <a:noFill/>
                </a:ln>
                <a:solidFill>
                  <a:schemeClr val="tx1"/>
                </a:solidFill>
                <a:effectLst/>
              </a:rPr>
              <a:t>procjenu</a:t>
            </a:r>
            <a:r>
              <a:rPr kumimoji="0" lang="en-US" altLang="en-US" sz="2400" b="1" i="0" u="none" strike="noStrike" cap="none" normalizeH="0" baseline="0" dirty="0">
                <a:ln>
                  <a:noFill/>
                </a:ln>
                <a:solidFill>
                  <a:schemeClr val="tx1"/>
                </a:solidFill>
                <a:effectLst/>
              </a:rPr>
              <a:t> </a:t>
            </a:r>
            <a:r>
              <a:rPr kumimoji="0" lang="en-US" altLang="en-US" sz="2400" b="1" i="0" u="none" strike="noStrike" cap="none" normalizeH="0" baseline="0" dirty="0" err="1">
                <a:ln>
                  <a:noFill/>
                </a:ln>
                <a:solidFill>
                  <a:schemeClr val="tx1"/>
                </a:solidFill>
                <a:effectLst/>
              </a:rPr>
              <a:t>pri</a:t>
            </a:r>
            <a:r>
              <a:rPr kumimoji="0" lang="en-US" altLang="en-US" sz="2400" b="1" i="0" u="none" strike="noStrike" cap="none" normalizeH="0" baseline="0" dirty="0">
                <a:ln>
                  <a:noFill/>
                </a:ln>
                <a:solidFill>
                  <a:schemeClr val="tx1"/>
                </a:solidFill>
                <a:effectLst/>
              </a:rPr>
              <a:t> </a:t>
            </a:r>
            <a:r>
              <a:rPr kumimoji="0" lang="en-US" altLang="en-US" sz="2400" b="1" i="0" u="none" strike="noStrike" cap="none" normalizeH="0" baseline="0" dirty="0" err="1">
                <a:ln>
                  <a:noFill/>
                </a:ln>
                <a:solidFill>
                  <a:schemeClr val="tx1"/>
                </a:solidFill>
                <a:effectLst/>
              </a:rPr>
              <a:t>završetku</a:t>
            </a:r>
            <a:r>
              <a:rPr kumimoji="0" lang="en-US" altLang="en-US" sz="2400" b="1" i="0" u="none" strike="noStrike" cap="none" normalizeH="0" baseline="0" dirty="0">
                <a:ln>
                  <a:noFill/>
                </a:ln>
                <a:solidFill>
                  <a:schemeClr val="tx1"/>
                </a:solidFill>
                <a:effectLst/>
              </a:rPr>
              <a:t> (Estimate at Completion</a:t>
            </a:r>
            <a:r>
              <a:rPr kumimoji="0" lang="hr-HR" altLang="en-US" sz="2400" b="1" i="0" u="none" strike="noStrike" cap="none" normalizeH="0" baseline="0" dirty="0">
                <a:ln>
                  <a:noFill/>
                </a:ln>
                <a:solidFill>
                  <a:schemeClr val="tx1"/>
                </a:solidFill>
                <a:effectLst/>
              </a:rPr>
              <a:t> - </a:t>
            </a:r>
            <a:r>
              <a:rPr kumimoji="0" lang="en-US" altLang="en-US" sz="2400" b="1" i="0" u="none" strike="noStrike" cap="none" normalizeH="0" baseline="0" dirty="0">
                <a:ln>
                  <a:noFill/>
                </a:ln>
                <a:solidFill>
                  <a:schemeClr val="tx1"/>
                </a:solidFill>
                <a:effectLst/>
              </a:rPr>
              <a:t>EAC):</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rPr>
              <a:t>EAC = BAC / CPI </a:t>
            </a:r>
            <a:r>
              <a:rPr kumimoji="0" lang="en-US" altLang="en-US" sz="2400" b="0" i="0" u="none" strike="noStrike" cap="none" normalizeH="0" baseline="0" dirty="0">
                <a:ln>
                  <a:noFill/>
                </a:ln>
                <a:solidFill>
                  <a:schemeClr val="tx1"/>
                </a:solidFill>
                <a:effectLst/>
              </a:rPr>
              <a:t>(Ako je CPI &lt; 1, </a:t>
            </a:r>
            <a:r>
              <a:rPr kumimoji="0" lang="en-US" altLang="en-US" sz="2400" b="0" i="0" u="none" strike="noStrike" cap="none" normalizeH="0" baseline="0" dirty="0" err="1">
                <a:ln>
                  <a:noFill/>
                </a:ln>
                <a:solidFill>
                  <a:schemeClr val="tx1"/>
                </a:solidFill>
                <a:effectLst/>
              </a:rPr>
              <a:t>projekt</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će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premašiti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proračun</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rgbClr val="0FDCBD"/>
                </a:solidFill>
                <a:effectLst/>
              </a:rPr>
              <a:t>4. </a:t>
            </a:r>
            <a:r>
              <a:rPr kumimoji="0" lang="en-US" altLang="en-US" sz="2400" b="1" i="0" u="none" strike="noStrike" cap="none" normalizeH="0" baseline="0" dirty="0" err="1">
                <a:ln>
                  <a:noFill/>
                </a:ln>
                <a:solidFill>
                  <a:srgbClr val="0FDCBD"/>
                </a:solidFill>
                <a:effectLst/>
              </a:rPr>
              <a:t>Kontrola</a:t>
            </a:r>
            <a:r>
              <a:rPr kumimoji="0" lang="en-US" altLang="en-US" sz="2400" b="1" i="0" u="none" strike="noStrike" cap="none" normalizeH="0" baseline="0" dirty="0">
                <a:ln>
                  <a:noFill/>
                </a:ln>
                <a:solidFill>
                  <a:srgbClr val="0FDCBD"/>
                </a:solidFill>
                <a:effectLst/>
              </a:rPr>
              <a:t> </a:t>
            </a:r>
            <a:r>
              <a:rPr kumimoji="0" lang="en-US" altLang="en-US" sz="2400" b="1" i="0" u="none" strike="noStrike" cap="none" normalizeH="0" baseline="0" dirty="0" err="1">
                <a:ln>
                  <a:noFill/>
                </a:ln>
                <a:solidFill>
                  <a:srgbClr val="0FDCBD"/>
                </a:solidFill>
                <a:effectLst/>
              </a:rPr>
              <a:t>troškova</a:t>
            </a:r>
            <a:r>
              <a:rPr kumimoji="0" lang="en-US" altLang="en-US" sz="2400" b="1" i="0" u="none" strike="noStrike" cap="none" normalizeH="0" baseline="0" dirty="0">
                <a:ln>
                  <a:noFill/>
                </a:ln>
                <a:solidFill>
                  <a:srgbClr val="0FDCBD"/>
                </a:solidFill>
                <a:effectLst/>
              </a:rPr>
              <a:t> i </a:t>
            </a:r>
            <a:r>
              <a:rPr kumimoji="0" lang="en-US" altLang="en-US" sz="2400" b="1" i="0" u="none" strike="noStrike" cap="none" normalizeH="0" baseline="0" dirty="0" err="1">
                <a:ln>
                  <a:noFill/>
                </a:ln>
                <a:solidFill>
                  <a:srgbClr val="0FDCBD"/>
                </a:solidFill>
                <a:effectLst/>
              </a:rPr>
              <a:t>upravljanje</a:t>
            </a:r>
            <a:r>
              <a:rPr kumimoji="0" lang="en-US" altLang="en-US" sz="2400" b="1" i="0" u="none" strike="noStrike" cap="none" normalizeH="0" baseline="0" dirty="0">
                <a:ln>
                  <a:noFill/>
                </a:ln>
                <a:solidFill>
                  <a:srgbClr val="0FDCBD"/>
                </a:solidFill>
                <a:effectLst/>
              </a:rPr>
              <a:t> </a:t>
            </a:r>
            <a:r>
              <a:rPr kumimoji="0" lang="en-US" altLang="en-US" sz="2400" b="1" i="0" u="none" strike="noStrike" cap="none" normalizeH="0" baseline="0" dirty="0" err="1">
                <a:ln>
                  <a:noFill/>
                </a:ln>
                <a:solidFill>
                  <a:srgbClr val="0FDCBD"/>
                </a:solidFill>
                <a:effectLst/>
              </a:rPr>
              <a:t>promjenama</a:t>
            </a:r>
            <a:endParaRPr kumimoji="0" lang="en-US" altLang="en-US" sz="2400" b="1" i="0" u="none" strike="noStrike" cap="none" normalizeH="0" baseline="0" dirty="0">
              <a:ln>
                <a:noFill/>
              </a:ln>
              <a:solidFill>
                <a:srgbClr val="0FDCBD"/>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Uvodi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postupke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odobravanja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troškova</a:t>
            </a:r>
            <a:r>
              <a:rPr kumimoji="0" lang="en-US" altLang="en-US" sz="2400" b="0" i="0" u="none" strike="noStrike" cap="none" normalizeH="0" baseline="0" dirty="0">
                <a:ln>
                  <a:noFill/>
                </a:ln>
                <a:solidFill>
                  <a:schemeClr val="tx1"/>
                </a:solidFill>
                <a:effectLst/>
              </a:rPr>
              <a:t> za </a:t>
            </a:r>
            <a:r>
              <a:rPr kumimoji="0" lang="en-US" altLang="en-US" sz="2400" b="0" i="0" u="none" strike="noStrike" cap="none" normalizeH="0" baseline="0" dirty="0" err="1">
                <a:ln>
                  <a:noFill/>
                </a:ln>
                <a:solidFill>
                  <a:schemeClr val="tx1"/>
                </a:solidFill>
                <a:effectLst/>
              </a:rPr>
              <a:t>promjene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proračuna</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Prati </a:t>
            </a:r>
            <a:r>
              <a:rPr kumimoji="0" lang="en-US" altLang="en-US" sz="2400" b="0" i="0" u="none" strike="noStrike" cap="none" normalizeH="0" baseline="0" dirty="0" err="1">
                <a:ln>
                  <a:noFill/>
                </a:ln>
                <a:solidFill>
                  <a:schemeClr val="tx1"/>
                </a:solidFill>
                <a:effectLst/>
              </a:rPr>
              <a:t>odobrene</a:t>
            </a:r>
            <a:r>
              <a:rPr kumimoji="0" lang="en-US" altLang="en-US" sz="2400" b="0" i="0" u="none" strike="noStrike" cap="none" normalizeH="0" baseline="0" dirty="0">
                <a:ln>
                  <a:noFill/>
                </a:ln>
                <a:solidFill>
                  <a:schemeClr val="tx1"/>
                </a:solidFill>
                <a:effectLst/>
              </a:rPr>
              <a:t> i </a:t>
            </a:r>
            <a:r>
              <a:rPr kumimoji="0" lang="en-US" altLang="en-US" sz="2400" b="0" i="0" u="none" strike="noStrike" cap="none" normalizeH="0" baseline="0" dirty="0" err="1">
                <a:ln>
                  <a:noFill/>
                </a:ln>
                <a:solidFill>
                  <a:schemeClr val="tx1"/>
                </a:solidFill>
                <a:effectLst/>
              </a:rPr>
              <a:t>neodobrene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kako</a:t>
            </a:r>
            <a:r>
              <a:rPr kumimoji="0" lang="en-US" altLang="en-US" sz="2400" b="0" i="0" u="none" strike="noStrike" cap="none" normalizeH="0" baseline="0" dirty="0">
                <a:ln>
                  <a:noFill/>
                </a:ln>
                <a:solidFill>
                  <a:schemeClr val="tx1"/>
                </a:solidFill>
                <a:effectLst/>
              </a:rPr>
              <a:t> bi se </a:t>
            </a:r>
            <a:r>
              <a:rPr kumimoji="0" lang="en-US" altLang="en-US" sz="2400" b="0" i="0" u="none" strike="noStrike" cap="none" normalizeH="0" baseline="0" dirty="0" err="1">
                <a:ln>
                  <a:noFill/>
                </a:ln>
                <a:solidFill>
                  <a:schemeClr val="tx1"/>
                </a:solidFill>
                <a:effectLst/>
              </a:rPr>
              <a:t>spriječila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prekomjerna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potrošnja</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rgbClr val="0FDCBD"/>
                </a:solidFill>
                <a:effectLst/>
              </a:rPr>
              <a:t>5. </a:t>
            </a:r>
            <a:r>
              <a:rPr kumimoji="0" lang="en-US" altLang="en-US" sz="2400" b="1" i="0" u="none" strike="noStrike" cap="none" normalizeH="0" baseline="0" dirty="0" err="1">
                <a:ln>
                  <a:noFill/>
                </a:ln>
                <a:solidFill>
                  <a:srgbClr val="0FDCBD"/>
                </a:solidFill>
                <a:effectLst/>
              </a:rPr>
              <a:t>Obračun</a:t>
            </a:r>
            <a:r>
              <a:rPr kumimoji="0" lang="en-US" altLang="en-US" sz="2400" b="1" i="0" u="none" strike="noStrike" cap="none" normalizeH="0" baseline="0" dirty="0">
                <a:ln>
                  <a:noFill/>
                </a:ln>
                <a:solidFill>
                  <a:srgbClr val="0FDCBD"/>
                </a:solidFill>
                <a:effectLst/>
              </a:rPr>
              <a:t> </a:t>
            </a:r>
            <a:r>
              <a:rPr kumimoji="0" lang="en-US" altLang="en-US" sz="2400" b="1" i="0" u="none" strike="noStrike" cap="none" normalizeH="0" baseline="0" dirty="0" err="1">
                <a:ln>
                  <a:noFill/>
                </a:ln>
                <a:solidFill>
                  <a:srgbClr val="0FDCBD"/>
                </a:solidFill>
                <a:effectLst/>
              </a:rPr>
              <a:t>troškova</a:t>
            </a:r>
            <a:r>
              <a:rPr kumimoji="0" lang="en-US" altLang="en-US" sz="2400" b="1" i="0" u="none" strike="noStrike" cap="none" normalizeH="0" baseline="0" dirty="0">
                <a:ln>
                  <a:noFill/>
                </a:ln>
                <a:solidFill>
                  <a:srgbClr val="0FDCBD"/>
                </a:solidFill>
                <a:effectLst/>
              </a:rPr>
              <a:t> po </a:t>
            </a:r>
            <a:r>
              <a:rPr kumimoji="0" lang="en-US" altLang="en-US" sz="2400" b="1" i="0" u="none" strike="noStrike" cap="none" normalizeH="0" baseline="0" dirty="0" err="1">
                <a:ln>
                  <a:noFill/>
                </a:ln>
                <a:solidFill>
                  <a:srgbClr val="0FDCBD"/>
                </a:solidFill>
                <a:effectLst/>
              </a:rPr>
              <a:t>aktivnostima</a:t>
            </a:r>
            <a:r>
              <a:rPr kumimoji="0" lang="en-US" altLang="en-US" sz="2400" b="1" i="0" u="none" strike="noStrike" cap="none" normalizeH="0" baseline="0" dirty="0">
                <a:ln>
                  <a:noFill/>
                </a:ln>
                <a:solidFill>
                  <a:srgbClr val="0FDCBD"/>
                </a:solidFill>
                <a:effectLst/>
              </a:rPr>
              <a:t> (</a:t>
            </a:r>
            <a:r>
              <a:rPr kumimoji="0" lang="hr-HR" altLang="en-US" sz="2400" b="1" i="0" u="none" strike="noStrike" cap="none" normalizeH="0" baseline="0" dirty="0" err="1">
                <a:ln>
                  <a:noFill/>
                </a:ln>
                <a:solidFill>
                  <a:srgbClr val="0FDCBD"/>
                </a:solidFill>
                <a:effectLst/>
              </a:rPr>
              <a:t>Activity-Based</a:t>
            </a:r>
            <a:r>
              <a:rPr kumimoji="0" lang="hr-HR" altLang="en-US" sz="2400" b="1" i="0" u="none" strike="noStrike" cap="none" normalizeH="0" baseline="0" dirty="0">
                <a:ln>
                  <a:noFill/>
                </a:ln>
                <a:solidFill>
                  <a:srgbClr val="0FDCBD"/>
                </a:solidFill>
                <a:effectLst/>
              </a:rPr>
              <a:t> </a:t>
            </a:r>
            <a:r>
              <a:rPr kumimoji="0" lang="hr-HR" altLang="en-US" sz="2400" b="1" i="0" u="none" strike="noStrike" cap="none" normalizeH="0" baseline="0" dirty="0" err="1">
                <a:ln>
                  <a:noFill/>
                </a:ln>
                <a:solidFill>
                  <a:srgbClr val="0FDCBD"/>
                </a:solidFill>
                <a:effectLst/>
              </a:rPr>
              <a:t>Costing</a:t>
            </a:r>
            <a:r>
              <a:rPr kumimoji="0" lang="hr-HR" altLang="en-US" sz="2400" b="1" i="0" u="none" strike="noStrike" cap="none" normalizeH="0" baseline="0" dirty="0">
                <a:ln>
                  <a:noFill/>
                </a:ln>
                <a:solidFill>
                  <a:srgbClr val="0FDCBD"/>
                </a:solidFill>
                <a:effectLst/>
              </a:rPr>
              <a:t> - </a:t>
            </a:r>
            <a:r>
              <a:rPr kumimoji="0" lang="en-US" altLang="en-US" sz="2400" b="1" i="0" u="none" strike="noStrike" cap="none" normalizeH="0" baseline="0" dirty="0">
                <a:ln>
                  <a:noFill/>
                </a:ln>
                <a:solidFill>
                  <a:srgbClr val="0FDCBD"/>
                </a:solidFill>
                <a:effectLst/>
              </a:rPr>
              <a:t>ABC)</a:t>
            </a:r>
            <a:endParaRPr kumimoji="0" lang="hr-HR" altLang="en-US" sz="2400" b="1" i="0" u="none" strike="noStrike" cap="none" normalizeH="0" baseline="0" dirty="0">
              <a:ln>
                <a:noFill/>
              </a:ln>
              <a:solidFill>
                <a:srgbClr val="0FDCBD"/>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Raspoređuje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na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specifične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zadatke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ili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isporučive</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rezultate</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Pomaže</a:t>
            </a:r>
            <a:r>
              <a:rPr kumimoji="0" lang="en-US" altLang="en-US" sz="2400" b="0" i="0" u="none" strike="noStrike" cap="none" normalizeH="0" baseline="0" dirty="0">
                <a:ln>
                  <a:noFill/>
                </a:ln>
                <a:solidFill>
                  <a:schemeClr val="tx1"/>
                </a:solidFill>
                <a:effectLst/>
              </a:rPr>
              <a:t> u </a:t>
            </a:r>
            <a:r>
              <a:rPr kumimoji="0" lang="en-US" altLang="en-US" sz="2400" b="0" i="0" u="none" strike="noStrike" cap="none" normalizeH="0" baseline="0" dirty="0" err="1">
                <a:ln>
                  <a:noFill/>
                </a:ln>
                <a:solidFill>
                  <a:schemeClr val="tx1"/>
                </a:solidFill>
                <a:effectLst/>
              </a:rPr>
              <a:t>identificiranju</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pokretača</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troškova</a:t>
            </a:r>
            <a:r>
              <a:rPr kumimoji="0" lang="en-US" altLang="en-US" sz="2400" b="0" i="0" u="none" strike="noStrike" cap="none" normalizeH="0" baseline="0" dirty="0">
                <a:ln>
                  <a:noFill/>
                </a:ln>
                <a:solidFill>
                  <a:schemeClr val="tx1"/>
                </a:solidFill>
                <a:effectLst/>
              </a:rPr>
              <a:t> i </a:t>
            </a:r>
            <a:r>
              <a:rPr kumimoji="0" lang="en-US" altLang="en-US" sz="2400" b="0" i="0" u="none" strike="noStrike" cap="none" normalizeH="0" baseline="0" dirty="0" err="1">
                <a:ln>
                  <a:noFill/>
                </a:ln>
                <a:solidFill>
                  <a:schemeClr val="tx1"/>
                </a:solidFill>
                <a:effectLst/>
              </a:rPr>
              <a:t>optimizaciji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potrošnje</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77486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9F279-1063-DF6F-B97E-1AF8446FA2A2}"/>
              </a:ext>
            </a:extLst>
          </p:cNvPr>
          <p:cNvSpPr>
            <a:spLocks noGrp="1"/>
          </p:cNvSpPr>
          <p:nvPr>
            <p:ph type="title"/>
          </p:nvPr>
        </p:nvSpPr>
        <p:spPr/>
        <p:txBody>
          <a:bodyPr>
            <a:normAutofit fontScale="90000"/>
          </a:bodyPr>
          <a:lstStyle/>
          <a:p>
            <a:br>
              <a:rPr kumimoji="0" lang="en-US" altLang="en-US" sz="3600" b="1" i="0" u="none" strike="noStrike" cap="none" normalizeH="0" baseline="0" dirty="0">
                <a:ln>
                  <a:noFill/>
                </a:ln>
                <a:solidFill>
                  <a:schemeClr val="tx1"/>
                </a:solidFill>
                <a:effectLst/>
                <a:latin typeface="Bahnschrift SemiLight" panose="020B0502040204020203" pitchFamily="34" charset="0"/>
              </a:rPr>
            </a:br>
            <a:r>
              <a:rPr lang="en-US" altLang="en-US" sz="4200" dirty="0">
                <a:latin typeface="Bahnschrift SemiBold"/>
                <a:ea typeface="+mn-ea"/>
                <a:cs typeface="+mn-cs"/>
              </a:rPr>
              <a:t>Upravljanje </a:t>
            </a:r>
            <a:r>
              <a:rPr lang="en-US" altLang="en-US" sz="4200" dirty="0" err="1">
                <a:latin typeface="Bahnschrift SemiBold"/>
                <a:ea typeface="+mn-ea"/>
                <a:cs typeface="+mn-cs"/>
              </a:rPr>
              <a:t>zarađenom</a:t>
            </a:r>
            <a:r>
              <a:rPr lang="en-US" altLang="en-US" sz="4200" dirty="0">
                <a:latin typeface="Bahnschrift SemiBold"/>
                <a:ea typeface="+mn-ea"/>
                <a:cs typeface="+mn-cs"/>
              </a:rPr>
              <a:t> </a:t>
            </a:r>
            <a:r>
              <a:rPr lang="en-US" altLang="en-US" sz="4200" dirty="0" err="1">
                <a:latin typeface="Bahnschrift SemiBold"/>
                <a:ea typeface="+mn-ea"/>
                <a:cs typeface="+mn-cs"/>
              </a:rPr>
              <a:t>vrijednošću</a:t>
            </a:r>
            <a:r>
              <a:rPr lang="en-US" altLang="en-US" sz="4200" dirty="0">
                <a:latin typeface="Bahnschrift SemiBold"/>
                <a:ea typeface="+mn-ea"/>
                <a:cs typeface="+mn-cs"/>
              </a:rPr>
              <a:t> </a:t>
            </a:r>
            <a:r>
              <a:rPr lang="hr-HR" altLang="en-US" sz="4200" dirty="0">
                <a:latin typeface="Bahnschrift SemiBold"/>
                <a:ea typeface="+mn-ea"/>
                <a:cs typeface="+mn-cs"/>
              </a:rPr>
              <a:t>(E</a:t>
            </a:r>
            <a:r>
              <a:rPr lang="en-US" altLang="en-US" sz="4200" dirty="0" err="1">
                <a:latin typeface="Bahnschrift SemiBold"/>
                <a:ea typeface="+mn-ea"/>
                <a:cs typeface="+mn-cs"/>
              </a:rPr>
              <a:t>arned</a:t>
            </a:r>
            <a:r>
              <a:rPr lang="en-US" altLang="en-US" sz="4200" dirty="0">
                <a:latin typeface="Bahnschrift SemiBold"/>
                <a:ea typeface="+mn-ea"/>
                <a:cs typeface="+mn-cs"/>
              </a:rPr>
              <a:t> Value Management</a:t>
            </a:r>
            <a:r>
              <a:rPr lang="hr-HR" altLang="en-US" sz="4200" dirty="0">
                <a:latin typeface="Bahnschrift SemiBold"/>
                <a:ea typeface="+mn-ea"/>
                <a:cs typeface="+mn-cs"/>
              </a:rPr>
              <a:t> - </a:t>
            </a:r>
            <a:r>
              <a:rPr lang="en-US" altLang="en-US" sz="4200" dirty="0">
                <a:latin typeface="Bahnschrift SemiBold"/>
                <a:ea typeface="+mn-ea"/>
                <a:cs typeface="+mn-cs"/>
              </a:rPr>
              <a:t>EVM)</a:t>
            </a:r>
            <a:br>
              <a:rPr lang="en-US" altLang="en-US" sz="4200" dirty="0">
                <a:latin typeface="Bahnschrift SemiBold"/>
                <a:ea typeface="+mn-ea"/>
                <a:cs typeface="+mn-cs"/>
              </a:rPr>
            </a:br>
            <a:endParaRPr lang="en-US" sz="4200" dirty="0">
              <a:latin typeface="Bahnschrift SemiBold"/>
              <a:ea typeface="+mn-ea"/>
              <a:cs typeface="+mn-cs"/>
            </a:endParaRPr>
          </a:p>
        </p:txBody>
      </p:sp>
      <p:sp>
        <p:nvSpPr>
          <p:cNvPr id="3" name="Content Placeholder 2">
            <a:extLst>
              <a:ext uri="{FF2B5EF4-FFF2-40B4-BE49-F238E27FC236}">
                <a16:creationId xmlns:a16="http://schemas.microsoft.com/office/drawing/2014/main" id="{144F6C26-C63A-CE3A-7CDF-33B7EF431CC8}"/>
              </a:ext>
            </a:extLst>
          </p:cNvPr>
          <p:cNvSpPr>
            <a:spLocks noGrp="1"/>
          </p:cNvSpPr>
          <p:nvPr>
            <p:ph idx="1"/>
          </p:nvPr>
        </p:nvSpPr>
        <p:spPr>
          <a:xfrm>
            <a:off x="838200" y="1848774"/>
            <a:ext cx="10515600" cy="4351338"/>
          </a:xfrm>
        </p:spPr>
        <p:txBody>
          <a:bodyPr>
            <a:normAutofit/>
          </a:bodyPr>
          <a:lstStyle/>
          <a:p>
            <a:pPr marL="0" indent="0">
              <a:buNone/>
            </a:pPr>
            <a:r>
              <a:rPr lang="en-US" b="1" dirty="0">
                <a:solidFill>
                  <a:srgbClr val="0ADBBC"/>
                </a:solidFill>
              </a:rPr>
              <a:t>Upravljanje </a:t>
            </a:r>
            <a:r>
              <a:rPr lang="en-US" b="1" dirty="0" err="1">
                <a:solidFill>
                  <a:srgbClr val="0ADBBC"/>
                </a:solidFill>
              </a:rPr>
              <a:t>zarađenom</a:t>
            </a:r>
            <a:r>
              <a:rPr lang="en-US" b="1" dirty="0">
                <a:solidFill>
                  <a:srgbClr val="0ADBBC"/>
                </a:solidFill>
              </a:rPr>
              <a:t> </a:t>
            </a:r>
            <a:r>
              <a:rPr lang="en-US" b="1" dirty="0" err="1">
                <a:solidFill>
                  <a:srgbClr val="0ADBBC"/>
                </a:solidFill>
              </a:rPr>
              <a:t>vrijednošću</a:t>
            </a:r>
            <a:r>
              <a:rPr lang="en-US" b="1" dirty="0">
                <a:solidFill>
                  <a:srgbClr val="0ADBBC"/>
                </a:solidFill>
              </a:rPr>
              <a:t> (EVM) </a:t>
            </a:r>
            <a:r>
              <a:rPr lang="en-US" kern="0" dirty="0">
                <a:effectLst/>
                <a:ea typeface="Times New Roman" panose="02020603050405020304" pitchFamily="18" charset="0"/>
                <a:cs typeface="Times New Roman" panose="02020603050405020304" pitchFamily="18" charset="0"/>
              </a:rPr>
              <a:t>je </a:t>
            </a:r>
            <a:r>
              <a:rPr lang="en-US" kern="0" dirty="0" err="1">
                <a:effectLst/>
                <a:ea typeface="Times New Roman" panose="02020603050405020304" pitchFamily="18" charset="0"/>
                <a:cs typeface="Times New Roman" panose="02020603050405020304" pitchFamily="18" charset="0"/>
              </a:rPr>
              <a:t>tehnika</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upravljanja</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projektima</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koja</a:t>
            </a:r>
            <a:r>
              <a:rPr lang="en-US" kern="0" dirty="0">
                <a:effectLst/>
                <a:ea typeface="Times New Roman" panose="02020603050405020304" pitchFamily="18" charset="0"/>
                <a:cs typeface="Times New Roman" panose="02020603050405020304" pitchFamily="18" charset="0"/>
              </a:rPr>
              <a:t> se </a:t>
            </a:r>
            <a:r>
              <a:rPr lang="en-US" kern="0" dirty="0" err="1">
                <a:effectLst/>
                <a:ea typeface="Times New Roman" panose="02020603050405020304" pitchFamily="18" charset="0"/>
                <a:cs typeface="Times New Roman" panose="02020603050405020304" pitchFamily="18" charset="0"/>
              </a:rPr>
              <a:t>koristi</a:t>
            </a:r>
            <a:r>
              <a:rPr lang="en-US" kern="0" dirty="0">
                <a:effectLst/>
                <a:ea typeface="Times New Roman" panose="02020603050405020304" pitchFamily="18" charset="0"/>
                <a:cs typeface="Times New Roman" panose="02020603050405020304" pitchFamily="18" charset="0"/>
              </a:rPr>
              <a:t> za </a:t>
            </a:r>
            <a:r>
              <a:rPr lang="en-US" kern="0" dirty="0" err="1">
                <a:effectLst/>
                <a:ea typeface="Times New Roman" panose="02020603050405020304" pitchFamily="18" charset="0"/>
                <a:cs typeface="Times New Roman" panose="02020603050405020304" pitchFamily="18" charset="0"/>
              </a:rPr>
              <a:t>procjenu</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uspješnosti</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projekta</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usporedbom</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planiranog</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napretka</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sa</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stvarnim</a:t>
            </a:r>
            <a:r>
              <a:rPr lang="en-US" kern="0" dirty="0">
                <a:effectLst/>
                <a:ea typeface="Times New Roman" panose="02020603050405020304" pitchFamily="18" charset="0"/>
                <a:cs typeface="Times New Roman" panose="02020603050405020304" pitchFamily="18" charset="0"/>
              </a:rPr>
              <a:t> </a:t>
            </a:r>
            <a:r>
              <a:rPr lang="en-US" kern="0" dirty="0" err="1">
                <a:effectLst/>
                <a:ea typeface="Times New Roman" panose="02020603050405020304" pitchFamily="18" charset="0"/>
                <a:cs typeface="Times New Roman" panose="02020603050405020304" pitchFamily="18" charset="0"/>
              </a:rPr>
              <a:t>napretkom</a:t>
            </a:r>
            <a:r>
              <a:rPr lang="en-US" kern="0" dirty="0">
                <a:effectLst/>
                <a:ea typeface="Times New Roman" panose="02020603050405020304" pitchFamily="18" charset="0"/>
                <a:cs typeface="Times New Roman" panose="02020603050405020304" pitchFamily="18" charset="0"/>
              </a:rPr>
              <a:t>.</a:t>
            </a:r>
          </a:p>
          <a:p>
            <a:pPr marL="0" indent="0">
              <a:buNone/>
            </a:pPr>
            <a:endParaRPr lang="en-US" kern="0" dirty="0">
              <a:effectLst/>
              <a:ea typeface="Times New Roman" panose="02020603050405020304" pitchFamily="18" charset="0"/>
              <a:cs typeface="Times New Roman" panose="02020603050405020304" pitchFamily="18" charset="0"/>
            </a:endParaRPr>
          </a:p>
          <a:p>
            <a:pPr marL="0" indent="0">
              <a:buNone/>
            </a:pPr>
            <a:r>
              <a:rPr lang="en-US" kern="0" dirty="0">
                <a:effectLst/>
                <a:ea typeface="Times New Roman" panose="02020603050405020304" pitchFamily="18" charset="0"/>
                <a:cs typeface="Times New Roman" panose="02020603050405020304" pitchFamily="18" charset="0"/>
              </a:rPr>
              <a:t>To </a:t>
            </a:r>
            <a:r>
              <a:rPr lang="en-US" kern="0" dirty="0" err="1">
                <a:effectLst/>
                <a:ea typeface="Times New Roman" panose="02020603050405020304" pitchFamily="18" charset="0"/>
                <a:cs typeface="Times New Roman" panose="02020603050405020304" pitchFamily="18" charset="0"/>
              </a:rPr>
              <a:t>omogućuje</a:t>
            </a:r>
            <a:r>
              <a:rPr lang="en-US" kern="0" dirty="0">
                <a:effectLst/>
                <a:ea typeface="Times New Roman" panose="02020603050405020304" pitchFamily="18" charset="0"/>
                <a:cs typeface="Times New Roman" panose="02020603050405020304" pitchFamily="18" charset="0"/>
              </a:rPr>
              <a:t> </a:t>
            </a:r>
            <a:r>
              <a:rPr lang="en-US" b="1" kern="0" dirty="0" err="1">
                <a:effectLst/>
                <a:ea typeface="Times New Roman" panose="02020603050405020304" pitchFamily="18" charset="0"/>
                <a:cs typeface="Times New Roman" panose="02020603050405020304" pitchFamily="18" charset="0"/>
              </a:rPr>
              <a:t>uvid</a:t>
            </a:r>
            <a:r>
              <a:rPr lang="en-US" b="1" kern="0" dirty="0">
                <a:effectLst/>
                <a:ea typeface="Times New Roman" panose="02020603050405020304" pitchFamily="18" charset="0"/>
                <a:cs typeface="Times New Roman" panose="02020603050405020304" pitchFamily="18" charset="0"/>
              </a:rPr>
              <a:t> u to </a:t>
            </a:r>
            <a:r>
              <a:rPr lang="en-US" b="1" kern="0" dirty="0" err="1">
                <a:effectLst/>
                <a:ea typeface="Times New Roman" panose="02020603050405020304" pitchFamily="18" charset="0"/>
                <a:cs typeface="Times New Roman" panose="02020603050405020304" pitchFamily="18" charset="0"/>
              </a:rPr>
              <a:t>koliko</a:t>
            </a:r>
            <a:r>
              <a:rPr lang="en-US" b="1" kern="0" dirty="0">
                <a:effectLst/>
                <a:ea typeface="Times New Roman" panose="02020603050405020304" pitchFamily="18" charset="0"/>
                <a:cs typeface="Times New Roman" panose="02020603050405020304" pitchFamily="18" charset="0"/>
              </a:rPr>
              <a:t> je </a:t>
            </a:r>
            <a:r>
              <a:rPr lang="en-US" b="1" kern="0" dirty="0" err="1">
                <a:effectLst/>
                <a:ea typeface="Times New Roman" panose="02020603050405020304" pitchFamily="18" charset="0"/>
                <a:cs typeface="Times New Roman" panose="02020603050405020304" pitchFamily="18" charset="0"/>
              </a:rPr>
              <a:t>projekt</a:t>
            </a:r>
            <a:r>
              <a:rPr lang="en-US" b="1" kern="0" dirty="0">
                <a:effectLst/>
                <a:ea typeface="Times New Roman" panose="02020603050405020304" pitchFamily="18" charset="0"/>
                <a:cs typeface="Times New Roman" panose="02020603050405020304" pitchFamily="18" charset="0"/>
              </a:rPr>
              <a:t> </a:t>
            </a:r>
            <a:r>
              <a:rPr lang="en-US" b="1" kern="0" dirty="0" err="1">
                <a:effectLst/>
                <a:ea typeface="Times New Roman" panose="02020603050405020304" pitchFamily="18" charset="0"/>
                <a:cs typeface="Times New Roman" panose="02020603050405020304" pitchFamily="18" charset="0"/>
              </a:rPr>
              <a:t>uspješan</a:t>
            </a:r>
            <a:r>
              <a:rPr lang="en-US" b="1" kern="0" dirty="0">
                <a:effectLst/>
                <a:ea typeface="Times New Roman" panose="02020603050405020304" pitchFamily="18" charset="0"/>
                <a:cs typeface="Times New Roman" panose="02020603050405020304" pitchFamily="18" charset="0"/>
              </a:rPr>
              <a:t> u </a:t>
            </a:r>
            <a:r>
              <a:rPr lang="en-US" b="1" kern="0" dirty="0" err="1">
                <a:effectLst/>
                <a:ea typeface="Times New Roman" panose="02020603050405020304" pitchFamily="18" charset="0"/>
                <a:cs typeface="Times New Roman" panose="02020603050405020304" pitchFamily="18" charset="0"/>
              </a:rPr>
              <a:t>pogledu</a:t>
            </a:r>
            <a:r>
              <a:rPr lang="en-US" b="1" kern="0" dirty="0">
                <a:effectLst/>
                <a:ea typeface="Times New Roman" panose="02020603050405020304" pitchFamily="18" charset="0"/>
                <a:cs typeface="Times New Roman" panose="02020603050405020304" pitchFamily="18" charset="0"/>
              </a:rPr>
              <a:t> </a:t>
            </a:r>
            <a:r>
              <a:rPr lang="en-US" b="1" kern="0" dirty="0" err="1">
                <a:effectLst/>
                <a:ea typeface="Times New Roman" panose="02020603050405020304" pitchFamily="18" charset="0"/>
                <a:cs typeface="Times New Roman" panose="02020603050405020304" pitchFamily="18" charset="0"/>
              </a:rPr>
              <a:t>opsega</a:t>
            </a:r>
            <a:r>
              <a:rPr lang="en-US" b="1" kern="0" dirty="0">
                <a:effectLst/>
                <a:ea typeface="Times New Roman" panose="02020603050405020304" pitchFamily="18" charset="0"/>
                <a:cs typeface="Times New Roman" panose="02020603050405020304" pitchFamily="18" charset="0"/>
              </a:rPr>
              <a:t>, </a:t>
            </a:r>
            <a:r>
              <a:rPr lang="en-US" b="1" kern="0" dirty="0" err="1">
                <a:effectLst/>
                <a:ea typeface="Times New Roman" panose="02020603050405020304" pitchFamily="18" charset="0"/>
                <a:cs typeface="Times New Roman" panose="02020603050405020304" pitchFamily="18" charset="0"/>
              </a:rPr>
              <a:t>rasporeda</a:t>
            </a:r>
            <a:r>
              <a:rPr lang="en-US" b="1" kern="0" dirty="0">
                <a:effectLst/>
                <a:ea typeface="Times New Roman" panose="02020603050405020304" pitchFamily="18" charset="0"/>
                <a:cs typeface="Times New Roman" panose="02020603050405020304" pitchFamily="18" charset="0"/>
              </a:rPr>
              <a:t> i </a:t>
            </a:r>
            <a:r>
              <a:rPr lang="en-US" b="1" kern="0" dirty="0" err="1">
                <a:effectLst/>
                <a:ea typeface="Times New Roman" panose="02020603050405020304" pitchFamily="18" charset="0"/>
                <a:cs typeface="Times New Roman" panose="02020603050405020304" pitchFamily="18" charset="0"/>
              </a:rPr>
              <a:t>troškova</a:t>
            </a:r>
            <a:r>
              <a:rPr lang="en-US" kern="0" dirty="0">
                <a:effectLst/>
                <a:ea typeface="Times New Roman" panose="02020603050405020304" pitchFamily="18" charset="0"/>
                <a:cs typeface="Times New Roman" panose="02020603050405020304" pitchFamily="18" charset="0"/>
              </a:rPr>
              <a:t>.</a:t>
            </a:r>
          </a:p>
          <a:p>
            <a:pPr marL="0" indent="0">
              <a:buNone/>
            </a:pPr>
            <a:endParaRPr lang="en-US" sz="2400" dirty="0"/>
          </a:p>
        </p:txBody>
      </p:sp>
    </p:spTree>
    <p:extLst>
      <p:ext uri="{BB962C8B-B14F-4D97-AF65-F5344CB8AC3E}">
        <p14:creationId xmlns:p14="http://schemas.microsoft.com/office/powerpoint/2010/main" val="546462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F06F-C477-EF8A-E849-A873D4D2E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55EF3-8F45-7256-9214-1FBD9E43147F}"/>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en-US" sz="3800" dirty="0">
                <a:latin typeface="Bahnschrift SemiBold"/>
                <a:ea typeface="+mn-ea"/>
                <a:cs typeface="+mn-cs"/>
              </a:rPr>
              <a:t>Ključni </a:t>
            </a:r>
            <a:r>
              <a:rPr lang="en-US" sz="3800" dirty="0" err="1">
                <a:latin typeface="Bahnschrift SemiBold"/>
                <a:ea typeface="+mn-ea"/>
                <a:cs typeface="+mn-cs"/>
              </a:rPr>
              <a:t>pojmovi</a:t>
            </a:r>
            <a:r>
              <a:rPr lang="en-US" sz="3800" dirty="0">
                <a:latin typeface="Bahnschrift SemiBold"/>
                <a:ea typeface="+mn-ea"/>
                <a:cs typeface="+mn-cs"/>
              </a:rPr>
              <a:t> u EVM-u I.</a:t>
            </a:r>
            <a:br>
              <a:rPr lang="en-US" sz="3800" dirty="0">
                <a:latin typeface="Bahnschrift SemiBold"/>
                <a:ea typeface="+mn-ea"/>
                <a:cs typeface="+mn-cs"/>
              </a:rPr>
            </a:br>
            <a:br>
              <a:rPr lang="en-US" alt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28E80C7D-1340-F79D-7805-F126AA8A49A7}"/>
              </a:ext>
            </a:extLst>
          </p:cNvPr>
          <p:cNvSpPr>
            <a:spLocks noGrp="1"/>
          </p:cNvSpPr>
          <p:nvPr>
            <p:ph idx="1"/>
          </p:nvPr>
        </p:nvSpPr>
        <p:spPr/>
        <p:txBody>
          <a:bodyPr>
            <a:noAutofit/>
          </a:bodyPr>
          <a:lstStyle/>
          <a:p>
            <a:pPr marL="0" marR="0" lvl="0" indent="0">
              <a:lnSpc>
                <a:spcPct val="115000"/>
              </a:lnSpc>
              <a:spcAft>
                <a:spcPts val="800"/>
              </a:spcAft>
              <a:buSzPts val="1000"/>
              <a:buNone/>
              <a:tabLst>
                <a:tab pos="457200" algn="l"/>
              </a:tabLst>
            </a:pPr>
            <a:r>
              <a:rPr lang="en-US" sz="2400" b="1" dirty="0">
                <a:solidFill>
                  <a:srgbClr val="0ADBBC"/>
                </a:solidFill>
              </a:rPr>
              <a:t>1.</a:t>
            </a:r>
            <a:r>
              <a:rPr lang="hr-HR" sz="2400" b="1" dirty="0">
                <a:solidFill>
                  <a:srgbClr val="0ADBBC"/>
                </a:solidFill>
              </a:rPr>
              <a:t> </a:t>
            </a:r>
            <a:r>
              <a:rPr lang="en-US" sz="2400" b="1" dirty="0" err="1">
                <a:solidFill>
                  <a:srgbClr val="0ADBBC"/>
                </a:solidFill>
              </a:rPr>
              <a:t>Planirana</a:t>
            </a:r>
            <a:r>
              <a:rPr lang="en-US" sz="2400" b="1" dirty="0">
                <a:solidFill>
                  <a:srgbClr val="0ADBBC"/>
                </a:solidFill>
              </a:rPr>
              <a:t> </a:t>
            </a:r>
            <a:r>
              <a:rPr lang="en-US" sz="2400" b="1" dirty="0" err="1">
                <a:solidFill>
                  <a:srgbClr val="0ADBBC"/>
                </a:solidFill>
              </a:rPr>
              <a:t>vrijednost</a:t>
            </a:r>
            <a:r>
              <a:rPr lang="en-US" sz="2400" b="1" dirty="0">
                <a:solidFill>
                  <a:srgbClr val="0ADBBC"/>
                </a:solidFill>
              </a:rPr>
              <a:t> </a:t>
            </a:r>
            <a:r>
              <a:rPr lang="hr-HR" sz="2400" b="1" dirty="0">
                <a:solidFill>
                  <a:srgbClr val="0ADBBC"/>
                </a:solidFill>
              </a:rPr>
              <a:t>(P</a:t>
            </a:r>
            <a:r>
              <a:rPr lang="en-US" sz="2400" b="1" dirty="0" err="1">
                <a:solidFill>
                  <a:srgbClr val="0ADBBC"/>
                </a:solidFill>
              </a:rPr>
              <a:t>lanned</a:t>
            </a:r>
            <a:r>
              <a:rPr lang="en-US" sz="2400" b="1" dirty="0">
                <a:solidFill>
                  <a:srgbClr val="0ADBBC"/>
                </a:solidFill>
              </a:rPr>
              <a:t> Value </a:t>
            </a:r>
            <a:r>
              <a:rPr lang="hr-HR" sz="2400" b="1" dirty="0">
                <a:solidFill>
                  <a:srgbClr val="0ADBBC"/>
                </a:solidFill>
              </a:rPr>
              <a:t>- </a:t>
            </a:r>
            <a:r>
              <a:rPr lang="en-US" sz="2400" b="1" dirty="0">
                <a:solidFill>
                  <a:srgbClr val="0ADBBC"/>
                </a:solidFill>
              </a:rPr>
              <a:t>PV): </a:t>
            </a:r>
            <a:r>
              <a:rPr lang="en-US" sz="2400" kern="0" dirty="0" err="1">
                <a:effectLst/>
                <a:ea typeface="Times New Roman" panose="02020603050405020304" pitchFamily="18" charset="0"/>
                <a:cs typeface="Times New Roman" panose="02020603050405020304" pitchFamily="18" charset="0"/>
              </a:rPr>
              <a:t>Proračunati</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trošak</a:t>
            </a:r>
            <a:r>
              <a:rPr lang="en-US" sz="2400" kern="0" dirty="0">
                <a:effectLst/>
                <a:ea typeface="Times New Roman" panose="02020603050405020304" pitchFamily="18" charset="0"/>
                <a:cs typeface="Times New Roman" panose="02020603050405020304" pitchFamily="18" charset="0"/>
              </a:rPr>
              <a:t> rada koji je </a:t>
            </a:r>
            <a:r>
              <a:rPr lang="en-US" sz="2400" kern="0" dirty="0" err="1">
                <a:effectLst/>
                <a:ea typeface="Times New Roman" panose="02020603050405020304" pitchFamily="18" charset="0"/>
                <a:cs typeface="Times New Roman" panose="02020603050405020304" pitchFamily="18" charset="0"/>
              </a:rPr>
              <a:t>planiran</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biti</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dovršen</a:t>
            </a:r>
            <a:r>
              <a:rPr lang="en-US" sz="2400" kern="0" dirty="0">
                <a:effectLst/>
                <a:ea typeface="Times New Roman" panose="02020603050405020304" pitchFamily="18" charset="0"/>
                <a:cs typeface="Times New Roman" panose="02020603050405020304" pitchFamily="18" charset="0"/>
              </a:rPr>
              <a:t> do </a:t>
            </a:r>
            <a:r>
              <a:rPr lang="en-US" sz="2400" kern="0" dirty="0" err="1">
                <a:effectLst/>
                <a:ea typeface="Times New Roman" panose="02020603050405020304" pitchFamily="18" charset="0"/>
                <a:cs typeface="Times New Roman" panose="02020603050405020304" pitchFamily="18" charset="0"/>
              </a:rPr>
              <a:t>određenog</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trenutka</a:t>
            </a:r>
            <a:r>
              <a:rPr lang="en-US" sz="2400" kern="0" dirty="0">
                <a:effectLst/>
                <a:ea typeface="Times New Roman" panose="02020603050405020304" pitchFamily="18" charset="0"/>
                <a:cs typeface="Times New Roman" panose="02020603050405020304" pitchFamily="18" charset="0"/>
              </a:rPr>
              <a:t> u </a:t>
            </a:r>
            <a:r>
              <a:rPr lang="en-US" sz="2400" kern="0" dirty="0" err="1">
                <a:effectLst/>
                <a:ea typeface="Times New Roman" panose="02020603050405020304" pitchFamily="18" charset="0"/>
                <a:cs typeface="Times New Roman" panose="02020603050405020304" pitchFamily="18" charset="0"/>
              </a:rPr>
              <a:t>vremen</a:t>
            </a:r>
            <a:r>
              <a:rPr lang="hr-HR" sz="2400" kern="0" dirty="0">
                <a:effectLst/>
                <a:ea typeface="Times New Roman" panose="02020603050405020304" pitchFamily="18" charset="0"/>
                <a:cs typeface="Times New Roman" panose="02020603050405020304" pitchFamily="18" charset="0"/>
              </a:rPr>
              <a:t>u</a:t>
            </a:r>
            <a:r>
              <a:rPr lang="en-US" sz="2400" kern="0" dirty="0">
                <a:effectLst/>
                <a:ea typeface="Times New Roman" panose="02020603050405020304" pitchFamily="18" charset="0"/>
                <a:cs typeface="Times New Roman" panose="02020603050405020304" pitchFamily="18" charset="0"/>
              </a:rPr>
              <a:t>. </a:t>
            </a:r>
            <a:endParaRPr lang="en-US" sz="2400" kern="100" dirty="0">
              <a:effectLst/>
              <a:ea typeface="Aptos" panose="020B0004020202020204" pitchFamily="34" charset="0"/>
              <a:cs typeface="Arial" panose="020B0604020202020204" pitchFamily="34" charset="0"/>
            </a:endParaRPr>
          </a:p>
          <a:p>
            <a:pPr marL="0" marR="0" lvl="0" indent="0">
              <a:lnSpc>
                <a:spcPct val="115000"/>
              </a:lnSpc>
              <a:spcAft>
                <a:spcPts val="800"/>
              </a:spcAft>
              <a:buSzPts val="1000"/>
              <a:buNone/>
              <a:tabLst>
                <a:tab pos="457200" algn="l"/>
              </a:tabLst>
            </a:pPr>
            <a:r>
              <a:rPr lang="en-US" sz="2400" b="1" dirty="0">
                <a:solidFill>
                  <a:srgbClr val="0ADBBC"/>
                </a:solidFill>
              </a:rPr>
              <a:t>2. </a:t>
            </a:r>
            <a:r>
              <a:rPr lang="en-US" sz="2400" b="1" dirty="0" err="1">
                <a:solidFill>
                  <a:srgbClr val="0ADBBC"/>
                </a:solidFill>
              </a:rPr>
              <a:t>Zarađena</a:t>
            </a:r>
            <a:r>
              <a:rPr lang="en-US" sz="2400" b="1" dirty="0">
                <a:solidFill>
                  <a:srgbClr val="0ADBBC"/>
                </a:solidFill>
              </a:rPr>
              <a:t> </a:t>
            </a:r>
            <a:r>
              <a:rPr lang="en-US" sz="2400" b="1" dirty="0" err="1">
                <a:solidFill>
                  <a:srgbClr val="0ADBBC"/>
                </a:solidFill>
              </a:rPr>
              <a:t>vrijednost</a:t>
            </a:r>
            <a:r>
              <a:rPr lang="hr-HR" sz="2400" b="1" dirty="0">
                <a:solidFill>
                  <a:srgbClr val="0ADBBC"/>
                </a:solidFill>
              </a:rPr>
              <a:t> (</a:t>
            </a:r>
            <a:r>
              <a:rPr lang="en-US" sz="2400" b="1" dirty="0">
                <a:solidFill>
                  <a:srgbClr val="0ADBBC"/>
                </a:solidFill>
              </a:rPr>
              <a:t>Earned Value</a:t>
            </a:r>
            <a:r>
              <a:rPr lang="hr-HR" sz="2400" b="1" dirty="0">
                <a:solidFill>
                  <a:srgbClr val="0ADBBC"/>
                </a:solidFill>
              </a:rPr>
              <a:t> - </a:t>
            </a:r>
            <a:r>
              <a:rPr lang="en-US" sz="2400" b="1" dirty="0">
                <a:solidFill>
                  <a:srgbClr val="0ADBBC"/>
                </a:solidFill>
              </a:rPr>
              <a:t>EV): </a:t>
            </a:r>
            <a:r>
              <a:rPr lang="en-US" sz="2400" kern="0" dirty="0" err="1">
                <a:effectLst/>
                <a:ea typeface="Times New Roman" panose="02020603050405020304" pitchFamily="18" charset="0"/>
                <a:cs typeface="Times New Roman" panose="02020603050405020304" pitchFamily="18" charset="0"/>
              </a:rPr>
              <a:t>Proračunati</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trošak</a:t>
            </a:r>
            <a:r>
              <a:rPr lang="en-US" sz="2400" kern="0" dirty="0">
                <a:effectLst/>
                <a:ea typeface="Times New Roman" panose="02020603050405020304" pitchFamily="18" charset="0"/>
                <a:cs typeface="Times New Roman" panose="02020603050405020304" pitchFamily="18" charset="0"/>
              </a:rPr>
              <a:t> rada koji je </a:t>
            </a:r>
            <a:r>
              <a:rPr lang="en-US" sz="2400" kern="0" dirty="0" err="1">
                <a:effectLst/>
                <a:ea typeface="Times New Roman" panose="02020603050405020304" pitchFamily="18" charset="0"/>
                <a:cs typeface="Times New Roman" panose="02020603050405020304" pitchFamily="18" charset="0"/>
              </a:rPr>
              <a:t>stvarno</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dovršen</a:t>
            </a:r>
            <a:r>
              <a:rPr lang="en-US" sz="2400" kern="0" dirty="0">
                <a:effectLst/>
                <a:ea typeface="Times New Roman" panose="02020603050405020304" pitchFamily="18" charset="0"/>
                <a:cs typeface="Times New Roman" panose="02020603050405020304" pitchFamily="18" charset="0"/>
              </a:rPr>
              <a:t> do tog </a:t>
            </a:r>
            <a:r>
              <a:rPr lang="en-US" sz="2400" kern="0" dirty="0" err="1">
                <a:effectLst/>
                <a:ea typeface="Times New Roman" panose="02020603050405020304" pitchFamily="18" charset="0"/>
                <a:cs typeface="Times New Roman" panose="02020603050405020304" pitchFamily="18" charset="0"/>
              </a:rPr>
              <a:t>trenutka</a:t>
            </a:r>
            <a:r>
              <a:rPr lang="en-US" sz="2400" kern="0" dirty="0">
                <a:effectLst/>
                <a:ea typeface="Times New Roman" panose="02020603050405020304" pitchFamily="18" charset="0"/>
                <a:cs typeface="Times New Roman" panose="02020603050405020304" pitchFamily="18" charset="0"/>
              </a:rPr>
              <a:t> u </a:t>
            </a:r>
            <a:r>
              <a:rPr lang="en-US" sz="2400" kern="0" dirty="0" err="1">
                <a:effectLst/>
                <a:ea typeface="Times New Roman" panose="02020603050405020304" pitchFamily="18" charset="0"/>
                <a:cs typeface="Times New Roman" panose="02020603050405020304" pitchFamily="18" charset="0"/>
              </a:rPr>
              <a:t>vremenu</a:t>
            </a:r>
            <a:r>
              <a:rPr lang="en-US" sz="2400" kern="0" dirty="0">
                <a:effectLst/>
                <a:ea typeface="Times New Roman" panose="02020603050405020304" pitchFamily="18" charset="0"/>
                <a:cs typeface="Times New Roman" panose="02020603050405020304" pitchFamily="18" charset="0"/>
              </a:rPr>
              <a:t>.  </a:t>
            </a:r>
            <a:endParaRPr lang="en-US" sz="2400" kern="100" dirty="0">
              <a:effectLst/>
              <a:ea typeface="Aptos" panose="020B0004020202020204" pitchFamily="34" charset="0"/>
              <a:cs typeface="Arial" panose="020B0604020202020204" pitchFamily="34" charset="0"/>
            </a:endParaRPr>
          </a:p>
          <a:p>
            <a:pPr marL="0" marR="0" lvl="0" indent="0">
              <a:lnSpc>
                <a:spcPct val="115000"/>
              </a:lnSpc>
              <a:spcAft>
                <a:spcPts val="800"/>
              </a:spcAft>
              <a:buSzPts val="1000"/>
              <a:buNone/>
              <a:tabLst>
                <a:tab pos="457200" algn="l"/>
              </a:tabLst>
            </a:pPr>
            <a:r>
              <a:rPr lang="en-US" sz="2400" b="1" dirty="0">
                <a:solidFill>
                  <a:srgbClr val="0ADBBC"/>
                </a:solidFill>
              </a:rPr>
              <a:t>3. </a:t>
            </a:r>
            <a:r>
              <a:rPr lang="en-US" sz="2400" b="1" dirty="0" err="1">
                <a:solidFill>
                  <a:srgbClr val="0ADBBC"/>
                </a:solidFill>
              </a:rPr>
              <a:t>Stvarni</a:t>
            </a:r>
            <a:r>
              <a:rPr lang="en-US" sz="2400" b="1" dirty="0">
                <a:solidFill>
                  <a:srgbClr val="0ADBBC"/>
                </a:solidFill>
              </a:rPr>
              <a:t> </a:t>
            </a:r>
            <a:r>
              <a:rPr lang="en-US" sz="2400" b="1" dirty="0" err="1">
                <a:solidFill>
                  <a:srgbClr val="0ADBBC"/>
                </a:solidFill>
              </a:rPr>
              <a:t>trošak</a:t>
            </a:r>
            <a:r>
              <a:rPr lang="hr-HR" sz="2400" b="1" dirty="0">
                <a:solidFill>
                  <a:srgbClr val="0ADBBC"/>
                </a:solidFill>
              </a:rPr>
              <a:t> (</a:t>
            </a:r>
            <a:r>
              <a:rPr lang="en-US" sz="2400" b="1" dirty="0">
                <a:solidFill>
                  <a:srgbClr val="0ADBBC"/>
                </a:solidFill>
              </a:rPr>
              <a:t>Actual Cost</a:t>
            </a:r>
            <a:r>
              <a:rPr lang="hr-HR" sz="2400" b="1" dirty="0">
                <a:solidFill>
                  <a:srgbClr val="0ADBBC"/>
                </a:solidFill>
              </a:rPr>
              <a:t> - </a:t>
            </a:r>
            <a:r>
              <a:rPr lang="en-US" sz="2400" b="1" dirty="0">
                <a:solidFill>
                  <a:srgbClr val="0ADBBC"/>
                </a:solidFill>
              </a:rPr>
              <a:t>AC): </a:t>
            </a:r>
            <a:r>
              <a:rPr lang="en-US" sz="2400" kern="0" dirty="0" err="1">
                <a:effectLst/>
                <a:ea typeface="Times New Roman" panose="02020603050405020304" pitchFamily="18" charset="0"/>
                <a:cs typeface="Times New Roman" panose="02020603050405020304" pitchFamily="18" charset="0"/>
              </a:rPr>
              <a:t>Stvarni</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trošak</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nastao</a:t>
            </a:r>
            <a:r>
              <a:rPr lang="en-US" sz="2400" kern="0" dirty="0">
                <a:effectLst/>
                <a:ea typeface="Times New Roman" panose="02020603050405020304" pitchFamily="18" charset="0"/>
                <a:cs typeface="Times New Roman" panose="02020603050405020304" pitchFamily="18" charset="0"/>
              </a:rPr>
              <a:t> za rad koji je </a:t>
            </a:r>
            <a:r>
              <a:rPr lang="en-US" sz="2400" kern="0" dirty="0" err="1">
                <a:effectLst/>
                <a:ea typeface="Times New Roman" panose="02020603050405020304" pitchFamily="18" charset="0"/>
                <a:cs typeface="Times New Roman" panose="02020603050405020304" pitchFamily="18" charset="0"/>
              </a:rPr>
              <a:t>dovršen</a:t>
            </a:r>
            <a:r>
              <a:rPr lang="en-US" sz="2400" kern="0" dirty="0">
                <a:effectLst/>
                <a:ea typeface="Times New Roman" panose="02020603050405020304" pitchFamily="18" charset="0"/>
                <a:cs typeface="Times New Roman" panose="02020603050405020304" pitchFamily="18" charset="0"/>
              </a:rPr>
              <a:t> do tog </a:t>
            </a:r>
            <a:r>
              <a:rPr lang="en-US" sz="2400" kern="0" dirty="0" err="1">
                <a:effectLst/>
                <a:ea typeface="Times New Roman" panose="02020603050405020304" pitchFamily="18" charset="0"/>
                <a:cs typeface="Times New Roman" panose="02020603050405020304" pitchFamily="18" charset="0"/>
              </a:rPr>
              <a:t>trenutka</a:t>
            </a:r>
            <a:r>
              <a:rPr lang="en-US" sz="2400" kern="0" dirty="0">
                <a:effectLst/>
                <a:ea typeface="Times New Roman" panose="02020603050405020304" pitchFamily="18" charset="0"/>
                <a:cs typeface="Times New Roman" panose="02020603050405020304" pitchFamily="18" charset="0"/>
              </a:rPr>
              <a:t> u </a:t>
            </a:r>
            <a:r>
              <a:rPr lang="en-US" sz="2400" kern="0" dirty="0" err="1">
                <a:effectLst/>
                <a:ea typeface="Times New Roman" panose="02020603050405020304" pitchFamily="18" charset="0"/>
                <a:cs typeface="Times New Roman" panose="02020603050405020304" pitchFamily="18" charset="0"/>
              </a:rPr>
              <a:t>vremenu</a:t>
            </a:r>
            <a:r>
              <a:rPr lang="en-US" sz="2400" kern="0" dirty="0">
                <a:effectLst/>
                <a:ea typeface="Times New Roman" panose="02020603050405020304" pitchFamily="18" charset="0"/>
                <a:cs typeface="Times New Roman" panose="02020603050405020304" pitchFamily="18" charset="0"/>
              </a:rPr>
              <a:t>.</a:t>
            </a:r>
            <a:endParaRPr lang="en-US" sz="2400" kern="100" dirty="0">
              <a:effectLst/>
              <a:ea typeface="Aptos" panose="020B0004020202020204" pitchFamily="34" charset="0"/>
              <a:cs typeface="Arial" panose="020B0604020202020204" pitchFamily="34" charset="0"/>
            </a:endParaRPr>
          </a:p>
          <a:p>
            <a:pPr marL="0" marR="0" lvl="0" indent="0">
              <a:lnSpc>
                <a:spcPct val="115000"/>
              </a:lnSpc>
              <a:spcAft>
                <a:spcPts val="800"/>
              </a:spcAft>
              <a:buSzPts val="1000"/>
              <a:buNone/>
              <a:tabLst>
                <a:tab pos="457200" algn="l"/>
              </a:tabLst>
            </a:pPr>
            <a:r>
              <a:rPr lang="en-US" sz="2400" b="1" dirty="0">
                <a:solidFill>
                  <a:srgbClr val="0ADBBC"/>
                </a:solidFill>
              </a:rPr>
              <a:t>4. </a:t>
            </a:r>
            <a:r>
              <a:rPr lang="en-US" sz="2400" b="1" dirty="0" err="1">
                <a:solidFill>
                  <a:srgbClr val="0ADBBC"/>
                </a:solidFill>
              </a:rPr>
              <a:t>Odstupanje</a:t>
            </a:r>
            <a:r>
              <a:rPr lang="en-US" sz="2400" b="1" dirty="0">
                <a:solidFill>
                  <a:srgbClr val="0ADBBC"/>
                </a:solidFill>
              </a:rPr>
              <a:t> </a:t>
            </a:r>
            <a:r>
              <a:rPr lang="en-US" sz="2400" b="1" dirty="0" err="1">
                <a:solidFill>
                  <a:srgbClr val="0ADBBC"/>
                </a:solidFill>
              </a:rPr>
              <a:t>troškova</a:t>
            </a:r>
            <a:r>
              <a:rPr lang="hr-HR" sz="2400" b="1" dirty="0">
                <a:solidFill>
                  <a:srgbClr val="0ADBBC"/>
                </a:solidFill>
              </a:rPr>
              <a:t> (</a:t>
            </a:r>
            <a:r>
              <a:rPr lang="en-US" sz="2400" b="1" dirty="0">
                <a:solidFill>
                  <a:srgbClr val="0ADBBC"/>
                </a:solidFill>
              </a:rPr>
              <a:t>Cost Variance</a:t>
            </a:r>
            <a:r>
              <a:rPr lang="hr-HR" sz="2400" b="1" dirty="0">
                <a:solidFill>
                  <a:srgbClr val="0ADBBC"/>
                </a:solidFill>
              </a:rPr>
              <a:t> - </a:t>
            </a:r>
            <a:r>
              <a:rPr lang="en-US" sz="2400" b="1" dirty="0">
                <a:solidFill>
                  <a:srgbClr val="0ADBBC"/>
                </a:solidFill>
              </a:rPr>
              <a:t>CV): </a:t>
            </a:r>
            <a:r>
              <a:rPr lang="en-US" sz="2400" kern="0" dirty="0" err="1">
                <a:effectLst/>
                <a:ea typeface="Times New Roman" panose="02020603050405020304" pitchFamily="18" charset="0"/>
                <a:cs typeface="Times New Roman" panose="02020603050405020304" pitchFamily="18" charset="0"/>
              </a:rPr>
              <a:t>Razlika</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između</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zarađene</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vrijednosti</a:t>
            </a:r>
            <a:r>
              <a:rPr lang="en-US" sz="2400" kern="0" dirty="0">
                <a:effectLst/>
                <a:ea typeface="Times New Roman" panose="02020603050405020304" pitchFamily="18" charset="0"/>
                <a:cs typeface="Times New Roman" panose="02020603050405020304" pitchFamily="18" charset="0"/>
              </a:rPr>
              <a:t> i </a:t>
            </a:r>
            <a:r>
              <a:rPr lang="en-US" sz="2400" kern="0" dirty="0" err="1">
                <a:effectLst/>
                <a:ea typeface="Times New Roman" panose="02020603050405020304" pitchFamily="18" charset="0"/>
                <a:cs typeface="Times New Roman" panose="02020603050405020304" pitchFamily="18" charset="0"/>
              </a:rPr>
              <a:t>stvarnog</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troška</a:t>
            </a:r>
            <a:r>
              <a:rPr lang="en-US" sz="2400" kern="0" dirty="0">
                <a:effectLst/>
                <a:ea typeface="Times New Roman" panose="02020603050405020304" pitchFamily="18" charset="0"/>
                <a:cs typeface="Times New Roman" panose="02020603050405020304" pitchFamily="18" charset="0"/>
              </a:rPr>
              <a:t> (CV = EV - AC).</a:t>
            </a:r>
            <a:endParaRPr lang="en-US" sz="2400" kern="100" dirty="0">
              <a:effectLs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258412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BD64-AA77-6744-F04E-A2A785C6D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929D5-A6B1-1D0D-90FF-F3515B3FE9CE}"/>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en-US" sz="3800" dirty="0">
                <a:latin typeface="Bahnschrift SemiBold"/>
                <a:ea typeface="+mn-ea"/>
                <a:cs typeface="+mn-cs"/>
              </a:rPr>
              <a:t>Ključni </a:t>
            </a:r>
            <a:r>
              <a:rPr lang="en-US" sz="3800" dirty="0" err="1">
                <a:latin typeface="Bahnschrift SemiBold"/>
                <a:ea typeface="+mn-ea"/>
                <a:cs typeface="+mn-cs"/>
              </a:rPr>
              <a:t>pojmovi</a:t>
            </a:r>
            <a:r>
              <a:rPr lang="en-US" sz="3800" dirty="0">
                <a:latin typeface="Bahnschrift SemiBold"/>
                <a:ea typeface="+mn-ea"/>
                <a:cs typeface="+mn-cs"/>
              </a:rPr>
              <a:t> u EVM-u:</a:t>
            </a:r>
            <a:br>
              <a:rPr lang="en-US" sz="3800" dirty="0">
                <a:latin typeface="Bahnschrift SemiBold"/>
                <a:ea typeface="+mn-ea"/>
                <a:cs typeface="+mn-cs"/>
              </a:rPr>
            </a:br>
            <a:br>
              <a:rPr lang="en-US" alt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84C36063-3AAF-11C1-1076-C2F6A61CC2EE}"/>
              </a:ext>
            </a:extLst>
          </p:cNvPr>
          <p:cNvSpPr>
            <a:spLocks noGrp="1"/>
          </p:cNvSpPr>
          <p:nvPr>
            <p:ph idx="1"/>
          </p:nvPr>
        </p:nvSpPr>
        <p:spPr>
          <a:xfrm>
            <a:off x="629856" y="1860349"/>
            <a:ext cx="10515600" cy="4351338"/>
          </a:xfrm>
        </p:spPr>
        <p:txBody>
          <a:bodyPr>
            <a:noAutofit/>
          </a:bodyPr>
          <a:lstStyle/>
          <a:p>
            <a:pPr marL="0" marR="0" lvl="0" indent="0">
              <a:lnSpc>
                <a:spcPct val="115000"/>
              </a:lnSpc>
              <a:spcAft>
                <a:spcPts val="800"/>
              </a:spcAft>
              <a:buSzPts val="1000"/>
              <a:buNone/>
              <a:tabLst>
                <a:tab pos="457200" algn="l"/>
              </a:tabLst>
            </a:pPr>
            <a:r>
              <a:rPr lang="en-US" sz="2400" b="1" dirty="0">
                <a:solidFill>
                  <a:srgbClr val="0ADBBC"/>
                </a:solidFill>
              </a:rPr>
              <a:t>5.</a:t>
            </a:r>
            <a:r>
              <a:rPr lang="hr-HR" sz="2400" b="1" dirty="0">
                <a:solidFill>
                  <a:srgbClr val="0ADBBC"/>
                </a:solidFill>
              </a:rPr>
              <a:t> Odstupanje rasporeda (</a:t>
            </a:r>
            <a:r>
              <a:rPr lang="en-US" sz="2400" b="1" dirty="0">
                <a:solidFill>
                  <a:srgbClr val="0ADBBC"/>
                </a:solidFill>
              </a:rPr>
              <a:t>Schedule Variance </a:t>
            </a:r>
            <a:r>
              <a:rPr lang="hr-HR" sz="2400" b="1" dirty="0">
                <a:solidFill>
                  <a:srgbClr val="0ADBBC"/>
                </a:solidFill>
              </a:rPr>
              <a:t>- </a:t>
            </a:r>
            <a:r>
              <a:rPr lang="en-US" sz="2400" b="1" dirty="0">
                <a:solidFill>
                  <a:srgbClr val="0ADBBC"/>
                </a:solidFill>
              </a:rPr>
              <a:t>SV): </a:t>
            </a:r>
            <a:r>
              <a:rPr lang="en-US" sz="2400" kern="0" dirty="0" err="1">
                <a:effectLst/>
                <a:ea typeface="Times New Roman" panose="02020603050405020304" pitchFamily="18" charset="0"/>
                <a:cs typeface="Times New Roman" panose="02020603050405020304" pitchFamily="18" charset="0"/>
              </a:rPr>
              <a:t>Razlika</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između</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zarađene</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vrijednosti</a:t>
            </a:r>
            <a:r>
              <a:rPr lang="en-US" sz="2400" kern="0" dirty="0">
                <a:effectLst/>
                <a:ea typeface="Times New Roman" panose="02020603050405020304" pitchFamily="18" charset="0"/>
                <a:cs typeface="Times New Roman" panose="02020603050405020304" pitchFamily="18" charset="0"/>
              </a:rPr>
              <a:t> i </a:t>
            </a:r>
            <a:r>
              <a:rPr lang="en-US" sz="2400" kern="0" dirty="0" err="1">
                <a:effectLst/>
                <a:ea typeface="Times New Roman" panose="02020603050405020304" pitchFamily="18" charset="0"/>
                <a:cs typeface="Times New Roman" panose="02020603050405020304" pitchFamily="18" charset="0"/>
              </a:rPr>
              <a:t>planirane</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vrijednosti</a:t>
            </a:r>
            <a:r>
              <a:rPr lang="en-US" sz="2400" kern="0" dirty="0">
                <a:effectLst/>
                <a:ea typeface="Times New Roman" panose="02020603050405020304" pitchFamily="18" charset="0"/>
                <a:cs typeface="Times New Roman" panose="02020603050405020304" pitchFamily="18" charset="0"/>
              </a:rPr>
              <a:t> (SV = EV - PV)</a:t>
            </a:r>
            <a:r>
              <a:rPr lang="hr-HR" sz="2400" kern="0" dirty="0">
                <a:effectLst/>
                <a:ea typeface="Times New Roman" panose="02020603050405020304" pitchFamily="18" charset="0"/>
                <a:cs typeface="Times New Roman" panose="02020603050405020304" pitchFamily="18" charset="0"/>
              </a:rPr>
              <a:t>.</a:t>
            </a:r>
            <a:endParaRPr lang="en-US" sz="2400" kern="100" dirty="0">
              <a:ea typeface="Times New Roman" panose="02020603050405020304" pitchFamily="18" charset="0"/>
              <a:cs typeface="Arial" panose="020B0604020202020204" pitchFamily="34" charset="0"/>
            </a:endParaRPr>
          </a:p>
          <a:p>
            <a:pPr marL="0" marR="0" lvl="0" indent="0">
              <a:lnSpc>
                <a:spcPct val="115000"/>
              </a:lnSpc>
              <a:spcAft>
                <a:spcPts val="800"/>
              </a:spcAft>
              <a:buSzPts val="1000"/>
              <a:buNone/>
              <a:tabLst>
                <a:tab pos="457200" algn="l"/>
              </a:tabLst>
            </a:pPr>
            <a:r>
              <a:rPr lang="en-US" sz="2400" b="1" dirty="0">
                <a:solidFill>
                  <a:srgbClr val="0ADBBC"/>
                </a:solidFill>
              </a:rPr>
              <a:t>6. </a:t>
            </a:r>
            <a:r>
              <a:rPr lang="en-US" sz="2400" b="1" dirty="0" err="1">
                <a:solidFill>
                  <a:srgbClr val="0ADBBC"/>
                </a:solidFill>
              </a:rPr>
              <a:t>Indeks</a:t>
            </a:r>
            <a:r>
              <a:rPr lang="en-US" sz="2400" b="1" dirty="0">
                <a:solidFill>
                  <a:srgbClr val="0ADBBC"/>
                </a:solidFill>
              </a:rPr>
              <a:t> </a:t>
            </a:r>
            <a:r>
              <a:rPr lang="en-US" sz="2400" b="1" dirty="0" err="1">
                <a:solidFill>
                  <a:srgbClr val="0ADBBC"/>
                </a:solidFill>
              </a:rPr>
              <a:t>uspješnosti</a:t>
            </a:r>
            <a:r>
              <a:rPr lang="en-US" sz="2400" b="1" dirty="0">
                <a:solidFill>
                  <a:srgbClr val="0ADBBC"/>
                </a:solidFill>
              </a:rPr>
              <a:t> </a:t>
            </a:r>
            <a:r>
              <a:rPr lang="en-US" sz="2400" b="1" dirty="0" err="1">
                <a:solidFill>
                  <a:srgbClr val="0ADBBC"/>
                </a:solidFill>
              </a:rPr>
              <a:t>troškova</a:t>
            </a:r>
            <a:r>
              <a:rPr lang="hr-HR" sz="2400" b="1" dirty="0">
                <a:solidFill>
                  <a:srgbClr val="0ADBBC"/>
                </a:solidFill>
              </a:rPr>
              <a:t> (</a:t>
            </a:r>
            <a:r>
              <a:rPr lang="en-US" sz="2400" b="1" dirty="0">
                <a:solidFill>
                  <a:srgbClr val="0ADBBC"/>
                </a:solidFill>
              </a:rPr>
              <a:t>Cost Performance Index </a:t>
            </a:r>
            <a:r>
              <a:rPr lang="hr-HR" sz="2400" b="1" dirty="0">
                <a:solidFill>
                  <a:srgbClr val="0ADBBC"/>
                </a:solidFill>
              </a:rPr>
              <a:t>- </a:t>
            </a:r>
            <a:r>
              <a:rPr lang="en-US" sz="2400" b="1" dirty="0">
                <a:solidFill>
                  <a:srgbClr val="0ADBBC"/>
                </a:solidFill>
              </a:rPr>
              <a:t>CPI): </a:t>
            </a:r>
            <a:r>
              <a:rPr lang="en-US" sz="2400" kern="0" dirty="0" err="1">
                <a:effectLst/>
                <a:ea typeface="Times New Roman" panose="02020603050405020304" pitchFamily="18" charset="0"/>
                <a:cs typeface="Times New Roman" panose="02020603050405020304" pitchFamily="18" charset="0"/>
              </a:rPr>
              <a:t>Omjer</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zarađene</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vrijednosti</a:t>
            </a:r>
            <a:r>
              <a:rPr lang="en-US" sz="2400" kern="0" dirty="0">
                <a:effectLst/>
                <a:ea typeface="Times New Roman" panose="02020603050405020304" pitchFamily="18" charset="0"/>
                <a:cs typeface="Times New Roman" panose="02020603050405020304" pitchFamily="18" charset="0"/>
              </a:rPr>
              <a:t> i </a:t>
            </a:r>
            <a:r>
              <a:rPr lang="en-US" sz="2400" kern="0" dirty="0" err="1">
                <a:effectLst/>
                <a:ea typeface="Times New Roman" panose="02020603050405020304" pitchFamily="18" charset="0"/>
                <a:cs typeface="Times New Roman" panose="02020603050405020304" pitchFamily="18" charset="0"/>
              </a:rPr>
              <a:t>stvarnog</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troška</a:t>
            </a:r>
            <a:r>
              <a:rPr lang="en-US" sz="2400" kern="0" dirty="0">
                <a:effectLst/>
                <a:ea typeface="Times New Roman" panose="02020603050405020304" pitchFamily="18" charset="0"/>
                <a:cs typeface="Times New Roman" panose="02020603050405020304" pitchFamily="18" charset="0"/>
              </a:rPr>
              <a:t> (CPI = EV / AC).</a:t>
            </a:r>
            <a:endParaRPr lang="en-US" sz="2400" kern="100" dirty="0">
              <a:effectLst/>
              <a:ea typeface="Aptos" panose="020B0004020202020204" pitchFamily="34" charset="0"/>
              <a:cs typeface="Arial" panose="020B0604020202020204" pitchFamily="34" charset="0"/>
            </a:endParaRPr>
          </a:p>
          <a:p>
            <a:pPr marL="0" marR="0" lvl="0" indent="0">
              <a:lnSpc>
                <a:spcPct val="115000"/>
              </a:lnSpc>
              <a:spcAft>
                <a:spcPts val="800"/>
              </a:spcAft>
              <a:buSzPts val="1000"/>
              <a:buNone/>
              <a:tabLst>
                <a:tab pos="457200" algn="l"/>
              </a:tabLst>
            </a:pPr>
            <a:r>
              <a:rPr lang="en-US" sz="2400" b="1" dirty="0">
                <a:solidFill>
                  <a:srgbClr val="0ADBBC"/>
                </a:solidFill>
              </a:rPr>
              <a:t>7. </a:t>
            </a:r>
            <a:r>
              <a:rPr lang="en-US" sz="2400" b="1" dirty="0" err="1">
                <a:solidFill>
                  <a:srgbClr val="0ADBBC"/>
                </a:solidFill>
              </a:rPr>
              <a:t>Indeks</a:t>
            </a:r>
            <a:r>
              <a:rPr lang="en-US" sz="2400" b="1" dirty="0">
                <a:solidFill>
                  <a:srgbClr val="0ADBBC"/>
                </a:solidFill>
              </a:rPr>
              <a:t> </a:t>
            </a:r>
            <a:r>
              <a:rPr lang="en-US" sz="2400" b="1" dirty="0" err="1">
                <a:solidFill>
                  <a:srgbClr val="0ADBBC"/>
                </a:solidFill>
              </a:rPr>
              <a:t>uspješnosti</a:t>
            </a:r>
            <a:r>
              <a:rPr lang="en-US" sz="2400" b="1" dirty="0">
                <a:solidFill>
                  <a:srgbClr val="0ADBBC"/>
                </a:solidFill>
              </a:rPr>
              <a:t> </a:t>
            </a:r>
            <a:r>
              <a:rPr lang="en-US" sz="2400" b="1" dirty="0" err="1">
                <a:solidFill>
                  <a:srgbClr val="0ADBBC"/>
                </a:solidFill>
              </a:rPr>
              <a:t>rasporeda</a:t>
            </a:r>
            <a:r>
              <a:rPr lang="hr-HR" sz="2400" b="1" dirty="0">
                <a:solidFill>
                  <a:srgbClr val="0ADBBC"/>
                </a:solidFill>
              </a:rPr>
              <a:t> (</a:t>
            </a:r>
            <a:r>
              <a:rPr lang="en-US" sz="2400" b="1" dirty="0">
                <a:solidFill>
                  <a:srgbClr val="0ADBBC"/>
                </a:solidFill>
              </a:rPr>
              <a:t>Schedule Performance </a:t>
            </a:r>
            <a:r>
              <a:rPr lang="en-US" sz="2400" b="1" dirty="0" err="1">
                <a:solidFill>
                  <a:srgbClr val="0ADBBC"/>
                </a:solidFill>
              </a:rPr>
              <a:t>Indeks</a:t>
            </a:r>
            <a:r>
              <a:rPr lang="hr-HR" sz="2400" b="1" dirty="0">
                <a:solidFill>
                  <a:srgbClr val="0ADBBC"/>
                </a:solidFill>
              </a:rPr>
              <a:t> - </a:t>
            </a:r>
            <a:r>
              <a:rPr lang="en-US" sz="2400" b="1" dirty="0">
                <a:solidFill>
                  <a:srgbClr val="0ADBBC"/>
                </a:solidFill>
              </a:rPr>
              <a:t>SPI): </a:t>
            </a:r>
            <a:r>
              <a:rPr lang="en-US" sz="2400" kern="0" dirty="0" err="1">
                <a:effectLst/>
                <a:ea typeface="Times New Roman" panose="02020603050405020304" pitchFamily="18" charset="0"/>
                <a:cs typeface="Times New Roman" panose="02020603050405020304" pitchFamily="18" charset="0"/>
              </a:rPr>
              <a:t>Omjer</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zarađene</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vrijednosti</a:t>
            </a:r>
            <a:r>
              <a:rPr lang="en-US" sz="2400" kern="0" dirty="0">
                <a:effectLst/>
                <a:ea typeface="Times New Roman" panose="02020603050405020304" pitchFamily="18" charset="0"/>
                <a:cs typeface="Times New Roman" panose="02020603050405020304" pitchFamily="18" charset="0"/>
              </a:rPr>
              <a:t> i </a:t>
            </a:r>
            <a:r>
              <a:rPr lang="en-US" sz="2400" kern="0" dirty="0" err="1">
                <a:effectLst/>
                <a:ea typeface="Times New Roman" panose="02020603050405020304" pitchFamily="18" charset="0"/>
                <a:cs typeface="Times New Roman" panose="02020603050405020304" pitchFamily="18" charset="0"/>
              </a:rPr>
              <a:t>planirane</a:t>
            </a:r>
            <a:r>
              <a:rPr lang="en-US" sz="2400" kern="0" dirty="0">
                <a:effectLst/>
                <a:ea typeface="Times New Roman" panose="02020603050405020304" pitchFamily="18" charset="0"/>
                <a:cs typeface="Times New Roman" panose="02020603050405020304" pitchFamily="18" charset="0"/>
              </a:rPr>
              <a:t> </a:t>
            </a:r>
            <a:r>
              <a:rPr lang="en-US" sz="2400" kern="0" dirty="0" err="1">
                <a:effectLst/>
                <a:ea typeface="Times New Roman" panose="02020603050405020304" pitchFamily="18" charset="0"/>
                <a:cs typeface="Times New Roman" panose="02020603050405020304" pitchFamily="18" charset="0"/>
              </a:rPr>
              <a:t>vrijednosti</a:t>
            </a:r>
            <a:r>
              <a:rPr lang="en-US" sz="2400" kern="0" dirty="0">
                <a:effectLst/>
                <a:ea typeface="Times New Roman" panose="02020603050405020304" pitchFamily="18" charset="0"/>
                <a:cs typeface="Times New Roman" panose="02020603050405020304" pitchFamily="18" charset="0"/>
              </a:rPr>
              <a:t> (SPI = EV / PV)</a:t>
            </a:r>
            <a:endParaRPr lang="en-US" sz="2400" kern="100" dirty="0">
              <a:effectLst/>
              <a:ea typeface="Aptos" panose="020B0004020202020204" pitchFamily="34" charset="0"/>
              <a:cs typeface="Arial" panose="020B0604020202020204" pitchFamily="34" charset="0"/>
            </a:endParaRPr>
          </a:p>
          <a:p>
            <a:pPr marL="0" indent="0">
              <a:buNone/>
            </a:pPr>
            <a:endParaRPr lang="en-US" sz="2400" dirty="0"/>
          </a:p>
        </p:txBody>
      </p:sp>
    </p:spTree>
    <p:extLst>
      <p:ext uri="{BB962C8B-B14F-4D97-AF65-F5344CB8AC3E}">
        <p14:creationId xmlns:p14="http://schemas.microsoft.com/office/powerpoint/2010/main" val="749939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3AE13-BDD1-C706-00BA-5A3197005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8134F-D1D3-1D86-E34E-302BBFA046BC}"/>
              </a:ext>
            </a:extLst>
          </p:cNvPr>
          <p:cNvSpPr>
            <a:spLocks noGrp="1"/>
          </p:cNvSpPr>
          <p:nvPr>
            <p:ph type="title"/>
          </p:nvPr>
        </p:nvSpPr>
        <p:spPr>
          <a:xfrm>
            <a:off x="1082362" y="384595"/>
            <a:ext cx="10515600" cy="1325563"/>
          </a:xfrm>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en-US" altLang="en-US" sz="3800" dirty="0">
                <a:latin typeface="Bahnschrift SemiBold"/>
                <a:ea typeface="+mn-ea"/>
                <a:cs typeface="+mn-cs"/>
              </a:rPr>
              <a:t>Studija </a:t>
            </a:r>
            <a:r>
              <a:rPr lang="en-US" altLang="en-US" sz="3800" dirty="0" err="1">
                <a:latin typeface="Bahnschrift SemiBold"/>
                <a:ea typeface="+mn-ea"/>
                <a:cs typeface="+mn-cs"/>
              </a:rPr>
              <a:t>slučaja</a:t>
            </a:r>
            <a:r>
              <a:rPr lang="en-US" altLang="en-US" sz="3800" dirty="0">
                <a:latin typeface="Bahnschrift SemiBold"/>
                <a:ea typeface="+mn-ea"/>
                <a:cs typeface="+mn-cs"/>
              </a:rPr>
              <a:t>:</a:t>
            </a:r>
            <a:br>
              <a:rPr lang="en-US" altLang="en-US" sz="3800" dirty="0">
                <a:latin typeface="Bahnschrift SemiBold"/>
                <a:ea typeface="+mn-ea"/>
                <a:cs typeface="+mn-cs"/>
              </a:rPr>
            </a:br>
            <a:br>
              <a:rPr kumimoji="0" lang="en-US" altLang="en-US" b="0" i="0" u="none" strike="noStrike" cap="none" normalizeH="0" baseline="0" dirty="0">
                <a:ln>
                  <a:noFill/>
                </a:ln>
                <a:solidFill>
                  <a:schemeClr val="tx1"/>
                </a:solidFill>
                <a:effectLst/>
                <a:latin typeface="Bahnschrift SemiLight" panose="020B0502040204020203" pitchFamily="34" charset="0"/>
              </a:rPr>
            </a:br>
            <a:endParaRPr lang="en-US" dirty="0">
              <a:latin typeface="Bahnschrift SemiLight" panose="020B0502040204020203" pitchFamily="34" charset="0"/>
            </a:endParaRPr>
          </a:p>
        </p:txBody>
      </p:sp>
      <p:sp>
        <p:nvSpPr>
          <p:cNvPr id="3" name="Content Placeholder 2">
            <a:extLst>
              <a:ext uri="{FF2B5EF4-FFF2-40B4-BE49-F238E27FC236}">
                <a16:creationId xmlns:a16="http://schemas.microsoft.com/office/drawing/2014/main" id="{DD50E891-5123-9535-816E-4813612A03C9}"/>
              </a:ext>
            </a:extLst>
          </p:cNvPr>
          <p:cNvSpPr>
            <a:spLocks noGrp="1"/>
          </p:cNvSpPr>
          <p:nvPr>
            <p:ph idx="1"/>
          </p:nvPr>
        </p:nvSpPr>
        <p:spPr>
          <a:xfrm>
            <a:off x="626534" y="1825625"/>
            <a:ext cx="10515600" cy="4351338"/>
          </a:xfrm>
        </p:spPr>
        <p:txBody>
          <a:bodyPr>
            <a:noAutofit/>
          </a:bodyPr>
          <a:lstStyle/>
          <a:p>
            <a:pPr marL="0" indent="0">
              <a:lnSpc>
                <a:spcPct val="115000"/>
              </a:lnSpc>
              <a:spcAft>
                <a:spcPts val="800"/>
              </a:spcAft>
              <a:buSzPts val="1000"/>
              <a:buNone/>
              <a:tabLst>
                <a:tab pos="457200" algn="l"/>
              </a:tabLst>
            </a:pPr>
            <a:r>
              <a:rPr lang="en-US" sz="2400" b="1" kern="0" dirty="0" err="1">
                <a:effectLst/>
                <a:ea typeface="Times New Roman" panose="02020603050405020304" pitchFamily="18" charset="0"/>
                <a:cs typeface="Times New Roman" panose="02020603050405020304" pitchFamily="18" charset="0"/>
              </a:rPr>
              <a:t>Hipotetski</a:t>
            </a:r>
            <a:r>
              <a:rPr lang="en-US" sz="2400" b="1" kern="0" dirty="0">
                <a:effectLst/>
                <a:ea typeface="Times New Roman" panose="02020603050405020304" pitchFamily="18" charset="0"/>
                <a:cs typeface="Times New Roman" panose="02020603050405020304" pitchFamily="18" charset="0"/>
              </a:rPr>
              <a:t> </a:t>
            </a:r>
            <a:r>
              <a:rPr lang="en-US" sz="2400" b="1" kern="0" dirty="0" err="1">
                <a:effectLst/>
                <a:ea typeface="Times New Roman" panose="02020603050405020304" pitchFamily="18" charset="0"/>
                <a:cs typeface="Times New Roman" panose="02020603050405020304" pitchFamily="18" charset="0"/>
              </a:rPr>
              <a:t>proračun</a:t>
            </a:r>
            <a:r>
              <a:rPr lang="en-US" sz="2400" b="1" kern="0" dirty="0">
                <a:effectLst/>
                <a:ea typeface="Times New Roman" panose="02020603050405020304" pitchFamily="18" charset="0"/>
                <a:cs typeface="Times New Roman" panose="02020603050405020304" pitchFamily="18" charset="0"/>
              </a:rPr>
              <a:t> IT </a:t>
            </a:r>
            <a:r>
              <a:rPr lang="en-US" sz="2400" b="1" kern="0" dirty="0" err="1">
                <a:effectLst/>
                <a:ea typeface="Times New Roman" panose="02020603050405020304" pitchFamily="18" charset="0"/>
                <a:cs typeface="Times New Roman" panose="02020603050405020304" pitchFamily="18" charset="0"/>
              </a:rPr>
              <a:t>projekta</a:t>
            </a:r>
            <a:r>
              <a:rPr lang="en-US" sz="2400" b="1" kern="0" dirty="0">
                <a:effectLst/>
                <a:ea typeface="Times New Roman" panose="02020603050405020304" pitchFamily="18" charset="0"/>
                <a:cs typeface="Times New Roman" panose="02020603050405020304" pitchFamily="18" charset="0"/>
              </a:rPr>
              <a:t>:</a:t>
            </a:r>
          </a:p>
          <a:p>
            <a:pPr marL="0" indent="0">
              <a:lnSpc>
                <a:spcPct val="115000"/>
              </a:lnSpc>
              <a:spcAft>
                <a:spcPts val="800"/>
              </a:spcAft>
              <a:buSzPts val="1000"/>
              <a:buNone/>
              <a:tabLst>
                <a:tab pos="457200" algn="l"/>
              </a:tabLst>
            </a:pPr>
            <a:r>
              <a:rPr lang="en-US" sz="2000" kern="0" dirty="0" err="1">
                <a:effectLst/>
                <a:ea typeface="Times New Roman" panose="02020603050405020304" pitchFamily="18" charset="0"/>
                <a:cs typeface="Times New Roman" panose="02020603050405020304" pitchFamily="18" charset="0"/>
              </a:rPr>
              <a:t>Pretpostavimo</a:t>
            </a:r>
            <a:r>
              <a:rPr lang="en-US" sz="2000" kern="0" dirty="0">
                <a:effectLst/>
                <a:ea typeface="Times New Roman" panose="02020603050405020304" pitchFamily="18" charset="0"/>
                <a:cs typeface="Times New Roman" panose="02020603050405020304" pitchFamily="18" charset="0"/>
              </a:rPr>
              <a:t> </a:t>
            </a:r>
            <a:r>
              <a:rPr lang="en-US" sz="2000" kern="0" dirty="0" err="1">
                <a:effectLst/>
                <a:ea typeface="Times New Roman" panose="02020603050405020304" pitchFamily="18" charset="0"/>
                <a:cs typeface="Times New Roman" panose="02020603050405020304" pitchFamily="18" charset="0"/>
              </a:rPr>
              <a:t>sljedeće</a:t>
            </a:r>
            <a:r>
              <a:rPr lang="en-US" sz="2000" kern="0" dirty="0">
                <a:effectLst/>
                <a:ea typeface="Times New Roman" panose="02020603050405020304" pitchFamily="18" charset="0"/>
                <a:cs typeface="Times New Roman" panose="02020603050405020304" pitchFamily="18" charset="0"/>
              </a:rPr>
              <a:t> </a:t>
            </a:r>
            <a:r>
              <a:rPr lang="en-US" sz="2000" kern="0" dirty="0" err="1">
                <a:effectLst/>
                <a:ea typeface="Times New Roman" panose="02020603050405020304" pitchFamily="18" charset="0"/>
                <a:cs typeface="Times New Roman" panose="02020603050405020304" pitchFamily="18" charset="0"/>
              </a:rPr>
              <a:t>podatke</a:t>
            </a:r>
            <a:r>
              <a:rPr lang="en-US" sz="2000" kern="0" dirty="0">
                <a:effectLst/>
                <a:ea typeface="Times New Roman" panose="02020603050405020304" pitchFamily="18" charset="0"/>
                <a:cs typeface="Times New Roman" panose="02020603050405020304" pitchFamily="18" charset="0"/>
              </a:rPr>
              <a:t> za </a:t>
            </a:r>
            <a:r>
              <a:rPr lang="en-US" sz="2000" kern="0" dirty="0" err="1">
                <a:effectLst/>
                <a:ea typeface="Times New Roman" panose="02020603050405020304" pitchFamily="18" charset="0"/>
                <a:cs typeface="Times New Roman" panose="02020603050405020304" pitchFamily="18" charset="0"/>
              </a:rPr>
              <a:t>projekt</a:t>
            </a:r>
            <a:r>
              <a:rPr lang="en-US" sz="2000" kern="0" dirty="0">
                <a:effectLst/>
                <a:ea typeface="Times New Roman" panose="02020603050405020304" pitchFamily="18" charset="0"/>
                <a:cs typeface="Times New Roman" panose="02020603050405020304" pitchFamily="18" charset="0"/>
              </a:rPr>
              <a:t>:</a:t>
            </a:r>
          </a:p>
          <a:p>
            <a:pPr marL="0" indent="0">
              <a:lnSpc>
                <a:spcPct val="115000"/>
              </a:lnSpc>
              <a:spcAft>
                <a:spcPts val="800"/>
              </a:spcAft>
              <a:buSzPts val="1000"/>
              <a:buNone/>
              <a:tabLst>
                <a:tab pos="457200" algn="l"/>
              </a:tabLst>
            </a:pPr>
            <a:endParaRPr lang="en-US" sz="1800" kern="0" dirty="0">
              <a:ea typeface="Times New Roman" panose="02020603050405020304" pitchFamily="18" charset="0"/>
              <a:cs typeface="Times New Roman" panose="02020603050405020304" pitchFamily="18" charset="0"/>
            </a:endParaRPr>
          </a:p>
          <a:p>
            <a:pPr marL="0" indent="0">
              <a:lnSpc>
                <a:spcPct val="115000"/>
              </a:lnSpc>
              <a:spcAft>
                <a:spcPts val="800"/>
              </a:spcAft>
              <a:buSzPts val="1000"/>
              <a:buNone/>
              <a:tabLst>
                <a:tab pos="457200" algn="l"/>
              </a:tabLst>
            </a:pPr>
            <a:endParaRPr lang="en-US" sz="1800" kern="0" dirty="0">
              <a:effectLst/>
              <a:ea typeface="Times New Roman" panose="02020603050405020304" pitchFamily="18" charset="0"/>
              <a:cs typeface="Times New Roman" panose="02020603050405020304" pitchFamily="18" charset="0"/>
            </a:endParaRPr>
          </a:p>
          <a:p>
            <a:pPr marL="0" indent="0">
              <a:lnSpc>
                <a:spcPct val="115000"/>
              </a:lnSpc>
              <a:spcAft>
                <a:spcPts val="800"/>
              </a:spcAft>
              <a:buSzPts val="1000"/>
              <a:buNone/>
              <a:tabLst>
                <a:tab pos="457200" algn="l"/>
              </a:tabLst>
            </a:pPr>
            <a:endParaRPr lang="en-US" sz="1800" kern="0" dirty="0">
              <a:ea typeface="Times New Roman" panose="02020603050405020304" pitchFamily="18" charset="0"/>
              <a:cs typeface="Times New Roman" panose="02020603050405020304" pitchFamily="18" charset="0"/>
            </a:endParaRPr>
          </a:p>
          <a:p>
            <a:pPr marL="0" indent="0">
              <a:lnSpc>
                <a:spcPct val="115000"/>
              </a:lnSpc>
              <a:spcAft>
                <a:spcPts val="800"/>
              </a:spcAft>
              <a:buSzPts val="1000"/>
              <a:buNone/>
              <a:tabLst>
                <a:tab pos="457200" algn="l"/>
              </a:tabLst>
            </a:pPr>
            <a:endParaRPr lang="en-US" sz="1800" kern="0" dirty="0">
              <a:effectLst/>
              <a:ea typeface="Times New Roman" panose="02020603050405020304" pitchFamily="18" charset="0"/>
              <a:cs typeface="Times New Roman" panose="02020603050405020304" pitchFamily="18" charset="0"/>
            </a:endParaRPr>
          </a:p>
          <a:p>
            <a:pPr marL="0" indent="0">
              <a:lnSpc>
                <a:spcPct val="115000"/>
              </a:lnSpc>
              <a:spcAft>
                <a:spcPts val="800"/>
              </a:spcAft>
              <a:buSzPts val="1000"/>
              <a:buNone/>
              <a:tabLst>
                <a:tab pos="457200" algn="l"/>
              </a:tabLst>
            </a:pPr>
            <a:r>
              <a:rPr lang="en-US" sz="2400" b="1" kern="0" dirty="0" err="1">
                <a:ea typeface="Aptos" panose="020B0004020202020204" pitchFamily="34" charset="0"/>
                <a:cs typeface="Times New Roman" panose="02020603050405020304" pitchFamily="18" charset="0"/>
              </a:rPr>
              <a:t>Zadatak</a:t>
            </a:r>
            <a:r>
              <a:rPr lang="en-US" sz="2400" b="1" kern="0" dirty="0">
                <a:ea typeface="Aptos" panose="020B0004020202020204" pitchFamily="34" charset="0"/>
                <a:cs typeface="Times New Roman" panose="02020603050405020304" pitchFamily="18" charset="0"/>
              </a:rPr>
              <a:t>: </a:t>
            </a:r>
            <a:r>
              <a:rPr lang="en-US" sz="2400" kern="0" dirty="0" err="1">
                <a:ea typeface="Aptos" panose="020B0004020202020204" pitchFamily="34" charset="0"/>
                <a:cs typeface="Times New Roman" panose="02020603050405020304" pitchFamily="18" charset="0"/>
              </a:rPr>
              <a:t>Analizirati</a:t>
            </a:r>
            <a:r>
              <a:rPr lang="en-US" sz="2400" kern="0" dirty="0">
                <a:ea typeface="Aptos" panose="020B0004020202020204" pitchFamily="34" charset="0"/>
                <a:cs typeface="Times New Roman" panose="02020603050405020304" pitchFamily="18" charset="0"/>
              </a:rPr>
              <a:t> </a:t>
            </a:r>
            <a:r>
              <a:rPr lang="en-US" sz="2400" kern="0" dirty="0" err="1">
                <a:ea typeface="Aptos" panose="020B0004020202020204" pitchFamily="34" charset="0"/>
                <a:cs typeface="Times New Roman" panose="02020603050405020304" pitchFamily="18" charset="0"/>
              </a:rPr>
              <a:t>uspješnost</a:t>
            </a:r>
            <a:r>
              <a:rPr lang="en-US" sz="2400" kern="0" dirty="0">
                <a:ea typeface="Aptos" panose="020B0004020202020204" pitchFamily="34" charset="0"/>
                <a:cs typeface="Times New Roman" panose="02020603050405020304" pitchFamily="18" charset="0"/>
              </a:rPr>
              <a:t> </a:t>
            </a:r>
            <a:r>
              <a:rPr lang="en-US" sz="2400" kern="0" dirty="0" err="1">
                <a:ea typeface="Aptos" panose="020B0004020202020204" pitchFamily="34" charset="0"/>
                <a:cs typeface="Times New Roman" panose="02020603050405020304" pitchFamily="18" charset="0"/>
              </a:rPr>
              <a:t>projekta</a:t>
            </a:r>
            <a:r>
              <a:rPr lang="en-US" sz="2400" kern="0" dirty="0">
                <a:ea typeface="Aptos" panose="020B0004020202020204" pitchFamily="34" charset="0"/>
                <a:cs typeface="Times New Roman" panose="02020603050405020304" pitchFamily="18" charset="0"/>
              </a:rPr>
              <a:t> </a:t>
            </a:r>
            <a:r>
              <a:rPr lang="en-US" sz="2400" kern="0" dirty="0" err="1">
                <a:ea typeface="Aptos" panose="020B0004020202020204" pitchFamily="34" charset="0"/>
                <a:cs typeface="Times New Roman" panose="02020603050405020304" pitchFamily="18" charset="0"/>
              </a:rPr>
              <a:t>korištenjem</a:t>
            </a:r>
            <a:r>
              <a:rPr lang="en-US" sz="2400" kern="0" dirty="0">
                <a:ea typeface="Aptos" panose="020B0004020202020204" pitchFamily="34" charset="0"/>
                <a:cs typeface="Times New Roman" panose="02020603050405020304" pitchFamily="18" charset="0"/>
              </a:rPr>
              <a:t> EVM </a:t>
            </a:r>
            <a:r>
              <a:rPr lang="en-US" sz="2400" kern="0" dirty="0" err="1">
                <a:ea typeface="Aptos" panose="020B0004020202020204" pitchFamily="34" charset="0"/>
                <a:cs typeface="Times New Roman" panose="02020603050405020304" pitchFamily="18" charset="0"/>
              </a:rPr>
              <a:t>tehnika</a:t>
            </a:r>
            <a:r>
              <a:rPr lang="hr-HR" sz="2400" kern="100" dirty="0">
                <a:ea typeface="Aptos" panose="020B0004020202020204" pitchFamily="34" charset="0"/>
                <a:cs typeface="Arial" panose="020B0604020202020204" pitchFamily="34" charset="0"/>
              </a:rPr>
              <a:t>.</a:t>
            </a:r>
            <a:endParaRPr lang="en-US" sz="2400" kern="0" dirty="0">
              <a:ea typeface="Aptos" panose="020B000402020202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CC99D3A-616F-F9FF-E81A-AC4FDAAE9468}"/>
              </a:ext>
            </a:extLst>
          </p:cNvPr>
          <p:cNvGraphicFramePr>
            <a:graphicFrameLocks noGrp="1"/>
          </p:cNvGraphicFramePr>
          <p:nvPr>
            <p:extLst>
              <p:ext uri="{D42A27DB-BD31-4B8C-83A1-F6EECF244321}">
                <p14:modId xmlns:p14="http://schemas.microsoft.com/office/powerpoint/2010/main" val="337399235"/>
              </p:ext>
            </p:extLst>
          </p:nvPr>
        </p:nvGraphicFramePr>
        <p:xfrm>
          <a:off x="714022" y="3348036"/>
          <a:ext cx="10428112" cy="1841948"/>
        </p:xfrm>
        <a:graphic>
          <a:graphicData uri="http://schemas.openxmlformats.org/drawingml/2006/table">
            <a:tbl>
              <a:tblPr firstRow="1" firstCol="1" bandRow="1">
                <a:tableStyleId>{5C22544A-7EE6-4342-B048-85BDC9FD1C3A}</a:tableStyleId>
              </a:tblPr>
              <a:tblGrid>
                <a:gridCol w="2607028">
                  <a:extLst>
                    <a:ext uri="{9D8B030D-6E8A-4147-A177-3AD203B41FA5}">
                      <a16:colId xmlns:a16="http://schemas.microsoft.com/office/drawing/2014/main" val="917801789"/>
                    </a:ext>
                  </a:extLst>
                </a:gridCol>
                <a:gridCol w="2607028">
                  <a:extLst>
                    <a:ext uri="{9D8B030D-6E8A-4147-A177-3AD203B41FA5}">
                      <a16:colId xmlns:a16="http://schemas.microsoft.com/office/drawing/2014/main" val="2683612359"/>
                    </a:ext>
                  </a:extLst>
                </a:gridCol>
                <a:gridCol w="2607028">
                  <a:extLst>
                    <a:ext uri="{9D8B030D-6E8A-4147-A177-3AD203B41FA5}">
                      <a16:colId xmlns:a16="http://schemas.microsoft.com/office/drawing/2014/main" val="3989891915"/>
                    </a:ext>
                  </a:extLst>
                </a:gridCol>
                <a:gridCol w="2607028">
                  <a:extLst>
                    <a:ext uri="{9D8B030D-6E8A-4147-A177-3AD203B41FA5}">
                      <a16:colId xmlns:a16="http://schemas.microsoft.com/office/drawing/2014/main" val="1023644044"/>
                    </a:ext>
                  </a:extLst>
                </a:gridCol>
              </a:tblGrid>
              <a:tr h="460487">
                <a:tc>
                  <a:txBody>
                    <a:bodyPr/>
                    <a:lstStyle/>
                    <a:p>
                      <a:pPr marL="0" marR="0" algn="ctr">
                        <a:lnSpc>
                          <a:spcPct val="115000"/>
                        </a:lnSpc>
                        <a:spcAft>
                          <a:spcPts val="800"/>
                        </a:spcAft>
                        <a:buNone/>
                      </a:pPr>
                      <a:r>
                        <a:rPr lang="en-US" sz="1800" kern="0" dirty="0">
                          <a:solidFill>
                            <a:schemeClr val="tx1"/>
                          </a:solidFill>
                          <a:effectLst/>
                          <a:latin typeface="Bahnschrift SemiLight" panose="020B0502040204020203" pitchFamily="34" charset="0"/>
                        </a:rPr>
                        <a:t>M</a:t>
                      </a:r>
                      <a:r>
                        <a:rPr lang="hr-HR" sz="1800" kern="0" dirty="0" err="1">
                          <a:solidFill>
                            <a:schemeClr val="tx1"/>
                          </a:solidFill>
                          <a:effectLst/>
                          <a:latin typeface="Bahnschrift SemiLight" panose="020B0502040204020203" pitchFamily="34" charset="0"/>
                        </a:rPr>
                        <a:t>jesec</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10DDBE"/>
                    </a:solidFill>
                  </a:tcPr>
                </a:tc>
                <a:tc>
                  <a:txBody>
                    <a:bodyPr/>
                    <a:lstStyle/>
                    <a:p>
                      <a:pPr marL="0" marR="0" algn="ctr">
                        <a:lnSpc>
                          <a:spcPct val="115000"/>
                        </a:lnSpc>
                        <a:spcAft>
                          <a:spcPts val="800"/>
                        </a:spcAft>
                        <a:buNone/>
                      </a:pPr>
                      <a:r>
                        <a:rPr lang="en-US" sz="1800" kern="0" dirty="0">
                          <a:solidFill>
                            <a:schemeClr val="tx1"/>
                          </a:solidFill>
                          <a:effectLst/>
                          <a:latin typeface="Bahnschrift SemiLight" panose="020B0502040204020203" pitchFamily="34" charset="0"/>
                        </a:rPr>
                        <a:t>Planned Value (PV)</a:t>
                      </a:r>
                      <a:endParaRPr lang="en-US" sz="1800" kern="100" dirty="0">
                        <a:solidFill>
                          <a:schemeClr val="tx1"/>
                        </a:solidFill>
                        <a:effectLst/>
                        <a:latin typeface="Bahnschrift SemiLight" panose="020B0502040204020203" pitchFamily="34" charset="0"/>
                        <a:ea typeface="+mn-ea"/>
                        <a:cs typeface="Arial" panose="020B0604020202020204" pitchFamily="34" charset="0"/>
                      </a:endParaRPr>
                    </a:p>
                  </a:txBody>
                  <a:tcPr marL="9525" marR="9525" marT="9525" marB="9525" anchor="ctr">
                    <a:solidFill>
                      <a:srgbClr val="10DDBE"/>
                    </a:solidFill>
                  </a:tcPr>
                </a:tc>
                <a:tc>
                  <a:txBody>
                    <a:bodyPr/>
                    <a:lstStyle/>
                    <a:p>
                      <a:pPr marL="0" marR="0" algn="ctr">
                        <a:lnSpc>
                          <a:spcPct val="115000"/>
                        </a:lnSpc>
                        <a:spcAft>
                          <a:spcPts val="800"/>
                        </a:spcAft>
                        <a:buNone/>
                      </a:pPr>
                      <a:r>
                        <a:rPr lang="en-US" sz="1800" kern="0" dirty="0">
                          <a:solidFill>
                            <a:schemeClr val="tx1"/>
                          </a:solidFill>
                          <a:effectLst/>
                          <a:latin typeface="Bahnschrift SemiLight" panose="020B0502040204020203" pitchFamily="34" charset="0"/>
                        </a:rPr>
                        <a:t>Earned Value (EV)</a:t>
                      </a:r>
                      <a:endParaRPr lang="en-US" sz="1800" kern="100" dirty="0">
                        <a:solidFill>
                          <a:schemeClr val="tx1"/>
                        </a:solidFill>
                        <a:effectLst/>
                        <a:latin typeface="Bahnschrift SemiLight" panose="020B0502040204020203" pitchFamily="34" charset="0"/>
                        <a:ea typeface="+mn-ea"/>
                        <a:cs typeface="Arial" panose="020B0604020202020204" pitchFamily="34" charset="0"/>
                      </a:endParaRPr>
                    </a:p>
                  </a:txBody>
                  <a:tcPr marL="9525" marR="9525" marT="9525" marB="9525" anchor="ctr">
                    <a:solidFill>
                      <a:srgbClr val="10DDBE"/>
                    </a:solidFill>
                  </a:tcPr>
                </a:tc>
                <a:tc>
                  <a:txBody>
                    <a:bodyPr/>
                    <a:lstStyle/>
                    <a:p>
                      <a:pPr marL="0" marR="0" algn="ctr">
                        <a:lnSpc>
                          <a:spcPct val="115000"/>
                        </a:lnSpc>
                        <a:spcAft>
                          <a:spcPts val="800"/>
                        </a:spcAft>
                        <a:buNone/>
                      </a:pPr>
                      <a:r>
                        <a:rPr lang="en-US" sz="1800" kern="0" dirty="0">
                          <a:solidFill>
                            <a:schemeClr val="tx1"/>
                          </a:solidFill>
                          <a:effectLst/>
                          <a:latin typeface="Bahnschrift SemiLight" panose="020B0502040204020203" pitchFamily="34" charset="0"/>
                        </a:rPr>
                        <a:t>Actual Cost (AC)</a:t>
                      </a:r>
                      <a:endParaRPr lang="en-US" sz="1800" kern="100" dirty="0">
                        <a:solidFill>
                          <a:schemeClr val="tx1"/>
                        </a:solidFill>
                        <a:effectLst/>
                        <a:latin typeface="Bahnschrift SemiLight" panose="020B0502040204020203" pitchFamily="34" charset="0"/>
                        <a:ea typeface="+mn-ea"/>
                        <a:cs typeface="Arial" panose="020B0604020202020204" pitchFamily="34" charset="0"/>
                      </a:endParaRPr>
                    </a:p>
                  </a:txBody>
                  <a:tcPr marL="9525" marR="9525" marT="9525" marB="9525" anchor="ctr">
                    <a:solidFill>
                      <a:srgbClr val="10DDBE"/>
                    </a:solidFill>
                  </a:tcPr>
                </a:tc>
                <a:extLst>
                  <a:ext uri="{0D108BD9-81ED-4DB2-BD59-A6C34878D82A}">
                    <a16:rowId xmlns:a16="http://schemas.microsoft.com/office/drawing/2014/main" val="1970210935"/>
                  </a:ext>
                </a:extLst>
              </a:tr>
              <a:tr h="460487">
                <a:tc>
                  <a:txBody>
                    <a:bodyPr/>
                    <a:lstStyle/>
                    <a:p>
                      <a:pPr marL="0" marR="0">
                        <a:lnSpc>
                          <a:spcPct val="115000"/>
                        </a:lnSpc>
                        <a:spcAft>
                          <a:spcPts val="800"/>
                        </a:spcAft>
                        <a:buNone/>
                      </a:pPr>
                      <a:r>
                        <a:rPr lang="hr-HR" sz="1800" kern="0" dirty="0">
                          <a:solidFill>
                            <a:schemeClr val="tx1"/>
                          </a:solidFill>
                          <a:effectLst/>
                          <a:latin typeface="Bahnschrift SemiLight" panose="020B0502040204020203" pitchFamily="34" charset="0"/>
                          <a:ea typeface="+mn-ea"/>
                          <a:cs typeface="Arial" panose="020B0604020202020204" pitchFamily="34" charset="0"/>
                        </a:rPr>
                        <a:t>Siječanj</a:t>
                      </a:r>
                      <a:endParaRPr lang="en-US" sz="1800" kern="100" dirty="0">
                        <a:solidFill>
                          <a:schemeClr val="tx1"/>
                        </a:solidFill>
                        <a:effectLst/>
                        <a:latin typeface="Bahnschrift SemiLight" panose="020B0502040204020203" pitchFamily="34" charset="0"/>
                        <a:ea typeface="+mn-ea"/>
                        <a:cs typeface="Arial" panose="020B0604020202020204" pitchFamily="34" charset="0"/>
                      </a:endParaRPr>
                    </a:p>
                  </a:txBody>
                  <a:tcPr marL="9525" marR="9525" marT="9525" marB="9525" anchor="ctr">
                    <a:solidFill>
                      <a:srgbClr val="10DDBE"/>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100,000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90,000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95,000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extLst>
                  <a:ext uri="{0D108BD9-81ED-4DB2-BD59-A6C34878D82A}">
                    <a16:rowId xmlns:a16="http://schemas.microsoft.com/office/drawing/2014/main" val="1817039407"/>
                  </a:ext>
                </a:extLst>
              </a:tr>
              <a:tr h="460487">
                <a:tc>
                  <a:txBody>
                    <a:bodyPr/>
                    <a:lstStyle/>
                    <a:p>
                      <a:pPr marL="0" marR="0">
                        <a:lnSpc>
                          <a:spcPct val="115000"/>
                        </a:lnSpc>
                        <a:spcAft>
                          <a:spcPts val="800"/>
                        </a:spcAft>
                        <a:buNone/>
                      </a:pPr>
                      <a:r>
                        <a:rPr lang="hr-HR" sz="1800" kern="0" dirty="0">
                          <a:solidFill>
                            <a:schemeClr val="tx1"/>
                          </a:solidFill>
                          <a:effectLst/>
                          <a:latin typeface="Bahnschrift SemiLight" panose="020B0502040204020203" pitchFamily="34" charset="0"/>
                          <a:ea typeface="+mn-ea"/>
                          <a:cs typeface="Arial" panose="020B0604020202020204" pitchFamily="34" charset="0"/>
                        </a:rPr>
                        <a:t>Veljača</a:t>
                      </a:r>
                      <a:endParaRPr lang="en-US" sz="1800" kern="100" dirty="0">
                        <a:solidFill>
                          <a:schemeClr val="tx1"/>
                        </a:solidFill>
                        <a:effectLst/>
                        <a:latin typeface="Bahnschrift SemiLight" panose="020B0502040204020203" pitchFamily="34" charset="0"/>
                        <a:ea typeface="+mn-ea"/>
                        <a:cs typeface="Arial" panose="020B0604020202020204" pitchFamily="34" charset="0"/>
                      </a:endParaRPr>
                    </a:p>
                  </a:txBody>
                  <a:tcPr marL="9525" marR="9525" marT="9525" marB="9525" anchor="ctr">
                    <a:solidFill>
                      <a:srgbClr val="10DDBE"/>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200,000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210,000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220,000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extLst>
                  <a:ext uri="{0D108BD9-81ED-4DB2-BD59-A6C34878D82A}">
                    <a16:rowId xmlns:a16="http://schemas.microsoft.com/office/drawing/2014/main" val="2301892531"/>
                  </a:ext>
                </a:extLst>
              </a:tr>
              <a:tr h="460487">
                <a:tc>
                  <a:txBody>
                    <a:bodyPr/>
                    <a:lstStyle/>
                    <a:p>
                      <a:pPr marL="0" marR="0">
                        <a:lnSpc>
                          <a:spcPct val="115000"/>
                        </a:lnSpc>
                        <a:spcAft>
                          <a:spcPts val="800"/>
                        </a:spcAft>
                        <a:buNone/>
                      </a:pPr>
                      <a:r>
                        <a:rPr lang="hr-HR" sz="1800" kern="0" dirty="0">
                          <a:solidFill>
                            <a:schemeClr val="tx1"/>
                          </a:solidFill>
                          <a:effectLst/>
                          <a:latin typeface="Bahnschrift SemiLight" panose="020B0502040204020203" pitchFamily="34" charset="0"/>
                          <a:ea typeface="+mn-ea"/>
                          <a:cs typeface="Arial" panose="020B0604020202020204" pitchFamily="34" charset="0"/>
                        </a:rPr>
                        <a:t>Ožujak (trenutno)</a:t>
                      </a:r>
                      <a:endParaRPr lang="en-US" sz="1800" kern="100" dirty="0">
                        <a:solidFill>
                          <a:schemeClr val="tx1"/>
                        </a:solidFill>
                        <a:effectLst/>
                        <a:latin typeface="Bahnschrift SemiLight" panose="020B0502040204020203" pitchFamily="34" charset="0"/>
                        <a:ea typeface="+mn-ea"/>
                        <a:cs typeface="Arial" panose="020B0604020202020204" pitchFamily="34" charset="0"/>
                      </a:endParaRPr>
                    </a:p>
                  </a:txBody>
                  <a:tcPr marL="9525" marR="9525" marT="9525" marB="9525" anchor="ctr">
                    <a:solidFill>
                      <a:srgbClr val="10DDBE"/>
                    </a:solidFill>
                  </a:tcPr>
                </a:tc>
                <a:tc>
                  <a:txBody>
                    <a:bodyPr/>
                    <a:lstStyle/>
                    <a:p>
                      <a:pPr marL="0" marR="0">
                        <a:lnSpc>
                          <a:spcPct val="115000"/>
                        </a:lnSpc>
                        <a:spcAft>
                          <a:spcPts val="800"/>
                        </a:spcAft>
                        <a:buNone/>
                      </a:pPr>
                      <a:r>
                        <a:rPr lang="en-US" sz="1800" kern="0">
                          <a:solidFill>
                            <a:schemeClr val="tx1"/>
                          </a:solidFill>
                          <a:effectLst/>
                          <a:latin typeface="Bahnschrift SemiLight" panose="020B0502040204020203" pitchFamily="34" charset="0"/>
                        </a:rPr>
                        <a:t>300,000</a:t>
                      </a:r>
                      <a:endParaRPr lang="en-US" sz="1800" kern="10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270,000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tc>
                  <a:txBody>
                    <a:bodyPr/>
                    <a:lstStyle/>
                    <a:p>
                      <a:pPr marL="0" marR="0">
                        <a:lnSpc>
                          <a:spcPct val="115000"/>
                        </a:lnSpc>
                        <a:spcAft>
                          <a:spcPts val="800"/>
                        </a:spcAft>
                        <a:buNone/>
                      </a:pPr>
                      <a:r>
                        <a:rPr lang="en-US" sz="1800" kern="0" dirty="0">
                          <a:solidFill>
                            <a:schemeClr val="tx1"/>
                          </a:solidFill>
                          <a:effectLst/>
                          <a:latin typeface="Bahnschrift SemiLight" panose="020B0502040204020203" pitchFamily="34" charset="0"/>
                        </a:rPr>
                        <a:t>280,000</a:t>
                      </a:r>
                      <a:endParaRPr lang="en-US" sz="18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9525" marR="9525" marT="9525" marB="9525" anchor="ctr">
                    <a:solidFill>
                      <a:srgbClr val="9CEFE5"/>
                    </a:solidFill>
                  </a:tcPr>
                </a:tc>
                <a:extLst>
                  <a:ext uri="{0D108BD9-81ED-4DB2-BD59-A6C34878D82A}">
                    <a16:rowId xmlns:a16="http://schemas.microsoft.com/office/drawing/2014/main" val="90516649"/>
                  </a:ext>
                </a:extLst>
              </a:tr>
            </a:tbl>
          </a:graphicData>
        </a:graphic>
      </p:graphicFrame>
    </p:spTree>
    <p:extLst>
      <p:ext uri="{BB962C8B-B14F-4D97-AF65-F5344CB8AC3E}">
        <p14:creationId xmlns:p14="http://schemas.microsoft.com/office/powerpoint/2010/main" val="2234584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D977-C531-D92D-4169-5A1F16339AD1}"/>
            </a:ext>
          </a:extLst>
        </p:cNvPr>
        <p:cNvGrpSpPr/>
        <p:nvPr/>
      </p:nvGrpSpPr>
      <p:grpSpPr>
        <a:xfrm>
          <a:off x="0" y="0"/>
          <a:ext cx="0" cy="0"/>
          <a:chOff x="0" y="0"/>
          <a:chExt cx="0" cy="0"/>
        </a:xfrm>
      </p:grpSpPr>
      <p:sp>
        <p:nvSpPr>
          <p:cNvPr id="4" name="Naslov 3">
            <a:extLst>
              <a:ext uri="{FF2B5EF4-FFF2-40B4-BE49-F238E27FC236}">
                <a16:creationId xmlns:a16="http://schemas.microsoft.com/office/drawing/2014/main" id="{E3992A03-987E-E1EB-86DC-45EFC8A537C6}"/>
              </a:ext>
            </a:extLst>
          </p:cNvPr>
          <p:cNvSpPr>
            <a:spLocks noGrp="1"/>
          </p:cNvSpPr>
          <p:nvPr>
            <p:ph type="ctrTitle"/>
          </p:nvPr>
        </p:nvSpPr>
        <p:spPr>
          <a:xfrm>
            <a:off x="2828186" y="2370667"/>
            <a:ext cx="9144000" cy="2387600"/>
          </a:xfrm>
        </p:spPr>
        <p:txBody>
          <a:bodyPr>
            <a:normAutofit/>
          </a:bodyPr>
          <a:lstStyle/>
          <a:p>
            <a:r>
              <a:rPr lang="en-US" sz="5000" b="1" dirty="0"/>
              <a:t>IZVRŠAVANJE ZADATAKA</a:t>
            </a:r>
            <a:br>
              <a:rPr lang="en-US" sz="4800" b="1" dirty="0">
                <a:latin typeface="Bahnschrift SemiLight" panose="020B0502040204020203" pitchFamily="34" charset="0"/>
              </a:rPr>
            </a:br>
            <a:endParaRPr lang="hr-HR" sz="4800" dirty="0">
              <a:latin typeface="Bahnschrift SemiLight" panose="020B0502040204020203" pitchFamily="34" charset="0"/>
            </a:endParaRPr>
          </a:p>
        </p:txBody>
      </p:sp>
      <p:sp>
        <p:nvSpPr>
          <p:cNvPr id="5" name="Podnaslov 4">
            <a:extLst>
              <a:ext uri="{FF2B5EF4-FFF2-40B4-BE49-F238E27FC236}">
                <a16:creationId xmlns:a16="http://schemas.microsoft.com/office/drawing/2014/main" id="{9CBA6F1A-19C0-2F08-06BA-9265F81F957A}"/>
              </a:ext>
            </a:extLst>
          </p:cNvPr>
          <p:cNvSpPr>
            <a:spLocks noGrp="1"/>
          </p:cNvSpPr>
          <p:nvPr>
            <p:ph type="subTitle" idx="4294967295"/>
          </p:nvPr>
        </p:nvSpPr>
        <p:spPr>
          <a:xfrm>
            <a:off x="2601310" y="4503056"/>
            <a:ext cx="9590690" cy="771525"/>
          </a:xfrm>
          <a:solidFill>
            <a:schemeClr val="bg1"/>
          </a:solidFill>
        </p:spPr>
        <p:txBody>
          <a:bodyPr>
            <a:noAutofit/>
          </a:bodyPr>
          <a:lstStyle/>
          <a:p>
            <a:pPr marL="0" indent="0">
              <a:buNone/>
            </a:pPr>
            <a:r>
              <a:rPr lang="en-US" altLang="en-US" sz="3600" dirty="0" err="1">
                <a:latin typeface="Bahnschrift" panose="020B0502040204020203" pitchFamily="34" charset="0"/>
                <a:ea typeface="+mj-ea"/>
                <a:cs typeface="+mj-cs"/>
              </a:rPr>
              <a:t>Osiguranje</a:t>
            </a:r>
            <a:r>
              <a:rPr lang="en-US" altLang="en-US" sz="3600" dirty="0">
                <a:latin typeface="Bahnschrift" panose="020B0502040204020203" pitchFamily="34" charset="0"/>
                <a:ea typeface="+mj-ea"/>
                <a:cs typeface="+mj-cs"/>
              </a:rPr>
              <a:t> </a:t>
            </a:r>
            <a:r>
              <a:rPr lang="en-US" altLang="en-US" sz="3600" dirty="0" err="1">
                <a:latin typeface="Bahnschrift" panose="020B0502040204020203" pitchFamily="34" charset="0"/>
                <a:ea typeface="+mj-ea"/>
                <a:cs typeface="+mj-cs"/>
              </a:rPr>
              <a:t>kvalitete</a:t>
            </a:r>
            <a:r>
              <a:rPr lang="en-US" altLang="en-US" sz="3600" dirty="0">
                <a:latin typeface="Bahnschrift" panose="020B0502040204020203" pitchFamily="34" charset="0"/>
                <a:ea typeface="+mj-ea"/>
                <a:cs typeface="+mj-cs"/>
              </a:rPr>
              <a:t> u </a:t>
            </a:r>
            <a:r>
              <a:rPr lang="en-US" altLang="en-US" sz="3600" dirty="0" err="1">
                <a:latin typeface="Bahnschrift" panose="020B0502040204020203" pitchFamily="34" charset="0"/>
                <a:ea typeface="+mj-ea"/>
                <a:cs typeface="+mj-cs"/>
              </a:rPr>
              <a:t>upravljanju</a:t>
            </a:r>
            <a:r>
              <a:rPr lang="en-US" altLang="en-US" sz="3600" dirty="0">
                <a:latin typeface="Bahnschrift" panose="020B0502040204020203" pitchFamily="34" charset="0"/>
                <a:ea typeface="+mj-ea"/>
                <a:cs typeface="+mj-cs"/>
              </a:rPr>
              <a:t> </a:t>
            </a:r>
            <a:r>
              <a:rPr lang="en-US" altLang="en-US" sz="3600" dirty="0" err="1">
                <a:latin typeface="Bahnschrift" panose="020B0502040204020203" pitchFamily="34" charset="0"/>
                <a:ea typeface="+mj-ea"/>
                <a:cs typeface="+mj-cs"/>
              </a:rPr>
              <a:t>projektima</a:t>
            </a:r>
            <a:endParaRPr lang="en-US" altLang="en-US" sz="3600" dirty="0">
              <a:latin typeface="Bahnschrift" panose="020B0502040204020203" pitchFamily="34" charset="0"/>
              <a:ea typeface="+mj-ea"/>
              <a:cs typeface="+mj-cs"/>
            </a:endParaRPr>
          </a:p>
        </p:txBody>
      </p:sp>
    </p:spTree>
    <p:extLst>
      <p:ext uri="{BB962C8B-B14F-4D97-AF65-F5344CB8AC3E}">
        <p14:creationId xmlns:p14="http://schemas.microsoft.com/office/powerpoint/2010/main" val="3720438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B218B-4F05-A882-2364-86D6CB133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DD845-E937-EB50-BCC1-BE292731A215}"/>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Montserrat" panose="00000500000000000000" pitchFamily="2" charset="0"/>
              </a:rPr>
            </a:br>
            <a:r>
              <a:rPr lang="en-US" sz="3800" dirty="0">
                <a:latin typeface="Bahnschrift SemiBold"/>
                <a:ea typeface="+mn-ea"/>
                <a:cs typeface="+mn-cs"/>
              </a:rPr>
              <a:t>1. </a:t>
            </a:r>
            <a:r>
              <a:rPr lang="en-US" sz="3800" dirty="0" err="1">
                <a:latin typeface="Bahnschrift SemiBold"/>
                <a:ea typeface="+mn-ea"/>
                <a:cs typeface="+mn-cs"/>
              </a:rPr>
              <a:t>Planiranje</a:t>
            </a:r>
            <a:r>
              <a:rPr lang="en-US" sz="3800" dirty="0">
                <a:latin typeface="Bahnschrift SemiBold"/>
                <a:ea typeface="+mn-ea"/>
                <a:cs typeface="+mn-cs"/>
              </a:rPr>
              <a:t> </a:t>
            </a:r>
            <a:r>
              <a:rPr lang="en-US" sz="3800" dirty="0" err="1">
                <a:latin typeface="Bahnschrift SemiBold"/>
                <a:ea typeface="+mn-ea"/>
                <a:cs typeface="+mn-cs"/>
              </a:rPr>
              <a:t>upravljanja</a:t>
            </a:r>
            <a:r>
              <a:rPr lang="en-US" sz="3800" dirty="0">
                <a:latin typeface="Bahnschrift SemiBold"/>
                <a:ea typeface="+mn-ea"/>
                <a:cs typeface="+mn-cs"/>
              </a:rPr>
              <a:t> </a:t>
            </a:r>
            <a:r>
              <a:rPr lang="en-US" sz="3800" dirty="0" err="1">
                <a:latin typeface="Bahnschrift SemiBold"/>
                <a:ea typeface="+mn-ea"/>
                <a:cs typeface="+mn-cs"/>
              </a:rPr>
              <a:t>kvalitetom</a:t>
            </a:r>
            <a:r>
              <a:rPr lang="en-US" sz="3800" dirty="0">
                <a:latin typeface="Bahnschrift SemiBold"/>
                <a:ea typeface="+mn-ea"/>
                <a:cs typeface="+mn-cs"/>
              </a:rPr>
              <a:t> I.</a:t>
            </a:r>
            <a:br>
              <a:rPr lang="en-US" sz="3800" dirty="0">
                <a:latin typeface="Bahnschrift SemiBold"/>
                <a:ea typeface="+mn-ea"/>
                <a:cs typeface="+mn-cs"/>
              </a:rPr>
            </a:br>
            <a:br>
              <a:rPr lang="en-US" alt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204FC689-1F38-C51B-A8AD-5D9CA07EEFC4}"/>
              </a:ext>
            </a:extLst>
          </p:cNvPr>
          <p:cNvSpPr>
            <a:spLocks noGrp="1"/>
          </p:cNvSpPr>
          <p:nvPr>
            <p:ph idx="1"/>
          </p:nvPr>
        </p:nvSpPr>
        <p:spPr>
          <a:xfrm>
            <a:off x="838200" y="1690688"/>
            <a:ext cx="10515600" cy="4351338"/>
          </a:xfrm>
        </p:spPr>
        <p:txBody>
          <a:bodyPr>
            <a:noAutofit/>
          </a:bodyPr>
          <a:lstStyle/>
          <a:p>
            <a:pPr marL="0" marR="0" lvl="0" indent="0">
              <a:lnSpc>
                <a:spcPct val="100000"/>
              </a:lnSpc>
              <a:spcAft>
                <a:spcPts val="800"/>
              </a:spcAft>
              <a:buSzPts val="1000"/>
              <a:buNone/>
              <a:tabLst>
                <a:tab pos="457200" algn="l"/>
              </a:tabLst>
            </a:pPr>
            <a:r>
              <a:rPr lang="en-US" sz="2400" dirty="0" err="1"/>
              <a:t>Ovaj</a:t>
            </a:r>
            <a:r>
              <a:rPr lang="en-US" sz="2400" dirty="0"/>
              <a:t> </a:t>
            </a:r>
            <a:r>
              <a:rPr lang="en-US" sz="2400" dirty="0" err="1"/>
              <a:t>proces</a:t>
            </a:r>
            <a:r>
              <a:rPr lang="en-US" sz="2400" dirty="0"/>
              <a:t> </a:t>
            </a:r>
            <a:r>
              <a:rPr lang="en-US" sz="2400" dirty="0" err="1"/>
              <a:t>uključuje</a:t>
            </a:r>
            <a:r>
              <a:rPr lang="en-US" sz="2400" dirty="0"/>
              <a:t> </a:t>
            </a:r>
            <a:r>
              <a:rPr lang="en-US" sz="2400" dirty="0" err="1"/>
              <a:t>identificiranje</a:t>
            </a:r>
            <a:r>
              <a:rPr lang="en-US" sz="2400" dirty="0"/>
              <a:t> </a:t>
            </a:r>
            <a:r>
              <a:rPr lang="en-US" sz="2400" dirty="0" err="1"/>
              <a:t>zahtjeva</a:t>
            </a:r>
            <a:r>
              <a:rPr lang="en-US" sz="2400" dirty="0"/>
              <a:t> i </a:t>
            </a:r>
            <a:r>
              <a:rPr lang="en-US" sz="2400" dirty="0" err="1"/>
              <a:t>standarda</a:t>
            </a:r>
            <a:r>
              <a:rPr lang="en-US" sz="2400" dirty="0"/>
              <a:t> </a:t>
            </a:r>
            <a:r>
              <a:rPr lang="en-US" sz="2400" dirty="0" err="1"/>
              <a:t>kvalitete</a:t>
            </a:r>
            <a:r>
              <a:rPr lang="en-US" sz="2400" dirty="0"/>
              <a:t> za </a:t>
            </a:r>
            <a:r>
              <a:rPr lang="en-US" sz="2400" dirty="0" err="1"/>
              <a:t>projekt</a:t>
            </a:r>
            <a:r>
              <a:rPr lang="en-US" sz="2400" dirty="0"/>
              <a:t> i </a:t>
            </a:r>
            <a:r>
              <a:rPr lang="en-US" sz="2400" dirty="0" err="1"/>
              <a:t>njegove</a:t>
            </a:r>
            <a:r>
              <a:rPr lang="en-US" sz="2400" dirty="0"/>
              <a:t> </a:t>
            </a:r>
            <a:r>
              <a:rPr lang="en-US" sz="2400" dirty="0" err="1"/>
              <a:t>isporučive</a:t>
            </a:r>
            <a:r>
              <a:rPr lang="en-US" sz="2400" dirty="0"/>
              <a:t> </a:t>
            </a:r>
            <a:r>
              <a:rPr lang="en-US" sz="2400" dirty="0" err="1"/>
              <a:t>rezultate</a:t>
            </a:r>
            <a:r>
              <a:rPr lang="en-US" sz="2400" dirty="0"/>
              <a:t> </a:t>
            </a:r>
            <a:r>
              <a:rPr lang="en-US" sz="2400" dirty="0" err="1"/>
              <a:t>te</a:t>
            </a:r>
            <a:r>
              <a:rPr lang="en-US" sz="2400" dirty="0"/>
              <a:t> </a:t>
            </a:r>
            <a:r>
              <a:rPr lang="en-US" sz="2400" dirty="0" err="1"/>
              <a:t>određivanje</a:t>
            </a:r>
            <a:r>
              <a:rPr lang="en-US" sz="2400" dirty="0"/>
              <a:t> </a:t>
            </a:r>
            <a:r>
              <a:rPr lang="en-US" sz="2400" dirty="0" err="1"/>
              <a:t>načina</a:t>
            </a:r>
            <a:r>
              <a:rPr lang="en-US" sz="2400" dirty="0"/>
              <a:t> </a:t>
            </a:r>
            <a:r>
              <a:rPr lang="en-US" sz="2400" dirty="0" err="1"/>
              <a:t>njihova</a:t>
            </a:r>
            <a:r>
              <a:rPr lang="en-US" sz="2400" dirty="0"/>
              <a:t> </a:t>
            </a:r>
            <a:r>
              <a:rPr lang="en-US" sz="2400" dirty="0" err="1"/>
              <a:t>postizanja</a:t>
            </a:r>
            <a:r>
              <a:rPr lang="en-US" sz="2400" dirty="0"/>
              <a:t>.</a:t>
            </a:r>
          </a:p>
          <a:p>
            <a:pPr marL="0" marR="0" lvl="0" indent="0">
              <a:lnSpc>
                <a:spcPct val="100000"/>
              </a:lnSpc>
              <a:spcAft>
                <a:spcPts val="800"/>
              </a:spcAft>
              <a:buSzPts val="1000"/>
              <a:buNone/>
              <a:tabLst>
                <a:tab pos="457200" algn="l"/>
              </a:tabLst>
            </a:pPr>
            <a:r>
              <a:rPr lang="en-US" sz="2400" b="1" dirty="0">
                <a:solidFill>
                  <a:srgbClr val="0FDCBD"/>
                </a:solidFill>
              </a:rPr>
              <a:t>KLJUČNE AKTIVNOSTI:</a:t>
            </a:r>
            <a:endParaRPr lang="hr-HR" sz="2400" b="1" dirty="0">
              <a:solidFill>
                <a:srgbClr val="0FDCBD"/>
              </a:solidFill>
            </a:endParaRPr>
          </a:p>
          <a:p>
            <a:pPr marL="0" marR="0" lvl="0" indent="0">
              <a:lnSpc>
                <a:spcPct val="100000"/>
              </a:lnSpc>
              <a:spcAft>
                <a:spcPts val="800"/>
              </a:spcAft>
              <a:buSzPts val="1000"/>
              <a:buNone/>
              <a:tabLst>
                <a:tab pos="457200" algn="l"/>
              </a:tabLst>
            </a:pPr>
            <a:r>
              <a:rPr lang="hr-HR" sz="2400" b="1" dirty="0">
                <a:solidFill>
                  <a:srgbClr val="0FDCBD"/>
                </a:solidFill>
              </a:rPr>
              <a:t>1. </a:t>
            </a:r>
            <a:r>
              <a:rPr lang="en-US" sz="2400" b="1" dirty="0" err="1">
                <a:solidFill>
                  <a:srgbClr val="0FDCBD"/>
                </a:solidFill>
              </a:rPr>
              <a:t>Definiranje</a:t>
            </a:r>
            <a:r>
              <a:rPr lang="en-US" sz="2400" b="1" dirty="0">
                <a:solidFill>
                  <a:srgbClr val="0FDCBD"/>
                </a:solidFill>
              </a:rPr>
              <a:t> </a:t>
            </a:r>
            <a:r>
              <a:rPr lang="en-US" sz="2400" b="1" dirty="0" err="1">
                <a:solidFill>
                  <a:srgbClr val="0FDCBD"/>
                </a:solidFill>
              </a:rPr>
              <a:t>zahtjeva</a:t>
            </a:r>
            <a:r>
              <a:rPr lang="en-US" sz="2400" b="1" dirty="0">
                <a:solidFill>
                  <a:srgbClr val="0FDCBD"/>
                </a:solidFill>
              </a:rPr>
              <a:t> </a:t>
            </a:r>
            <a:r>
              <a:rPr lang="en-US" sz="2400" b="1" dirty="0" err="1">
                <a:solidFill>
                  <a:srgbClr val="0FDCBD"/>
                </a:solidFill>
              </a:rPr>
              <a:t>kvalitete</a:t>
            </a:r>
            <a:r>
              <a:rPr lang="en-US" sz="2400" b="1" dirty="0">
                <a:solidFill>
                  <a:srgbClr val="0FDCBD"/>
                </a:solidFill>
              </a:rPr>
              <a:t>: </a:t>
            </a:r>
            <a:r>
              <a:rPr lang="en-US" sz="2400" dirty="0" err="1"/>
              <a:t>Razumjeti</a:t>
            </a:r>
            <a:r>
              <a:rPr lang="en-US" sz="2400" dirty="0"/>
              <a:t> </a:t>
            </a:r>
            <a:r>
              <a:rPr lang="en-US" sz="2400" dirty="0" err="1"/>
              <a:t>zahtjeve</a:t>
            </a:r>
            <a:r>
              <a:rPr lang="en-US" sz="2400" dirty="0"/>
              <a:t> i </a:t>
            </a:r>
            <a:r>
              <a:rPr lang="en-US" sz="2400" dirty="0" err="1"/>
              <a:t>očekivanja</a:t>
            </a:r>
            <a:r>
              <a:rPr lang="en-US" sz="2400" dirty="0"/>
              <a:t> </a:t>
            </a:r>
            <a:r>
              <a:rPr lang="en-US" sz="2400" dirty="0" err="1"/>
              <a:t>korisnika</a:t>
            </a:r>
            <a:r>
              <a:rPr lang="en-US" sz="2400" dirty="0"/>
              <a:t> i </a:t>
            </a:r>
            <a:r>
              <a:rPr lang="en-US" sz="2400" dirty="0" err="1"/>
              <a:t>dionika</a:t>
            </a:r>
            <a:r>
              <a:rPr lang="en-US" sz="2400" dirty="0"/>
              <a:t>.</a:t>
            </a:r>
            <a:endParaRPr lang="hr-HR" sz="2400" dirty="0"/>
          </a:p>
          <a:p>
            <a:pPr marL="0" marR="0" lvl="0" indent="0">
              <a:lnSpc>
                <a:spcPct val="100000"/>
              </a:lnSpc>
              <a:spcAft>
                <a:spcPts val="800"/>
              </a:spcAft>
              <a:buSzPts val="1000"/>
              <a:buNone/>
              <a:tabLst>
                <a:tab pos="457200" algn="l"/>
              </a:tabLst>
            </a:pPr>
            <a:r>
              <a:rPr lang="hr-HR" sz="2400" b="1" dirty="0">
                <a:solidFill>
                  <a:srgbClr val="0FDCBD"/>
                </a:solidFill>
              </a:rPr>
              <a:t>2. </a:t>
            </a:r>
            <a:r>
              <a:rPr lang="en-US" sz="2400" b="1" dirty="0" err="1">
                <a:solidFill>
                  <a:srgbClr val="0FDCBD"/>
                </a:solidFill>
              </a:rPr>
              <a:t>Postavljanje</a:t>
            </a:r>
            <a:r>
              <a:rPr lang="en-US" sz="2400" b="1" dirty="0">
                <a:solidFill>
                  <a:srgbClr val="0FDCBD"/>
                </a:solidFill>
              </a:rPr>
              <a:t> </a:t>
            </a:r>
            <a:r>
              <a:rPr lang="en-US" sz="2400" b="1" dirty="0" err="1">
                <a:solidFill>
                  <a:srgbClr val="0FDCBD"/>
                </a:solidFill>
              </a:rPr>
              <a:t>standarda</a:t>
            </a:r>
            <a:r>
              <a:rPr lang="en-US" sz="2400" b="1" dirty="0">
                <a:solidFill>
                  <a:srgbClr val="0FDCBD"/>
                </a:solidFill>
              </a:rPr>
              <a:t> </a:t>
            </a:r>
            <a:r>
              <a:rPr lang="en-US" sz="2400" b="1" dirty="0" err="1">
                <a:solidFill>
                  <a:srgbClr val="0FDCBD"/>
                </a:solidFill>
              </a:rPr>
              <a:t>kvalitete</a:t>
            </a:r>
            <a:r>
              <a:rPr lang="en-US" sz="2400" b="1" dirty="0">
                <a:solidFill>
                  <a:srgbClr val="0FDCBD"/>
                </a:solidFill>
              </a:rPr>
              <a:t>: </a:t>
            </a:r>
            <a:r>
              <a:rPr lang="en-US" sz="2400" dirty="0" err="1"/>
              <a:t>Identificirati</a:t>
            </a:r>
            <a:r>
              <a:rPr lang="en-US" sz="2400" dirty="0"/>
              <a:t> </a:t>
            </a:r>
            <a:r>
              <a:rPr lang="en-US" sz="2400" dirty="0" err="1"/>
              <a:t>industrijske</a:t>
            </a:r>
            <a:r>
              <a:rPr lang="en-US" sz="2400" dirty="0"/>
              <a:t> </a:t>
            </a:r>
            <a:r>
              <a:rPr lang="en-US" sz="2400" dirty="0" err="1"/>
              <a:t>standarde</a:t>
            </a:r>
            <a:r>
              <a:rPr lang="en-US" sz="2400" dirty="0"/>
              <a:t>, </a:t>
            </a:r>
            <a:r>
              <a:rPr lang="en-US" sz="2400" dirty="0" err="1"/>
              <a:t>zakonske</a:t>
            </a:r>
            <a:r>
              <a:rPr lang="en-US" sz="2400" dirty="0"/>
              <a:t> </a:t>
            </a:r>
            <a:r>
              <a:rPr lang="en-US" sz="2400" dirty="0" err="1"/>
              <a:t>zahtjeve</a:t>
            </a:r>
            <a:r>
              <a:rPr lang="en-US" sz="2400" dirty="0"/>
              <a:t> i </a:t>
            </a:r>
            <a:r>
              <a:rPr lang="en-US" sz="2400" dirty="0" err="1"/>
              <a:t>organizacijske</a:t>
            </a:r>
            <a:r>
              <a:rPr lang="en-US" sz="2400" dirty="0"/>
              <a:t> </a:t>
            </a:r>
            <a:r>
              <a:rPr lang="en-US" sz="2400" dirty="0" err="1"/>
              <a:t>standarde</a:t>
            </a:r>
            <a:r>
              <a:rPr lang="en-US" sz="2400" dirty="0"/>
              <a:t> </a:t>
            </a:r>
            <a:r>
              <a:rPr lang="en-US" sz="2400" dirty="0" err="1"/>
              <a:t>koje</a:t>
            </a:r>
            <a:r>
              <a:rPr lang="en-US" sz="2400" dirty="0"/>
              <a:t> je </a:t>
            </a:r>
            <a:r>
              <a:rPr lang="en-US" sz="2400" dirty="0" err="1"/>
              <a:t>potrebno</a:t>
            </a:r>
            <a:r>
              <a:rPr lang="en-US" sz="2400" dirty="0"/>
              <a:t> </a:t>
            </a:r>
            <a:r>
              <a:rPr lang="en-US" sz="2400" dirty="0" err="1"/>
              <a:t>zadovoljiti</a:t>
            </a:r>
            <a:r>
              <a:rPr lang="en-US" sz="2400" dirty="0"/>
              <a:t>.</a:t>
            </a:r>
            <a:endParaRPr lang="hr-HR" sz="2400" dirty="0"/>
          </a:p>
          <a:p>
            <a:pPr marL="0" marR="0" lvl="0" indent="0">
              <a:lnSpc>
                <a:spcPct val="100000"/>
              </a:lnSpc>
              <a:spcAft>
                <a:spcPts val="800"/>
              </a:spcAft>
              <a:buSzPts val="1000"/>
              <a:buNone/>
              <a:tabLst>
                <a:tab pos="457200" algn="l"/>
              </a:tabLst>
            </a:pPr>
            <a:r>
              <a:rPr lang="hr-HR" sz="2400" b="1" dirty="0">
                <a:solidFill>
                  <a:srgbClr val="0FDCBD"/>
                </a:solidFill>
              </a:rPr>
              <a:t>3. </a:t>
            </a:r>
            <a:r>
              <a:rPr lang="en-US" sz="2400" b="1" dirty="0" err="1">
                <a:solidFill>
                  <a:srgbClr val="0FDCBD"/>
                </a:solidFill>
              </a:rPr>
              <a:t>Definiranje</a:t>
            </a:r>
            <a:r>
              <a:rPr lang="en-US" sz="2400" b="1" dirty="0">
                <a:solidFill>
                  <a:srgbClr val="0FDCBD"/>
                </a:solidFill>
              </a:rPr>
              <a:t> </a:t>
            </a:r>
            <a:r>
              <a:rPr lang="en-US" sz="2400" b="1" dirty="0" err="1">
                <a:solidFill>
                  <a:srgbClr val="0FDCBD"/>
                </a:solidFill>
              </a:rPr>
              <a:t>procesa</a:t>
            </a:r>
            <a:r>
              <a:rPr lang="en-US" sz="2400" b="1" dirty="0">
                <a:solidFill>
                  <a:srgbClr val="0FDCBD"/>
                </a:solidFill>
              </a:rPr>
              <a:t> za </a:t>
            </a:r>
            <a:r>
              <a:rPr lang="en-US" sz="2400" b="1" dirty="0" err="1">
                <a:solidFill>
                  <a:srgbClr val="0FDCBD"/>
                </a:solidFill>
              </a:rPr>
              <a:t>osiguranje</a:t>
            </a:r>
            <a:r>
              <a:rPr lang="en-US" sz="2400" b="1" dirty="0">
                <a:solidFill>
                  <a:srgbClr val="0FDCBD"/>
                </a:solidFill>
              </a:rPr>
              <a:t> i </a:t>
            </a:r>
            <a:r>
              <a:rPr lang="en-US" sz="2400" b="1" dirty="0" err="1">
                <a:solidFill>
                  <a:srgbClr val="0FDCBD"/>
                </a:solidFill>
              </a:rPr>
              <a:t>kontrolu</a:t>
            </a:r>
            <a:r>
              <a:rPr lang="en-US" sz="2400" b="1" dirty="0">
                <a:solidFill>
                  <a:srgbClr val="0FDCBD"/>
                </a:solidFill>
              </a:rPr>
              <a:t> </a:t>
            </a:r>
            <a:r>
              <a:rPr lang="en-US" sz="2400" b="1" dirty="0" err="1">
                <a:solidFill>
                  <a:srgbClr val="0FDCBD"/>
                </a:solidFill>
              </a:rPr>
              <a:t>kvalitete</a:t>
            </a:r>
            <a:r>
              <a:rPr lang="en-US" sz="2400" b="1" dirty="0">
                <a:solidFill>
                  <a:srgbClr val="0FDCBD"/>
                </a:solidFill>
              </a:rPr>
              <a:t>: </a:t>
            </a:r>
            <a:r>
              <a:rPr lang="en-US" sz="2400" dirty="0" err="1"/>
              <a:t>Razviti</a:t>
            </a:r>
            <a:r>
              <a:rPr lang="en-US" sz="2400" dirty="0"/>
              <a:t> </a:t>
            </a:r>
            <a:r>
              <a:rPr lang="en-US" sz="2400" dirty="0" err="1"/>
              <a:t>strategije</a:t>
            </a:r>
            <a:r>
              <a:rPr lang="en-US" sz="2400" dirty="0"/>
              <a:t> za </a:t>
            </a:r>
            <a:r>
              <a:rPr lang="en-US" sz="2400" dirty="0" err="1"/>
              <a:t>osiguravanje</a:t>
            </a:r>
            <a:r>
              <a:rPr lang="en-US" sz="2400" dirty="0"/>
              <a:t> </a:t>
            </a:r>
            <a:r>
              <a:rPr lang="en-US" sz="2400" dirty="0" err="1"/>
              <a:t>kvalitete</a:t>
            </a:r>
            <a:r>
              <a:rPr lang="en-US" sz="2400" dirty="0"/>
              <a:t> </a:t>
            </a:r>
            <a:r>
              <a:rPr lang="en-US" sz="2400" dirty="0" err="1"/>
              <a:t>tijekom</a:t>
            </a:r>
            <a:r>
              <a:rPr lang="en-US" sz="2400" dirty="0"/>
              <a:t> </a:t>
            </a:r>
            <a:r>
              <a:rPr lang="en-US" sz="2400" dirty="0" err="1"/>
              <a:t>provedbe</a:t>
            </a:r>
            <a:r>
              <a:rPr lang="en-US" sz="2400" dirty="0"/>
              <a:t> i </a:t>
            </a:r>
            <a:r>
              <a:rPr lang="en-US" sz="2400" dirty="0" err="1"/>
              <a:t>njezino</a:t>
            </a:r>
            <a:r>
              <a:rPr lang="en-US" sz="2400" dirty="0"/>
              <a:t> </a:t>
            </a:r>
            <a:r>
              <a:rPr lang="en-US" sz="2400" dirty="0" err="1"/>
              <a:t>mjerenje</a:t>
            </a:r>
            <a:r>
              <a:rPr lang="en-US" sz="2400" dirty="0"/>
              <a:t> </a:t>
            </a:r>
            <a:r>
              <a:rPr lang="en-US" sz="2400" dirty="0" err="1"/>
              <a:t>kroz</a:t>
            </a:r>
            <a:r>
              <a:rPr lang="en-US" sz="2400" dirty="0"/>
              <a:t> </a:t>
            </a:r>
            <a:r>
              <a:rPr lang="en-US" sz="2400" dirty="0" err="1"/>
              <a:t>cijeli</a:t>
            </a:r>
            <a:r>
              <a:rPr lang="en-US" sz="2400" dirty="0"/>
              <a:t> </a:t>
            </a:r>
            <a:r>
              <a:rPr lang="en-US" sz="2400" dirty="0" err="1"/>
              <a:t>projekt</a:t>
            </a:r>
            <a:r>
              <a:rPr lang="en-US" sz="2400" dirty="0"/>
              <a:t>.</a:t>
            </a:r>
          </a:p>
          <a:p>
            <a:pPr marL="0" marR="0" lvl="0" indent="0">
              <a:lnSpc>
                <a:spcPct val="115000"/>
              </a:lnSpc>
              <a:spcAft>
                <a:spcPts val="800"/>
              </a:spcAft>
              <a:buSzPts val="1000"/>
              <a:buNone/>
              <a:tabLst>
                <a:tab pos="457200" algn="l"/>
              </a:tabLst>
            </a:pPr>
            <a:endParaRPr lang="en-US" sz="2200" dirty="0"/>
          </a:p>
        </p:txBody>
      </p:sp>
    </p:spTree>
    <p:extLst>
      <p:ext uri="{BB962C8B-B14F-4D97-AF65-F5344CB8AC3E}">
        <p14:creationId xmlns:p14="http://schemas.microsoft.com/office/powerpoint/2010/main" val="1631309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9C3-763C-8400-6769-54427FA83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5F944-95A7-7436-47BB-FDE1C284EFF2}"/>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Montserrat" panose="00000500000000000000" pitchFamily="2" charset="0"/>
              </a:rPr>
            </a:br>
            <a:r>
              <a:rPr lang="en-US" sz="3800" dirty="0">
                <a:latin typeface="Bahnschrift SemiBold"/>
                <a:ea typeface="+mn-ea"/>
                <a:cs typeface="+mn-cs"/>
              </a:rPr>
              <a:t>1. </a:t>
            </a:r>
            <a:r>
              <a:rPr lang="en-US" sz="3800" dirty="0" err="1">
                <a:latin typeface="Bahnschrift SemiBold"/>
                <a:ea typeface="+mn-ea"/>
                <a:cs typeface="+mn-cs"/>
              </a:rPr>
              <a:t>Planiranje</a:t>
            </a:r>
            <a:r>
              <a:rPr lang="en-US" sz="3800" dirty="0">
                <a:latin typeface="Bahnschrift SemiBold"/>
                <a:ea typeface="+mn-ea"/>
                <a:cs typeface="+mn-cs"/>
              </a:rPr>
              <a:t> </a:t>
            </a:r>
            <a:r>
              <a:rPr lang="en-US" sz="3800" dirty="0" err="1">
                <a:latin typeface="Bahnschrift SemiBold"/>
                <a:ea typeface="+mn-ea"/>
                <a:cs typeface="+mn-cs"/>
              </a:rPr>
              <a:t>upravljanja</a:t>
            </a:r>
            <a:r>
              <a:rPr lang="en-US" sz="3800" dirty="0">
                <a:latin typeface="Bahnschrift SemiBold"/>
                <a:ea typeface="+mn-ea"/>
                <a:cs typeface="+mn-cs"/>
              </a:rPr>
              <a:t> </a:t>
            </a:r>
            <a:r>
              <a:rPr lang="en-US" sz="3800" dirty="0" err="1">
                <a:latin typeface="Bahnschrift SemiBold"/>
                <a:ea typeface="+mn-ea"/>
                <a:cs typeface="+mn-cs"/>
              </a:rPr>
              <a:t>kvalitetom</a:t>
            </a:r>
            <a:r>
              <a:rPr lang="hr-HR" sz="3800" dirty="0">
                <a:latin typeface="Bahnschrift SemiBold"/>
                <a:ea typeface="+mn-ea"/>
                <a:cs typeface="+mn-cs"/>
              </a:rPr>
              <a:t> </a:t>
            </a:r>
            <a:r>
              <a:rPr lang="en-US" sz="3800" dirty="0">
                <a:latin typeface="Bahnschrift SemiBold"/>
                <a:ea typeface="+mn-ea"/>
                <a:cs typeface="+mn-cs"/>
              </a:rPr>
              <a:t>II.</a:t>
            </a:r>
            <a:br>
              <a:rPr lang="en-US" sz="3800" dirty="0">
                <a:latin typeface="Bahnschrift SemiBold"/>
                <a:ea typeface="+mn-ea"/>
                <a:cs typeface="+mn-cs"/>
              </a:rPr>
            </a:br>
            <a:br>
              <a:rPr lang="en-US" alt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FD7B5FC6-5CAE-FC89-C6B7-B9545B7B5D01}"/>
              </a:ext>
            </a:extLst>
          </p:cNvPr>
          <p:cNvSpPr>
            <a:spLocks noGrp="1"/>
          </p:cNvSpPr>
          <p:nvPr>
            <p:ph idx="1"/>
          </p:nvPr>
        </p:nvSpPr>
        <p:spPr/>
        <p:txBody>
          <a:bodyPr>
            <a:noAutofit/>
          </a:bodyPr>
          <a:lstStyle/>
          <a:p>
            <a:pPr>
              <a:buNone/>
            </a:pPr>
            <a:endParaRPr lang="en-US" sz="2200" b="1" dirty="0"/>
          </a:p>
          <a:p>
            <a:pPr>
              <a:lnSpc>
                <a:spcPct val="100000"/>
              </a:lnSpc>
              <a:buNone/>
            </a:pPr>
            <a:r>
              <a:rPr lang="en-US" b="1" dirty="0">
                <a:solidFill>
                  <a:srgbClr val="0ADBBC"/>
                </a:solidFill>
              </a:rPr>
              <a:t>KLJUČN</a:t>
            </a:r>
            <a:r>
              <a:rPr lang="hr-HR" b="1" dirty="0">
                <a:solidFill>
                  <a:srgbClr val="0ADBBC"/>
                </a:solidFill>
              </a:rPr>
              <a:t>E</a:t>
            </a:r>
            <a:r>
              <a:rPr lang="en-US" b="1" dirty="0">
                <a:solidFill>
                  <a:srgbClr val="0ADBBC"/>
                </a:solidFill>
              </a:rPr>
              <a:t> ISPORUČ</a:t>
            </a:r>
            <a:r>
              <a:rPr lang="hr-HR" b="1" dirty="0">
                <a:solidFill>
                  <a:srgbClr val="0ADBBC"/>
                </a:solidFill>
              </a:rPr>
              <a:t>EVINE (</a:t>
            </a:r>
            <a:r>
              <a:rPr lang="hr-HR" b="1" dirty="0" err="1">
                <a:solidFill>
                  <a:srgbClr val="0ADBBC"/>
                </a:solidFill>
              </a:rPr>
              <a:t>deliverables</a:t>
            </a:r>
            <a:r>
              <a:rPr lang="hr-HR" b="1" dirty="0">
                <a:solidFill>
                  <a:srgbClr val="0ADBBC"/>
                </a:solidFill>
              </a:rPr>
              <a:t>):</a:t>
            </a:r>
            <a:endParaRPr lang="en-US" b="1" dirty="0">
              <a:solidFill>
                <a:srgbClr val="0ADBBC"/>
              </a:solidFill>
            </a:endParaRPr>
          </a:p>
          <a:p>
            <a:pPr marL="514350" indent="-514350">
              <a:lnSpc>
                <a:spcPct val="100000"/>
              </a:lnSpc>
              <a:buFont typeface="+mj-lt"/>
              <a:buAutoNum type="arabicPeriod"/>
            </a:pPr>
            <a:r>
              <a:rPr lang="en-US" b="1" dirty="0">
                <a:solidFill>
                  <a:srgbClr val="0ADBBC"/>
                </a:solidFill>
              </a:rPr>
              <a:t>Plan </a:t>
            </a:r>
            <a:r>
              <a:rPr lang="en-US" b="1" dirty="0" err="1">
                <a:solidFill>
                  <a:srgbClr val="0ADBBC"/>
                </a:solidFill>
              </a:rPr>
              <a:t>upravljanja</a:t>
            </a:r>
            <a:r>
              <a:rPr lang="en-US" b="1" dirty="0">
                <a:solidFill>
                  <a:srgbClr val="0ADBBC"/>
                </a:solidFill>
              </a:rPr>
              <a:t> </a:t>
            </a:r>
            <a:r>
              <a:rPr lang="en-US" b="1" dirty="0" err="1">
                <a:solidFill>
                  <a:srgbClr val="0ADBBC"/>
                </a:solidFill>
              </a:rPr>
              <a:t>kvalitetom</a:t>
            </a:r>
            <a:r>
              <a:rPr lang="en-US" b="1" dirty="0">
                <a:solidFill>
                  <a:srgbClr val="0ADBBC"/>
                </a:solidFill>
              </a:rPr>
              <a:t>: </a:t>
            </a:r>
            <a:r>
              <a:rPr lang="en-US" dirty="0" err="1"/>
              <a:t>Dokument</a:t>
            </a:r>
            <a:r>
              <a:rPr lang="en-US" dirty="0"/>
              <a:t> koji </a:t>
            </a:r>
            <a:r>
              <a:rPr lang="en-US" dirty="0" err="1"/>
              <a:t>opisuje</a:t>
            </a:r>
            <a:r>
              <a:rPr lang="en-US" dirty="0"/>
              <a:t> </a:t>
            </a:r>
            <a:r>
              <a:rPr lang="en-US" dirty="0" err="1"/>
              <a:t>kako</a:t>
            </a:r>
            <a:r>
              <a:rPr lang="en-US" dirty="0"/>
              <a:t> </a:t>
            </a:r>
            <a:r>
              <a:rPr lang="en-US" dirty="0" err="1"/>
              <a:t>će</a:t>
            </a:r>
            <a:r>
              <a:rPr lang="en-US" dirty="0"/>
              <a:t> se </a:t>
            </a:r>
            <a:r>
              <a:rPr lang="en-US" dirty="0" err="1"/>
              <a:t>kvalitetom</a:t>
            </a:r>
            <a:r>
              <a:rPr lang="en-US" dirty="0"/>
              <a:t> </a:t>
            </a:r>
            <a:r>
              <a:rPr lang="en-US" dirty="0" err="1"/>
              <a:t>upravljati</a:t>
            </a:r>
            <a:r>
              <a:rPr lang="en-US" dirty="0"/>
              <a:t> </a:t>
            </a:r>
            <a:r>
              <a:rPr lang="en-US" dirty="0" err="1"/>
              <a:t>tijekom</a:t>
            </a:r>
            <a:r>
              <a:rPr lang="en-US" dirty="0"/>
              <a:t> </a:t>
            </a:r>
            <a:r>
              <a:rPr lang="en-US" dirty="0" err="1"/>
              <a:t>cijelog</a:t>
            </a:r>
            <a:r>
              <a:rPr lang="en-US" dirty="0"/>
              <a:t> </a:t>
            </a:r>
            <a:r>
              <a:rPr lang="en-US" dirty="0" err="1"/>
              <a:t>projekta</a:t>
            </a:r>
            <a:r>
              <a:rPr lang="en-US" dirty="0"/>
              <a:t>, </a:t>
            </a:r>
            <a:r>
              <a:rPr lang="en-US" dirty="0" err="1"/>
              <a:t>uključujući</a:t>
            </a:r>
            <a:r>
              <a:rPr lang="en-US" dirty="0"/>
              <a:t> </a:t>
            </a:r>
            <a:r>
              <a:rPr lang="en-US" dirty="0" err="1"/>
              <a:t>politike</a:t>
            </a:r>
            <a:r>
              <a:rPr lang="en-US" dirty="0"/>
              <a:t> </a:t>
            </a:r>
            <a:r>
              <a:rPr lang="en-US" dirty="0" err="1"/>
              <a:t>kvalitete</a:t>
            </a:r>
            <a:r>
              <a:rPr lang="en-US" dirty="0"/>
              <a:t>, </a:t>
            </a:r>
            <a:r>
              <a:rPr lang="en-US" dirty="0" err="1"/>
              <a:t>uloge</a:t>
            </a:r>
            <a:r>
              <a:rPr lang="en-US" dirty="0"/>
              <a:t>, </a:t>
            </a:r>
            <a:r>
              <a:rPr lang="en-US" dirty="0" err="1"/>
              <a:t>odgovornosti</a:t>
            </a:r>
            <a:r>
              <a:rPr lang="en-US" dirty="0"/>
              <a:t> i </a:t>
            </a:r>
            <a:r>
              <a:rPr lang="en-US" dirty="0" err="1"/>
              <a:t>metrike</a:t>
            </a:r>
            <a:r>
              <a:rPr lang="en-US" dirty="0"/>
              <a:t>.</a:t>
            </a:r>
          </a:p>
          <a:p>
            <a:pPr marL="514350" indent="-514350">
              <a:lnSpc>
                <a:spcPct val="100000"/>
              </a:lnSpc>
              <a:buFont typeface="+mj-lt"/>
              <a:buAutoNum type="arabicPeriod"/>
            </a:pPr>
            <a:endParaRPr lang="en-US" b="1" dirty="0">
              <a:solidFill>
                <a:srgbClr val="0ADBBC"/>
              </a:solidFill>
            </a:endParaRPr>
          </a:p>
          <a:p>
            <a:pPr marL="514350" indent="-514350">
              <a:lnSpc>
                <a:spcPct val="100000"/>
              </a:lnSpc>
              <a:buFont typeface="+mj-lt"/>
              <a:buAutoNum type="arabicPeriod"/>
            </a:pPr>
            <a:r>
              <a:rPr lang="en-US" b="1" dirty="0" err="1">
                <a:solidFill>
                  <a:srgbClr val="0ADBBC"/>
                </a:solidFill>
              </a:rPr>
              <a:t>Metrike</a:t>
            </a:r>
            <a:r>
              <a:rPr lang="en-US" b="1" dirty="0">
                <a:solidFill>
                  <a:srgbClr val="0ADBBC"/>
                </a:solidFill>
              </a:rPr>
              <a:t> </a:t>
            </a:r>
            <a:r>
              <a:rPr lang="en-US" b="1" dirty="0" err="1">
                <a:solidFill>
                  <a:srgbClr val="0ADBBC"/>
                </a:solidFill>
              </a:rPr>
              <a:t>kvalitete</a:t>
            </a:r>
            <a:r>
              <a:rPr lang="en-US" b="1" dirty="0">
                <a:solidFill>
                  <a:srgbClr val="0ADBBC"/>
                </a:solidFill>
              </a:rPr>
              <a:t>: </a:t>
            </a:r>
            <a:r>
              <a:rPr lang="en-US" dirty="0" err="1"/>
              <a:t>Definirani</a:t>
            </a:r>
            <a:r>
              <a:rPr lang="en-US" dirty="0"/>
              <a:t> </a:t>
            </a:r>
            <a:r>
              <a:rPr lang="en-US" dirty="0" err="1"/>
              <a:t>kriteriji</a:t>
            </a:r>
            <a:r>
              <a:rPr lang="en-US" dirty="0"/>
              <a:t> koji se </a:t>
            </a:r>
            <a:r>
              <a:rPr lang="en-US" dirty="0" err="1"/>
              <a:t>mogu</a:t>
            </a:r>
            <a:r>
              <a:rPr lang="en-US" dirty="0"/>
              <a:t> </a:t>
            </a:r>
            <a:r>
              <a:rPr lang="en-US" dirty="0" err="1"/>
              <a:t>mjeriti</a:t>
            </a:r>
            <a:r>
              <a:rPr lang="en-US" dirty="0"/>
              <a:t> </a:t>
            </a:r>
            <a:r>
              <a:rPr lang="en-US" dirty="0" err="1"/>
              <a:t>kako</a:t>
            </a:r>
            <a:r>
              <a:rPr lang="en-US" dirty="0"/>
              <a:t> bi se </a:t>
            </a:r>
            <a:r>
              <a:rPr lang="en-US" dirty="0" err="1"/>
              <a:t>osiguralo</a:t>
            </a:r>
            <a:r>
              <a:rPr lang="en-US" dirty="0"/>
              <a:t> </a:t>
            </a:r>
            <a:r>
              <a:rPr lang="en-US" dirty="0" err="1"/>
              <a:t>postizanje</a:t>
            </a:r>
            <a:r>
              <a:rPr lang="en-US" dirty="0"/>
              <a:t> </a:t>
            </a:r>
            <a:r>
              <a:rPr lang="en-US" dirty="0" err="1"/>
              <a:t>kvalitete</a:t>
            </a:r>
            <a:r>
              <a:rPr lang="en-US" dirty="0"/>
              <a:t> (</a:t>
            </a:r>
            <a:r>
              <a:rPr lang="en-US" dirty="0" err="1"/>
              <a:t>npr</a:t>
            </a:r>
            <a:r>
              <a:rPr lang="en-US" dirty="0"/>
              <a:t>. stope </a:t>
            </a:r>
            <a:r>
              <a:rPr lang="en-US" dirty="0" err="1"/>
              <a:t>grešaka</a:t>
            </a:r>
            <a:r>
              <a:rPr lang="en-US" dirty="0"/>
              <a:t>, </a:t>
            </a:r>
            <a:r>
              <a:rPr lang="en-US" dirty="0" err="1"/>
              <a:t>standardi</a:t>
            </a:r>
            <a:r>
              <a:rPr lang="en-US" dirty="0"/>
              <a:t> </a:t>
            </a:r>
            <a:r>
              <a:rPr lang="en-US" dirty="0" err="1"/>
              <a:t>performansi</a:t>
            </a:r>
            <a:r>
              <a:rPr lang="en-US" dirty="0"/>
              <a:t>).</a:t>
            </a:r>
          </a:p>
          <a:p>
            <a:pPr marL="0" marR="0" lvl="0" indent="0">
              <a:lnSpc>
                <a:spcPct val="115000"/>
              </a:lnSpc>
              <a:spcAft>
                <a:spcPts val="800"/>
              </a:spcAft>
              <a:buSzPts val="1000"/>
              <a:buNone/>
              <a:tabLst>
                <a:tab pos="457200" algn="l"/>
              </a:tabLst>
            </a:pPr>
            <a:endParaRPr lang="en-US" sz="2200" dirty="0"/>
          </a:p>
        </p:txBody>
      </p:sp>
    </p:spTree>
    <p:extLst>
      <p:ext uri="{BB962C8B-B14F-4D97-AF65-F5344CB8AC3E}">
        <p14:creationId xmlns:p14="http://schemas.microsoft.com/office/powerpoint/2010/main" val="4183617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31EE9-98B7-0476-14FD-C3F325282D55}"/>
              </a:ext>
            </a:extLst>
          </p:cNvPr>
          <p:cNvSpPr>
            <a:spLocks noGrp="1"/>
          </p:cNvSpPr>
          <p:nvPr>
            <p:ph type="title"/>
          </p:nvPr>
        </p:nvSpPr>
        <p:spPr/>
        <p:txBody>
          <a:bodyPr>
            <a:normAutofit/>
          </a:bodyPr>
          <a:lstStyle/>
          <a:p>
            <a:r>
              <a:rPr lang="en-US" sz="3800" dirty="0">
                <a:latin typeface="Bahnschrift SemiBold"/>
                <a:ea typeface="+mn-ea"/>
                <a:cs typeface="+mn-cs"/>
              </a:rPr>
              <a:t>2. Upravljanje </a:t>
            </a:r>
            <a:r>
              <a:rPr lang="en-US" sz="3800" dirty="0" err="1">
                <a:latin typeface="Bahnschrift SemiBold"/>
                <a:ea typeface="+mn-ea"/>
                <a:cs typeface="+mn-cs"/>
              </a:rPr>
              <a:t>kvalitetom</a:t>
            </a:r>
            <a:r>
              <a:rPr lang="en-US" sz="3800" dirty="0">
                <a:latin typeface="Bahnschrift SemiBold"/>
                <a:ea typeface="+mn-ea"/>
                <a:cs typeface="+mn-cs"/>
              </a:rPr>
              <a:t> I.</a:t>
            </a:r>
            <a:br>
              <a:rPr 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A6E38F98-CCA5-9727-A211-273E22955070}"/>
              </a:ext>
            </a:extLst>
          </p:cNvPr>
          <p:cNvSpPr>
            <a:spLocks noGrp="1"/>
          </p:cNvSpPr>
          <p:nvPr>
            <p:ph idx="1"/>
          </p:nvPr>
        </p:nvSpPr>
        <p:spPr>
          <a:xfrm>
            <a:off x="644877" y="1690688"/>
            <a:ext cx="10902245" cy="4351338"/>
          </a:xfrm>
        </p:spPr>
        <p:txBody>
          <a:bodyPr>
            <a:noAutofit/>
          </a:bodyPr>
          <a:lstStyle/>
          <a:p>
            <a:pPr marL="0" indent="0">
              <a:buNone/>
            </a:pPr>
            <a:r>
              <a:rPr lang="en-US" sz="2300" dirty="0" err="1"/>
              <a:t>Proces</a:t>
            </a:r>
            <a:r>
              <a:rPr lang="en-US" sz="2300" dirty="0"/>
              <a:t> </a:t>
            </a:r>
            <a:r>
              <a:rPr lang="en-US" sz="2300" b="1" dirty="0" err="1"/>
              <a:t>upravljanja</a:t>
            </a:r>
            <a:r>
              <a:rPr lang="en-US" sz="2300" b="1" dirty="0"/>
              <a:t> </a:t>
            </a:r>
            <a:r>
              <a:rPr lang="en-US" sz="2300" b="1" dirty="0" err="1"/>
              <a:t>kvalitetom</a:t>
            </a:r>
            <a:r>
              <a:rPr lang="en-US" sz="2300" b="1" dirty="0"/>
              <a:t> </a:t>
            </a:r>
            <a:r>
              <a:rPr lang="en-US" sz="2300" dirty="0" err="1"/>
              <a:t>usmjeren</a:t>
            </a:r>
            <a:r>
              <a:rPr lang="en-US" sz="2300" dirty="0"/>
              <a:t> je </a:t>
            </a:r>
            <a:r>
              <a:rPr lang="en-US" sz="2300" dirty="0" err="1"/>
              <a:t>na</a:t>
            </a:r>
            <a:r>
              <a:rPr lang="en-US" sz="2300" dirty="0"/>
              <a:t> </a:t>
            </a:r>
            <a:r>
              <a:rPr lang="en-US" sz="2300" dirty="0" err="1"/>
              <a:t>osiguravanje</a:t>
            </a:r>
            <a:r>
              <a:rPr lang="en-US" sz="2300" dirty="0"/>
              <a:t> da </a:t>
            </a:r>
            <a:r>
              <a:rPr lang="en-US" sz="2300" dirty="0" err="1"/>
              <a:t>projektni</a:t>
            </a:r>
            <a:r>
              <a:rPr lang="en-US" sz="2300" dirty="0"/>
              <a:t> </a:t>
            </a:r>
            <a:r>
              <a:rPr lang="en-US" sz="2300" dirty="0" err="1"/>
              <a:t>tim</a:t>
            </a:r>
            <a:r>
              <a:rPr lang="en-US" sz="2300" dirty="0"/>
              <a:t> </a:t>
            </a:r>
            <a:r>
              <a:rPr lang="en-US" sz="2300" dirty="0" err="1"/>
              <a:t>slijedi</a:t>
            </a:r>
            <a:r>
              <a:rPr lang="en-US" sz="2300" dirty="0"/>
              <a:t> </a:t>
            </a:r>
            <a:r>
              <a:rPr lang="en-US" sz="2300" dirty="0" err="1"/>
              <a:t>planirane</a:t>
            </a:r>
            <a:r>
              <a:rPr lang="en-US" sz="2300" dirty="0"/>
              <a:t> </a:t>
            </a:r>
            <a:r>
              <a:rPr lang="en-US" sz="2300" dirty="0" err="1"/>
              <a:t>procese</a:t>
            </a:r>
            <a:r>
              <a:rPr lang="en-US" sz="2300" dirty="0"/>
              <a:t> </a:t>
            </a:r>
            <a:r>
              <a:rPr lang="en-US" sz="2300" dirty="0" err="1"/>
              <a:t>kvalitete</a:t>
            </a:r>
            <a:r>
              <a:rPr lang="en-US" sz="2300" dirty="0"/>
              <a:t> i da </a:t>
            </a:r>
            <a:r>
              <a:rPr lang="en-US" sz="2300" dirty="0" err="1"/>
              <a:t>isporučivi</a:t>
            </a:r>
            <a:r>
              <a:rPr lang="en-US" sz="2300" dirty="0"/>
              <a:t> </a:t>
            </a:r>
            <a:r>
              <a:rPr lang="en-US" sz="2300" dirty="0" err="1"/>
              <a:t>rezultati</a:t>
            </a:r>
            <a:r>
              <a:rPr lang="en-US" sz="2300" dirty="0"/>
              <a:t> </a:t>
            </a:r>
            <a:r>
              <a:rPr lang="en-US" sz="2300" dirty="0" err="1"/>
              <a:t>zadovoljavaju</a:t>
            </a:r>
            <a:r>
              <a:rPr lang="en-US" sz="2300" dirty="0"/>
              <a:t> </a:t>
            </a:r>
            <a:r>
              <a:rPr lang="en-US" sz="2300" dirty="0" err="1"/>
              <a:t>standarde</a:t>
            </a:r>
            <a:r>
              <a:rPr lang="en-US" sz="2300" dirty="0"/>
              <a:t> </a:t>
            </a:r>
            <a:r>
              <a:rPr lang="en-US" sz="2300" dirty="0" err="1"/>
              <a:t>kvalitete</a:t>
            </a:r>
            <a:r>
              <a:rPr lang="en-US" sz="2300" dirty="0"/>
              <a:t>.</a:t>
            </a:r>
          </a:p>
          <a:p>
            <a:pPr marL="0" indent="0">
              <a:buNone/>
            </a:pPr>
            <a:endParaRPr lang="en-US" sz="2300" dirty="0"/>
          </a:p>
          <a:p>
            <a:pPr marL="0" indent="0">
              <a:buNone/>
            </a:pPr>
            <a:r>
              <a:rPr lang="en-US" sz="2300" dirty="0"/>
              <a:t>To se </a:t>
            </a:r>
            <a:r>
              <a:rPr lang="en-US" sz="2300" dirty="0" err="1"/>
              <a:t>često</a:t>
            </a:r>
            <a:r>
              <a:rPr lang="en-US" sz="2300" dirty="0"/>
              <a:t> </a:t>
            </a:r>
            <a:r>
              <a:rPr lang="en-US" sz="2300" dirty="0" err="1"/>
              <a:t>naziva</a:t>
            </a:r>
            <a:r>
              <a:rPr lang="en-US" sz="2300" dirty="0"/>
              <a:t> </a:t>
            </a:r>
            <a:r>
              <a:rPr lang="en-US" sz="2300" b="1" dirty="0" err="1"/>
              <a:t>osiguranje</a:t>
            </a:r>
            <a:r>
              <a:rPr lang="en-US" sz="2300" b="1" dirty="0"/>
              <a:t> </a:t>
            </a:r>
            <a:r>
              <a:rPr lang="en-US" sz="2300" b="1" dirty="0" err="1"/>
              <a:t>kvalitete</a:t>
            </a:r>
            <a:r>
              <a:rPr lang="en-US" sz="2300" b="1" dirty="0"/>
              <a:t> (</a:t>
            </a:r>
            <a:r>
              <a:rPr lang="hr-HR" sz="2300" b="1" dirty="0" err="1"/>
              <a:t>quality</a:t>
            </a:r>
            <a:r>
              <a:rPr lang="hr-HR" sz="2300" b="1" dirty="0"/>
              <a:t> </a:t>
            </a:r>
            <a:r>
              <a:rPr lang="hr-HR" sz="2300" b="1" dirty="0" err="1"/>
              <a:t>assurance</a:t>
            </a:r>
            <a:r>
              <a:rPr lang="hr-HR" sz="2300" b="1" dirty="0"/>
              <a:t> - </a:t>
            </a:r>
            <a:r>
              <a:rPr lang="en-US" sz="2300" b="1" dirty="0"/>
              <a:t>QA).</a:t>
            </a:r>
          </a:p>
          <a:p>
            <a:pPr marL="0" indent="0">
              <a:buNone/>
            </a:pPr>
            <a:r>
              <a:rPr lang="en-US" sz="2300" b="1" dirty="0">
                <a:solidFill>
                  <a:srgbClr val="0FDCBD"/>
                </a:solidFill>
              </a:rPr>
              <a:t>KLJUČNE AKTIVNOSTI:</a:t>
            </a:r>
          </a:p>
          <a:p>
            <a:pPr marL="457200" indent="-457200">
              <a:buFont typeface="+mj-lt"/>
              <a:buAutoNum type="arabicPeriod"/>
            </a:pPr>
            <a:r>
              <a:rPr lang="en-US" sz="2300" b="1" dirty="0" err="1">
                <a:solidFill>
                  <a:srgbClr val="0FDCBD"/>
                </a:solidFill>
              </a:rPr>
              <a:t>Provođenje</a:t>
            </a:r>
            <a:r>
              <a:rPr lang="en-US" sz="2300" b="1" dirty="0">
                <a:solidFill>
                  <a:srgbClr val="0FDCBD"/>
                </a:solidFill>
              </a:rPr>
              <a:t> </a:t>
            </a:r>
            <a:r>
              <a:rPr lang="en-US" sz="2300" b="1" dirty="0" err="1">
                <a:solidFill>
                  <a:srgbClr val="0FDCBD"/>
                </a:solidFill>
              </a:rPr>
              <a:t>revizija</a:t>
            </a:r>
            <a:r>
              <a:rPr lang="en-US" sz="2300" b="1" dirty="0">
                <a:solidFill>
                  <a:srgbClr val="0FDCBD"/>
                </a:solidFill>
              </a:rPr>
              <a:t> </a:t>
            </a:r>
            <a:r>
              <a:rPr lang="en-US" sz="2300" b="1" dirty="0" err="1">
                <a:solidFill>
                  <a:srgbClr val="0FDCBD"/>
                </a:solidFill>
              </a:rPr>
              <a:t>kvalitete</a:t>
            </a:r>
            <a:r>
              <a:rPr lang="en-US" sz="2300" b="1" dirty="0">
                <a:solidFill>
                  <a:srgbClr val="0FDCBD"/>
                </a:solidFill>
              </a:rPr>
              <a:t>: </a:t>
            </a:r>
            <a:r>
              <a:rPr lang="en-US" sz="2300" dirty="0" err="1"/>
              <a:t>Pregled</a:t>
            </a:r>
            <a:r>
              <a:rPr lang="en-US" sz="2300" dirty="0"/>
              <a:t> </a:t>
            </a:r>
            <a:r>
              <a:rPr lang="en-US" sz="2300" dirty="0" err="1"/>
              <a:t>procesa</a:t>
            </a:r>
            <a:r>
              <a:rPr lang="en-US" sz="2300" dirty="0"/>
              <a:t> i </a:t>
            </a:r>
            <a:r>
              <a:rPr lang="en-US" sz="2300" dirty="0" err="1"/>
              <a:t>procedura</a:t>
            </a:r>
            <a:r>
              <a:rPr lang="en-US" sz="2300" dirty="0"/>
              <a:t> </a:t>
            </a:r>
            <a:r>
              <a:rPr lang="en-US" sz="2300" dirty="0" err="1"/>
              <a:t>kako</a:t>
            </a:r>
            <a:r>
              <a:rPr lang="en-US" sz="2300" dirty="0"/>
              <a:t> bi se </a:t>
            </a:r>
            <a:r>
              <a:rPr lang="en-US" sz="2300" dirty="0" err="1"/>
              <a:t>osigurala</a:t>
            </a:r>
            <a:r>
              <a:rPr lang="en-US" sz="2300" dirty="0"/>
              <a:t> </a:t>
            </a:r>
            <a:r>
              <a:rPr lang="en-US" sz="2300" dirty="0" err="1"/>
              <a:t>usklađenost</a:t>
            </a:r>
            <a:r>
              <a:rPr lang="en-US" sz="2300" dirty="0"/>
              <a:t> </a:t>
            </a:r>
            <a:r>
              <a:rPr lang="en-US" sz="2300" dirty="0" err="1"/>
              <a:t>sa</a:t>
            </a:r>
            <a:r>
              <a:rPr lang="en-US" sz="2300" dirty="0"/>
              <a:t> </a:t>
            </a:r>
            <a:r>
              <a:rPr lang="en-US" sz="2300" dirty="0" err="1"/>
              <a:t>standardima</a:t>
            </a:r>
            <a:r>
              <a:rPr lang="en-US" sz="2300" dirty="0"/>
              <a:t> </a:t>
            </a:r>
            <a:r>
              <a:rPr lang="en-US" sz="2300" dirty="0" err="1"/>
              <a:t>kvalitete</a:t>
            </a:r>
            <a:r>
              <a:rPr lang="en-US" sz="2300" dirty="0"/>
              <a:t>.</a:t>
            </a:r>
          </a:p>
          <a:p>
            <a:pPr marL="457200" indent="-457200">
              <a:buFont typeface="+mj-lt"/>
              <a:buAutoNum type="arabicPeriod"/>
            </a:pPr>
            <a:r>
              <a:rPr lang="en-US" sz="2300" b="1" dirty="0" err="1">
                <a:solidFill>
                  <a:srgbClr val="0FDCBD"/>
                </a:solidFill>
              </a:rPr>
              <a:t>Poboljšanja</a:t>
            </a:r>
            <a:r>
              <a:rPr lang="en-US" sz="2300" b="1" dirty="0">
                <a:solidFill>
                  <a:srgbClr val="0FDCBD"/>
                </a:solidFill>
              </a:rPr>
              <a:t> </a:t>
            </a:r>
            <a:r>
              <a:rPr lang="en-US" sz="2300" b="1" dirty="0" err="1">
                <a:solidFill>
                  <a:srgbClr val="0FDCBD"/>
                </a:solidFill>
              </a:rPr>
              <a:t>procesa</a:t>
            </a:r>
            <a:r>
              <a:rPr lang="en-US" sz="2300" b="1" dirty="0">
                <a:solidFill>
                  <a:srgbClr val="0FDCBD"/>
                </a:solidFill>
              </a:rPr>
              <a:t>: </a:t>
            </a:r>
            <a:r>
              <a:rPr lang="en-US" sz="2300" dirty="0" err="1"/>
              <a:t>Identificiranje</a:t>
            </a:r>
            <a:r>
              <a:rPr lang="en-US" sz="2300" dirty="0"/>
              <a:t> i </a:t>
            </a:r>
            <a:r>
              <a:rPr lang="en-US" sz="2300" dirty="0" err="1"/>
              <a:t>implementacija</a:t>
            </a:r>
            <a:r>
              <a:rPr lang="en-US" sz="2300" dirty="0"/>
              <a:t> </a:t>
            </a:r>
            <a:r>
              <a:rPr lang="en-US" sz="2300" dirty="0" err="1"/>
              <a:t>poboljšanja</a:t>
            </a:r>
            <a:r>
              <a:rPr lang="en-US" sz="2300" dirty="0"/>
              <a:t> u </a:t>
            </a:r>
            <a:r>
              <a:rPr lang="en-US" sz="2300" dirty="0" err="1"/>
              <a:t>projektnim</a:t>
            </a:r>
            <a:r>
              <a:rPr lang="en-US" sz="2300" dirty="0"/>
              <a:t> </a:t>
            </a:r>
            <a:r>
              <a:rPr lang="en-US" sz="2300" dirty="0" err="1"/>
              <a:t>procesima</a:t>
            </a:r>
            <a:r>
              <a:rPr lang="en-US" sz="2300" dirty="0"/>
              <a:t> </a:t>
            </a:r>
            <a:r>
              <a:rPr lang="en-US" sz="2300" dirty="0" err="1"/>
              <a:t>radi</a:t>
            </a:r>
            <a:r>
              <a:rPr lang="en-US" sz="2300" dirty="0"/>
              <a:t> </a:t>
            </a:r>
            <a:r>
              <a:rPr lang="en-US" sz="2300" dirty="0" err="1"/>
              <a:t>povećanja</a:t>
            </a:r>
            <a:r>
              <a:rPr lang="en-US" sz="2300" dirty="0"/>
              <a:t> </a:t>
            </a:r>
            <a:r>
              <a:rPr lang="en-US" sz="2300" dirty="0" err="1"/>
              <a:t>učinkovitosti</a:t>
            </a:r>
            <a:r>
              <a:rPr lang="en-US" sz="2300" dirty="0"/>
              <a:t> i </a:t>
            </a:r>
            <a:r>
              <a:rPr lang="en-US" sz="2300" dirty="0" err="1"/>
              <a:t>kvalitete</a:t>
            </a:r>
            <a:r>
              <a:rPr lang="en-US" sz="2300" dirty="0"/>
              <a:t>.</a:t>
            </a:r>
          </a:p>
          <a:p>
            <a:pPr marL="457200" indent="-457200">
              <a:buFont typeface="+mj-lt"/>
              <a:buAutoNum type="arabicPeriod"/>
            </a:pPr>
            <a:r>
              <a:rPr lang="en-US" sz="2300" b="1" dirty="0" err="1">
                <a:solidFill>
                  <a:srgbClr val="0FDCBD"/>
                </a:solidFill>
              </a:rPr>
              <a:t>Obuka</a:t>
            </a:r>
            <a:r>
              <a:rPr lang="en-US" sz="2300" b="1" dirty="0">
                <a:solidFill>
                  <a:srgbClr val="0FDCBD"/>
                </a:solidFill>
              </a:rPr>
              <a:t> i </a:t>
            </a:r>
            <a:r>
              <a:rPr lang="en-US" sz="2300" b="1" dirty="0" err="1">
                <a:solidFill>
                  <a:srgbClr val="0FDCBD"/>
                </a:solidFill>
              </a:rPr>
              <a:t>mentorstvo</a:t>
            </a:r>
            <a:r>
              <a:rPr lang="en-US" sz="2300" b="1" dirty="0">
                <a:solidFill>
                  <a:srgbClr val="0FDCBD"/>
                </a:solidFill>
              </a:rPr>
              <a:t>: </a:t>
            </a:r>
            <a:r>
              <a:rPr lang="en-US" sz="2300" dirty="0" err="1"/>
              <a:t>Pružanje</a:t>
            </a:r>
            <a:r>
              <a:rPr lang="en-US" sz="2300" dirty="0"/>
              <a:t> </a:t>
            </a:r>
            <a:r>
              <a:rPr lang="en-US" sz="2300" dirty="0" err="1"/>
              <a:t>članovima</a:t>
            </a:r>
            <a:r>
              <a:rPr lang="en-US" sz="2300" dirty="0"/>
              <a:t> </a:t>
            </a:r>
            <a:r>
              <a:rPr lang="en-US" sz="2300" dirty="0" err="1"/>
              <a:t>tima</a:t>
            </a:r>
            <a:r>
              <a:rPr lang="en-US" sz="2300" dirty="0"/>
              <a:t> </a:t>
            </a:r>
            <a:r>
              <a:rPr lang="en-US" sz="2300" dirty="0" err="1"/>
              <a:t>potrebne</a:t>
            </a:r>
            <a:r>
              <a:rPr lang="en-US" sz="2300" dirty="0"/>
              <a:t> </a:t>
            </a:r>
            <a:r>
              <a:rPr lang="en-US" sz="2300" dirty="0" err="1"/>
              <a:t>edukacije</a:t>
            </a:r>
            <a:r>
              <a:rPr lang="en-US" sz="2300" dirty="0"/>
              <a:t> </a:t>
            </a:r>
            <a:r>
              <a:rPr lang="en-US" sz="2300" dirty="0" err="1"/>
              <a:t>povezane</a:t>
            </a:r>
            <a:r>
              <a:rPr lang="en-US" sz="2300" dirty="0"/>
              <a:t> s </a:t>
            </a:r>
            <a:r>
              <a:rPr lang="en-US" sz="2300" dirty="0" err="1"/>
              <a:t>kvalitetom</a:t>
            </a:r>
            <a:r>
              <a:rPr lang="en-US" sz="2300" dirty="0"/>
              <a:t> </a:t>
            </a:r>
            <a:r>
              <a:rPr lang="en-US" sz="2300" dirty="0" err="1"/>
              <a:t>kako</a:t>
            </a:r>
            <a:r>
              <a:rPr lang="en-US" sz="2300" dirty="0"/>
              <a:t> bi se </a:t>
            </a:r>
            <a:r>
              <a:rPr lang="en-US" sz="2300" dirty="0" err="1"/>
              <a:t>unaprijedila</a:t>
            </a:r>
            <a:r>
              <a:rPr lang="en-US" sz="2300" dirty="0"/>
              <a:t> </a:t>
            </a:r>
            <a:r>
              <a:rPr lang="en-US" sz="2300" dirty="0" err="1"/>
              <a:t>njihova</a:t>
            </a:r>
            <a:r>
              <a:rPr lang="en-US" sz="2300" dirty="0"/>
              <a:t> </a:t>
            </a:r>
            <a:r>
              <a:rPr lang="en-US" sz="2300" dirty="0" err="1"/>
              <a:t>sposobnost</a:t>
            </a:r>
            <a:r>
              <a:rPr lang="en-US" sz="2300" dirty="0"/>
              <a:t> </a:t>
            </a:r>
            <a:r>
              <a:rPr lang="en-US" sz="2300" dirty="0" err="1"/>
              <a:t>isporuke</a:t>
            </a:r>
            <a:r>
              <a:rPr lang="en-US" sz="2300" dirty="0"/>
              <a:t> </a:t>
            </a:r>
            <a:r>
              <a:rPr lang="en-US" sz="2300" dirty="0" err="1"/>
              <a:t>visokokvalitetnih</a:t>
            </a:r>
            <a:r>
              <a:rPr lang="en-US" sz="2300" dirty="0"/>
              <a:t> </a:t>
            </a:r>
            <a:r>
              <a:rPr lang="en-US" sz="2300" dirty="0" err="1"/>
              <a:t>rezultata</a:t>
            </a:r>
            <a:r>
              <a:rPr lang="en-US" sz="2300" dirty="0"/>
              <a:t>.</a:t>
            </a:r>
          </a:p>
          <a:p>
            <a:pPr marL="457200" lvl="1" indent="0">
              <a:buNone/>
            </a:pPr>
            <a:endParaRPr lang="en-US" sz="2300" dirty="0"/>
          </a:p>
          <a:p>
            <a:pPr marL="0" indent="0">
              <a:buNone/>
            </a:pPr>
            <a:endParaRPr lang="en-US" sz="2200" dirty="0"/>
          </a:p>
        </p:txBody>
      </p:sp>
    </p:spTree>
    <p:extLst>
      <p:ext uri="{BB962C8B-B14F-4D97-AF65-F5344CB8AC3E}">
        <p14:creationId xmlns:p14="http://schemas.microsoft.com/office/powerpoint/2010/main" val="1063912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B24B9-106E-9C2B-4EF2-3C7A10576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03D68-0A48-5503-5A72-EB38EBB3A1F8}"/>
              </a:ext>
            </a:extLst>
          </p:cNvPr>
          <p:cNvSpPr>
            <a:spLocks noGrp="1"/>
          </p:cNvSpPr>
          <p:nvPr>
            <p:ph type="title"/>
          </p:nvPr>
        </p:nvSpPr>
        <p:spPr/>
        <p:txBody>
          <a:bodyPr/>
          <a:lstStyle/>
          <a:p>
            <a:r>
              <a:rPr lang="en-US" sz="3800" dirty="0">
                <a:latin typeface="Bahnschrift SemiBold"/>
                <a:ea typeface="+mn-ea"/>
                <a:cs typeface="+mn-cs"/>
              </a:rPr>
              <a:t>2. Upravljanje </a:t>
            </a:r>
            <a:r>
              <a:rPr lang="en-US" sz="3800" dirty="0" err="1">
                <a:latin typeface="Bahnschrift SemiBold"/>
                <a:ea typeface="+mn-ea"/>
                <a:cs typeface="+mn-cs"/>
              </a:rPr>
              <a:t>kvalitetom</a:t>
            </a:r>
            <a:r>
              <a:rPr lang="hr-HR" sz="3800" dirty="0">
                <a:latin typeface="Bahnschrift SemiBold"/>
                <a:ea typeface="+mn-ea"/>
                <a:cs typeface="+mn-cs"/>
              </a:rPr>
              <a:t> </a:t>
            </a:r>
            <a:r>
              <a:rPr lang="en-US" sz="3800" dirty="0">
                <a:latin typeface="Bahnschrift SemiBold"/>
                <a:ea typeface="+mn-ea"/>
                <a:cs typeface="+mn-cs"/>
              </a:rPr>
              <a:t>II.</a:t>
            </a:r>
            <a:br>
              <a:rPr 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C7CFF9DE-8E47-3CB8-CEA8-EA394B2E045B}"/>
              </a:ext>
            </a:extLst>
          </p:cNvPr>
          <p:cNvSpPr>
            <a:spLocks noGrp="1"/>
          </p:cNvSpPr>
          <p:nvPr>
            <p:ph idx="1"/>
          </p:nvPr>
        </p:nvSpPr>
        <p:spPr/>
        <p:txBody>
          <a:bodyPr>
            <a:noAutofit/>
          </a:bodyPr>
          <a:lstStyle/>
          <a:p>
            <a:pPr>
              <a:lnSpc>
                <a:spcPct val="100000"/>
              </a:lnSpc>
              <a:buNone/>
            </a:pPr>
            <a:r>
              <a:rPr lang="en-US" sz="2600" b="1" dirty="0">
                <a:solidFill>
                  <a:srgbClr val="0ADBBC"/>
                </a:solidFill>
              </a:rPr>
              <a:t>KLJUČNE ISPORUČEVINE (deliverables):</a:t>
            </a:r>
          </a:p>
          <a:p>
            <a:pPr>
              <a:lnSpc>
                <a:spcPct val="100000"/>
              </a:lnSpc>
              <a:buNone/>
            </a:pPr>
            <a:endParaRPr lang="en-US" sz="2600" b="1" dirty="0">
              <a:solidFill>
                <a:srgbClr val="0ADBBC"/>
              </a:solidFill>
            </a:endParaRPr>
          </a:p>
          <a:p>
            <a:pPr marL="914400" lvl="1" indent="-457200">
              <a:buFont typeface="+mj-lt"/>
              <a:buAutoNum type="arabicPeriod"/>
            </a:pPr>
            <a:r>
              <a:rPr lang="en-US" sz="2600" b="1" dirty="0" err="1">
                <a:solidFill>
                  <a:srgbClr val="0ADBBC"/>
                </a:solidFill>
              </a:rPr>
              <a:t>Izvješća</a:t>
            </a:r>
            <a:r>
              <a:rPr lang="en-US" sz="2600" b="1" dirty="0">
                <a:solidFill>
                  <a:srgbClr val="0ADBBC"/>
                </a:solidFill>
              </a:rPr>
              <a:t> o </a:t>
            </a:r>
            <a:r>
              <a:rPr lang="en-US" sz="2600" b="1" dirty="0" err="1">
                <a:solidFill>
                  <a:srgbClr val="0ADBBC"/>
                </a:solidFill>
              </a:rPr>
              <a:t>kvaliteti</a:t>
            </a:r>
            <a:r>
              <a:rPr lang="en-US" sz="2600" b="1" dirty="0">
                <a:solidFill>
                  <a:srgbClr val="0ADBBC"/>
                </a:solidFill>
              </a:rPr>
              <a:t>: </a:t>
            </a:r>
            <a:r>
              <a:rPr lang="en-US" sz="2600" dirty="0"/>
              <a:t>Dokumentacija </a:t>
            </a:r>
            <a:r>
              <a:rPr lang="en-US" sz="2600" dirty="0" err="1"/>
              <a:t>rezultata</a:t>
            </a:r>
            <a:r>
              <a:rPr lang="en-US" sz="2600" dirty="0"/>
              <a:t> </a:t>
            </a:r>
            <a:r>
              <a:rPr lang="en-US" sz="2600" dirty="0" err="1"/>
              <a:t>aktivnosti</a:t>
            </a:r>
            <a:r>
              <a:rPr lang="en-US" sz="2600" dirty="0"/>
              <a:t> </a:t>
            </a:r>
            <a:r>
              <a:rPr lang="en-US" sz="2600" dirty="0" err="1"/>
              <a:t>osiguranja</a:t>
            </a:r>
            <a:r>
              <a:rPr lang="en-US" sz="2600" dirty="0"/>
              <a:t> </a:t>
            </a:r>
            <a:r>
              <a:rPr lang="en-US" sz="2600" dirty="0" err="1"/>
              <a:t>kvalitete</a:t>
            </a:r>
            <a:r>
              <a:rPr lang="en-US" sz="2600" dirty="0"/>
              <a:t>, </a:t>
            </a:r>
            <a:r>
              <a:rPr lang="en-US" sz="2600" dirty="0" err="1"/>
              <a:t>uključujući</a:t>
            </a:r>
            <a:r>
              <a:rPr lang="en-US" sz="2600" dirty="0"/>
              <a:t> </a:t>
            </a:r>
            <a:r>
              <a:rPr lang="en-US" sz="2600" dirty="0" err="1"/>
              <a:t>nalaze</a:t>
            </a:r>
            <a:r>
              <a:rPr lang="en-US" sz="2600" dirty="0"/>
              <a:t> </a:t>
            </a:r>
            <a:r>
              <a:rPr lang="en-US" sz="2600" dirty="0" err="1"/>
              <a:t>revizija</a:t>
            </a:r>
            <a:r>
              <a:rPr lang="en-US" sz="2600" dirty="0"/>
              <a:t>, </a:t>
            </a:r>
            <a:r>
              <a:rPr lang="en-US" sz="2600" dirty="0" err="1"/>
              <a:t>poboljšanja</a:t>
            </a:r>
            <a:r>
              <a:rPr lang="en-US" sz="2600" dirty="0"/>
              <a:t> i </a:t>
            </a:r>
            <a:r>
              <a:rPr lang="en-US" sz="2600" dirty="0" err="1"/>
              <a:t>ukupnu</a:t>
            </a:r>
            <a:r>
              <a:rPr lang="en-US" sz="2600" dirty="0"/>
              <a:t> </a:t>
            </a:r>
            <a:r>
              <a:rPr lang="en-US" sz="2600" dirty="0" err="1"/>
              <a:t>uspješnost</a:t>
            </a:r>
            <a:r>
              <a:rPr lang="en-US" sz="2600" dirty="0"/>
              <a:t> </a:t>
            </a:r>
            <a:r>
              <a:rPr lang="en-US" sz="2600" dirty="0" err="1"/>
              <a:t>kvalitete</a:t>
            </a:r>
            <a:r>
              <a:rPr lang="en-US" sz="2600" dirty="0"/>
              <a:t>.</a:t>
            </a:r>
          </a:p>
          <a:p>
            <a:pPr marL="914400" lvl="1" indent="-457200">
              <a:buFont typeface="+mj-lt"/>
              <a:buAutoNum type="arabicPeriod"/>
            </a:pPr>
            <a:endParaRPr lang="en-US" sz="2600" b="1" dirty="0">
              <a:solidFill>
                <a:srgbClr val="0ADBBC"/>
              </a:solidFill>
            </a:endParaRPr>
          </a:p>
          <a:p>
            <a:pPr marL="914400" lvl="1" indent="-457200">
              <a:buFont typeface="+mj-lt"/>
              <a:buAutoNum type="arabicPeriod"/>
            </a:pPr>
            <a:r>
              <a:rPr lang="en-US" sz="2600" b="1" dirty="0">
                <a:solidFill>
                  <a:srgbClr val="0ADBBC"/>
                </a:solidFill>
              </a:rPr>
              <a:t>Zahtjevi za </a:t>
            </a:r>
            <a:r>
              <a:rPr lang="en-US" sz="2600" b="1" dirty="0" err="1">
                <a:solidFill>
                  <a:srgbClr val="0ADBBC"/>
                </a:solidFill>
              </a:rPr>
              <a:t>promjenama</a:t>
            </a:r>
            <a:r>
              <a:rPr lang="en-US" sz="2600" b="1" dirty="0">
                <a:solidFill>
                  <a:srgbClr val="0ADBBC"/>
                </a:solidFill>
              </a:rPr>
              <a:t>: </a:t>
            </a:r>
            <a:r>
              <a:rPr lang="en-US" sz="2600" dirty="0" err="1"/>
              <a:t>Identificiranje</a:t>
            </a:r>
            <a:r>
              <a:rPr lang="en-US" sz="2600" dirty="0"/>
              <a:t> </a:t>
            </a:r>
            <a:r>
              <a:rPr lang="en-US" sz="2600" dirty="0" err="1"/>
              <a:t>potrebe</a:t>
            </a:r>
            <a:r>
              <a:rPr lang="en-US" sz="2600" dirty="0"/>
              <a:t> za </a:t>
            </a:r>
            <a:r>
              <a:rPr lang="en-US" sz="2600" dirty="0" err="1"/>
              <a:t>prilagodbama</a:t>
            </a:r>
            <a:r>
              <a:rPr lang="en-US" sz="2600" dirty="0"/>
              <a:t> </a:t>
            </a:r>
            <a:r>
              <a:rPr lang="en-US" sz="2600" dirty="0" err="1"/>
              <a:t>projektnog</a:t>
            </a:r>
            <a:r>
              <a:rPr lang="en-US" sz="2600" dirty="0"/>
              <a:t> plana </a:t>
            </a:r>
            <a:r>
              <a:rPr lang="en-US" sz="2600" dirty="0" err="1"/>
              <a:t>radi</a:t>
            </a:r>
            <a:r>
              <a:rPr lang="en-US" sz="2600" dirty="0"/>
              <a:t> </a:t>
            </a:r>
            <a:r>
              <a:rPr lang="en-US" sz="2600" dirty="0" err="1"/>
              <a:t>poboljšanja</a:t>
            </a:r>
            <a:r>
              <a:rPr lang="en-US" sz="2600" dirty="0"/>
              <a:t> </a:t>
            </a:r>
            <a:r>
              <a:rPr lang="en-US" sz="2600" dirty="0" err="1"/>
              <a:t>kvalitete</a:t>
            </a:r>
            <a:r>
              <a:rPr lang="en-US" sz="2600" dirty="0"/>
              <a:t>.</a:t>
            </a:r>
          </a:p>
          <a:p>
            <a:pPr marL="0" indent="0">
              <a:buNone/>
            </a:pPr>
            <a:endParaRPr lang="en-US" sz="2200" dirty="0"/>
          </a:p>
        </p:txBody>
      </p:sp>
    </p:spTree>
    <p:extLst>
      <p:ext uri="{BB962C8B-B14F-4D97-AF65-F5344CB8AC3E}">
        <p14:creationId xmlns:p14="http://schemas.microsoft.com/office/powerpoint/2010/main" val="2282931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0942C-D8F5-416F-B113-F09FEC8AC2D1}"/>
              </a:ext>
            </a:extLst>
          </p:cNvPr>
          <p:cNvSpPr>
            <a:spLocks noGrp="1"/>
          </p:cNvSpPr>
          <p:nvPr>
            <p:ph type="title"/>
          </p:nvPr>
        </p:nvSpPr>
        <p:spPr/>
        <p:txBody>
          <a:bodyPr>
            <a:normAutofit/>
          </a:bodyPr>
          <a:lstStyle/>
          <a:p>
            <a:r>
              <a:rPr lang="en-US" sz="3800" dirty="0">
                <a:latin typeface="Bahnschrift SemiBold"/>
                <a:ea typeface="+mn-ea"/>
                <a:cs typeface="+mn-cs"/>
              </a:rPr>
              <a:t>3. Kontrola </a:t>
            </a:r>
            <a:r>
              <a:rPr lang="en-US" sz="3800" dirty="0" err="1">
                <a:latin typeface="Bahnschrift SemiBold"/>
                <a:ea typeface="+mn-ea"/>
                <a:cs typeface="+mn-cs"/>
              </a:rPr>
              <a:t>kvalitete</a:t>
            </a:r>
            <a:r>
              <a:rPr lang="en-US" sz="3800" dirty="0">
                <a:latin typeface="Bahnschrift SemiBold"/>
                <a:ea typeface="+mn-ea"/>
                <a:cs typeface="+mn-cs"/>
              </a:rPr>
              <a:t> I.</a:t>
            </a:r>
            <a:br>
              <a:rPr 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C82AF942-3A79-A506-088C-C23A1F4E20E1}"/>
              </a:ext>
            </a:extLst>
          </p:cNvPr>
          <p:cNvSpPr>
            <a:spLocks noGrp="1"/>
          </p:cNvSpPr>
          <p:nvPr>
            <p:ph idx="1"/>
          </p:nvPr>
        </p:nvSpPr>
        <p:spPr>
          <a:xfrm>
            <a:off x="533400" y="1690688"/>
            <a:ext cx="10515600" cy="4351338"/>
          </a:xfrm>
        </p:spPr>
        <p:txBody>
          <a:bodyPr>
            <a:noAutofit/>
          </a:bodyPr>
          <a:lstStyle/>
          <a:p>
            <a:pPr>
              <a:buNone/>
            </a:pPr>
            <a:endParaRPr lang="en-US" sz="800" b="1" dirty="0"/>
          </a:p>
          <a:p>
            <a:r>
              <a:rPr lang="en-US" dirty="0" err="1"/>
              <a:t>Proces</a:t>
            </a:r>
            <a:r>
              <a:rPr lang="en-US" dirty="0"/>
              <a:t> </a:t>
            </a:r>
            <a:r>
              <a:rPr lang="en-US" b="1" dirty="0" err="1"/>
              <a:t>kontrole</a:t>
            </a:r>
            <a:r>
              <a:rPr lang="en-US" b="1" dirty="0"/>
              <a:t> </a:t>
            </a:r>
            <a:r>
              <a:rPr lang="en-US" b="1" dirty="0" err="1"/>
              <a:t>kvalitete</a:t>
            </a:r>
            <a:r>
              <a:rPr lang="hr-HR" b="1" dirty="0"/>
              <a:t> (</a:t>
            </a:r>
            <a:r>
              <a:rPr lang="hr-HR" b="1" i="1" dirty="0" err="1"/>
              <a:t>Control</a:t>
            </a:r>
            <a:r>
              <a:rPr lang="hr-HR" b="1" i="1" dirty="0"/>
              <a:t> </a:t>
            </a:r>
            <a:r>
              <a:rPr lang="hr-HR" b="1" i="1" dirty="0" err="1"/>
              <a:t>Quality</a:t>
            </a:r>
            <a:r>
              <a:rPr lang="hr-HR" b="1" dirty="0"/>
              <a:t>)</a:t>
            </a:r>
            <a:r>
              <a:rPr lang="en-US" b="1" dirty="0"/>
              <a:t> </a:t>
            </a:r>
            <a:r>
              <a:rPr lang="en-US" dirty="0" err="1"/>
              <a:t>uključuje</a:t>
            </a:r>
            <a:r>
              <a:rPr lang="en-US" dirty="0"/>
              <a:t> </a:t>
            </a:r>
            <a:r>
              <a:rPr lang="en-US" dirty="0" err="1"/>
              <a:t>praćenje</a:t>
            </a:r>
            <a:r>
              <a:rPr lang="en-US" dirty="0"/>
              <a:t> i </a:t>
            </a:r>
            <a:r>
              <a:rPr lang="en-US" dirty="0" err="1"/>
              <a:t>mjerenje</a:t>
            </a:r>
            <a:r>
              <a:rPr lang="en-US" dirty="0"/>
              <a:t> </a:t>
            </a:r>
            <a:r>
              <a:rPr lang="en-US" dirty="0" err="1"/>
              <a:t>rezultata</a:t>
            </a:r>
            <a:r>
              <a:rPr lang="en-US" dirty="0"/>
              <a:t> </a:t>
            </a:r>
            <a:r>
              <a:rPr lang="en-US" dirty="0" err="1"/>
              <a:t>projekta</a:t>
            </a:r>
            <a:r>
              <a:rPr lang="en-US" dirty="0"/>
              <a:t> </a:t>
            </a:r>
            <a:r>
              <a:rPr lang="en-US" dirty="0" err="1"/>
              <a:t>kako</a:t>
            </a:r>
            <a:r>
              <a:rPr lang="en-US" dirty="0"/>
              <a:t> bi se </a:t>
            </a:r>
            <a:r>
              <a:rPr lang="en-US" dirty="0" err="1"/>
              <a:t>osiguralo</a:t>
            </a:r>
            <a:r>
              <a:rPr lang="en-US" dirty="0"/>
              <a:t> da </a:t>
            </a:r>
            <a:r>
              <a:rPr lang="en-US" dirty="0" err="1"/>
              <a:t>zadovoljavaju</a:t>
            </a:r>
            <a:r>
              <a:rPr lang="en-US" dirty="0"/>
              <a:t> </a:t>
            </a:r>
            <a:r>
              <a:rPr lang="en-US" dirty="0" err="1"/>
              <a:t>definirane</a:t>
            </a:r>
            <a:r>
              <a:rPr lang="en-US" dirty="0"/>
              <a:t> </a:t>
            </a:r>
            <a:r>
              <a:rPr lang="en-US" dirty="0" err="1"/>
              <a:t>standarde</a:t>
            </a:r>
            <a:r>
              <a:rPr lang="en-US" dirty="0"/>
              <a:t> </a:t>
            </a:r>
            <a:r>
              <a:rPr lang="en-US" dirty="0" err="1"/>
              <a:t>kvalitete</a:t>
            </a:r>
            <a:r>
              <a:rPr lang="en-US" dirty="0"/>
              <a:t>.</a:t>
            </a:r>
          </a:p>
          <a:p>
            <a:endParaRPr lang="en-US" dirty="0"/>
          </a:p>
          <a:p>
            <a:r>
              <a:rPr lang="en-US" dirty="0"/>
              <a:t>To se </a:t>
            </a:r>
            <a:r>
              <a:rPr lang="en-US" dirty="0" err="1"/>
              <a:t>također</a:t>
            </a:r>
            <a:r>
              <a:rPr lang="en-US" dirty="0"/>
              <a:t> </a:t>
            </a:r>
            <a:r>
              <a:rPr lang="en-US" dirty="0" err="1"/>
              <a:t>naziva</a:t>
            </a:r>
            <a:r>
              <a:rPr lang="en-US" dirty="0"/>
              <a:t> </a:t>
            </a:r>
            <a:r>
              <a:rPr lang="hr-HR" i="1" dirty="0" err="1"/>
              <a:t>quality</a:t>
            </a:r>
            <a:r>
              <a:rPr lang="hr-HR" i="1" dirty="0"/>
              <a:t> </a:t>
            </a:r>
            <a:r>
              <a:rPr lang="hr-HR" i="1" dirty="0" err="1"/>
              <a:t>control</a:t>
            </a:r>
            <a:r>
              <a:rPr lang="hr-HR" i="1" dirty="0"/>
              <a:t> </a:t>
            </a:r>
            <a:r>
              <a:rPr lang="hr-HR" dirty="0"/>
              <a:t>(</a:t>
            </a:r>
            <a:r>
              <a:rPr lang="en-US" dirty="0"/>
              <a:t>QC) i </a:t>
            </a:r>
            <a:r>
              <a:rPr lang="en-US" dirty="0" err="1"/>
              <a:t>fokusira</a:t>
            </a:r>
            <a:r>
              <a:rPr lang="en-US" dirty="0"/>
              <a:t> se </a:t>
            </a:r>
            <a:r>
              <a:rPr lang="en-US" dirty="0" err="1"/>
              <a:t>na</a:t>
            </a:r>
            <a:r>
              <a:rPr lang="en-US" dirty="0"/>
              <a:t> </a:t>
            </a:r>
            <a:r>
              <a:rPr lang="en-US" dirty="0" err="1"/>
              <a:t>identificiranje</a:t>
            </a:r>
            <a:r>
              <a:rPr lang="en-US" dirty="0"/>
              <a:t> </a:t>
            </a:r>
            <a:r>
              <a:rPr lang="en-US" dirty="0" err="1"/>
              <a:t>nedostataka</a:t>
            </a:r>
            <a:r>
              <a:rPr lang="en-US" dirty="0"/>
              <a:t> </a:t>
            </a:r>
            <a:r>
              <a:rPr lang="en-US" dirty="0" err="1"/>
              <a:t>ili</a:t>
            </a:r>
            <a:r>
              <a:rPr lang="en-US" dirty="0"/>
              <a:t> </a:t>
            </a:r>
            <a:r>
              <a:rPr lang="en-US" dirty="0" err="1"/>
              <a:t>odstupanja</a:t>
            </a:r>
            <a:r>
              <a:rPr lang="en-US" dirty="0"/>
              <a:t> u </a:t>
            </a:r>
            <a:r>
              <a:rPr lang="en-US" dirty="0" err="1"/>
              <a:t>isporučivim</a:t>
            </a:r>
            <a:r>
              <a:rPr lang="en-US" dirty="0"/>
              <a:t> </a:t>
            </a:r>
            <a:r>
              <a:rPr lang="en-US" dirty="0" err="1"/>
              <a:t>rezultatima</a:t>
            </a:r>
            <a:r>
              <a:rPr lang="en-US" dirty="0"/>
              <a:t> </a:t>
            </a:r>
            <a:r>
              <a:rPr lang="en-US" dirty="0" err="1"/>
              <a:t>te</a:t>
            </a:r>
            <a:r>
              <a:rPr lang="en-US" dirty="0"/>
              <a:t> </a:t>
            </a:r>
            <a:r>
              <a:rPr lang="en-US" dirty="0" err="1"/>
              <a:t>poduzimanje</a:t>
            </a:r>
            <a:r>
              <a:rPr lang="en-US" dirty="0"/>
              <a:t> </a:t>
            </a:r>
            <a:r>
              <a:rPr lang="en-US" dirty="0" err="1"/>
              <a:t>korektivnih</a:t>
            </a:r>
            <a:r>
              <a:rPr lang="en-US" dirty="0"/>
              <a:t> </a:t>
            </a:r>
            <a:r>
              <a:rPr lang="en-US" dirty="0" err="1"/>
              <a:t>mjera</a:t>
            </a:r>
            <a:r>
              <a:rPr lang="en-US" dirty="0"/>
              <a:t> </a:t>
            </a:r>
            <a:r>
              <a:rPr lang="en-US" dirty="0" err="1"/>
              <a:t>kada</a:t>
            </a:r>
            <a:r>
              <a:rPr lang="en-US" dirty="0"/>
              <a:t> je to </a:t>
            </a:r>
            <a:r>
              <a:rPr lang="en-US" dirty="0" err="1"/>
              <a:t>potrebno</a:t>
            </a:r>
            <a:r>
              <a:rPr lang="en-US" dirty="0"/>
              <a:t>.</a:t>
            </a:r>
          </a:p>
        </p:txBody>
      </p:sp>
    </p:spTree>
    <p:extLst>
      <p:ext uri="{BB962C8B-B14F-4D97-AF65-F5344CB8AC3E}">
        <p14:creationId xmlns:p14="http://schemas.microsoft.com/office/powerpoint/2010/main" val="33882441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1E047-15CC-C3A2-7E35-DC6B89184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8DAEA-3A0E-2547-706B-353E7CF876D4}"/>
              </a:ext>
            </a:extLst>
          </p:cNvPr>
          <p:cNvSpPr>
            <a:spLocks noGrp="1"/>
          </p:cNvSpPr>
          <p:nvPr>
            <p:ph type="title"/>
          </p:nvPr>
        </p:nvSpPr>
        <p:spPr/>
        <p:txBody>
          <a:bodyPr/>
          <a:lstStyle/>
          <a:p>
            <a:r>
              <a:rPr lang="en-US" sz="3800" dirty="0">
                <a:latin typeface="Bahnschrift SemiBold"/>
                <a:ea typeface="+mn-ea"/>
                <a:cs typeface="+mn-cs"/>
              </a:rPr>
              <a:t>3. Kontrola </a:t>
            </a:r>
            <a:r>
              <a:rPr lang="en-US" sz="3800" dirty="0" err="1">
                <a:latin typeface="Bahnschrift SemiBold"/>
                <a:ea typeface="+mn-ea"/>
                <a:cs typeface="+mn-cs"/>
              </a:rPr>
              <a:t>kvalitete</a:t>
            </a:r>
            <a:r>
              <a:rPr lang="en-US" sz="3800" dirty="0">
                <a:latin typeface="Bahnschrift SemiBold"/>
                <a:ea typeface="+mn-ea"/>
                <a:cs typeface="+mn-cs"/>
              </a:rPr>
              <a:t> I.</a:t>
            </a:r>
            <a:br>
              <a:rPr 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74F9A85B-1B80-B87C-C7F2-BA4E1ABC6271}"/>
              </a:ext>
            </a:extLst>
          </p:cNvPr>
          <p:cNvSpPr>
            <a:spLocks noGrp="1"/>
          </p:cNvSpPr>
          <p:nvPr>
            <p:ph idx="1"/>
          </p:nvPr>
        </p:nvSpPr>
        <p:spPr>
          <a:xfrm>
            <a:off x="729343" y="1690688"/>
            <a:ext cx="10319656" cy="4699226"/>
          </a:xfrm>
        </p:spPr>
        <p:txBody>
          <a:bodyPr>
            <a:noAutofit/>
          </a:bodyPr>
          <a:lstStyle/>
          <a:p>
            <a:pPr>
              <a:lnSpc>
                <a:spcPct val="100000"/>
              </a:lnSpc>
              <a:buNone/>
            </a:pPr>
            <a:r>
              <a:rPr lang="hr-HR" b="1" dirty="0">
                <a:solidFill>
                  <a:srgbClr val="0ADBBC"/>
                </a:solidFill>
              </a:rPr>
              <a:t>KLJUČNE AKTIVNOSTI</a:t>
            </a:r>
            <a:r>
              <a:rPr lang="en-US" b="1" dirty="0">
                <a:solidFill>
                  <a:srgbClr val="0ADBBC"/>
                </a:solidFill>
              </a:rPr>
              <a:t>:</a:t>
            </a:r>
          </a:p>
          <a:p>
            <a:pPr>
              <a:lnSpc>
                <a:spcPct val="100000"/>
              </a:lnSpc>
              <a:buNone/>
            </a:pPr>
            <a:endParaRPr lang="en-US" b="1" dirty="0">
              <a:solidFill>
                <a:srgbClr val="0ADBBC"/>
              </a:solidFill>
            </a:endParaRPr>
          </a:p>
          <a:p>
            <a:pPr marL="914400" lvl="1" indent="-457200">
              <a:buFont typeface="+mj-lt"/>
              <a:buAutoNum type="arabicPeriod"/>
            </a:pPr>
            <a:r>
              <a:rPr lang="en-US" sz="2800" b="1" dirty="0" err="1">
                <a:solidFill>
                  <a:srgbClr val="0ADBBC"/>
                </a:solidFill>
              </a:rPr>
              <a:t>Inspekcije</a:t>
            </a:r>
            <a:r>
              <a:rPr lang="en-US" sz="2800" b="1" dirty="0">
                <a:solidFill>
                  <a:srgbClr val="0ADBBC"/>
                </a:solidFill>
              </a:rPr>
              <a:t> i </a:t>
            </a:r>
            <a:r>
              <a:rPr lang="en-US" sz="2800" b="1" dirty="0" err="1">
                <a:solidFill>
                  <a:srgbClr val="0ADBBC"/>
                </a:solidFill>
              </a:rPr>
              <a:t>testiranje</a:t>
            </a:r>
            <a:r>
              <a:rPr lang="en-US" sz="2800" b="1" dirty="0">
                <a:solidFill>
                  <a:srgbClr val="0ADBBC"/>
                </a:solidFill>
              </a:rPr>
              <a:t>: </a:t>
            </a:r>
            <a:r>
              <a:rPr lang="en-US" sz="2800" dirty="0" err="1"/>
              <a:t>Provjera</a:t>
            </a:r>
            <a:r>
              <a:rPr lang="en-US" sz="2800" dirty="0"/>
              <a:t> da </a:t>
            </a:r>
            <a:r>
              <a:rPr lang="en-US" sz="2800" dirty="0" err="1"/>
              <a:t>isporučivi</a:t>
            </a:r>
            <a:r>
              <a:rPr lang="en-US" sz="2800" dirty="0"/>
              <a:t> </a:t>
            </a:r>
            <a:r>
              <a:rPr lang="en-US" sz="2800" dirty="0" err="1"/>
              <a:t>rezultati</a:t>
            </a:r>
            <a:r>
              <a:rPr lang="en-US" sz="2800" dirty="0"/>
              <a:t> </a:t>
            </a:r>
            <a:r>
              <a:rPr lang="en-US" sz="2800" dirty="0" err="1"/>
              <a:t>odgovaraju</a:t>
            </a:r>
            <a:r>
              <a:rPr lang="en-US" sz="2800" dirty="0"/>
              <a:t> </a:t>
            </a:r>
            <a:r>
              <a:rPr lang="en-US" sz="2800" dirty="0" err="1"/>
              <a:t>specifikacijama</a:t>
            </a:r>
            <a:r>
              <a:rPr lang="en-US" sz="2800" dirty="0"/>
              <a:t> i </a:t>
            </a:r>
            <a:r>
              <a:rPr lang="en-US" sz="2800" dirty="0" err="1"/>
              <a:t>zahtjevima</a:t>
            </a:r>
            <a:r>
              <a:rPr lang="en-US" sz="2800" dirty="0"/>
              <a:t> </a:t>
            </a:r>
            <a:r>
              <a:rPr lang="en-US" sz="2800" dirty="0" err="1"/>
              <a:t>putem</a:t>
            </a:r>
            <a:r>
              <a:rPr lang="en-US" sz="2800" dirty="0"/>
              <a:t> </a:t>
            </a:r>
            <a:r>
              <a:rPr lang="en-US" sz="2800" dirty="0" err="1"/>
              <a:t>fizičkih</a:t>
            </a:r>
            <a:r>
              <a:rPr lang="en-US" sz="2800" dirty="0"/>
              <a:t> </a:t>
            </a:r>
            <a:r>
              <a:rPr lang="en-US" sz="2800" dirty="0" err="1"/>
              <a:t>inspekcija</a:t>
            </a:r>
            <a:r>
              <a:rPr lang="en-US" sz="2800" dirty="0"/>
              <a:t>, </a:t>
            </a:r>
            <a:r>
              <a:rPr lang="en-US" sz="2800" dirty="0" err="1"/>
              <a:t>pregleda</a:t>
            </a:r>
            <a:r>
              <a:rPr lang="en-US" sz="2800" dirty="0"/>
              <a:t> i </a:t>
            </a:r>
            <a:r>
              <a:rPr lang="en-US" sz="2800" dirty="0" err="1"/>
              <a:t>testiranja</a:t>
            </a:r>
            <a:r>
              <a:rPr lang="en-US" sz="2800" dirty="0"/>
              <a:t>.</a:t>
            </a:r>
          </a:p>
          <a:p>
            <a:pPr marL="914400" lvl="1" indent="-457200">
              <a:buFont typeface="+mj-lt"/>
              <a:buAutoNum type="arabicPeriod"/>
            </a:pPr>
            <a:r>
              <a:rPr lang="en-US" sz="2800" b="1" dirty="0">
                <a:solidFill>
                  <a:srgbClr val="0ADBBC"/>
                </a:solidFill>
              </a:rPr>
              <a:t>Analiza </a:t>
            </a:r>
            <a:r>
              <a:rPr lang="en-US" sz="2800" b="1" dirty="0" err="1">
                <a:solidFill>
                  <a:srgbClr val="0ADBBC"/>
                </a:solidFill>
              </a:rPr>
              <a:t>podataka</a:t>
            </a:r>
            <a:r>
              <a:rPr lang="en-US" sz="2800" b="1" dirty="0">
                <a:solidFill>
                  <a:srgbClr val="0ADBBC"/>
                </a:solidFill>
              </a:rPr>
              <a:t>: </a:t>
            </a:r>
            <a:r>
              <a:rPr lang="en-US" sz="2800" dirty="0" err="1"/>
              <a:t>Analiziranje</a:t>
            </a:r>
            <a:r>
              <a:rPr lang="en-US" sz="2800" dirty="0"/>
              <a:t> </a:t>
            </a:r>
            <a:r>
              <a:rPr lang="en-US" sz="2800" dirty="0" err="1"/>
              <a:t>podataka</a:t>
            </a:r>
            <a:r>
              <a:rPr lang="en-US" sz="2800" dirty="0"/>
              <a:t> </a:t>
            </a:r>
            <a:r>
              <a:rPr lang="en-US" sz="2800" dirty="0" err="1"/>
              <a:t>iz</a:t>
            </a:r>
            <a:r>
              <a:rPr lang="en-US" sz="2800" dirty="0"/>
              <a:t> </a:t>
            </a:r>
            <a:r>
              <a:rPr lang="en-US" sz="2800" dirty="0" err="1"/>
              <a:t>inspekcija</a:t>
            </a:r>
            <a:r>
              <a:rPr lang="en-US" sz="2800" dirty="0"/>
              <a:t> i </a:t>
            </a:r>
            <a:r>
              <a:rPr lang="en-US" sz="2800" dirty="0" err="1"/>
              <a:t>testiranja</a:t>
            </a:r>
            <a:r>
              <a:rPr lang="en-US" sz="2800" dirty="0"/>
              <a:t> </a:t>
            </a:r>
            <a:r>
              <a:rPr lang="en-US" sz="2800" dirty="0" err="1"/>
              <a:t>kako</a:t>
            </a:r>
            <a:r>
              <a:rPr lang="en-US" sz="2800" dirty="0"/>
              <a:t> bi se </a:t>
            </a:r>
            <a:r>
              <a:rPr lang="en-US" sz="2800" dirty="0" err="1"/>
              <a:t>otkrili</a:t>
            </a:r>
            <a:r>
              <a:rPr lang="en-US" sz="2800" dirty="0"/>
              <a:t> </a:t>
            </a:r>
            <a:r>
              <a:rPr lang="en-US" sz="2800" dirty="0" err="1"/>
              <a:t>trendovi</a:t>
            </a:r>
            <a:r>
              <a:rPr lang="en-US" sz="2800" dirty="0"/>
              <a:t>, </a:t>
            </a:r>
            <a:r>
              <a:rPr lang="en-US" sz="2800" dirty="0" err="1"/>
              <a:t>identificirali</a:t>
            </a:r>
            <a:r>
              <a:rPr lang="en-US" sz="2800" dirty="0"/>
              <a:t> </a:t>
            </a:r>
            <a:r>
              <a:rPr lang="en-US" sz="2800" dirty="0" err="1"/>
              <a:t>uzroci</a:t>
            </a:r>
            <a:r>
              <a:rPr lang="en-US" sz="2800" dirty="0"/>
              <a:t> </a:t>
            </a:r>
            <a:r>
              <a:rPr lang="en-US" sz="2800" dirty="0" err="1"/>
              <a:t>problema</a:t>
            </a:r>
            <a:r>
              <a:rPr lang="en-US" sz="2800" dirty="0"/>
              <a:t> s </a:t>
            </a:r>
            <a:r>
              <a:rPr lang="en-US" sz="2800" dirty="0" err="1"/>
              <a:t>kvalitetom</a:t>
            </a:r>
            <a:r>
              <a:rPr lang="en-US" sz="2800" dirty="0"/>
              <a:t> i </a:t>
            </a:r>
            <a:r>
              <a:rPr lang="en-US" sz="2800" dirty="0" err="1"/>
              <a:t>poduzele</a:t>
            </a:r>
            <a:r>
              <a:rPr lang="en-US" sz="2800" dirty="0"/>
              <a:t> </a:t>
            </a:r>
            <a:r>
              <a:rPr lang="en-US" sz="2800" dirty="0" err="1"/>
              <a:t>korektivne</a:t>
            </a:r>
            <a:r>
              <a:rPr lang="en-US" sz="2800" dirty="0"/>
              <a:t> </a:t>
            </a:r>
            <a:r>
              <a:rPr lang="en-US" sz="2800" dirty="0" err="1"/>
              <a:t>mjere</a:t>
            </a:r>
            <a:r>
              <a:rPr lang="en-US" sz="2800" dirty="0"/>
              <a:t>.</a:t>
            </a:r>
          </a:p>
          <a:p>
            <a:pPr marL="914400" lvl="1" indent="-457200">
              <a:buFont typeface="+mj-lt"/>
              <a:buAutoNum type="arabicPeriod"/>
            </a:pPr>
            <a:r>
              <a:rPr lang="en-US" sz="2800" b="1" dirty="0" err="1">
                <a:solidFill>
                  <a:srgbClr val="0ADBBC"/>
                </a:solidFill>
              </a:rPr>
              <a:t>Korektivne</a:t>
            </a:r>
            <a:r>
              <a:rPr lang="en-US" sz="2800" b="1" dirty="0">
                <a:solidFill>
                  <a:srgbClr val="0ADBBC"/>
                </a:solidFill>
              </a:rPr>
              <a:t> </a:t>
            </a:r>
            <a:r>
              <a:rPr lang="en-US" sz="2800" b="1" dirty="0" err="1">
                <a:solidFill>
                  <a:srgbClr val="0ADBBC"/>
                </a:solidFill>
              </a:rPr>
              <a:t>mjere</a:t>
            </a:r>
            <a:r>
              <a:rPr lang="en-US" sz="2800" b="1" dirty="0">
                <a:solidFill>
                  <a:srgbClr val="0ADBBC"/>
                </a:solidFill>
              </a:rPr>
              <a:t>: </a:t>
            </a:r>
            <a:r>
              <a:rPr lang="en-US" sz="2800" dirty="0" err="1"/>
              <a:t>Poduzimanje</a:t>
            </a:r>
            <a:r>
              <a:rPr lang="en-US" sz="2800" dirty="0"/>
              <a:t> </a:t>
            </a:r>
            <a:r>
              <a:rPr lang="en-US" sz="2800" dirty="0" err="1"/>
              <a:t>radnji</a:t>
            </a:r>
            <a:r>
              <a:rPr lang="en-US" sz="2800" dirty="0"/>
              <a:t> za </a:t>
            </a:r>
            <a:r>
              <a:rPr lang="en-US" sz="2800" dirty="0" err="1"/>
              <a:t>rješavanje</a:t>
            </a:r>
            <a:r>
              <a:rPr lang="en-US" sz="2800" dirty="0"/>
              <a:t> </a:t>
            </a:r>
            <a:r>
              <a:rPr lang="en-US" sz="2800" dirty="0" err="1"/>
              <a:t>svih</a:t>
            </a:r>
            <a:r>
              <a:rPr lang="en-US" sz="2800" dirty="0"/>
              <a:t> </a:t>
            </a:r>
            <a:r>
              <a:rPr lang="en-US" sz="2800" dirty="0" err="1"/>
              <a:t>nedostataka</a:t>
            </a:r>
            <a:r>
              <a:rPr lang="en-US" sz="2800" dirty="0"/>
              <a:t> </a:t>
            </a:r>
            <a:r>
              <a:rPr lang="en-US" sz="2800" dirty="0" err="1"/>
              <a:t>ili</a:t>
            </a:r>
            <a:r>
              <a:rPr lang="en-US" sz="2800" dirty="0"/>
              <a:t> </a:t>
            </a:r>
            <a:r>
              <a:rPr lang="en-US" sz="2800" dirty="0" err="1"/>
              <a:t>odstupanja</a:t>
            </a:r>
            <a:r>
              <a:rPr lang="en-US" sz="2800" dirty="0"/>
              <a:t> </a:t>
            </a:r>
            <a:r>
              <a:rPr lang="en-US" sz="2800" dirty="0" err="1"/>
              <a:t>identificiranih</a:t>
            </a:r>
            <a:r>
              <a:rPr lang="en-US" sz="2800" dirty="0"/>
              <a:t> </a:t>
            </a:r>
            <a:r>
              <a:rPr lang="en-US" sz="2800" dirty="0" err="1"/>
              <a:t>tijekom</a:t>
            </a:r>
            <a:r>
              <a:rPr lang="en-US" sz="2800" dirty="0"/>
              <a:t> </a:t>
            </a:r>
            <a:r>
              <a:rPr lang="en-US" sz="2800" dirty="0" err="1"/>
              <a:t>aktivnosti</a:t>
            </a:r>
            <a:r>
              <a:rPr lang="en-US" sz="2800" dirty="0"/>
              <a:t> </a:t>
            </a:r>
            <a:r>
              <a:rPr lang="en-US" sz="2800" dirty="0" err="1"/>
              <a:t>kontrole</a:t>
            </a:r>
            <a:r>
              <a:rPr lang="en-US" sz="2800" dirty="0"/>
              <a:t> </a:t>
            </a:r>
            <a:r>
              <a:rPr lang="en-US" sz="2800" dirty="0" err="1"/>
              <a:t>kvalitete</a:t>
            </a:r>
            <a:r>
              <a:rPr lang="en-US" sz="2800" dirty="0"/>
              <a:t>.</a:t>
            </a:r>
          </a:p>
          <a:p>
            <a:pPr marL="0" indent="0">
              <a:buNone/>
            </a:pPr>
            <a:endParaRPr lang="ro-RO" dirty="0"/>
          </a:p>
          <a:p>
            <a:pPr marL="0" indent="0">
              <a:buNone/>
            </a:pPr>
            <a:endParaRPr lang="en-US" sz="2200" b="1" dirty="0">
              <a:solidFill>
                <a:srgbClr val="C00000"/>
              </a:solidFill>
            </a:endParaRPr>
          </a:p>
          <a:p>
            <a:pPr marL="0" indent="0">
              <a:buNone/>
            </a:pPr>
            <a:endParaRPr lang="en-US" sz="2200" b="1" dirty="0">
              <a:solidFill>
                <a:srgbClr val="C00000"/>
              </a:solidFill>
            </a:endParaRPr>
          </a:p>
          <a:p>
            <a:pPr marL="0" indent="0">
              <a:buNone/>
            </a:pPr>
            <a:endParaRPr lang="en-US" sz="2200" dirty="0"/>
          </a:p>
        </p:txBody>
      </p:sp>
    </p:spTree>
    <p:extLst>
      <p:ext uri="{BB962C8B-B14F-4D97-AF65-F5344CB8AC3E}">
        <p14:creationId xmlns:p14="http://schemas.microsoft.com/office/powerpoint/2010/main" val="3576800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CC0D2-9DE5-9F6D-9BA1-D840592F7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DFC89-C16F-5E9D-2097-D6251D7C8D17}"/>
              </a:ext>
            </a:extLst>
          </p:cNvPr>
          <p:cNvSpPr>
            <a:spLocks noGrp="1"/>
          </p:cNvSpPr>
          <p:nvPr>
            <p:ph type="title"/>
          </p:nvPr>
        </p:nvSpPr>
        <p:spPr/>
        <p:txBody>
          <a:bodyPr/>
          <a:lstStyle/>
          <a:p>
            <a:r>
              <a:rPr lang="en-US" sz="3800" dirty="0">
                <a:latin typeface="Bahnschrift SemiBold"/>
                <a:ea typeface="+mn-ea"/>
                <a:cs typeface="+mn-cs"/>
              </a:rPr>
              <a:t>3. </a:t>
            </a:r>
            <a:r>
              <a:rPr lang="en-US" sz="3800" dirty="0" err="1">
                <a:latin typeface="Bahnschrift SemiBold"/>
                <a:ea typeface="+mn-ea"/>
                <a:cs typeface="+mn-cs"/>
              </a:rPr>
              <a:t>Kontrola</a:t>
            </a:r>
            <a:r>
              <a:rPr lang="en-US" sz="3800" dirty="0">
                <a:latin typeface="Bahnschrift SemiBold"/>
                <a:ea typeface="+mn-ea"/>
                <a:cs typeface="+mn-cs"/>
              </a:rPr>
              <a:t> </a:t>
            </a:r>
            <a:r>
              <a:rPr lang="en-US" sz="3800" dirty="0" err="1">
                <a:latin typeface="Bahnschrift SemiBold"/>
                <a:ea typeface="+mn-ea"/>
                <a:cs typeface="+mn-cs"/>
              </a:rPr>
              <a:t>kvalitete</a:t>
            </a:r>
            <a:r>
              <a:rPr lang="en-US" sz="3800" dirty="0">
                <a:latin typeface="Bahnschrift SemiBold"/>
                <a:ea typeface="+mn-ea"/>
                <a:cs typeface="+mn-cs"/>
              </a:rPr>
              <a:t> II.</a:t>
            </a:r>
            <a:br>
              <a:rPr lang="en-US" sz="3800" dirty="0">
                <a:latin typeface="Bahnschrift SemiBold"/>
                <a:ea typeface="+mn-ea"/>
                <a:cs typeface="+mn-cs"/>
              </a:rPr>
            </a:b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80DB1FF7-C34A-837C-D16B-652BDC24DAEF}"/>
              </a:ext>
            </a:extLst>
          </p:cNvPr>
          <p:cNvSpPr>
            <a:spLocks noGrp="1"/>
          </p:cNvSpPr>
          <p:nvPr>
            <p:ph idx="1"/>
          </p:nvPr>
        </p:nvSpPr>
        <p:spPr>
          <a:xfrm>
            <a:off x="533400" y="1607911"/>
            <a:ext cx="10820400" cy="5075918"/>
          </a:xfrm>
        </p:spPr>
        <p:txBody>
          <a:bodyPr>
            <a:noAutofit/>
          </a:bodyPr>
          <a:lstStyle/>
          <a:p>
            <a:pPr>
              <a:lnSpc>
                <a:spcPct val="100000"/>
              </a:lnSpc>
              <a:buNone/>
            </a:pPr>
            <a:r>
              <a:rPr lang="en-US" b="1" dirty="0">
                <a:solidFill>
                  <a:srgbClr val="0ADBBC"/>
                </a:solidFill>
              </a:rPr>
              <a:t>KLJUČNE ISPORUČEVINE (deliverables):</a:t>
            </a:r>
          </a:p>
          <a:p>
            <a:pPr marL="0" indent="0">
              <a:buNone/>
            </a:pPr>
            <a:endParaRPr lang="en-US" sz="2200" dirty="0"/>
          </a:p>
          <a:p>
            <a:pPr marL="457200" indent="-457200">
              <a:buFont typeface="+mj-lt"/>
              <a:buAutoNum type="arabicPeriod"/>
            </a:pPr>
            <a:r>
              <a:rPr lang="en-US" sz="2400" b="1" dirty="0">
                <a:solidFill>
                  <a:srgbClr val="0ADBBC"/>
                </a:solidFill>
              </a:rPr>
              <a:t>Verificirani </a:t>
            </a:r>
            <a:r>
              <a:rPr lang="en-US" sz="2400" b="1" dirty="0" err="1">
                <a:solidFill>
                  <a:srgbClr val="0ADBBC"/>
                </a:solidFill>
              </a:rPr>
              <a:t>isporučivi</a:t>
            </a:r>
            <a:r>
              <a:rPr lang="en-US" sz="2400" b="1" dirty="0">
                <a:solidFill>
                  <a:srgbClr val="0ADBBC"/>
                </a:solidFill>
              </a:rPr>
              <a:t> </a:t>
            </a:r>
            <a:r>
              <a:rPr lang="en-US" sz="2400" b="1" dirty="0" err="1">
                <a:solidFill>
                  <a:srgbClr val="0ADBBC"/>
                </a:solidFill>
              </a:rPr>
              <a:t>rezultati</a:t>
            </a:r>
            <a:r>
              <a:rPr lang="en-US" sz="2400" b="1" dirty="0">
                <a:solidFill>
                  <a:srgbClr val="0ADBBC"/>
                </a:solidFill>
              </a:rPr>
              <a:t>: </a:t>
            </a:r>
            <a:r>
              <a:rPr lang="en-US" sz="2400" dirty="0" err="1"/>
              <a:t>Isporučivi</a:t>
            </a:r>
            <a:r>
              <a:rPr lang="en-US" sz="2400" dirty="0"/>
              <a:t> </a:t>
            </a:r>
            <a:r>
              <a:rPr lang="en-US" sz="2400" dirty="0" err="1"/>
              <a:t>rezultati</a:t>
            </a:r>
            <a:r>
              <a:rPr lang="en-US" sz="2400" dirty="0"/>
              <a:t> koji </a:t>
            </a:r>
            <a:r>
              <a:rPr lang="en-US" sz="2400" dirty="0" err="1"/>
              <a:t>su</a:t>
            </a:r>
            <a:r>
              <a:rPr lang="en-US" sz="2400" dirty="0"/>
              <a:t> </a:t>
            </a:r>
            <a:r>
              <a:rPr lang="en-US" sz="2400" dirty="0" err="1"/>
              <a:t>pregledani</a:t>
            </a:r>
            <a:r>
              <a:rPr lang="en-US" sz="2400" dirty="0"/>
              <a:t> i </a:t>
            </a:r>
            <a:r>
              <a:rPr lang="en-US" sz="2400" dirty="0" err="1"/>
              <a:t>odobreni</a:t>
            </a:r>
            <a:r>
              <a:rPr lang="en-US" sz="2400" dirty="0"/>
              <a:t> </a:t>
            </a:r>
            <a:r>
              <a:rPr lang="en-US" sz="2400" dirty="0" err="1"/>
              <a:t>na</a:t>
            </a:r>
            <a:r>
              <a:rPr lang="en-US" sz="2400" dirty="0"/>
              <a:t> </a:t>
            </a:r>
            <a:r>
              <a:rPr lang="en-US" sz="2400" dirty="0" err="1"/>
              <a:t>temelju</a:t>
            </a:r>
            <a:r>
              <a:rPr lang="en-US" sz="2400" dirty="0"/>
              <a:t> </a:t>
            </a:r>
            <a:r>
              <a:rPr lang="en-US" sz="2400" dirty="0" err="1"/>
              <a:t>standarda</a:t>
            </a:r>
            <a:r>
              <a:rPr lang="en-US" sz="2400" dirty="0"/>
              <a:t> </a:t>
            </a:r>
            <a:r>
              <a:rPr lang="en-US" sz="2400" dirty="0" err="1"/>
              <a:t>kvalitete</a:t>
            </a:r>
            <a:r>
              <a:rPr lang="en-US" sz="2400" dirty="0"/>
              <a:t>.</a:t>
            </a:r>
          </a:p>
          <a:p>
            <a:pPr marL="457200" indent="-457200">
              <a:buFont typeface="+mj-lt"/>
              <a:buAutoNum type="arabicPeriod"/>
            </a:pPr>
            <a:endParaRPr lang="en-US" sz="2400" b="1" dirty="0">
              <a:solidFill>
                <a:srgbClr val="0ADBBC"/>
              </a:solidFill>
            </a:endParaRPr>
          </a:p>
          <a:p>
            <a:pPr marL="457200" indent="-457200">
              <a:buFont typeface="+mj-lt"/>
              <a:buAutoNum type="arabicPeriod"/>
            </a:pPr>
            <a:r>
              <a:rPr lang="en-US" sz="2400" b="1" dirty="0" err="1">
                <a:solidFill>
                  <a:srgbClr val="0ADBBC"/>
                </a:solidFill>
              </a:rPr>
              <a:t>Mjerenja</a:t>
            </a:r>
            <a:r>
              <a:rPr lang="en-US" sz="2400" b="1" dirty="0">
                <a:solidFill>
                  <a:srgbClr val="0ADBBC"/>
                </a:solidFill>
              </a:rPr>
              <a:t> </a:t>
            </a:r>
            <a:r>
              <a:rPr lang="en-US" sz="2400" b="1" dirty="0" err="1">
                <a:solidFill>
                  <a:srgbClr val="0ADBBC"/>
                </a:solidFill>
              </a:rPr>
              <a:t>kontrole</a:t>
            </a:r>
            <a:r>
              <a:rPr lang="en-US" sz="2400" b="1" dirty="0">
                <a:solidFill>
                  <a:srgbClr val="0ADBBC"/>
                </a:solidFill>
              </a:rPr>
              <a:t> </a:t>
            </a:r>
            <a:r>
              <a:rPr lang="en-US" sz="2400" b="1" dirty="0" err="1">
                <a:solidFill>
                  <a:srgbClr val="0ADBBC"/>
                </a:solidFill>
              </a:rPr>
              <a:t>kvalitete</a:t>
            </a:r>
            <a:r>
              <a:rPr lang="en-US" sz="2400" b="1" dirty="0">
                <a:solidFill>
                  <a:srgbClr val="0ADBBC"/>
                </a:solidFill>
              </a:rPr>
              <a:t>: </a:t>
            </a:r>
            <a:r>
              <a:rPr lang="en-US" sz="2400" dirty="0" err="1"/>
              <a:t>Podaci</a:t>
            </a:r>
            <a:r>
              <a:rPr lang="en-US" sz="2400" dirty="0"/>
              <a:t> o </a:t>
            </a:r>
            <a:r>
              <a:rPr lang="en-US" sz="2400" dirty="0" err="1"/>
              <a:t>uspješnosti</a:t>
            </a:r>
            <a:r>
              <a:rPr lang="en-US" sz="2400" dirty="0"/>
              <a:t> </a:t>
            </a:r>
            <a:r>
              <a:rPr lang="en-US" sz="2400" dirty="0" err="1"/>
              <a:t>isporučivih</a:t>
            </a:r>
            <a:r>
              <a:rPr lang="en-US" sz="2400" dirty="0"/>
              <a:t> </a:t>
            </a:r>
            <a:r>
              <a:rPr lang="en-US" sz="2400" dirty="0" err="1"/>
              <a:t>rezultata</a:t>
            </a:r>
            <a:r>
              <a:rPr lang="en-US" sz="2400" dirty="0"/>
              <a:t>, </a:t>
            </a:r>
            <a:r>
              <a:rPr lang="en-US" sz="2400" dirty="0" err="1"/>
              <a:t>uključujući</a:t>
            </a:r>
            <a:r>
              <a:rPr lang="en-US" sz="2400" dirty="0"/>
              <a:t> stope </a:t>
            </a:r>
            <a:r>
              <a:rPr lang="en-US" sz="2400" dirty="0" err="1"/>
              <a:t>grešaka</a:t>
            </a:r>
            <a:r>
              <a:rPr lang="en-US" sz="2400" dirty="0"/>
              <a:t>, </a:t>
            </a:r>
            <a:r>
              <a:rPr lang="en-US" sz="2400" dirty="0" err="1"/>
              <a:t>rezultate</a:t>
            </a:r>
            <a:r>
              <a:rPr lang="en-US" sz="2400" dirty="0"/>
              <a:t> </a:t>
            </a:r>
            <a:r>
              <a:rPr lang="en-US" sz="2400" dirty="0" err="1"/>
              <a:t>inspekcija</a:t>
            </a:r>
            <a:r>
              <a:rPr lang="en-US" sz="2400" dirty="0"/>
              <a:t> i </a:t>
            </a:r>
            <a:r>
              <a:rPr lang="en-US" sz="2400" dirty="0" err="1"/>
              <a:t>druge</a:t>
            </a:r>
            <a:r>
              <a:rPr lang="en-US" sz="2400" dirty="0"/>
              <a:t> </a:t>
            </a:r>
            <a:r>
              <a:rPr lang="en-US" sz="2400" dirty="0" err="1"/>
              <a:t>metrike</a:t>
            </a:r>
            <a:r>
              <a:rPr lang="en-US" sz="2400" dirty="0"/>
              <a:t> </a:t>
            </a:r>
            <a:r>
              <a:rPr lang="en-US" sz="2400" dirty="0" err="1"/>
              <a:t>povezane</a:t>
            </a:r>
            <a:r>
              <a:rPr lang="en-US" sz="2400" dirty="0"/>
              <a:t> s </a:t>
            </a:r>
            <a:r>
              <a:rPr lang="en-US" sz="2400" dirty="0" err="1"/>
              <a:t>kvalitetom</a:t>
            </a:r>
            <a:r>
              <a:rPr lang="en-US" sz="2400" dirty="0"/>
              <a:t>.</a:t>
            </a:r>
          </a:p>
          <a:p>
            <a:pPr marL="457200" indent="-457200">
              <a:buFont typeface="+mj-lt"/>
              <a:buAutoNum type="arabicPeriod"/>
            </a:pPr>
            <a:endParaRPr lang="en-US" sz="2400" b="1" dirty="0">
              <a:solidFill>
                <a:srgbClr val="0ADBBC"/>
              </a:solidFill>
            </a:endParaRPr>
          </a:p>
          <a:p>
            <a:pPr marL="457200" indent="-457200">
              <a:buFont typeface="+mj-lt"/>
              <a:buAutoNum type="arabicPeriod"/>
            </a:pPr>
            <a:r>
              <a:rPr lang="en-US" sz="2400" b="1" dirty="0">
                <a:solidFill>
                  <a:srgbClr val="0ADBBC"/>
                </a:solidFill>
              </a:rPr>
              <a:t>Zahtjevi za </a:t>
            </a:r>
            <a:r>
              <a:rPr lang="en-US" sz="2400" b="1" dirty="0" err="1">
                <a:solidFill>
                  <a:srgbClr val="0ADBBC"/>
                </a:solidFill>
              </a:rPr>
              <a:t>promjenama</a:t>
            </a:r>
            <a:r>
              <a:rPr lang="en-US" sz="2400" b="1" dirty="0">
                <a:solidFill>
                  <a:srgbClr val="0ADBBC"/>
                </a:solidFill>
              </a:rPr>
              <a:t>: </a:t>
            </a:r>
            <a:r>
              <a:rPr lang="en-US" sz="2400" dirty="0"/>
              <a:t>Ako se </a:t>
            </a:r>
            <a:r>
              <a:rPr lang="en-US" sz="2400" dirty="0" err="1"/>
              <a:t>identificiraju</a:t>
            </a:r>
            <a:r>
              <a:rPr lang="en-US" sz="2400" dirty="0"/>
              <a:t> </a:t>
            </a:r>
            <a:r>
              <a:rPr lang="en-US" sz="2400" dirty="0" err="1"/>
              <a:t>problemi</a:t>
            </a:r>
            <a:r>
              <a:rPr lang="en-US" sz="2400" dirty="0"/>
              <a:t> s </a:t>
            </a:r>
            <a:r>
              <a:rPr lang="en-US" sz="2400" dirty="0" err="1"/>
              <a:t>kvalitetom</a:t>
            </a:r>
            <a:r>
              <a:rPr lang="en-US" sz="2400" dirty="0"/>
              <a:t>, </a:t>
            </a:r>
            <a:r>
              <a:rPr lang="en-US" sz="2400" dirty="0" err="1"/>
              <a:t>mogu</a:t>
            </a:r>
            <a:r>
              <a:rPr lang="en-US" sz="2400" dirty="0"/>
              <a:t> se </a:t>
            </a:r>
            <a:r>
              <a:rPr lang="en-US" sz="2400" dirty="0" err="1"/>
              <a:t>zatražiti</a:t>
            </a:r>
            <a:r>
              <a:rPr lang="en-US" sz="2400" dirty="0"/>
              <a:t> </a:t>
            </a:r>
            <a:r>
              <a:rPr lang="en-US" sz="2400" dirty="0" err="1"/>
              <a:t>korektivne</a:t>
            </a:r>
            <a:r>
              <a:rPr lang="en-US" sz="2400" dirty="0"/>
              <a:t> </a:t>
            </a:r>
            <a:r>
              <a:rPr lang="en-US" sz="2400" dirty="0" err="1"/>
              <a:t>mjere</a:t>
            </a:r>
            <a:r>
              <a:rPr lang="en-US" sz="2400" dirty="0"/>
              <a:t>, a </a:t>
            </a:r>
            <a:r>
              <a:rPr lang="en-US" sz="2400" dirty="0" err="1"/>
              <a:t>mogu</a:t>
            </a:r>
            <a:r>
              <a:rPr lang="en-US" sz="2400" dirty="0"/>
              <a:t> </a:t>
            </a:r>
            <a:r>
              <a:rPr lang="en-US" sz="2400" dirty="0" err="1"/>
              <a:t>biti</a:t>
            </a:r>
            <a:r>
              <a:rPr lang="en-US" sz="2400" dirty="0"/>
              <a:t> </a:t>
            </a:r>
            <a:r>
              <a:rPr lang="en-US" sz="2400" dirty="0" err="1"/>
              <a:t>potrebne</a:t>
            </a:r>
            <a:r>
              <a:rPr lang="en-US" sz="2400" dirty="0"/>
              <a:t> i </a:t>
            </a:r>
            <a:r>
              <a:rPr lang="en-US" sz="2400" dirty="0" err="1"/>
              <a:t>promjene</a:t>
            </a:r>
            <a:r>
              <a:rPr lang="en-US" sz="2400" dirty="0"/>
              <a:t> u </a:t>
            </a:r>
            <a:r>
              <a:rPr lang="en-US" sz="2400" dirty="0" err="1"/>
              <a:t>projektnim</a:t>
            </a:r>
            <a:r>
              <a:rPr lang="en-US" sz="2400" dirty="0"/>
              <a:t> </a:t>
            </a:r>
            <a:r>
              <a:rPr lang="en-US" sz="2400" dirty="0" err="1"/>
              <a:t>procesima</a:t>
            </a:r>
            <a:r>
              <a:rPr lang="en-US" sz="2400" dirty="0"/>
              <a:t> </a:t>
            </a:r>
            <a:r>
              <a:rPr lang="en-US" sz="2400" dirty="0" err="1"/>
              <a:t>ili</a:t>
            </a:r>
            <a:r>
              <a:rPr lang="en-US" sz="2400" dirty="0"/>
              <a:t> </a:t>
            </a:r>
            <a:r>
              <a:rPr lang="en-US" sz="2400" dirty="0" err="1"/>
              <a:t>isporučivim</a:t>
            </a:r>
            <a:r>
              <a:rPr lang="en-US" sz="2400" dirty="0"/>
              <a:t> </a:t>
            </a:r>
            <a:r>
              <a:rPr lang="en-US" sz="2400" dirty="0" err="1"/>
              <a:t>rezultatima</a:t>
            </a:r>
            <a:r>
              <a:rPr lang="en-US" sz="2400" dirty="0"/>
              <a:t>.</a:t>
            </a:r>
          </a:p>
          <a:p>
            <a:pPr marL="0" indent="0">
              <a:buNone/>
            </a:pPr>
            <a:endParaRPr lang="en-US" sz="2200" dirty="0"/>
          </a:p>
        </p:txBody>
      </p:sp>
    </p:spTree>
    <p:extLst>
      <p:ext uri="{BB962C8B-B14F-4D97-AF65-F5344CB8AC3E}">
        <p14:creationId xmlns:p14="http://schemas.microsoft.com/office/powerpoint/2010/main" val="1405317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C60CE-4EA7-1C31-47D5-1055D23C5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B56D2-9977-3A01-D326-61E896B134E2}"/>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en-US" altLang="en-US" sz="3800" dirty="0">
                <a:latin typeface="Bahnschrift SemiBold"/>
                <a:ea typeface="+mn-ea"/>
                <a:cs typeface="+mn-cs"/>
              </a:rPr>
              <a:t>Studija </a:t>
            </a:r>
            <a:r>
              <a:rPr lang="en-US" altLang="en-US" sz="3800" dirty="0" err="1">
                <a:latin typeface="Bahnschrift SemiBold"/>
                <a:ea typeface="+mn-ea"/>
                <a:cs typeface="+mn-cs"/>
              </a:rPr>
              <a:t>slučaja</a:t>
            </a:r>
            <a:r>
              <a:rPr lang="hr-HR" altLang="en-US" sz="3800" dirty="0">
                <a:latin typeface="Bahnschrift SemiBold"/>
                <a:ea typeface="+mn-ea"/>
                <a:cs typeface="+mn-cs"/>
              </a:rPr>
              <a:t> </a:t>
            </a:r>
            <a:r>
              <a:rPr lang="en-US" altLang="en-US" sz="3800" dirty="0">
                <a:latin typeface="Bahnschrift SemiBold"/>
                <a:ea typeface="+mn-ea"/>
                <a:cs typeface="+mn-cs"/>
              </a:rPr>
              <a:t>I.</a:t>
            </a:r>
            <a:br>
              <a:rPr lang="en-US" kern="100" dirty="0">
                <a:latin typeface="Bahnschrift SemiLight" panose="020B0502040204020203" pitchFamily="34" charset="0"/>
                <a:ea typeface="Aptos" panose="020B0004020202020204" pitchFamily="34" charset="0"/>
                <a:cs typeface="Arial" panose="020B0604020202020204" pitchFamily="34" charset="0"/>
              </a:rPr>
            </a:br>
            <a:br>
              <a:rPr kumimoji="0" lang="en-US" altLang="en-US" b="0" i="0" u="none" strike="noStrike" cap="none" normalizeH="0" baseline="0" dirty="0">
                <a:ln>
                  <a:noFill/>
                </a:ln>
                <a:solidFill>
                  <a:schemeClr val="tx1"/>
                </a:solidFill>
                <a:effectLst/>
                <a:latin typeface="Bahnschrift SemiLight" panose="020B0502040204020203" pitchFamily="34" charset="0"/>
              </a:rPr>
            </a:br>
            <a:endParaRPr lang="en-US" dirty="0">
              <a:latin typeface="Bahnschrift SemiLight" panose="020B0502040204020203" pitchFamily="34" charset="0"/>
            </a:endParaRPr>
          </a:p>
        </p:txBody>
      </p:sp>
      <p:sp>
        <p:nvSpPr>
          <p:cNvPr id="3" name="Content Placeholder 2">
            <a:extLst>
              <a:ext uri="{FF2B5EF4-FFF2-40B4-BE49-F238E27FC236}">
                <a16:creationId xmlns:a16="http://schemas.microsoft.com/office/drawing/2014/main" id="{A531EBD1-0908-A6D8-8862-E4B71490347C}"/>
              </a:ext>
            </a:extLst>
          </p:cNvPr>
          <p:cNvSpPr>
            <a:spLocks noGrp="1"/>
          </p:cNvSpPr>
          <p:nvPr>
            <p:ph idx="1"/>
          </p:nvPr>
        </p:nvSpPr>
        <p:spPr>
          <a:xfrm>
            <a:off x="409222" y="1825625"/>
            <a:ext cx="10515600" cy="4351338"/>
          </a:xfrm>
        </p:spPr>
        <p:txBody>
          <a:bodyPr>
            <a:noAutofit/>
          </a:bodyPr>
          <a:lstStyle/>
          <a:p>
            <a:pPr>
              <a:buNone/>
            </a:pPr>
            <a:r>
              <a:rPr lang="en-US" b="1" dirty="0" err="1">
                <a:solidFill>
                  <a:srgbClr val="0ADBBC"/>
                </a:solidFill>
              </a:rPr>
              <a:t>Pregled</a:t>
            </a:r>
            <a:r>
              <a:rPr lang="en-US" b="1" dirty="0">
                <a:solidFill>
                  <a:srgbClr val="0ADBBC"/>
                </a:solidFill>
              </a:rPr>
              <a:t> </a:t>
            </a:r>
            <a:r>
              <a:rPr lang="en-US" b="1" dirty="0" err="1">
                <a:solidFill>
                  <a:srgbClr val="0ADBBC"/>
                </a:solidFill>
              </a:rPr>
              <a:t>projekta</a:t>
            </a:r>
            <a:r>
              <a:rPr lang="en-US" b="1" dirty="0">
                <a:solidFill>
                  <a:srgbClr val="0ADBBC"/>
                </a:solidFill>
              </a:rPr>
              <a:t>:</a:t>
            </a:r>
          </a:p>
          <a:p>
            <a:pPr marL="0" indent="0">
              <a:buNone/>
            </a:pPr>
            <a:endParaRPr lang="en-US" dirty="0"/>
          </a:p>
          <a:p>
            <a:pPr marL="0" indent="0">
              <a:buNone/>
            </a:pPr>
            <a:r>
              <a:rPr lang="en-US" dirty="0"/>
              <a:t>Velika e-commerce </a:t>
            </a:r>
            <a:r>
              <a:rPr lang="en-US" dirty="0" err="1"/>
              <a:t>tvrtka</a:t>
            </a:r>
            <a:r>
              <a:rPr lang="en-US" dirty="0"/>
              <a:t> </a:t>
            </a:r>
            <a:r>
              <a:rPr lang="en-US" b="1" dirty="0" err="1"/>
              <a:t>ShopEase</a:t>
            </a:r>
            <a:r>
              <a:rPr lang="en-US" dirty="0"/>
              <a:t> </a:t>
            </a:r>
            <a:r>
              <a:rPr lang="en-US" dirty="0" err="1"/>
              <a:t>pokrenula</a:t>
            </a:r>
            <a:r>
              <a:rPr lang="en-US" dirty="0"/>
              <a:t> je </a:t>
            </a:r>
            <a:r>
              <a:rPr lang="en-US" dirty="0" err="1"/>
              <a:t>projekt</a:t>
            </a:r>
            <a:r>
              <a:rPr lang="en-US" dirty="0"/>
              <a:t> </a:t>
            </a:r>
            <a:r>
              <a:rPr lang="en-US" dirty="0" err="1"/>
              <a:t>razvoja</a:t>
            </a:r>
            <a:r>
              <a:rPr lang="en-US" dirty="0"/>
              <a:t> </a:t>
            </a:r>
            <a:r>
              <a:rPr lang="en-US" dirty="0" err="1"/>
              <a:t>nove</a:t>
            </a:r>
            <a:r>
              <a:rPr lang="en-US" dirty="0"/>
              <a:t> </a:t>
            </a:r>
            <a:r>
              <a:rPr lang="en-US" dirty="0" err="1"/>
              <a:t>mobilne</a:t>
            </a:r>
            <a:r>
              <a:rPr lang="en-US" dirty="0"/>
              <a:t> </a:t>
            </a:r>
            <a:r>
              <a:rPr lang="en-US" dirty="0" err="1"/>
              <a:t>aplikacije</a:t>
            </a:r>
            <a:r>
              <a:rPr lang="en-US" dirty="0"/>
              <a:t> i </a:t>
            </a:r>
            <a:r>
              <a:rPr lang="en-US" dirty="0" err="1"/>
              <a:t>nadogradnje</a:t>
            </a:r>
            <a:r>
              <a:rPr lang="en-US" dirty="0"/>
              <a:t> web </a:t>
            </a:r>
            <a:r>
              <a:rPr lang="en-US" dirty="0" err="1"/>
              <a:t>stranice</a:t>
            </a:r>
            <a:r>
              <a:rPr lang="en-US" dirty="0"/>
              <a:t> </a:t>
            </a:r>
            <a:r>
              <a:rPr lang="en-US" dirty="0" err="1"/>
              <a:t>kako</a:t>
            </a:r>
            <a:r>
              <a:rPr lang="en-US" dirty="0"/>
              <a:t> bi </a:t>
            </a:r>
            <a:r>
              <a:rPr lang="en-US" dirty="0" err="1"/>
              <a:t>unaprijedila</a:t>
            </a:r>
            <a:r>
              <a:rPr lang="en-US" dirty="0"/>
              <a:t> </a:t>
            </a:r>
            <a:r>
              <a:rPr lang="en-US" dirty="0" err="1"/>
              <a:t>korisničko</a:t>
            </a:r>
            <a:r>
              <a:rPr lang="en-US" dirty="0"/>
              <a:t> </a:t>
            </a:r>
            <a:r>
              <a:rPr lang="en-US" dirty="0" err="1"/>
              <a:t>iskustvo</a:t>
            </a:r>
            <a:r>
              <a:rPr lang="en-US" dirty="0"/>
              <a:t> i </a:t>
            </a:r>
            <a:r>
              <a:rPr lang="en-US" dirty="0" err="1"/>
              <a:t>podržala</a:t>
            </a:r>
            <a:r>
              <a:rPr lang="en-US" dirty="0"/>
              <a:t> </a:t>
            </a:r>
            <a:r>
              <a:rPr lang="en-US" dirty="0" err="1"/>
              <a:t>rastuću</a:t>
            </a:r>
            <a:r>
              <a:rPr lang="en-US" dirty="0"/>
              <a:t> </a:t>
            </a:r>
            <a:r>
              <a:rPr lang="en-US" dirty="0" err="1"/>
              <a:t>bazu</a:t>
            </a:r>
            <a:r>
              <a:rPr lang="en-US" dirty="0"/>
              <a:t> </a:t>
            </a:r>
            <a:r>
              <a:rPr lang="en-US" dirty="0" err="1"/>
              <a:t>korisnika</a:t>
            </a:r>
            <a:r>
              <a:rPr lang="en-US" dirty="0"/>
              <a:t>. Projekt je </a:t>
            </a:r>
            <a:r>
              <a:rPr lang="en-US" dirty="0" err="1"/>
              <a:t>imao</a:t>
            </a:r>
            <a:r>
              <a:rPr lang="en-US" dirty="0"/>
              <a:t> za </a:t>
            </a:r>
            <a:r>
              <a:rPr lang="en-US" dirty="0" err="1"/>
              <a:t>cilj</a:t>
            </a:r>
            <a:r>
              <a:rPr lang="en-US" dirty="0"/>
              <a:t> </a:t>
            </a:r>
            <a:r>
              <a:rPr lang="en-US" dirty="0" err="1"/>
              <a:t>poboljšati</a:t>
            </a:r>
            <a:r>
              <a:rPr lang="en-US" dirty="0"/>
              <a:t> </a:t>
            </a:r>
            <a:r>
              <a:rPr lang="en-US" dirty="0" err="1"/>
              <a:t>brzinu</a:t>
            </a:r>
            <a:r>
              <a:rPr lang="en-US" dirty="0"/>
              <a:t> </a:t>
            </a:r>
            <a:r>
              <a:rPr lang="en-US" dirty="0" err="1"/>
              <a:t>učitavanja</a:t>
            </a:r>
            <a:r>
              <a:rPr lang="en-US" dirty="0"/>
              <a:t>, </a:t>
            </a:r>
            <a:r>
              <a:rPr lang="en-US" dirty="0" err="1"/>
              <a:t>implementirati</a:t>
            </a:r>
            <a:r>
              <a:rPr lang="en-US" dirty="0"/>
              <a:t> </a:t>
            </a:r>
            <a:r>
              <a:rPr lang="en-US" dirty="0" err="1"/>
              <a:t>preporuke</a:t>
            </a:r>
            <a:r>
              <a:rPr lang="en-US" dirty="0"/>
              <a:t> </a:t>
            </a:r>
            <a:r>
              <a:rPr lang="en-US" dirty="0" err="1"/>
              <a:t>temeljene</a:t>
            </a:r>
            <a:r>
              <a:rPr lang="en-US" dirty="0"/>
              <a:t> </a:t>
            </a:r>
            <a:r>
              <a:rPr lang="en-US" dirty="0" err="1"/>
              <a:t>na</a:t>
            </a:r>
            <a:r>
              <a:rPr lang="en-US" dirty="0"/>
              <a:t> </a:t>
            </a:r>
            <a:r>
              <a:rPr lang="en-US" dirty="0" err="1"/>
              <a:t>umjetnoj</a:t>
            </a:r>
            <a:r>
              <a:rPr lang="en-US" dirty="0"/>
              <a:t> </a:t>
            </a:r>
            <a:r>
              <a:rPr lang="en-US" dirty="0" err="1"/>
              <a:t>inteligenciji</a:t>
            </a:r>
            <a:r>
              <a:rPr lang="en-US" dirty="0"/>
              <a:t> i </a:t>
            </a:r>
            <a:r>
              <a:rPr lang="en-US" dirty="0" err="1"/>
              <a:t>integrirati</a:t>
            </a:r>
            <a:r>
              <a:rPr lang="en-US" dirty="0"/>
              <a:t> </a:t>
            </a:r>
            <a:r>
              <a:rPr lang="en-US" dirty="0" err="1"/>
              <a:t>siguran</a:t>
            </a:r>
            <a:r>
              <a:rPr lang="en-US" dirty="0"/>
              <a:t> </a:t>
            </a:r>
            <a:r>
              <a:rPr lang="en-US" dirty="0" err="1"/>
              <a:t>sustav</a:t>
            </a:r>
            <a:r>
              <a:rPr lang="en-US" dirty="0"/>
              <a:t> online </a:t>
            </a:r>
            <a:r>
              <a:rPr lang="en-US" dirty="0" err="1"/>
              <a:t>plaćanja</a:t>
            </a:r>
            <a:r>
              <a:rPr lang="en-US" dirty="0"/>
              <a:t>.</a:t>
            </a:r>
          </a:p>
          <a:p>
            <a:pPr marL="0" indent="0">
              <a:lnSpc>
                <a:spcPct val="115000"/>
              </a:lnSpc>
              <a:spcAft>
                <a:spcPts val="800"/>
              </a:spcAft>
              <a:buSzPts val="1000"/>
              <a:buNone/>
              <a:tabLst>
                <a:tab pos="457200" algn="l"/>
              </a:tabLst>
            </a:pPr>
            <a:endParaRPr lang="en-US" sz="1800" kern="100" dirty="0">
              <a:effectLst/>
              <a:latin typeface="Montserrat" panose="00000500000000000000" pitchFamily="2"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231092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19105-BE59-6115-1AED-8BC7DD63E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F7B8D-575B-2322-C39F-DD6D0628C609}"/>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en-US" altLang="en-US" sz="3800" dirty="0">
                <a:latin typeface="Bahnschrift SemiBold"/>
                <a:ea typeface="+mn-ea"/>
                <a:cs typeface="+mn-cs"/>
              </a:rPr>
              <a:t>Studija </a:t>
            </a:r>
            <a:r>
              <a:rPr lang="en-US" altLang="en-US" sz="3800" dirty="0" err="1">
                <a:latin typeface="Bahnschrift SemiBold"/>
                <a:ea typeface="+mn-ea"/>
                <a:cs typeface="+mn-cs"/>
              </a:rPr>
              <a:t>slučaja</a:t>
            </a:r>
            <a:r>
              <a:rPr lang="en-US" altLang="en-US" sz="3800" dirty="0">
                <a:latin typeface="Bahnschrift SemiBold"/>
                <a:ea typeface="+mn-ea"/>
                <a:cs typeface="+mn-cs"/>
              </a:rPr>
              <a:t> I.</a:t>
            </a:r>
            <a:br>
              <a:rPr lang="en-US" kern="100" dirty="0">
                <a:latin typeface="Bahnschrift SemiLight" panose="020B0502040204020203" pitchFamily="34" charset="0"/>
                <a:ea typeface="Aptos" panose="020B0004020202020204" pitchFamily="34" charset="0"/>
                <a:cs typeface="Arial" panose="020B0604020202020204" pitchFamily="34" charset="0"/>
              </a:rPr>
            </a:br>
            <a:br>
              <a:rPr kumimoji="0" lang="en-US" altLang="en-US" b="0" i="0" u="none" strike="noStrike" cap="none" normalizeH="0" baseline="0" dirty="0">
                <a:ln>
                  <a:noFill/>
                </a:ln>
                <a:solidFill>
                  <a:schemeClr val="tx1"/>
                </a:solidFill>
                <a:effectLst/>
                <a:latin typeface="Bahnschrift SemiLight" panose="020B0502040204020203" pitchFamily="34" charset="0"/>
              </a:rPr>
            </a:br>
            <a:endParaRPr lang="en-US" dirty="0">
              <a:latin typeface="Bahnschrift SemiLight" panose="020B0502040204020203" pitchFamily="34" charset="0"/>
            </a:endParaRPr>
          </a:p>
        </p:txBody>
      </p:sp>
      <p:sp>
        <p:nvSpPr>
          <p:cNvPr id="3" name="Content Placeholder 2">
            <a:extLst>
              <a:ext uri="{FF2B5EF4-FFF2-40B4-BE49-F238E27FC236}">
                <a16:creationId xmlns:a16="http://schemas.microsoft.com/office/drawing/2014/main" id="{F29461AA-9184-6190-6DAC-FED62EE0F332}"/>
              </a:ext>
            </a:extLst>
          </p:cNvPr>
          <p:cNvSpPr>
            <a:spLocks noGrp="1"/>
          </p:cNvSpPr>
          <p:nvPr>
            <p:ph idx="1"/>
          </p:nvPr>
        </p:nvSpPr>
        <p:spPr>
          <a:xfrm>
            <a:off x="393456" y="1548799"/>
            <a:ext cx="10515600" cy="4351338"/>
          </a:xfrm>
        </p:spPr>
        <p:txBody>
          <a:bodyPr>
            <a:noAutofit/>
          </a:bodyPr>
          <a:lstStyle/>
          <a:p>
            <a:pPr>
              <a:buNone/>
            </a:pPr>
            <a:r>
              <a:rPr lang="sv-SE" sz="2300" b="1" dirty="0"/>
              <a:t>Problemi s kvalitetom identificirani nakon početnog lansiranja</a:t>
            </a:r>
            <a:r>
              <a:rPr lang="en-US" sz="2300" dirty="0"/>
              <a:t>:</a:t>
            </a:r>
          </a:p>
          <a:p>
            <a:pPr>
              <a:buFont typeface="+mj-lt"/>
              <a:buAutoNum type="arabicPeriod"/>
            </a:pPr>
            <a:r>
              <a:rPr lang="en-US" sz="2400" b="1" dirty="0" err="1">
                <a:solidFill>
                  <a:srgbClr val="0ADBBC"/>
                </a:solidFill>
              </a:rPr>
              <a:t>Problemi</a:t>
            </a:r>
            <a:r>
              <a:rPr lang="en-US" sz="2400" b="1" dirty="0">
                <a:solidFill>
                  <a:srgbClr val="0ADBBC"/>
                </a:solidFill>
              </a:rPr>
              <a:t> s </a:t>
            </a:r>
            <a:r>
              <a:rPr lang="en-US" sz="2400" b="1" dirty="0" err="1">
                <a:solidFill>
                  <a:srgbClr val="0ADBBC"/>
                </a:solidFill>
              </a:rPr>
              <a:t>performansama</a:t>
            </a:r>
            <a:r>
              <a:rPr lang="en-US" sz="2400" b="1" dirty="0">
                <a:solidFill>
                  <a:srgbClr val="0ADBBC"/>
                </a:solidFill>
              </a:rPr>
              <a:t>:</a:t>
            </a:r>
          </a:p>
          <a:p>
            <a:pPr marL="742950" lvl="1" indent="-285750">
              <a:buFont typeface="+mj-lt"/>
              <a:buAutoNum type="arabicPeriod"/>
            </a:pPr>
            <a:r>
              <a:rPr lang="en-US" sz="2300" dirty="0" err="1"/>
              <a:t>Mobilnoj</a:t>
            </a:r>
            <a:r>
              <a:rPr lang="en-US" sz="2300" dirty="0"/>
              <a:t> </a:t>
            </a:r>
            <a:r>
              <a:rPr lang="en-US" sz="2300" dirty="0" err="1"/>
              <a:t>aplikaciji</a:t>
            </a:r>
            <a:r>
              <a:rPr lang="en-US" sz="2300" dirty="0"/>
              <a:t> </a:t>
            </a:r>
            <a:r>
              <a:rPr lang="en-US" sz="2300" dirty="0" err="1"/>
              <a:t>trebalo</a:t>
            </a:r>
            <a:r>
              <a:rPr lang="en-US" sz="2300" dirty="0"/>
              <a:t> je </a:t>
            </a:r>
            <a:r>
              <a:rPr lang="en-US" sz="2300" dirty="0" err="1"/>
              <a:t>više</a:t>
            </a:r>
            <a:r>
              <a:rPr lang="en-US" sz="2300" dirty="0"/>
              <a:t> od 5 </a:t>
            </a:r>
            <a:r>
              <a:rPr lang="en-US" sz="2300" dirty="0" err="1"/>
              <a:t>sekundi</a:t>
            </a:r>
            <a:r>
              <a:rPr lang="en-US" sz="2300" dirty="0"/>
              <a:t> za </a:t>
            </a:r>
            <a:r>
              <a:rPr lang="en-US" sz="2300" dirty="0" err="1"/>
              <a:t>učitavanje</a:t>
            </a:r>
            <a:r>
              <a:rPr lang="en-US" sz="2300" dirty="0"/>
              <a:t> </a:t>
            </a:r>
            <a:r>
              <a:rPr lang="en-US" sz="2300" dirty="0" err="1"/>
              <a:t>na</a:t>
            </a:r>
            <a:r>
              <a:rPr lang="en-US" sz="2300" dirty="0"/>
              <a:t> </a:t>
            </a:r>
            <a:r>
              <a:rPr lang="en-US" sz="2300" dirty="0" err="1"/>
              <a:t>uređajima</a:t>
            </a:r>
            <a:r>
              <a:rPr lang="en-US" sz="2300" dirty="0"/>
              <a:t> </a:t>
            </a:r>
            <a:r>
              <a:rPr lang="en-US" sz="2300" dirty="0" err="1"/>
              <a:t>srednje</a:t>
            </a:r>
            <a:r>
              <a:rPr lang="en-US" sz="2300" dirty="0"/>
              <a:t> </a:t>
            </a:r>
            <a:r>
              <a:rPr lang="en-US" sz="2300" dirty="0" err="1"/>
              <a:t>klase</a:t>
            </a:r>
            <a:r>
              <a:rPr lang="en-US" sz="2300" dirty="0"/>
              <a:t>.</a:t>
            </a:r>
            <a:endParaRPr lang="hr-HR" sz="2300" dirty="0"/>
          </a:p>
          <a:p>
            <a:pPr marL="742950" lvl="1" indent="-285750">
              <a:buFont typeface="+mj-lt"/>
              <a:buAutoNum type="arabicPeriod"/>
            </a:pPr>
            <a:r>
              <a:rPr lang="en-US" sz="2300" dirty="0" err="1"/>
              <a:t>Vrijeme</a:t>
            </a:r>
            <a:r>
              <a:rPr lang="en-US" sz="2300" dirty="0"/>
              <a:t> </a:t>
            </a:r>
            <a:r>
              <a:rPr lang="en-US" sz="2300" dirty="0" err="1"/>
              <a:t>odziva</a:t>
            </a:r>
            <a:r>
              <a:rPr lang="en-US" sz="2300" dirty="0"/>
              <a:t> web </a:t>
            </a:r>
            <a:r>
              <a:rPr lang="en-US" sz="2300" dirty="0" err="1"/>
              <a:t>stranice</a:t>
            </a:r>
            <a:r>
              <a:rPr lang="en-US" sz="2300" dirty="0"/>
              <a:t> </a:t>
            </a:r>
            <a:r>
              <a:rPr lang="en-US" sz="2300" dirty="0" err="1"/>
              <a:t>bilo</a:t>
            </a:r>
            <a:r>
              <a:rPr lang="en-US" sz="2300" dirty="0"/>
              <a:t> je </a:t>
            </a:r>
            <a:r>
              <a:rPr lang="en-US" sz="2300" dirty="0" err="1"/>
              <a:t>neujednačeno</a:t>
            </a:r>
            <a:r>
              <a:rPr lang="en-US" sz="2300" dirty="0"/>
              <a:t>, </a:t>
            </a:r>
            <a:r>
              <a:rPr lang="en-US" sz="2300" dirty="0" err="1"/>
              <a:t>što</a:t>
            </a:r>
            <a:r>
              <a:rPr lang="en-US" sz="2300" dirty="0"/>
              <a:t> je </a:t>
            </a:r>
            <a:r>
              <a:rPr lang="en-US" sz="2300" dirty="0" err="1"/>
              <a:t>dovodilo</a:t>
            </a:r>
            <a:r>
              <a:rPr lang="en-US" sz="2300" dirty="0"/>
              <a:t> do </a:t>
            </a:r>
            <a:r>
              <a:rPr lang="en-US" sz="2300" dirty="0" err="1"/>
              <a:t>napuštanja</a:t>
            </a:r>
            <a:r>
              <a:rPr lang="en-US" sz="2300" dirty="0"/>
              <a:t> </a:t>
            </a:r>
            <a:r>
              <a:rPr lang="en-US" sz="2300" dirty="0" err="1"/>
              <a:t>košarice</a:t>
            </a:r>
            <a:r>
              <a:rPr lang="en-US" sz="2300" dirty="0"/>
              <a:t>.</a:t>
            </a:r>
          </a:p>
          <a:p>
            <a:pPr>
              <a:buFont typeface="+mj-lt"/>
              <a:buAutoNum type="arabicPeriod"/>
            </a:pPr>
            <a:r>
              <a:rPr lang="en-US" sz="2400" b="1" dirty="0" err="1">
                <a:solidFill>
                  <a:srgbClr val="0ADBBC"/>
                </a:solidFill>
              </a:rPr>
              <a:t>Sigurnosne</a:t>
            </a:r>
            <a:r>
              <a:rPr lang="en-US" sz="2400" b="1" dirty="0">
                <a:solidFill>
                  <a:srgbClr val="0ADBBC"/>
                </a:solidFill>
              </a:rPr>
              <a:t> </a:t>
            </a:r>
            <a:r>
              <a:rPr lang="en-US" sz="2400" b="1" dirty="0" err="1">
                <a:solidFill>
                  <a:srgbClr val="0ADBBC"/>
                </a:solidFill>
              </a:rPr>
              <a:t>ranjivosti</a:t>
            </a:r>
            <a:r>
              <a:rPr lang="en-US" sz="2400" b="1" dirty="0">
                <a:solidFill>
                  <a:srgbClr val="0ADBBC"/>
                </a:solidFill>
              </a:rPr>
              <a:t>: </a:t>
            </a:r>
            <a:r>
              <a:rPr lang="en-US" sz="2300" dirty="0" err="1"/>
              <a:t>Korisnici</a:t>
            </a:r>
            <a:r>
              <a:rPr lang="en-US" sz="2300" dirty="0"/>
              <a:t> </a:t>
            </a:r>
            <a:r>
              <a:rPr lang="en-US" sz="2300" dirty="0" err="1"/>
              <a:t>su</a:t>
            </a:r>
            <a:r>
              <a:rPr lang="en-US" sz="2300" dirty="0"/>
              <a:t> </a:t>
            </a:r>
            <a:r>
              <a:rPr lang="en-US" sz="2300" dirty="0" err="1"/>
              <a:t>prijavili</a:t>
            </a:r>
            <a:r>
              <a:rPr lang="en-US" sz="2300" dirty="0"/>
              <a:t> </a:t>
            </a:r>
            <a:r>
              <a:rPr lang="en-US" sz="2300" dirty="0" err="1"/>
              <a:t>neovlaštene</a:t>
            </a:r>
            <a:r>
              <a:rPr lang="en-US" sz="2300" dirty="0"/>
              <a:t> </a:t>
            </a:r>
            <a:r>
              <a:rPr lang="en-US" sz="2300" dirty="0" err="1"/>
              <a:t>transakcije</a:t>
            </a:r>
            <a:r>
              <a:rPr lang="en-US" sz="2300" dirty="0"/>
              <a:t>, </a:t>
            </a:r>
            <a:r>
              <a:rPr lang="en-US" sz="2300" dirty="0" err="1"/>
              <a:t>što</a:t>
            </a:r>
            <a:r>
              <a:rPr lang="en-US" sz="2300" dirty="0"/>
              <a:t> </a:t>
            </a:r>
            <a:r>
              <a:rPr lang="en-US" sz="2300" dirty="0" err="1"/>
              <a:t>upućuje</a:t>
            </a:r>
            <a:r>
              <a:rPr lang="en-US" sz="2300" dirty="0"/>
              <a:t> </a:t>
            </a:r>
            <a:r>
              <a:rPr lang="en-US" sz="2300" dirty="0" err="1"/>
              <a:t>na</a:t>
            </a:r>
            <a:r>
              <a:rPr lang="en-US" sz="2300" dirty="0"/>
              <a:t> </a:t>
            </a:r>
            <a:r>
              <a:rPr lang="en-US" sz="2300" dirty="0" err="1"/>
              <a:t>moguće</a:t>
            </a:r>
            <a:r>
              <a:rPr lang="en-US" sz="2300" dirty="0"/>
              <a:t> </a:t>
            </a:r>
            <a:r>
              <a:rPr lang="en-US" sz="2300" dirty="0" err="1"/>
              <a:t>sigurnosne</a:t>
            </a:r>
            <a:r>
              <a:rPr lang="en-US" sz="2300" dirty="0"/>
              <a:t> </a:t>
            </a:r>
            <a:r>
              <a:rPr lang="en-US" sz="2300" dirty="0" err="1"/>
              <a:t>nedostatke</a:t>
            </a:r>
            <a:r>
              <a:rPr lang="en-US" sz="2300" dirty="0"/>
              <a:t> u </a:t>
            </a:r>
            <a:r>
              <a:rPr lang="en-US" sz="2300" dirty="0" err="1"/>
              <a:t>sustavu</a:t>
            </a:r>
            <a:r>
              <a:rPr lang="en-US" sz="2300" dirty="0"/>
              <a:t> </a:t>
            </a:r>
            <a:r>
              <a:rPr lang="en-US" sz="2300" dirty="0" err="1"/>
              <a:t>plaćanja</a:t>
            </a:r>
            <a:r>
              <a:rPr lang="en-US" sz="2300" dirty="0"/>
              <a:t>.</a:t>
            </a:r>
          </a:p>
          <a:p>
            <a:pPr>
              <a:buFont typeface="+mj-lt"/>
              <a:buAutoNum type="arabicPeriod"/>
            </a:pPr>
            <a:r>
              <a:rPr lang="en-US" sz="2400" b="1" dirty="0" err="1">
                <a:solidFill>
                  <a:srgbClr val="0ADBBC"/>
                </a:solidFill>
              </a:rPr>
              <a:t>Problemi</a:t>
            </a:r>
            <a:r>
              <a:rPr lang="en-US" sz="2400" b="1" dirty="0">
                <a:solidFill>
                  <a:srgbClr val="0ADBBC"/>
                </a:solidFill>
              </a:rPr>
              <a:t> </a:t>
            </a:r>
            <a:r>
              <a:rPr lang="en-US" sz="2400" b="1" dirty="0" err="1">
                <a:solidFill>
                  <a:srgbClr val="0ADBBC"/>
                </a:solidFill>
              </a:rPr>
              <a:t>korisničkog</a:t>
            </a:r>
            <a:r>
              <a:rPr lang="en-US" sz="2400" b="1" dirty="0">
                <a:solidFill>
                  <a:srgbClr val="0ADBBC"/>
                </a:solidFill>
              </a:rPr>
              <a:t> </a:t>
            </a:r>
            <a:r>
              <a:rPr lang="en-US" sz="2400" b="1" dirty="0" err="1">
                <a:solidFill>
                  <a:srgbClr val="0ADBBC"/>
                </a:solidFill>
              </a:rPr>
              <a:t>iskustva</a:t>
            </a:r>
            <a:r>
              <a:rPr lang="en-US" sz="2400" b="1" dirty="0">
                <a:solidFill>
                  <a:srgbClr val="0ADBBC"/>
                </a:solidFill>
              </a:rPr>
              <a:t> (UX):</a:t>
            </a:r>
          </a:p>
          <a:p>
            <a:pPr marL="742950" lvl="1" indent="-285750">
              <a:buFont typeface="+mj-lt"/>
              <a:buAutoNum type="arabicPeriod"/>
            </a:pPr>
            <a:r>
              <a:rPr lang="en-US" sz="2300" dirty="0" err="1"/>
              <a:t>Korisnici</a:t>
            </a:r>
            <a:r>
              <a:rPr lang="en-US" sz="2300" dirty="0"/>
              <a:t> </a:t>
            </a:r>
            <a:r>
              <a:rPr lang="en-US" sz="2300" dirty="0" err="1"/>
              <a:t>su</a:t>
            </a:r>
            <a:r>
              <a:rPr lang="en-US" sz="2300" dirty="0"/>
              <a:t> se </a:t>
            </a:r>
            <a:r>
              <a:rPr lang="en-US" sz="2300" dirty="0" err="1"/>
              <a:t>žalili</a:t>
            </a:r>
            <a:r>
              <a:rPr lang="en-US" sz="2300" dirty="0"/>
              <a:t> </a:t>
            </a:r>
            <a:r>
              <a:rPr lang="en-US" sz="2300" dirty="0" err="1"/>
              <a:t>na</a:t>
            </a:r>
            <a:r>
              <a:rPr lang="en-US" sz="2300" dirty="0"/>
              <a:t> </a:t>
            </a:r>
            <a:r>
              <a:rPr lang="en-US" sz="2300" dirty="0" err="1"/>
              <a:t>zbunjujuću</a:t>
            </a:r>
            <a:r>
              <a:rPr lang="en-US" sz="2300" dirty="0"/>
              <a:t> </a:t>
            </a:r>
            <a:r>
              <a:rPr lang="en-US" sz="2300" dirty="0" err="1"/>
              <a:t>navigaciju</a:t>
            </a:r>
            <a:r>
              <a:rPr lang="en-US" sz="2300" dirty="0"/>
              <a:t> i </a:t>
            </a:r>
            <a:r>
              <a:rPr lang="en-US" sz="2300" dirty="0" err="1"/>
              <a:t>nereagirajuće</a:t>
            </a:r>
            <a:r>
              <a:rPr lang="en-US" sz="2300" dirty="0"/>
              <a:t> </a:t>
            </a:r>
            <a:r>
              <a:rPr lang="en-US" sz="2300" dirty="0" err="1"/>
              <a:t>gumbe</a:t>
            </a:r>
            <a:r>
              <a:rPr lang="en-US" sz="2300" dirty="0"/>
              <a:t>.</a:t>
            </a:r>
            <a:endParaRPr lang="hr-HR" sz="2300" dirty="0"/>
          </a:p>
          <a:p>
            <a:pPr marL="742950" lvl="1" indent="-285750">
              <a:buFont typeface="+mj-lt"/>
              <a:buAutoNum type="arabicPeriod"/>
            </a:pPr>
            <a:r>
              <a:rPr lang="en-US" sz="2300" dirty="0"/>
              <a:t>AI </a:t>
            </a:r>
            <a:r>
              <a:rPr lang="en-US" sz="2300" dirty="0" err="1"/>
              <a:t>preporuke</a:t>
            </a:r>
            <a:r>
              <a:rPr lang="en-US" sz="2300" dirty="0"/>
              <a:t> bile </a:t>
            </a:r>
            <a:r>
              <a:rPr lang="en-US" sz="2300" dirty="0" err="1"/>
              <a:t>su</a:t>
            </a:r>
            <a:r>
              <a:rPr lang="en-US" sz="2300" dirty="0"/>
              <a:t> </a:t>
            </a:r>
            <a:r>
              <a:rPr lang="en-US" sz="2300" dirty="0" err="1"/>
              <a:t>netočne</a:t>
            </a:r>
            <a:r>
              <a:rPr lang="en-US" sz="2300" dirty="0"/>
              <a:t> i </a:t>
            </a:r>
            <a:r>
              <a:rPr lang="en-US" sz="2300" dirty="0" err="1"/>
              <a:t>prikazivale</a:t>
            </a:r>
            <a:r>
              <a:rPr lang="en-US" sz="2300" dirty="0"/>
              <a:t> </a:t>
            </a:r>
            <a:r>
              <a:rPr lang="en-US" sz="2300" dirty="0" err="1"/>
              <a:t>nepovezane</a:t>
            </a:r>
            <a:r>
              <a:rPr lang="en-US" sz="2300" dirty="0"/>
              <a:t> </a:t>
            </a:r>
            <a:r>
              <a:rPr lang="en-US" sz="2300" dirty="0" err="1"/>
              <a:t>proizvode</a:t>
            </a:r>
            <a:r>
              <a:rPr lang="en-US" sz="2300" dirty="0"/>
              <a:t>.</a:t>
            </a:r>
          </a:p>
          <a:p>
            <a:pPr>
              <a:buFont typeface="+mj-lt"/>
              <a:buAutoNum type="arabicPeriod"/>
            </a:pPr>
            <a:r>
              <a:rPr lang="en-US" sz="2400" b="1" dirty="0" err="1">
                <a:solidFill>
                  <a:srgbClr val="0ADBBC"/>
                </a:solidFill>
              </a:rPr>
              <a:t>Problemi</a:t>
            </a:r>
            <a:r>
              <a:rPr lang="en-US" sz="2400" b="1" dirty="0">
                <a:solidFill>
                  <a:srgbClr val="0ADBBC"/>
                </a:solidFill>
              </a:rPr>
              <a:t> s </a:t>
            </a:r>
            <a:r>
              <a:rPr lang="en-US" sz="2400" b="1" dirty="0" err="1">
                <a:solidFill>
                  <a:srgbClr val="0ADBBC"/>
                </a:solidFill>
              </a:rPr>
              <a:t>integracijom</a:t>
            </a:r>
            <a:r>
              <a:rPr lang="en-US" sz="2400" b="1" dirty="0">
                <a:solidFill>
                  <a:srgbClr val="0ADBBC"/>
                </a:solidFill>
              </a:rPr>
              <a:t>: </a:t>
            </a:r>
            <a:r>
              <a:rPr lang="en-US" sz="2300" dirty="0" err="1"/>
              <a:t>Aplikacija</a:t>
            </a:r>
            <a:r>
              <a:rPr lang="en-US" sz="2300" dirty="0"/>
              <a:t> se </a:t>
            </a:r>
            <a:r>
              <a:rPr lang="en-US" sz="2300" dirty="0" err="1"/>
              <a:t>nije</a:t>
            </a:r>
            <a:r>
              <a:rPr lang="en-US" sz="2300" dirty="0"/>
              <a:t> </a:t>
            </a:r>
            <a:r>
              <a:rPr lang="en-US" sz="2300" dirty="0" err="1"/>
              <a:t>ispravno</a:t>
            </a:r>
            <a:r>
              <a:rPr lang="en-US" sz="2300" dirty="0"/>
              <a:t> </a:t>
            </a:r>
            <a:r>
              <a:rPr lang="en-US" sz="2300" dirty="0" err="1"/>
              <a:t>sinkronizirala</a:t>
            </a:r>
            <a:r>
              <a:rPr lang="en-US" sz="2300" dirty="0"/>
              <a:t> </a:t>
            </a:r>
            <a:r>
              <a:rPr lang="en-US" sz="2300" dirty="0" err="1"/>
              <a:t>sa</a:t>
            </a:r>
            <a:r>
              <a:rPr lang="en-US" sz="2300" dirty="0"/>
              <a:t> </a:t>
            </a:r>
            <a:r>
              <a:rPr lang="en-US" sz="2300" dirty="0" err="1"/>
              <a:t>sustavom</a:t>
            </a:r>
            <a:r>
              <a:rPr lang="en-US" sz="2300" dirty="0"/>
              <a:t> </a:t>
            </a:r>
            <a:r>
              <a:rPr lang="en-US" sz="2300" dirty="0" err="1"/>
              <a:t>zaliha</a:t>
            </a:r>
            <a:r>
              <a:rPr lang="en-US" sz="2300" dirty="0"/>
              <a:t> </a:t>
            </a:r>
            <a:r>
              <a:rPr lang="en-US" sz="2300" dirty="0" err="1"/>
              <a:t>tvrtke</a:t>
            </a:r>
            <a:r>
              <a:rPr lang="en-US" sz="2300" dirty="0"/>
              <a:t>, </a:t>
            </a:r>
            <a:r>
              <a:rPr lang="en-US" sz="2300" dirty="0" err="1"/>
              <a:t>što</a:t>
            </a:r>
            <a:r>
              <a:rPr lang="en-US" sz="2300" dirty="0"/>
              <a:t> je </a:t>
            </a:r>
            <a:r>
              <a:rPr lang="en-US" sz="2300" dirty="0" err="1"/>
              <a:t>dovodilo</a:t>
            </a:r>
            <a:r>
              <a:rPr lang="en-US" sz="2300" dirty="0"/>
              <a:t> do </a:t>
            </a:r>
            <a:r>
              <a:rPr lang="en-US" sz="2300" dirty="0" err="1"/>
              <a:t>netočnih</a:t>
            </a:r>
            <a:r>
              <a:rPr lang="en-US" sz="2300" dirty="0"/>
              <a:t> </a:t>
            </a:r>
            <a:r>
              <a:rPr lang="en-US" sz="2300" dirty="0" err="1"/>
              <a:t>informacija</a:t>
            </a:r>
            <a:r>
              <a:rPr lang="en-US" sz="2300" dirty="0"/>
              <a:t> o </a:t>
            </a:r>
            <a:r>
              <a:rPr lang="en-US" sz="2300" dirty="0" err="1"/>
              <a:t>dostupnosti</a:t>
            </a:r>
            <a:r>
              <a:rPr lang="en-US" sz="2300" dirty="0"/>
              <a:t> </a:t>
            </a:r>
            <a:r>
              <a:rPr lang="en-US" sz="2300" dirty="0" err="1"/>
              <a:t>proizvoda</a:t>
            </a:r>
            <a:r>
              <a:rPr lang="en-US" sz="2300" dirty="0"/>
              <a:t>.</a:t>
            </a:r>
          </a:p>
          <a:p>
            <a:pPr marL="0" indent="0">
              <a:lnSpc>
                <a:spcPct val="115000"/>
              </a:lnSpc>
              <a:spcAft>
                <a:spcPts val="800"/>
              </a:spcAft>
              <a:buSzPts val="1000"/>
              <a:buNone/>
              <a:tabLst>
                <a:tab pos="457200" algn="l"/>
              </a:tabLst>
            </a:pPr>
            <a:endParaRPr lang="en-US" sz="1800" kern="100" dirty="0">
              <a:effectLst/>
              <a:latin typeface="Montserrat" panose="00000500000000000000" pitchFamily="2"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168263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4D23C-CFCA-30BF-9806-4CF3E8D5F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8EC32-BE71-2586-A08F-D7095A11E9BE}"/>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en-US" altLang="en-US" sz="3800" dirty="0">
                <a:latin typeface="Bahnschrift SemiBold"/>
                <a:ea typeface="+mn-ea"/>
                <a:cs typeface="+mn-cs"/>
              </a:rPr>
              <a:t>Studija </a:t>
            </a:r>
            <a:r>
              <a:rPr lang="en-US" altLang="en-US" sz="3800" dirty="0" err="1">
                <a:latin typeface="Bahnschrift SemiBold"/>
                <a:ea typeface="+mn-ea"/>
                <a:cs typeface="+mn-cs"/>
              </a:rPr>
              <a:t>slučaja</a:t>
            </a:r>
            <a:r>
              <a:rPr lang="hr-HR" altLang="en-US" sz="3800" dirty="0">
                <a:latin typeface="Bahnschrift SemiBold"/>
                <a:ea typeface="+mn-ea"/>
                <a:cs typeface="+mn-cs"/>
              </a:rPr>
              <a:t> </a:t>
            </a:r>
            <a:r>
              <a:rPr lang="en-US" altLang="en-US" sz="3800" dirty="0">
                <a:latin typeface="Bahnschrift SemiBold"/>
                <a:ea typeface="+mn-ea"/>
                <a:cs typeface="+mn-cs"/>
              </a:rPr>
              <a:t>II.</a:t>
            </a:r>
            <a:br>
              <a:rPr kumimoji="0" lang="en-US" altLang="en-US" b="0" i="0" u="none" strike="noStrike" cap="none" normalizeH="0" baseline="0" dirty="0">
                <a:ln>
                  <a:noFill/>
                </a:ln>
                <a:solidFill>
                  <a:schemeClr val="tx1"/>
                </a:solidFill>
                <a:effectLst/>
                <a:latin typeface="Bahnschrift SemiLight" panose="020B0502040204020203" pitchFamily="34" charset="0"/>
              </a:rPr>
            </a:br>
            <a:endParaRPr lang="en-US" dirty="0">
              <a:latin typeface="Bahnschrift SemiLight" panose="020B0502040204020203" pitchFamily="34" charset="0"/>
            </a:endParaRPr>
          </a:p>
        </p:txBody>
      </p:sp>
      <p:sp>
        <p:nvSpPr>
          <p:cNvPr id="3" name="Content Placeholder 2">
            <a:extLst>
              <a:ext uri="{FF2B5EF4-FFF2-40B4-BE49-F238E27FC236}">
                <a16:creationId xmlns:a16="http://schemas.microsoft.com/office/drawing/2014/main" id="{FC4DDC64-F136-D6FC-0842-7FFC40C4272F}"/>
              </a:ext>
            </a:extLst>
          </p:cNvPr>
          <p:cNvSpPr>
            <a:spLocks noGrp="1"/>
          </p:cNvSpPr>
          <p:nvPr>
            <p:ph idx="1"/>
          </p:nvPr>
        </p:nvSpPr>
        <p:spPr>
          <a:xfrm>
            <a:off x="374953" y="1951945"/>
            <a:ext cx="10515600" cy="4351338"/>
          </a:xfrm>
        </p:spPr>
        <p:txBody>
          <a:bodyPr>
            <a:noAutofit/>
          </a:bodyPr>
          <a:lstStyle/>
          <a:p>
            <a:pPr marL="0" indent="0">
              <a:buNone/>
            </a:pPr>
            <a:r>
              <a:rPr lang="en-US" sz="2400" b="1" dirty="0"/>
              <a:t>Analiza </a:t>
            </a:r>
            <a:r>
              <a:rPr lang="en-US" sz="2400" b="1" dirty="0" err="1"/>
              <a:t>osnovnog</a:t>
            </a:r>
            <a:r>
              <a:rPr lang="en-US" sz="2400" b="1" dirty="0"/>
              <a:t> </a:t>
            </a:r>
            <a:r>
              <a:rPr lang="en-US" sz="2400" b="1" dirty="0" err="1"/>
              <a:t>uzroka</a:t>
            </a:r>
            <a:r>
              <a:rPr lang="en-US" sz="2400" b="1" dirty="0"/>
              <a:t> (</a:t>
            </a:r>
            <a:r>
              <a:rPr lang="hr-HR" sz="2400" b="1" dirty="0"/>
              <a:t>Root </a:t>
            </a:r>
            <a:r>
              <a:rPr lang="hr-HR" sz="2400" b="1" dirty="0" err="1"/>
              <a:t>Cause</a:t>
            </a:r>
            <a:r>
              <a:rPr lang="hr-HR" sz="2400" b="1" dirty="0"/>
              <a:t> </a:t>
            </a:r>
            <a:r>
              <a:rPr lang="hr-HR" sz="2400" b="1" dirty="0" err="1"/>
              <a:t>Analysis</a:t>
            </a:r>
            <a:r>
              <a:rPr lang="hr-HR" sz="2400" b="1" dirty="0"/>
              <a:t> - </a:t>
            </a:r>
            <a:r>
              <a:rPr lang="en-US" sz="2400" b="1" dirty="0"/>
              <a:t>RCA): </a:t>
            </a:r>
            <a:r>
              <a:rPr lang="en-US" sz="2400" dirty="0" err="1"/>
              <a:t>Detaljna</a:t>
            </a:r>
            <a:r>
              <a:rPr lang="en-US" sz="2400" dirty="0"/>
              <a:t> </a:t>
            </a:r>
            <a:r>
              <a:rPr lang="en-US" sz="2400" dirty="0" err="1"/>
              <a:t>analiza</a:t>
            </a:r>
            <a:r>
              <a:rPr lang="en-US" sz="2400" dirty="0"/>
              <a:t> </a:t>
            </a:r>
            <a:r>
              <a:rPr lang="en-US" sz="2400" dirty="0" err="1"/>
              <a:t>identificirala</a:t>
            </a:r>
            <a:r>
              <a:rPr lang="en-US" sz="2400" dirty="0"/>
              <a:t> je </a:t>
            </a:r>
            <a:r>
              <a:rPr lang="en-US" sz="2400" dirty="0" err="1"/>
              <a:t>sljedeće</a:t>
            </a:r>
            <a:r>
              <a:rPr lang="en-US" sz="2400" dirty="0"/>
              <a:t> </a:t>
            </a:r>
            <a:r>
              <a:rPr lang="en-US" sz="2400" dirty="0" err="1"/>
              <a:t>uzroke</a:t>
            </a:r>
            <a:r>
              <a:rPr lang="en-US" sz="2400" dirty="0"/>
              <a:t> </a:t>
            </a:r>
            <a:r>
              <a:rPr lang="en-US" sz="2400" dirty="0" err="1"/>
              <a:t>problema</a:t>
            </a:r>
            <a:r>
              <a:rPr lang="en-US" sz="2400" dirty="0"/>
              <a:t> s </a:t>
            </a:r>
            <a:r>
              <a:rPr lang="en-US" sz="2400" dirty="0" err="1"/>
              <a:t>kvalitetom</a:t>
            </a:r>
            <a:r>
              <a:rPr lang="en-US" sz="2400" dirty="0"/>
              <a:t>:</a:t>
            </a:r>
          </a:p>
          <a:p>
            <a:pPr marL="0" indent="0">
              <a:buNone/>
            </a:pPr>
            <a:endParaRPr lang="en-US" sz="2400" b="1" dirty="0"/>
          </a:p>
          <a:p>
            <a:pPr marL="0" indent="0">
              <a:buNone/>
            </a:pPr>
            <a:r>
              <a:rPr lang="en-US" sz="2400" b="1" dirty="0">
                <a:solidFill>
                  <a:srgbClr val="0FDCBD"/>
                </a:solidFill>
              </a:rPr>
              <a:t>1. </a:t>
            </a:r>
            <a:r>
              <a:rPr lang="en-US" sz="2400" b="1" dirty="0" err="1">
                <a:solidFill>
                  <a:srgbClr val="0FDCBD"/>
                </a:solidFill>
              </a:rPr>
              <a:t>Problemi</a:t>
            </a:r>
            <a:r>
              <a:rPr lang="en-US" sz="2400" b="1" dirty="0">
                <a:solidFill>
                  <a:srgbClr val="0FDCBD"/>
                </a:solidFill>
              </a:rPr>
              <a:t> s </a:t>
            </a:r>
            <a:r>
              <a:rPr lang="en-US" sz="2400" b="1" dirty="0" err="1">
                <a:solidFill>
                  <a:srgbClr val="0FDCBD"/>
                </a:solidFill>
              </a:rPr>
              <a:t>performansama</a:t>
            </a:r>
            <a:r>
              <a:rPr lang="en-US" sz="2400" b="1" dirty="0">
                <a:solidFill>
                  <a:srgbClr val="0FDCBD"/>
                </a:solidFill>
              </a:rPr>
              <a:t>:</a:t>
            </a:r>
          </a:p>
          <a:p>
            <a:r>
              <a:rPr lang="en-US" sz="2400" dirty="0"/>
              <a:t>Loše </a:t>
            </a:r>
            <a:r>
              <a:rPr lang="en-US" sz="2400" dirty="0" err="1"/>
              <a:t>optimizirani</a:t>
            </a:r>
            <a:r>
              <a:rPr lang="en-US" sz="2400" dirty="0"/>
              <a:t> </a:t>
            </a:r>
            <a:r>
              <a:rPr lang="en-US" sz="2400" dirty="0" err="1"/>
              <a:t>pozadinski</a:t>
            </a:r>
            <a:r>
              <a:rPr lang="en-US" sz="2400" dirty="0"/>
              <a:t> </a:t>
            </a:r>
            <a:r>
              <a:rPr lang="en-US" sz="2400" dirty="0" err="1"/>
              <a:t>upiti</a:t>
            </a:r>
            <a:r>
              <a:rPr lang="en-US" sz="2400" dirty="0"/>
              <a:t> koji </a:t>
            </a:r>
            <a:r>
              <a:rPr lang="en-US" sz="2400" dirty="0" err="1"/>
              <a:t>dovode</a:t>
            </a:r>
            <a:r>
              <a:rPr lang="en-US" sz="2400" dirty="0"/>
              <a:t> do </a:t>
            </a:r>
            <a:r>
              <a:rPr lang="en-US" sz="2400" dirty="0" err="1"/>
              <a:t>sporog</a:t>
            </a:r>
            <a:r>
              <a:rPr lang="en-US" sz="2400" dirty="0"/>
              <a:t> </a:t>
            </a:r>
            <a:r>
              <a:rPr lang="en-US" sz="2400" dirty="0" err="1"/>
              <a:t>vremena</a:t>
            </a:r>
            <a:r>
              <a:rPr lang="en-US" sz="2400" dirty="0"/>
              <a:t> </a:t>
            </a:r>
            <a:r>
              <a:rPr lang="en-US" sz="2400" dirty="0" err="1"/>
              <a:t>odziva</a:t>
            </a:r>
            <a:r>
              <a:rPr lang="en-US" sz="2400" dirty="0"/>
              <a:t> </a:t>
            </a:r>
            <a:r>
              <a:rPr lang="en-US" sz="2400" dirty="0" err="1"/>
              <a:t>baze</a:t>
            </a:r>
            <a:r>
              <a:rPr lang="en-US" sz="2400" dirty="0"/>
              <a:t> </a:t>
            </a:r>
            <a:r>
              <a:rPr lang="en-US" sz="2400" dirty="0" err="1"/>
              <a:t>podataka</a:t>
            </a:r>
            <a:r>
              <a:rPr lang="en-US" sz="2400" dirty="0"/>
              <a:t>.</a:t>
            </a:r>
          </a:p>
          <a:p>
            <a:r>
              <a:rPr lang="en-US" sz="2400" dirty="0" err="1"/>
              <a:t>Nedostatno</a:t>
            </a:r>
            <a:r>
              <a:rPr lang="en-US" sz="2400" dirty="0"/>
              <a:t> </a:t>
            </a:r>
            <a:r>
              <a:rPr lang="en-US" sz="2400" dirty="0" err="1"/>
              <a:t>testiranje</a:t>
            </a:r>
            <a:r>
              <a:rPr lang="en-US" sz="2400" dirty="0"/>
              <a:t> </a:t>
            </a:r>
            <a:r>
              <a:rPr lang="en-US" sz="2400" dirty="0" err="1"/>
              <a:t>opterećenja</a:t>
            </a:r>
            <a:r>
              <a:rPr lang="en-US" sz="2400" dirty="0"/>
              <a:t>, </a:t>
            </a:r>
            <a:r>
              <a:rPr lang="en-US" sz="2400" dirty="0" err="1"/>
              <a:t>što</a:t>
            </a:r>
            <a:r>
              <a:rPr lang="en-US" sz="2400" dirty="0"/>
              <a:t> je </a:t>
            </a:r>
            <a:r>
              <a:rPr lang="en-US" sz="2400" dirty="0" err="1"/>
              <a:t>dovelo</a:t>
            </a:r>
            <a:r>
              <a:rPr lang="en-US" sz="2400" dirty="0"/>
              <a:t> do </a:t>
            </a:r>
            <a:r>
              <a:rPr lang="en-US" sz="2400" dirty="0" err="1"/>
              <a:t>rušenja</a:t>
            </a:r>
            <a:r>
              <a:rPr lang="en-US" sz="2400" dirty="0"/>
              <a:t> </a:t>
            </a:r>
            <a:r>
              <a:rPr lang="en-US" sz="2400" dirty="0" err="1"/>
              <a:t>sustava</a:t>
            </a:r>
            <a:r>
              <a:rPr lang="en-US" sz="2400" dirty="0"/>
              <a:t> </a:t>
            </a:r>
            <a:r>
              <a:rPr lang="en-US" sz="2400" dirty="0" err="1"/>
              <a:t>pri</a:t>
            </a:r>
            <a:r>
              <a:rPr lang="en-US" sz="2400" dirty="0"/>
              <a:t> </a:t>
            </a:r>
            <a:r>
              <a:rPr lang="en-US" sz="2400" dirty="0" err="1"/>
              <a:t>velikom</a:t>
            </a:r>
            <a:r>
              <a:rPr lang="en-US" sz="2400" dirty="0"/>
              <a:t> </a:t>
            </a:r>
            <a:r>
              <a:rPr lang="en-US" sz="2400" dirty="0" err="1"/>
              <a:t>prometu</a:t>
            </a:r>
            <a:r>
              <a:rPr lang="en-US" sz="2400" dirty="0"/>
              <a:t>.</a:t>
            </a:r>
            <a:endParaRPr lang="en-US" sz="2400" b="1" dirty="0"/>
          </a:p>
          <a:p>
            <a:pPr marL="0" indent="0">
              <a:buNone/>
            </a:pPr>
            <a:r>
              <a:rPr lang="en-US" sz="2400" b="1" dirty="0">
                <a:solidFill>
                  <a:srgbClr val="0FDCBD"/>
                </a:solidFill>
              </a:rPr>
              <a:t>2. </a:t>
            </a:r>
            <a:r>
              <a:rPr lang="en-US" sz="2400" b="1" dirty="0" err="1">
                <a:solidFill>
                  <a:srgbClr val="0FDCBD"/>
                </a:solidFill>
              </a:rPr>
              <a:t>Sigurnosne</a:t>
            </a:r>
            <a:r>
              <a:rPr lang="en-US" sz="2400" b="1" dirty="0">
                <a:solidFill>
                  <a:srgbClr val="0FDCBD"/>
                </a:solidFill>
              </a:rPr>
              <a:t> </a:t>
            </a:r>
            <a:r>
              <a:rPr lang="en-US" sz="2400" b="1" dirty="0" err="1">
                <a:solidFill>
                  <a:srgbClr val="0FDCBD"/>
                </a:solidFill>
              </a:rPr>
              <a:t>ranjivosti</a:t>
            </a:r>
            <a:r>
              <a:rPr lang="en-US" sz="2400" b="1" dirty="0">
                <a:solidFill>
                  <a:srgbClr val="0FDCBD"/>
                </a:solidFill>
              </a:rPr>
              <a:t>:</a:t>
            </a:r>
          </a:p>
          <a:p>
            <a:r>
              <a:rPr lang="en-US" sz="2400" dirty="0" err="1"/>
              <a:t>Slabi</a:t>
            </a:r>
            <a:r>
              <a:rPr lang="en-US" sz="2400" dirty="0"/>
              <a:t> </a:t>
            </a:r>
            <a:r>
              <a:rPr lang="en-US" sz="2400" dirty="0" err="1"/>
              <a:t>algoritmi</a:t>
            </a:r>
            <a:r>
              <a:rPr lang="en-US" sz="2400" dirty="0"/>
              <a:t> </a:t>
            </a:r>
            <a:r>
              <a:rPr lang="en-US" sz="2400" dirty="0" err="1"/>
              <a:t>enkripcije</a:t>
            </a:r>
            <a:r>
              <a:rPr lang="en-US" sz="2400" dirty="0"/>
              <a:t> u </a:t>
            </a:r>
            <a:r>
              <a:rPr lang="en-US" sz="2400" dirty="0" err="1"/>
              <a:t>transakcijama</a:t>
            </a:r>
            <a:r>
              <a:rPr lang="en-US" sz="2400" dirty="0"/>
              <a:t> </a:t>
            </a:r>
            <a:r>
              <a:rPr lang="en-US" sz="2400" dirty="0" err="1"/>
              <a:t>plaćanja</a:t>
            </a:r>
            <a:r>
              <a:rPr lang="en-US" sz="2400" dirty="0"/>
              <a:t>.</a:t>
            </a:r>
          </a:p>
          <a:p>
            <a:r>
              <a:rPr lang="en-US" sz="2400" dirty="0" err="1"/>
              <a:t>Nedostatak</a:t>
            </a:r>
            <a:r>
              <a:rPr lang="en-US" sz="2400" dirty="0"/>
              <a:t> </a:t>
            </a:r>
            <a:r>
              <a:rPr lang="en-US" sz="2400" dirty="0" err="1"/>
              <a:t>penetracijskog</a:t>
            </a:r>
            <a:r>
              <a:rPr lang="en-US" sz="2400" dirty="0"/>
              <a:t> </a:t>
            </a:r>
            <a:r>
              <a:rPr lang="en-US" sz="2400" dirty="0" err="1"/>
              <a:t>testiranja</a:t>
            </a:r>
            <a:r>
              <a:rPr lang="en-US" sz="2400" dirty="0"/>
              <a:t> </a:t>
            </a:r>
            <a:r>
              <a:rPr lang="en-US" sz="2400" dirty="0" err="1"/>
              <a:t>prije</a:t>
            </a:r>
            <a:r>
              <a:rPr lang="en-US" sz="2400" dirty="0"/>
              <a:t> </a:t>
            </a:r>
            <a:r>
              <a:rPr lang="en-US" sz="2400" dirty="0" err="1"/>
              <a:t>lansiranja</a:t>
            </a:r>
            <a:r>
              <a:rPr lang="en-US" sz="2400" dirty="0"/>
              <a:t>.</a:t>
            </a:r>
          </a:p>
          <a:p>
            <a:pPr>
              <a:buNone/>
            </a:pPr>
            <a:r>
              <a:rPr lang="en-US" sz="2400" b="1" dirty="0">
                <a:solidFill>
                  <a:srgbClr val="0070C0"/>
                </a:solidFill>
              </a:rPr>
              <a:t>	</a:t>
            </a:r>
            <a:endParaRPr lang="en-US" sz="2400" kern="100" dirty="0">
              <a:effectLs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04948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9BE1C-6F58-339F-65A3-4AD938999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5A7AD-0EC2-CF32-F381-733B8DF14579}"/>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kumimoji="0" lang="en-US" altLang="en-US" b="1" i="0" u="none" strike="noStrike" kern="0" cap="none" normalizeH="0" baseline="0" dirty="0">
                <a:ln>
                  <a:noFill/>
                </a:ln>
                <a:solidFill>
                  <a:schemeClr val="tx1"/>
                </a:solidFill>
                <a:effectLst/>
                <a:latin typeface="Bahnschrift SemiLight" panose="020B0502040204020203" pitchFamily="34" charset="0"/>
                <a:cs typeface="Times New Roman" panose="02020603050405020304" pitchFamily="18" charset="0"/>
              </a:rPr>
              <a:t>Studija </a:t>
            </a:r>
            <a:r>
              <a:rPr kumimoji="0" lang="en-US" altLang="en-US" b="1" i="0" u="none" strike="noStrike" kern="0" cap="none" normalizeH="0" baseline="0" dirty="0" err="1">
                <a:ln>
                  <a:noFill/>
                </a:ln>
                <a:solidFill>
                  <a:schemeClr val="tx1"/>
                </a:solidFill>
                <a:effectLst/>
                <a:latin typeface="Bahnschrift SemiLight" panose="020B0502040204020203" pitchFamily="34" charset="0"/>
                <a:cs typeface="Times New Roman" panose="02020603050405020304" pitchFamily="18" charset="0"/>
              </a:rPr>
              <a:t>slučaja</a:t>
            </a:r>
            <a:r>
              <a:rPr kumimoji="0" lang="en-US" altLang="en-US" b="1" i="0" u="none" strike="noStrike" kern="0" cap="none" normalizeH="0" baseline="0" dirty="0">
                <a:ln>
                  <a:noFill/>
                </a:ln>
                <a:solidFill>
                  <a:schemeClr val="tx1"/>
                </a:solidFill>
                <a:effectLst/>
                <a:latin typeface="Bahnschrift SemiLight" panose="020B0502040204020203" pitchFamily="34" charset="0"/>
                <a:cs typeface="Times New Roman" panose="02020603050405020304" pitchFamily="18" charset="0"/>
              </a:rPr>
              <a:t> II.</a:t>
            </a:r>
            <a:br>
              <a:rPr kumimoji="0" lang="en-US" altLang="en-US" b="0" i="0" u="none" strike="noStrike" cap="none" normalizeH="0" baseline="0" dirty="0">
                <a:ln>
                  <a:noFill/>
                </a:ln>
                <a:solidFill>
                  <a:schemeClr val="tx1"/>
                </a:solidFill>
                <a:effectLst/>
                <a:latin typeface="Bahnschrift SemiLight" panose="020B0502040204020203" pitchFamily="34" charset="0"/>
              </a:rPr>
            </a:br>
            <a:endParaRPr lang="en-US" dirty="0">
              <a:latin typeface="Bahnschrift SemiLight" panose="020B0502040204020203" pitchFamily="34" charset="0"/>
            </a:endParaRPr>
          </a:p>
        </p:txBody>
      </p:sp>
      <p:sp>
        <p:nvSpPr>
          <p:cNvPr id="3" name="Content Placeholder 2">
            <a:extLst>
              <a:ext uri="{FF2B5EF4-FFF2-40B4-BE49-F238E27FC236}">
                <a16:creationId xmlns:a16="http://schemas.microsoft.com/office/drawing/2014/main" id="{5C849B39-3A73-46B6-2A6C-3B6070C9FEA0}"/>
              </a:ext>
            </a:extLst>
          </p:cNvPr>
          <p:cNvSpPr>
            <a:spLocks noGrp="1"/>
          </p:cNvSpPr>
          <p:nvPr>
            <p:ph idx="1"/>
          </p:nvPr>
        </p:nvSpPr>
        <p:spPr>
          <a:xfrm>
            <a:off x="364067" y="1690688"/>
            <a:ext cx="10515600" cy="4351338"/>
          </a:xfrm>
        </p:spPr>
        <p:txBody>
          <a:bodyPr>
            <a:noAutofit/>
          </a:bodyPr>
          <a:lstStyle/>
          <a:p>
            <a:pPr>
              <a:buNone/>
            </a:pPr>
            <a:r>
              <a:rPr lang="en-US" sz="2400" b="1" dirty="0">
                <a:solidFill>
                  <a:srgbClr val="0ADBBC"/>
                </a:solidFill>
              </a:rPr>
              <a:t>3. </a:t>
            </a:r>
            <a:r>
              <a:rPr lang="en-US" sz="2400" b="1" dirty="0" err="1">
                <a:solidFill>
                  <a:srgbClr val="0ADBBC"/>
                </a:solidFill>
              </a:rPr>
              <a:t>Problemi</a:t>
            </a:r>
            <a:r>
              <a:rPr lang="en-US" sz="2400" b="1" dirty="0">
                <a:solidFill>
                  <a:srgbClr val="0ADBBC"/>
                </a:solidFill>
              </a:rPr>
              <a:t> </a:t>
            </a:r>
            <a:r>
              <a:rPr lang="en-US" sz="2400" b="1" dirty="0" err="1">
                <a:solidFill>
                  <a:srgbClr val="0ADBBC"/>
                </a:solidFill>
              </a:rPr>
              <a:t>korisničkog</a:t>
            </a:r>
            <a:r>
              <a:rPr lang="en-US" sz="2400" b="1" dirty="0">
                <a:solidFill>
                  <a:srgbClr val="0ADBBC"/>
                </a:solidFill>
              </a:rPr>
              <a:t> </a:t>
            </a:r>
            <a:r>
              <a:rPr lang="en-US" sz="2400" b="1" dirty="0" err="1">
                <a:solidFill>
                  <a:srgbClr val="0ADBBC"/>
                </a:solidFill>
              </a:rPr>
              <a:t>iskustva</a:t>
            </a:r>
            <a:r>
              <a:rPr lang="en-US" sz="2400" b="1" dirty="0">
                <a:solidFill>
                  <a:srgbClr val="0ADBBC"/>
                </a:solidFill>
              </a:rPr>
              <a:t> (UX):</a:t>
            </a:r>
            <a:endParaRPr lang="hr-HR" sz="2400" b="1" dirty="0">
              <a:solidFill>
                <a:srgbClr val="0ADBBC"/>
              </a:solidFill>
            </a:endParaRPr>
          </a:p>
          <a:p>
            <a:r>
              <a:rPr lang="en-US" sz="2400" dirty="0" err="1"/>
              <a:t>Nedovoljno</a:t>
            </a:r>
            <a:r>
              <a:rPr lang="en-US" sz="2400" dirty="0"/>
              <a:t> </a:t>
            </a:r>
            <a:r>
              <a:rPr lang="en-US" sz="2400" b="1" dirty="0" err="1"/>
              <a:t>testiranje</a:t>
            </a:r>
            <a:r>
              <a:rPr lang="en-US" sz="2400" b="1" dirty="0"/>
              <a:t> s </a:t>
            </a:r>
            <a:r>
              <a:rPr lang="en-US" sz="2400" b="1" dirty="0" err="1"/>
              <a:t>korisnicima</a:t>
            </a:r>
            <a:r>
              <a:rPr lang="hr-HR" sz="2400" b="1" dirty="0"/>
              <a:t> (</a:t>
            </a:r>
            <a:r>
              <a:rPr lang="hr-HR" sz="2400" b="1" dirty="0" err="1"/>
              <a:t>user</a:t>
            </a:r>
            <a:r>
              <a:rPr lang="hr-HR" sz="2400" b="1" dirty="0"/>
              <a:t> </a:t>
            </a:r>
            <a:r>
              <a:rPr lang="hr-HR" sz="2400" b="1" dirty="0" err="1"/>
              <a:t>testing</a:t>
            </a:r>
            <a:r>
              <a:rPr lang="hr-HR" sz="2400" b="1" dirty="0"/>
              <a:t>)</a:t>
            </a:r>
            <a:r>
              <a:rPr lang="en-US" sz="2400" dirty="0"/>
              <a:t>, </a:t>
            </a:r>
            <a:r>
              <a:rPr lang="en-US" sz="2400" dirty="0" err="1"/>
              <a:t>posebno</a:t>
            </a:r>
            <a:r>
              <a:rPr lang="en-US" sz="2400" dirty="0"/>
              <a:t> </a:t>
            </a:r>
            <a:r>
              <a:rPr lang="en-US" sz="2400" dirty="0" err="1"/>
              <a:t>na</a:t>
            </a:r>
            <a:r>
              <a:rPr lang="en-US" sz="2400" dirty="0"/>
              <a:t> </a:t>
            </a:r>
            <a:r>
              <a:rPr lang="en-US" sz="2400" dirty="0" err="1"/>
              <a:t>različitim</a:t>
            </a:r>
            <a:r>
              <a:rPr lang="en-US" sz="2400" dirty="0"/>
              <a:t> </a:t>
            </a:r>
            <a:r>
              <a:rPr lang="en-US" sz="2400" dirty="0" err="1"/>
              <a:t>veličinama</a:t>
            </a:r>
            <a:r>
              <a:rPr lang="en-US" sz="2400" dirty="0"/>
              <a:t> </a:t>
            </a:r>
            <a:r>
              <a:rPr lang="en-US" sz="2400" dirty="0" err="1"/>
              <a:t>zaslona</a:t>
            </a:r>
            <a:r>
              <a:rPr lang="en-US" sz="2400" dirty="0"/>
              <a:t>.</a:t>
            </a:r>
          </a:p>
          <a:p>
            <a:r>
              <a:rPr lang="en-US" sz="2400" dirty="0" err="1"/>
              <a:t>Loše</a:t>
            </a:r>
            <a:r>
              <a:rPr lang="en-US" sz="2400" dirty="0"/>
              <a:t> </a:t>
            </a:r>
            <a:r>
              <a:rPr lang="en-US" sz="2400" dirty="0" err="1"/>
              <a:t>definirani</a:t>
            </a:r>
            <a:r>
              <a:rPr lang="en-US" sz="2400" dirty="0"/>
              <a:t> </a:t>
            </a:r>
            <a:r>
              <a:rPr lang="en-US" sz="2400" b="1" dirty="0" err="1"/>
              <a:t>korisnički</a:t>
            </a:r>
            <a:r>
              <a:rPr lang="en-US" sz="2400" b="1" dirty="0"/>
              <a:t> </a:t>
            </a:r>
            <a:r>
              <a:rPr lang="en-US" sz="2400" b="1" dirty="0" err="1"/>
              <a:t>tokovi</a:t>
            </a:r>
            <a:r>
              <a:rPr lang="hr-HR" sz="2400" b="1" dirty="0"/>
              <a:t> (</a:t>
            </a:r>
            <a:r>
              <a:rPr lang="hr-HR" sz="2400" b="1" dirty="0" err="1"/>
              <a:t>user</a:t>
            </a:r>
            <a:r>
              <a:rPr lang="hr-HR" sz="2400" b="1" dirty="0"/>
              <a:t> </a:t>
            </a:r>
            <a:r>
              <a:rPr lang="hr-HR" sz="2400" b="1" dirty="0" err="1"/>
              <a:t>journey</a:t>
            </a:r>
            <a:r>
              <a:rPr lang="hr-HR" sz="2400" b="1" dirty="0"/>
              <a:t>)</a:t>
            </a:r>
            <a:r>
              <a:rPr lang="en-US" sz="2400" dirty="0"/>
              <a:t>, </a:t>
            </a:r>
            <a:r>
              <a:rPr lang="en-US" sz="2400" dirty="0" err="1"/>
              <a:t>što</a:t>
            </a:r>
            <a:r>
              <a:rPr lang="en-US" sz="2400" dirty="0"/>
              <a:t> </a:t>
            </a:r>
            <a:r>
              <a:rPr lang="en-US" sz="2400" dirty="0" err="1"/>
              <a:t>uzrokuje</a:t>
            </a:r>
            <a:r>
              <a:rPr lang="en-US" sz="2400" dirty="0"/>
              <a:t> </a:t>
            </a:r>
            <a:r>
              <a:rPr lang="en-US" sz="2400" dirty="0" err="1"/>
              <a:t>zbunjujuću</a:t>
            </a:r>
            <a:r>
              <a:rPr lang="en-US" sz="2400" dirty="0"/>
              <a:t> </a:t>
            </a:r>
            <a:r>
              <a:rPr lang="en-US" sz="2400" dirty="0" err="1"/>
              <a:t>navigaciju</a:t>
            </a:r>
            <a:r>
              <a:rPr lang="en-US" sz="2400" dirty="0"/>
              <a:t>.</a:t>
            </a:r>
          </a:p>
          <a:p>
            <a:endParaRPr lang="en-US" sz="2400" dirty="0"/>
          </a:p>
          <a:p>
            <a:pPr>
              <a:buNone/>
            </a:pPr>
            <a:r>
              <a:rPr lang="en-US" sz="2400" b="1" dirty="0">
                <a:solidFill>
                  <a:srgbClr val="0ADBBC"/>
                </a:solidFill>
              </a:rPr>
              <a:t>4. </a:t>
            </a:r>
            <a:r>
              <a:rPr lang="en-US" sz="2400" b="1" dirty="0" err="1">
                <a:solidFill>
                  <a:srgbClr val="0ADBBC"/>
                </a:solidFill>
              </a:rPr>
              <a:t>Problemi</a:t>
            </a:r>
            <a:r>
              <a:rPr lang="en-US" sz="2400" b="1" dirty="0">
                <a:solidFill>
                  <a:srgbClr val="0ADBBC"/>
                </a:solidFill>
              </a:rPr>
              <a:t> s </a:t>
            </a:r>
            <a:r>
              <a:rPr lang="en-US" sz="2400" b="1" dirty="0" err="1">
                <a:solidFill>
                  <a:srgbClr val="0ADBBC"/>
                </a:solidFill>
              </a:rPr>
              <a:t>integracijom</a:t>
            </a:r>
            <a:r>
              <a:rPr lang="en-US" sz="2400" b="1" dirty="0">
                <a:solidFill>
                  <a:srgbClr val="0ADBBC"/>
                </a:solidFill>
              </a:rPr>
              <a:t>:</a:t>
            </a:r>
            <a:endParaRPr lang="hr-HR" sz="2400" b="1" dirty="0">
              <a:solidFill>
                <a:srgbClr val="0ADBBC"/>
              </a:solidFill>
            </a:endParaRPr>
          </a:p>
          <a:p>
            <a:r>
              <a:rPr lang="en-US" sz="2400" dirty="0" err="1"/>
              <a:t>Nedostatak</a:t>
            </a:r>
            <a:r>
              <a:rPr lang="en-US" sz="2400" dirty="0"/>
              <a:t> </a:t>
            </a:r>
            <a:r>
              <a:rPr lang="en-US" sz="2400" b="1" dirty="0" err="1"/>
              <a:t>verzioniranja</a:t>
            </a:r>
            <a:r>
              <a:rPr lang="en-US" sz="2400" b="1" dirty="0"/>
              <a:t> API-ja</a:t>
            </a:r>
            <a:r>
              <a:rPr lang="hr-HR" sz="2400" b="1" dirty="0"/>
              <a:t> (API </a:t>
            </a:r>
            <a:r>
              <a:rPr lang="hr-HR" sz="2400" b="1" dirty="0" err="1"/>
              <a:t>versioning</a:t>
            </a:r>
            <a:r>
              <a:rPr lang="hr-HR" sz="2400" b="1" dirty="0"/>
              <a:t>)</a:t>
            </a:r>
            <a:r>
              <a:rPr lang="en-US" sz="2400" dirty="0"/>
              <a:t>, </a:t>
            </a:r>
            <a:r>
              <a:rPr lang="en-US" sz="2400" dirty="0" err="1"/>
              <a:t>što</a:t>
            </a:r>
            <a:r>
              <a:rPr lang="en-US" sz="2400" dirty="0"/>
              <a:t> </a:t>
            </a:r>
            <a:r>
              <a:rPr lang="en-US" sz="2400" dirty="0" err="1"/>
              <a:t>dovodi</a:t>
            </a:r>
            <a:r>
              <a:rPr lang="en-US" sz="2400" dirty="0"/>
              <a:t> do </a:t>
            </a:r>
            <a:r>
              <a:rPr lang="en-US" sz="2400" dirty="0" err="1"/>
              <a:t>neusklađene</a:t>
            </a:r>
            <a:r>
              <a:rPr lang="en-US" sz="2400" dirty="0"/>
              <a:t> </a:t>
            </a:r>
            <a:r>
              <a:rPr lang="en-US" sz="2400" dirty="0" err="1"/>
              <a:t>razmjene</a:t>
            </a:r>
            <a:r>
              <a:rPr lang="en-US" sz="2400" dirty="0"/>
              <a:t> </a:t>
            </a:r>
            <a:r>
              <a:rPr lang="en-US" sz="2400" dirty="0" err="1"/>
              <a:t>podataka</a:t>
            </a:r>
            <a:r>
              <a:rPr lang="en-US" sz="2400" dirty="0"/>
              <a:t>.</a:t>
            </a:r>
          </a:p>
          <a:p>
            <a:r>
              <a:rPr lang="en-US" sz="2400" b="1" dirty="0" err="1"/>
              <a:t>Nedostatak</a:t>
            </a:r>
            <a:r>
              <a:rPr lang="en-US" sz="2400" b="1" dirty="0"/>
              <a:t> </a:t>
            </a:r>
            <a:r>
              <a:rPr lang="en-US" sz="2400" b="1" dirty="0" err="1"/>
              <a:t>komunikacije</a:t>
            </a:r>
            <a:r>
              <a:rPr lang="hr-HR" sz="2400" b="1" dirty="0"/>
              <a:t> (</a:t>
            </a:r>
            <a:r>
              <a:rPr lang="hr-HR" sz="2400" b="1" dirty="0" err="1"/>
              <a:t>miscommunication</a:t>
            </a:r>
            <a:r>
              <a:rPr lang="hr-HR" sz="2400" b="1" dirty="0"/>
              <a:t>)</a:t>
            </a:r>
            <a:r>
              <a:rPr lang="en-US" sz="2400" dirty="0"/>
              <a:t> </a:t>
            </a:r>
            <a:r>
              <a:rPr lang="en-US" sz="2400" dirty="0" err="1"/>
              <a:t>između</a:t>
            </a:r>
            <a:r>
              <a:rPr lang="en-US" sz="2400" dirty="0"/>
              <a:t> </a:t>
            </a:r>
            <a:r>
              <a:rPr lang="en-US" sz="2400" dirty="0" err="1"/>
              <a:t>razvojnog</a:t>
            </a:r>
            <a:r>
              <a:rPr lang="en-US" sz="2400" dirty="0"/>
              <a:t> i </a:t>
            </a:r>
            <a:r>
              <a:rPr lang="en-US" sz="2400" dirty="0" err="1"/>
              <a:t>operativnog</a:t>
            </a:r>
            <a:r>
              <a:rPr lang="en-US" sz="2400" dirty="0"/>
              <a:t> </a:t>
            </a:r>
            <a:r>
              <a:rPr lang="en-US" sz="2400" dirty="0" err="1"/>
              <a:t>tima</a:t>
            </a:r>
            <a:r>
              <a:rPr lang="en-US" sz="2400" dirty="0"/>
              <a:t>.</a:t>
            </a:r>
          </a:p>
          <a:p>
            <a:pPr marL="0" indent="0">
              <a:lnSpc>
                <a:spcPct val="115000"/>
              </a:lnSpc>
              <a:spcAft>
                <a:spcPts val="800"/>
              </a:spcAft>
              <a:buSzPts val="1000"/>
              <a:buNone/>
              <a:tabLst>
                <a:tab pos="457200" algn="l"/>
              </a:tabLst>
            </a:pPr>
            <a:endParaRPr lang="en-US" sz="1800" kern="100" dirty="0">
              <a:effectLs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50049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0C94-45F7-B7B7-3FAB-D0F5DFE9B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64CC4-5F5C-A1EB-3D08-0206A78F0467}"/>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en-US" altLang="en-US" sz="3800" dirty="0">
                <a:latin typeface="Bahnschrift SemiBold"/>
                <a:ea typeface="+mn-ea"/>
                <a:cs typeface="+mn-cs"/>
              </a:rPr>
              <a:t>Studija </a:t>
            </a:r>
            <a:r>
              <a:rPr lang="en-US" altLang="en-US" sz="3800" dirty="0" err="1">
                <a:latin typeface="Bahnschrift SemiBold"/>
                <a:ea typeface="+mn-ea"/>
                <a:cs typeface="+mn-cs"/>
              </a:rPr>
              <a:t>slučaja</a:t>
            </a:r>
            <a:r>
              <a:rPr lang="en-US" altLang="en-US" sz="3800" dirty="0">
                <a:latin typeface="Bahnschrift SemiBold"/>
                <a:ea typeface="+mn-ea"/>
                <a:cs typeface="+mn-cs"/>
              </a:rPr>
              <a:t> _ </a:t>
            </a:r>
            <a:r>
              <a:rPr lang="en-US" altLang="en-US" sz="3800" dirty="0" err="1">
                <a:latin typeface="Bahnschrift SemiBold"/>
                <a:ea typeface="+mn-ea"/>
                <a:cs typeface="+mn-cs"/>
              </a:rPr>
              <a:t>Grupna</a:t>
            </a:r>
            <a:r>
              <a:rPr lang="en-US" altLang="en-US" sz="3800" dirty="0">
                <a:latin typeface="Bahnschrift SemiBold"/>
                <a:ea typeface="+mn-ea"/>
                <a:cs typeface="+mn-cs"/>
              </a:rPr>
              <a:t> </a:t>
            </a:r>
            <a:r>
              <a:rPr lang="en-US" altLang="en-US" sz="3800" dirty="0" err="1">
                <a:latin typeface="Bahnschrift SemiBold"/>
                <a:ea typeface="+mn-ea"/>
                <a:cs typeface="+mn-cs"/>
              </a:rPr>
              <a:t>vježba</a:t>
            </a:r>
            <a:r>
              <a:rPr lang="hr-HR" altLang="en-US" sz="3800" dirty="0">
                <a:latin typeface="Bahnschrift SemiBold"/>
                <a:ea typeface="+mn-ea"/>
                <a:cs typeface="+mn-cs"/>
              </a:rPr>
              <a:t> </a:t>
            </a:r>
            <a:r>
              <a:rPr lang="en-US" altLang="en-US" sz="3800" dirty="0">
                <a:latin typeface="Bahnschrift SemiBold"/>
                <a:ea typeface="+mn-ea"/>
                <a:cs typeface="+mn-cs"/>
              </a:rPr>
              <a:t>III.</a:t>
            </a:r>
            <a:br>
              <a:rPr lang="en-US" kern="100" dirty="0">
                <a:latin typeface="Bahnschrift SemiLight" panose="020B0502040204020203" pitchFamily="34" charset="0"/>
                <a:ea typeface="Aptos" panose="020B0004020202020204" pitchFamily="34" charset="0"/>
                <a:cs typeface="Arial" panose="020B0604020202020204" pitchFamily="34" charset="0"/>
              </a:rPr>
            </a:br>
            <a:br>
              <a:rPr kumimoji="0" lang="en-US" altLang="en-US" b="0" i="0" u="none" strike="noStrike" cap="none" normalizeH="0" baseline="0" dirty="0">
                <a:ln>
                  <a:noFill/>
                </a:ln>
                <a:solidFill>
                  <a:schemeClr val="tx1"/>
                </a:solidFill>
                <a:effectLst/>
                <a:latin typeface="Bahnschrift SemiLight" panose="020B0502040204020203" pitchFamily="34" charset="0"/>
              </a:rPr>
            </a:br>
            <a:endParaRPr lang="en-US" dirty="0">
              <a:latin typeface="Bahnschrift SemiLight" panose="020B0502040204020203" pitchFamily="34" charset="0"/>
            </a:endParaRPr>
          </a:p>
        </p:txBody>
      </p:sp>
      <p:sp>
        <p:nvSpPr>
          <p:cNvPr id="3" name="Content Placeholder 2">
            <a:extLst>
              <a:ext uri="{FF2B5EF4-FFF2-40B4-BE49-F238E27FC236}">
                <a16:creationId xmlns:a16="http://schemas.microsoft.com/office/drawing/2014/main" id="{1D95D249-4B98-C09E-4699-053B96A83474}"/>
              </a:ext>
            </a:extLst>
          </p:cNvPr>
          <p:cNvSpPr>
            <a:spLocks noGrp="1"/>
          </p:cNvSpPr>
          <p:nvPr>
            <p:ph idx="1"/>
          </p:nvPr>
        </p:nvSpPr>
        <p:spPr>
          <a:xfrm>
            <a:off x="551793" y="1825625"/>
            <a:ext cx="10802007" cy="4351338"/>
          </a:xfrm>
        </p:spPr>
        <p:txBody>
          <a:bodyPr>
            <a:noAutofit/>
          </a:bodyPr>
          <a:lstStyle/>
          <a:p>
            <a:pPr>
              <a:buNone/>
            </a:pPr>
            <a:endParaRPr lang="en-US" sz="2400" b="1" i="1" dirty="0"/>
          </a:p>
          <a:p>
            <a:pPr>
              <a:buNone/>
            </a:pPr>
            <a:endParaRPr lang="en-US" b="1" i="1" dirty="0"/>
          </a:p>
          <a:p>
            <a:pPr>
              <a:buNone/>
            </a:pPr>
            <a:r>
              <a:rPr lang="en-US" b="1" i="1" dirty="0"/>
              <a:t>Na </a:t>
            </a:r>
            <a:r>
              <a:rPr lang="en-US" b="1" i="1" dirty="0" err="1"/>
              <a:t>temelju</a:t>
            </a:r>
            <a:r>
              <a:rPr lang="en-US" b="1" i="1" dirty="0"/>
              <a:t> </a:t>
            </a:r>
            <a:r>
              <a:rPr lang="en-US" b="1" i="1" dirty="0" err="1"/>
              <a:t>analize</a:t>
            </a:r>
            <a:r>
              <a:rPr lang="en-US" b="1" i="1" dirty="0"/>
              <a:t> </a:t>
            </a:r>
            <a:r>
              <a:rPr lang="en-US" b="1" i="1" dirty="0" err="1"/>
              <a:t>osnovnog</a:t>
            </a:r>
            <a:r>
              <a:rPr lang="en-US" b="1" i="1" dirty="0"/>
              <a:t> </a:t>
            </a:r>
            <a:r>
              <a:rPr lang="en-US" b="1" i="1" dirty="0" err="1"/>
              <a:t>uzroka</a:t>
            </a:r>
            <a:r>
              <a:rPr lang="en-US" b="1" i="1" dirty="0"/>
              <a:t> (Root Cause Analysis </a:t>
            </a:r>
            <a:r>
              <a:rPr lang="hr-HR" b="1" i="1" dirty="0"/>
              <a:t>- </a:t>
            </a:r>
            <a:r>
              <a:rPr lang="en-US" b="1" i="1" dirty="0"/>
              <a:t>RCA)</a:t>
            </a:r>
            <a:endParaRPr lang="hr-HR" b="1" i="1" dirty="0"/>
          </a:p>
          <a:p>
            <a:pPr>
              <a:buNone/>
            </a:pPr>
            <a:r>
              <a:rPr lang="en-US" b="1" i="1" dirty="0" err="1"/>
              <a:t>predložite</a:t>
            </a:r>
            <a:r>
              <a:rPr lang="en-US" b="1" i="1" dirty="0"/>
              <a:t> </a:t>
            </a:r>
            <a:r>
              <a:rPr lang="en-US" b="1" i="1" dirty="0" err="1"/>
              <a:t>korektivne</a:t>
            </a:r>
            <a:r>
              <a:rPr lang="hr-HR" b="1" i="1" dirty="0"/>
              <a:t> </a:t>
            </a:r>
            <a:r>
              <a:rPr lang="en-US" b="1" i="1" dirty="0" err="1"/>
              <a:t>mjere</a:t>
            </a:r>
            <a:r>
              <a:rPr lang="en-US" b="1" i="1" dirty="0"/>
              <a:t> za </a:t>
            </a:r>
            <a:r>
              <a:rPr lang="en-US" b="1" i="1" dirty="0" err="1"/>
              <a:t>probleme</a:t>
            </a:r>
            <a:r>
              <a:rPr lang="en-US" b="1" i="1" dirty="0"/>
              <a:t> s </a:t>
            </a:r>
            <a:r>
              <a:rPr lang="en-US" b="1" i="1" dirty="0" err="1"/>
              <a:t>kvalitetom</a:t>
            </a:r>
            <a:r>
              <a:rPr lang="en-US" b="1" i="1" dirty="0"/>
              <a:t>.</a:t>
            </a:r>
          </a:p>
          <a:p>
            <a:pPr>
              <a:buNone/>
            </a:pPr>
            <a:r>
              <a:rPr lang="en-US" b="1" i="1" dirty="0"/>
              <a:t>	</a:t>
            </a:r>
            <a:endParaRPr lang="en-US" b="1" i="1" kern="100" dirty="0">
              <a:effectLs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921142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FBC66-8278-F912-FD35-DAC72B420059}"/>
            </a:ext>
          </a:extLst>
        </p:cNvPr>
        <p:cNvGrpSpPr/>
        <p:nvPr/>
      </p:nvGrpSpPr>
      <p:grpSpPr>
        <a:xfrm>
          <a:off x="0" y="0"/>
          <a:ext cx="0" cy="0"/>
          <a:chOff x="0" y="0"/>
          <a:chExt cx="0" cy="0"/>
        </a:xfrm>
      </p:grpSpPr>
      <p:sp>
        <p:nvSpPr>
          <p:cNvPr id="4" name="Naslov 3">
            <a:extLst>
              <a:ext uri="{FF2B5EF4-FFF2-40B4-BE49-F238E27FC236}">
                <a16:creationId xmlns:a16="http://schemas.microsoft.com/office/drawing/2014/main" id="{AC4D0233-459F-17FC-91AA-E05B1940848D}"/>
              </a:ext>
            </a:extLst>
          </p:cNvPr>
          <p:cNvSpPr>
            <a:spLocks noGrp="1"/>
          </p:cNvSpPr>
          <p:nvPr>
            <p:ph type="ctrTitle"/>
          </p:nvPr>
        </p:nvSpPr>
        <p:spPr>
          <a:xfrm>
            <a:off x="2765778" y="2046110"/>
            <a:ext cx="9144000" cy="2387600"/>
          </a:xfrm>
        </p:spPr>
        <p:txBody>
          <a:bodyPr>
            <a:normAutofit/>
          </a:bodyPr>
          <a:lstStyle/>
          <a:p>
            <a:r>
              <a:rPr lang="en-US" sz="5000" b="1" dirty="0"/>
              <a:t>IZVRŠAVANJE ZADATAKA</a:t>
            </a:r>
            <a:br>
              <a:rPr lang="en-US" sz="4800" b="1" dirty="0">
                <a:latin typeface="Bahnschrift SemiLight" panose="020B0502040204020203" pitchFamily="34" charset="0"/>
              </a:rPr>
            </a:br>
            <a:endParaRPr lang="hr-HR" sz="4800" dirty="0">
              <a:latin typeface="Bahnschrift SemiLight" panose="020B0502040204020203" pitchFamily="34" charset="0"/>
            </a:endParaRPr>
          </a:p>
        </p:txBody>
      </p:sp>
      <p:sp>
        <p:nvSpPr>
          <p:cNvPr id="5" name="Podnaslov 4">
            <a:extLst>
              <a:ext uri="{FF2B5EF4-FFF2-40B4-BE49-F238E27FC236}">
                <a16:creationId xmlns:a16="http://schemas.microsoft.com/office/drawing/2014/main" id="{5316C600-2D63-4022-5050-94054421AA9F}"/>
              </a:ext>
            </a:extLst>
          </p:cNvPr>
          <p:cNvSpPr>
            <a:spLocks noGrp="1"/>
          </p:cNvSpPr>
          <p:nvPr>
            <p:ph type="subTitle" idx="4294967295"/>
          </p:nvPr>
        </p:nvSpPr>
        <p:spPr>
          <a:xfrm>
            <a:off x="2765778" y="4433710"/>
            <a:ext cx="9144000" cy="1131711"/>
          </a:xfrm>
          <a:solidFill>
            <a:schemeClr val="bg1"/>
          </a:solidFill>
        </p:spPr>
        <p:txBody>
          <a:bodyPr>
            <a:noAutofit/>
          </a:bodyPr>
          <a:lstStyle/>
          <a:p>
            <a:pPr marL="0" indent="0" algn="r">
              <a:buNone/>
            </a:pPr>
            <a:r>
              <a:rPr lang="en-US" altLang="en-US" sz="3600" dirty="0" err="1">
                <a:latin typeface="Bahnschrift" panose="020B0502040204020203" pitchFamily="34" charset="0"/>
                <a:ea typeface="+mj-ea"/>
                <a:cs typeface="+mj-cs"/>
              </a:rPr>
              <a:t>Važnost</a:t>
            </a:r>
            <a:r>
              <a:rPr lang="en-US" altLang="en-US" sz="3600" dirty="0">
                <a:latin typeface="Bahnschrift" panose="020B0502040204020203" pitchFamily="34" charset="0"/>
                <a:ea typeface="+mj-ea"/>
                <a:cs typeface="+mj-cs"/>
              </a:rPr>
              <a:t> </a:t>
            </a:r>
            <a:r>
              <a:rPr lang="en-US" altLang="en-US" sz="3600" dirty="0" err="1">
                <a:latin typeface="Bahnschrift" panose="020B0502040204020203" pitchFamily="34" charset="0"/>
                <a:ea typeface="+mj-ea"/>
                <a:cs typeface="+mj-cs"/>
              </a:rPr>
              <a:t>upravljanja</a:t>
            </a:r>
            <a:r>
              <a:rPr lang="en-US" altLang="en-US" sz="3600" dirty="0">
                <a:latin typeface="Bahnschrift" panose="020B0502040204020203" pitchFamily="34" charset="0"/>
                <a:ea typeface="+mj-ea"/>
                <a:cs typeface="+mj-cs"/>
              </a:rPr>
              <a:t> </a:t>
            </a:r>
            <a:r>
              <a:rPr lang="en-US" altLang="en-US" sz="3600" dirty="0" err="1">
                <a:latin typeface="Bahnschrift" panose="020B0502040204020203" pitchFamily="34" charset="0"/>
                <a:ea typeface="+mj-ea"/>
                <a:cs typeface="+mj-cs"/>
              </a:rPr>
              <a:t>promjenama</a:t>
            </a:r>
            <a:r>
              <a:rPr lang="en-US" altLang="en-US" sz="3600" dirty="0">
                <a:latin typeface="Bahnschrift" panose="020B0502040204020203" pitchFamily="34" charset="0"/>
                <a:ea typeface="+mj-ea"/>
                <a:cs typeface="+mj-cs"/>
              </a:rPr>
              <a:t> u </a:t>
            </a:r>
            <a:r>
              <a:rPr lang="en-US" altLang="en-US" sz="3600" dirty="0" err="1">
                <a:latin typeface="Bahnschrift" panose="020B0502040204020203" pitchFamily="34" charset="0"/>
                <a:ea typeface="+mj-ea"/>
                <a:cs typeface="+mj-cs"/>
              </a:rPr>
              <a:t>projektima</a:t>
            </a:r>
            <a:endParaRPr lang="en-US" altLang="en-US" sz="3600" dirty="0">
              <a:latin typeface="Bahnschrift" panose="020B0502040204020203" pitchFamily="34" charset="0"/>
              <a:ea typeface="+mj-ea"/>
              <a:cs typeface="+mj-cs"/>
            </a:endParaRPr>
          </a:p>
        </p:txBody>
      </p:sp>
    </p:spTree>
    <p:extLst>
      <p:ext uri="{BB962C8B-B14F-4D97-AF65-F5344CB8AC3E}">
        <p14:creationId xmlns:p14="http://schemas.microsoft.com/office/powerpoint/2010/main" val="1960990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5F45E-D782-7FD0-F7B9-474384C33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C5893-DA1F-31E6-6F01-0F43BA4C73EE}"/>
              </a:ext>
            </a:extLst>
          </p:cNvPr>
          <p:cNvSpPr>
            <a:spLocks noGrp="1"/>
          </p:cNvSpPr>
          <p:nvPr>
            <p:ph type="title"/>
          </p:nvPr>
        </p:nvSpPr>
        <p:spPr>
          <a:xfrm>
            <a:off x="838200" y="173107"/>
            <a:ext cx="10515600" cy="1325563"/>
          </a:xfrm>
        </p:spPr>
        <p:txBody>
          <a:bodyPr>
            <a:normAutofit/>
          </a:bodyPr>
          <a:lstStyle/>
          <a:p>
            <a:r>
              <a:rPr lang="en-US" sz="3800" dirty="0">
                <a:latin typeface="Bahnschrift SemiBold"/>
                <a:ea typeface="+mn-ea"/>
                <a:cs typeface="+mn-cs"/>
              </a:rPr>
              <a:t>Ključni </a:t>
            </a:r>
            <a:r>
              <a:rPr lang="en-US" sz="3800" dirty="0" err="1">
                <a:latin typeface="Bahnschrift SemiBold"/>
                <a:ea typeface="+mn-ea"/>
                <a:cs typeface="+mn-cs"/>
              </a:rPr>
              <a:t>koraci</a:t>
            </a:r>
            <a:r>
              <a:rPr lang="en-US" sz="3800" dirty="0">
                <a:latin typeface="Bahnschrift SemiBold"/>
                <a:ea typeface="+mn-ea"/>
                <a:cs typeface="+mn-cs"/>
              </a:rPr>
              <a:t> u </a:t>
            </a:r>
            <a:r>
              <a:rPr lang="en-US" sz="3800" dirty="0" err="1">
                <a:latin typeface="Bahnschrift SemiBold"/>
                <a:ea typeface="+mn-ea"/>
                <a:cs typeface="+mn-cs"/>
              </a:rPr>
              <a:t>učinkovitom</a:t>
            </a:r>
            <a:r>
              <a:rPr lang="en-US" sz="3800" dirty="0">
                <a:latin typeface="Bahnschrift SemiBold"/>
                <a:ea typeface="+mn-ea"/>
                <a:cs typeface="+mn-cs"/>
              </a:rPr>
              <a:t> </a:t>
            </a:r>
            <a:r>
              <a:rPr lang="en-US" sz="3800" dirty="0" err="1">
                <a:latin typeface="Bahnschrift SemiBold"/>
                <a:ea typeface="+mn-ea"/>
                <a:cs typeface="+mn-cs"/>
              </a:rPr>
              <a:t>upravljanju</a:t>
            </a:r>
            <a:r>
              <a:rPr lang="en-US" sz="3800" dirty="0">
                <a:latin typeface="Bahnschrift SemiBold"/>
                <a:ea typeface="+mn-ea"/>
                <a:cs typeface="+mn-cs"/>
              </a:rPr>
              <a:t> </a:t>
            </a:r>
            <a:r>
              <a:rPr lang="en-US" sz="3800" dirty="0" err="1">
                <a:latin typeface="Bahnschrift SemiBold"/>
                <a:ea typeface="+mn-ea"/>
                <a:cs typeface="+mn-cs"/>
              </a:rPr>
              <a:t>promjenama</a:t>
            </a:r>
            <a:r>
              <a:rPr lang="en-US" sz="3800" dirty="0">
                <a:latin typeface="Bahnschrift SemiBold"/>
                <a:ea typeface="+mn-ea"/>
                <a:cs typeface="+mn-cs"/>
              </a:rPr>
              <a:t> I.</a:t>
            </a:r>
          </a:p>
        </p:txBody>
      </p:sp>
      <p:sp>
        <p:nvSpPr>
          <p:cNvPr id="3" name="Content Placeholder 2">
            <a:extLst>
              <a:ext uri="{FF2B5EF4-FFF2-40B4-BE49-F238E27FC236}">
                <a16:creationId xmlns:a16="http://schemas.microsoft.com/office/drawing/2014/main" id="{5EB76DEA-7B02-0328-E353-67FBEBEE6C84}"/>
              </a:ext>
            </a:extLst>
          </p:cNvPr>
          <p:cNvSpPr>
            <a:spLocks noGrp="1"/>
          </p:cNvSpPr>
          <p:nvPr>
            <p:ph idx="1"/>
          </p:nvPr>
        </p:nvSpPr>
        <p:spPr/>
        <p:txBody>
          <a:bodyPr>
            <a:noAutofit/>
          </a:bodyPr>
          <a:lstStyle/>
          <a:p>
            <a:pPr marL="0" indent="0">
              <a:buNone/>
            </a:pPr>
            <a:endParaRPr lang="en-US" sz="2200" b="1" dirty="0">
              <a:latin typeface="Montserrat" panose="00000500000000000000" pitchFamily="2" charset="0"/>
            </a:endParaRPr>
          </a:p>
          <a:p>
            <a:pPr marL="0" indent="0">
              <a:buNone/>
            </a:pPr>
            <a:endParaRPr lang="en-US" sz="2200" dirty="0">
              <a:latin typeface="Montserrat" panose="00000500000000000000" pitchFamily="2" charset="0"/>
            </a:endParaRPr>
          </a:p>
        </p:txBody>
      </p:sp>
      <p:sp>
        <p:nvSpPr>
          <p:cNvPr id="5" name="TextBox 4">
            <a:extLst>
              <a:ext uri="{FF2B5EF4-FFF2-40B4-BE49-F238E27FC236}">
                <a16:creationId xmlns:a16="http://schemas.microsoft.com/office/drawing/2014/main" id="{C3817074-FF77-90F2-68F5-10CE2A213DBB}"/>
              </a:ext>
            </a:extLst>
          </p:cNvPr>
          <p:cNvSpPr txBox="1"/>
          <p:nvPr/>
        </p:nvSpPr>
        <p:spPr>
          <a:xfrm>
            <a:off x="838200" y="1607655"/>
            <a:ext cx="10920423" cy="5442516"/>
          </a:xfrm>
          <a:prstGeom prst="rect">
            <a:avLst/>
          </a:prstGeom>
          <a:noFill/>
        </p:spPr>
        <p:txBody>
          <a:bodyPr wrap="square">
            <a:spAutoFit/>
          </a:bodyPr>
          <a:lstStyle/>
          <a:p>
            <a:pPr marL="228600" indent="-228600">
              <a:lnSpc>
                <a:spcPct val="90000"/>
              </a:lnSpc>
              <a:spcBef>
                <a:spcPts val="1000"/>
              </a:spcBef>
            </a:pPr>
            <a:r>
              <a:rPr lang="en-US" sz="2000" b="1" dirty="0">
                <a:solidFill>
                  <a:srgbClr val="0ADBBC"/>
                </a:solidFill>
                <a:latin typeface="Bahnschrift SemiLight" panose="020B0502040204020203" pitchFamily="34" charset="0"/>
              </a:rPr>
              <a:t>1. </a:t>
            </a:r>
            <a:r>
              <a:rPr lang="en-US" sz="2000" b="1" dirty="0" err="1">
                <a:solidFill>
                  <a:srgbClr val="0ADBBC"/>
                </a:solidFill>
                <a:latin typeface="Bahnschrift SemiLight" panose="020B0502040204020203" pitchFamily="34" charset="0"/>
              </a:rPr>
              <a:t>Identificirati</a:t>
            </a:r>
            <a:r>
              <a:rPr lang="en-US" sz="2000" b="1" dirty="0">
                <a:solidFill>
                  <a:srgbClr val="0ADBBC"/>
                </a:solidFill>
                <a:latin typeface="Bahnschrift SemiLight" panose="020B0502040204020203" pitchFamily="34" charset="0"/>
              </a:rPr>
              <a:t> </a:t>
            </a:r>
            <a:r>
              <a:rPr lang="en-US" sz="2000" b="1" dirty="0" err="1">
                <a:solidFill>
                  <a:srgbClr val="0ADBBC"/>
                </a:solidFill>
                <a:latin typeface="Bahnschrift SemiLight" panose="020B0502040204020203" pitchFamily="34" charset="0"/>
              </a:rPr>
              <a:t>potrebu</a:t>
            </a:r>
            <a:r>
              <a:rPr lang="en-US" sz="2000" b="1" dirty="0">
                <a:solidFill>
                  <a:srgbClr val="0ADBBC"/>
                </a:solidFill>
                <a:latin typeface="Bahnschrift SemiLight" panose="020B0502040204020203" pitchFamily="34" charset="0"/>
              </a:rPr>
              <a:t> za </a:t>
            </a:r>
            <a:r>
              <a:rPr lang="en-US" sz="2000" b="1" dirty="0" err="1">
                <a:solidFill>
                  <a:srgbClr val="0ADBBC"/>
                </a:solidFill>
                <a:latin typeface="Bahnschrift SemiLight" panose="020B0502040204020203" pitchFamily="34" charset="0"/>
              </a:rPr>
              <a:t>promjenom</a:t>
            </a:r>
            <a:endParaRPr lang="en-US" sz="2000" b="1" dirty="0">
              <a:solidFill>
                <a:srgbClr val="0ADBBC"/>
              </a:solidFill>
              <a:latin typeface="Bahnschrift SemiLight" panose="020B0502040204020203" pitchFamily="34" charset="0"/>
            </a:endParaRPr>
          </a:p>
          <a:p>
            <a:pPr marL="228600" indent="-228600">
              <a:lnSpc>
                <a:spcPct val="90000"/>
              </a:lnSpc>
              <a:spcBef>
                <a:spcPts val="1000"/>
              </a:spcBef>
            </a:pPr>
            <a:r>
              <a:rPr lang="hr-HR" sz="2000" dirty="0">
                <a:latin typeface="Bahnschrift SemiLight" panose="020B0502040204020203" pitchFamily="34" charset="0"/>
              </a:rPr>
              <a:t>- </a:t>
            </a:r>
            <a:r>
              <a:rPr lang="en-US" sz="2000" dirty="0" err="1">
                <a:latin typeface="Bahnschrift SemiLight" panose="020B0502040204020203" pitchFamily="34" charset="0"/>
              </a:rPr>
              <a:t>Analizirati</a:t>
            </a:r>
            <a:r>
              <a:rPr lang="en-US" sz="2000" dirty="0">
                <a:latin typeface="Bahnschrift SemiLight" panose="020B0502040204020203" pitchFamily="34" charset="0"/>
              </a:rPr>
              <a:t> </a:t>
            </a:r>
            <a:r>
              <a:rPr lang="en-US" sz="2000" b="1" dirty="0" err="1">
                <a:latin typeface="Bahnschrift SemiLight" panose="020B0502040204020203" pitchFamily="34" charset="0"/>
              </a:rPr>
              <a:t>poslovni</a:t>
            </a:r>
            <a:r>
              <a:rPr lang="en-US" sz="2000" b="1" dirty="0">
                <a:latin typeface="Bahnschrift SemiLight" panose="020B0502040204020203" pitchFamily="34" charset="0"/>
              </a:rPr>
              <a:t> </a:t>
            </a:r>
            <a:r>
              <a:rPr lang="en-US" sz="2000" b="1" dirty="0" err="1">
                <a:latin typeface="Bahnschrift SemiLight" panose="020B0502040204020203" pitchFamily="34" charset="0"/>
              </a:rPr>
              <a:t>slučaj</a:t>
            </a:r>
            <a:r>
              <a:rPr lang="en-US" sz="2000" b="1" dirty="0">
                <a:latin typeface="Bahnschrift SemiLight" panose="020B0502040204020203" pitchFamily="34" charset="0"/>
              </a:rPr>
              <a:t> </a:t>
            </a:r>
            <a:r>
              <a:rPr lang="en-US" sz="2000" dirty="0" err="1">
                <a:latin typeface="Bahnschrift SemiLight" panose="020B0502040204020203" pitchFamily="34" charset="0"/>
              </a:rPr>
              <a:t>ili</a:t>
            </a:r>
            <a:r>
              <a:rPr lang="en-US" sz="2000" dirty="0">
                <a:latin typeface="Bahnschrift SemiLight" panose="020B0502040204020203" pitchFamily="34" charset="0"/>
              </a:rPr>
              <a:t> problem koji </a:t>
            </a:r>
            <a:r>
              <a:rPr lang="en-US" sz="2000" dirty="0" err="1">
                <a:latin typeface="Bahnschrift SemiLight" panose="020B0502040204020203" pitchFamily="34" charset="0"/>
              </a:rPr>
              <a:t>zahtijeva</a:t>
            </a:r>
            <a:r>
              <a:rPr lang="en-US" sz="2000" dirty="0">
                <a:latin typeface="Bahnschrift SemiLight" panose="020B0502040204020203" pitchFamily="34" charset="0"/>
              </a:rPr>
              <a:t> </a:t>
            </a:r>
            <a:r>
              <a:rPr lang="en-US" sz="2000" dirty="0" err="1">
                <a:latin typeface="Bahnschrift SemiLight" panose="020B0502040204020203" pitchFamily="34" charset="0"/>
              </a:rPr>
              <a:t>izmjenu</a:t>
            </a:r>
            <a:r>
              <a:rPr lang="en-US" sz="2000" dirty="0">
                <a:latin typeface="Bahnschrift SemiLight" panose="020B0502040204020203" pitchFamily="34" charset="0"/>
              </a:rPr>
              <a:t> (</a:t>
            </a:r>
            <a:r>
              <a:rPr lang="en-US" sz="2000" dirty="0" err="1">
                <a:latin typeface="Bahnschrift SemiLight" panose="020B0502040204020203" pitchFamily="34" charset="0"/>
              </a:rPr>
              <a:t>npr</a:t>
            </a:r>
            <a:r>
              <a:rPr lang="en-US" sz="2000" dirty="0">
                <a:latin typeface="Bahnschrift SemiLight" panose="020B0502040204020203" pitchFamily="34" charset="0"/>
              </a:rPr>
              <a:t>. novi </a:t>
            </a:r>
            <a:r>
              <a:rPr lang="en-US" sz="2000" dirty="0" err="1">
                <a:latin typeface="Bahnschrift SemiLight" panose="020B0502040204020203" pitchFamily="34" charset="0"/>
              </a:rPr>
              <a:t>propisi</a:t>
            </a:r>
            <a:r>
              <a:rPr lang="en-US" sz="2000" dirty="0">
                <a:latin typeface="Bahnschrift SemiLight" panose="020B0502040204020203" pitchFamily="34" charset="0"/>
              </a:rPr>
              <a:t>, </a:t>
            </a:r>
            <a:r>
              <a:rPr lang="en-US" sz="2000" dirty="0" err="1">
                <a:latin typeface="Bahnschrift SemiLight" panose="020B0502040204020203" pitchFamily="34" charset="0"/>
              </a:rPr>
              <a:t>tehnološke</a:t>
            </a:r>
            <a:r>
              <a:rPr lang="en-US" sz="2000" dirty="0">
                <a:latin typeface="Bahnschrift SemiLight" panose="020B0502040204020203" pitchFamily="34" charset="0"/>
              </a:rPr>
              <a:t> </a:t>
            </a:r>
            <a:r>
              <a:rPr lang="en-US" sz="2000" dirty="0" err="1">
                <a:latin typeface="Bahnschrift SemiLight" panose="020B0502040204020203" pitchFamily="34" charset="0"/>
              </a:rPr>
              <a:t>promjene</a:t>
            </a:r>
            <a:r>
              <a:rPr lang="en-US" sz="2000" dirty="0">
                <a:latin typeface="Bahnschrift SemiLight" panose="020B0502040204020203" pitchFamily="34" charset="0"/>
              </a:rPr>
              <a:t>).</a:t>
            </a:r>
          </a:p>
          <a:p>
            <a:pPr marL="228600" indent="-228600">
              <a:lnSpc>
                <a:spcPct val="90000"/>
              </a:lnSpc>
              <a:spcBef>
                <a:spcPts val="1000"/>
              </a:spcBef>
            </a:pPr>
            <a:r>
              <a:rPr lang="hr-HR" sz="2000" dirty="0">
                <a:latin typeface="Bahnschrift SemiLight" panose="020B0502040204020203" pitchFamily="34" charset="0"/>
              </a:rPr>
              <a:t>- </a:t>
            </a:r>
            <a:r>
              <a:rPr lang="en-US" sz="2000" dirty="0" err="1">
                <a:latin typeface="Bahnschrift SemiLight" panose="020B0502040204020203" pitchFamily="34" charset="0"/>
              </a:rPr>
              <a:t>Prikupiti</a:t>
            </a:r>
            <a:r>
              <a:rPr lang="en-US" sz="2000" dirty="0">
                <a:latin typeface="Bahnschrift SemiLight" panose="020B0502040204020203" pitchFamily="34" charset="0"/>
              </a:rPr>
              <a:t> </a:t>
            </a:r>
            <a:r>
              <a:rPr lang="en-US" sz="2000" dirty="0" err="1">
                <a:latin typeface="Bahnschrift SemiLight" panose="020B0502040204020203" pitchFamily="34" charset="0"/>
              </a:rPr>
              <a:t>povratne</a:t>
            </a:r>
            <a:r>
              <a:rPr lang="en-US" sz="2000" dirty="0">
                <a:latin typeface="Bahnschrift SemiLight" panose="020B0502040204020203" pitchFamily="34" charset="0"/>
              </a:rPr>
              <a:t> </a:t>
            </a:r>
            <a:r>
              <a:rPr lang="en-US" sz="2000" dirty="0" err="1">
                <a:latin typeface="Bahnschrift SemiLight" panose="020B0502040204020203" pitchFamily="34" charset="0"/>
              </a:rPr>
              <a:t>informacije</a:t>
            </a:r>
            <a:r>
              <a:rPr lang="en-US" sz="2000" dirty="0">
                <a:latin typeface="Bahnschrift SemiLight" panose="020B0502040204020203" pitchFamily="34" charset="0"/>
              </a:rPr>
              <a:t> od </a:t>
            </a:r>
            <a:r>
              <a:rPr lang="en-US" sz="2000" b="1" dirty="0" err="1">
                <a:latin typeface="Bahnschrift SemiLight" panose="020B0502040204020203" pitchFamily="34" charset="0"/>
              </a:rPr>
              <a:t>dionika</a:t>
            </a:r>
            <a:r>
              <a:rPr lang="en-US" sz="2000" b="1" dirty="0">
                <a:latin typeface="Bahnschrift SemiLight" panose="020B0502040204020203" pitchFamily="34" charset="0"/>
              </a:rPr>
              <a:t>, </a:t>
            </a:r>
            <a:r>
              <a:rPr lang="en-US" sz="2000" b="1" dirty="0" err="1">
                <a:latin typeface="Bahnschrift SemiLight" panose="020B0502040204020203" pitchFamily="34" charset="0"/>
              </a:rPr>
              <a:t>kupaca</a:t>
            </a:r>
            <a:r>
              <a:rPr lang="en-US" sz="2000" b="1" dirty="0">
                <a:latin typeface="Bahnschrift SemiLight" panose="020B0502040204020203" pitchFamily="34" charset="0"/>
              </a:rPr>
              <a:t> i </a:t>
            </a:r>
            <a:r>
              <a:rPr lang="en-US" sz="2000" b="1" dirty="0" err="1">
                <a:latin typeface="Bahnschrift SemiLight" panose="020B0502040204020203" pitchFamily="34" charset="0"/>
              </a:rPr>
              <a:t>zaposlenika</a:t>
            </a:r>
            <a:r>
              <a:rPr lang="en-US" sz="2000" dirty="0">
                <a:latin typeface="Bahnschrift SemiLight" panose="020B0502040204020203" pitchFamily="34" charset="0"/>
              </a:rPr>
              <a:t>.</a:t>
            </a:r>
          </a:p>
          <a:p>
            <a:pPr marL="228600" indent="-228600">
              <a:lnSpc>
                <a:spcPct val="90000"/>
              </a:lnSpc>
              <a:spcBef>
                <a:spcPts val="1000"/>
              </a:spcBef>
            </a:pPr>
            <a:endParaRPr lang="en-US" sz="2000" b="1" dirty="0">
              <a:solidFill>
                <a:srgbClr val="0ADBBC"/>
              </a:solidFill>
              <a:latin typeface="Bahnschrift SemiLight" panose="020B0502040204020203" pitchFamily="34" charset="0"/>
            </a:endParaRPr>
          </a:p>
          <a:p>
            <a:pPr marL="228600" indent="-228600">
              <a:lnSpc>
                <a:spcPct val="90000"/>
              </a:lnSpc>
              <a:spcBef>
                <a:spcPts val="1000"/>
              </a:spcBef>
            </a:pPr>
            <a:r>
              <a:rPr lang="en-US" sz="2000" b="1" dirty="0">
                <a:solidFill>
                  <a:srgbClr val="0ADBBC"/>
                </a:solidFill>
                <a:latin typeface="Bahnschrift SemiLight" panose="020B0502040204020203" pitchFamily="34" charset="0"/>
              </a:rPr>
              <a:t>2. </a:t>
            </a:r>
            <a:r>
              <a:rPr lang="en-US" sz="2000" b="1" dirty="0" err="1">
                <a:solidFill>
                  <a:srgbClr val="0ADBBC"/>
                </a:solidFill>
                <a:latin typeface="Bahnschrift SemiLight" panose="020B0502040204020203" pitchFamily="34" charset="0"/>
              </a:rPr>
              <a:t>Procijeniti</a:t>
            </a:r>
            <a:r>
              <a:rPr lang="en-US" sz="2000" b="1" dirty="0">
                <a:solidFill>
                  <a:srgbClr val="0ADBBC"/>
                </a:solidFill>
                <a:latin typeface="Bahnschrift SemiLight" panose="020B0502040204020203" pitchFamily="34" charset="0"/>
              </a:rPr>
              <a:t> </a:t>
            </a:r>
            <a:r>
              <a:rPr lang="en-US" sz="2000" b="1" dirty="0" err="1">
                <a:solidFill>
                  <a:srgbClr val="0ADBBC"/>
                </a:solidFill>
                <a:latin typeface="Bahnschrift SemiLight" panose="020B0502040204020203" pitchFamily="34" charset="0"/>
              </a:rPr>
              <a:t>utjecaj</a:t>
            </a:r>
            <a:r>
              <a:rPr lang="en-US" sz="2000" b="1" dirty="0">
                <a:solidFill>
                  <a:srgbClr val="0ADBBC"/>
                </a:solidFill>
                <a:latin typeface="Bahnschrift SemiLight" panose="020B0502040204020203" pitchFamily="34" charset="0"/>
              </a:rPr>
              <a:t> i </a:t>
            </a:r>
            <a:r>
              <a:rPr lang="en-US" sz="2000" b="1" dirty="0" err="1">
                <a:solidFill>
                  <a:srgbClr val="0ADBBC"/>
                </a:solidFill>
                <a:latin typeface="Bahnschrift SemiLight" panose="020B0502040204020203" pitchFamily="34" charset="0"/>
              </a:rPr>
              <a:t>izvedivost</a:t>
            </a:r>
            <a:endParaRPr lang="en-US" sz="2000" b="1" dirty="0">
              <a:solidFill>
                <a:srgbClr val="0ADBBC"/>
              </a:solidFill>
              <a:latin typeface="Bahnschrift SemiLight" panose="020B0502040204020203" pitchFamily="34" charset="0"/>
            </a:endParaRPr>
          </a:p>
          <a:p>
            <a:pPr marL="228600" indent="-228600">
              <a:lnSpc>
                <a:spcPct val="90000"/>
              </a:lnSpc>
              <a:spcBef>
                <a:spcPts val="1000"/>
              </a:spcBef>
            </a:pPr>
            <a:r>
              <a:rPr lang="en-US" sz="2000" dirty="0">
                <a:latin typeface="Bahnschrift SemiLight" panose="020B0502040204020203" pitchFamily="34" charset="0"/>
              </a:rPr>
              <a:t>– </a:t>
            </a:r>
            <a:r>
              <a:rPr lang="en-US" sz="2000" dirty="0" err="1">
                <a:latin typeface="Bahnschrift SemiLight" panose="020B0502040204020203" pitchFamily="34" charset="0"/>
              </a:rPr>
              <a:t>Procijeniti</a:t>
            </a:r>
            <a:r>
              <a:rPr lang="en-US" sz="2000" dirty="0">
                <a:latin typeface="Bahnschrift SemiLight" panose="020B0502040204020203" pitchFamily="34" charset="0"/>
              </a:rPr>
              <a:t> </a:t>
            </a:r>
            <a:r>
              <a:rPr lang="en-US" sz="2000" dirty="0" err="1">
                <a:latin typeface="Bahnschrift SemiLight" panose="020B0502040204020203" pitchFamily="34" charset="0"/>
              </a:rPr>
              <a:t>kako</a:t>
            </a:r>
            <a:r>
              <a:rPr lang="en-US" sz="2000" dirty="0">
                <a:latin typeface="Bahnschrift SemiLight" panose="020B0502040204020203" pitchFamily="34" charset="0"/>
              </a:rPr>
              <a:t> </a:t>
            </a:r>
            <a:r>
              <a:rPr lang="en-US" sz="2000" dirty="0" err="1">
                <a:latin typeface="Bahnschrift SemiLight" panose="020B0502040204020203" pitchFamily="34" charset="0"/>
              </a:rPr>
              <a:t>promjena</a:t>
            </a:r>
            <a:r>
              <a:rPr lang="en-US" sz="2000" dirty="0">
                <a:latin typeface="Bahnschrift SemiLight" panose="020B0502040204020203" pitchFamily="34" charset="0"/>
              </a:rPr>
              <a:t> </a:t>
            </a:r>
            <a:r>
              <a:rPr lang="en-US" sz="2000" dirty="0" err="1">
                <a:latin typeface="Bahnschrift SemiLight" panose="020B0502040204020203" pitchFamily="34" charset="0"/>
              </a:rPr>
              <a:t>utječe</a:t>
            </a:r>
            <a:r>
              <a:rPr lang="en-US" sz="2000" dirty="0">
                <a:latin typeface="Bahnschrift SemiLight" panose="020B0502040204020203" pitchFamily="34" charset="0"/>
              </a:rPr>
              <a:t> </a:t>
            </a:r>
            <a:r>
              <a:rPr lang="en-US" sz="2000" dirty="0" err="1">
                <a:latin typeface="Bahnschrift SemiLight" panose="020B0502040204020203" pitchFamily="34" charset="0"/>
              </a:rPr>
              <a:t>na</a:t>
            </a:r>
            <a:r>
              <a:rPr lang="en-US" sz="2000" dirty="0">
                <a:latin typeface="Bahnschrift SemiLight" panose="020B0502040204020203" pitchFamily="34" charset="0"/>
              </a:rPr>
              <a:t> </a:t>
            </a:r>
            <a:r>
              <a:rPr lang="en-US" sz="2000" b="1" dirty="0" err="1">
                <a:latin typeface="Bahnschrift SemiLight" panose="020B0502040204020203" pitchFamily="34" charset="0"/>
              </a:rPr>
              <a:t>opseg</a:t>
            </a:r>
            <a:r>
              <a:rPr lang="en-US" sz="2000" b="1" dirty="0">
                <a:latin typeface="Bahnschrift SemiLight" panose="020B0502040204020203" pitchFamily="34" charset="0"/>
              </a:rPr>
              <a:t>, </a:t>
            </a:r>
            <a:r>
              <a:rPr lang="en-US" sz="2000" b="1" dirty="0" err="1">
                <a:latin typeface="Bahnschrift SemiLight" panose="020B0502040204020203" pitchFamily="34" charset="0"/>
              </a:rPr>
              <a:t>raspored</a:t>
            </a:r>
            <a:r>
              <a:rPr lang="en-US" sz="2000" b="1" dirty="0">
                <a:latin typeface="Bahnschrift SemiLight" panose="020B0502040204020203" pitchFamily="34" charset="0"/>
              </a:rPr>
              <a:t>, </a:t>
            </a:r>
            <a:r>
              <a:rPr lang="en-US" sz="2000" b="1" dirty="0" err="1">
                <a:latin typeface="Bahnschrift SemiLight" panose="020B0502040204020203" pitchFamily="34" charset="0"/>
              </a:rPr>
              <a:t>troškove</a:t>
            </a:r>
            <a:r>
              <a:rPr lang="en-US" sz="2000" b="1" dirty="0">
                <a:latin typeface="Bahnschrift SemiLight" panose="020B0502040204020203" pitchFamily="34" charset="0"/>
              </a:rPr>
              <a:t> i </a:t>
            </a:r>
            <a:r>
              <a:rPr lang="en-US" sz="2000" b="1" dirty="0" err="1">
                <a:latin typeface="Bahnschrift SemiLight" panose="020B0502040204020203" pitchFamily="34" charset="0"/>
              </a:rPr>
              <a:t>resurse</a:t>
            </a:r>
            <a:r>
              <a:rPr lang="en-US" sz="2000" dirty="0">
                <a:latin typeface="Bahnschrift SemiLight" panose="020B0502040204020203" pitchFamily="34" charset="0"/>
              </a:rPr>
              <a:t>.</a:t>
            </a:r>
          </a:p>
          <a:p>
            <a:pPr marL="228600" indent="-228600">
              <a:lnSpc>
                <a:spcPct val="90000"/>
              </a:lnSpc>
              <a:spcBef>
                <a:spcPts val="1000"/>
              </a:spcBef>
            </a:pPr>
            <a:r>
              <a:rPr lang="en-US" sz="2000" dirty="0">
                <a:latin typeface="Bahnschrift SemiLight" panose="020B0502040204020203" pitchFamily="34" charset="0"/>
              </a:rPr>
              <a:t>– </a:t>
            </a:r>
            <a:r>
              <a:rPr lang="en-US" sz="2000" dirty="0" err="1">
                <a:latin typeface="Bahnschrift SemiLight" panose="020B0502040204020203" pitchFamily="34" charset="0"/>
              </a:rPr>
              <a:t>Provesti</a:t>
            </a:r>
            <a:r>
              <a:rPr lang="en-US" sz="2000" dirty="0">
                <a:latin typeface="Bahnschrift SemiLight" panose="020B0502040204020203" pitchFamily="34" charset="0"/>
              </a:rPr>
              <a:t> </a:t>
            </a:r>
            <a:r>
              <a:rPr lang="en-US" sz="2000" b="1" dirty="0" err="1">
                <a:latin typeface="Bahnschrift SemiLight" panose="020B0502040204020203" pitchFamily="34" charset="0"/>
              </a:rPr>
              <a:t>analizu</a:t>
            </a:r>
            <a:r>
              <a:rPr lang="en-US" sz="2000" b="1" dirty="0">
                <a:latin typeface="Bahnschrift SemiLight" panose="020B0502040204020203" pitchFamily="34" charset="0"/>
              </a:rPr>
              <a:t> </a:t>
            </a:r>
            <a:r>
              <a:rPr lang="en-US" sz="2000" b="1" dirty="0" err="1">
                <a:latin typeface="Bahnschrift SemiLight" panose="020B0502040204020203" pitchFamily="34" charset="0"/>
              </a:rPr>
              <a:t>rizika</a:t>
            </a:r>
            <a:r>
              <a:rPr lang="en-US" sz="2000" dirty="0">
                <a:latin typeface="Bahnschrift SemiLight" panose="020B0502040204020203" pitchFamily="34" charset="0"/>
              </a:rPr>
              <a:t> </a:t>
            </a:r>
            <a:r>
              <a:rPr lang="en-US" sz="2000" dirty="0" err="1">
                <a:latin typeface="Bahnschrift SemiLight" panose="020B0502040204020203" pitchFamily="34" charset="0"/>
              </a:rPr>
              <a:t>kako</a:t>
            </a:r>
            <a:r>
              <a:rPr lang="en-US" sz="2000" dirty="0">
                <a:latin typeface="Bahnschrift SemiLight" panose="020B0502040204020203" pitchFamily="34" charset="0"/>
              </a:rPr>
              <a:t> bi se </a:t>
            </a:r>
            <a:r>
              <a:rPr lang="en-US" sz="2000" dirty="0" err="1">
                <a:latin typeface="Bahnschrift SemiLight" panose="020B0502040204020203" pitchFamily="34" charset="0"/>
              </a:rPr>
              <a:t>identificirali</a:t>
            </a:r>
            <a:r>
              <a:rPr lang="en-US" sz="2000" dirty="0">
                <a:latin typeface="Bahnschrift SemiLight" panose="020B0502040204020203" pitchFamily="34" charset="0"/>
              </a:rPr>
              <a:t> </a:t>
            </a:r>
            <a:r>
              <a:rPr lang="en-US" sz="2000" dirty="0" err="1">
                <a:latin typeface="Bahnschrift SemiLight" panose="020B0502040204020203" pitchFamily="34" charset="0"/>
              </a:rPr>
              <a:t>potencijalni</a:t>
            </a:r>
            <a:r>
              <a:rPr lang="en-US" sz="2000" dirty="0">
                <a:latin typeface="Bahnschrift SemiLight" panose="020B0502040204020203" pitchFamily="34" charset="0"/>
              </a:rPr>
              <a:t> </a:t>
            </a:r>
            <a:r>
              <a:rPr lang="en-US" sz="2000" dirty="0" err="1">
                <a:latin typeface="Bahnschrift SemiLight" panose="020B0502040204020203" pitchFamily="34" charset="0"/>
              </a:rPr>
              <a:t>izazovi</a:t>
            </a:r>
            <a:r>
              <a:rPr lang="en-US" sz="2000" dirty="0">
                <a:latin typeface="Bahnschrift SemiLight" panose="020B0502040204020203" pitchFamily="34" charset="0"/>
              </a:rPr>
              <a:t>.</a:t>
            </a:r>
          </a:p>
          <a:p>
            <a:pPr marL="228600" indent="-228600">
              <a:lnSpc>
                <a:spcPct val="90000"/>
              </a:lnSpc>
              <a:spcBef>
                <a:spcPts val="1000"/>
              </a:spcBef>
            </a:pPr>
            <a:endParaRPr lang="en-US" sz="2000" b="1" dirty="0">
              <a:solidFill>
                <a:srgbClr val="0ADBBC"/>
              </a:solidFill>
              <a:latin typeface="Bahnschrift SemiLight" panose="020B0502040204020203" pitchFamily="34" charset="0"/>
            </a:endParaRPr>
          </a:p>
          <a:p>
            <a:pPr marL="228600" indent="-228600">
              <a:lnSpc>
                <a:spcPct val="90000"/>
              </a:lnSpc>
              <a:spcBef>
                <a:spcPts val="1000"/>
              </a:spcBef>
            </a:pPr>
            <a:r>
              <a:rPr lang="en-US" sz="2000" b="1" dirty="0">
                <a:solidFill>
                  <a:srgbClr val="0ADBBC"/>
                </a:solidFill>
                <a:latin typeface="Bahnschrift SemiLight" panose="020B0502040204020203" pitchFamily="34" charset="0"/>
              </a:rPr>
              <a:t>3. Izraditi plan </a:t>
            </a:r>
            <a:r>
              <a:rPr lang="en-US" sz="2000" b="1" dirty="0" err="1">
                <a:solidFill>
                  <a:srgbClr val="0ADBBC"/>
                </a:solidFill>
                <a:latin typeface="Bahnschrift SemiLight" panose="020B0502040204020203" pitchFamily="34" charset="0"/>
              </a:rPr>
              <a:t>upravljanja</a:t>
            </a:r>
            <a:r>
              <a:rPr lang="en-US" sz="2000" b="1" dirty="0">
                <a:solidFill>
                  <a:srgbClr val="0ADBBC"/>
                </a:solidFill>
                <a:latin typeface="Bahnschrift SemiLight" panose="020B0502040204020203" pitchFamily="34" charset="0"/>
              </a:rPr>
              <a:t> </a:t>
            </a:r>
            <a:r>
              <a:rPr lang="en-US" sz="2000" b="1" dirty="0" err="1">
                <a:solidFill>
                  <a:srgbClr val="0ADBBC"/>
                </a:solidFill>
                <a:latin typeface="Bahnschrift SemiLight" panose="020B0502040204020203" pitchFamily="34" charset="0"/>
              </a:rPr>
              <a:t>promjenama</a:t>
            </a:r>
            <a:endParaRPr lang="en-US" sz="2000" b="1" dirty="0">
              <a:solidFill>
                <a:srgbClr val="0ADBBC"/>
              </a:solidFill>
              <a:latin typeface="Bahnschrift SemiLight" panose="020B0502040204020203" pitchFamily="34" charset="0"/>
            </a:endParaRPr>
          </a:p>
          <a:p>
            <a:pPr marL="228600" indent="-228600">
              <a:lnSpc>
                <a:spcPct val="90000"/>
              </a:lnSpc>
              <a:spcBef>
                <a:spcPts val="1000"/>
              </a:spcBef>
            </a:pPr>
            <a:r>
              <a:rPr lang="en-US" sz="2000" dirty="0">
                <a:latin typeface="Bahnschrift SemiLight" panose="020B0502040204020203" pitchFamily="34" charset="0"/>
              </a:rPr>
              <a:t>– </a:t>
            </a:r>
            <a:r>
              <a:rPr lang="en-US" sz="2000" dirty="0" err="1">
                <a:latin typeface="Bahnschrift SemiLight" panose="020B0502040204020203" pitchFamily="34" charset="0"/>
              </a:rPr>
              <a:t>Definirati</a:t>
            </a:r>
            <a:r>
              <a:rPr lang="en-US" sz="2000" dirty="0">
                <a:latin typeface="Bahnschrift SemiLight" panose="020B0502040204020203" pitchFamily="34" charset="0"/>
              </a:rPr>
              <a:t> </a:t>
            </a:r>
            <a:r>
              <a:rPr lang="en-US" sz="2000" dirty="0" err="1">
                <a:latin typeface="Bahnschrift SemiLight" panose="020B0502040204020203" pitchFamily="34" charset="0"/>
              </a:rPr>
              <a:t>uloge</a:t>
            </a:r>
            <a:r>
              <a:rPr lang="en-US" sz="2000" dirty="0">
                <a:latin typeface="Bahnschrift SemiLight" panose="020B0502040204020203" pitchFamily="34" charset="0"/>
              </a:rPr>
              <a:t> i </a:t>
            </a:r>
            <a:r>
              <a:rPr lang="en-US" sz="2000" dirty="0" err="1">
                <a:latin typeface="Bahnschrift SemiLight" panose="020B0502040204020203" pitchFamily="34" charset="0"/>
              </a:rPr>
              <a:t>odgovornosti</a:t>
            </a:r>
            <a:r>
              <a:rPr lang="en-US" sz="2000" dirty="0">
                <a:latin typeface="Bahnschrift SemiLight" panose="020B0502040204020203" pitchFamily="34" charset="0"/>
              </a:rPr>
              <a:t> za </a:t>
            </a:r>
            <a:r>
              <a:rPr lang="en-US" sz="2000" dirty="0" err="1">
                <a:latin typeface="Bahnschrift SemiLight" panose="020B0502040204020203" pitchFamily="34" charset="0"/>
              </a:rPr>
              <a:t>provedbu</a:t>
            </a:r>
            <a:r>
              <a:rPr lang="en-US" sz="2000" dirty="0">
                <a:latin typeface="Bahnschrift SemiLight" panose="020B0502040204020203" pitchFamily="34" charset="0"/>
              </a:rPr>
              <a:t> </a:t>
            </a:r>
            <a:r>
              <a:rPr lang="en-US" sz="2000" dirty="0" err="1">
                <a:latin typeface="Bahnschrift SemiLight" panose="020B0502040204020203" pitchFamily="34" charset="0"/>
              </a:rPr>
              <a:t>promjene</a:t>
            </a:r>
            <a:r>
              <a:rPr lang="en-US" sz="2000" dirty="0">
                <a:latin typeface="Bahnschrift SemiLight" panose="020B0502040204020203" pitchFamily="34" charset="0"/>
              </a:rPr>
              <a:t>.</a:t>
            </a:r>
          </a:p>
          <a:p>
            <a:pPr marL="228600" indent="-228600">
              <a:lnSpc>
                <a:spcPct val="90000"/>
              </a:lnSpc>
              <a:spcBef>
                <a:spcPts val="1000"/>
              </a:spcBef>
            </a:pPr>
            <a:r>
              <a:rPr lang="en-US" sz="2000" dirty="0">
                <a:latin typeface="Bahnschrift SemiLight" panose="020B0502040204020203" pitchFamily="34" charset="0"/>
              </a:rPr>
              <a:t>– </a:t>
            </a:r>
            <a:r>
              <a:rPr lang="en-US" sz="2000" dirty="0" err="1">
                <a:latin typeface="Bahnschrift SemiLight" panose="020B0502040204020203" pitchFamily="34" charset="0"/>
              </a:rPr>
              <a:t>Uspostaviti</a:t>
            </a:r>
            <a:r>
              <a:rPr lang="en-US" sz="2000" dirty="0">
                <a:latin typeface="Bahnschrift SemiLight" panose="020B0502040204020203" pitchFamily="34" charset="0"/>
              </a:rPr>
              <a:t> </a:t>
            </a:r>
            <a:r>
              <a:rPr lang="en-US" sz="2000" b="1" dirty="0" err="1">
                <a:latin typeface="Bahnschrift SemiLight" panose="020B0502040204020203" pitchFamily="34" charset="0"/>
              </a:rPr>
              <a:t>komunikacijski</a:t>
            </a:r>
            <a:r>
              <a:rPr lang="en-US" sz="2000" b="1" dirty="0">
                <a:latin typeface="Bahnschrift SemiLight" panose="020B0502040204020203" pitchFamily="34" charset="0"/>
              </a:rPr>
              <a:t> plan </a:t>
            </a:r>
            <a:r>
              <a:rPr lang="en-US" sz="2000" dirty="0">
                <a:latin typeface="Bahnschrift SemiLight" panose="020B0502040204020203" pitchFamily="34" charset="0"/>
              </a:rPr>
              <a:t>za </a:t>
            </a:r>
            <a:r>
              <a:rPr lang="en-US" sz="2000" dirty="0" err="1">
                <a:latin typeface="Bahnschrift SemiLight" panose="020B0502040204020203" pitchFamily="34" charset="0"/>
              </a:rPr>
              <a:t>informiranje</a:t>
            </a:r>
            <a:r>
              <a:rPr lang="en-US" sz="2000" dirty="0">
                <a:latin typeface="Bahnschrift SemiLight" panose="020B0502040204020203" pitchFamily="34" charset="0"/>
              </a:rPr>
              <a:t> </a:t>
            </a:r>
            <a:r>
              <a:rPr lang="en-US" sz="2000" dirty="0" err="1">
                <a:latin typeface="Bahnschrift SemiLight" panose="020B0502040204020203" pitchFamily="34" charset="0"/>
              </a:rPr>
              <a:t>svih</a:t>
            </a:r>
            <a:r>
              <a:rPr lang="en-US" sz="2000" dirty="0">
                <a:latin typeface="Bahnschrift SemiLight" panose="020B0502040204020203" pitchFamily="34" charset="0"/>
              </a:rPr>
              <a:t> </a:t>
            </a:r>
            <a:r>
              <a:rPr lang="en-US" sz="2000" dirty="0" err="1">
                <a:latin typeface="Bahnschrift SemiLight" panose="020B0502040204020203" pitchFamily="34" charset="0"/>
              </a:rPr>
              <a:t>dionika</a:t>
            </a:r>
            <a:r>
              <a:rPr lang="en-US" sz="2000" dirty="0">
                <a:latin typeface="Bahnschrift SemiLight" panose="020B0502040204020203" pitchFamily="34" charset="0"/>
              </a:rPr>
              <a:t>.</a:t>
            </a:r>
          </a:p>
          <a:p>
            <a:pPr marL="228600" indent="-228600">
              <a:lnSpc>
                <a:spcPct val="90000"/>
              </a:lnSpc>
              <a:spcBef>
                <a:spcPts val="1000"/>
              </a:spcBef>
            </a:pPr>
            <a:r>
              <a:rPr lang="en-US" sz="2000" dirty="0">
                <a:latin typeface="Bahnschrift SemiLight" panose="020B0502040204020203" pitchFamily="34" charset="0"/>
              </a:rPr>
              <a:t>– </a:t>
            </a:r>
            <a:r>
              <a:rPr lang="en-US" sz="2000" dirty="0" err="1">
                <a:latin typeface="Bahnschrift SemiLight" panose="020B0502040204020203" pitchFamily="34" charset="0"/>
              </a:rPr>
              <a:t>Navesti</a:t>
            </a:r>
            <a:r>
              <a:rPr lang="en-US" sz="2000" dirty="0">
                <a:latin typeface="Bahnschrift SemiLight" panose="020B0502040204020203" pitchFamily="34" charset="0"/>
              </a:rPr>
              <a:t> </a:t>
            </a:r>
            <a:r>
              <a:rPr lang="en-US" sz="2000" b="1" dirty="0" err="1">
                <a:latin typeface="Bahnschrift SemiLight" panose="020B0502040204020203" pitchFamily="34" charset="0"/>
              </a:rPr>
              <a:t>korak</a:t>
            </a:r>
            <a:r>
              <a:rPr lang="en-US" sz="2000" b="1" dirty="0">
                <a:latin typeface="Bahnschrift SemiLight" panose="020B0502040204020203" pitchFamily="34" charset="0"/>
              </a:rPr>
              <a:t>-po-</a:t>
            </a:r>
            <a:r>
              <a:rPr lang="en-US" sz="2000" b="1" dirty="0" err="1">
                <a:latin typeface="Bahnschrift SemiLight" panose="020B0502040204020203" pitchFamily="34" charset="0"/>
              </a:rPr>
              <a:t>korak</a:t>
            </a:r>
            <a:r>
              <a:rPr lang="en-US" sz="2000" b="1" dirty="0">
                <a:latin typeface="Bahnschrift SemiLight" panose="020B0502040204020203" pitchFamily="34" charset="0"/>
              </a:rPr>
              <a:t> </a:t>
            </a:r>
            <a:r>
              <a:rPr lang="en-US" sz="2000" b="1" dirty="0" err="1">
                <a:latin typeface="Bahnschrift SemiLight" panose="020B0502040204020203" pitchFamily="34" charset="0"/>
              </a:rPr>
              <a:t>proces</a:t>
            </a:r>
            <a:r>
              <a:rPr lang="en-US" sz="2000" b="1" dirty="0">
                <a:latin typeface="Bahnschrift SemiLight" panose="020B0502040204020203" pitchFamily="34" charset="0"/>
              </a:rPr>
              <a:t> </a:t>
            </a:r>
            <a:r>
              <a:rPr lang="en-US" sz="2000" b="1" dirty="0" err="1">
                <a:latin typeface="Bahnschrift SemiLight" panose="020B0502040204020203" pitchFamily="34" charset="0"/>
              </a:rPr>
              <a:t>provedbe</a:t>
            </a:r>
            <a:r>
              <a:rPr lang="en-US" sz="2000" dirty="0">
                <a:latin typeface="Bahnschrift SemiLight" panose="020B0502040204020203" pitchFamily="34" charset="0"/>
              </a:rPr>
              <a:t>.</a:t>
            </a:r>
          </a:p>
          <a:p>
            <a:pPr>
              <a:buNone/>
            </a:pPr>
            <a:endParaRPr lang="en-US" sz="2200" dirty="0">
              <a:latin typeface="Bahnschrift SemiLight" panose="020B0502040204020203" pitchFamily="34" charset="0"/>
            </a:endParaRPr>
          </a:p>
        </p:txBody>
      </p:sp>
    </p:spTree>
    <p:extLst>
      <p:ext uri="{BB962C8B-B14F-4D97-AF65-F5344CB8AC3E}">
        <p14:creationId xmlns:p14="http://schemas.microsoft.com/office/powerpoint/2010/main" val="30485211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B1A1B-421F-794E-E988-5E8D5CE04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D5EED-1759-D892-A381-E1DEF45B384E}"/>
              </a:ext>
            </a:extLst>
          </p:cNvPr>
          <p:cNvSpPr>
            <a:spLocks noGrp="1"/>
          </p:cNvSpPr>
          <p:nvPr>
            <p:ph type="title"/>
          </p:nvPr>
        </p:nvSpPr>
        <p:spPr>
          <a:xfrm>
            <a:off x="982153" y="245382"/>
            <a:ext cx="10515600" cy="1325563"/>
          </a:xfrm>
        </p:spPr>
        <p:txBody>
          <a:bodyPr>
            <a:normAutofit/>
          </a:bodyPr>
          <a:lstStyle/>
          <a:p>
            <a:r>
              <a:rPr lang="en-US" sz="3800" dirty="0">
                <a:latin typeface="Bahnschrift SemiBold"/>
                <a:ea typeface="+mn-ea"/>
                <a:cs typeface="+mn-cs"/>
              </a:rPr>
              <a:t>Ključni </a:t>
            </a:r>
            <a:r>
              <a:rPr lang="en-US" sz="3800" dirty="0" err="1">
                <a:latin typeface="Bahnschrift SemiBold"/>
                <a:ea typeface="+mn-ea"/>
                <a:cs typeface="+mn-cs"/>
              </a:rPr>
              <a:t>koraci</a:t>
            </a:r>
            <a:r>
              <a:rPr lang="en-US" sz="3800" dirty="0">
                <a:latin typeface="Bahnschrift SemiBold"/>
                <a:ea typeface="+mn-ea"/>
                <a:cs typeface="+mn-cs"/>
              </a:rPr>
              <a:t> u </a:t>
            </a:r>
            <a:r>
              <a:rPr lang="en-US" sz="3800" dirty="0" err="1">
                <a:latin typeface="Bahnschrift SemiBold"/>
                <a:ea typeface="+mn-ea"/>
                <a:cs typeface="+mn-cs"/>
              </a:rPr>
              <a:t>učinkovitom</a:t>
            </a:r>
            <a:r>
              <a:rPr lang="en-US" sz="3800" dirty="0">
                <a:latin typeface="Bahnschrift SemiBold"/>
                <a:ea typeface="+mn-ea"/>
                <a:cs typeface="+mn-cs"/>
              </a:rPr>
              <a:t> </a:t>
            </a:r>
            <a:r>
              <a:rPr lang="en-US" sz="3800" dirty="0" err="1">
                <a:latin typeface="Bahnschrift SemiBold"/>
                <a:ea typeface="+mn-ea"/>
                <a:cs typeface="+mn-cs"/>
              </a:rPr>
              <a:t>upravljanju</a:t>
            </a:r>
            <a:r>
              <a:rPr lang="en-US" sz="3800" dirty="0">
                <a:latin typeface="Bahnschrift SemiBold"/>
                <a:ea typeface="+mn-ea"/>
                <a:cs typeface="+mn-cs"/>
              </a:rPr>
              <a:t> </a:t>
            </a:r>
            <a:r>
              <a:rPr lang="en-US" sz="3800" dirty="0" err="1">
                <a:latin typeface="Bahnschrift SemiBold"/>
                <a:ea typeface="+mn-ea"/>
                <a:cs typeface="+mn-cs"/>
              </a:rPr>
              <a:t>promjenama</a:t>
            </a:r>
            <a:r>
              <a:rPr lang="en-US" sz="3800" dirty="0">
                <a:latin typeface="Bahnschrift SemiBold"/>
                <a:ea typeface="+mn-ea"/>
                <a:cs typeface="+mn-cs"/>
              </a:rPr>
              <a:t> II.</a:t>
            </a:r>
          </a:p>
        </p:txBody>
      </p:sp>
      <p:sp>
        <p:nvSpPr>
          <p:cNvPr id="3" name="Content Placeholder 2">
            <a:extLst>
              <a:ext uri="{FF2B5EF4-FFF2-40B4-BE49-F238E27FC236}">
                <a16:creationId xmlns:a16="http://schemas.microsoft.com/office/drawing/2014/main" id="{17D5A298-E4A1-33B4-2E39-4B46D3DF3F1D}"/>
              </a:ext>
            </a:extLst>
          </p:cNvPr>
          <p:cNvSpPr>
            <a:spLocks noGrp="1"/>
          </p:cNvSpPr>
          <p:nvPr>
            <p:ph idx="1"/>
          </p:nvPr>
        </p:nvSpPr>
        <p:spPr/>
        <p:txBody>
          <a:bodyPr>
            <a:noAutofit/>
          </a:bodyPr>
          <a:lstStyle/>
          <a:p>
            <a:pPr marL="0" indent="0">
              <a:buNone/>
            </a:pPr>
            <a:endParaRPr lang="en-US" sz="2200" b="1" dirty="0">
              <a:latin typeface="Montserrat" panose="00000500000000000000" pitchFamily="2" charset="0"/>
            </a:endParaRPr>
          </a:p>
          <a:p>
            <a:pPr marL="0" indent="0">
              <a:buNone/>
            </a:pPr>
            <a:endParaRPr lang="en-US" sz="2200" dirty="0">
              <a:latin typeface="Montserrat" panose="00000500000000000000" pitchFamily="2" charset="0"/>
            </a:endParaRPr>
          </a:p>
        </p:txBody>
      </p:sp>
      <p:sp>
        <p:nvSpPr>
          <p:cNvPr id="5" name="TextBox 4">
            <a:extLst>
              <a:ext uri="{FF2B5EF4-FFF2-40B4-BE49-F238E27FC236}">
                <a16:creationId xmlns:a16="http://schemas.microsoft.com/office/drawing/2014/main" id="{3DB78BA9-C508-D812-8DA4-92D4920D482B}"/>
              </a:ext>
            </a:extLst>
          </p:cNvPr>
          <p:cNvSpPr txBox="1"/>
          <p:nvPr/>
        </p:nvSpPr>
        <p:spPr>
          <a:xfrm>
            <a:off x="685040" y="1605280"/>
            <a:ext cx="11109825" cy="5252720"/>
          </a:xfrm>
          <a:prstGeom prst="rect">
            <a:avLst/>
          </a:prstGeom>
          <a:noFill/>
        </p:spPr>
        <p:txBody>
          <a:bodyPr wrap="square">
            <a:spAutoFit/>
          </a:bodyPr>
          <a:lstStyle/>
          <a:p>
            <a:pPr marL="228600" indent="-228600">
              <a:lnSpc>
                <a:spcPct val="90000"/>
              </a:lnSpc>
              <a:spcBef>
                <a:spcPts val="1000"/>
              </a:spcBef>
              <a:buNone/>
            </a:pPr>
            <a:r>
              <a:rPr lang="en-US" sz="2000" b="1" dirty="0">
                <a:solidFill>
                  <a:srgbClr val="0ADBBC"/>
                </a:solidFill>
                <a:latin typeface="Bahnschrift SemiLight" panose="020B0502040204020203" pitchFamily="34" charset="0"/>
              </a:rPr>
              <a:t>4. </a:t>
            </a:r>
            <a:r>
              <a:rPr lang="en-US" sz="2000" b="1" dirty="0" err="1">
                <a:solidFill>
                  <a:srgbClr val="0ADBBC"/>
                </a:solidFill>
                <a:latin typeface="Bahnschrift SemiLight" panose="020B0502040204020203" pitchFamily="34" charset="0"/>
              </a:rPr>
              <a:t>Dobiti</a:t>
            </a:r>
            <a:r>
              <a:rPr lang="en-US" sz="2000" b="1" dirty="0">
                <a:solidFill>
                  <a:srgbClr val="0ADBBC"/>
                </a:solidFill>
                <a:latin typeface="Bahnschrift SemiLight" panose="020B0502040204020203" pitchFamily="34" charset="0"/>
              </a:rPr>
              <a:t> </a:t>
            </a:r>
            <a:r>
              <a:rPr lang="en-US" sz="2000" b="1" dirty="0" err="1">
                <a:solidFill>
                  <a:srgbClr val="0ADBBC"/>
                </a:solidFill>
                <a:latin typeface="Bahnschrift SemiLight" panose="020B0502040204020203" pitchFamily="34" charset="0"/>
              </a:rPr>
              <a:t>odobrenje</a:t>
            </a:r>
            <a:r>
              <a:rPr lang="en-US" sz="2000" b="1" dirty="0">
                <a:solidFill>
                  <a:srgbClr val="0ADBBC"/>
                </a:solidFill>
                <a:latin typeface="Bahnschrift SemiLight" panose="020B0502040204020203" pitchFamily="34" charset="0"/>
              </a:rPr>
              <a:t> </a:t>
            </a:r>
            <a:r>
              <a:rPr lang="en-US" sz="2000" b="1" dirty="0" err="1">
                <a:solidFill>
                  <a:srgbClr val="0ADBBC"/>
                </a:solidFill>
                <a:latin typeface="Bahnschrift SemiLight" panose="020B0502040204020203" pitchFamily="34" charset="0"/>
              </a:rPr>
              <a:t>dionika</a:t>
            </a:r>
            <a:endParaRPr lang="en-US" sz="2000" b="1" dirty="0">
              <a:solidFill>
                <a:srgbClr val="0ADBBC"/>
              </a:solidFill>
              <a:latin typeface="Bahnschrift SemiLight" panose="020B0502040204020203" pitchFamily="34" charset="0"/>
            </a:endParaRPr>
          </a:p>
          <a:p>
            <a:pPr marL="228600" indent="-228600">
              <a:lnSpc>
                <a:spcPct val="90000"/>
              </a:lnSpc>
              <a:spcBef>
                <a:spcPts val="1000"/>
              </a:spcBef>
              <a:buNone/>
            </a:pPr>
            <a:r>
              <a:rPr lang="en-US" sz="2000" dirty="0">
                <a:latin typeface="Bahnschrift SemiLight" panose="020B0502040204020203" pitchFamily="34" charset="0"/>
              </a:rPr>
              <a:t>– </a:t>
            </a:r>
            <a:r>
              <a:rPr lang="en-US" sz="2000" dirty="0" err="1">
                <a:latin typeface="Bahnschrift SemiLight" panose="020B0502040204020203" pitchFamily="34" charset="0"/>
              </a:rPr>
              <a:t>Predstaviti</a:t>
            </a:r>
            <a:r>
              <a:rPr lang="en-US" sz="2000" dirty="0">
                <a:latin typeface="Bahnschrift SemiLight" panose="020B0502040204020203" pitchFamily="34" charset="0"/>
              </a:rPr>
              <a:t> </a:t>
            </a:r>
            <a:r>
              <a:rPr lang="en-US" sz="2000" dirty="0" err="1">
                <a:latin typeface="Bahnschrift SemiLight" panose="020B0502040204020203" pitchFamily="34" charset="0"/>
              </a:rPr>
              <a:t>predloženu</a:t>
            </a:r>
            <a:r>
              <a:rPr lang="en-US" sz="2000" dirty="0">
                <a:latin typeface="Bahnschrift SemiLight" panose="020B0502040204020203" pitchFamily="34" charset="0"/>
              </a:rPr>
              <a:t> </a:t>
            </a:r>
            <a:r>
              <a:rPr lang="en-US" sz="2000" dirty="0" err="1">
                <a:latin typeface="Bahnschrift SemiLight" panose="020B0502040204020203" pitchFamily="34" charset="0"/>
              </a:rPr>
              <a:t>promjenu</a:t>
            </a:r>
            <a:r>
              <a:rPr lang="en-US" sz="2000" dirty="0">
                <a:latin typeface="Bahnschrift SemiLight" panose="020B0502040204020203" pitchFamily="34" charset="0"/>
              </a:rPr>
              <a:t> </a:t>
            </a:r>
            <a:r>
              <a:rPr lang="en-US" sz="2000" b="1" dirty="0" err="1">
                <a:latin typeface="Bahnschrift SemiLight" panose="020B0502040204020203" pitchFamily="34" charset="0"/>
              </a:rPr>
              <a:t>donositeljima</a:t>
            </a:r>
            <a:r>
              <a:rPr lang="en-US" sz="2000" b="1" dirty="0">
                <a:latin typeface="Bahnschrift SemiLight" panose="020B0502040204020203" pitchFamily="34" charset="0"/>
              </a:rPr>
              <a:t> </a:t>
            </a:r>
            <a:r>
              <a:rPr lang="en-US" sz="2000" b="1" dirty="0" err="1">
                <a:latin typeface="Bahnschrift SemiLight" panose="020B0502040204020203" pitchFamily="34" charset="0"/>
              </a:rPr>
              <a:t>odluka</a:t>
            </a:r>
            <a:r>
              <a:rPr lang="en-US" sz="2000" b="1" dirty="0">
                <a:latin typeface="Bahnschrift SemiLight" panose="020B0502040204020203" pitchFamily="34" charset="0"/>
              </a:rPr>
              <a:t>, </a:t>
            </a:r>
            <a:r>
              <a:rPr lang="en-US" sz="2000" b="1" dirty="0" err="1">
                <a:latin typeface="Bahnschrift SemiLight" panose="020B0502040204020203" pitchFamily="34" charset="0"/>
              </a:rPr>
              <a:t>sponzorima</a:t>
            </a:r>
            <a:r>
              <a:rPr lang="en-US" sz="2000" b="1" dirty="0">
                <a:latin typeface="Bahnschrift SemiLight" panose="020B0502040204020203" pitchFamily="34" charset="0"/>
              </a:rPr>
              <a:t> </a:t>
            </a:r>
            <a:r>
              <a:rPr lang="en-US" sz="2000" b="1" dirty="0" err="1">
                <a:latin typeface="Bahnschrift SemiLight" panose="020B0502040204020203" pitchFamily="34" charset="0"/>
              </a:rPr>
              <a:t>projekta</a:t>
            </a:r>
            <a:r>
              <a:rPr lang="en-US" sz="2000" b="1" dirty="0">
                <a:latin typeface="Bahnschrift SemiLight" panose="020B0502040204020203" pitchFamily="34" charset="0"/>
              </a:rPr>
              <a:t> </a:t>
            </a:r>
            <a:r>
              <a:rPr lang="en-US" sz="2000" b="1" dirty="0" err="1">
                <a:latin typeface="Bahnschrift SemiLight" panose="020B0502040204020203" pitchFamily="34" charset="0"/>
              </a:rPr>
              <a:t>ili</a:t>
            </a:r>
            <a:r>
              <a:rPr lang="en-US" sz="2000" b="1" dirty="0">
                <a:latin typeface="Bahnschrift SemiLight" panose="020B0502040204020203" pitchFamily="34" charset="0"/>
              </a:rPr>
              <a:t> </a:t>
            </a:r>
            <a:r>
              <a:rPr lang="en-US" sz="2000" b="1" dirty="0" err="1">
                <a:latin typeface="Bahnschrift SemiLight" panose="020B0502040204020203" pitchFamily="34" charset="0"/>
              </a:rPr>
              <a:t>odboru</a:t>
            </a:r>
            <a:r>
              <a:rPr lang="en-US" sz="2000" b="1" dirty="0">
                <a:latin typeface="Bahnschrift SemiLight" panose="020B0502040204020203" pitchFamily="34" charset="0"/>
              </a:rPr>
              <a:t> za </a:t>
            </a:r>
            <a:r>
              <a:rPr lang="en-US" sz="2000" b="1" dirty="0" err="1">
                <a:latin typeface="Bahnschrift SemiLight" panose="020B0502040204020203" pitchFamily="34" charset="0"/>
              </a:rPr>
              <a:t>kontrolu</a:t>
            </a:r>
            <a:r>
              <a:rPr lang="en-US" sz="2000" b="1" dirty="0">
                <a:latin typeface="Bahnschrift SemiLight" panose="020B0502040204020203" pitchFamily="34" charset="0"/>
              </a:rPr>
              <a:t> </a:t>
            </a:r>
            <a:r>
              <a:rPr lang="en-US" sz="2000" b="1" dirty="0" err="1">
                <a:latin typeface="Bahnschrift SemiLight" panose="020B0502040204020203" pitchFamily="34" charset="0"/>
              </a:rPr>
              <a:t>promjena</a:t>
            </a:r>
            <a:r>
              <a:rPr lang="en-US" sz="2000" dirty="0">
                <a:latin typeface="Bahnschrift SemiLight" panose="020B0502040204020203" pitchFamily="34" charset="0"/>
              </a:rPr>
              <a:t>.</a:t>
            </a:r>
          </a:p>
          <a:p>
            <a:pPr marL="228600" indent="-228600">
              <a:lnSpc>
                <a:spcPct val="90000"/>
              </a:lnSpc>
              <a:spcBef>
                <a:spcPts val="1000"/>
              </a:spcBef>
              <a:buNone/>
            </a:pPr>
            <a:r>
              <a:rPr lang="en-US" sz="2000" dirty="0">
                <a:latin typeface="Bahnschrift SemiLight" panose="020B0502040204020203" pitchFamily="34" charset="0"/>
              </a:rPr>
              <a:t>– </a:t>
            </a:r>
            <a:r>
              <a:rPr lang="en-US" sz="2000" dirty="0" err="1">
                <a:latin typeface="Bahnschrift SemiLight" panose="020B0502040204020203" pitchFamily="34" charset="0"/>
              </a:rPr>
              <a:t>Osigurati</a:t>
            </a:r>
            <a:r>
              <a:rPr lang="en-US" sz="2000" dirty="0">
                <a:latin typeface="Bahnschrift SemiLight" panose="020B0502040204020203" pitchFamily="34" charset="0"/>
              </a:rPr>
              <a:t> </a:t>
            </a:r>
            <a:r>
              <a:rPr lang="en-US" sz="2000" dirty="0" err="1">
                <a:latin typeface="Bahnschrift SemiLight" panose="020B0502040204020203" pitchFamily="34" charset="0"/>
              </a:rPr>
              <a:t>odobrenja</a:t>
            </a:r>
            <a:r>
              <a:rPr lang="en-US" sz="2000" dirty="0">
                <a:latin typeface="Bahnschrift SemiLight" panose="020B0502040204020203" pitchFamily="34" charset="0"/>
              </a:rPr>
              <a:t> </a:t>
            </a:r>
            <a:r>
              <a:rPr lang="en-US" sz="2000" dirty="0" err="1">
                <a:latin typeface="Bahnschrift SemiLight" panose="020B0502040204020203" pitchFamily="34" charset="0"/>
              </a:rPr>
              <a:t>prije</a:t>
            </a:r>
            <a:r>
              <a:rPr lang="en-US" sz="2000" dirty="0">
                <a:latin typeface="Bahnschrift SemiLight" panose="020B0502040204020203" pitchFamily="34" charset="0"/>
              </a:rPr>
              <a:t> </a:t>
            </a:r>
            <a:r>
              <a:rPr lang="en-US" sz="2000" dirty="0" err="1">
                <a:latin typeface="Bahnschrift SemiLight" panose="020B0502040204020203" pitchFamily="34" charset="0"/>
              </a:rPr>
              <a:t>provedbe</a:t>
            </a:r>
            <a:r>
              <a:rPr lang="en-US" sz="2000" dirty="0">
                <a:latin typeface="Bahnschrift SemiLight" panose="020B0502040204020203" pitchFamily="34" charset="0"/>
              </a:rPr>
              <a:t> </a:t>
            </a:r>
            <a:r>
              <a:rPr lang="en-US" sz="2000" dirty="0" err="1">
                <a:latin typeface="Bahnschrift SemiLight" panose="020B0502040204020203" pitchFamily="34" charset="0"/>
              </a:rPr>
              <a:t>značajnih</a:t>
            </a:r>
            <a:r>
              <a:rPr lang="en-US" sz="2000" dirty="0">
                <a:latin typeface="Bahnschrift SemiLight" panose="020B0502040204020203" pitchFamily="34" charset="0"/>
              </a:rPr>
              <a:t> </a:t>
            </a:r>
            <a:r>
              <a:rPr lang="en-US" sz="2000" dirty="0" err="1">
                <a:latin typeface="Bahnschrift SemiLight" panose="020B0502040204020203" pitchFamily="34" charset="0"/>
              </a:rPr>
              <a:t>promjena</a:t>
            </a:r>
            <a:r>
              <a:rPr lang="en-US" sz="2000" dirty="0">
                <a:latin typeface="Bahnschrift SemiLight" panose="020B0502040204020203" pitchFamily="34" charset="0"/>
              </a:rPr>
              <a:t>.</a:t>
            </a:r>
          </a:p>
          <a:p>
            <a:pPr marL="228600" indent="-228600">
              <a:lnSpc>
                <a:spcPct val="90000"/>
              </a:lnSpc>
              <a:spcBef>
                <a:spcPts val="1000"/>
              </a:spcBef>
              <a:buNone/>
            </a:pPr>
            <a:endParaRPr lang="en-US" sz="2000" b="1" dirty="0">
              <a:solidFill>
                <a:srgbClr val="0ADBBC"/>
              </a:solidFill>
              <a:latin typeface="Bahnschrift SemiLight" panose="020B0502040204020203" pitchFamily="34" charset="0"/>
            </a:endParaRPr>
          </a:p>
          <a:p>
            <a:pPr marL="228600" indent="-228600">
              <a:lnSpc>
                <a:spcPct val="90000"/>
              </a:lnSpc>
              <a:spcBef>
                <a:spcPts val="1000"/>
              </a:spcBef>
              <a:buNone/>
            </a:pPr>
            <a:r>
              <a:rPr lang="en-US" sz="2000" b="1" dirty="0">
                <a:solidFill>
                  <a:srgbClr val="0ADBBC"/>
                </a:solidFill>
                <a:latin typeface="Bahnschrift SemiLight" panose="020B0502040204020203" pitchFamily="34" charset="0"/>
              </a:rPr>
              <a:t>5. </a:t>
            </a:r>
            <a:r>
              <a:rPr lang="en-US" sz="2000" b="1" dirty="0" err="1">
                <a:solidFill>
                  <a:srgbClr val="0ADBBC"/>
                </a:solidFill>
                <a:latin typeface="Bahnschrift SemiLight" panose="020B0502040204020203" pitchFamily="34" charset="0"/>
              </a:rPr>
              <a:t>Provesti</a:t>
            </a:r>
            <a:r>
              <a:rPr lang="en-US" sz="2000" b="1" dirty="0">
                <a:solidFill>
                  <a:srgbClr val="0ADBBC"/>
                </a:solidFill>
                <a:latin typeface="Bahnschrift SemiLight" panose="020B0502040204020203" pitchFamily="34" charset="0"/>
              </a:rPr>
              <a:t> i </a:t>
            </a:r>
            <a:r>
              <a:rPr lang="en-US" sz="2000" b="1" dirty="0" err="1">
                <a:solidFill>
                  <a:srgbClr val="0ADBBC"/>
                </a:solidFill>
                <a:latin typeface="Bahnschrift SemiLight" panose="020B0502040204020203" pitchFamily="34" charset="0"/>
              </a:rPr>
              <a:t>pratiti</a:t>
            </a:r>
            <a:r>
              <a:rPr lang="en-US" sz="2000" b="1" dirty="0">
                <a:solidFill>
                  <a:srgbClr val="0ADBBC"/>
                </a:solidFill>
                <a:latin typeface="Bahnschrift SemiLight" panose="020B0502040204020203" pitchFamily="34" charset="0"/>
              </a:rPr>
              <a:t> </a:t>
            </a:r>
            <a:r>
              <a:rPr lang="en-US" sz="2000" b="1" dirty="0" err="1">
                <a:solidFill>
                  <a:srgbClr val="0ADBBC"/>
                </a:solidFill>
                <a:latin typeface="Bahnschrift SemiLight" panose="020B0502040204020203" pitchFamily="34" charset="0"/>
              </a:rPr>
              <a:t>promjenu</a:t>
            </a:r>
            <a:endParaRPr lang="en-US" sz="2000" b="1" dirty="0">
              <a:solidFill>
                <a:srgbClr val="0ADBBC"/>
              </a:solidFill>
              <a:latin typeface="Bahnschrift SemiLight" panose="020B0502040204020203" pitchFamily="34" charset="0"/>
            </a:endParaRPr>
          </a:p>
          <a:p>
            <a:pPr marL="228600" indent="-228600">
              <a:lnSpc>
                <a:spcPct val="90000"/>
              </a:lnSpc>
              <a:spcBef>
                <a:spcPts val="1000"/>
              </a:spcBef>
              <a:buNone/>
            </a:pPr>
            <a:r>
              <a:rPr lang="en-US" sz="2000" dirty="0">
                <a:latin typeface="Bahnschrift SemiLight" panose="020B0502040204020203" pitchFamily="34" charset="0"/>
              </a:rPr>
              <a:t>– </a:t>
            </a:r>
            <a:r>
              <a:rPr lang="en-US" sz="2000" dirty="0" err="1">
                <a:latin typeface="Bahnschrift SemiLight" panose="020B0502040204020203" pitchFamily="34" charset="0"/>
              </a:rPr>
              <a:t>Koristiti</a:t>
            </a:r>
            <a:r>
              <a:rPr lang="en-US" sz="2000" dirty="0">
                <a:latin typeface="Bahnschrift SemiLight" panose="020B0502040204020203" pitchFamily="34" charset="0"/>
              </a:rPr>
              <a:t> </a:t>
            </a:r>
            <a:r>
              <a:rPr lang="en-US" sz="2000" b="1" dirty="0">
                <a:latin typeface="Bahnschrift SemiLight" panose="020B0502040204020203" pitchFamily="34" charset="0"/>
              </a:rPr>
              <a:t>pilot </a:t>
            </a:r>
            <a:r>
              <a:rPr lang="en-US" sz="2000" b="1" dirty="0" err="1">
                <a:latin typeface="Bahnschrift SemiLight" panose="020B0502040204020203" pitchFamily="34" charset="0"/>
              </a:rPr>
              <a:t>fazu</a:t>
            </a:r>
            <a:r>
              <a:rPr lang="en-US" sz="2000" b="1" dirty="0">
                <a:latin typeface="Bahnschrift SemiLight" panose="020B0502040204020203" pitchFamily="34" charset="0"/>
              </a:rPr>
              <a:t> </a:t>
            </a:r>
            <a:r>
              <a:rPr lang="en-US" sz="2000" dirty="0" err="1">
                <a:latin typeface="Bahnschrift SemiLight" panose="020B0502040204020203" pitchFamily="34" charset="0"/>
              </a:rPr>
              <a:t>ili</a:t>
            </a:r>
            <a:r>
              <a:rPr lang="en-US" sz="2000" dirty="0">
                <a:latin typeface="Bahnschrift SemiLight" panose="020B0502040204020203" pitchFamily="34" charset="0"/>
              </a:rPr>
              <a:t> </a:t>
            </a:r>
            <a:r>
              <a:rPr lang="en-US" sz="2000" dirty="0" err="1">
                <a:latin typeface="Bahnschrift SemiLight" panose="020B0502040204020203" pitchFamily="34" charset="0"/>
              </a:rPr>
              <a:t>postupno</a:t>
            </a:r>
            <a:r>
              <a:rPr lang="en-US" sz="2000" dirty="0">
                <a:latin typeface="Bahnschrift SemiLight" panose="020B0502040204020203" pitchFamily="34" charset="0"/>
              </a:rPr>
              <a:t> </a:t>
            </a:r>
            <a:r>
              <a:rPr lang="en-US" sz="2000" dirty="0" err="1">
                <a:latin typeface="Bahnschrift SemiLight" panose="020B0502040204020203" pitchFamily="34" charset="0"/>
              </a:rPr>
              <a:t>uvođenje</a:t>
            </a:r>
            <a:r>
              <a:rPr lang="en-US" sz="2000" dirty="0">
                <a:latin typeface="Bahnschrift SemiLight" panose="020B0502040204020203" pitchFamily="34" charset="0"/>
              </a:rPr>
              <a:t> za </a:t>
            </a:r>
            <a:r>
              <a:rPr lang="en-US" sz="2000" dirty="0" err="1">
                <a:latin typeface="Bahnschrift SemiLight" panose="020B0502040204020203" pitchFamily="34" charset="0"/>
              </a:rPr>
              <a:t>testiranje</a:t>
            </a:r>
            <a:r>
              <a:rPr lang="en-US" sz="2000" dirty="0">
                <a:latin typeface="Bahnschrift SemiLight" panose="020B0502040204020203" pitchFamily="34" charset="0"/>
              </a:rPr>
              <a:t> </a:t>
            </a:r>
            <a:r>
              <a:rPr lang="en-US" sz="2000" dirty="0" err="1">
                <a:latin typeface="Bahnschrift SemiLight" panose="020B0502040204020203" pitchFamily="34" charset="0"/>
              </a:rPr>
              <a:t>promjena</a:t>
            </a:r>
            <a:r>
              <a:rPr lang="en-US" sz="2000" dirty="0">
                <a:latin typeface="Bahnschrift SemiLight" panose="020B0502040204020203" pitchFamily="34" charset="0"/>
              </a:rPr>
              <a:t> </a:t>
            </a:r>
            <a:r>
              <a:rPr lang="en-US" sz="2000" dirty="0" err="1">
                <a:latin typeface="Bahnschrift SemiLight" panose="020B0502040204020203" pitchFamily="34" charset="0"/>
              </a:rPr>
              <a:t>prije</a:t>
            </a:r>
            <a:r>
              <a:rPr lang="en-US" sz="2000" dirty="0">
                <a:latin typeface="Bahnschrift SemiLight" panose="020B0502040204020203" pitchFamily="34" charset="0"/>
              </a:rPr>
              <a:t> </a:t>
            </a:r>
            <a:r>
              <a:rPr lang="en-US" sz="2000" dirty="0" err="1">
                <a:latin typeface="Bahnschrift SemiLight" panose="020B0502040204020203" pitchFamily="34" charset="0"/>
              </a:rPr>
              <a:t>potpune</a:t>
            </a:r>
            <a:r>
              <a:rPr lang="en-US" sz="2000" dirty="0">
                <a:latin typeface="Bahnschrift SemiLight" panose="020B0502040204020203" pitchFamily="34" charset="0"/>
              </a:rPr>
              <a:t> </a:t>
            </a:r>
            <a:r>
              <a:rPr lang="en-US" sz="2000" dirty="0" err="1">
                <a:latin typeface="Bahnschrift SemiLight" panose="020B0502040204020203" pitchFamily="34" charset="0"/>
              </a:rPr>
              <a:t>implementacije</a:t>
            </a:r>
            <a:r>
              <a:rPr lang="en-US" sz="2000" dirty="0">
                <a:latin typeface="Bahnschrift SemiLight" panose="020B0502040204020203" pitchFamily="34" charset="0"/>
              </a:rPr>
              <a:t>.</a:t>
            </a:r>
          </a:p>
          <a:p>
            <a:pPr marL="228600" indent="-228600">
              <a:lnSpc>
                <a:spcPct val="90000"/>
              </a:lnSpc>
              <a:spcBef>
                <a:spcPts val="1000"/>
              </a:spcBef>
              <a:buNone/>
            </a:pPr>
            <a:r>
              <a:rPr lang="en-US" sz="2000" dirty="0">
                <a:latin typeface="Bahnschrift SemiLight" panose="020B0502040204020203" pitchFamily="34" charset="0"/>
              </a:rPr>
              <a:t>– </a:t>
            </a:r>
            <a:r>
              <a:rPr lang="en-US" sz="2000" dirty="0" err="1">
                <a:latin typeface="Bahnschrift SemiLight" panose="020B0502040204020203" pitchFamily="34" charset="0"/>
              </a:rPr>
              <a:t>Kontinuirano</a:t>
            </a:r>
            <a:r>
              <a:rPr lang="en-US" sz="2000" dirty="0">
                <a:latin typeface="Bahnschrift SemiLight" panose="020B0502040204020203" pitchFamily="34" charset="0"/>
              </a:rPr>
              <a:t> </a:t>
            </a:r>
            <a:r>
              <a:rPr lang="en-US" sz="2000" dirty="0" err="1">
                <a:latin typeface="Bahnschrift SemiLight" panose="020B0502040204020203" pitchFamily="34" charset="0"/>
              </a:rPr>
              <a:t>pratiti</a:t>
            </a:r>
            <a:r>
              <a:rPr lang="en-US" sz="2000" dirty="0">
                <a:latin typeface="Bahnschrift SemiLight" panose="020B0502040204020203" pitchFamily="34" charset="0"/>
              </a:rPr>
              <a:t> </a:t>
            </a:r>
            <a:r>
              <a:rPr lang="en-US" sz="2000" dirty="0" err="1">
                <a:latin typeface="Bahnschrift SemiLight" panose="020B0502040204020203" pitchFamily="34" charset="0"/>
              </a:rPr>
              <a:t>napredak</a:t>
            </a:r>
            <a:r>
              <a:rPr lang="en-US" sz="2000" dirty="0">
                <a:latin typeface="Bahnschrift SemiLight" panose="020B0502040204020203" pitchFamily="34" charset="0"/>
              </a:rPr>
              <a:t> i </a:t>
            </a:r>
            <a:r>
              <a:rPr lang="en-US" sz="2000" dirty="0" err="1">
                <a:latin typeface="Bahnschrift SemiLight" panose="020B0502040204020203" pitchFamily="34" charset="0"/>
              </a:rPr>
              <a:t>prilagođavati</a:t>
            </a:r>
            <a:r>
              <a:rPr lang="en-US" sz="2000" dirty="0">
                <a:latin typeface="Bahnschrift SemiLight" panose="020B0502040204020203" pitchFamily="34" charset="0"/>
              </a:rPr>
              <a:t> </a:t>
            </a:r>
            <a:r>
              <a:rPr lang="en-US" sz="2000" dirty="0" err="1">
                <a:latin typeface="Bahnschrift SemiLight" panose="020B0502040204020203" pitchFamily="34" charset="0"/>
              </a:rPr>
              <a:t>na</a:t>
            </a:r>
            <a:r>
              <a:rPr lang="en-US" sz="2000" dirty="0">
                <a:latin typeface="Bahnschrift SemiLight" panose="020B0502040204020203" pitchFamily="34" charset="0"/>
              </a:rPr>
              <a:t> </a:t>
            </a:r>
            <a:r>
              <a:rPr lang="en-US" sz="2000" dirty="0" err="1">
                <a:latin typeface="Bahnschrift SemiLight" panose="020B0502040204020203" pitchFamily="34" charset="0"/>
              </a:rPr>
              <a:t>temelju</a:t>
            </a:r>
            <a:r>
              <a:rPr lang="en-US" sz="2000" dirty="0">
                <a:latin typeface="Bahnschrift SemiLight" panose="020B0502040204020203" pitchFamily="34" charset="0"/>
              </a:rPr>
              <a:t> </a:t>
            </a:r>
            <a:r>
              <a:rPr lang="en-US" sz="2000" b="1" dirty="0" err="1">
                <a:latin typeface="Bahnschrift SemiLight" panose="020B0502040204020203" pitchFamily="34" charset="0"/>
              </a:rPr>
              <a:t>povratnih</a:t>
            </a:r>
            <a:r>
              <a:rPr lang="en-US" sz="2000" b="1" dirty="0">
                <a:latin typeface="Bahnschrift SemiLight" panose="020B0502040204020203" pitchFamily="34" charset="0"/>
              </a:rPr>
              <a:t> </a:t>
            </a:r>
            <a:r>
              <a:rPr lang="en-US" sz="2000" b="1" dirty="0" err="1">
                <a:latin typeface="Bahnschrift SemiLight" panose="020B0502040204020203" pitchFamily="34" charset="0"/>
              </a:rPr>
              <a:t>informacija</a:t>
            </a:r>
            <a:r>
              <a:rPr lang="en-US" sz="2000" b="1" dirty="0">
                <a:latin typeface="Bahnschrift SemiLight" panose="020B0502040204020203" pitchFamily="34" charset="0"/>
              </a:rPr>
              <a:t> i </a:t>
            </a:r>
            <a:r>
              <a:rPr lang="en-US" sz="2000" b="1" dirty="0" err="1">
                <a:latin typeface="Bahnschrift SemiLight" panose="020B0502040204020203" pitchFamily="34" charset="0"/>
              </a:rPr>
              <a:t>metrike</a:t>
            </a:r>
            <a:r>
              <a:rPr lang="en-US" sz="2000" b="1" dirty="0">
                <a:latin typeface="Bahnschrift SemiLight" panose="020B0502040204020203" pitchFamily="34" charset="0"/>
              </a:rPr>
              <a:t> </a:t>
            </a:r>
            <a:r>
              <a:rPr lang="en-US" sz="2000" b="1" dirty="0" err="1">
                <a:latin typeface="Bahnschrift SemiLight" panose="020B0502040204020203" pitchFamily="34" charset="0"/>
              </a:rPr>
              <a:t>uspješnosti</a:t>
            </a:r>
            <a:r>
              <a:rPr lang="en-US" sz="2000" b="1" dirty="0">
                <a:latin typeface="Bahnschrift SemiLight" panose="020B0502040204020203" pitchFamily="34" charset="0"/>
              </a:rPr>
              <a:t>.</a:t>
            </a:r>
          </a:p>
          <a:p>
            <a:pPr marL="228600" indent="-228600">
              <a:lnSpc>
                <a:spcPct val="90000"/>
              </a:lnSpc>
              <a:spcBef>
                <a:spcPts val="1000"/>
              </a:spcBef>
              <a:buNone/>
            </a:pPr>
            <a:endParaRPr lang="en-US" sz="2000" b="1" dirty="0">
              <a:solidFill>
                <a:srgbClr val="0ADBBC"/>
              </a:solidFill>
              <a:latin typeface="Bahnschrift SemiLight" panose="020B0502040204020203" pitchFamily="34" charset="0"/>
            </a:endParaRPr>
          </a:p>
          <a:p>
            <a:pPr marL="228600" indent="-228600">
              <a:lnSpc>
                <a:spcPct val="90000"/>
              </a:lnSpc>
              <a:spcBef>
                <a:spcPts val="1000"/>
              </a:spcBef>
              <a:buNone/>
            </a:pPr>
            <a:r>
              <a:rPr lang="en-US" sz="2000" b="1" dirty="0">
                <a:solidFill>
                  <a:srgbClr val="0ADBBC"/>
                </a:solidFill>
                <a:latin typeface="Bahnschrift SemiLight" panose="020B0502040204020203" pitchFamily="34" charset="0"/>
              </a:rPr>
              <a:t>6. </a:t>
            </a:r>
            <a:r>
              <a:rPr lang="en-US" sz="2000" b="1" dirty="0" err="1">
                <a:solidFill>
                  <a:srgbClr val="0ADBBC"/>
                </a:solidFill>
                <a:latin typeface="Bahnschrift SemiLight" panose="020B0502040204020203" pitchFamily="34" charset="0"/>
              </a:rPr>
              <a:t>Učvrstiti</a:t>
            </a:r>
            <a:r>
              <a:rPr lang="en-US" sz="2000" b="1" dirty="0">
                <a:solidFill>
                  <a:srgbClr val="0ADBBC"/>
                </a:solidFill>
                <a:latin typeface="Bahnschrift SemiLight" panose="020B0502040204020203" pitchFamily="34" charset="0"/>
              </a:rPr>
              <a:t> i </a:t>
            </a:r>
            <a:r>
              <a:rPr lang="en-US" sz="2000" b="1" dirty="0" err="1">
                <a:solidFill>
                  <a:srgbClr val="0ADBBC"/>
                </a:solidFill>
                <a:latin typeface="Bahnschrift SemiLight" panose="020B0502040204020203" pitchFamily="34" charset="0"/>
              </a:rPr>
              <a:t>održati</a:t>
            </a:r>
            <a:r>
              <a:rPr lang="en-US" sz="2000" b="1" dirty="0">
                <a:solidFill>
                  <a:srgbClr val="0ADBBC"/>
                </a:solidFill>
                <a:latin typeface="Bahnschrift SemiLight" panose="020B0502040204020203" pitchFamily="34" charset="0"/>
              </a:rPr>
              <a:t> </a:t>
            </a:r>
            <a:r>
              <a:rPr lang="en-US" sz="2000" b="1" dirty="0" err="1">
                <a:solidFill>
                  <a:srgbClr val="0ADBBC"/>
                </a:solidFill>
                <a:latin typeface="Bahnschrift SemiLight" panose="020B0502040204020203" pitchFamily="34" charset="0"/>
              </a:rPr>
              <a:t>promjenu</a:t>
            </a:r>
            <a:endParaRPr lang="en-US" sz="2000" b="1" dirty="0">
              <a:solidFill>
                <a:srgbClr val="0ADBBC"/>
              </a:solidFill>
              <a:latin typeface="Bahnschrift SemiLight" panose="020B0502040204020203" pitchFamily="34" charset="0"/>
            </a:endParaRPr>
          </a:p>
          <a:p>
            <a:pPr marL="228600" indent="-228600">
              <a:lnSpc>
                <a:spcPct val="90000"/>
              </a:lnSpc>
              <a:spcBef>
                <a:spcPts val="1000"/>
              </a:spcBef>
              <a:buNone/>
            </a:pPr>
            <a:r>
              <a:rPr lang="en-US" sz="2000" dirty="0">
                <a:latin typeface="Bahnschrift SemiLight" panose="020B0502040204020203" pitchFamily="34" charset="0"/>
              </a:rPr>
              <a:t>– </a:t>
            </a:r>
            <a:r>
              <a:rPr lang="en-US" sz="2000" dirty="0" err="1">
                <a:latin typeface="Bahnschrift SemiLight" panose="020B0502040204020203" pitchFamily="34" charset="0"/>
              </a:rPr>
              <a:t>Obučiti</a:t>
            </a:r>
            <a:r>
              <a:rPr lang="en-US" sz="2000" dirty="0">
                <a:latin typeface="Bahnschrift SemiLight" panose="020B0502040204020203" pitchFamily="34" charset="0"/>
              </a:rPr>
              <a:t> </a:t>
            </a:r>
            <a:r>
              <a:rPr lang="en-US" sz="2000" dirty="0" err="1">
                <a:latin typeface="Bahnschrift SemiLight" panose="020B0502040204020203" pitchFamily="34" charset="0"/>
              </a:rPr>
              <a:t>zaposlenike</a:t>
            </a:r>
            <a:r>
              <a:rPr lang="en-US" sz="2000" dirty="0">
                <a:latin typeface="Bahnschrift SemiLight" panose="020B0502040204020203" pitchFamily="34" charset="0"/>
              </a:rPr>
              <a:t> i </a:t>
            </a:r>
            <a:r>
              <a:rPr lang="en-US" sz="2000" dirty="0" err="1">
                <a:latin typeface="Bahnschrift SemiLight" panose="020B0502040204020203" pitchFamily="34" charset="0"/>
              </a:rPr>
              <a:t>dionike</a:t>
            </a:r>
            <a:r>
              <a:rPr lang="en-US" sz="2000" dirty="0">
                <a:latin typeface="Bahnschrift SemiLight" panose="020B0502040204020203" pitchFamily="34" charset="0"/>
              </a:rPr>
              <a:t> za </a:t>
            </a:r>
            <a:r>
              <a:rPr lang="en-US" sz="2000" dirty="0" err="1">
                <a:latin typeface="Bahnschrift SemiLight" panose="020B0502040204020203" pitchFamily="34" charset="0"/>
              </a:rPr>
              <a:t>nove</a:t>
            </a:r>
            <a:r>
              <a:rPr lang="en-US" sz="2000" dirty="0">
                <a:latin typeface="Bahnschrift SemiLight" panose="020B0502040204020203" pitchFamily="34" charset="0"/>
              </a:rPr>
              <a:t> </a:t>
            </a:r>
            <a:r>
              <a:rPr lang="en-US" sz="2000" dirty="0" err="1">
                <a:latin typeface="Bahnschrift SemiLight" panose="020B0502040204020203" pitchFamily="34" charset="0"/>
              </a:rPr>
              <a:t>procese</a:t>
            </a:r>
            <a:r>
              <a:rPr lang="en-US" sz="2000" dirty="0">
                <a:latin typeface="Bahnschrift SemiLight" panose="020B0502040204020203" pitchFamily="34" charset="0"/>
              </a:rPr>
              <a:t> </a:t>
            </a:r>
            <a:r>
              <a:rPr lang="en-US" sz="2000" dirty="0" err="1">
                <a:latin typeface="Bahnschrift SemiLight" panose="020B0502040204020203" pitchFamily="34" charset="0"/>
              </a:rPr>
              <a:t>ili</a:t>
            </a:r>
            <a:r>
              <a:rPr lang="en-US" sz="2000" dirty="0">
                <a:latin typeface="Bahnschrift SemiLight" panose="020B0502040204020203" pitchFamily="34" charset="0"/>
              </a:rPr>
              <a:t> </a:t>
            </a:r>
            <a:r>
              <a:rPr lang="en-US" sz="2000" dirty="0" err="1">
                <a:latin typeface="Bahnschrift SemiLight" panose="020B0502040204020203" pitchFamily="34" charset="0"/>
              </a:rPr>
              <a:t>sustave</a:t>
            </a:r>
            <a:r>
              <a:rPr lang="en-US" sz="2000" dirty="0">
                <a:latin typeface="Bahnschrift SemiLight" panose="020B0502040204020203" pitchFamily="34" charset="0"/>
              </a:rPr>
              <a:t>.</a:t>
            </a:r>
          </a:p>
          <a:p>
            <a:pPr marL="228600" indent="-228600">
              <a:lnSpc>
                <a:spcPct val="90000"/>
              </a:lnSpc>
              <a:spcBef>
                <a:spcPts val="1000"/>
              </a:spcBef>
              <a:buNone/>
            </a:pPr>
            <a:r>
              <a:rPr lang="en-US" sz="2000" dirty="0">
                <a:latin typeface="Bahnschrift SemiLight" panose="020B0502040204020203" pitchFamily="34" charset="0"/>
              </a:rPr>
              <a:t>– </a:t>
            </a:r>
            <a:r>
              <a:rPr lang="en-US" sz="2000" dirty="0" err="1">
                <a:latin typeface="Bahnschrift SemiLight" panose="020B0502040204020203" pitchFamily="34" charset="0"/>
              </a:rPr>
              <a:t>Provesti</a:t>
            </a:r>
            <a:r>
              <a:rPr lang="en-US" sz="2000" dirty="0">
                <a:latin typeface="Bahnschrift SemiLight" panose="020B0502040204020203" pitchFamily="34" charset="0"/>
              </a:rPr>
              <a:t> </a:t>
            </a:r>
            <a:r>
              <a:rPr lang="en-US" sz="2000" b="1" dirty="0" err="1">
                <a:latin typeface="Bahnschrift SemiLight" panose="020B0502040204020203" pitchFamily="34" charset="0"/>
              </a:rPr>
              <a:t>evaluacije</a:t>
            </a:r>
            <a:r>
              <a:rPr lang="en-US" sz="2000" b="1" dirty="0">
                <a:latin typeface="Bahnschrift SemiLight" panose="020B0502040204020203" pitchFamily="34" charset="0"/>
              </a:rPr>
              <a:t> </a:t>
            </a:r>
            <a:r>
              <a:rPr lang="en-US" sz="2000" b="1" dirty="0" err="1">
                <a:latin typeface="Bahnschrift SemiLight" panose="020B0502040204020203" pitchFamily="34" charset="0"/>
              </a:rPr>
              <a:t>nakon</a:t>
            </a:r>
            <a:r>
              <a:rPr lang="en-US" sz="2000" b="1" dirty="0">
                <a:latin typeface="Bahnschrift SemiLight" panose="020B0502040204020203" pitchFamily="34" charset="0"/>
              </a:rPr>
              <a:t> </a:t>
            </a:r>
            <a:r>
              <a:rPr lang="en-US" sz="2000" b="1" dirty="0" err="1">
                <a:latin typeface="Bahnschrift SemiLight" panose="020B0502040204020203" pitchFamily="34" charset="0"/>
              </a:rPr>
              <a:t>promjene</a:t>
            </a:r>
            <a:r>
              <a:rPr lang="en-US" sz="2000" b="1" dirty="0">
                <a:latin typeface="Bahnschrift SemiLight" panose="020B0502040204020203" pitchFamily="34" charset="0"/>
              </a:rPr>
              <a:t> </a:t>
            </a:r>
            <a:r>
              <a:rPr lang="hr-HR" sz="2000" b="1" dirty="0">
                <a:latin typeface="Bahnschrift SemiLight" panose="020B0502040204020203" pitchFamily="34" charset="0"/>
              </a:rPr>
              <a:t>(post-</a:t>
            </a:r>
            <a:r>
              <a:rPr lang="hr-HR" sz="2000" b="1" dirty="0" err="1">
                <a:latin typeface="Bahnschrift SemiLight" panose="020B0502040204020203" pitchFamily="34" charset="0"/>
              </a:rPr>
              <a:t>change</a:t>
            </a:r>
            <a:r>
              <a:rPr lang="hr-HR" sz="2000" b="1" dirty="0">
                <a:latin typeface="Bahnschrift SemiLight" panose="020B0502040204020203" pitchFamily="34" charset="0"/>
              </a:rPr>
              <a:t> </a:t>
            </a:r>
            <a:r>
              <a:rPr lang="hr-HR" sz="2000" b="1" dirty="0" err="1">
                <a:latin typeface="Bahnschrift SemiLight" panose="020B0502040204020203" pitchFamily="34" charset="0"/>
              </a:rPr>
              <a:t>evaluations</a:t>
            </a:r>
            <a:r>
              <a:rPr lang="hr-HR" sz="2000" b="1" dirty="0">
                <a:latin typeface="Bahnschrift SemiLight" panose="020B0502040204020203" pitchFamily="34" charset="0"/>
              </a:rPr>
              <a:t>) </a:t>
            </a:r>
            <a:r>
              <a:rPr lang="en-US" sz="2000" dirty="0" err="1">
                <a:latin typeface="Bahnschrift SemiLight" panose="020B0502040204020203" pitchFamily="34" charset="0"/>
              </a:rPr>
              <a:t>kako</a:t>
            </a:r>
            <a:r>
              <a:rPr lang="en-US" sz="2000" dirty="0">
                <a:latin typeface="Bahnschrift SemiLight" panose="020B0502040204020203" pitchFamily="34" charset="0"/>
              </a:rPr>
              <a:t> bi se </a:t>
            </a:r>
            <a:r>
              <a:rPr lang="en-US" sz="2000" dirty="0" err="1">
                <a:latin typeface="Bahnschrift SemiLight" panose="020B0502040204020203" pitchFamily="34" charset="0"/>
              </a:rPr>
              <a:t>izmjerio</a:t>
            </a:r>
            <a:r>
              <a:rPr lang="en-US" sz="2000" dirty="0">
                <a:latin typeface="Bahnschrift SemiLight" panose="020B0502040204020203" pitchFamily="34" charset="0"/>
              </a:rPr>
              <a:t> </a:t>
            </a:r>
            <a:r>
              <a:rPr lang="en-US" sz="2000" dirty="0" err="1">
                <a:latin typeface="Bahnschrift SemiLight" panose="020B0502040204020203" pitchFamily="34" charset="0"/>
              </a:rPr>
              <a:t>uspjeh</a:t>
            </a:r>
            <a:r>
              <a:rPr lang="en-US" sz="2000" dirty="0">
                <a:latin typeface="Bahnschrift SemiLight" panose="020B0502040204020203" pitchFamily="34" charset="0"/>
              </a:rPr>
              <a:t> i </a:t>
            </a:r>
            <a:r>
              <a:rPr lang="en-US" sz="2000" dirty="0" err="1">
                <a:latin typeface="Bahnschrift SemiLight" panose="020B0502040204020203" pitchFamily="34" charset="0"/>
              </a:rPr>
              <a:t>identificirala</a:t>
            </a:r>
            <a:r>
              <a:rPr lang="en-US" sz="2000" dirty="0">
                <a:latin typeface="Bahnschrift SemiLight" panose="020B0502040204020203" pitchFamily="34" charset="0"/>
              </a:rPr>
              <a:t> </a:t>
            </a:r>
            <a:r>
              <a:rPr lang="en-US" sz="2000" dirty="0" err="1">
                <a:latin typeface="Bahnschrift SemiLight" panose="020B0502040204020203" pitchFamily="34" charset="0"/>
              </a:rPr>
              <a:t>područja</a:t>
            </a:r>
            <a:r>
              <a:rPr lang="en-US" sz="2000" dirty="0">
                <a:latin typeface="Bahnschrift SemiLight" panose="020B0502040204020203" pitchFamily="34" charset="0"/>
              </a:rPr>
              <a:t> za </a:t>
            </a:r>
            <a:r>
              <a:rPr lang="en-US" sz="2000" dirty="0" err="1">
                <a:latin typeface="Bahnschrift SemiLight" panose="020B0502040204020203" pitchFamily="34" charset="0"/>
              </a:rPr>
              <a:t>poboljšanje</a:t>
            </a:r>
            <a:r>
              <a:rPr lang="en-US" sz="2000" dirty="0">
                <a:latin typeface="Bahnschrift SemiLight" panose="020B0502040204020203" pitchFamily="34" charset="0"/>
              </a:rPr>
              <a:t>.</a:t>
            </a:r>
          </a:p>
        </p:txBody>
      </p:sp>
    </p:spTree>
    <p:extLst>
      <p:ext uri="{BB962C8B-B14F-4D97-AF65-F5344CB8AC3E}">
        <p14:creationId xmlns:p14="http://schemas.microsoft.com/office/powerpoint/2010/main" val="6234135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93A2-0334-8A18-6979-36A6FD6F436F}"/>
              </a:ext>
            </a:extLst>
          </p:cNvPr>
          <p:cNvSpPr>
            <a:spLocks noGrp="1"/>
          </p:cNvSpPr>
          <p:nvPr>
            <p:ph type="title"/>
          </p:nvPr>
        </p:nvSpPr>
        <p:spPr>
          <a:xfrm>
            <a:off x="997528" y="212725"/>
            <a:ext cx="10515600" cy="1325563"/>
          </a:xfrm>
        </p:spPr>
        <p:txBody>
          <a:bodyPr anchor="ctr">
            <a:normAutofit/>
          </a:bodyPr>
          <a:lstStyle/>
          <a:p>
            <a:r>
              <a:rPr lang="en-US" sz="3800" dirty="0" err="1">
                <a:latin typeface="Bahnschrift SemiBold"/>
                <a:ea typeface="+mn-ea"/>
                <a:cs typeface="+mn-cs"/>
              </a:rPr>
              <a:t>Uobičajeni</a:t>
            </a:r>
            <a:r>
              <a:rPr lang="en-US" sz="3800" dirty="0">
                <a:latin typeface="Bahnschrift SemiBold"/>
                <a:ea typeface="+mn-ea"/>
                <a:cs typeface="+mn-cs"/>
              </a:rPr>
              <a:t> </a:t>
            </a:r>
            <a:r>
              <a:rPr lang="en-US" sz="3800" dirty="0" err="1">
                <a:latin typeface="Bahnschrift SemiBold"/>
                <a:ea typeface="+mn-ea"/>
                <a:cs typeface="+mn-cs"/>
              </a:rPr>
              <a:t>izazovi</a:t>
            </a:r>
            <a:r>
              <a:rPr lang="en-US" sz="3800" dirty="0">
                <a:latin typeface="Bahnschrift SemiBold"/>
                <a:ea typeface="+mn-ea"/>
                <a:cs typeface="+mn-cs"/>
              </a:rPr>
              <a:t> u </a:t>
            </a:r>
            <a:r>
              <a:rPr lang="en-US" sz="3800" dirty="0" err="1">
                <a:latin typeface="Bahnschrift SemiBold"/>
                <a:ea typeface="+mn-ea"/>
                <a:cs typeface="+mn-cs"/>
              </a:rPr>
              <a:t>upravljanju</a:t>
            </a:r>
            <a:r>
              <a:rPr lang="en-US" sz="3800" dirty="0">
                <a:latin typeface="Bahnschrift SemiBold"/>
                <a:ea typeface="+mn-ea"/>
                <a:cs typeface="+mn-cs"/>
              </a:rPr>
              <a:t> </a:t>
            </a:r>
            <a:r>
              <a:rPr lang="en-US" sz="3800" dirty="0" err="1">
                <a:latin typeface="Bahnschrift SemiBold"/>
                <a:ea typeface="+mn-ea"/>
                <a:cs typeface="+mn-cs"/>
              </a:rPr>
              <a:t>promjenama</a:t>
            </a:r>
            <a:r>
              <a:rPr lang="en-US" sz="3800" dirty="0">
                <a:latin typeface="Bahnschrift SemiBold"/>
                <a:ea typeface="+mn-ea"/>
                <a:cs typeface="+mn-cs"/>
              </a:rPr>
              <a:t> i </a:t>
            </a:r>
            <a:r>
              <a:rPr lang="en-US" sz="3800" dirty="0" err="1">
                <a:latin typeface="Bahnschrift SemiBold"/>
                <a:ea typeface="+mn-ea"/>
                <a:cs typeface="+mn-cs"/>
              </a:rPr>
              <a:t>rješenja</a:t>
            </a:r>
            <a:endParaRPr lang="en-US" sz="3800" dirty="0">
              <a:latin typeface="Bahnschrift SemiBold"/>
              <a:ea typeface="+mn-ea"/>
              <a:cs typeface="+mn-cs"/>
            </a:endParaRPr>
          </a:p>
        </p:txBody>
      </p:sp>
      <p:graphicFrame>
        <p:nvGraphicFramePr>
          <p:cNvPr id="4" name="Table 3">
            <a:extLst>
              <a:ext uri="{FF2B5EF4-FFF2-40B4-BE49-F238E27FC236}">
                <a16:creationId xmlns:a16="http://schemas.microsoft.com/office/drawing/2014/main" id="{42288D10-72AE-AA3F-8D84-3C10BE2BE14A}"/>
              </a:ext>
            </a:extLst>
          </p:cNvPr>
          <p:cNvGraphicFramePr>
            <a:graphicFrameLocks noGrp="1"/>
          </p:cNvGraphicFramePr>
          <p:nvPr>
            <p:extLst>
              <p:ext uri="{D42A27DB-BD31-4B8C-83A1-F6EECF244321}">
                <p14:modId xmlns:p14="http://schemas.microsoft.com/office/powerpoint/2010/main" val="4024412152"/>
              </p:ext>
            </p:extLst>
          </p:nvPr>
        </p:nvGraphicFramePr>
        <p:xfrm>
          <a:off x="1080759" y="2003194"/>
          <a:ext cx="10030482" cy="4348166"/>
        </p:xfrm>
        <a:graphic>
          <a:graphicData uri="http://schemas.openxmlformats.org/drawingml/2006/table">
            <a:tbl>
              <a:tblPr firstRow="1" firstCol="1" bandRow="1">
                <a:tableStyleId>{5C22544A-7EE6-4342-B048-85BDC9FD1C3A}</a:tableStyleId>
              </a:tblPr>
              <a:tblGrid>
                <a:gridCol w="3731872">
                  <a:extLst>
                    <a:ext uri="{9D8B030D-6E8A-4147-A177-3AD203B41FA5}">
                      <a16:colId xmlns:a16="http://schemas.microsoft.com/office/drawing/2014/main" val="1477210259"/>
                    </a:ext>
                  </a:extLst>
                </a:gridCol>
                <a:gridCol w="6298610">
                  <a:extLst>
                    <a:ext uri="{9D8B030D-6E8A-4147-A177-3AD203B41FA5}">
                      <a16:colId xmlns:a16="http://schemas.microsoft.com/office/drawing/2014/main" val="288753851"/>
                    </a:ext>
                  </a:extLst>
                </a:gridCol>
              </a:tblGrid>
              <a:tr h="466859">
                <a:tc>
                  <a:txBody>
                    <a:bodyPr/>
                    <a:lstStyle/>
                    <a:p>
                      <a:pPr marL="0" marR="0" algn="ctr">
                        <a:lnSpc>
                          <a:spcPct val="115000"/>
                        </a:lnSpc>
                        <a:spcAft>
                          <a:spcPts val="800"/>
                        </a:spcAft>
                        <a:buNone/>
                      </a:pPr>
                      <a:r>
                        <a:rPr lang="hr-HR" sz="2200" kern="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rPr>
                        <a:t>Izazov</a:t>
                      </a:r>
                      <a:endParaRPr lang="en-US" sz="22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17529" marR="17529" marT="17529" marB="17529" anchor="ctr">
                    <a:solidFill>
                      <a:srgbClr val="0FDCBD"/>
                    </a:solidFill>
                  </a:tcPr>
                </a:tc>
                <a:tc>
                  <a:txBody>
                    <a:bodyPr/>
                    <a:lstStyle/>
                    <a:p>
                      <a:pPr marL="0" marR="0" algn="ctr">
                        <a:lnSpc>
                          <a:spcPct val="115000"/>
                        </a:lnSpc>
                        <a:spcAft>
                          <a:spcPts val="800"/>
                        </a:spcAft>
                        <a:buNone/>
                      </a:pPr>
                      <a:r>
                        <a:rPr lang="hr-HR" sz="2200" kern="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rPr>
                        <a:t>Rješenje</a:t>
                      </a:r>
                      <a:endParaRPr lang="en-US" sz="22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17529" marR="17529" marT="17529" marB="17529" anchor="ctr">
                    <a:solidFill>
                      <a:srgbClr val="80ECDD"/>
                    </a:solidFill>
                  </a:tcPr>
                </a:tc>
                <a:extLst>
                  <a:ext uri="{0D108BD9-81ED-4DB2-BD59-A6C34878D82A}">
                    <a16:rowId xmlns:a16="http://schemas.microsoft.com/office/drawing/2014/main" val="3517238960"/>
                  </a:ext>
                </a:extLst>
              </a:tr>
              <a:tr h="853612">
                <a:tc>
                  <a:txBody>
                    <a:bodyPr/>
                    <a:lstStyle/>
                    <a:p>
                      <a:pPr marL="0" marR="0">
                        <a:lnSpc>
                          <a:spcPct val="115000"/>
                        </a:lnSpc>
                        <a:spcAft>
                          <a:spcPts val="800"/>
                        </a:spcAft>
                        <a:buNone/>
                      </a:pPr>
                      <a:r>
                        <a:rPr lang="en-US" sz="2200" kern="0" dirty="0" err="1">
                          <a:solidFill>
                            <a:schemeClr val="tx1"/>
                          </a:solidFill>
                          <a:effectLst/>
                          <a:latin typeface="Bahnschrift SemiLight" panose="020B0502040204020203" pitchFamily="34" charset="0"/>
                        </a:rPr>
                        <a:t>Otpor</a:t>
                      </a:r>
                      <a:r>
                        <a:rPr lang="en-US" sz="2200" kern="0" dirty="0">
                          <a:solidFill>
                            <a:schemeClr val="tx1"/>
                          </a:solidFill>
                          <a:effectLst/>
                          <a:latin typeface="Bahnschrift SemiLight" panose="020B0502040204020203" pitchFamily="34" charset="0"/>
                        </a:rPr>
                        <a:t> </a:t>
                      </a:r>
                      <a:r>
                        <a:rPr lang="en-US" sz="2200" kern="0" dirty="0" err="1">
                          <a:solidFill>
                            <a:schemeClr val="tx1"/>
                          </a:solidFill>
                          <a:effectLst/>
                          <a:latin typeface="Bahnschrift SemiLight" panose="020B0502040204020203" pitchFamily="34" charset="0"/>
                        </a:rPr>
                        <a:t>zaposlenika</a:t>
                      </a:r>
                      <a:endParaRPr lang="en-US" sz="2200" kern="0" dirty="0">
                        <a:solidFill>
                          <a:schemeClr val="tx1"/>
                        </a:solidFill>
                        <a:effectLst/>
                        <a:latin typeface="Bahnschrift SemiLight" panose="020B0502040204020203" pitchFamily="34" charset="0"/>
                      </a:endParaRPr>
                    </a:p>
                  </a:txBody>
                  <a:tcPr marL="17529" marR="17529" marT="17529" marB="17529" anchor="ctr">
                    <a:solidFill>
                      <a:srgbClr val="0FDCBD"/>
                    </a:solidFill>
                  </a:tcPr>
                </a:tc>
                <a:tc>
                  <a:txBody>
                    <a:bodyPr/>
                    <a:lstStyle/>
                    <a:p>
                      <a:pPr marL="0" marR="0">
                        <a:lnSpc>
                          <a:spcPct val="115000"/>
                        </a:lnSpc>
                        <a:spcAft>
                          <a:spcPts val="800"/>
                        </a:spcAft>
                        <a:buNone/>
                      </a:pPr>
                      <a:r>
                        <a:rPr lang="en-US" sz="2200" kern="0" dirty="0" err="1">
                          <a:effectLst/>
                          <a:latin typeface="Bahnschrift SemiLight" panose="020B0502040204020203" pitchFamily="34" charset="0"/>
                        </a:rPr>
                        <a:t>Uključiti</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zaposlenike</a:t>
                      </a:r>
                      <a:r>
                        <a:rPr lang="en-US" sz="2200" kern="0" dirty="0">
                          <a:effectLst/>
                          <a:latin typeface="Bahnschrift SemiLight" panose="020B0502040204020203" pitchFamily="34" charset="0"/>
                        </a:rPr>
                        <a:t> u </a:t>
                      </a:r>
                      <a:r>
                        <a:rPr lang="en-US" sz="2200" kern="0" dirty="0" err="1">
                          <a:effectLst/>
                          <a:latin typeface="Bahnschrift SemiLight" panose="020B0502040204020203" pitchFamily="34" charset="0"/>
                        </a:rPr>
                        <a:t>ranoj</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fazi</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komunicirati</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prednosti</a:t>
                      </a:r>
                      <a:r>
                        <a:rPr lang="en-US" sz="2200" kern="0" dirty="0">
                          <a:effectLst/>
                          <a:latin typeface="Bahnschrift SemiLight" panose="020B0502040204020203" pitchFamily="34" charset="0"/>
                        </a:rPr>
                        <a:t> i </a:t>
                      </a:r>
                      <a:r>
                        <a:rPr lang="en-US" sz="2200" kern="0" dirty="0" err="1">
                          <a:effectLst/>
                          <a:latin typeface="Bahnschrift SemiLight" panose="020B0502040204020203" pitchFamily="34" charset="0"/>
                        </a:rPr>
                        <a:t>osigurati</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obuku</a:t>
                      </a:r>
                      <a:r>
                        <a:rPr lang="en-US" sz="2200" kern="0" dirty="0">
                          <a:effectLst/>
                          <a:latin typeface="Bahnschrift SemiLight" panose="020B0502040204020203" pitchFamily="34" charset="0"/>
                        </a:rPr>
                        <a:t>.</a:t>
                      </a:r>
                    </a:p>
                  </a:txBody>
                  <a:tcPr marL="17529" marR="17529" marT="17529" marB="17529" anchor="ctr">
                    <a:solidFill>
                      <a:srgbClr val="CBF7F0"/>
                    </a:solidFill>
                  </a:tcPr>
                </a:tc>
                <a:extLst>
                  <a:ext uri="{0D108BD9-81ED-4DB2-BD59-A6C34878D82A}">
                    <a16:rowId xmlns:a16="http://schemas.microsoft.com/office/drawing/2014/main" val="3985069118"/>
                  </a:ext>
                </a:extLst>
              </a:tr>
              <a:tr h="853612">
                <a:tc>
                  <a:txBody>
                    <a:bodyPr/>
                    <a:lstStyle/>
                    <a:p>
                      <a:pPr marL="0" marR="0">
                        <a:lnSpc>
                          <a:spcPct val="115000"/>
                        </a:lnSpc>
                        <a:spcAft>
                          <a:spcPts val="800"/>
                        </a:spcAft>
                        <a:buNone/>
                      </a:pPr>
                      <a:r>
                        <a:rPr lang="en-US" sz="2200" kern="0" dirty="0" err="1">
                          <a:solidFill>
                            <a:schemeClr val="tx1"/>
                          </a:solidFill>
                          <a:effectLst/>
                          <a:latin typeface="Bahnschrift SemiLight" panose="020B0502040204020203" pitchFamily="34" charset="0"/>
                        </a:rPr>
                        <a:t>Loša</a:t>
                      </a:r>
                      <a:r>
                        <a:rPr lang="en-US" sz="2200" kern="0" dirty="0">
                          <a:solidFill>
                            <a:schemeClr val="tx1"/>
                          </a:solidFill>
                          <a:effectLst/>
                          <a:latin typeface="Bahnschrift SemiLight" panose="020B0502040204020203" pitchFamily="34" charset="0"/>
                        </a:rPr>
                        <a:t> </a:t>
                      </a:r>
                      <a:r>
                        <a:rPr lang="en-US" sz="2200" kern="0" dirty="0" err="1">
                          <a:solidFill>
                            <a:schemeClr val="tx1"/>
                          </a:solidFill>
                          <a:effectLst/>
                          <a:latin typeface="Bahnschrift SemiLight" panose="020B0502040204020203" pitchFamily="34" charset="0"/>
                        </a:rPr>
                        <a:t>komunikacija</a:t>
                      </a:r>
                      <a:endParaRPr lang="en-US" sz="2200" kern="0" dirty="0">
                        <a:solidFill>
                          <a:schemeClr val="tx1"/>
                        </a:solidFill>
                        <a:effectLst/>
                        <a:latin typeface="Bahnschrift SemiLight" panose="020B0502040204020203" pitchFamily="34" charset="0"/>
                      </a:endParaRPr>
                    </a:p>
                  </a:txBody>
                  <a:tcPr marL="17529" marR="17529" marT="17529" marB="17529" anchor="ctr">
                    <a:solidFill>
                      <a:srgbClr val="0FDCBD"/>
                    </a:solidFill>
                  </a:tcPr>
                </a:tc>
                <a:tc>
                  <a:txBody>
                    <a:bodyPr/>
                    <a:lstStyle/>
                    <a:p>
                      <a:pPr marL="0" marR="0">
                        <a:lnSpc>
                          <a:spcPct val="115000"/>
                        </a:lnSpc>
                        <a:spcAft>
                          <a:spcPts val="800"/>
                        </a:spcAft>
                        <a:buNone/>
                      </a:pPr>
                      <a:r>
                        <a:rPr lang="en-US" sz="2200" kern="0" dirty="0" err="1">
                          <a:effectLst/>
                          <a:latin typeface="Bahnschrift SemiLight" panose="020B0502040204020203" pitchFamily="34" charset="0"/>
                        </a:rPr>
                        <a:t>Koristiti</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jasne</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poruke</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redovita</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ažuriranja</a:t>
                      </a:r>
                      <a:r>
                        <a:rPr lang="en-US" sz="2200" kern="0" dirty="0">
                          <a:effectLst/>
                          <a:latin typeface="Bahnschrift SemiLight" panose="020B0502040204020203" pitchFamily="34" charset="0"/>
                        </a:rPr>
                        <a:t> i </a:t>
                      </a:r>
                      <a:r>
                        <a:rPr lang="en-US" sz="2200" kern="0" dirty="0" err="1">
                          <a:effectLst/>
                          <a:latin typeface="Bahnschrift SemiLight" panose="020B0502040204020203" pitchFamily="34" charset="0"/>
                        </a:rPr>
                        <a:t>kanale</a:t>
                      </a:r>
                      <a:r>
                        <a:rPr lang="en-US" sz="2200" kern="0" dirty="0">
                          <a:effectLst/>
                          <a:latin typeface="Bahnschrift SemiLight" panose="020B0502040204020203" pitchFamily="34" charset="0"/>
                        </a:rPr>
                        <a:t> za </a:t>
                      </a:r>
                      <a:r>
                        <a:rPr lang="en-US" sz="2200" kern="0" dirty="0" err="1">
                          <a:effectLst/>
                          <a:latin typeface="Bahnschrift SemiLight" panose="020B0502040204020203" pitchFamily="34" charset="0"/>
                        </a:rPr>
                        <a:t>povratne</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informacije</a:t>
                      </a:r>
                      <a:r>
                        <a:rPr lang="en-US" sz="2200" kern="0" dirty="0">
                          <a:effectLst/>
                          <a:latin typeface="Bahnschrift SemiLight" panose="020B0502040204020203" pitchFamily="34" charset="0"/>
                        </a:rPr>
                        <a:t>.</a:t>
                      </a:r>
                    </a:p>
                  </a:txBody>
                  <a:tcPr marL="17529" marR="17529" marT="17529" marB="17529" anchor="ctr">
                    <a:solidFill>
                      <a:srgbClr val="CBF7F0"/>
                    </a:solidFill>
                  </a:tcPr>
                </a:tc>
                <a:extLst>
                  <a:ext uri="{0D108BD9-81ED-4DB2-BD59-A6C34878D82A}">
                    <a16:rowId xmlns:a16="http://schemas.microsoft.com/office/drawing/2014/main" val="1613696572"/>
                  </a:ext>
                </a:extLst>
              </a:tr>
              <a:tr h="853612">
                <a:tc>
                  <a:txBody>
                    <a:bodyPr/>
                    <a:lstStyle/>
                    <a:p>
                      <a:pPr marL="0" marR="0">
                        <a:lnSpc>
                          <a:spcPct val="115000"/>
                        </a:lnSpc>
                        <a:spcAft>
                          <a:spcPts val="800"/>
                        </a:spcAft>
                        <a:buNone/>
                      </a:pPr>
                      <a:r>
                        <a:rPr lang="en-US" sz="2200" kern="0" dirty="0" err="1">
                          <a:solidFill>
                            <a:schemeClr val="tx1"/>
                          </a:solidFill>
                          <a:effectLst/>
                          <a:latin typeface="Bahnschrift SemiLight" panose="020B0502040204020203" pitchFamily="34" charset="0"/>
                        </a:rPr>
                        <a:t>Nedostatak</a:t>
                      </a:r>
                      <a:r>
                        <a:rPr lang="en-US" sz="2200" kern="0" dirty="0">
                          <a:solidFill>
                            <a:schemeClr val="tx1"/>
                          </a:solidFill>
                          <a:effectLst/>
                          <a:latin typeface="Bahnschrift SemiLight" panose="020B0502040204020203" pitchFamily="34" charset="0"/>
                        </a:rPr>
                        <a:t> </a:t>
                      </a:r>
                      <a:r>
                        <a:rPr lang="en-US" sz="2200" kern="0" dirty="0" err="1">
                          <a:solidFill>
                            <a:schemeClr val="tx1"/>
                          </a:solidFill>
                          <a:effectLst/>
                          <a:latin typeface="Bahnschrift SemiLight" panose="020B0502040204020203" pitchFamily="34" charset="0"/>
                        </a:rPr>
                        <a:t>podrške</a:t>
                      </a:r>
                      <a:r>
                        <a:rPr lang="en-US" sz="2200" kern="0" dirty="0">
                          <a:solidFill>
                            <a:schemeClr val="tx1"/>
                          </a:solidFill>
                          <a:effectLst/>
                          <a:latin typeface="Bahnschrift SemiLight" panose="020B0502040204020203" pitchFamily="34" charset="0"/>
                        </a:rPr>
                        <a:t> </a:t>
                      </a:r>
                      <a:r>
                        <a:rPr lang="en-US" sz="2200" kern="0" dirty="0" err="1">
                          <a:solidFill>
                            <a:schemeClr val="tx1"/>
                          </a:solidFill>
                          <a:effectLst/>
                          <a:latin typeface="Bahnschrift SemiLight" panose="020B0502040204020203" pitchFamily="34" charset="0"/>
                        </a:rPr>
                        <a:t>uprave</a:t>
                      </a:r>
                      <a:endParaRPr lang="en-US" sz="2200" kern="0" dirty="0">
                        <a:solidFill>
                          <a:schemeClr val="tx1"/>
                        </a:solidFill>
                        <a:effectLst/>
                        <a:latin typeface="Bahnschrift SemiLight" panose="020B0502040204020203" pitchFamily="34" charset="0"/>
                      </a:endParaRPr>
                    </a:p>
                  </a:txBody>
                  <a:tcPr marL="17529" marR="17529" marT="17529" marB="17529" anchor="ctr">
                    <a:solidFill>
                      <a:srgbClr val="0FDCBD"/>
                    </a:solidFill>
                  </a:tcPr>
                </a:tc>
                <a:tc>
                  <a:txBody>
                    <a:bodyPr/>
                    <a:lstStyle/>
                    <a:p>
                      <a:pPr marL="0" marR="0">
                        <a:lnSpc>
                          <a:spcPct val="115000"/>
                        </a:lnSpc>
                        <a:spcAft>
                          <a:spcPts val="800"/>
                        </a:spcAft>
                        <a:buNone/>
                      </a:pPr>
                      <a:r>
                        <a:rPr lang="en-US" sz="2200" kern="0" dirty="0" err="1">
                          <a:effectLst/>
                          <a:latin typeface="Bahnschrift SemiLight" panose="020B0502040204020203" pitchFamily="34" charset="0"/>
                        </a:rPr>
                        <a:t>Uključiti</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vodstvo</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kako</a:t>
                      </a:r>
                      <a:r>
                        <a:rPr lang="en-US" sz="2200" kern="0" dirty="0">
                          <a:effectLst/>
                          <a:latin typeface="Bahnschrift SemiLight" panose="020B0502040204020203" pitchFamily="34" charset="0"/>
                        </a:rPr>
                        <a:t> bi </a:t>
                      </a:r>
                      <a:r>
                        <a:rPr lang="en-US" sz="2200" kern="0" dirty="0" err="1">
                          <a:effectLst/>
                          <a:latin typeface="Bahnschrift SemiLight" panose="020B0502040204020203" pitchFamily="34" charset="0"/>
                        </a:rPr>
                        <a:t>zagovaralo</a:t>
                      </a:r>
                      <a:r>
                        <a:rPr lang="en-US" sz="2200" kern="0" dirty="0">
                          <a:effectLst/>
                          <a:latin typeface="Bahnschrift SemiLight" panose="020B0502040204020203" pitchFamily="34" charset="0"/>
                        </a:rPr>
                        <a:t> i </a:t>
                      </a:r>
                      <a:r>
                        <a:rPr lang="en-US" sz="2200" kern="0" dirty="0" err="1">
                          <a:effectLst/>
                          <a:latin typeface="Bahnschrift SemiLight" panose="020B0502040204020203" pitchFamily="34" charset="0"/>
                        </a:rPr>
                        <a:t>pokretalo</a:t>
                      </a:r>
                      <a:r>
                        <a:rPr lang="en-US" sz="2200" kern="0" dirty="0">
                          <a:effectLst/>
                          <a:latin typeface="Bahnschrift SemiLight" panose="020B0502040204020203" pitchFamily="34" charset="0"/>
                        </a:rPr>
                        <a:t> </a:t>
                      </a:r>
                      <a:r>
                        <a:rPr lang="en-US" sz="2200" kern="0" dirty="0" err="1">
                          <a:effectLst/>
                          <a:latin typeface="Bahnschrift SemiLight" panose="020B0502040204020203" pitchFamily="34" charset="0"/>
                        </a:rPr>
                        <a:t>promjenu</a:t>
                      </a:r>
                      <a:r>
                        <a:rPr lang="en-US" sz="2200" kern="0" dirty="0">
                          <a:effectLst/>
                          <a:latin typeface="Bahnschrift SemiLight" panose="020B0502040204020203" pitchFamily="34" charset="0"/>
                        </a:rPr>
                        <a:t>.</a:t>
                      </a:r>
                      <a:endParaRPr lang="en-US" sz="2200" kern="100" dirty="0">
                        <a:effectLst/>
                        <a:latin typeface="Bahnschrift SemiLight" panose="020B0502040204020203" pitchFamily="34" charset="0"/>
                        <a:ea typeface="Aptos" panose="020B0004020202020204" pitchFamily="34" charset="0"/>
                        <a:cs typeface="Arial" panose="020B0604020202020204" pitchFamily="34" charset="0"/>
                      </a:endParaRPr>
                    </a:p>
                  </a:txBody>
                  <a:tcPr marL="17529" marR="17529" marT="17529" marB="17529" anchor="ctr">
                    <a:solidFill>
                      <a:srgbClr val="CBF7F0"/>
                    </a:solidFill>
                  </a:tcPr>
                </a:tc>
                <a:extLst>
                  <a:ext uri="{0D108BD9-81ED-4DB2-BD59-A6C34878D82A}">
                    <a16:rowId xmlns:a16="http://schemas.microsoft.com/office/drawing/2014/main" val="838814790"/>
                  </a:ext>
                </a:extLst>
              </a:tr>
              <a:tr h="853612">
                <a:tc>
                  <a:txBody>
                    <a:bodyPr/>
                    <a:lstStyle/>
                    <a:p>
                      <a:pPr marL="0" marR="0">
                        <a:lnSpc>
                          <a:spcPct val="115000"/>
                        </a:lnSpc>
                        <a:spcAft>
                          <a:spcPts val="800"/>
                        </a:spcAft>
                        <a:buNone/>
                      </a:pPr>
                      <a:r>
                        <a:rPr lang="en-US" sz="2200" kern="0" dirty="0" err="1">
                          <a:solidFill>
                            <a:schemeClr val="tx1"/>
                          </a:solidFill>
                          <a:effectLst/>
                          <a:latin typeface="Bahnschrift SemiLight" panose="020B0502040204020203" pitchFamily="34" charset="0"/>
                        </a:rPr>
                        <a:t>Širenje</a:t>
                      </a:r>
                      <a:r>
                        <a:rPr lang="en-US" sz="2200" kern="0" dirty="0">
                          <a:solidFill>
                            <a:schemeClr val="tx1"/>
                          </a:solidFill>
                          <a:effectLst/>
                          <a:latin typeface="Bahnschrift SemiLight" panose="020B0502040204020203" pitchFamily="34" charset="0"/>
                        </a:rPr>
                        <a:t> </a:t>
                      </a:r>
                      <a:r>
                        <a:rPr lang="en-US" sz="2200" kern="0" dirty="0" err="1">
                          <a:solidFill>
                            <a:schemeClr val="tx1"/>
                          </a:solidFill>
                          <a:effectLst/>
                          <a:latin typeface="Bahnschrift SemiLight" panose="020B0502040204020203" pitchFamily="34" charset="0"/>
                        </a:rPr>
                        <a:t>opsega</a:t>
                      </a:r>
                      <a:r>
                        <a:rPr lang="hr-HR" sz="2200" kern="0" dirty="0">
                          <a:solidFill>
                            <a:schemeClr val="tx1"/>
                          </a:solidFill>
                          <a:effectLst/>
                          <a:latin typeface="Bahnschrift SemiLight" panose="020B0502040204020203" pitchFamily="34" charset="0"/>
                        </a:rPr>
                        <a:t> (</a:t>
                      </a:r>
                      <a:r>
                        <a:rPr lang="en-US" sz="2200" i="1" kern="0" dirty="0">
                          <a:solidFill>
                            <a:schemeClr val="tx1"/>
                          </a:solidFill>
                          <a:effectLst/>
                          <a:latin typeface="Bahnschrift SemiLight" panose="020B0502040204020203" pitchFamily="34" charset="0"/>
                        </a:rPr>
                        <a:t>Scope creep</a:t>
                      </a:r>
                      <a:r>
                        <a:rPr lang="hr-HR" sz="2200" kern="0" dirty="0">
                          <a:solidFill>
                            <a:schemeClr val="tx1"/>
                          </a:solidFill>
                          <a:effectLst/>
                          <a:latin typeface="Bahnschrift SemiLight" panose="020B0502040204020203" pitchFamily="34" charset="0"/>
                        </a:rPr>
                        <a:t>)</a:t>
                      </a:r>
                      <a:endParaRPr lang="en-US" sz="2200" kern="100" dirty="0">
                        <a:solidFill>
                          <a:schemeClr val="tx1"/>
                        </a:solidFill>
                        <a:effectLst/>
                        <a:latin typeface="Bahnschrift SemiLight" panose="020B0502040204020203" pitchFamily="34" charset="0"/>
                        <a:ea typeface="Aptos" panose="020B0004020202020204" pitchFamily="34" charset="0"/>
                        <a:cs typeface="Arial" panose="020B0604020202020204" pitchFamily="34" charset="0"/>
                      </a:endParaRPr>
                    </a:p>
                  </a:txBody>
                  <a:tcPr marL="17529" marR="17529" marT="17529" marB="17529" anchor="ctr">
                    <a:solidFill>
                      <a:srgbClr val="0FDCBD"/>
                    </a:solidFill>
                  </a:tcPr>
                </a:tc>
                <a:tc>
                  <a:txBody>
                    <a:bodyPr/>
                    <a:lstStyle/>
                    <a:p>
                      <a:pPr marL="0" marR="0">
                        <a:lnSpc>
                          <a:spcPct val="115000"/>
                        </a:lnSpc>
                        <a:spcAft>
                          <a:spcPts val="800"/>
                        </a:spcAft>
                        <a:buNone/>
                      </a:pPr>
                      <a:r>
                        <a:rPr lang="pl-PL" sz="2200" kern="0" dirty="0">
                          <a:effectLst/>
                          <a:latin typeface="Bahnschrift SemiLight" panose="020B0502040204020203" pitchFamily="34" charset="0"/>
                        </a:rPr>
                        <a:t>Uspostaviti formalni proces kontrole promjena s odobrenjima</a:t>
                      </a:r>
                      <a:r>
                        <a:rPr lang="en-US" sz="2200" kern="0" dirty="0">
                          <a:effectLst/>
                          <a:latin typeface="Bahnschrift SemiLight" panose="020B0502040204020203" pitchFamily="34" charset="0"/>
                        </a:rPr>
                        <a:t>.</a:t>
                      </a:r>
                      <a:endParaRPr lang="en-US" sz="2200" kern="100" dirty="0">
                        <a:effectLst/>
                        <a:latin typeface="Bahnschrift SemiLight" panose="020B0502040204020203" pitchFamily="34" charset="0"/>
                        <a:ea typeface="Aptos" panose="020B0004020202020204" pitchFamily="34" charset="0"/>
                        <a:cs typeface="Arial" panose="020B0604020202020204" pitchFamily="34" charset="0"/>
                      </a:endParaRPr>
                    </a:p>
                  </a:txBody>
                  <a:tcPr marL="17529" marR="17529" marT="17529" marB="17529" anchor="ctr">
                    <a:solidFill>
                      <a:srgbClr val="CBF7F0"/>
                    </a:solidFill>
                  </a:tcPr>
                </a:tc>
                <a:extLst>
                  <a:ext uri="{0D108BD9-81ED-4DB2-BD59-A6C34878D82A}">
                    <a16:rowId xmlns:a16="http://schemas.microsoft.com/office/drawing/2014/main" val="3188083323"/>
                  </a:ext>
                </a:extLst>
              </a:tr>
              <a:tr h="466859">
                <a:tc>
                  <a:txBody>
                    <a:bodyPr/>
                    <a:lstStyle/>
                    <a:p>
                      <a:pPr marL="0" marR="0">
                        <a:lnSpc>
                          <a:spcPct val="115000"/>
                        </a:lnSpc>
                        <a:spcAft>
                          <a:spcPts val="800"/>
                        </a:spcAft>
                        <a:buNone/>
                      </a:pPr>
                      <a:r>
                        <a:rPr lang="en-US" sz="2200" kern="0" dirty="0" err="1">
                          <a:solidFill>
                            <a:schemeClr val="tx1"/>
                          </a:solidFill>
                          <a:effectLst/>
                          <a:latin typeface="Bahnschrift SemiLight" panose="020B0502040204020203" pitchFamily="34" charset="0"/>
                        </a:rPr>
                        <a:t>Tehničke</a:t>
                      </a:r>
                      <a:r>
                        <a:rPr lang="en-US" sz="2200" kern="0" dirty="0">
                          <a:solidFill>
                            <a:schemeClr val="tx1"/>
                          </a:solidFill>
                          <a:effectLst/>
                          <a:latin typeface="Bahnschrift SemiLight" panose="020B0502040204020203" pitchFamily="34" charset="0"/>
                        </a:rPr>
                        <a:t> </a:t>
                      </a:r>
                      <a:r>
                        <a:rPr lang="en-US" sz="2200" kern="0" dirty="0" err="1">
                          <a:solidFill>
                            <a:schemeClr val="tx1"/>
                          </a:solidFill>
                          <a:effectLst/>
                          <a:latin typeface="Bahnschrift SemiLight" panose="020B0502040204020203" pitchFamily="34" charset="0"/>
                        </a:rPr>
                        <a:t>poteškoće</a:t>
                      </a:r>
                      <a:endParaRPr lang="en-US" sz="2200" kern="0" dirty="0">
                        <a:solidFill>
                          <a:schemeClr val="tx1"/>
                        </a:solidFill>
                        <a:effectLst/>
                        <a:latin typeface="Bahnschrift SemiLight" panose="020B0502040204020203" pitchFamily="34" charset="0"/>
                      </a:endParaRPr>
                    </a:p>
                  </a:txBody>
                  <a:tcPr marL="17529" marR="17529" marT="17529" marB="17529" anchor="ctr">
                    <a:solidFill>
                      <a:srgbClr val="0FDCBD"/>
                    </a:solidFill>
                  </a:tcPr>
                </a:tc>
                <a:tc>
                  <a:txBody>
                    <a:bodyPr/>
                    <a:lstStyle/>
                    <a:p>
                      <a:pPr marL="0" marR="0">
                        <a:lnSpc>
                          <a:spcPct val="115000"/>
                        </a:lnSpc>
                        <a:spcAft>
                          <a:spcPts val="800"/>
                        </a:spcAft>
                        <a:buNone/>
                      </a:pPr>
                      <a:r>
                        <a:rPr lang="pt-BR" sz="2200" kern="0" dirty="0">
                          <a:effectLst/>
                          <a:latin typeface="Bahnschrift SemiLight" panose="020B0502040204020203" pitchFamily="34" charset="0"/>
                        </a:rPr>
                        <a:t>Provesti temeljito testiranje prije implementacije</a:t>
                      </a:r>
                      <a:r>
                        <a:rPr lang="en-US" sz="2200" kern="0" dirty="0">
                          <a:effectLst/>
                          <a:latin typeface="Bahnschrift SemiLight" panose="020B0502040204020203" pitchFamily="34" charset="0"/>
                        </a:rPr>
                        <a:t>.</a:t>
                      </a:r>
                      <a:endParaRPr lang="en-US" sz="2200" kern="100" dirty="0">
                        <a:effectLst/>
                        <a:latin typeface="Bahnschrift SemiLight" panose="020B0502040204020203" pitchFamily="34" charset="0"/>
                        <a:ea typeface="Aptos" panose="020B0004020202020204" pitchFamily="34" charset="0"/>
                        <a:cs typeface="Arial" panose="020B0604020202020204" pitchFamily="34" charset="0"/>
                      </a:endParaRPr>
                    </a:p>
                  </a:txBody>
                  <a:tcPr marL="17529" marR="17529" marT="17529" marB="17529" anchor="ctr">
                    <a:solidFill>
                      <a:srgbClr val="CBF7F0"/>
                    </a:solidFill>
                  </a:tcPr>
                </a:tc>
                <a:extLst>
                  <a:ext uri="{0D108BD9-81ED-4DB2-BD59-A6C34878D82A}">
                    <a16:rowId xmlns:a16="http://schemas.microsoft.com/office/drawing/2014/main" val="1129169670"/>
                  </a:ext>
                </a:extLst>
              </a:tr>
            </a:tbl>
          </a:graphicData>
        </a:graphic>
      </p:graphicFrame>
    </p:spTree>
    <p:extLst>
      <p:ext uri="{BB962C8B-B14F-4D97-AF65-F5344CB8AC3E}">
        <p14:creationId xmlns:p14="http://schemas.microsoft.com/office/powerpoint/2010/main" val="453072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E1301-DED2-C055-2E04-7B7E0A872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7E997-E2C4-21C7-4621-FBE65768EBB9}"/>
              </a:ext>
            </a:extLst>
          </p:cNvPr>
          <p:cNvSpPr>
            <a:spLocks noGrp="1"/>
          </p:cNvSpPr>
          <p:nvPr>
            <p:ph type="title"/>
          </p:nvPr>
        </p:nvSpPr>
        <p:spPr>
          <a:xfrm>
            <a:off x="1110343" y="365125"/>
            <a:ext cx="10515600" cy="1325563"/>
          </a:xfrm>
        </p:spPr>
        <p:txBody>
          <a:bodyPr>
            <a:noAutofit/>
          </a:bodyPr>
          <a:lstStyle/>
          <a:p>
            <a:br>
              <a:rPr kumimoji="0" lang="en-US" altLang="en-US" b="1" i="0" u="none" strike="noStrike" cap="none" normalizeH="0" baseline="0" dirty="0">
                <a:ln>
                  <a:noFill/>
                </a:ln>
                <a:solidFill>
                  <a:schemeClr val="tx1"/>
                </a:solidFill>
                <a:effectLst/>
                <a:latin typeface="Montserrat" panose="00000500000000000000" pitchFamily="2" charset="0"/>
              </a:rPr>
            </a:br>
            <a:r>
              <a:rPr lang="hr-HR" altLang="en-US" sz="3800" dirty="0">
                <a:latin typeface="Bahnschrift SemiBold"/>
                <a:ea typeface="+mn-ea"/>
                <a:cs typeface="+mn-cs"/>
              </a:rPr>
              <a:t>Grupna vježba</a:t>
            </a:r>
            <a:br>
              <a:rPr lang="en-US" kern="100" dirty="0">
                <a:latin typeface="Montserrat" panose="00000500000000000000" pitchFamily="2" charset="0"/>
                <a:ea typeface="Aptos" panose="020B0004020202020204" pitchFamily="34" charset="0"/>
                <a:cs typeface="Arial" panose="020B0604020202020204" pitchFamily="34" charset="0"/>
              </a:rPr>
            </a:br>
            <a:br>
              <a:rPr kumimoji="0" lang="en-US" altLang="en-US" b="0" i="0" u="none" strike="noStrike" cap="none" normalizeH="0" baseline="0" dirty="0">
                <a:ln>
                  <a:noFill/>
                </a:ln>
                <a:solidFill>
                  <a:schemeClr val="tx1"/>
                </a:solidFill>
                <a:effectLst/>
                <a:latin typeface="Montserrat" panose="00000500000000000000" pitchFamily="2" charset="0"/>
              </a:rPr>
            </a:br>
            <a:endParaRPr lang="en-US" dirty="0">
              <a:latin typeface="Montserrat" panose="00000500000000000000" pitchFamily="2" charset="0"/>
            </a:endParaRPr>
          </a:p>
        </p:txBody>
      </p:sp>
      <p:sp>
        <p:nvSpPr>
          <p:cNvPr id="3" name="Content Placeholder 2">
            <a:extLst>
              <a:ext uri="{FF2B5EF4-FFF2-40B4-BE49-F238E27FC236}">
                <a16:creationId xmlns:a16="http://schemas.microsoft.com/office/drawing/2014/main" id="{6C083BE2-49C0-6171-C57D-4B0FDACD9818}"/>
              </a:ext>
            </a:extLst>
          </p:cNvPr>
          <p:cNvSpPr>
            <a:spLocks noGrp="1"/>
          </p:cNvSpPr>
          <p:nvPr>
            <p:ph idx="1"/>
          </p:nvPr>
        </p:nvSpPr>
        <p:spPr>
          <a:xfrm>
            <a:off x="394910" y="1690688"/>
            <a:ext cx="11402180" cy="4709936"/>
          </a:xfrm>
        </p:spPr>
        <p:txBody>
          <a:bodyPr>
            <a:noAutofit/>
          </a:bodyPr>
          <a:lstStyle/>
          <a:p>
            <a:pPr marL="0" marR="0">
              <a:lnSpc>
                <a:spcPct val="115000"/>
              </a:lnSpc>
              <a:spcAft>
                <a:spcPts val="800"/>
              </a:spcAft>
              <a:buNone/>
            </a:pPr>
            <a:r>
              <a:rPr lang="en-US" sz="2300" b="1" kern="0" dirty="0" err="1">
                <a:effectLst/>
                <a:ea typeface="Times New Roman" panose="02020603050405020304" pitchFamily="18" charset="0"/>
                <a:cs typeface="Times New Roman" panose="02020603050405020304" pitchFamily="18" charset="0"/>
              </a:rPr>
              <a:t>Definirati</a:t>
            </a:r>
            <a:r>
              <a:rPr lang="en-US" sz="2300" b="1" kern="0" dirty="0">
                <a:effectLst/>
                <a:ea typeface="Times New Roman" panose="02020603050405020304" pitchFamily="18" charset="0"/>
                <a:cs typeface="Times New Roman" panose="02020603050405020304" pitchFamily="18" charset="0"/>
              </a:rPr>
              <a:t> </a:t>
            </a:r>
            <a:r>
              <a:rPr lang="en-US" sz="2300" b="1" kern="0" dirty="0" err="1">
                <a:effectLst/>
                <a:ea typeface="Times New Roman" panose="02020603050405020304" pitchFamily="18" charset="0"/>
                <a:cs typeface="Times New Roman" panose="02020603050405020304" pitchFamily="18" charset="0"/>
              </a:rPr>
              <a:t>procjenu</a:t>
            </a:r>
            <a:r>
              <a:rPr lang="en-US" sz="2300" b="1" kern="0" dirty="0">
                <a:effectLst/>
                <a:ea typeface="Times New Roman" panose="02020603050405020304" pitchFamily="18" charset="0"/>
                <a:cs typeface="Times New Roman" panose="02020603050405020304" pitchFamily="18" charset="0"/>
              </a:rPr>
              <a:t> </a:t>
            </a:r>
            <a:r>
              <a:rPr lang="en-US" sz="2300" b="1" kern="0" dirty="0" err="1">
                <a:effectLst/>
                <a:ea typeface="Times New Roman" panose="02020603050405020304" pitchFamily="18" charset="0"/>
                <a:cs typeface="Times New Roman" panose="02020603050405020304" pitchFamily="18" charset="0"/>
              </a:rPr>
              <a:t>utjecaja</a:t>
            </a:r>
            <a:r>
              <a:rPr lang="en-US" sz="2300" b="1" kern="0" dirty="0">
                <a:effectLst/>
                <a:ea typeface="Times New Roman" panose="02020603050405020304" pitchFamily="18" charset="0"/>
                <a:cs typeface="Times New Roman" panose="02020603050405020304" pitchFamily="18" charset="0"/>
              </a:rPr>
              <a:t> </a:t>
            </a:r>
            <a:r>
              <a:rPr lang="en-US" sz="2300" b="1" kern="0" dirty="0" err="1">
                <a:effectLst/>
                <a:ea typeface="Times New Roman" panose="02020603050405020304" pitchFamily="18" charset="0"/>
                <a:cs typeface="Times New Roman" panose="02020603050405020304" pitchFamily="18" charset="0"/>
              </a:rPr>
              <a:t>promjene</a:t>
            </a:r>
            <a:r>
              <a:rPr lang="en-US" sz="2300" b="1" kern="0" dirty="0">
                <a:effectLst/>
                <a:ea typeface="Times New Roman" panose="02020603050405020304" pitchFamily="18" charset="0"/>
                <a:cs typeface="Times New Roman" panose="02020603050405020304" pitchFamily="18" charset="0"/>
              </a:rPr>
              <a:t> za </a:t>
            </a:r>
            <a:r>
              <a:rPr lang="en-US" sz="2300" b="1" kern="0" dirty="0" err="1">
                <a:effectLst/>
                <a:ea typeface="Times New Roman" panose="02020603050405020304" pitchFamily="18" charset="0"/>
                <a:cs typeface="Times New Roman" panose="02020603050405020304" pitchFamily="18" charset="0"/>
              </a:rPr>
              <a:t>hipotetski</a:t>
            </a:r>
            <a:r>
              <a:rPr lang="en-US" sz="2300" b="1" kern="0" dirty="0">
                <a:effectLst/>
                <a:ea typeface="Times New Roman" panose="02020603050405020304" pitchFamily="18" charset="0"/>
                <a:cs typeface="Times New Roman" panose="02020603050405020304" pitchFamily="18" charset="0"/>
              </a:rPr>
              <a:t> </a:t>
            </a:r>
            <a:r>
              <a:rPr lang="en-US" sz="2300" b="1" kern="0" dirty="0" err="1">
                <a:effectLst/>
                <a:ea typeface="Times New Roman" panose="02020603050405020304" pitchFamily="18" charset="0"/>
                <a:cs typeface="Times New Roman" panose="02020603050405020304" pitchFamily="18" charset="0"/>
              </a:rPr>
              <a:t>projekt</a:t>
            </a:r>
            <a:r>
              <a:rPr lang="en-US" sz="2300" b="1" kern="0" dirty="0">
                <a:effectLst/>
                <a:ea typeface="Times New Roman" panose="02020603050405020304" pitchFamily="18" charset="0"/>
                <a:cs typeface="Times New Roman" panose="02020603050405020304" pitchFamily="18" charset="0"/>
              </a:rPr>
              <a:t>.  </a:t>
            </a:r>
            <a:endParaRPr lang="en-US" sz="2300" kern="100" dirty="0">
              <a:effectLst/>
              <a:ea typeface="Aptos" panose="020B0004020202020204" pitchFamily="34" charset="0"/>
              <a:cs typeface="Arial" panose="020B0604020202020204" pitchFamily="34" charset="0"/>
            </a:endParaRPr>
          </a:p>
          <a:p>
            <a:pPr marL="0" marR="0" lvl="0" indent="0">
              <a:lnSpc>
                <a:spcPct val="115000"/>
              </a:lnSpc>
              <a:spcAft>
                <a:spcPts val="800"/>
              </a:spcAft>
              <a:buSzPts val="1000"/>
              <a:buNone/>
              <a:tabLst>
                <a:tab pos="457200" algn="l"/>
              </a:tabLst>
            </a:pPr>
            <a:r>
              <a:rPr lang="en-US" sz="2300" b="1" dirty="0">
                <a:solidFill>
                  <a:srgbClr val="0ADBBC"/>
                </a:solidFill>
              </a:rPr>
              <a:t>1. </a:t>
            </a:r>
            <a:r>
              <a:rPr lang="en-US" sz="2300" b="1" dirty="0" err="1">
                <a:solidFill>
                  <a:srgbClr val="0ADBBC"/>
                </a:solidFill>
              </a:rPr>
              <a:t>Utjecaj</a:t>
            </a:r>
            <a:r>
              <a:rPr lang="en-US" sz="2300" b="1" dirty="0">
                <a:solidFill>
                  <a:srgbClr val="0ADBBC"/>
                </a:solidFill>
              </a:rPr>
              <a:t> </a:t>
            </a:r>
            <a:r>
              <a:rPr lang="en-US" sz="2300" b="1" dirty="0" err="1">
                <a:solidFill>
                  <a:srgbClr val="0ADBBC"/>
                </a:solidFill>
              </a:rPr>
              <a:t>na</a:t>
            </a:r>
            <a:r>
              <a:rPr lang="en-US" sz="2300" b="1" dirty="0">
                <a:solidFill>
                  <a:srgbClr val="0ADBBC"/>
                </a:solidFill>
              </a:rPr>
              <a:t> </a:t>
            </a:r>
            <a:r>
              <a:rPr lang="en-US" sz="2300" b="1" dirty="0" err="1">
                <a:solidFill>
                  <a:srgbClr val="0ADBBC"/>
                </a:solidFill>
              </a:rPr>
              <a:t>opseg</a:t>
            </a:r>
            <a:r>
              <a:rPr lang="en-US" sz="2300" b="1" dirty="0">
                <a:solidFill>
                  <a:srgbClr val="0ADBBC"/>
                </a:solidFill>
              </a:rPr>
              <a:t>: </a:t>
            </a:r>
            <a:r>
              <a:rPr lang="en-US" sz="2300" kern="0" dirty="0">
                <a:effectLst/>
                <a:ea typeface="Times New Roman" panose="02020603050405020304" pitchFamily="18" charset="0"/>
                <a:cs typeface="Times New Roman" panose="02020603050405020304" pitchFamily="18" charset="0"/>
              </a:rPr>
              <a:t>[</a:t>
            </a:r>
            <a:r>
              <a:rPr lang="en-US" sz="2300" kern="0" dirty="0" err="1">
                <a:effectLst/>
                <a:ea typeface="Times New Roman" panose="02020603050405020304" pitchFamily="18" charset="0"/>
                <a:cs typeface="Times New Roman" panose="02020603050405020304" pitchFamily="18" charset="0"/>
              </a:rPr>
              <a:t>Utječe</a:t>
            </a:r>
            <a:r>
              <a:rPr lang="en-US" sz="2300" kern="0" dirty="0">
                <a:effectLst/>
                <a:ea typeface="Times New Roman" panose="02020603050405020304" pitchFamily="18" charset="0"/>
                <a:cs typeface="Times New Roman" panose="02020603050405020304" pitchFamily="18" charset="0"/>
              </a:rPr>
              <a:t> li ova </a:t>
            </a:r>
            <a:r>
              <a:rPr lang="en-US" sz="2300" kern="0" dirty="0" err="1">
                <a:effectLst/>
                <a:ea typeface="Times New Roman" panose="02020603050405020304" pitchFamily="18" charset="0"/>
                <a:cs typeface="Times New Roman" panose="02020603050405020304" pitchFamily="18" charset="0"/>
              </a:rPr>
              <a:t>promjena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opseg</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projekta</a:t>
            </a:r>
            <a:r>
              <a:rPr lang="en-US" sz="2300" kern="0" dirty="0">
                <a:effectLst/>
                <a:ea typeface="Times New Roman" panose="02020603050405020304" pitchFamily="18" charset="0"/>
                <a:cs typeface="Times New Roman" panose="02020603050405020304" pitchFamily="18" charset="0"/>
              </a:rPr>
              <a:t>? Ako da, </a:t>
            </a:r>
            <a:r>
              <a:rPr lang="en-US" sz="2300" kern="0" dirty="0" err="1">
                <a:effectLst/>
                <a:ea typeface="Times New Roman" panose="02020603050405020304" pitchFamily="18" charset="0"/>
                <a:cs typeface="Times New Roman" panose="02020603050405020304" pitchFamily="18" charset="0"/>
              </a:rPr>
              <a:t>opišite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utjecaj</a:t>
            </a:r>
            <a:r>
              <a:rPr lang="en-US" sz="2300" kern="0" dirty="0">
                <a:effectLst/>
                <a:ea typeface="Times New Roman" panose="02020603050405020304" pitchFamily="18" charset="0"/>
                <a:cs typeface="Times New Roman" panose="02020603050405020304" pitchFamily="18" charset="0"/>
              </a:rPr>
              <a:t>]</a:t>
            </a:r>
          </a:p>
          <a:p>
            <a:pPr marL="0" marR="0" lvl="0" indent="0">
              <a:lnSpc>
                <a:spcPct val="115000"/>
              </a:lnSpc>
              <a:spcAft>
                <a:spcPts val="800"/>
              </a:spcAft>
              <a:buSzPts val="1000"/>
              <a:buNone/>
              <a:tabLst>
                <a:tab pos="457200" algn="l"/>
              </a:tabLst>
            </a:pPr>
            <a:r>
              <a:rPr lang="en-US" sz="2300" b="1" kern="0" dirty="0">
                <a:solidFill>
                  <a:srgbClr val="0FDCBD"/>
                </a:solidFill>
                <a:effectLst/>
                <a:ea typeface="Times New Roman" panose="02020603050405020304" pitchFamily="18" charset="0"/>
                <a:cs typeface="Times New Roman" panose="02020603050405020304" pitchFamily="18" charset="0"/>
              </a:rPr>
              <a:t>2. </a:t>
            </a:r>
            <a:r>
              <a:rPr lang="en-US" sz="2300" b="1" kern="0" dirty="0" err="1">
                <a:solidFill>
                  <a:srgbClr val="0FDCBD"/>
                </a:solidFill>
                <a:effectLst/>
                <a:ea typeface="Times New Roman" panose="02020603050405020304" pitchFamily="18" charset="0"/>
                <a:cs typeface="Times New Roman" panose="02020603050405020304" pitchFamily="18" charset="0"/>
              </a:rPr>
              <a:t>Utjecaj</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na</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raspored</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kern="0" dirty="0">
                <a:effectLst/>
                <a:ea typeface="Times New Roman" panose="02020603050405020304" pitchFamily="18" charset="0"/>
                <a:cs typeface="Times New Roman" panose="02020603050405020304" pitchFamily="18" charset="0"/>
              </a:rPr>
              <a:t>[</a:t>
            </a:r>
            <a:r>
              <a:rPr lang="en-US" sz="2300" kern="0" dirty="0" err="1">
                <a:effectLst/>
                <a:ea typeface="Times New Roman" panose="02020603050405020304" pitchFamily="18" charset="0"/>
                <a:cs typeface="Times New Roman" panose="02020603050405020304" pitchFamily="18" charset="0"/>
              </a:rPr>
              <a:t>Utječe</a:t>
            </a:r>
            <a:r>
              <a:rPr lang="en-US" sz="2300" kern="0" dirty="0">
                <a:effectLst/>
                <a:ea typeface="Times New Roman" panose="02020603050405020304" pitchFamily="18" charset="0"/>
                <a:cs typeface="Times New Roman" panose="02020603050405020304" pitchFamily="18" charset="0"/>
              </a:rPr>
              <a:t> li ova </a:t>
            </a:r>
            <a:r>
              <a:rPr lang="en-US" sz="2300" kern="0" dirty="0" err="1">
                <a:effectLst/>
                <a:ea typeface="Times New Roman" panose="02020603050405020304" pitchFamily="18" charset="0"/>
                <a:cs typeface="Times New Roman" panose="02020603050405020304" pitchFamily="18" charset="0"/>
              </a:rPr>
              <a:t>promjena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vremenski</a:t>
            </a:r>
            <a:r>
              <a:rPr lang="en-US" sz="2300" kern="0" dirty="0">
                <a:effectLst/>
                <a:ea typeface="Times New Roman" panose="02020603050405020304" pitchFamily="18" charset="0"/>
                <a:cs typeface="Times New Roman" panose="02020603050405020304" pitchFamily="18" charset="0"/>
              </a:rPr>
              <a:t> plan </a:t>
            </a:r>
            <a:r>
              <a:rPr lang="en-US" sz="2300" kern="0" dirty="0" err="1">
                <a:effectLst/>
                <a:ea typeface="Times New Roman" panose="02020603050405020304" pitchFamily="18" charset="0"/>
                <a:cs typeface="Times New Roman" panose="02020603050405020304" pitchFamily="18" charset="0"/>
              </a:rPr>
              <a:t>projekta</a:t>
            </a:r>
            <a:r>
              <a:rPr lang="en-US" sz="2300" kern="0" dirty="0">
                <a:effectLst/>
                <a:ea typeface="Times New Roman" panose="02020603050405020304" pitchFamily="18" charset="0"/>
                <a:cs typeface="Times New Roman" panose="02020603050405020304" pitchFamily="18" charset="0"/>
              </a:rPr>
              <a:t>? Ako da, </a:t>
            </a:r>
            <a:r>
              <a:rPr lang="en-US" sz="2300" kern="0" dirty="0" err="1">
                <a:effectLst/>
                <a:ea typeface="Times New Roman" panose="02020603050405020304" pitchFamily="18" charset="0"/>
                <a:cs typeface="Times New Roman" panose="02020603050405020304" pitchFamily="18" charset="0"/>
              </a:rPr>
              <a:t>navedite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detalje</a:t>
            </a:r>
            <a:r>
              <a:rPr lang="en-US" sz="2300" kern="0" dirty="0">
                <a:effectLst/>
                <a:ea typeface="Times New Roman" panose="02020603050405020304" pitchFamily="18" charset="0"/>
                <a:cs typeface="Times New Roman" panose="02020603050405020304" pitchFamily="18" charset="0"/>
              </a:rPr>
              <a:t>]</a:t>
            </a:r>
          </a:p>
          <a:p>
            <a:pPr marL="0" marR="0" lvl="0" indent="0">
              <a:lnSpc>
                <a:spcPct val="115000"/>
              </a:lnSpc>
              <a:spcAft>
                <a:spcPts val="800"/>
              </a:spcAft>
              <a:buSzPts val="1000"/>
              <a:buNone/>
              <a:tabLst>
                <a:tab pos="457200" algn="l"/>
              </a:tabLst>
            </a:pPr>
            <a:r>
              <a:rPr lang="en-US" sz="2300" b="1" kern="0" dirty="0">
                <a:solidFill>
                  <a:srgbClr val="0FDCBD"/>
                </a:solidFill>
                <a:effectLst/>
                <a:ea typeface="Times New Roman" panose="02020603050405020304" pitchFamily="18" charset="0"/>
                <a:cs typeface="Times New Roman" panose="02020603050405020304" pitchFamily="18" charset="0"/>
              </a:rPr>
              <a:t>3. </a:t>
            </a:r>
            <a:r>
              <a:rPr lang="en-US" sz="2300" b="1" kern="0" dirty="0" err="1">
                <a:solidFill>
                  <a:srgbClr val="0FDCBD"/>
                </a:solidFill>
                <a:effectLst/>
                <a:ea typeface="Times New Roman" panose="02020603050405020304" pitchFamily="18" charset="0"/>
                <a:cs typeface="Times New Roman" panose="02020603050405020304" pitchFamily="18" charset="0"/>
              </a:rPr>
              <a:t>Utjecaj</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na</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proračun</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kern="0" dirty="0">
                <a:effectLst/>
                <a:ea typeface="Times New Roman" panose="02020603050405020304" pitchFamily="18" charset="0"/>
                <a:cs typeface="Times New Roman" panose="02020603050405020304" pitchFamily="18" charset="0"/>
              </a:rPr>
              <a:t>[Zahtijeva li ova </a:t>
            </a:r>
            <a:r>
              <a:rPr lang="en-US" sz="2300" kern="0" dirty="0" err="1">
                <a:effectLst/>
                <a:ea typeface="Times New Roman" panose="02020603050405020304" pitchFamily="18" charset="0"/>
                <a:cs typeface="Times New Roman" panose="02020603050405020304" pitchFamily="18" charset="0"/>
              </a:rPr>
              <a:t>promjena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dodatne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resurse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Navedite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procijenjeni</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trošak</a:t>
            </a:r>
            <a:r>
              <a:rPr lang="en-US" sz="2300" kern="0" dirty="0">
                <a:effectLst/>
                <a:ea typeface="Times New Roman" panose="02020603050405020304" pitchFamily="18" charset="0"/>
                <a:cs typeface="Times New Roman" panose="02020603050405020304" pitchFamily="18" charset="0"/>
              </a:rPr>
              <a:t>]</a:t>
            </a:r>
          </a:p>
          <a:p>
            <a:pPr marL="0" marR="0" lvl="0" indent="0">
              <a:lnSpc>
                <a:spcPct val="115000"/>
              </a:lnSpc>
              <a:spcAft>
                <a:spcPts val="800"/>
              </a:spcAft>
              <a:buSzPts val="1000"/>
              <a:buNone/>
              <a:tabLst>
                <a:tab pos="457200" algn="l"/>
              </a:tabLst>
            </a:pPr>
            <a:r>
              <a:rPr lang="en-US" sz="2300" b="1" kern="0" dirty="0">
                <a:solidFill>
                  <a:srgbClr val="0FDCBD"/>
                </a:solidFill>
                <a:effectLst/>
                <a:ea typeface="Times New Roman" panose="02020603050405020304" pitchFamily="18" charset="0"/>
                <a:cs typeface="Times New Roman" panose="02020603050405020304" pitchFamily="18" charset="0"/>
              </a:rPr>
              <a:t>4. </a:t>
            </a:r>
            <a:r>
              <a:rPr lang="en-US" sz="2300" b="1" kern="0" dirty="0" err="1">
                <a:solidFill>
                  <a:srgbClr val="0FDCBD"/>
                </a:solidFill>
                <a:effectLst/>
                <a:ea typeface="Times New Roman" panose="02020603050405020304" pitchFamily="18" charset="0"/>
                <a:cs typeface="Times New Roman" panose="02020603050405020304" pitchFamily="18" charset="0"/>
              </a:rPr>
              <a:t>Utjecaj</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na</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kvalitetu</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kern="0" dirty="0">
                <a:effectLst/>
                <a:ea typeface="Times New Roman" panose="02020603050405020304" pitchFamily="18" charset="0"/>
                <a:cs typeface="Times New Roman" panose="02020603050405020304" pitchFamily="18" charset="0"/>
              </a:rPr>
              <a:t>[Kako </a:t>
            </a:r>
            <a:r>
              <a:rPr lang="en-US" sz="2300" kern="0" dirty="0" err="1">
                <a:effectLst/>
                <a:ea typeface="Times New Roman" panose="02020603050405020304" pitchFamily="18" charset="0"/>
                <a:cs typeface="Times New Roman" panose="02020603050405020304" pitchFamily="18" charset="0"/>
              </a:rPr>
              <a:t>će</a:t>
            </a:r>
            <a:r>
              <a:rPr lang="en-US" sz="2300" kern="0" dirty="0">
                <a:effectLst/>
                <a:ea typeface="Times New Roman" panose="02020603050405020304" pitchFamily="18" charset="0"/>
                <a:cs typeface="Times New Roman" panose="02020603050405020304" pitchFamily="18" charset="0"/>
              </a:rPr>
              <a:t> ova </a:t>
            </a:r>
            <a:r>
              <a:rPr lang="en-US" sz="2300" kern="0" dirty="0" err="1">
                <a:effectLst/>
                <a:ea typeface="Times New Roman" panose="02020603050405020304" pitchFamily="18" charset="0"/>
                <a:cs typeface="Times New Roman" panose="02020603050405020304" pitchFamily="18" charset="0"/>
              </a:rPr>
              <a:t>promjena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utjecati</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na</a:t>
            </a:r>
            <a:r>
              <a:rPr lang="en-US" sz="2300" kern="0" dirty="0">
                <a:effectLst/>
                <a:ea typeface="Times New Roman" panose="02020603050405020304" pitchFamily="18" charset="0"/>
                <a:cs typeface="Times New Roman" panose="02020603050405020304" pitchFamily="18" charset="0"/>
              </a:rPr>
              <a:t> </a:t>
            </a:r>
            <a:r>
              <a:rPr lang="hr-HR" sz="2300" kern="0" dirty="0" err="1">
                <a:effectLst/>
                <a:ea typeface="Times New Roman" panose="02020603050405020304" pitchFamily="18" charset="0"/>
                <a:cs typeface="Times New Roman" panose="02020603050405020304" pitchFamily="18" charset="0"/>
              </a:rPr>
              <a:t>isporučevine</a:t>
            </a:r>
            <a:r>
              <a:rPr lang="hr-HR" sz="2300" kern="0" dirty="0">
                <a:effectLst/>
                <a:ea typeface="Times New Roman" panose="02020603050405020304" pitchFamily="18" charset="0"/>
                <a:cs typeface="Times New Roman" panose="02020603050405020304" pitchFamily="18" charset="0"/>
              </a:rPr>
              <a:t> (</a:t>
            </a:r>
            <a:r>
              <a:rPr lang="hr-HR" sz="2300" kern="0" dirty="0" err="1">
                <a:effectLst/>
                <a:ea typeface="Times New Roman" panose="02020603050405020304" pitchFamily="18" charset="0"/>
                <a:cs typeface="Times New Roman" panose="02020603050405020304" pitchFamily="18" charset="0"/>
              </a:rPr>
              <a:t>deliverables</a:t>
            </a:r>
            <a:r>
              <a:rPr lang="hr-HR" sz="2300" kern="0" dirty="0">
                <a:effectLst/>
                <a:ea typeface="Times New Roman" panose="02020603050405020304" pitchFamily="18" charset="0"/>
                <a:cs typeface="Times New Roman" panose="02020603050405020304" pitchFamily="18" charset="0"/>
              </a:rPr>
              <a:t>)</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projekta</a:t>
            </a:r>
            <a:r>
              <a:rPr lang="en-US" sz="2300" kern="0" dirty="0">
                <a:effectLst/>
                <a:ea typeface="Times New Roman" panose="02020603050405020304" pitchFamily="18" charset="0"/>
                <a:cs typeface="Times New Roman" panose="02020603050405020304" pitchFamily="18" charset="0"/>
              </a:rPr>
              <a:t>?]</a:t>
            </a:r>
          </a:p>
          <a:p>
            <a:pPr marL="0" marR="0" lvl="0" indent="0">
              <a:lnSpc>
                <a:spcPct val="115000"/>
              </a:lnSpc>
              <a:spcAft>
                <a:spcPts val="800"/>
              </a:spcAft>
              <a:buSzPts val="1000"/>
              <a:buNone/>
              <a:tabLst>
                <a:tab pos="457200" algn="l"/>
              </a:tabLst>
            </a:pPr>
            <a:r>
              <a:rPr lang="en-US" sz="2300" b="1" kern="0" dirty="0">
                <a:solidFill>
                  <a:srgbClr val="0FDCBD"/>
                </a:solidFill>
                <a:effectLst/>
                <a:ea typeface="Times New Roman" panose="02020603050405020304" pitchFamily="18" charset="0"/>
                <a:cs typeface="Times New Roman" panose="02020603050405020304" pitchFamily="18" charset="0"/>
              </a:rPr>
              <a:t>5. </a:t>
            </a:r>
            <a:r>
              <a:rPr lang="en-US" sz="2300" b="1" kern="0" dirty="0" err="1">
                <a:solidFill>
                  <a:srgbClr val="0FDCBD"/>
                </a:solidFill>
                <a:effectLst/>
                <a:ea typeface="Times New Roman" panose="02020603050405020304" pitchFamily="18" charset="0"/>
                <a:cs typeface="Times New Roman" panose="02020603050405020304" pitchFamily="18" charset="0"/>
              </a:rPr>
              <a:t>Utjecaj</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na</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b="1" kern="0" dirty="0" err="1">
                <a:solidFill>
                  <a:srgbClr val="0FDCBD"/>
                </a:solidFill>
                <a:effectLst/>
                <a:ea typeface="Times New Roman" panose="02020603050405020304" pitchFamily="18" charset="0"/>
                <a:cs typeface="Times New Roman" panose="02020603050405020304" pitchFamily="18" charset="0"/>
              </a:rPr>
              <a:t>dionike</a:t>
            </a:r>
            <a:r>
              <a:rPr lang="en-US" sz="2300" b="1" kern="0" dirty="0">
                <a:solidFill>
                  <a:srgbClr val="0FDCBD"/>
                </a:solidFill>
                <a:effectLst/>
                <a:ea typeface="Times New Roman" panose="02020603050405020304" pitchFamily="18" charset="0"/>
                <a:cs typeface="Times New Roman" panose="02020603050405020304" pitchFamily="18" charset="0"/>
              </a:rPr>
              <a:t>: </a:t>
            </a:r>
            <a:r>
              <a:rPr lang="en-US" sz="2300" kern="0" dirty="0">
                <a:effectLst/>
                <a:ea typeface="Times New Roman" panose="02020603050405020304" pitchFamily="18" charset="0"/>
                <a:cs typeface="Times New Roman" panose="02020603050405020304" pitchFamily="18" charset="0"/>
              </a:rPr>
              <a:t>[</a:t>
            </a:r>
            <a:r>
              <a:rPr lang="en-US" sz="2300" kern="0" dirty="0" err="1">
                <a:effectLst/>
                <a:ea typeface="Times New Roman" panose="02020603050405020304" pitchFamily="18" charset="0"/>
                <a:cs typeface="Times New Roman" panose="02020603050405020304" pitchFamily="18" charset="0"/>
              </a:rPr>
              <a:t>Identificirajte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ključne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dionike</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koje</a:t>
            </a:r>
            <a:r>
              <a:rPr lang="en-US" sz="2300" kern="0" dirty="0">
                <a:effectLst/>
                <a:ea typeface="Times New Roman" panose="02020603050405020304" pitchFamily="18" charset="0"/>
                <a:cs typeface="Times New Roman" panose="02020603050405020304" pitchFamily="18" charset="0"/>
              </a:rPr>
              <a:t> ova </a:t>
            </a:r>
            <a:r>
              <a:rPr lang="en-US" sz="2300" kern="0" dirty="0" err="1">
                <a:effectLst/>
                <a:ea typeface="Times New Roman" panose="02020603050405020304" pitchFamily="18" charset="0"/>
                <a:cs typeface="Times New Roman" panose="02020603050405020304" pitchFamily="18" charset="0"/>
              </a:rPr>
              <a:t>promjena</a:t>
            </a:r>
            <a:r>
              <a:rPr lang="en-US" sz="2300" kern="0" dirty="0">
                <a:effectLst/>
                <a:ea typeface="Times New Roman" panose="02020603050405020304" pitchFamily="18" charset="0"/>
                <a:cs typeface="Times New Roman" panose="02020603050405020304" pitchFamily="18" charset="0"/>
              </a:rPr>
              <a:t> </a:t>
            </a:r>
            <a:r>
              <a:rPr lang="en-US" sz="2300" kern="0" dirty="0" err="1">
                <a:effectLst/>
                <a:ea typeface="Times New Roman" panose="02020603050405020304" pitchFamily="18" charset="0"/>
                <a:cs typeface="Times New Roman" panose="02020603050405020304" pitchFamily="18" charset="0"/>
              </a:rPr>
              <a:t>utječe</a:t>
            </a:r>
            <a:r>
              <a:rPr lang="en-US" sz="2300" kern="0" dirty="0">
                <a:effectLst/>
                <a:ea typeface="Times New Roman" panose="02020603050405020304" pitchFamily="18" charset="0"/>
                <a:cs typeface="Times New Roman" panose="02020603050405020304" pitchFamily="18" charset="0"/>
              </a:rPr>
              <a:t>]</a:t>
            </a:r>
          </a:p>
          <a:p>
            <a:pPr>
              <a:buNone/>
            </a:pPr>
            <a:endParaRPr lang="en-US" sz="2200" kern="100" dirty="0">
              <a:effectLs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475324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BD5B9-7A06-21C0-186D-4A05D7F0B25E}"/>
            </a:ext>
          </a:extLst>
        </p:cNvPr>
        <p:cNvGrpSpPr/>
        <p:nvPr/>
      </p:nvGrpSpPr>
      <p:grpSpPr>
        <a:xfrm>
          <a:off x="0" y="0"/>
          <a:ext cx="0" cy="0"/>
          <a:chOff x="0" y="0"/>
          <a:chExt cx="0" cy="0"/>
        </a:xfrm>
      </p:grpSpPr>
      <p:sp>
        <p:nvSpPr>
          <p:cNvPr id="4" name="Naslov 3">
            <a:extLst>
              <a:ext uri="{FF2B5EF4-FFF2-40B4-BE49-F238E27FC236}">
                <a16:creationId xmlns:a16="http://schemas.microsoft.com/office/drawing/2014/main" id="{F96F6BE4-2E56-8591-CC96-CBBC77038D6F}"/>
              </a:ext>
            </a:extLst>
          </p:cNvPr>
          <p:cNvSpPr>
            <a:spLocks noGrp="1"/>
          </p:cNvSpPr>
          <p:nvPr>
            <p:ph type="ctrTitle"/>
          </p:nvPr>
        </p:nvSpPr>
        <p:spPr>
          <a:xfrm>
            <a:off x="2786646" y="2235200"/>
            <a:ext cx="9144000" cy="2387600"/>
          </a:xfrm>
        </p:spPr>
        <p:txBody>
          <a:bodyPr>
            <a:normAutofit/>
          </a:bodyPr>
          <a:lstStyle/>
          <a:p>
            <a:r>
              <a:rPr lang="hr-HR" sz="5000" b="1" dirty="0"/>
              <a:t>IZVRŠAVANJE ZADATAKA</a:t>
            </a:r>
            <a:br>
              <a:rPr lang="en-US" sz="4800" b="1" dirty="0"/>
            </a:br>
            <a:endParaRPr lang="hr-HR" sz="4800" dirty="0"/>
          </a:p>
        </p:txBody>
      </p:sp>
      <p:sp>
        <p:nvSpPr>
          <p:cNvPr id="5" name="Podnaslov 4">
            <a:extLst>
              <a:ext uri="{FF2B5EF4-FFF2-40B4-BE49-F238E27FC236}">
                <a16:creationId xmlns:a16="http://schemas.microsoft.com/office/drawing/2014/main" id="{9E413056-1687-6116-2D88-9BA0F585203E}"/>
              </a:ext>
            </a:extLst>
          </p:cNvPr>
          <p:cNvSpPr>
            <a:spLocks noGrp="1"/>
          </p:cNvSpPr>
          <p:nvPr>
            <p:ph type="subTitle" idx="4294967295"/>
          </p:nvPr>
        </p:nvSpPr>
        <p:spPr>
          <a:xfrm>
            <a:off x="2634246" y="4298194"/>
            <a:ext cx="9144000" cy="1019175"/>
          </a:xfrm>
          <a:solidFill>
            <a:schemeClr val="bg1"/>
          </a:solidFill>
        </p:spPr>
        <p:txBody>
          <a:bodyPr>
            <a:noAutofit/>
          </a:bodyPr>
          <a:lstStyle/>
          <a:p>
            <a:pPr marL="0" indent="0" algn="r">
              <a:buNone/>
            </a:pPr>
            <a:r>
              <a:rPr lang="en-US" altLang="en-US" sz="3600" dirty="0" err="1">
                <a:latin typeface="Bahnschrift" panose="020B0502040204020203" pitchFamily="34" charset="0"/>
                <a:ea typeface="+mj-ea"/>
                <a:cs typeface="+mj-cs"/>
              </a:rPr>
              <a:t>Važnost</a:t>
            </a:r>
            <a:r>
              <a:rPr lang="en-US" altLang="en-US" sz="3600" dirty="0">
                <a:latin typeface="Bahnschrift" panose="020B0502040204020203" pitchFamily="34" charset="0"/>
                <a:ea typeface="+mj-ea"/>
                <a:cs typeface="+mj-cs"/>
              </a:rPr>
              <a:t> </a:t>
            </a:r>
            <a:r>
              <a:rPr lang="en-US" altLang="en-US" sz="3600" dirty="0" err="1">
                <a:latin typeface="Bahnschrift" panose="020B0502040204020203" pitchFamily="34" charset="0"/>
                <a:ea typeface="+mj-ea"/>
                <a:cs typeface="+mj-cs"/>
              </a:rPr>
              <a:t>upravljanja</a:t>
            </a:r>
            <a:r>
              <a:rPr lang="en-US" altLang="en-US" sz="3600" dirty="0">
                <a:latin typeface="Bahnschrift" panose="020B0502040204020203" pitchFamily="34" charset="0"/>
                <a:ea typeface="+mj-ea"/>
                <a:cs typeface="+mj-cs"/>
              </a:rPr>
              <a:t> </a:t>
            </a:r>
            <a:r>
              <a:rPr lang="en-US" altLang="en-US" sz="3600" dirty="0" err="1">
                <a:latin typeface="Bahnschrift" panose="020B0502040204020203" pitchFamily="34" charset="0"/>
                <a:ea typeface="+mj-ea"/>
                <a:cs typeface="+mj-cs"/>
              </a:rPr>
              <a:t>rizicima</a:t>
            </a:r>
            <a:r>
              <a:rPr lang="en-US" altLang="en-US" sz="3600" dirty="0">
                <a:latin typeface="Bahnschrift" panose="020B0502040204020203" pitchFamily="34" charset="0"/>
                <a:ea typeface="+mj-ea"/>
                <a:cs typeface="+mj-cs"/>
              </a:rPr>
              <a:t> u </a:t>
            </a:r>
            <a:r>
              <a:rPr lang="en-US" altLang="en-US" sz="3600" dirty="0" err="1">
                <a:latin typeface="Bahnschrift" panose="020B0502040204020203" pitchFamily="34" charset="0"/>
                <a:ea typeface="+mj-ea"/>
                <a:cs typeface="+mj-cs"/>
              </a:rPr>
              <a:t>projektima</a:t>
            </a:r>
            <a:endParaRPr lang="en-US" altLang="en-US" sz="3600" dirty="0">
              <a:latin typeface="Bahnschrift" panose="020B0502040204020203" pitchFamily="34" charset="0"/>
              <a:ea typeface="+mj-ea"/>
              <a:cs typeface="+mj-cs"/>
            </a:endParaRPr>
          </a:p>
        </p:txBody>
      </p:sp>
    </p:spTree>
    <p:extLst>
      <p:ext uri="{BB962C8B-B14F-4D97-AF65-F5344CB8AC3E}">
        <p14:creationId xmlns:p14="http://schemas.microsoft.com/office/powerpoint/2010/main" val="556434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60F0-B022-2C94-7AA6-3614B3EAF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0BD49-334A-352C-B752-25C93BD734F2}"/>
              </a:ext>
            </a:extLst>
          </p:cNvPr>
          <p:cNvSpPr>
            <a:spLocks noGrp="1"/>
          </p:cNvSpPr>
          <p:nvPr>
            <p:ph type="title"/>
          </p:nvPr>
        </p:nvSpPr>
        <p:spPr/>
        <p:txBody>
          <a:bodyPr>
            <a:normAutofit/>
          </a:bodyPr>
          <a:lstStyle/>
          <a:p>
            <a:r>
              <a:rPr lang="en-US" sz="3800" dirty="0">
                <a:latin typeface="Bahnschrift SemiBold"/>
                <a:ea typeface="+mn-ea"/>
                <a:cs typeface="+mn-cs"/>
              </a:rPr>
              <a:t>1. Tehnike za </a:t>
            </a:r>
            <a:r>
              <a:rPr lang="en-US" sz="3800" dirty="0" err="1">
                <a:latin typeface="Bahnschrift SemiBold"/>
                <a:ea typeface="+mn-ea"/>
                <a:cs typeface="+mn-cs"/>
              </a:rPr>
              <a:t>identificiranje</a:t>
            </a:r>
            <a:r>
              <a:rPr lang="en-US" sz="3800" dirty="0">
                <a:latin typeface="Bahnschrift SemiBold"/>
                <a:ea typeface="+mn-ea"/>
                <a:cs typeface="+mn-cs"/>
              </a:rPr>
              <a:t> </a:t>
            </a:r>
            <a:r>
              <a:rPr lang="en-US" sz="3800" dirty="0" err="1">
                <a:latin typeface="Bahnschrift SemiBold"/>
                <a:ea typeface="+mn-ea"/>
                <a:cs typeface="+mn-cs"/>
              </a:rPr>
              <a:t>rizika</a:t>
            </a: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78AD3D34-D421-E4A0-F124-4E082AA06F03}"/>
              </a:ext>
            </a:extLst>
          </p:cNvPr>
          <p:cNvSpPr>
            <a:spLocks noGrp="1"/>
          </p:cNvSpPr>
          <p:nvPr>
            <p:ph idx="1"/>
          </p:nvPr>
        </p:nvSpPr>
        <p:spPr/>
        <p:txBody>
          <a:bodyPr>
            <a:noAutofit/>
          </a:bodyPr>
          <a:lstStyle/>
          <a:p>
            <a:pPr marL="0" indent="0">
              <a:buNone/>
            </a:pPr>
            <a:endParaRPr lang="en-US" sz="2200" b="1" dirty="0">
              <a:latin typeface="Montserrat" panose="00000500000000000000" pitchFamily="2" charset="0"/>
            </a:endParaRPr>
          </a:p>
          <a:p>
            <a:pPr marL="0" indent="0">
              <a:buNone/>
            </a:pPr>
            <a:endParaRPr lang="en-US" sz="2200" dirty="0">
              <a:latin typeface="Montserrat" panose="00000500000000000000" pitchFamily="2" charset="0"/>
            </a:endParaRPr>
          </a:p>
        </p:txBody>
      </p:sp>
      <p:sp>
        <p:nvSpPr>
          <p:cNvPr id="5" name="TextBox 4">
            <a:extLst>
              <a:ext uri="{FF2B5EF4-FFF2-40B4-BE49-F238E27FC236}">
                <a16:creationId xmlns:a16="http://schemas.microsoft.com/office/drawing/2014/main" id="{375AC476-6D01-9291-0E30-9359CF6B4021}"/>
              </a:ext>
            </a:extLst>
          </p:cNvPr>
          <p:cNvSpPr txBox="1"/>
          <p:nvPr/>
        </p:nvSpPr>
        <p:spPr>
          <a:xfrm>
            <a:off x="627085" y="1754525"/>
            <a:ext cx="11109825" cy="3293209"/>
          </a:xfrm>
          <a:prstGeom prst="rect">
            <a:avLst/>
          </a:prstGeom>
          <a:noFill/>
        </p:spPr>
        <p:txBody>
          <a:bodyPr wrap="square">
            <a:spAutoFit/>
          </a:bodyPr>
          <a:lstStyle/>
          <a:p>
            <a:pPr>
              <a:buNone/>
            </a:pPr>
            <a:r>
              <a:rPr lang="en-US" sz="2600" b="1" dirty="0">
                <a:solidFill>
                  <a:srgbClr val="0ADBBC"/>
                </a:solidFill>
                <a:latin typeface="Bahnschrift SemiLight" panose="020B0502040204020203" pitchFamily="34" charset="0"/>
              </a:rPr>
              <a:t>1. Brainstorming</a:t>
            </a:r>
          </a:p>
          <a:p>
            <a:pPr>
              <a:buNone/>
            </a:pPr>
            <a:r>
              <a:rPr lang="en-US" sz="2600" b="1" dirty="0">
                <a:solidFill>
                  <a:srgbClr val="0ADBBC"/>
                </a:solidFill>
                <a:latin typeface="Bahnschrift SemiLight" panose="020B0502040204020203" pitchFamily="34" charset="0"/>
              </a:rPr>
              <a:t>   </a:t>
            </a:r>
            <a:r>
              <a:rPr lang="en-US" sz="2600" dirty="0">
                <a:latin typeface="Bahnschrift SemiLight" panose="020B0502040204020203" pitchFamily="34" charset="0"/>
              </a:rPr>
              <a:t>– </a:t>
            </a:r>
            <a:r>
              <a:rPr lang="en-US" sz="2600" dirty="0" err="1">
                <a:latin typeface="Bahnschrift SemiLight" panose="020B0502040204020203" pitchFamily="34" charset="0"/>
              </a:rPr>
              <a:t>Uključuje</a:t>
            </a:r>
            <a:r>
              <a:rPr lang="en-US" sz="2600" dirty="0">
                <a:latin typeface="Bahnschrift SemiLight" panose="020B0502040204020203" pitchFamily="34" charset="0"/>
              </a:rPr>
              <a:t> </a:t>
            </a:r>
            <a:r>
              <a:rPr lang="en-US" sz="2600" dirty="0" err="1">
                <a:latin typeface="Bahnschrift SemiLight" panose="020B0502040204020203" pitchFamily="34" charset="0"/>
              </a:rPr>
              <a:t>timske</a:t>
            </a:r>
            <a:r>
              <a:rPr lang="en-US" sz="2600" dirty="0">
                <a:latin typeface="Bahnschrift SemiLight" panose="020B0502040204020203" pitchFamily="34" charset="0"/>
              </a:rPr>
              <a:t> </a:t>
            </a:r>
            <a:r>
              <a:rPr lang="en-US" sz="2600" dirty="0" err="1">
                <a:latin typeface="Bahnschrift SemiLight" panose="020B0502040204020203" pitchFamily="34" charset="0"/>
              </a:rPr>
              <a:t>rasprave</a:t>
            </a:r>
            <a:r>
              <a:rPr lang="en-US" sz="2600" dirty="0">
                <a:latin typeface="Bahnschrift SemiLight" panose="020B0502040204020203" pitchFamily="34" charset="0"/>
              </a:rPr>
              <a:t> za </a:t>
            </a:r>
            <a:r>
              <a:rPr lang="en-US" sz="2600" dirty="0" err="1">
                <a:latin typeface="Bahnschrift SemiLight" panose="020B0502040204020203" pitchFamily="34" charset="0"/>
              </a:rPr>
              <a:t>popis</a:t>
            </a:r>
            <a:r>
              <a:rPr lang="en-US" sz="2600" dirty="0">
                <a:latin typeface="Bahnschrift SemiLight" panose="020B0502040204020203" pitchFamily="34" charset="0"/>
              </a:rPr>
              <a:t> </a:t>
            </a:r>
            <a:r>
              <a:rPr lang="en-US" sz="2600" dirty="0" err="1">
                <a:latin typeface="Bahnschrift SemiLight" panose="020B0502040204020203" pitchFamily="34" charset="0"/>
              </a:rPr>
              <a:t>potencijalnih</a:t>
            </a:r>
            <a:r>
              <a:rPr lang="en-US" sz="2600" dirty="0">
                <a:latin typeface="Bahnschrift SemiLight" panose="020B0502040204020203" pitchFamily="34" charset="0"/>
              </a:rPr>
              <a:t> </a:t>
            </a:r>
            <a:r>
              <a:rPr lang="en-US" sz="2600" dirty="0" err="1">
                <a:latin typeface="Bahnschrift SemiLight" panose="020B0502040204020203" pitchFamily="34" charset="0"/>
              </a:rPr>
              <a:t>rizika</a:t>
            </a:r>
            <a:r>
              <a:rPr lang="en-US" sz="2600" dirty="0">
                <a:latin typeface="Bahnschrift SemiLight" panose="020B0502040204020203" pitchFamily="34" charset="0"/>
              </a:rPr>
              <a:t>.</a:t>
            </a:r>
          </a:p>
          <a:p>
            <a:pPr>
              <a:buNone/>
            </a:pPr>
            <a:r>
              <a:rPr lang="en-US" sz="2600" dirty="0">
                <a:latin typeface="Bahnschrift SemiLight" panose="020B0502040204020203" pitchFamily="34" charset="0"/>
              </a:rPr>
              <a:t>   – </a:t>
            </a:r>
            <a:r>
              <a:rPr lang="en-US" sz="2600" dirty="0" err="1">
                <a:latin typeface="Bahnschrift SemiLight" panose="020B0502040204020203" pitchFamily="34" charset="0"/>
              </a:rPr>
              <a:t>Potiče</a:t>
            </a:r>
            <a:r>
              <a:rPr lang="en-US" sz="2600" dirty="0">
                <a:latin typeface="Bahnschrift SemiLight" panose="020B0502040204020203" pitchFamily="34" charset="0"/>
              </a:rPr>
              <a:t> </a:t>
            </a:r>
            <a:r>
              <a:rPr lang="en-US" sz="2600" dirty="0" err="1">
                <a:latin typeface="Bahnschrift SemiLight" panose="020B0502040204020203" pitchFamily="34" charset="0"/>
              </a:rPr>
              <a:t>različite</a:t>
            </a:r>
            <a:r>
              <a:rPr lang="en-US" sz="2600" dirty="0">
                <a:latin typeface="Bahnschrift SemiLight" panose="020B0502040204020203" pitchFamily="34" charset="0"/>
              </a:rPr>
              <a:t> </a:t>
            </a:r>
            <a:r>
              <a:rPr lang="en-US" sz="2600" dirty="0" err="1">
                <a:latin typeface="Bahnschrift SemiLight" panose="020B0502040204020203" pitchFamily="34" charset="0"/>
              </a:rPr>
              <a:t>perspektive</a:t>
            </a:r>
            <a:r>
              <a:rPr lang="en-US" sz="2600" dirty="0">
                <a:latin typeface="Bahnschrift SemiLight" panose="020B0502040204020203" pitchFamily="34" charset="0"/>
              </a:rPr>
              <a:t> </a:t>
            </a:r>
            <a:r>
              <a:rPr lang="en-US" sz="2600" dirty="0" err="1">
                <a:latin typeface="Bahnschrift SemiLight" panose="020B0502040204020203" pitchFamily="34" charset="0"/>
              </a:rPr>
              <a:t>dionika</a:t>
            </a:r>
            <a:r>
              <a:rPr lang="en-US" sz="2600" dirty="0">
                <a:latin typeface="Bahnschrift SemiLight" panose="020B0502040204020203" pitchFamily="34" charset="0"/>
              </a:rPr>
              <a:t>.</a:t>
            </a:r>
          </a:p>
          <a:p>
            <a:pPr>
              <a:buNone/>
            </a:pPr>
            <a:endParaRPr lang="en-US" sz="2600" b="1" dirty="0">
              <a:solidFill>
                <a:srgbClr val="0ADBBC"/>
              </a:solidFill>
              <a:latin typeface="Bahnschrift SemiLight" panose="020B0502040204020203" pitchFamily="34" charset="0"/>
            </a:endParaRPr>
          </a:p>
          <a:p>
            <a:pPr>
              <a:buNone/>
            </a:pPr>
            <a:r>
              <a:rPr lang="en-US" sz="2600" b="1" dirty="0">
                <a:solidFill>
                  <a:srgbClr val="0ADBBC"/>
                </a:solidFill>
                <a:latin typeface="Bahnschrift SemiLight" panose="020B0502040204020203" pitchFamily="34" charset="0"/>
              </a:rPr>
              <a:t>2. SWOT </a:t>
            </a:r>
            <a:r>
              <a:rPr lang="en-US" sz="2600" b="1" dirty="0" err="1">
                <a:solidFill>
                  <a:srgbClr val="0ADBBC"/>
                </a:solidFill>
                <a:latin typeface="Bahnschrift SemiLight" panose="020B0502040204020203" pitchFamily="34" charset="0"/>
              </a:rPr>
              <a:t>analiza</a:t>
            </a:r>
            <a:r>
              <a:rPr lang="en-US" sz="2600" b="1" dirty="0">
                <a:solidFill>
                  <a:srgbClr val="0ADBBC"/>
                </a:solidFill>
                <a:latin typeface="Bahnschrift SemiLight" panose="020B0502040204020203" pitchFamily="34" charset="0"/>
              </a:rPr>
              <a:t> (</a:t>
            </a:r>
            <a:r>
              <a:rPr lang="en-US" sz="2600" b="1" dirty="0" err="1">
                <a:solidFill>
                  <a:srgbClr val="0ADBBC"/>
                </a:solidFill>
                <a:latin typeface="Bahnschrift SemiLight" panose="020B0502040204020203" pitchFamily="34" charset="0"/>
              </a:rPr>
              <a:t>snage</a:t>
            </a:r>
            <a:r>
              <a:rPr lang="en-US" sz="2600" b="1" dirty="0">
                <a:solidFill>
                  <a:srgbClr val="0ADBBC"/>
                </a:solidFill>
                <a:latin typeface="Bahnschrift SemiLight" panose="020B0502040204020203" pitchFamily="34" charset="0"/>
              </a:rPr>
              <a:t>, </a:t>
            </a:r>
            <a:r>
              <a:rPr lang="en-US" sz="2600" b="1" dirty="0" err="1">
                <a:solidFill>
                  <a:srgbClr val="0ADBBC"/>
                </a:solidFill>
                <a:latin typeface="Bahnschrift SemiLight" panose="020B0502040204020203" pitchFamily="34" charset="0"/>
              </a:rPr>
              <a:t>slabosti</a:t>
            </a:r>
            <a:r>
              <a:rPr lang="en-US" sz="2600" b="1" dirty="0">
                <a:solidFill>
                  <a:srgbClr val="0ADBBC"/>
                </a:solidFill>
                <a:latin typeface="Bahnschrift SemiLight" panose="020B0502040204020203" pitchFamily="34" charset="0"/>
              </a:rPr>
              <a:t>, </a:t>
            </a:r>
            <a:r>
              <a:rPr lang="en-US" sz="2600" b="1" dirty="0" err="1">
                <a:solidFill>
                  <a:srgbClr val="0ADBBC"/>
                </a:solidFill>
                <a:latin typeface="Bahnschrift SemiLight" panose="020B0502040204020203" pitchFamily="34" charset="0"/>
              </a:rPr>
              <a:t>prilike</a:t>
            </a:r>
            <a:r>
              <a:rPr lang="en-US" sz="2600" b="1" dirty="0">
                <a:solidFill>
                  <a:srgbClr val="0ADBBC"/>
                </a:solidFill>
                <a:latin typeface="Bahnschrift SemiLight" panose="020B0502040204020203" pitchFamily="34" charset="0"/>
              </a:rPr>
              <a:t>, </a:t>
            </a:r>
            <a:r>
              <a:rPr lang="en-US" sz="2600" b="1" dirty="0" err="1">
                <a:solidFill>
                  <a:srgbClr val="0ADBBC"/>
                </a:solidFill>
                <a:latin typeface="Bahnschrift SemiLight" panose="020B0502040204020203" pitchFamily="34" charset="0"/>
              </a:rPr>
              <a:t>prijetnje</a:t>
            </a:r>
            <a:r>
              <a:rPr lang="en-US" sz="2600" b="1" dirty="0">
                <a:solidFill>
                  <a:srgbClr val="0ADBBC"/>
                </a:solidFill>
                <a:latin typeface="Bahnschrift SemiLight" panose="020B0502040204020203" pitchFamily="34" charset="0"/>
              </a:rPr>
              <a:t>)</a:t>
            </a:r>
          </a:p>
          <a:p>
            <a:pPr>
              <a:buNone/>
            </a:pPr>
            <a:r>
              <a:rPr lang="en-US" sz="2600" dirty="0">
                <a:latin typeface="Bahnschrift SemiLight" panose="020B0502040204020203" pitchFamily="34" charset="0"/>
              </a:rPr>
              <a:t>   – </a:t>
            </a:r>
            <a:r>
              <a:rPr lang="en-US" sz="2600" dirty="0" err="1">
                <a:latin typeface="Bahnschrift SemiLight" panose="020B0502040204020203" pitchFamily="34" charset="0"/>
              </a:rPr>
              <a:t>Pomaže</a:t>
            </a:r>
            <a:r>
              <a:rPr lang="en-US" sz="2600" dirty="0">
                <a:latin typeface="Bahnschrift SemiLight" panose="020B0502040204020203" pitchFamily="34" charset="0"/>
              </a:rPr>
              <a:t> u </a:t>
            </a:r>
            <a:r>
              <a:rPr lang="en-US" sz="2600" dirty="0" err="1">
                <a:latin typeface="Bahnschrift SemiLight" panose="020B0502040204020203" pitchFamily="34" charset="0"/>
              </a:rPr>
              <a:t>otkrivanju</a:t>
            </a:r>
            <a:r>
              <a:rPr lang="en-US" sz="2600" dirty="0">
                <a:latin typeface="Bahnschrift SemiLight" panose="020B0502040204020203" pitchFamily="34" charset="0"/>
              </a:rPr>
              <a:t> </a:t>
            </a:r>
            <a:r>
              <a:rPr lang="en-US" sz="2600" b="1" dirty="0" err="1">
                <a:latin typeface="Bahnschrift SemiLight" panose="020B0502040204020203" pitchFamily="34" charset="0"/>
              </a:rPr>
              <a:t>internih</a:t>
            </a:r>
            <a:r>
              <a:rPr lang="en-US" sz="2600" b="1" dirty="0">
                <a:latin typeface="Bahnschrift SemiLight" panose="020B0502040204020203" pitchFamily="34" charset="0"/>
              </a:rPr>
              <a:t> i </a:t>
            </a:r>
            <a:r>
              <a:rPr lang="en-US" sz="2600" b="1" dirty="0" err="1">
                <a:latin typeface="Bahnschrift SemiLight" panose="020B0502040204020203" pitchFamily="34" charset="0"/>
              </a:rPr>
              <a:t>eksternih</a:t>
            </a:r>
            <a:r>
              <a:rPr lang="en-US" sz="2600" b="1" dirty="0">
                <a:latin typeface="Bahnschrift SemiLight" panose="020B0502040204020203" pitchFamily="34" charset="0"/>
              </a:rPr>
              <a:t> </a:t>
            </a:r>
            <a:r>
              <a:rPr lang="en-US" sz="2600" dirty="0" err="1">
                <a:latin typeface="Bahnschrift SemiLight" panose="020B0502040204020203" pitchFamily="34" charset="0"/>
              </a:rPr>
              <a:t>rizika</a:t>
            </a:r>
            <a:r>
              <a:rPr lang="en-US" sz="2600" dirty="0">
                <a:latin typeface="Bahnschrift SemiLight" panose="020B0502040204020203" pitchFamily="34" charset="0"/>
              </a:rPr>
              <a:t>.</a:t>
            </a:r>
          </a:p>
          <a:p>
            <a:pPr>
              <a:buNone/>
            </a:pPr>
            <a:r>
              <a:rPr lang="en-US" sz="2600" dirty="0">
                <a:latin typeface="Bahnschrift SemiLight" panose="020B0502040204020203" pitchFamily="34" charset="0"/>
              </a:rPr>
              <a:t>   – </a:t>
            </a:r>
            <a:r>
              <a:rPr lang="en-US" sz="2600" dirty="0" err="1">
                <a:latin typeface="Bahnschrift SemiLight" panose="020B0502040204020203" pitchFamily="34" charset="0"/>
              </a:rPr>
              <a:t>Snage</a:t>
            </a:r>
            <a:r>
              <a:rPr lang="en-US" sz="2600" dirty="0">
                <a:latin typeface="Bahnschrift SemiLight" panose="020B0502040204020203" pitchFamily="34" charset="0"/>
              </a:rPr>
              <a:t> i </a:t>
            </a:r>
            <a:r>
              <a:rPr lang="en-US" sz="2600" dirty="0" err="1">
                <a:latin typeface="Bahnschrift SemiLight" panose="020B0502040204020203" pitchFamily="34" charset="0"/>
              </a:rPr>
              <a:t>prilike</a:t>
            </a:r>
            <a:r>
              <a:rPr lang="en-US" sz="2600" dirty="0">
                <a:latin typeface="Bahnschrift SemiLight" panose="020B0502040204020203" pitchFamily="34" charset="0"/>
              </a:rPr>
              <a:t> </a:t>
            </a:r>
            <a:r>
              <a:rPr lang="en-US" sz="2600" dirty="0" err="1">
                <a:latin typeface="Bahnschrift SemiLight" panose="020B0502040204020203" pitchFamily="34" charset="0"/>
              </a:rPr>
              <a:t>fokusiraju</a:t>
            </a:r>
            <a:r>
              <a:rPr lang="en-US" sz="2600" dirty="0">
                <a:latin typeface="Bahnschrift SemiLight" panose="020B0502040204020203" pitchFamily="34" charset="0"/>
              </a:rPr>
              <a:t> se </a:t>
            </a:r>
            <a:r>
              <a:rPr lang="en-US" sz="2600" dirty="0" err="1">
                <a:latin typeface="Bahnschrift SemiLight" panose="020B0502040204020203" pitchFamily="34" charset="0"/>
              </a:rPr>
              <a:t>na</a:t>
            </a:r>
            <a:r>
              <a:rPr lang="en-US" sz="2600" dirty="0">
                <a:latin typeface="Bahnschrift SemiLight" panose="020B0502040204020203" pitchFamily="34" charset="0"/>
              </a:rPr>
              <a:t> </a:t>
            </a:r>
            <a:r>
              <a:rPr lang="en-US" sz="2600" dirty="0" err="1">
                <a:latin typeface="Bahnschrift SemiLight" panose="020B0502040204020203" pitchFamily="34" charset="0"/>
              </a:rPr>
              <a:t>pozitivne</a:t>
            </a:r>
            <a:r>
              <a:rPr lang="en-US" sz="2600" dirty="0">
                <a:latin typeface="Bahnschrift SemiLight" panose="020B0502040204020203" pitchFamily="34" charset="0"/>
              </a:rPr>
              <a:t> </a:t>
            </a:r>
            <a:r>
              <a:rPr lang="en-US" sz="2600" dirty="0" err="1">
                <a:latin typeface="Bahnschrift SemiLight" panose="020B0502040204020203" pitchFamily="34" charset="0"/>
              </a:rPr>
              <a:t>rizike</a:t>
            </a:r>
            <a:r>
              <a:rPr lang="en-US" sz="2600" dirty="0">
                <a:latin typeface="Bahnschrift SemiLight" panose="020B0502040204020203" pitchFamily="34" charset="0"/>
              </a:rPr>
              <a:t> (</a:t>
            </a:r>
            <a:r>
              <a:rPr lang="en-US" sz="2600" dirty="0" err="1">
                <a:latin typeface="Bahnschrift SemiLight" panose="020B0502040204020203" pitchFamily="34" charset="0"/>
              </a:rPr>
              <a:t>prilike</a:t>
            </a:r>
            <a:r>
              <a:rPr lang="en-US" sz="2600" dirty="0">
                <a:latin typeface="Bahnschrift SemiLight" panose="020B0502040204020203" pitchFamily="34" charset="0"/>
              </a:rPr>
              <a:t>).</a:t>
            </a:r>
            <a:endParaRPr lang="hr-HR" sz="2600" dirty="0">
              <a:latin typeface="Bahnschrift SemiLight" panose="020B0502040204020203" pitchFamily="34" charset="0"/>
            </a:endParaRPr>
          </a:p>
          <a:p>
            <a:pPr>
              <a:buNone/>
            </a:pPr>
            <a:r>
              <a:rPr lang="hr-HR" sz="2600" dirty="0">
                <a:latin typeface="Bahnschrift SemiLight" panose="020B0502040204020203" pitchFamily="34" charset="0"/>
              </a:rPr>
              <a:t>   - </a:t>
            </a:r>
            <a:r>
              <a:rPr lang="en-US" sz="2600" dirty="0" err="1">
                <a:latin typeface="Bahnschrift SemiLight" panose="020B0502040204020203" pitchFamily="34" charset="0"/>
              </a:rPr>
              <a:t>Slabosti</a:t>
            </a:r>
            <a:r>
              <a:rPr lang="en-US" sz="2600" dirty="0">
                <a:latin typeface="Bahnschrift SemiLight" panose="020B0502040204020203" pitchFamily="34" charset="0"/>
              </a:rPr>
              <a:t> i </a:t>
            </a:r>
            <a:r>
              <a:rPr lang="en-US" sz="2600" dirty="0" err="1">
                <a:latin typeface="Bahnschrift SemiLight" panose="020B0502040204020203" pitchFamily="34" charset="0"/>
              </a:rPr>
              <a:t>prijetnje</a:t>
            </a:r>
            <a:r>
              <a:rPr lang="en-US" sz="2600" dirty="0">
                <a:latin typeface="Bahnschrift SemiLight" panose="020B0502040204020203" pitchFamily="34" charset="0"/>
              </a:rPr>
              <a:t> </a:t>
            </a:r>
            <a:r>
              <a:rPr lang="en-US" sz="2600" dirty="0" err="1">
                <a:latin typeface="Bahnschrift SemiLight" panose="020B0502040204020203" pitchFamily="34" charset="0"/>
              </a:rPr>
              <a:t>identificiraju</a:t>
            </a:r>
            <a:r>
              <a:rPr lang="en-US" sz="2600" dirty="0">
                <a:latin typeface="Bahnschrift SemiLight" panose="020B0502040204020203" pitchFamily="34" charset="0"/>
              </a:rPr>
              <a:t> </a:t>
            </a:r>
            <a:r>
              <a:rPr lang="en-US" sz="2600" dirty="0" err="1">
                <a:latin typeface="Bahnschrift SemiLight" panose="020B0502040204020203" pitchFamily="34" charset="0"/>
              </a:rPr>
              <a:t>negativne</a:t>
            </a:r>
            <a:r>
              <a:rPr lang="en-US" sz="2600" dirty="0">
                <a:latin typeface="Bahnschrift SemiLight" panose="020B0502040204020203" pitchFamily="34" charset="0"/>
              </a:rPr>
              <a:t> </a:t>
            </a:r>
            <a:r>
              <a:rPr lang="en-US" sz="2600" dirty="0" err="1">
                <a:latin typeface="Bahnschrift SemiLight" panose="020B0502040204020203" pitchFamily="34" charset="0"/>
              </a:rPr>
              <a:t>rizike</a:t>
            </a:r>
            <a:r>
              <a:rPr lang="en-US" sz="2600" dirty="0">
                <a:latin typeface="Bahnschrift SemiLight" panose="020B0502040204020203" pitchFamily="34" charset="0"/>
              </a:rPr>
              <a:t>.</a:t>
            </a:r>
          </a:p>
        </p:txBody>
      </p:sp>
    </p:spTree>
    <p:extLst>
      <p:ext uri="{BB962C8B-B14F-4D97-AF65-F5344CB8AC3E}">
        <p14:creationId xmlns:p14="http://schemas.microsoft.com/office/powerpoint/2010/main" val="24239072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E82ED-7198-FBFB-0252-8E4A26C68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BD109-813F-48A7-124C-53CC285A3BAC}"/>
              </a:ext>
            </a:extLst>
          </p:cNvPr>
          <p:cNvSpPr>
            <a:spLocks noGrp="1"/>
          </p:cNvSpPr>
          <p:nvPr>
            <p:ph type="title"/>
          </p:nvPr>
        </p:nvSpPr>
        <p:spPr/>
        <p:txBody>
          <a:bodyPr>
            <a:normAutofit/>
          </a:bodyPr>
          <a:lstStyle/>
          <a:p>
            <a:r>
              <a:rPr lang="en-US" sz="3800" dirty="0">
                <a:latin typeface="Bahnschrift SemiBold"/>
                <a:ea typeface="+mn-ea"/>
                <a:cs typeface="+mn-cs"/>
              </a:rPr>
              <a:t>1. Tehnike za </a:t>
            </a:r>
            <a:r>
              <a:rPr lang="en-US" sz="3800" dirty="0" err="1">
                <a:latin typeface="Bahnschrift SemiBold"/>
                <a:ea typeface="+mn-ea"/>
                <a:cs typeface="+mn-cs"/>
              </a:rPr>
              <a:t>identificiranje</a:t>
            </a:r>
            <a:r>
              <a:rPr lang="en-US" sz="3800" dirty="0">
                <a:latin typeface="Bahnschrift SemiBold"/>
                <a:ea typeface="+mn-ea"/>
                <a:cs typeface="+mn-cs"/>
              </a:rPr>
              <a:t> </a:t>
            </a:r>
            <a:r>
              <a:rPr lang="en-US" sz="3800" dirty="0" err="1">
                <a:latin typeface="Bahnschrift SemiBold"/>
                <a:ea typeface="+mn-ea"/>
                <a:cs typeface="+mn-cs"/>
              </a:rPr>
              <a:t>rizika</a:t>
            </a: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B5E2A252-EBF8-3645-58B7-C231E1A6EC1B}"/>
              </a:ext>
            </a:extLst>
          </p:cNvPr>
          <p:cNvSpPr>
            <a:spLocks noGrp="1"/>
          </p:cNvSpPr>
          <p:nvPr>
            <p:ph idx="1"/>
          </p:nvPr>
        </p:nvSpPr>
        <p:spPr/>
        <p:txBody>
          <a:bodyPr>
            <a:noAutofit/>
          </a:bodyPr>
          <a:lstStyle/>
          <a:p>
            <a:pPr marL="0" indent="0">
              <a:buNone/>
            </a:pPr>
            <a:endParaRPr lang="en-US" sz="2200" b="1" dirty="0">
              <a:latin typeface="Montserrat" panose="00000500000000000000" pitchFamily="2" charset="0"/>
            </a:endParaRPr>
          </a:p>
          <a:p>
            <a:pPr marL="0" indent="0">
              <a:buNone/>
            </a:pPr>
            <a:endParaRPr lang="en-US" sz="2200" dirty="0">
              <a:latin typeface="Montserrat" panose="00000500000000000000" pitchFamily="2" charset="0"/>
            </a:endParaRPr>
          </a:p>
        </p:txBody>
      </p:sp>
      <p:sp>
        <p:nvSpPr>
          <p:cNvPr id="5" name="TextBox 4">
            <a:extLst>
              <a:ext uri="{FF2B5EF4-FFF2-40B4-BE49-F238E27FC236}">
                <a16:creationId xmlns:a16="http://schemas.microsoft.com/office/drawing/2014/main" id="{8CE27C45-9058-10E6-0920-8F9836501C07}"/>
              </a:ext>
            </a:extLst>
          </p:cNvPr>
          <p:cNvSpPr txBox="1"/>
          <p:nvPr/>
        </p:nvSpPr>
        <p:spPr>
          <a:xfrm>
            <a:off x="627085" y="1982450"/>
            <a:ext cx="11109825" cy="4093428"/>
          </a:xfrm>
          <a:prstGeom prst="rect">
            <a:avLst/>
          </a:prstGeom>
          <a:noFill/>
        </p:spPr>
        <p:txBody>
          <a:bodyPr wrap="square">
            <a:spAutoFit/>
          </a:bodyPr>
          <a:lstStyle/>
          <a:p>
            <a:r>
              <a:rPr lang="en-US" sz="2600" b="1" dirty="0">
                <a:solidFill>
                  <a:srgbClr val="0ADBBC"/>
                </a:solidFill>
                <a:latin typeface="Bahnschrift SemiLight" panose="020B0502040204020203" pitchFamily="34" charset="0"/>
              </a:rPr>
              <a:t>3. </a:t>
            </a:r>
            <a:r>
              <a:rPr lang="en-US" sz="2600" b="1" dirty="0" err="1">
                <a:solidFill>
                  <a:srgbClr val="0ADBBC"/>
                </a:solidFill>
                <a:latin typeface="Bahnschrift SemiLight" panose="020B0502040204020203" pitchFamily="34" charset="0"/>
              </a:rPr>
              <a:t>Kontrolne</a:t>
            </a:r>
            <a:r>
              <a:rPr lang="en-US" sz="2600" b="1" dirty="0">
                <a:solidFill>
                  <a:srgbClr val="0ADBBC"/>
                </a:solidFill>
                <a:latin typeface="Bahnschrift SemiLight" panose="020B0502040204020203" pitchFamily="34" charset="0"/>
              </a:rPr>
              <a:t> </a:t>
            </a:r>
            <a:r>
              <a:rPr lang="en-US" sz="2600" b="1" dirty="0" err="1">
                <a:solidFill>
                  <a:srgbClr val="0ADBBC"/>
                </a:solidFill>
                <a:latin typeface="Bahnschrift SemiLight" panose="020B0502040204020203" pitchFamily="34" charset="0"/>
              </a:rPr>
              <a:t>liste</a:t>
            </a:r>
            <a:r>
              <a:rPr lang="en-US" sz="2600" b="1" dirty="0">
                <a:solidFill>
                  <a:srgbClr val="0ADBBC"/>
                </a:solidFill>
                <a:latin typeface="Bahnschrift SemiLight" panose="020B0502040204020203" pitchFamily="34" charset="0"/>
              </a:rPr>
              <a:t> </a:t>
            </a:r>
            <a:r>
              <a:rPr lang="en-US" sz="2600" b="1" dirty="0" err="1">
                <a:solidFill>
                  <a:srgbClr val="0ADBBC"/>
                </a:solidFill>
                <a:latin typeface="Bahnschrift SemiLight" panose="020B0502040204020203" pitchFamily="34" charset="0"/>
              </a:rPr>
              <a:t>rizika</a:t>
            </a:r>
            <a:endParaRPr lang="en-US" sz="2600" b="1" dirty="0">
              <a:solidFill>
                <a:srgbClr val="0ADBBC"/>
              </a:solidFill>
              <a:latin typeface="Bahnschrift SemiLight" panose="020B0502040204020203" pitchFamily="34" charset="0"/>
            </a:endParaRPr>
          </a:p>
          <a:p>
            <a:r>
              <a:rPr lang="en-US" sz="2600" b="1" dirty="0">
                <a:solidFill>
                  <a:srgbClr val="0ADBBC"/>
                </a:solidFill>
                <a:latin typeface="Bahnschrift SemiLight" panose="020B0502040204020203" pitchFamily="34" charset="0"/>
              </a:rPr>
              <a:t>   </a:t>
            </a:r>
            <a:r>
              <a:rPr lang="en-US" sz="2600" dirty="0">
                <a:latin typeface="Bahnschrift SemiLight" panose="020B0502040204020203" pitchFamily="34" charset="0"/>
              </a:rPr>
              <a:t>– </a:t>
            </a:r>
            <a:r>
              <a:rPr lang="en-US" sz="2600" dirty="0" err="1">
                <a:latin typeface="Bahnschrift SemiLight" panose="020B0502040204020203" pitchFamily="34" charset="0"/>
              </a:rPr>
              <a:t>Unaprijed</a:t>
            </a:r>
            <a:r>
              <a:rPr lang="en-US" sz="2600" dirty="0">
                <a:latin typeface="Bahnschrift SemiLight" panose="020B0502040204020203" pitchFamily="34" charset="0"/>
              </a:rPr>
              <a:t> </a:t>
            </a:r>
            <a:r>
              <a:rPr lang="en-US" sz="2600" dirty="0" err="1">
                <a:latin typeface="Bahnschrift SemiLight" panose="020B0502040204020203" pitchFamily="34" charset="0"/>
              </a:rPr>
              <a:t>definirane</a:t>
            </a:r>
            <a:r>
              <a:rPr lang="en-US" sz="2600" dirty="0">
                <a:latin typeface="Bahnschrift SemiLight" panose="020B0502040204020203" pitchFamily="34" charset="0"/>
              </a:rPr>
              <a:t> </a:t>
            </a:r>
            <a:r>
              <a:rPr lang="en-US" sz="2600" dirty="0" err="1">
                <a:latin typeface="Bahnschrift SemiLight" panose="020B0502040204020203" pitchFamily="34" charset="0"/>
              </a:rPr>
              <a:t>liste</a:t>
            </a:r>
            <a:r>
              <a:rPr lang="en-US" sz="2600" dirty="0">
                <a:latin typeface="Bahnschrift SemiLight" panose="020B0502040204020203" pitchFamily="34" charset="0"/>
              </a:rPr>
              <a:t> </a:t>
            </a:r>
            <a:r>
              <a:rPr lang="en-US" sz="2600" dirty="0" err="1">
                <a:latin typeface="Bahnschrift SemiLight" panose="020B0502040204020203" pitchFamily="34" charset="0"/>
              </a:rPr>
              <a:t>uobičajenih</a:t>
            </a:r>
            <a:r>
              <a:rPr lang="en-US" sz="2600" dirty="0">
                <a:latin typeface="Bahnschrift SemiLight" panose="020B0502040204020203" pitchFamily="34" charset="0"/>
              </a:rPr>
              <a:t> </a:t>
            </a:r>
            <a:r>
              <a:rPr lang="en-US" sz="2600" dirty="0" err="1">
                <a:latin typeface="Bahnschrift SemiLight" panose="020B0502040204020203" pitchFamily="34" charset="0"/>
              </a:rPr>
              <a:t>rizika</a:t>
            </a:r>
            <a:r>
              <a:rPr lang="en-US" sz="2600" dirty="0">
                <a:latin typeface="Bahnschrift SemiLight" panose="020B0502040204020203" pitchFamily="34" charset="0"/>
              </a:rPr>
              <a:t> </a:t>
            </a:r>
            <a:r>
              <a:rPr lang="en-US" sz="2600" dirty="0" err="1">
                <a:latin typeface="Bahnschrift SemiLight" panose="020B0502040204020203" pitchFamily="34" charset="0"/>
              </a:rPr>
              <a:t>temeljene</a:t>
            </a:r>
            <a:r>
              <a:rPr lang="en-US" sz="2600" dirty="0">
                <a:latin typeface="Bahnschrift SemiLight" panose="020B0502040204020203" pitchFamily="34" charset="0"/>
              </a:rPr>
              <a:t> </a:t>
            </a:r>
            <a:r>
              <a:rPr lang="en-US" sz="2600" dirty="0" err="1">
                <a:latin typeface="Bahnschrift SemiLight" panose="020B0502040204020203" pitchFamily="34" charset="0"/>
              </a:rPr>
              <a:t>na</a:t>
            </a:r>
            <a:r>
              <a:rPr lang="en-US" sz="2600" dirty="0">
                <a:latin typeface="Bahnschrift SemiLight" panose="020B0502040204020203" pitchFamily="34" charset="0"/>
              </a:rPr>
              <a:t> </a:t>
            </a:r>
            <a:r>
              <a:rPr lang="en-US" sz="2600" b="1" dirty="0" err="1">
                <a:latin typeface="Bahnschrift SemiLight" panose="020B0502040204020203" pitchFamily="34" charset="0"/>
              </a:rPr>
              <a:t>najboljim</a:t>
            </a:r>
            <a:r>
              <a:rPr lang="en-US" sz="2600" b="1" dirty="0">
                <a:latin typeface="Bahnschrift SemiLight" panose="020B0502040204020203" pitchFamily="34" charset="0"/>
              </a:rPr>
              <a:t> </a:t>
            </a:r>
            <a:r>
              <a:rPr lang="hr-HR" sz="2600" b="1" dirty="0">
                <a:latin typeface="Bahnschrift SemiLight" panose="020B0502040204020203" pitchFamily="34" charset="0"/>
              </a:rPr>
              <a:t> </a:t>
            </a:r>
            <a:r>
              <a:rPr lang="en-US" sz="2600" b="1" dirty="0" err="1">
                <a:latin typeface="Bahnschrift SemiLight" panose="020B0502040204020203" pitchFamily="34" charset="0"/>
              </a:rPr>
              <a:t>praksama</a:t>
            </a:r>
            <a:r>
              <a:rPr lang="en-US" sz="2600" b="1" dirty="0">
                <a:latin typeface="Bahnschrift SemiLight" panose="020B0502040204020203" pitchFamily="34" charset="0"/>
              </a:rPr>
              <a:t> u </a:t>
            </a:r>
            <a:r>
              <a:rPr lang="en-US" sz="2600" b="1" dirty="0" err="1">
                <a:latin typeface="Bahnschrift SemiLight" panose="020B0502040204020203" pitchFamily="34" charset="0"/>
              </a:rPr>
              <a:t>industriji</a:t>
            </a:r>
            <a:r>
              <a:rPr lang="en-US" sz="2600" dirty="0">
                <a:latin typeface="Bahnschrift SemiLight" panose="020B0502040204020203" pitchFamily="34" charset="0"/>
              </a:rPr>
              <a:t>.</a:t>
            </a:r>
          </a:p>
          <a:p>
            <a:r>
              <a:rPr lang="en-US" sz="2600" dirty="0">
                <a:latin typeface="Bahnschrift SemiLight" panose="020B0502040204020203" pitchFamily="34" charset="0"/>
              </a:rPr>
              <a:t>   – </a:t>
            </a:r>
            <a:r>
              <a:rPr lang="en-US" sz="2600" dirty="0" err="1">
                <a:latin typeface="Bahnschrift SemiLight" panose="020B0502040204020203" pitchFamily="34" charset="0"/>
              </a:rPr>
              <a:t>Pomažu</a:t>
            </a:r>
            <a:r>
              <a:rPr lang="en-US" sz="2600" dirty="0">
                <a:latin typeface="Bahnschrift SemiLight" panose="020B0502040204020203" pitchFamily="34" charset="0"/>
              </a:rPr>
              <a:t> </a:t>
            </a:r>
            <a:r>
              <a:rPr lang="en-US" sz="2600" dirty="0" err="1">
                <a:latin typeface="Bahnschrift SemiLight" panose="020B0502040204020203" pitchFamily="34" charset="0"/>
              </a:rPr>
              <a:t>osigurati</a:t>
            </a:r>
            <a:r>
              <a:rPr lang="en-US" sz="2600" dirty="0">
                <a:latin typeface="Bahnschrift SemiLight" panose="020B0502040204020203" pitchFamily="34" charset="0"/>
              </a:rPr>
              <a:t> da </a:t>
            </a:r>
            <a:r>
              <a:rPr lang="en-US" sz="2600" b="1" dirty="0" err="1">
                <a:latin typeface="Bahnschrift SemiLight" panose="020B0502040204020203" pitchFamily="34" charset="0"/>
              </a:rPr>
              <a:t>nijedna</a:t>
            </a:r>
            <a:r>
              <a:rPr lang="en-US" sz="2600" b="1" dirty="0">
                <a:latin typeface="Bahnschrift SemiLight" panose="020B0502040204020203" pitchFamily="34" charset="0"/>
              </a:rPr>
              <a:t> </a:t>
            </a:r>
            <a:r>
              <a:rPr lang="en-US" sz="2600" b="1" dirty="0" err="1">
                <a:latin typeface="Bahnschrift SemiLight" panose="020B0502040204020203" pitchFamily="34" charset="0"/>
              </a:rPr>
              <a:t>važna</a:t>
            </a:r>
            <a:r>
              <a:rPr lang="en-US" sz="2600" b="1" dirty="0">
                <a:latin typeface="Bahnschrift SemiLight" panose="020B0502040204020203" pitchFamily="34" charset="0"/>
              </a:rPr>
              <a:t> </a:t>
            </a:r>
            <a:r>
              <a:rPr lang="en-US" sz="2600" b="1" dirty="0" err="1">
                <a:latin typeface="Bahnschrift SemiLight" panose="020B0502040204020203" pitchFamily="34" charset="0"/>
              </a:rPr>
              <a:t>kategorija</a:t>
            </a:r>
            <a:r>
              <a:rPr lang="en-US" sz="2600" b="1" dirty="0">
                <a:latin typeface="Bahnschrift SemiLight" panose="020B0502040204020203" pitchFamily="34" charset="0"/>
              </a:rPr>
              <a:t> </a:t>
            </a:r>
            <a:r>
              <a:rPr lang="en-US" sz="2600" b="1" dirty="0" err="1">
                <a:latin typeface="Bahnschrift SemiLight" panose="020B0502040204020203" pitchFamily="34" charset="0"/>
              </a:rPr>
              <a:t>rizika</a:t>
            </a:r>
            <a:r>
              <a:rPr lang="en-US" sz="2600" b="1" dirty="0">
                <a:latin typeface="Bahnschrift SemiLight" panose="020B0502040204020203" pitchFamily="34" charset="0"/>
              </a:rPr>
              <a:t> ne </a:t>
            </a:r>
            <a:r>
              <a:rPr lang="en-US" sz="2600" b="1" dirty="0" err="1">
                <a:latin typeface="Bahnschrift SemiLight" panose="020B0502040204020203" pitchFamily="34" charset="0"/>
              </a:rPr>
              <a:t>bude</a:t>
            </a:r>
            <a:r>
              <a:rPr lang="en-US" sz="2600" b="1" dirty="0">
                <a:latin typeface="Bahnschrift SemiLight" panose="020B0502040204020203" pitchFamily="34" charset="0"/>
              </a:rPr>
              <a:t> </a:t>
            </a:r>
            <a:r>
              <a:rPr lang="en-US" sz="2600" b="1" dirty="0" err="1">
                <a:latin typeface="Bahnschrift SemiLight" panose="020B0502040204020203" pitchFamily="34" charset="0"/>
              </a:rPr>
              <a:t>zanemarena</a:t>
            </a:r>
            <a:r>
              <a:rPr lang="en-US" sz="2600" dirty="0">
                <a:latin typeface="Bahnschrift SemiLight" panose="020B0502040204020203" pitchFamily="34" charset="0"/>
              </a:rPr>
              <a:t>.</a:t>
            </a:r>
          </a:p>
          <a:p>
            <a:endParaRPr lang="en-US" sz="2600" b="1" dirty="0">
              <a:solidFill>
                <a:srgbClr val="0ADBBC"/>
              </a:solidFill>
              <a:latin typeface="Bahnschrift SemiLight" panose="020B0502040204020203" pitchFamily="34" charset="0"/>
            </a:endParaRPr>
          </a:p>
          <a:p>
            <a:r>
              <a:rPr lang="en-US" sz="2600" b="1" dirty="0">
                <a:solidFill>
                  <a:srgbClr val="0ADBBC"/>
                </a:solidFill>
                <a:latin typeface="Bahnschrift SemiLight" panose="020B0502040204020203" pitchFamily="34" charset="0"/>
              </a:rPr>
              <a:t>4. Analiza </a:t>
            </a:r>
            <a:r>
              <a:rPr lang="en-US" sz="2600" b="1" dirty="0" err="1">
                <a:solidFill>
                  <a:srgbClr val="0ADBBC"/>
                </a:solidFill>
                <a:latin typeface="Bahnschrift SemiLight" panose="020B0502040204020203" pitchFamily="34" charset="0"/>
              </a:rPr>
              <a:t>pretpostavki</a:t>
            </a:r>
            <a:endParaRPr lang="en-US" sz="2600" b="1" dirty="0">
              <a:solidFill>
                <a:srgbClr val="0ADBBC"/>
              </a:solidFill>
              <a:latin typeface="Bahnschrift SemiLight" panose="020B0502040204020203" pitchFamily="34" charset="0"/>
            </a:endParaRPr>
          </a:p>
          <a:p>
            <a:r>
              <a:rPr lang="en-US" sz="2600" dirty="0">
                <a:latin typeface="Bahnschrift SemiLight" panose="020B0502040204020203" pitchFamily="34" charset="0"/>
              </a:rPr>
              <a:t>   – </a:t>
            </a:r>
            <a:r>
              <a:rPr lang="en-US" sz="2600" dirty="0" err="1">
                <a:latin typeface="Bahnschrift SemiLight" panose="020B0502040204020203" pitchFamily="34" charset="0"/>
              </a:rPr>
              <a:t>Identificira</a:t>
            </a:r>
            <a:r>
              <a:rPr lang="en-US" sz="2600" dirty="0">
                <a:latin typeface="Bahnschrift SemiLight" panose="020B0502040204020203" pitchFamily="34" charset="0"/>
              </a:rPr>
              <a:t> </a:t>
            </a:r>
            <a:r>
              <a:rPr lang="en-US" sz="2600" dirty="0" err="1">
                <a:latin typeface="Bahnschrift SemiLight" panose="020B0502040204020203" pitchFamily="34" charset="0"/>
              </a:rPr>
              <a:t>rizike</a:t>
            </a:r>
            <a:r>
              <a:rPr lang="en-US" sz="2600" dirty="0">
                <a:latin typeface="Bahnschrift SemiLight" panose="020B0502040204020203" pitchFamily="34" charset="0"/>
              </a:rPr>
              <a:t> </a:t>
            </a:r>
            <a:r>
              <a:rPr lang="en-US" sz="2600" dirty="0" err="1">
                <a:latin typeface="Bahnschrift SemiLight" panose="020B0502040204020203" pitchFamily="34" charset="0"/>
              </a:rPr>
              <a:t>uzrokovane</a:t>
            </a:r>
            <a:r>
              <a:rPr lang="en-US" sz="2600" dirty="0">
                <a:latin typeface="Bahnschrift SemiLight" panose="020B0502040204020203" pitchFamily="34" charset="0"/>
              </a:rPr>
              <a:t> </a:t>
            </a:r>
            <a:r>
              <a:rPr lang="en-US" sz="2600" b="1" dirty="0" err="1">
                <a:latin typeface="Bahnschrift SemiLight" panose="020B0502040204020203" pitchFamily="34" charset="0"/>
              </a:rPr>
              <a:t>netočnim</a:t>
            </a:r>
            <a:r>
              <a:rPr lang="en-US" sz="2600" b="1" dirty="0">
                <a:latin typeface="Bahnschrift SemiLight" panose="020B0502040204020203" pitchFamily="34" charset="0"/>
              </a:rPr>
              <a:t> </a:t>
            </a:r>
            <a:r>
              <a:rPr lang="en-US" sz="2600" b="1" dirty="0" err="1">
                <a:latin typeface="Bahnschrift SemiLight" panose="020B0502040204020203" pitchFamily="34" charset="0"/>
              </a:rPr>
              <a:t>pretpostavkama</a:t>
            </a:r>
            <a:r>
              <a:rPr lang="en-US" sz="2600" dirty="0">
                <a:latin typeface="Bahnschrift SemiLight" panose="020B0502040204020203" pitchFamily="34" charset="0"/>
              </a:rPr>
              <a:t> </a:t>
            </a:r>
            <a:r>
              <a:rPr lang="en-US" sz="2600" dirty="0" err="1">
                <a:latin typeface="Bahnschrift SemiLight" panose="020B0502040204020203" pitchFamily="34" charset="0"/>
              </a:rPr>
              <a:t>tijekom</a:t>
            </a:r>
            <a:r>
              <a:rPr lang="en-US" sz="2600" dirty="0">
                <a:latin typeface="Bahnschrift SemiLight" panose="020B0502040204020203" pitchFamily="34" charset="0"/>
              </a:rPr>
              <a:t> </a:t>
            </a:r>
            <a:r>
              <a:rPr lang="en-US" sz="2600" dirty="0" err="1">
                <a:latin typeface="Bahnschrift SemiLight" panose="020B0502040204020203" pitchFamily="34" charset="0"/>
              </a:rPr>
              <a:t>planiranja</a:t>
            </a:r>
            <a:r>
              <a:rPr lang="en-US" sz="2600" dirty="0">
                <a:latin typeface="Bahnschrift SemiLight" panose="020B0502040204020203" pitchFamily="34" charset="0"/>
              </a:rPr>
              <a:t>.</a:t>
            </a:r>
          </a:p>
          <a:p>
            <a:r>
              <a:rPr lang="en-US" sz="2600" dirty="0">
                <a:latin typeface="Bahnschrift SemiLight" panose="020B0502040204020203" pitchFamily="34" charset="0"/>
              </a:rPr>
              <a:t>   – </a:t>
            </a:r>
            <a:r>
              <a:rPr lang="en-US" sz="2600" dirty="0" err="1">
                <a:latin typeface="Bahnschrift SemiLight" panose="020B0502040204020203" pitchFamily="34" charset="0"/>
              </a:rPr>
              <a:t>Ispituje</a:t>
            </a:r>
            <a:r>
              <a:rPr lang="en-US" sz="2600" dirty="0">
                <a:latin typeface="Bahnschrift SemiLight" panose="020B0502040204020203" pitchFamily="34" charset="0"/>
              </a:rPr>
              <a:t> </a:t>
            </a:r>
            <a:r>
              <a:rPr lang="en-US" sz="2600" dirty="0" err="1">
                <a:latin typeface="Bahnschrift SemiLight" panose="020B0502040204020203" pitchFamily="34" charset="0"/>
              </a:rPr>
              <a:t>ovisnosti</a:t>
            </a:r>
            <a:r>
              <a:rPr lang="en-US" sz="2600" dirty="0">
                <a:latin typeface="Bahnschrift SemiLight" panose="020B0502040204020203" pitchFamily="34" charset="0"/>
              </a:rPr>
              <a:t> o </a:t>
            </a:r>
            <a:r>
              <a:rPr lang="en-US" sz="2600" dirty="0" err="1">
                <a:latin typeface="Bahnschrift SemiLight" panose="020B0502040204020203" pitchFamily="34" charset="0"/>
              </a:rPr>
              <a:t>tehnologiji</a:t>
            </a:r>
            <a:r>
              <a:rPr lang="en-US" sz="2600" dirty="0">
                <a:latin typeface="Bahnschrift SemiLight" panose="020B0502040204020203" pitchFamily="34" charset="0"/>
              </a:rPr>
              <a:t>, </a:t>
            </a:r>
            <a:r>
              <a:rPr lang="en-US" sz="2600" dirty="0" err="1">
                <a:latin typeface="Bahnschrift SemiLight" panose="020B0502040204020203" pitchFamily="34" charset="0"/>
              </a:rPr>
              <a:t>dobavljačima</a:t>
            </a:r>
            <a:r>
              <a:rPr lang="en-US" sz="2600" dirty="0">
                <a:latin typeface="Bahnschrift SemiLight" panose="020B0502040204020203" pitchFamily="34" charset="0"/>
              </a:rPr>
              <a:t> </a:t>
            </a:r>
            <a:r>
              <a:rPr lang="en-US" sz="2600" dirty="0" err="1">
                <a:latin typeface="Bahnschrift SemiLight" panose="020B0502040204020203" pitchFamily="34" charset="0"/>
              </a:rPr>
              <a:t>ili</a:t>
            </a:r>
            <a:r>
              <a:rPr lang="en-US" sz="2600" dirty="0">
                <a:latin typeface="Bahnschrift SemiLight" panose="020B0502040204020203" pitchFamily="34" charset="0"/>
              </a:rPr>
              <a:t> </a:t>
            </a:r>
            <a:r>
              <a:rPr lang="en-US" sz="2600" dirty="0" err="1">
                <a:latin typeface="Bahnschrift SemiLight" panose="020B0502040204020203" pitchFamily="34" charset="0"/>
              </a:rPr>
              <a:t>tržišnim</a:t>
            </a:r>
            <a:r>
              <a:rPr lang="en-US" sz="2600" dirty="0">
                <a:latin typeface="Bahnschrift SemiLight" panose="020B0502040204020203" pitchFamily="34" charset="0"/>
              </a:rPr>
              <a:t> </a:t>
            </a:r>
            <a:r>
              <a:rPr lang="en-US" sz="2600" dirty="0" err="1">
                <a:latin typeface="Bahnschrift SemiLight" panose="020B0502040204020203" pitchFamily="34" charset="0"/>
              </a:rPr>
              <a:t>uvjetima</a:t>
            </a:r>
            <a:r>
              <a:rPr lang="en-US" sz="2600" dirty="0">
                <a:latin typeface="Bahnschrift SemiLight" panose="020B0502040204020203" pitchFamily="34" charset="0"/>
              </a:rPr>
              <a:t>.</a:t>
            </a:r>
          </a:p>
        </p:txBody>
      </p:sp>
    </p:spTree>
    <p:extLst>
      <p:ext uri="{BB962C8B-B14F-4D97-AF65-F5344CB8AC3E}">
        <p14:creationId xmlns:p14="http://schemas.microsoft.com/office/powerpoint/2010/main" val="39706830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E7A61-BC9D-82B0-80D0-55C063B53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8A9B8-49C3-2D1E-39C6-2DA747E3CDA7}"/>
              </a:ext>
            </a:extLst>
          </p:cNvPr>
          <p:cNvSpPr>
            <a:spLocks noGrp="1"/>
          </p:cNvSpPr>
          <p:nvPr>
            <p:ph type="title"/>
          </p:nvPr>
        </p:nvSpPr>
        <p:spPr>
          <a:xfrm>
            <a:off x="838200" y="296550"/>
            <a:ext cx="10515600" cy="1325563"/>
          </a:xfrm>
        </p:spPr>
        <p:txBody>
          <a:bodyPr>
            <a:normAutofit/>
          </a:bodyPr>
          <a:lstStyle/>
          <a:p>
            <a:r>
              <a:rPr lang="en-US" sz="3800" dirty="0">
                <a:latin typeface="Bahnschrift SemiBold"/>
                <a:ea typeface="+mn-ea"/>
                <a:cs typeface="+mn-cs"/>
              </a:rPr>
              <a:t>2. Tehnike za </a:t>
            </a:r>
            <a:r>
              <a:rPr lang="en-US" sz="3800" dirty="0" err="1">
                <a:latin typeface="Bahnschrift SemiBold"/>
                <a:ea typeface="+mn-ea"/>
                <a:cs typeface="+mn-cs"/>
              </a:rPr>
              <a:t>identificiranje</a:t>
            </a:r>
            <a:r>
              <a:rPr lang="en-US" sz="3800" dirty="0">
                <a:latin typeface="Bahnschrift SemiBold"/>
                <a:ea typeface="+mn-ea"/>
                <a:cs typeface="+mn-cs"/>
              </a:rPr>
              <a:t> </a:t>
            </a:r>
            <a:r>
              <a:rPr lang="en-US" sz="3800" dirty="0" err="1">
                <a:latin typeface="Bahnschrift SemiBold"/>
                <a:ea typeface="+mn-ea"/>
                <a:cs typeface="+mn-cs"/>
              </a:rPr>
              <a:t>rizika</a:t>
            </a:r>
            <a:endParaRPr lang="en-US" sz="3800" dirty="0">
              <a:latin typeface="Bahnschrift SemiBold"/>
              <a:ea typeface="+mn-ea"/>
              <a:cs typeface="+mn-cs"/>
            </a:endParaRPr>
          </a:p>
        </p:txBody>
      </p:sp>
      <p:sp>
        <p:nvSpPr>
          <p:cNvPr id="3" name="Content Placeholder 2">
            <a:extLst>
              <a:ext uri="{FF2B5EF4-FFF2-40B4-BE49-F238E27FC236}">
                <a16:creationId xmlns:a16="http://schemas.microsoft.com/office/drawing/2014/main" id="{E7FF5E43-6425-8A04-1A75-D2C9CBE58321}"/>
              </a:ext>
            </a:extLst>
          </p:cNvPr>
          <p:cNvSpPr>
            <a:spLocks noGrp="1"/>
          </p:cNvSpPr>
          <p:nvPr>
            <p:ph idx="1"/>
          </p:nvPr>
        </p:nvSpPr>
        <p:spPr/>
        <p:txBody>
          <a:bodyPr>
            <a:noAutofit/>
          </a:bodyPr>
          <a:lstStyle/>
          <a:p>
            <a:pPr marL="0" indent="0">
              <a:buNone/>
            </a:pPr>
            <a:endParaRPr lang="en-US" sz="2200" b="1" dirty="0">
              <a:latin typeface="Montserrat" panose="00000500000000000000" pitchFamily="2" charset="0"/>
            </a:endParaRPr>
          </a:p>
          <a:p>
            <a:pPr marL="0" indent="0">
              <a:buNone/>
            </a:pPr>
            <a:endParaRPr lang="en-US" sz="2200" dirty="0">
              <a:latin typeface="Montserrat" panose="00000500000000000000" pitchFamily="2" charset="0"/>
            </a:endParaRPr>
          </a:p>
        </p:txBody>
      </p:sp>
      <p:sp>
        <p:nvSpPr>
          <p:cNvPr id="5" name="TextBox 4">
            <a:extLst>
              <a:ext uri="{FF2B5EF4-FFF2-40B4-BE49-F238E27FC236}">
                <a16:creationId xmlns:a16="http://schemas.microsoft.com/office/drawing/2014/main" id="{C9419891-3BDE-13B9-6C9E-ACAD8470145E}"/>
              </a:ext>
            </a:extLst>
          </p:cNvPr>
          <p:cNvSpPr txBox="1"/>
          <p:nvPr/>
        </p:nvSpPr>
        <p:spPr>
          <a:xfrm>
            <a:off x="717395" y="1622113"/>
            <a:ext cx="11109825" cy="5570756"/>
          </a:xfrm>
          <a:prstGeom prst="rect">
            <a:avLst/>
          </a:prstGeom>
          <a:noFill/>
        </p:spPr>
        <p:txBody>
          <a:bodyPr wrap="square">
            <a:spAutoFit/>
          </a:bodyPr>
          <a:lstStyle/>
          <a:p>
            <a:pPr>
              <a:buNone/>
            </a:pPr>
            <a:r>
              <a:rPr lang="en-US" sz="2200" b="1" dirty="0">
                <a:solidFill>
                  <a:srgbClr val="0ADBBC"/>
                </a:solidFill>
                <a:latin typeface="Bahnschrift SemiLight" panose="020B0502040204020203" pitchFamily="34" charset="0"/>
              </a:rPr>
              <a:t>1. </a:t>
            </a:r>
            <a:r>
              <a:rPr lang="en-US" sz="2200" b="1" dirty="0" err="1">
                <a:solidFill>
                  <a:srgbClr val="0ADBBC"/>
                </a:solidFill>
                <a:latin typeface="Bahnschrift SemiLight" panose="020B0502040204020203" pitchFamily="34" charset="0"/>
              </a:rPr>
              <a:t>Izbjegavanje</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uklanjanje</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rizika</a:t>
            </a:r>
            <a:r>
              <a:rPr lang="en-US" sz="2200" b="1" dirty="0">
                <a:solidFill>
                  <a:srgbClr val="0ADBBC"/>
                </a:solidFill>
                <a:latin typeface="Bahnschrift SemiLight" panose="020B0502040204020203" pitchFamily="34" charset="0"/>
              </a:rPr>
              <a:t>)</a:t>
            </a:r>
          </a:p>
          <a:p>
            <a:pPr>
              <a:buNone/>
            </a:pPr>
            <a:r>
              <a:rPr lang="en-US" sz="2200" b="1" dirty="0">
                <a:solidFill>
                  <a:srgbClr val="0ADBBC"/>
                </a:solidFill>
                <a:latin typeface="Bahnschrift SemiLight" panose="020B0502040204020203" pitchFamily="34" charset="0"/>
              </a:rPr>
              <a:t>   </a:t>
            </a:r>
            <a:r>
              <a:rPr lang="en-US" sz="2200" dirty="0">
                <a:latin typeface="Bahnschrift SemiLight" panose="020B0502040204020203" pitchFamily="34" charset="0"/>
              </a:rPr>
              <a:t>– </a:t>
            </a:r>
            <a:r>
              <a:rPr lang="en-US" sz="2200" b="1" dirty="0" err="1">
                <a:latin typeface="Bahnschrift SemiLight" panose="020B0502040204020203" pitchFamily="34" charset="0"/>
              </a:rPr>
              <a:t>Prilagoditi</a:t>
            </a:r>
            <a:r>
              <a:rPr lang="en-US" sz="2200" b="1" dirty="0">
                <a:latin typeface="Bahnschrift SemiLight" panose="020B0502040204020203" pitchFamily="34" charset="0"/>
              </a:rPr>
              <a:t> </a:t>
            </a:r>
            <a:r>
              <a:rPr lang="en-US" sz="2200" b="1" dirty="0" err="1">
                <a:latin typeface="Bahnschrift SemiLight" panose="020B0502040204020203" pitchFamily="34" charset="0"/>
              </a:rPr>
              <a:t>projektni</a:t>
            </a:r>
            <a:r>
              <a:rPr lang="en-US" sz="2200" b="1" dirty="0">
                <a:latin typeface="Bahnschrift SemiLight" panose="020B0502040204020203" pitchFamily="34" charset="0"/>
              </a:rPr>
              <a:t> plan </a:t>
            </a:r>
            <a:r>
              <a:rPr lang="en-US" sz="2200" dirty="0" err="1">
                <a:latin typeface="Bahnschrift SemiLight" panose="020B0502040204020203" pitchFamily="34" charset="0"/>
              </a:rPr>
              <a:t>kako</a:t>
            </a:r>
            <a:r>
              <a:rPr lang="en-US" sz="2200" dirty="0">
                <a:latin typeface="Bahnschrift SemiLight" panose="020B0502040204020203" pitchFamily="34" charset="0"/>
              </a:rPr>
              <a:t> bi se </a:t>
            </a:r>
            <a:r>
              <a:rPr lang="en-US" sz="2200" dirty="0" err="1">
                <a:latin typeface="Bahnschrift SemiLight" panose="020B0502040204020203" pitchFamily="34" charset="0"/>
              </a:rPr>
              <a:t>uklonili</a:t>
            </a:r>
            <a:r>
              <a:rPr lang="en-US" sz="2200" dirty="0">
                <a:latin typeface="Bahnschrift SemiLight" panose="020B0502040204020203" pitchFamily="34" charset="0"/>
              </a:rPr>
              <a:t> </a:t>
            </a:r>
            <a:r>
              <a:rPr lang="en-US" sz="2200" dirty="0" err="1">
                <a:latin typeface="Bahnschrift SemiLight" panose="020B0502040204020203" pitchFamily="34" charset="0"/>
              </a:rPr>
              <a:t>visokorizični</a:t>
            </a:r>
            <a:r>
              <a:rPr lang="en-US" sz="2200" dirty="0">
                <a:latin typeface="Bahnschrift SemiLight" panose="020B0502040204020203" pitchFamily="34" charset="0"/>
              </a:rPr>
              <a:t> </a:t>
            </a:r>
            <a:r>
              <a:rPr lang="en-US" sz="2200" dirty="0" err="1">
                <a:latin typeface="Bahnschrift SemiLight" panose="020B0502040204020203" pitchFamily="34" charset="0"/>
              </a:rPr>
              <a:t>elementi</a:t>
            </a:r>
            <a:r>
              <a:rPr lang="en-US" sz="2200" dirty="0">
                <a:latin typeface="Bahnschrift SemiLight" panose="020B0502040204020203" pitchFamily="34" charset="0"/>
              </a:rPr>
              <a:t>.</a:t>
            </a:r>
          </a:p>
          <a:p>
            <a:pPr lvl="1"/>
            <a:r>
              <a:rPr lang="en-US" sz="2200" dirty="0">
                <a:latin typeface="Bahnschrift SemiLight" panose="020B0502040204020203" pitchFamily="34" charset="0"/>
              </a:rPr>
              <a:t>   Primjer: Ako je </a:t>
            </a:r>
            <a:r>
              <a:rPr lang="en-US" sz="2200" dirty="0" err="1">
                <a:latin typeface="Bahnschrift SemiLight" panose="020B0502040204020203" pitchFamily="34" charset="0"/>
              </a:rPr>
              <a:t>dobavljač</a:t>
            </a:r>
            <a:r>
              <a:rPr lang="en-US" sz="2200" dirty="0">
                <a:latin typeface="Bahnschrift SemiLight" panose="020B0502040204020203" pitchFamily="34" charset="0"/>
              </a:rPr>
              <a:t> </a:t>
            </a:r>
            <a:r>
              <a:rPr lang="en-US" sz="2200" dirty="0" err="1">
                <a:latin typeface="Bahnschrift SemiLight" panose="020B0502040204020203" pitchFamily="34" charset="0"/>
              </a:rPr>
              <a:t>nepouzdan</a:t>
            </a:r>
            <a:r>
              <a:rPr lang="en-US" sz="2200" dirty="0">
                <a:latin typeface="Bahnschrift SemiLight" panose="020B0502040204020203" pitchFamily="34" charset="0"/>
              </a:rPr>
              <a:t>, </a:t>
            </a:r>
            <a:r>
              <a:rPr lang="en-US" sz="2200" dirty="0" err="1">
                <a:latin typeface="Bahnschrift SemiLight" panose="020B0502040204020203" pitchFamily="34" charset="0"/>
              </a:rPr>
              <a:t>odabrati</a:t>
            </a:r>
            <a:r>
              <a:rPr lang="en-US" sz="2200" dirty="0">
                <a:latin typeface="Bahnschrift SemiLight" panose="020B0502040204020203" pitchFamily="34" charset="0"/>
              </a:rPr>
              <a:t> </a:t>
            </a:r>
            <a:r>
              <a:rPr lang="en-US" sz="2200" dirty="0" err="1">
                <a:latin typeface="Bahnschrift SemiLight" panose="020B0502040204020203" pitchFamily="34" charset="0"/>
              </a:rPr>
              <a:t>drugog</a:t>
            </a:r>
            <a:r>
              <a:rPr lang="en-US" sz="2200" dirty="0">
                <a:latin typeface="Bahnschrift SemiLight" panose="020B0502040204020203" pitchFamily="34" charset="0"/>
              </a:rPr>
              <a:t> </a:t>
            </a:r>
            <a:r>
              <a:rPr lang="en-US" sz="2200" dirty="0" err="1">
                <a:latin typeface="Bahnschrift SemiLight" panose="020B0502040204020203" pitchFamily="34" charset="0"/>
              </a:rPr>
              <a:t>dobavljača</a:t>
            </a:r>
            <a:r>
              <a:rPr lang="en-US" sz="2200" dirty="0">
                <a:latin typeface="Bahnschrift SemiLight" panose="020B0502040204020203" pitchFamily="34" charset="0"/>
              </a:rPr>
              <a:t>.</a:t>
            </a:r>
          </a:p>
          <a:p>
            <a:pPr>
              <a:buNone/>
            </a:pPr>
            <a:endParaRPr lang="en-US" sz="2200" b="1" dirty="0">
              <a:solidFill>
                <a:srgbClr val="0ADBBC"/>
              </a:solidFill>
              <a:latin typeface="Bahnschrift SemiLight" panose="020B0502040204020203" pitchFamily="34" charset="0"/>
            </a:endParaRPr>
          </a:p>
          <a:p>
            <a:pPr>
              <a:buNone/>
            </a:pPr>
            <a:r>
              <a:rPr lang="en-US" sz="2200" b="1" dirty="0">
                <a:solidFill>
                  <a:srgbClr val="0ADBBC"/>
                </a:solidFill>
                <a:latin typeface="Bahnschrift SemiLight" panose="020B0502040204020203" pitchFamily="34" charset="0"/>
              </a:rPr>
              <a:t>2. </a:t>
            </a:r>
            <a:r>
              <a:rPr lang="en-US" sz="2200" b="1" dirty="0" err="1">
                <a:solidFill>
                  <a:srgbClr val="0ADBBC"/>
                </a:solidFill>
                <a:latin typeface="Bahnschrift SemiLight" panose="020B0502040204020203" pitchFamily="34" charset="0"/>
              </a:rPr>
              <a:t>Ublažavanje</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rizika</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smanjenje</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vjerojatnosti</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ili</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utjecaja</a:t>
            </a:r>
            <a:r>
              <a:rPr lang="en-US" sz="2200" b="1" dirty="0">
                <a:solidFill>
                  <a:srgbClr val="0ADBBC"/>
                </a:solidFill>
                <a:latin typeface="Bahnschrift SemiLight" panose="020B0502040204020203" pitchFamily="34" charset="0"/>
              </a:rPr>
              <a:t>)</a:t>
            </a:r>
          </a:p>
          <a:p>
            <a:pPr>
              <a:buNone/>
            </a:pPr>
            <a:r>
              <a:rPr lang="en-US" sz="2200" b="1" dirty="0">
                <a:solidFill>
                  <a:srgbClr val="0ADBBC"/>
                </a:solidFill>
                <a:latin typeface="Bahnschrift SemiLight" panose="020B0502040204020203" pitchFamily="34" charset="0"/>
              </a:rPr>
              <a:t>   </a:t>
            </a:r>
            <a:r>
              <a:rPr lang="en-US" sz="2200" dirty="0">
                <a:latin typeface="Bahnschrift SemiLight" panose="020B0502040204020203" pitchFamily="34" charset="0"/>
              </a:rPr>
              <a:t>– </a:t>
            </a:r>
            <a:r>
              <a:rPr lang="en-US" sz="2200" dirty="0" err="1">
                <a:latin typeface="Bahnschrift SemiLight" panose="020B0502040204020203" pitchFamily="34" charset="0"/>
              </a:rPr>
              <a:t>Implementirati</a:t>
            </a:r>
            <a:r>
              <a:rPr lang="en-US" sz="2200" dirty="0">
                <a:latin typeface="Bahnschrift SemiLight" panose="020B0502040204020203" pitchFamily="34" charset="0"/>
              </a:rPr>
              <a:t> </a:t>
            </a:r>
            <a:r>
              <a:rPr lang="en-US" sz="2200" b="1" dirty="0" err="1">
                <a:latin typeface="Bahnschrift SemiLight" panose="020B0502040204020203" pitchFamily="34" charset="0"/>
              </a:rPr>
              <a:t>rezervne</a:t>
            </a:r>
            <a:r>
              <a:rPr lang="en-US" sz="2200" b="1" dirty="0">
                <a:latin typeface="Bahnschrift SemiLight" panose="020B0502040204020203" pitchFamily="34" charset="0"/>
              </a:rPr>
              <a:t> </a:t>
            </a:r>
            <a:r>
              <a:rPr lang="en-US" sz="2200" b="1" dirty="0" err="1">
                <a:latin typeface="Bahnschrift SemiLight" panose="020B0502040204020203" pitchFamily="34" charset="0"/>
              </a:rPr>
              <a:t>sustave</a:t>
            </a:r>
            <a:r>
              <a:rPr lang="en-US" sz="2200" b="1" dirty="0">
                <a:latin typeface="Bahnschrift SemiLight" panose="020B0502040204020203" pitchFamily="34" charset="0"/>
              </a:rPr>
              <a:t>, </a:t>
            </a:r>
            <a:r>
              <a:rPr lang="en-US" sz="2200" b="1" dirty="0" err="1">
                <a:latin typeface="Bahnschrift SemiLight" panose="020B0502040204020203" pitchFamily="34" charset="0"/>
              </a:rPr>
              <a:t>poboljšanja</a:t>
            </a:r>
            <a:r>
              <a:rPr lang="en-US" sz="2200" b="1" dirty="0">
                <a:latin typeface="Bahnschrift SemiLight" panose="020B0502040204020203" pitchFamily="34" charset="0"/>
              </a:rPr>
              <a:t> </a:t>
            </a:r>
            <a:r>
              <a:rPr lang="en-US" sz="2200" b="1" dirty="0" err="1">
                <a:latin typeface="Bahnschrift SemiLight" panose="020B0502040204020203" pitchFamily="34" charset="0"/>
              </a:rPr>
              <a:t>procesa</a:t>
            </a:r>
            <a:r>
              <a:rPr lang="en-US" sz="2200" b="1" dirty="0">
                <a:latin typeface="Bahnschrift SemiLight" panose="020B0502040204020203" pitchFamily="34" charset="0"/>
              </a:rPr>
              <a:t> i </a:t>
            </a:r>
            <a:r>
              <a:rPr lang="en-US" sz="2200" b="1" dirty="0" err="1">
                <a:latin typeface="Bahnschrift SemiLight" panose="020B0502040204020203" pitchFamily="34" charset="0"/>
              </a:rPr>
              <a:t>edukaciju</a:t>
            </a:r>
            <a:r>
              <a:rPr lang="en-US" sz="2200" dirty="0">
                <a:latin typeface="Bahnschrift SemiLight" panose="020B0502040204020203" pitchFamily="34" charset="0"/>
              </a:rPr>
              <a:t>.</a:t>
            </a:r>
          </a:p>
          <a:p>
            <a:pPr lvl="1"/>
            <a:r>
              <a:rPr lang="en-US" sz="2200" dirty="0">
                <a:latin typeface="Bahnschrift SemiLight" panose="020B0502040204020203" pitchFamily="34" charset="0"/>
              </a:rPr>
              <a:t>   Primjer: </a:t>
            </a:r>
            <a:r>
              <a:rPr lang="en-US" sz="2200" b="1" dirty="0" err="1">
                <a:latin typeface="Bahnschrift SemiLight" panose="020B0502040204020203" pitchFamily="34" charset="0"/>
              </a:rPr>
              <a:t>Automatizirano</a:t>
            </a:r>
            <a:r>
              <a:rPr lang="en-US" sz="2200" b="1" dirty="0">
                <a:latin typeface="Bahnschrift SemiLight" panose="020B0502040204020203" pitchFamily="34" charset="0"/>
              </a:rPr>
              <a:t> </a:t>
            </a:r>
            <a:r>
              <a:rPr lang="en-US" sz="2200" b="1" dirty="0" err="1">
                <a:latin typeface="Bahnschrift SemiLight" panose="020B0502040204020203" pitchFamily="34" charset="0"/>
              </a:rPr>
              <a:t>testiranje</a:t>
            </a:r>
            <a:r>
              <a:rPr lang="en-US" sz="2200" b="1" dirty="0">
                <a:latin typeface="Bahnschrift SemiLight" panose="020B0502040204020203" pitchFamily="34" charset="0"/>
              </a:rPr>
              <a:t> </a:t>
            </a:r>
            <a:r>
              <a:rPr lang="en-US" sz="2200" dirty="0">
                <a:latin typeface="Bahnschrift SemiLight" panose="020B0502040204020203" pitchFamily="34" charset="0"/>
              </a:rPr>
              <a:t>za </a:t>
            </a:r>
            <a:r>
              <a:rPr lang="en-US" sz="2200" dirty="0" err="1">
                <a:latin typeface="Bahnschrift SemiLight" panose="020B0502040204020203" pitchFamily="34" charset="0"/>
              </a:rPr>
              <a:t>smanjenje</a:t>
            </a:r>
            <a:r>
              <a:rPr lang="en-US" sz="2200" dirty="0">
                <a:latin typeface="Bahnschrift SemiLight" panose="020B0502040204020203" pitchFamily="34" charset="0"/>
              </a:rPr>
              <a:t> </a:t>
            </a:r>
            <a:r>
              <a:rPr lang="en-US" sz="2200" dirty="0" err="1">
                <a:latin typeface="Bahnschrift SemiLight" panose="020B0502040204020203" pitchFamily="34" charset="0"/>
              </a:rPr>
              <a:t>softverskih</a:t>
            </a:r>
            <a:r>
              <a:rPr lang="en-US" sz="2200" dirty="0">
                <a:latin typeface="Bahnschrift SemiLight" panose="020B0502040204020203" pitchFamily="34" charset="0"/>
              </a:rPr>
              <a:t> </a:t>
            </a:r>
            <a:r>
              <a:rPr lang="en-US" sz="2200" dirty="0" err="1">
                <a:latin typeface="Bahnschrift SemiLight" panose="020B0502040204020203" pitchFamily="34" charset="0"/>
              </a:rPr>
              <a:t>grešaka</a:t>
            </a:r>
            <a:r>
              <a:rPr lang="en-US" sz="2200" dirty="0">
                <a:latin typeface="Bahnschrift SemiLight" panose="020B0502040204020203" pitchFamily="34" charset="0"/>
              </a:rPr>
              <a:t>.</a:t>
            </a:r>
          </a:p>
          <a:p>
            <a:pPr>
              <a:buNone/>
            </a:pPr>
            <a:endParaRPr lang="en-US" sz="2200" b="1" dirty="0">
              <a:solidFill>
                <a:srgbClr val="0ADBBC"/>
              </a:solidFill>
              <a:latin typeface="Bahnschrift SemiLight" panose="020B0502040204020203" pitchFamily="34" charset="0"/>
            </a:endParaRPr>
          </a:p>
          <a:p>
            <a:pPr>
              <a:buNone/>
            </a:pPr>
            <a:r>
              <a:rPr lang="en-US" sz="2200" b="1" dirty="0">
                <a:solidFill>
                  <a:srgbClr val="0ADBBC"/>
                </a:solidFill>
                <a:latin typeface="Bahnschrift SemiLight" panose="020B0502040204020203" pitchFamily="34" charset="0"/>
              </a:rPr>
              <a:t>3. </a:t>
            </a:r>
            <a:r>
              <a:rPr lang="en-US" sz="2200" b="1" dirty="0" err="1">
                <a:solidFill>
                  <a:srgbClr val="0ADBBC"/>
                </a:solidFill>
                <a:latin typeface="Bahnschrift SemiLight" panose="020B0502040204020203" pitchFamily="34" charset="0"/>
              </a:rPr>
              <a:t>Planiranje</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nepredviđenih</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situacija</a:t>
            </a:r>
            <a:endParaRPr lang="en-US" sz="2200" b="1" dirty="0">
              <a:solidFill>
                <a:srgbClr val="0ADBBC"/>
              </a:solidFill>
              <a:latin typeface="Bahnschrift SemiLight" panose="020B0502040204020203" pitchFamily="34" charset="0"/>
            </a:endParaRPr>
          </a:p>
          <a:p>
            <a:pPr>
              <a:buNone/>
            </a:pPr>
            <a:r>
              <a:rPr lang="en-US" sz="2200" dirty="0">
                <a:latin typeface="Bahnschrift SemiLight" panose="020B0502040204020203" pitchFamily="34" charset="0"/>
              </a:rPr>
              <a:t>   – </a:t>
            </a:r>
            <a:r>
              <a:rPr lang="en-US" sz="2200" dirty="0" err="1">
                <a:latin typeface="Bahnschrift SemiLight" panose="020B0502040204020203" pitchFamily="34" charset="0"/>
              </a:rPr>
              <a:t>Izrada</a:t>
            </a:r>
            <a:r>
              <a:rPr lang="en-US" sz="2200" dirty="0">
                <a:latin typeface="Bahnschrift SemiLight" panose="020B0502040204020203" pitchFamily="34" charset="0"/>
              </a:rPr>
              <a:t> </a:t>
            </a:r>
            <a:r>
              <a:rPr lang="en-US" sz="2200" b="1" dirty="0" err="1">
                <a:latin typeface="Bahnschrift SemiLight" panose="020B0502040204020203" pitchFamily="34" charset="0"/>
              </a:rPr>
              <a:t>unaprijed</a:t>
            </a:r>
            <a:r>
              <a:rPr lang="en-US" sz="2200" b="1" dirty="0">
                <a:latin typeface="Bahnschrift SemiLight" panose="020B0502040204020203" pitchFamily="34" charset="0"/>
              </a:rPr>
              <a:t> </a:t>
            </a:r>
            <a:r>
              <a:rPr lang="en-US" sz="2200" b="1" dirty="0" err="1">
                <a:latin typeface="Bahnschrift SemiLight" panose="020B0502040204020203" pitchFamily="34" charset="0"/>
              </a:rPr>
              <a:t>definiranih</a:t>
            </a:r>
            <a:r>
              <a:rPr lang="en-US" sz="2200" b="1" dirty="0">
                <a:latin typeface="Bahnschrift SemiLight" panose="020B0502040204020203" pitchFamily="34" charset="0"/>
              </a:rPr>
              <a:t> </a:t>
            </a:r>
            <a:r>
              <a:rPr lang="en-US" sz="2200" b="1" dirty="0" err="1">
                <a:latin typeface="Bahnschrift SemiLight" panose="020B0502040204020203" pitchFamily="34" charset="0"/>
              </a:rPr>
              <a:t>planova</a:t>
            </a:r>
            <a:r>
              <a:rPr lang="en-US" sz="2200" b="1" dirty="0">
                <a:latin typeface="Bahnschrift SemiLight" panose="020B0502040204020203" pitchFamily="34" charset="0"/>
              </a:rPr>
              <a:t> </a:t>
            </a:r>
            <a:r>
              <a:rPr lang="en-US" sz="2200" dirty="0" err="1">
                <a:latin typeface="Bahnschrift SemiLight" panose="020B0502040204020203" pitchFamily="34" charset="0"/>
              </a:rPr>
              <a:t>djelovanja</a:t>
            </a:r>
            <a:r>
              <a:rPr lang="en-US" sz="2200" dirty="0">
                <a:latin typeface="Bahnschrift SemiLight" panose="020B0502040204020203" pitchFamily="34" charset="0"/>
              </a:rPr>
              <a:t> u </a:t>
            </a:r>
            <a:r>
              <a:rPr lang="en-US" sz="2200" dirty="0" err="1">
                <a:latin typeface="Bahnschrift SemiLight" panose="020B0502040204020203" pitchFamily="34" charset="0"/>
              </a:rPr>
              <a:t>slučaju</a:t>
            </a:r>
            <a:r>
              <a:rPr lang="en-US" sz="2200" dirty="0">
                <a:latin typeface="Bahnschrift SemiLight" panose="020B0502040204020203" pitchFamily="34" charset="0"/>
              </a:rPr>
              <a:t> </a:t>
            </a:r>
            <a:r>
              <a:rPr lang="en-US" sz="2200" dirty="0" err="1">
                <a:latin typeface="Bahnschrift SemiLight" panose="020B0502040204020203" pitchFamily="34" charset="0"/>
              </a:rPr>
              <a:t>realizacije</a:t>
            </a:r>
            <a:r>
              <a:rPr lang="en-US" sz="2200" dirty="0">
                <a:latin typeface="Bahnschrift SemiLight" panose="020B0502040204020203" pitchFamily="34" charset="0"/>
              </a:rPr>
              <a:t> </a:t>
            </a:r>
            <a:r>
              <a:rPr lang="en-US" sz="2200" dirty="0" err="1">
                <a:latin typeface="Bahnschrift SemiLight" panose="020B0502040204020203" pitchFamily="34" charset="0"/>
              </a:rPr>
              <a:t>rizika</a:t>
            </a:r>
            <a:r>
              <a:rPr lang="en-US" sz="2200" dirty="0">
                <a:latin typeface="Bahnschrift SemiLight" panose="020B0502040204020203" pitchFamily="34" charset="0"/>
              </a:rPr>
              <a:t>.</a:t>
            </a:r>
          </a:p>
          <a:p>
            <a:pPr lvl="1"/>
            <a:r>
              <a:rPr lang="en-US" sz="2200" dirty="0">
                <a:latin typeface="Bahnschrift SemiLight" panose="020B0502040204020203" pitchFamily="34" charset="0"/>
              </a:rPr>
              <a:t>   Primjer: Plan </a:t>
            </a:r>
            <a:r>
              <a:rPr lang="en-US" sz="2200" b="1" dirty="0" err="1">
                <a:latin typeface="Bahnschrift SemiLight" panose="020B0502040204020203" pitchFamily="34" charset="0"/>
              </a:rPr>
              <a:t>oporavka</a:t>
            </a:r>
            <a:r>
              <a:rPr lang="en-US" sz="2200" b="1" dirty="0">
                <a:latin typeface="Bahnschrift SemiLight" panose="020B0502040204020203" pitchFamily="34" charset="0"/>
              </a:rPr>
              <a:t> od </a:t>
            </a:r>
            <a:r>
              <a:rPr lang="en-US" sz="2200" b="1" dirty="0" err="1">
                <a:latin typeface="Bahnschrift SemiLight" panose="020B0502040204020203" pitchFamily="34" charset="0"/>
              </a:rPr>
              <a:t>katastrofe</a:t>
            </a:r>
            <a:r>
              <a:rPr lang="en-US" sz="2200" b="1" dirty="0">
                <a:latin typeface="Bahnschrift SemiLight" panose="020B0502040204020203" pitchFamily="34" charset="0"/>
              </a:rPr>
              <a:t> </a:t>
            </a:r>
            <a:r>
              <a:rPr lang="en-US" sz="2200" dirty="0">
                <a:latin typeface="Bahnschrift SemiLight" panose="020B0502040204020203" pitchFamily="34" charset="0"/>
              </a:rPr>
              <a:t>za </a:t>
            </a:r>
            <a:r>
              <a:rPr lang="en-US" sz="2200" dirty="0" err="1">
                <a:latin typeface="Bahnschrift SemiLight" panose="020B0502040204020203" pitchFamily="34" charset="0"/>
              </a:rPr>
              <a:t>kvarove</a:t>
            </a:r>
            <a:r>
              <a:rPr lang="en-US" sz="2200" dirty="0">
                <a:latin typeface="Bahnschrift SemiLight" panose="020B0502040204020203" pitchFamily="34" charset="0"/>
              </a:rPr>
              <a:t> IT </a:t>
            </a:r>
            <a:r>
              <a:rPr lang="en-US" sz="2200" dirty="0" err="1">
                <a:latin typeface="Bahnschrift SemiLight" panose="020B0502040204020203" pitchFamily="34" charset="0"/>
              </a:rPr>
              <a:t>sustava</a:t>
            </a:r>
            <a:r>
              <a:rPr lang="en-US" sz="2200" dirty="0">
                <a:latin typeface="Bahnschrift SemiLight" panose="020B0502040204020203" pitchFamily="34" charset="0"/>
              </a:rPr>
              <a:t>.</a:t>
            </a:r>
          </a:p>
          <a:p>
            <a:pPr>
              <a:buNone/>
            </a:pPr>
            <a:endParaRPr lang="en-US" sz="2200" b="1" dirty="0">
              <a:solidFill>
                <a:srgbClr val="0ADBBC"/>
              </a:solidFill>
              <a:latin typeface="Bahnschrift SemiLight" panose="020B0502040204020203" pitchFamily="34" charset="0"/>
            </a:endParaRPr>
          </a:p>
          <a:p>
            <a:pPr>
              <a:buNone/>
            </a:pPr>
            <a:r>
              <a:rPr lang="en-US" sz="2200" b="1" dirty="0">
                <a:solidFill>
                  <a:srgbClr val="0ADBBC"/>
                </a:solidFill>
                <a:latin typeface="Bahnschrift SemiLight" panose="020B0502040204020203" pitchFamily="34" charset="0"/>
              </a:rPr>
              <a:t>4. </a:t>
            </a:r>
            <a:r>
              <a:rPr lang="en-US" sz="2200" b="1" dirty="0" err="1">
                <a:solidFill>
                  <a:srgbClr val="0ADBBC"/>
                </a:solidFill>
                <a:latin typeface="Bahnschrift SemiLight" panose="020B0502040204020203" pitchFamily="34" charset="0"/>
              </a:rPr>
              <a:t>Redovito</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praćenje</a:t>
            </a:r>
            <a:r>
              <a:rPr lang="en-US" sz="2200" b="1" dirty="0">
                <a:solidFill>
                  <a:srgbClr val="0ADBBC"/>
                </a:solidFill>
                <a:latin typeface="Bahnschrift SemiLight" panose="020B0502040204020203" pitchFamily="34" charset="0"/>
              </a:rPr>
              <a:t> i </a:t>
            </a:r>
            <a:r>
              <a:rPr lang="en-US" sz="2200" b="1" dirty="0" err="1">
                <a:solidFill>
                  <a:srgbClr val="0ADBBC"/>
                </a:solidFill>
                <a:latin typeface="Bahnschrift SemiLight" panose="020B0502040204020203" pitchFamily="34" charset="0"/>
              </a:rPr>
              <a:t>pregled</a:t>
            </a:r>
            <a:r>
              <a:rPr lang="en-US" sz="2200" b="1" dirty="0">
                <a:solidFill>
                  <a:srgbClr val="0ADBBC"/>
                </a:solidFill>
                <a:latin typeface="Bahnschrift SemiLight" panose="020B0502040204020203" pitchFamily="34" charset="0"/>
              </a:rPr>
              <a:t> </a:t>
            </a:r>
            <a:r>
              <a:rPr lang="en-US" sz="2200" b="1" dirty="0" err="1">
                <a:solidFill>
                  <a:srgbClr val="0ADBBC"/>
                </a:solidFill>
                <a:latin typeface="Bahnschrift SemiLight" panose="020B0502040204020203" pitchFamily="34" charset="0"/>
              </a:rPr>
              <a:t>rizika</a:t>
            </a:r>
            <a:endParaRPr lang="en-US" sz="2200" b="1" dirty="0">
              <a:solidFill>
                <a:srgbClr val="0ADBBC"/>
              </a:solidFill>
              <a:latin typeface="Bahnschrift SemiLight" panose="020B0502040204020203" pitchFamily="34" charset="0"/>
            </a:endParaRPr>
          </a:p>
          <a:p>
            <a:pPr>
              <a:buNone/>
            </a:pPr>
            <a:r>
              <a:rPr lang="en-US" sz="2200" dirty="0">
                <a:latin typeface="Bahnschrift SemiLight" panose="020B0502040204020203" pitchFamily="34" charset="0"/>
              </a:rPr>
              <a:t>   – </a:t>
            </a:r>
            <a:r>
              <a:rPr lang="en-US" sz="2200" dirty="0" err="1">
                <a:latin typeface="Bahnschrift SemiLight" panose="020B0502040204020203" pitchFamily="34" charset="0"/>
              </a:rPr>
              <a:t>Provoditi</a:t>
            </a:r>
            <a:r>
              <a:rPr lang="en-US" sz="2200" dirty="0">
                <a:latin typeface="Bahnschrift SemiLight" panose="020B0502040204020203" pitchFamily="34" charset="0"/>
              </a:rPr>
              <a:t> </a:t>
            </a:r>
            <a:r>
              <a:rPr lang="en-US" sz="2200" b="1" dirty="0" err="1">
                <a:latin typeface="Bahnschrift SemiLight" panose="020B0502040204020203" pitchFamily="34" charset="0"/>
              </a:rPr>
              <a:t>tjedne</a:t>
            </a:r>
            <a:r>
              <a:rPr lang="en-US" sz="2200" b="1" dirty="0">
                <a:latin typeface="Bahnschrift SemiLight" panose="020B0502040204020203" pitchFamily="34" charset="0"/>
              </a:rPr>
              <a:t>/</a:t>
            </a:r>
            <a:r>
              <a:rPr lang="en-US" sz="2200" b="1" dirty="0" err="1">
                <a:latin typeface="Bahnschrift SemiLight" panose="020B0502040204020203" pitchFamily="34" charset="0"/>
              </a:rPr>
              <a:t>mjesečne</a:t>
            </a:r>
            <a:r>
              <a:rPr lang="en-US" sz="2200" b="1" dirty="0">
                <a:latin typeface="Bahnschrift SemiLight" panose="020B0502040204020203" pitchFamily="34" charset="0"/>
              </a:rPr>
              <a:t> </a:t>
            </a:r>
            <a:r>
              <a:rPr lang="en-US" sz="2200" b="1" dirty="0" err="1">
                <a:latin typeface="Bahnschrift SemiLight" panose="020B0502040204020203" pitchFamily="34" charset="0"/>
              </a:rPr>
              <a:t>preglede</a:t>
            </a:r>
            <a:r>
              <a:rPr lang="en-US" sz="2200" b="1" dirty="0">
                <a:latin typeface="Bahnschrift SemiLight" panose="020B0502040204020203" pitchFamily="34" charset="0"/>
              </a:rPr>
              <a:t> </a:t>
            </a:r>
            <a:r>
              <a:rPr lang="en-US" sz="2200" b="1" dirty="0" err="1">
                <a:latin typeface="Bahnschrift SemiLight" panose="020B0502040204020203" pitchFamily="34" charset="0"/>
              </a:rPr>
              <a:t>rizika</a:t>
            </a:r>
            <a:r>
              <a:rPr lang="en-US" sz="2200" b="1" dirty="0">
                <a:latin typeface="Bahnschrift SemiLight" panose="020B0502040204020203" pitchFamily="34" charset="0"/>
              </a:rPr>
              <a:t> </a:t>
            </a:r>
            <a:r>
              <a:rPr lang="en-US" sz="2200" dirty="0">
                <a:latin typeface="Bahnschrift SemiLight" panose="020B0502040204020203" pitchFamily="34" charset="0"/>
              </a:rPr>
              <a:t>i </a:t>
            </a:r>
            <a:r>
              <a:rPr lang="en-US" sz="2200" dirty="0" err="1">
                <a:latin typeface="Bahnschrift SemiLight" panose="020B0502040204020203" pitchFamily="34" charset="0"/>
              </a:rPr>
              <a:t>prilagođavati</a:t>
            </a:r>
            <a:r>
              <a:rPr lang="en-US" sz="2200" dirty="0">
                <a:latin typeface="Bahnschrift SemiLight" panose="020B0502040204020203" pitchFamily="34" charset="0"/>
              </a:rPr>
              <a:t> </a:t>
            </a:r>
            <a:r>
              <a:rPr lang="en-US" sz="2200" dirty="0" err="1">
                <a:latin typeface="Bahnschrift SemiLight" panose="020B0502040204020203" pitchFamily="34" charset="0"/>
              </a:rPr>
              <a:t>planove</a:t>
            </a:r>
            <a:r>
              <a:rPr lang="en-US" sz="2200" dirty="0">
                <a:latin typeface="Bahnschrift SemiLight" panose="020B0502040204020203" pitchFamily="34" charset="0"/>
              </a:rPr>
              <a:t> </a:t>
            </a:r>
            <a:r>
              <a:rPr lang="en-US" sz="2200" dirty="0" err="1">
                <a:latin typeface="Bahnschrift SemiLight" panose="020B0502040204020203" pitchFamily="34" charset="0"/>
              </a:rPr>
              <a:t>odgovora</a:t>
            </a:r>
            <a:r>
              <a:rPr lang="en-US" sz="2200" dirty="0">
                <a:latin typeface="Bahnschrift SemiLight" panose="020B0502040204020203" pitchFamily="34" charset="0"/>
              </a:rPr>
              <a:t>.</a:t>
            </a:r>
          </a:p>
          <a:p>
            <a:pPr>
              <a:buNone/>
            </a:pPr>
            <a:r>
              <a:rPr lang="en-US" sz="2200" dirty="0">
                <a:latin typeface="Bahnschrift SemiLight" panose="020B0502040204020203" pitchFamily="34" charset="0"/>
              </a:rPr>
              <a:t>   – </a:t>
            </a:r>
            <a:r>
              <a:rPr lang="en-US" sz="2200" dirty="0" err="1">
                <a:latin typeface="Bahnschrift SemiLight" panose="020B0502040204020203" pitchFamily="34" charset="0"/>
              </a:rPr>
              <a:t>Koristiti</a:t>
            </a:r>
            <a:r>
              <a:rPr lang="en-US" sz="2200" dirty="0">
                <a:latin typeface="Bahnschrift SemiLight" panose="020B0502040204020203" pitchFamily="34" charset="0"/>
              </a:rPr>
              <a:t> </a:t>
            </a:r>
            <a:r>
              <a:rPr lang="en-US" sz="2200" b="1" dirty="0" err="1">
                <a:latin typeface="Bahnschrift SemiLight" panose="020B0502040204020203" pitchFamily="34" charset="0"/>
              </a:rPr>
              <a:t>registar</a:t>
            </a:r>
            <a:r>
              <a:rPr lang="en-US" sz="2200" b="1" dirty="0">
                <a:latin typeface="Bahnschrift SemiLight" panose="020B0502040204020203" pitchFamily="34" charset="0"/>
              </a:rPr>
              <a:t> </a:t>
            </a:r>
            <a:r>
              <a:rPr lang="en-US" sz="2200" b="1" dirty="0" err="1">
                <a:latin typeface="Bahnschrift SemiLight" panose="020B0502040204020203" pitchFamily="34" charset="0"/>
              </a:rPr>
              <a:t>rizika</a:t>
            </a:r>
            <a:r>
              <a:rPr lang="en-US" sz="2200" b="1" dirty="0">
                <a:latin typeface="Bahnschrift SemiLight" panose="020B0502040204020203" pitchFamily="34" charset="0"/>
              </a:rPr>
              <a:t> </a:t>
            </a:r>
            <a:r>
              <a:rPr lang="en-US" sz="2200" dirty="0">
                <a:latin typeface="Bahnschrift SemiLight" panose="020B0502040204020203" pitchFamily="34" charset="0"/>
              </a:rPr>
              <a:t>za </a:t>
            </a:r>
            <a:r>
              <a:rPr lang="en-US" sz="2200" dirty="0" err="1">
                <a:latin typeface="Bahnschrift SemiLight" panose="020B0502040204020203" pitchFamily="34" charset="0"/>
              </a:rPr>
              <a:t>praćenje</a:t>
            </a:r>
            <a:r>
              <a:rPr lang="en-US" sz="2200" dirty="0">
                <a:latin typeface="Bahnschrift SemiLight" panose="020B0502040204020203" pitchFamily="34" charset="0"/>
              </a:rPr>
              <a:t> </a:t>
            </a:r>
            <a:r>
              <a:rPr lang="en-US" sz="2200" dirty="0" err="1">
                <a:latin typeface="Bahnschrift SemiLight" panose="020B0502040204020203" pitchFamily="34" charset="0"/>
              </a:rPr>
              <a:t>statusa</a:t>
            </a:r>
            <a:r>
              <a:rPr lang="en-US" sz="2200" dirty="0">
                <a:latin typeface="Bahnschrift SemiLight" panose="020B0502040204020203" pitchFamily="34" charset="0"/>
              </a:rPr>
              <a:t> i </a:t>
            </a:r>
            <a:r>
              <a:rPr lang="en-US" sz="2200" dirty="0" err="1">
                <a:latin typeface="Bahnschrift SemiLight" panose="020B0502040204020203" pitchFamily="34" charset="0"/>
              </a:rPr>
              <a:t>odgovornosti</a:t>
            </a:r>
            <a:r>
              <a:rPr lang="en-US" sz="2200" dirty="0">
                <a:latin typeface="Bahnschrift SemiLight" panose="020B0502040204020203" pitchFamily="34" charset="0"/>
              </a:rPr>
              <a:t> za </a:t>
            </a:r>
            <a:r>
              <a:rPr lang="en-US" sz="2200" dirty="0" err="1">
                <a:latin typeface="Bahnschrift SemiLight" panose="020B0502040204020203" pitchFamily="34" charset="0"/>
              </a:rPr>
              <a:t>rizike</a:t>
            </a:r>
            <a:r>
              <a:rPr lang="en-US" sz="2200" dirty="0">
                <a:latin typeface="Bahnschrift SemiLight" panose="020B0502040204020203" pitchFamily="34" charset="0"/>
              </a:rPr>
              <a:t>.</a:t>
            </a:r>
          </a:p>
          <a:p>
            <a:pPr>
              <a:buNone/>
            </a:pPr>
            <a:endParaRPr lang="en-US" sz="2200" dirty="0">
              <a:latin typeface="Bahnschrift SemiLight" panose="020B0502040204020203" pitchFamily="34" charset="0"/>
            </a:endParaRPr>
          </a:p>
        </p:txBody>
      </p:sp>
    </p:spTree>
    <p:extLst>
      <p:ext uri="{BB962C8B-B14F-4D97-AF65-F5344CB8AC3E}">
        <p14:creationId xmlns:p14="http://schemas.microsoft.com/office/powerpoint/2010/main" val="18517561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15CF2-7D58-93BA-5F22-936D7B65FAD8}"/>
              </a:ext>
            </a:extLst>
          </p:cNvPr>
          <p:cNvSpPr>
            <a:spLocks noGrp="1"/>
          </p:cNvSpPr>
          <p:nvPr>
            <p:ph type="title"/>
          </p:nvPr>
        </p:nvSpPr>
        <p:spPr/>
        <p:txBody>
          <a:bodyPr>
            <a:normAutofit/>
          </a:bodyPr>
          <a:lstStyle/>
          <a:p>
            <a:r>
              <a:rPr lang="en-US" sz="3800" dirty="0">
                <a:latin typeface="Bahnschrift SemiBold"/>
                <a:ea typeface="+mn-ea"/>
                <a:cs typeface="+mn-cs"/>
              </a:rPr>
              <a:t>Registar </a:t>
            </a:r>
            <a:r>
              <a:rPr lang="en-US" sz="3800" dirty="0" err="1">
                <a:latin typeface="Bahnschrift SemiBold"/>
                <a:ea typeface="+mn-ea"/>
                <a:cs typeface="+mn-cs"/>
              </a:rPr>
              <a:t>rizika</a:t>
            </a:r>
            <a:r>
              <a:rPr lang="en-US" sz="3800" dirty="0">
                <a:latin typeface="Bahnschrift SemiBold"/>
                <a:ea typeface="+mn-ea"/>
                <a:cs typeface="+mn-cs"/>
              </a:rPr>
              <a:t> I.</a:t>
            </a:r>
          </a:p>
        </p:txBody>
      </p:sp>
      <p:sp>
        <p:nvSpPr>
          <p:cNvPr id="3" name="Content Placeholder 2">
            <a:extLst>
              <a:ext uri="{FF2B5EF4-FFF2-40B4-BE49-F238E27FC236}">
                <a16:creationId xmlns:a16="http://schemas.microsoft.com/office/drawing/2014/main" id="{D7791BE4-92FB-8636-0702-B519D6BA6FF8}"/>
              </a:ext>
            </a:extLst>
          </p:cNvPr>
          <p:cNvSpPr>
            <a:spLocks noGrp="1"/>
          </p:cNvSpPr>
          <p:nvPr>
            <p:ph idx="1"/>
          </p:nvPr>
        </p:nvSpPr>
        <p:spPr>
          <a:xfrm>
            <a:off x="413454" y="1676754"/>
            <a:ext cx="11654367" cy="4351338"/>
          </a:xfrm>
        </p:spPr>
        <p:txBody>
          <a:bodyPr>
            <a:noAutofit/>
          </a:bodyPr>
          <a:lstStyle/>
          <a:p>
            <a:pPr marL="0" indent="0">
              <a:buNone/>
            </a:pPr>
            <a:r>
              <a:rPr lang="en-US" sz="2300" b="1" dirty="0"/>
              <a:t>Registar </a:t>
            </a:r>
            <a:r>
              <a:rPr lang="en-US" sz="2300" b="1" dirty="0" err="1"/>
              <a:t>rizika</a:t>
            </a:r>
            <a:r>
              <a:rPr lang="en-US" sz="2300" b="1" dirty="0"/>
              <a:t> </a:t>
            </a:r>
            <a:r>
              <a:rPr lang="en-US" sz="2300" dirty="0"/>
              <a:t>je </a:t>
            </a:r>
            <a:r>
              <a:rPr lang="en-US" sz="2300" dirty="0" err="1"/>
              <a:t>alat</a:t>
            </a:r>
            <a:r>
              <a:rPr lang="en-US" sz="2300" dirty="0"/>
              <a:t> za </a:t>
            </a:r>
            <a:r>
              <a:rPr lang="en-US" sz="2300" dirty="0" err="1"/>
              <a:t>upravljanje</a:t>
            </a:r>
            <a:r>
              <a:rPr lang="en-US" sz="2300" dirty="0"/>
              <a:t> </a:t>
            </a:r>
            <a:r>
              <a:rPr lang="en-US" sz="2300" dirty="0" err="1"/>
              <a:t>projektima</a:t>
            </a:r>
            <a:r>
              <a:rPr lang="en-US" sz="2300" dirty="0"/>
              <a:t> koji se </a:t>
            </a:r>
            <a:r>
              <a:rPr lang="en-US" sz="2300" b="1" dirty="0" err="1"/>
              <a:t>koristi</a:t>
            </a:r>
            <a:r>
              <a:rPr lang="en-US" sz="2300" b="1" dirty="0"/>
              <a:t> za </a:t>
            </a:r>
            <a:r>
              <a:rPr lang="en-US" sz="2300" b="1" dirty="0" err="1"/>
              <a:t>identificiranje</a:t>
            </a:r>
            <a:r>
              <a:rPr lang="en-US" sz="2300" b="1" dirty="0"/>
              <a:t>, </a:t>
            </a:r>
            <a:r>
              <a:rPr lang="en-US" sz="2300" b="1" dirty="0" err="1"/>
              <a:t>procjenu</a:t>
            </a:r>
            <a:r>
              <a:rPr lang="en-US" sz="2300" b="1" dirty="0"/>
              <a:t> i </a:t>
            </a:r>
            <a:r>
              <a:rPr lang="en-US" sz="2300" b="1" dirty="0" err="1"/>
              <a:t>praćenje</a:t>
            </a:r>
            <a:r>
              <a:rPr lang="en-US" sz="2300" b="1" dirty="0"/>
              <a:t> </a:t>
            </a:r>
            <a:r>
              <a:rPr lang="en-US" sz="2300" b="1" dirty="0" err="1"/>
              <a:t>potencijalnih</a:t>
            </a:r>
            <a:r>
              <a:rPr lang="en-US" sz="2300" b="1" dirty="0"/>
              <a:t> </a:t>
            </a:r>
            <a:r>
              <a:rPr lang="en-US" sz="2300" b="1" dirty="0" err="1"/>
              <a:t>rizika</a:t>
            </a:r>
            <a:r>
              <a:rPr lang="en-US" sz="2300" b="1" dirty="0"/>
              <a:t> </a:t>
            </a:r>
            <a:r>
              <a:rPr lang="en-US" sz="2300" b="1" dirty="0" err="1"/>
              <a:t>tijekom</a:t>
            </a:r>
            <a:r>
              <a:rPr lang="en-US" sz="2300" b="1" dirty="0"/>
              <a:t> </a:t>
            </a:r>
            <a:r>
              <a:rPr lang="en-US" sz="2300" b="1" dirty="0" err="1"/>
              <a:t>životnog</a:t>
            </a:r>
            <a:r>
              <a:rPr lang="en-US" sz="2300" b="1" dirty="0"/>
              <a:t> </a:t>
            </a:r>
            <a:r>
              <a:rPr lang="en-US" sz="2300" b="1" dirty="0" err="1"/>
              <a:t>ciklusa</a:t>
            </a:r>
            <a:r>
              <a:rPr lang="en-US" sz="2300" b="1" dirty="0"/>
              <a:t> </a:t>
            </a:r>
            <a:r>
              <a:rPr lang="en-US" sz="2300" b="1" dirty="0" err="1"/>
              <a:t>projekta</a:t>
            </a:r>
            <a:r>
              <a:rPr lang="en-US" sz="2300" dirty="0"/>
              <a:t>. </a:t>
            </a:r>
            <a:r>
              <a:rPr lang="en-US" sz="2300" dirty="0" err="1"/>
              <a:t>Pruža</a:t>
            </a:r>
            <a:r>
              <a:rPr lang="en-US" sz="2300" dirty="0"/>
              <a:t> </a:t>
            </a:r>
            <a:r>
              <a:rPr lang="en-US" sz="2300" dirty="0" err="1"/>
              <a:t>strukturirani</a:t>
            </a:r>
            <a:r>
              <a:rPr lang="en-US" sz="2300" dirty="0"/>
              <a:t> </a:t>
            </a:r>
            <a:r>
              <a:rPr lang="en-US" sz="2300" dirty="0" err="1"/>
              <a:t>pristup</a:t>
            </a:r>
            <a:r>
              <a:rPr lang="en-US" sz="2300" dirty="0"/>
              <a:t> </a:t>
            </a:r>
            <a:r>
              <a:rPr lang="en-US" sz="2300" dirty="0" err="1"/>
              <a:t>upravljanju</a:t>
            </a:r>
            <a:r>
              <a:rPr lang="en-US" sz="2300" dirty="0"/>
              <a:t> </a:t>
            </a:r>
            <a:r>
              <a:rPr lang="en-US" sz="2300" dirty="0" err="1"/>
              <a:t>rizicima</a:t>
            </a:r>
            <a:r>
              <a:rPr lang="en-US" sz="2300" dirty="0"/>
              <a:t>, </a:t>
            </a:r>
            <a:r>
              <a:rPr lang="en-US" sz="2300" dirty="0" err="1"/>
              <a:t>osiguravajući</a:t>
            </a:r>
            <a:r>
              <a:rPr lang="en-US" sz="2300" dirty="0"/>
              <a:t> da </a:t>
            </a:r>
            <a:r>
              <a:rPr lang="en-US" sz="2300" dirty="0" err="1"/>
              <a:t>projektni</a:t>
            </a:r>
            <a:r>
              <a:rPr lang="en-US" sz="2300" dirty="0"/>
              <a:t> </a:t>
            </a:r>
            <a:r>
              <a:rPr lang="en-US" sz="2300" dirty="0" err="1"/>
              <a:t>timovi</a:t>
            </a:r>
            <a:r>
              <a:rPr lang="en-US" sz="2300" dirty="0"/>
              <a:t> </a:t>
            </a:r>
            <a:r>
              <a:rPr lang="en-US" sz="2300" dirty="0" err="1"/>
              <a:t>proaktivno</a:t>
            </a:r>
            <a:r>
              <a:rPr lang="en-US" sz="2300" dirty="0"/>
              <a:t> </a:t>
            </a:r>
            <a:r>
              <a:rPr lang="en-US" sz="2300" dirty="0" err="1"/>
              <a:t>ublažavaju</a:t>
            </a:r>
            <a:r>
              <a:rPr lang="en-US" sz="2300" dirty="0"/>
              <a:t> </a:t>
            </a:r>
            <a:r>
              <a:rPr lang="en-US" sz="2300" dirty="0" err="1"/>
              <a:t>prijetnje</a:t>
            </a:r>
            <a:r>
              <a:rPr lang="en-US" sz="2300" dirty="0"/>
              <a:t> i </a:t>
            </a:r>
            <a:r>
              <a:rPr lang="en-US" sz="2300" dirty="0" err="1"/>
              <a:t>iskorištavaju</a:t>
            </a:r>
            <a:r>
              <a:rPr lang="en-US" sz="2300" dirty="0"/>
              <a:t> </a:t>
            </a:r>
            <a:r>
              <a:rPr lang="en-US" sz="2300" dirty="0" err="1"/>
              <a:t>prilike</a:t>
            </a:r>
            <a:r>
              <a:rPr lang="en-US" sz="2300" dirty="0"/>
              <a:t>.</a:t>
            </a:r>
          </a:p>
          <a:p>
            <a:pPr marL="0" indent="0">
              <a:buNone/>
            </a:pPr>
            <a:endParaRPr lang="en-US" sz="2300" dirty="0"/>
          </a:p>
          <a:p>
            <a:pPr marL="0" indent="0">
              <a:buNone/>
            </a:pPr>
            <a:r>
              <a:rPr lang="en-US" sz="2300" b="1" dirty="0" err="1"/>
              <a:t>Ključne</a:t>
            </a:r>
            <a:r>
              <a:rPr lang="en-US" sz="2300" b="1" dirty="0"/>
              <a:t> </a:t>
            </a:r>
            <a:r>
              <a:rPr lang="en-US" sz="2300" b="1" dirty="0" err="1"/>
              <a:t>komponente</a:t>
            </a:r>
            <a:r>
              <a:rPr lang="en-US" sz="2300" b="1" dirty="0"/>
              <a:t>:</a:t>
            </a:r>
          </a:p>
          <a:p>
            <a:pPr marL="457200" indent="-457200">
              <a:buFont typeface="+mj-lt"/>
              <a:buAutoNum type="arabicPeriod"/>
            </a:pPr>
            <a:r>
              <a:rPr lang="en-US" sz="2300" b="1" dirty="0">
                <a:solidFill>
                  <a:srgbClr val="0FDCBD"/>
                </a:solidFill>
              </a:rPr>
              <a:t>ID </a:t>
            </a:r>
            <a:r>
              <a:rPr lang="en-US" sz="2300" b="1" dirty="0" err="1">
                <a:solidFill>
                  <a:srgbClr val="0FDCBD"/>
                </a:solidFill>
              </a:rPr>
              <a:t>rizika</a:t>
            </a:r>
            <a:r>
              <a:rPr lang="en-US" sz="2300" b="1" dirty="0">
                <a:solidFill>
                  <a:srgbClr val="0FDCBD"/>
                </a:solidFill>
              </a:rPr>
              <a:t> </a:t>
            </a:r>
            <a:r>
              <a:rPr lang="en-US" sz="2300" dirty="0"/>
              <a:t>– </a:t>
            </a:r>
            <a:r>
              <a:rPr lang="en-US" sz="2300" dirty="0" err="1"/>
              <a:t>Jedinstveni</a:t>
            </a:r>
            <a:r>
              <a:rPr lang="en-US" sz="2300" dirty="0"/>
              <a:t> </a:t>
            </a:r>
            <a:r>
              <a:rPr lang="en-US" sz="2300" dirty="0" err="1"/>
              <a:t>identifikator</a:t>
            </a:r>
            <a:r>
              <a:rPr lang="en-US" sz="2300" dirty="0"/>
              <a:t> za </a:t>
            </a:r>
            <a:r>
              <a:rPr lang="en-US" sz="2300" dirty="0" err="1"/>
              <a:t>svaki</a:t>
            </a:r>
            <a:r>
              <a:rPr lang="en-US" sz="2300" dirty="0"/>
              <a:t> </a:t>
            </a:r>
            <a:r>
              <a:rPr lang="en-US" sz="2300" dirty="0" err="1"/>
              <a:t>rizik</a:t>
            </a:r>
            <a:r>
              <a:rPr lang="en-US" sz="2300" dirty="0"/>
              <a:t>.</a:t>
            </a:r>
          </a:p>
          <a:p>
            <a:pPr marL="457200" indent="-457200">
              <a:buFont typeface="+mj-lt"/>
              <a:buAutoNum type="arabicPeriod"/>
            </a:pPr>
            <a:r>
              <a:rPr lang="en-US" sz="2300" b="1" dirty="0" err="1">
                <a:solidFill>
                  <a:srgbClr val="0FDCBD"/>
                </a:solidFill>
              </a:rPr>
              <a:t>Opis</a:t>
            </a:r>
            <a:r>
              <a:rPr lang="en-US" sz="2300" b="1" dirty="0">
                <a:solidFill>
                  <a:srgbClr val="0FDCBD"/>
                </a:solidFill>
              </a:rPr>
              <a:t> </a:t>
            </a:r>
            <a:r>
              <a:rPr lang="en-US" sz="2300" b="1" dirty="0" err="1">
                <a:solidFill>
                  <a:srgbClr val="0FDCBD"/>
                </a:solidFill>
              </a:rPr>
              <a:t>rizika</a:t>
            </a:r>
            <a:r>
              <a:rPr lang="en-US" sz="2300" b="1" dirty="0">
                <a:solidFill>
                  <a:srgbClr val="0FDCBD"/>
                </a:solidFill>
              </a:rPr>
              <a:t> </a:t>
            </a:r>
            <a:r>
              <a:rPr lang="en-US" sz="2300" dirty="0"/>
              <a:t>– Jasno i </a:t>
            </a:r>
            <a:r>
              <a:rPr lang="en-US" sz="2300" dirty="0" err="1"/>
              <a:t>sažeto</a:t>
            </a:r>
            <a:r>
              <a:rPr lang="en-US" sz="2300" dirty="0"/>
              <a:t> </a:t>
            </a:r>
            <a:r>
              <a:rPr lang="en-US" sz="2300" dirty="0" err="1"/>
              <a:t>objašnjenje</a:t>
            </a:r>
            <a:r>
              <a:rPr lang="en-US" sz="2300" dirty="0"/>
              <a:t> </a:t>
            </a:r>
            <a:r>
              <a:rPr lang="en-US" sz="2300" dirty="0" err="1"/>
              <a:t>rizika</a:t>
            </a:r>
            <a:r>
              <a:rPr lang="en-US" sz="2300" dirty="0"/>
              <a:t>.</a:t>
            </a:r>
          </a:p>
          <a:p>
            <a:pPr marL="457200" indent="-457200">
              <a:buFont typeface="+mj-lt"/>
              <a:buAutoNum type="arabicPeriod"/>
            </a:pPr>
            <a:r>
              <a:rPr lang="en-US" sz="2300" b="1" dirty="0" err="1">
                <a:solidFill>
                  <a:srgbClr val="0FDCBD"/>
                </a:solidFill>
              </a:rPr>
              <a:t>Vjerojatnost</a:t>
            </a:r>
            <a:r>
              <a:rPr lang="en-US" sz="2300" b="1" dirty="0">
                <a:solidFill>
                  <a:srgbClr val="0FDCBD"/>
                </a:solidFill>
              </a:rPr>
              <a:t> (</a:t>
            </a:r>
            <a:r>
              <a:rPr lang="hr-HR" sz="2300" b="1" dirty="0" err="1">
                <a:solidFill>
                  <a:srgbClr val="0FDCBD"/>
                </a:solidFill>
              </a:rPr>
              <a:t>Likelihood</a:t>
            </a:r>
            <a:r>
              <a:rPr lang="hr-HR" sz="2300" b="1" dirty="0">
                <a:solidFill>
                  <a:srgbClr val="0FDCBD"/>
                </a:solidFill>
              </a:rPr>
              <a:t> - </a:t>
            </a:r>
            <a:r>
              <a:rPr lang="en-US" sz="2300" b="1" dirty="0">
                <a:solidFill>
                  <a:srgbClr val="0FDCBD"/>
                </a:solidFill>
              </a:rPr>
              <a:t>L) </a:t>
            </a:r>
            <a:r>
              <a:rPr lang="en-US" sz="2300" dirty="0"/>
              <a:t>– </a:t>
            </a:r>
            <a:r>
              <a:rPr lang="en-US" sz="2300" dirty="0" err="1"/>
              <a:t>Vjerojatnost</a:t>
            </a:r>
            <a:r>
              <a:rPr lang="en-US" sz="2300" dirty="0"/>
              <a:t> </a:t>
            </a:r>
            <a:r>
              <a:rPr lang="en-US" sz="2300" dirty="0" err="1"/>
              <a:t>pojave</a:t>
            </a:r>
            <a:r>
              <a:rPr lang="en-US" sz="2300" dirty="0"/>
              <a:t> </a:t>
            </a:r>
            <a:r>
              <a:rPr lang="en-US" sz="2300" dirty="0" err="1"/>
              <a:t>rizika</a:t>
            </a:r>
            <a:r>
              <a:rPr lang="en-US" sz="2300" dirty="0"/>
              <a:t> (</a:t>
            </a:r>
            <a:r>
              <a:rPr lang="en-US" sz="2300" dirty="0" err="1"/>
              <a:t>npr</a:t>
            </a:r>
            <a:r>
              <a:rPr lang="en-US" sz="2300" dirty="0"/>
              <a:t>. </a:t>
            </a:r>
            <a:r>
              <a:rPr lang="en-US" sz="2300" dirty="0" err="1"/>
              <a:t>niska</a:t>
            </a:r>
            <a:r>
              <a:rPr lang="en-US" sz="2300" dirty="0"/>
              <a:t>, </a:t>
            </a:r>
            <a:r>
              <a:rPr lang="en-US" sz="2300" dirty="0" err="1"/>
              <a:t>srednja</a:t>
            </a:r>
            <a:r>
              <a:rPr lang="en-US" sz="2300" dirty="0"/>
              <a:t>, </a:t>
            </a:r>
            <a:r>
              <a:rPr lang="en-US" sz="2300" dirty="0" err="1"/>
              <a:t>visoka</a:t>
            </a:r>
            <a:r>
              <a:rPr lang="en-US" sz="2300" dirty="0"/>
              <a:t>).</a:t>
            </a:r>
          </a:p>
          <a:p>
            <a:pPr marL="457200" indent="-457200">
              <a:buFont typeface="+mj-lt"/>
              <a:buAutoNum type="arabicPeriod"/>
            </a:pPr>
            <a:r>
              <a:rPr lang="en-US" sz="2300" b="1" dirty="0" err="1">
                <a:solidFill>
                  <a:srgbClr val="0FDCBD"/>
                </a:solidFill>
              </a:rPr>
              <a:t>Utjecaj</a:t>
            </a:r>
            <a:r>
              <a:rPr lang="en-US" sz="2300" b="1" dirty="0">
                <a:solidFill>
                  <a:srgbClr val="0FDCBD"/>
                </a:solidFill>
              </a:rPr>
              <a:t> (</a:t>
            </a:r>
            <a:r>
              <a:rPr lang="hr-HR" sz="2300" b="1" dirty="0" err="1">
                <a:solidFill>
                  <a:srgbClr val="0FDCBD"/>
                </a:solidFill>
              </a:rPr>
              <a:t>Imapct</a:t>
            </a:r>
            <a:r>
              <a:rPr lang="hr-HR" sz="2300" b="1" dirty="0">
                <a:solidFill>
                  <a:srgbClr val="0FDCBD"/>
                </a:solidFill>
              </a:rPr>
              <a:t> - </a:t>
            </a:r>
            <a:r>
              <a:rPr lang="en-US" sz="2300" b="1" dirty="0">
                <a:solidFill>
                  <a:srgbClr val="0FDCBD"/>
                </a:solidFill>
              </a:rPr>
              <a:t>I) </a:t>
            </a:r>
            <a:r>
              <a:rPr lang="en-US" sz="2300" dirty="0"/>
              <a:t>– </a:t>
            </a:r>
            <a:r>
              <a:rPr lang="en-US" sz="2300" dirty="0" err="1"/>
              <a:t>Potencijalna</a:t>
            </a:r>
            <a:r>
              <a:rPr lang="en-US" sz="2300" dirty="0"/>
              <a:t> </a:t>
            </a:r>
            <a:r>
              <a:rPr lang="en-US" sz="2300" dirty="0" err="1"/>
              <a:t>posljedica</a:t>
            </a:r>
            <a:r>
              <a:rPr lang="en-US" sz="2300" dirty="0"/>
              <a:t> </a:t>
            </a:r>
            <a:r>
              <a:rPr lang="en-US" sz="2300" dirty="0" err="1"/>
              <a:t>ako</a:t>
            </a:r>
            <a:r>
              <a:rPr lang="en-US" sz="2300" dirty="0"/>
              <a:t> se </a:t>
            </a:r>
            <a:r>
              <a:rPr lang="en-US" sz="2300" dirty="0" err="1"/>
              <a:t>rizik</a:t>
            </a:r>
            <a:r>
              <a:rPr lang="en-US" sz="2300" dirty="0"/>
              <a:t> </a:t>
            </a:r>
            <a:r>
              <a:rPr lang="en-US" sz="2300" dirty="0" err="1"/>
              <a:t>ostvari</a:t>
            </a:r>
            <a:r>
              <a:rPr lang="en-US" sz="2300" dirty="0"/>
              <a:t> (</a:t>
            </a:r>
            <a:r>
              <a:rPr lang="en-US" sz="2300" dirty="0" err="1"/>
              <a:t>npr</a:t>
            </a:r>
            <a:r>
              <a:rPr lang="en-US" sz="2300" dirty="0"/>
              <a:t>. </a:t>
            </a:r>
            <a:r>
              <a:rPr lang="en-US" sz="2300" dirty="0" err="1"/>
              <a:t>nizak</a:t>
            </a:r>
            <a:r>
              <a:rPr lang="en-US" sz="2300" dirty="0"/>
              <a:t>, </a:t>
            </a:r>
            <a:r>
              <a:rPr lang="en-US" sz="2300" dirty="0" err="1"/>
              <a:t>srednji</a:t>
            </a:r>
            <a:r>
              <a:rPr lang="en-US" sz="2300" dirty="0"/>
              <a:t>, </a:t>
            </a:r>
            <a:r>
              <a:rPr lang="en-US" sz="2300" dirty="0" err="1"/>
              <a:t>visok</a:t>
            </a:r>
            <a:r>
              <a:rPr lang="en-US" sz="2300" dirty="0"/>
              <a:t>).</a:t>
            </a:r>
          </a:p>
        </p:txBody>
      </p:sp>
    </p:spTree>
    <p:extLst>
      <p:ext uri="{BB962C8B-B14F-4D97-AF65-F5344CB8AC3E}">
        <p14:creationId xmlns:p14="http://schemas.microsoft.com/office/powerpoint/2010/main" val="657972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51829-9992-5B92-57DA-4A5208DE2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81494-8FB1-C7EE-8846-69605968B1DB}"/>
              </a:ext>
            </a:extLst>
          </p:cNvPr>
          <p:cNvSpPr>
            <a:spLocks noGrp="1"/>
          </p:cNvSpPr>
          <p:nvPr>
            <p:ph type="title"/>
          </p:nvPr>
        </p:nvSpPr>
        <p:spPr>
          <a:xfrm>
            <a:off x="838200" y="207000"/>
            <a:ext cx="10515600" cy="1325563"/>
          </a:xfrm>
        </p:spPr>
        <p:txBody>
          <a:bodyPr>
            <a:normAutofit/>
          </a:bodyPr>
          <a:lstStyle/>
          <a:p>
            <a:r>
              <a:rPr lang="en-US" sz="3800" dirty="0">
                <a:latin typeface="Bahnschrift SemiBold"/>
                <a:ea typeface="+mn-ea"/>
                <a:cs typeface="+mn-cs"/>
              </a:rPr>
              <a:t>Registar </a:t>
            </a:r>
            <a:r>
              <a:rPr lang="en-US" sz="3800" dirty="0" err="1">
                <a:latin typeface="Bahnschrift SemiBold"/>
                <a:ea typeface="+mn-ea"/>
                <a:cs typeface="+mn-cs"/>
              </a:rPr>
              <a:t>rizika</a:t>
            </a:r>
            <a:r>
              <a:rPr lang="en-US" sz="3800" dirty="0">
                <a:latin typeface="Bahnschrift SemiBold"/>
                <a:ea typeface="+mn-ea"/>
                <a:cs typeface="+mn-cs"/>
              </a:rPr>
              <a:t> II.</a:t>
            </a:r>
          </a:p>
        </p:txBody>
      </p:sp>
      <p:sp>
        <p:nvSpPr>
          <p:cNvPr id="3" name="Content Placeholder 2">
            <a:extLst>
              <a:ext uri="{FF2B5EF4-FFF2-40B4-BE49-F238E27FC236}">
                <a16:creationId xmlns:a16="http://schemas.microsoft.com/office/drawing/2014/main" id="{CD3342EE-0175-A11A-03C0-10EEC844862B}"/>
              </a:ext>
            </a:extLst>
          </p:cNvPr>
          <p:cNvSpPr>
            <a:spLocks noGrp="1"/>
          </p:cNvSpPr>
          <p:nvPr>
            <p:ph idx="1"/>
          </p:nvPr>
        </p:nvSpPr>
        <p:spPr/>
        <p:txBody>
          <a:bodyPr>
            <a:noAutofit/>
          </a:bodyPr>
          <a:lstStyle/>
          <a:p>
            <a:pPr marL="0" indent="0">
              <a:buNone/>
            </a:pPr>
            <a:endParaRPr lang="en-US" sz="2400" dirty="0">
              <a:latin typeface="Montserrat" panose="00000500000000000000" pitchFamily="2" charset="0"/>
            </a:endParaRPr>
          </a:p>
          <a:p>
            <a:pPr marL="0" indent="0">
              <a:buNone/>
            </a:pPr>
            <a:endParaRPr lang="en-US" sz="2400" dirty="0">
              <a:latin typeface="Montserrat" panose="00000500000000000000" pitchFamily="2" charset="0"/>
            </a:endParaRPr>
          </a:p>
        </p:txBody>
      </p:sp>
      <p:sp>
        <p:nvSpPr>
          <p:cNvPr id="5" name="Rectangle 2">
            <a:extLst>
              <a:ext uri="{FF2B5EF4-FFF2-40B4-BE49-F238E27FC236}">
                <a16:creationId xmlns:a16="http://schemas.microsoft.com/office/drawing/2014/main" id="{A179B0E4-B749-A422-4023-DFD9A5648687}"/>
              </a:ext>
            </a:extLst>
          </p:cNvPr>
          <p:cNvSpPr>
            <a:spLocks noChangeArrowheads="1"/>
          </p:cNvSpPr>
          <p:nvPr/>
        </p:nvSpPr>
        <p:spPr bwMode="auto">
          <a:xfrm>
            <a:off x="838200" y="1934312"/>
            <a:ext cx="10400269" cy="4277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5"/>
              <a:tabLst/>
            </a:pPr>
            <a:r>
              <a:rPr lang="en-US" altLang="en-US" sz="2300" b="1" dirty="0" err="1">
                <a:solidFill>
                  <a:srgbClr val="0ADBBC"/>
                </a:solidFill>
                <a:latin typeface="Bahnschrift SemiLight" panose="020B0502040204020203" pitchFamily="34" charset="0"/>
              </a:rPr>
              <a:t>Ocjena</a:t>
            </a:r>
            <a:r>
              <a:rPr lang="en-US" altLang="en-US" sz="2300" b="1" dirty="0">
                <a:solidFill>
                  <a:srgbClr val="0ADBBC"/>
                </a:solidFill>
                <a:latin typeface="Bahnschrift SemiLight" panose="020B0502040204020203" pitchFamily="34" charset="0"/>
              </a:rPr>
              <a:t> </a:t>
            </a:r>
            <a:r>
              <a:rPr lang="en-US" altLang="en-US" sz="2300" b="1" dirty="0" err="1">
                <a:solidFill>
                  <a:srgbClr val="0ADBBC"/>
                </a:solidFill>
                <a:latin typeface="Bahnschrift SemiLight" panose="020B0502040204020203" pitchFamily="34" charset="0"/>
              </a:rPr>
              <a:t>rizika</a:t>
            </a:r>
            <a:r>
              <a:rPr lang="en-US" altLang="en-US" sz="2300" b="1" dirty="0">
                <a:solidFill>
                  <a:srgbClr val="0ADBBC"/>
                </a:solidFill>
                <a:latin typeface="Bahnschrift SemiLight" panose="020B0502040204020203" pitchFamily="34" charset="0"/>
              </a:rPr>
              <a:t> (L × I) </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Numerička</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ili</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kategorijska</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procjena</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ozbiljnosti</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rizika</a:t>
            </a:r>
            <a:r>
              <a:rPr lang="en-US" altLang="en-US" sz="2300" dirty="0">
                <a:latin typeface="Bahnschrift SemiLight" panose="020B0502040204020203" pitchFamily="34" charset="0"/>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5"/>
              <a:tabLst/>
            </a:pPr>
            <a:r>
              <a:rPr lang="en-US" altLang="en-US" sz="2300" b="1" dirty="0" err="1">
                <a:solidFill>
                  <a:srgbClr val="0ADBBC"/>
                </a:solidFill>
                <a:latin typeface="Bahnschrift SemiLight" panose="020B0502040204020203" pitchFamily="34" charset="0"/>
              </a:rPr>
              <a:t>Vlasnik</a:t>
            </a:r>
            <a:r>
              <a:rPr lang="en-US" altLang="en-US" sz="2300" b="1" dirty="0">
                <a:solidFill>
                  <a:srgbClr val="0ADBBC"/>
                </a:solidFill>
                <a:latin typeface="Bahnschrift SemiLight" panose="020B0502040204020203" pitchFamily="34" charset="0"/>
              </a:rPr>
              <a:t> </a:t>
            </a:r>
            <a:r>
              <a:rPr lang="en-US" altLang="en-US" sz="2300" b="1" dirty="0" err="1">
                <a:solidFill>
                  <a:srgbClr val="0ADBBC"/>
                </a:solidFill>
                <a:latin typeface="Bahnschrift SemiLight" panose="020B0502040204020203" pitchFamily="34" charset="0"/>
              </a:rPr>
              <a:t>rizika</a:t>
            </a:r>
            <a:r>
              <a:rPr lang="en-US" altLang="en-US" sz="2300" b="1" dirty="0">
                <a:solidFill>
                  <a:srgbClr val="0ADBBC"/>
                </a:solidFill>
                <a:latin typeface="Bahnschrift SemiLight" panose="020B0502040204020203" pitchFamily="34" charset="0"/>
              </a:rPr>
              <a:t> </a:t>
            </a:r>
            <a:r>
              <a:rPr lang="en-US" altLang="en-US" sz="2300" dirty="0">
                <a:latin typeface="Bahnschrift SemiLight" panose="020B0502040204020203" pitchFamily="34" charset="0"/>
              </a:rPr>
              <a:t>– Osoba </a:t>
            </a:r>
            <a:r>
              <a:rPr lang="en-US" altLang="en-US" sz="2300" dirty="0" err="1">
                <a:latin typeface="Bahnschrift SemiLight" panose="020B0502040204020203" pitchFamily="34" charset="0"/>
              </a:rPr>
              <a:t>ili</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tim</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odgovoran</a:t>
            </a:r>
            <a:r>
              <a:rPr lang="en-US" altLang="en-US" sz="2300" dirty="0">
                <a:latin typeface="Bahnschrift SemiLight" panose="020B0502040204020203" pitchFamily="34" charset="0"/>
              </a:rPr>
              <a:t> za </a:t>
            </a:r>
            <a:r>
              <a:rPr lang="en-US" altLang="en-US" sz="2300" dirty="0" err="1">
                <a:latin typeface="Bahnschrift SemiLight" panose="020B0502040204020203" pitchFamily="34" charset="0"/>
              </a:rPr>
              <a:t>praćenje</a:t>
            </a:r>
            <a:r>
              <a:rPr lang="en-US" altLang="en-US" sz="2300" dirty="0">
                <a:latin typeface="Bahnschrift SemiLight" panose="020B0502040204020203" pitchFamily="34" charset="0"/>
              </a:rPr>
              <a:t> i </a:t>
            </a:r>
            <a:r>
              <a:rPr lang="en-US" altLang="en-US" sz="2300" dirty="0" err="1">
                <a:latin typeface="Bahnschrift SemiLight" panose="020B0502040204020203" pitchFamily="34" charset="0"/>
              </a:rPr>
              <a:t>upravljanje</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rizikom</a:t>
            </a:r>
            <a:r>
              <a:rPr lang="en-US" altLang="en-US" sz="2300" dirty="0">
                <a:latin typeface="Bahnschrift SemiLight" panose="020B0502040204020203" pitchFamily="34" charset="0"/>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5"/>
              <a:tabLst/>
            </a:pPr>
            <a:r>
              <a:rPr lang="en-US" altLang="en-US" sz="2300" b="1" dirty="0" err="1">
                <a:solidFill>
                  <a:srgbClr val="0ADBBC"/>
                </a:solidFill>
                <a:latin typeface="Bahnschrift SemiLight" panose="020B0502040204020203" pitchFamily="34" charset="0"/>
              </a:rPr>
              <a:t>Strategija</a:t>
            </a:r>
            <a:r>
              <a:rPr lang="en-US" altLang="en-US" sz="2300" b="1" dirty="0">
                <a:solidFill>
                  <a:srgbClr val="0ADBBC"/>
                </a:solidFill>
                <a:latin typeface="Bahnschrift SemiLight" panose="020B0502040204020203" pitchFamily="34" charset="0"/>
              </a:rPr>
              <a:t> </a:t>
            </a:r>
            <a:r>
              <a:rPr lang="en-US" altLang="en-US" sz="2300" b="1" dirty="0" err="1">
                <a:solidFill>
                  <a:srgbClr val="0ADBBC"/>
                </a:solidFill>
                <a:latin typeface="Bahnschrift SemiLight" panose="020B0502040204020203" pitchFamily="34" charset="0"/>
              </a:rPr>
              <a:t>ublažavanja</a:t>
            </a:r>
            <a:r>
              <a:rPr lang="en-US" altLang="en-US" sz="2300" dirty="0">
                <a:latin typeface="Bahnschrift SemiLight" panose="020B0502040204020203" pitchFamily="34" charset="0"/>
              </a:rPr>
              <a:t> – </a:t>
            </a:r>
            <a:r>
              <a:rPr lang="en-US" altLang="en-US" sz="2300" dirty="0" err="1">
                <a:latin typeface="Bahnschrift SemiLight" panose="020B0502040204020203" pitchFamily="34" charset="0"/>
              </a:rPr>
              <a:t>Preventivne</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mjere</a:t>
            </a:r>
            <a:r>
              <a:rPr lang="en-US" altLang="en-US" sz="2300" dirty="0">
                <a:latin typeface="Bahnschrift SemiLight" panose="020B0502040204020203" pitchFamily="34" charset="0"/>
              </a:rPr>
              <a:t> za </a:t>
            </a:r>
            <a:r>
              <a:rPr lang="en-US" altLang="en-US" sz="2300" dirty="0" err="1">
                <a:latin typeface="Bahnschrift SemiLight" panose="020B0502040204020203" pitchFamily="34" charset="0"/>
              </a:rPr>
              <a:t>smanjenje</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vjerojatnosti</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ili</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utjecaja</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rizika</a:t>
            </a:r>
            <a:r>
              <a:rPr lang="en-US" altLang="en-US" sz="2300" dirty="0">
                <a:latin typeface="Bahnschrift SemiLight" panose="020B0502040204020203" pitchFamily="34" charset="0"/>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5"/>
              <a:tabLst/>
            </a:pPr>
            <a:r>
              <a:rPr lang="en-US" altLang="en-US" sz="2300" b="1" dirty="0">
                <a:solidFill>
                  <a:srgbClr val="0ADBBC"/>
                </a:solidFill>
                <a:latin typeface="Bahnschrift SemiLight" panose="020B0502040204020203" pitchFamily="34" charset="0"/>
              </a:rPr>
              <a:t>Plan </a:t>
            </a:r>
            <a:r>
              <a:rPr lang="en-US" altLang="en-US" sz="2300" b="1" dirty="0" err="1">
                <a:solidFill>
                  <a:srgbClr val="0ADBBC"/>
                </a:solidFill>
                <a:latin typeface="Bahnschrift SemiLight" panose="020B0502040204020203" pitchFamily="34" charset="0"/>
              </a:rPr>
              <a:t>nepredviđenih</a:t>
            </a:r>
            <a:r>
              <a:rPr lang="en-US" altLang="en-US" sz="2300" b="1" dirty="0">
                <a:solidFill>
                  <a:srgbClr val="0ADBBC"/>
                </a:solidFill>
                <a:latin typeface="Bahnschrift SemiLight" panose="020B0502040204020203" pitchFamily="34" charset="0"/>
              </a:rPr>
              <a:t> </a:t>
            </a:r>
            <a:r>
              <a:rPr lang="en-US" altLang="en-US" sz="2300" b="1" dirty="0" err="1">
                <a:solidFill>
                  <a:srgbClr val="0ADBBC"/>
                </a:solidFill>
                <a:latin typeface="Bahnschrift SemiLight" panose="020B0502040204020203" pitchFamily="34" charset="0"/>
              </a:rPr>
              <a:t>situacija</a:t>
            </a:r>
            <a:r>
              <a:rPr lang="en-US" altLang="en-US" sz="2300" b="1" dirty="0">
                <a:solidFill>
                  <a:srgbClr val="0ADBBC"/>
                </a:solidFill>
                <a:latin typeface="Bahnschrift SemiLight" panose="020B0502040204020203" pitchFamily="34" charset="0"/>
              </a:rPr>
              <a:t> </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Alternativne</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radnje</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koje</a:t>
            </a:r>
            <a:r>
              <a:rPr lang="en-US" altLang="en-US" sz="2300" dirty="0">
                <a:latin typeface="Bahnschrift SemiLight" panose="020B0502040204020203" pitchFamily="34" charset="0"/>
              </a:rPr>
              <a:t> se </a:t>
            </a:r>
            <a:r>
              <a:rPr lang="en-US" altLang="en-US" sz="2300" dirty="0" err="1">
                <a:latin typeface="Bahnschrift SemiLight" panose="020B0502040204020203" pitchFamily="34" charset="0"/>
              </a:rPr>
              <a:t>poduzimaju</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ako</a:t>
            </a:r>
            <a:r>
              <a:rPr lang="en-US" altLang="en-US" sz="2300" dirty="0">
                <a:latin typeface="Bahnschrift SemiLight" panose="020B0502040204020203" pitchFamily="34" charset="0"/>
              </a:rPr>
              <a:t> se </a:t>
            </a:r>
            <a:r>
              <a:rPr lang="en-US" altLang="en-US" sz="2300" dirty="0" err="1">
                <a:latin typeface="Bahnschrift SemiLight" panose="020B0502040204020203" pitchFamily="34" charset="0"/>
              </a:rPr>
              <a:t>rizik</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ostvari</a:t>
            </a:r>
            <a:r>
              <a:rPr lang="en-US" altLang="en-US" sz="2300" dirty="0">
                <a:latin typeface="Bahnschrift SemiLight" panose="020B0502040204020203" pitchFamily="34" charset="0"/>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5"/>
              <a:tabLst/>
            </a:pPr>
            <a:r>
              <a:rPr lang="en-US" altLang="en-US" sz="2300" b="1" dirty="0">
                <a:solidFill>
                  <a:srgbClr val="0ADBBC"/>
                </a:solidFill>
                <a:latin typeface="Bahnschrift SemiLight" panose="020B0502040204020203" pitchFamily="34" charset="0"/>
              </a:rPr>
              <a:t>Status </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Trenutno</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stanje</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rizika</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npr</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otvoren</a:t>
            </a:r>
            <a:r>
              <a:rPr lang="en-US" altLang="en-US" sz="2300" dirty="0">
                <a:latin typeface="Bahnschrift SemiLight" panose="020B0502040204020203" pitchFamily="34" charset="0"/>
              </a:rPr>
              <a:t>, u </a:t>
            </a:r>
            <a:r>
              <a:rPr lang="en-US" altLang="en-US" sz="2300" dirty="0" err="1">
                <a:latin typeface="Bahnschrift SemiLight" panose="020B0502040204020203" pitchFamily="34" charset="0"/>
              </a:rPr>
              <a:t>tijeku</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ublažen</a:t>
            </a:r>
            <a:r>
              <a:rPr lang="en-US" altLang="en-US" sz="2300" dirty="0">
                <a:latin typeface="Bahnschrift SemiLight" panose="020B0502040204020203" pitchFamily="34" charset="0"/>
              </a:rPr>
              <a:t>, </a:t>
            </a:r>
            <a:r>
              <a:rPr lang="en-US" altLang="en-US" sz="2300" dirty="0" err="1">
                <a:latin typeface="Bahnschrift SemiLight" panose="020B0502040204020203" pitchFamily="34" charset="0"/>
              </a:rPr>
              <a:t>zatvoren</a:t>
            </a:r>
            <a:r>
              <a:rPr lang="en-US" altLang="en-US" sz="2300" dirty="0">
                <a:latin typeface="Bahnschrift SemiLight" panose="020B0502040204020203" pitchFamily="34" charset="0"/>
              </a:rPr>
              <a:t>).</a:t>
            </a:r>
          </a:p>
        </p:txBody>
      </p:sp>
    </p:spTree>
    <p:extLst>
      <p:ext uri="{BB962C8B-B14F-4D97-AF65-F5344CB8AC3E}">
        <p14:creationId xmlns:p14="http://schemas.microsoft.com/office/powerpoint/2010/main" val="13387728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970B1-7740-1EC6-B44A-C54B466E8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9EA0B-49F4-A2DE-1169-92D15E990D07}"/>
              </a:ext>
            </a:extLst>
          </p:cNvPr>
          <p:cNvSpPr>
            <a:spLocks noGrp="1"/>
          </p:cNvSpPr>
          <p:nvPr>
            <p:ph type="title"/>
          </p:nvPr>
        </p:nvSpPr>
        <p:spPr>
          <a:xfrm>
            <a:off x="979715" y="615988"/>
            <a:ext cx="10515600" cy="1325563"/>
          </a:xfrm>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lang="pl-PL" b="1" dirty="0"/>
              <a:t>Studija slučaja – Infobip: alat za uvoz podataka (Data Import Tool)</a:t>
            </a:r>
            <a:br>
              <a:rPr lang="ro-RO" dirty="0"/>
            </a:br>
            <a:br>
              <a:rPr lang="en-US" kern="100" dirty="0">
                <a:latin typeface="Bahnschrift SemiLight" panose="020B0502040204020203" pitchFamily="34" charset="0"/>
                <a:ea typeface="Aptos" panose="020B0004020202020204" pitchFamily="34" charset="0"/>
                <a:cs typeface="Arial" panose="020B0604020202020204" pitchFamily="34" charset="0"/>
              </a:rPr>
            </a:br>
            <a:br>
              <a:rPr kumimoji="0" lang="en-US" altLang="en-US" b="0" i="0" u="none" strike="noStrike" cap="none" normalizeH="0" baseline="0" dirty="0">
                <a:ln>
                  <a:noFill/>
                </a:ln>
                <a:solidFill>
                  <a:schemeClr val="tx1"/>
                </a:solidFill>
                <a:effectLst/>
                <a:latin typeface="Bahnschrift SemiLight" panose="020B0502040204020203" pitchFamily="34" charset="0"/>
              </a:rPr>
            </a:br>
            <a:endParaRPr lang="en-US" dirty="0">
              <a:latin typeface="Bahnschrift SemiLight" panose="020B0502040204020203" pitchFamily="34" charset="0"/>
            </a:endParaRPr>
          </a:p>
        </p:txBody>
      </p:sp>
      <p:sp>
        <p:nvSpPr>
          <p:cNvPr id="4" name="Rezervirano mjesto sadržaja 2">
            <a:extLst>
              <a:ext uri="{FF2B5EF4-FFF2-40B4-BE49-F238E27FC236}">
                <a16:creationId xmlns:a16="http://schemas.microsoft.com/office/drawing/2014/main" id="{84F3F576-644F-537C-0A13-15D0BAC5F432}"/>
              </a:ext>
            </a:extLst>
          </p:cNvPr>
          <p:cNvSpPr>
            <a:spLocks noGrp="1"/>
          </p:cNvSpPr>
          <p:nvPr/>
        </p:nvSpPr>
        <p:spPr>
          <a:xfrm>
            <a:off x="485078" y="2503991"/>
            <a:ext cx="10515600" cy="37380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hr-HR" dirty="0"/>
          </a:p>
        </p:txBody>
      </p:sp>
      <p:sp>
        <p:nvSpPr>
          <p:cNvPr id="6" name="CasetăText 5">
            <a:extLst>
              <a:ext uri="{FF2B5EF4-FFF2-40B4-BE49-F238E27FC236}">
                <a16:creationId xmlns:a16="http://schemas.microsoft.com/office/drawing/2014/main" id="{58B1AA55-6778-6B7C-DDC9-B405E1C17BDB}"/>
              </a:ext>
            </a:extLst>
          </p:cNvPr>
          <p:cNvSpPr txBox="1"/>
          <p:nvPr/>
        </p:nvSpPr>
        <p:spPr>
          <a:xfrm>
            <a:off x="485078" y="1801617"/>
            <a:ext cx="10384971" cy="4893647"/>
          </a:xfrm>
          <a:prstGeom prst="rect">
            <a:avLst/>
          </a:prstGeom>
          <a:noFill/>
        </p:spPr>
        <p:txBody>
          <a:bodyPr wrap="square" rtlCol="0">
            <a:spAutoFit/>
          </a:bodyPr>
          <a:lstStyle/>
          <a:p>
            <a:r>
              <a:rPr lang="en-US" sz="2400" b="1" dirty="0">
                <a:solidFill>
                  <a:srgbClr val="0ADBBC"/>
                </a:solidFill>
                <a:latin typeface="Bahnschrift SemiLight" panose="020B0502040204020203" pitchFamily="34" charset="0"/>
              </a:rPr>
              <a:t>Problem</a:t>
            </a:r>
          </a:p>
          <a:p>
            <a:r>
              <a:rPr lang="en-US" sz="2400" dirty="0">
                <a:latin typeface="Bahnschrift SemiLight" panose="020B0502040204020203" pitchFamily="34" charset="0"/>
              </a:rPr>
              <a:t>– </a:t>
            </a:r>
            <a:r>
              <a:rPr lang="en-US" sz="2400" dirty="0" err="1">
                <a:latin typeface="Bahnschrift SemiLight" panose="020B0502040204020203" pitchFamily="34" charset="0"/>
              </a:rPr>
              <a:t>Programeri</a:t>
            </a:r>
            <a:r>
              <a:rPr lang="en-US" sz="2400" dirty="0">
                <a:latin typeface="Bahnschrift SemiLight" panose="020B0502040204020203" pitchFamily="34" charset="0"/>
              </a:rPr>
              <a:t> </a:t>
            </a:r>
            <a:r>
              <a:rPr lang="en-US" sz="2400" dirty="0" err="1">
                <a:latin typeface="Bahnschrift SemiLight" panose="020B0502040204020203" pitchFamily="34" charset="0"/>
              </a:rPr>
              <a:t>su</a:t>
            </a:r>
            <a:r>
              <a:rPr lang="en-US" sz="2400" dirty="0">
                <a:latin typeface="Bahnschrift SemiLight" panose="020B0502040204020203" pitchFamily="34" charset="0"/>
              </a:rPr>
              <a:t> </a:t>
            </a:r>
            <a:r>
              <a:rPr lang="en-US" sz="2400" dirty="0" err="1">
                <a:latin typeface="Bahnschrift SemiLight" panose="020B0502040204020203" pitchFamily="34" charset="0"/>
              </a:rPr>
              <a:t>često</a:t>
            </a:r>
            <a:r>
              <a:rPr lang="en-US" sz="2400" dirty="0">
                <a:latin typeface="Bahnschrift SemiLight" panose="020B0502040204020203" pitchFamily="34" charset="0"/>
              </a:rPr>
              <a:t> </a:t>
            </a:r>
            <a:r>
              <a:rPr lang="en-US" sz="2400" dirty="0" err="1">
                <a:latin typeface="Bahnschrift SemiLight" panose="020B0502040204020203" pitchFamily="34" charset="0"/>
              </a:rPr>
              <a:t>ručno</a:t>
            </a:r>
            <a:r>
              <a:rPr lang="en-US" sz="2400" dirty="0">
                <a:latin typeface="Bahnschrift SemiLight" panose="020B0502040204020203" pitchFamily="34" charset="0"/>
              </a:rPr>
              <a:t> </a:t>
            </a:r>
            <a:r>
              <a:rPr lang="en-US" sz="2400" dirty="0" err="1">
                <a:latin typeface="Bahnschrift SemiLight" panose="020B0502040204020203" pitchFamily="34" charset="0"/>
              </a:rPr>
              <a:t>obrađivali</a:t>
            </a:r>
            <a:r>
              <a:rPr lang="en-US" sz="2400" dirty="0">
                <a:latin typeface="Bahnschrift SemiLight" panose="020B0502040204020203" pitchFamily="34" charset="0"/>
              </a:rPr>
              <a:t> </a:t>
            </a:r>
            <a:r>
              <a:rPr lang="en-US" sz="2400" dirty="0" err="1">
                <a:latin typeface="Bahnschrift SemiLight" panose="020B0502040204020203" pitchFamily="34" charset="0"/>
              </a:rPr>
              <a:t>uvoz</a:t>
            </a:r>
            <a:r>
              <a:rPr lang="en-US" sz="2400" dirty="0">
                <a:latin typeface="Bahnschrift SemiLight" panose="020B0502040204020203" pitchFamily="34" charset="0"/>
              </a:rPr>
              <a:t> </a:t>
            </a:r>
            <a:r>
              <a:rPr lang="en-US" sz="2400" dirty="0" err="1">
                <a:latin typeface="Bahnschrift SemiLight" panose="020B0502040204020203" pitchFamily="34" charset="0"/>
              </a:rPr>
              <a:t>podataka</a:t>
            </a:r>
            <a:r>
              <a:rPr lang="en-US" sz="2400" dirty="0">
                <a:latin typeface="Bahnschrift SemiLight" panose="020B0502040204020203" pitchFamily="34" charset="0"/>
              </a:rPr>
              <a:t> za interne </a:t>
            </a:r>
            <a:r>
              <a:rPr lang="en-US" sz="2400" dirty="0" err="1">
                <a:latin typeface="Bahnschrift SemiLight" panose="020B0502040204020203" pitchFamily="34" charset="0"/>
              </a:rPr>
              <a:t>korisnike</a:t>
            </a:r>
            <a:r>
              <a:rPr lang="en-US" sz="2400" dirty="0">
                <a:latin typeface="Bahnschrift SemiLight" panose="020B0502040204020203" pitchFamily="34" charset="0"/>
              </a:rPr>
              <a:t>.</a:t>
            </a:r>
          </a:p>
          <a:p>
            <a:r>
              <a:rPr lang="en-US" sz="2400" dirty="0">
                <a:latin typeface="Bahnschrift SemiLight" panose="020B0502040204020203" pitchFamily="34" charset="0"/>
              </a:rPr>
              <a:t>– </a:t>
            </a:r>
            <a:r>
              <a:rPr lang="en-US" sz="2400" dirty="0" err="1">
                <a:latin typeface="Bahnschrift SemiLight" panose="020B0502040204020203" pitchFamily="34" charset="0"/>
              </a:rPr>
              <a:t>Podaci</a:t>
            </a:r>
            <a:r>
              <a:rPr lang="en-US" sz="2400" dirty="0">
                <a:latin typeface="Bahnschrift SemiLight" panose="020B0502040204020203" pitchFamily="34" charset="0"/>
              </a:rPr>
              <a:t> </a:t>
            </a:r>
            <a:r>
              <a:rPr lang="en-US" sz="2400" dirty="0" err="1">
                <a:latin typeface="Bahnschrift SemiLight" panose="020B0502040204020203" pitchFamily="34" charset="0"/>
              </a:rPr>
              <a:t>su</a:t>
            </a:r>
            <a:r>
              <a:rPr lang="en-US" sz="2400" dirty="0">
                <a:latin typeface="Bahnschrift SemiLight" panose="020B0502040204020203" pitchFamily="34" charset="0"/>
              </a:rPr>
              <a:t> </a:t>
            </a:r>
            <a:r>
              <a:rPr lang="en-US" sz="2400" dirty="0" err="1">
                <a:latin typeface="Bahnschrift SemiLight" panose="020B0502040204020203" pitchFamily="34" charset="0"/>
              </a:rPr>
              <a:t>dolazili</a:t>
            </a:r>
            <a:r>
              <a:rPr lang="en-US" sz="2400" dirty="0">
                <a:latin typeface="Bahnschrift SemiLight" panose="020B0502040204020203" pitchFamily="34" charset="0"/>
              </a:rPr>
              <a:t> u </a:t>
            </a:r>
            <a:r>
              <a:rPr lang="en-US" sz="2400" dirty="0" err="1">
                <a:latin typeface="Bahnschrift SemiLight" panose="020B0502040204020203" pitchFamily="34" charset="0"/>
              </a:rPr>
              <a:t>različitim</a:t>
            </a:r>
            <a:r>
              <a:rPr lang="en-US" sz="2400" dirty="0">
                <a:latin typeface="Bahnschrift SemiLight" panose="020B0502040204020203" pitchFamily="34" charset="0"/>
              </a:rPr>
              <a:t> </a:t>
            </a:r>
            <a:r>
              <a:rPr lang="en-US" sz="2400" dirty="0" err="1">
                <a:latin typeface="Bahnschrift SemiLight" panose="020B0502040204020203" pitchFamily="34" charset="0"/>
              </a:rPr>
              <a:t>formatima</a:t>
            </a:r>
            <a:r>
              <a:rPr lang="en-US" sz="2400" dirty="0">
                <a:latin typeface="Bahnschrift SemiLight" panose="020B0502040204020203" pitchFamily="34" charset="0"/>
              </a:rPr>
              <a:t> i </a:t>
            </a:r>
            <a:r>
              <a:rPr lang="en-US" sz="2400" dirty="0" err="1">
                <a:latin typeface="Bahnschrift SemiLight" panose="020B0502040204020203" pitchFamily="34" charset="0"/>
              </a:rPr>
              <a:t>zahtijevali</a:t>
            </a:r>
            <a:r>
              <a:rPr lang="en-US" sz="2400" dirty="0">
                <a:latin typeface="Bahnschrift SemiLight" panose="020B0502040204020203" pitchFamily="34" charset="0"/>
              </a:rPr>
              <a:t> </a:t>
            </a:r>
            <a:r>
              <a:rPr lang="en-US" sz="2400" dirty="0" err="1">
                <a:latin typeface="Bahnschrift SemiLight" panose="020B0502040204020203" pitchFamily="34" charset="0"/>
              </a:rPr>
              <a:t>ručne</a:t>
            </a:r>
            <a:r>
              <a:rPr lang="en-US" sz="2400" dirty="0">
                <a:latin typeface="Bahnschrift SemiLight" panose="020B0502040204020203" pitchFamily="34" charset="0"/>
              </a:rPr>
              <a:t> </a:t>
            </a:r>
            <a:r>
              <a:rPr lang="en-US" sz="2400" dirty="0" err="1">
                <a:latin typeface="Bahnschrift SemiLight" panose="020B0502040204020203" pitchFamily="34" charset="0"/>
              </a:rPr>
              <a:t>upite</a:t>
            </a:r>
            <a:r>
              <a:rPr lang="en-US" sz="2400" dirty="0">
                <a:latin typeface="Bahnschrift SemiLight" panose="020B0502040204020203" pitchFamily="34" charset="0"/>
              </a:rPr>
              <a:t> </a:t>
            </a:r>
            <a:r>
              <a:rPr lang="en-US" sz="2400" dirty="0" err="1">
                <a:latin typeface="Bahnschrift SemiLight" panose="020B0502040204020203" pitchFamily="34" charset="0"/>
              </a:rPr>
              <a:t>nad</a:t>
            </a:r>
            <a:r>
              <a:rPr lang="en-US" sz="2400" dirty="0">
                <a:latin typeface="Bahnschrift SemiLight" panose="020B0502040204020203" pitchFamily="34" charset="0"/>
              </a:rPr>
              <a:t> </a:t>
            </a:r>
            <a:r>
              <a:rPr lang="en-US" sz="2400" dirty="0" err="1">
                <a:latin typeface="Bahnschrift SemiLight" panose="020B0502040204020203" pitchFamily="34" charset="0"/>
              </a:rPr>
              <a:t>bazom</a:t>
            </a:r>
            <a:r>
              <a:rPr lang="en-US" sz="2400" dirty="0">
                <a:latin typeface="Bahnschrift SemiLight" panose="020B0502040204020203" pitchFamily="34" charset="0"/>
              </a:rPr>
              <a:t> </a:t>
            </a:r>
            <a:r>
              <a:rPr lang="en-US" sz="2400" dirty="0" err="1">
                <a:latin typeface="Bahnschrift SemiLight" panose="020B0502040204020203" pitchFamily="34" charset="0"/>
              </a:rPr>
              <a:t>podataka</a:t>
            </a:r>
            <a:r>
              <a:rPr lang="en-US" sz="2400" dirty="0">
                <a:latin typeface="Bahnschrift SemiLight" panose="020B0502040204020203" pitchFamily="34" charset="0"/>
              </a:rPr>
              <a:t>, </a:t>
            </a:r>
            <a:r>
              <a:rPr lang="en-US" sz="2400" dirty="0" err="1">
                <a:latin typeface="Bahnschrift SemiLight" panose="020B0502040204020203" pitchFamily="34" charset="0"/>
              </a:rPr>
              <a:t>što</a:t>
            </a:r>
            <a:r>
              <a:rPr lang="en-US" sz="2400" dirty="0">
                <a:latin typeface="Bahnschrift SemiLight" panose="020B0502040204020203" pitchFamily="34" charset="0"/>
              </a:rPr>
              <a:t> je </a:t>
            </a:r>
            <a:r>
              <a:rPr lang="en-US" sz="2400" dirty="0" err="1">
                <a:latin typeface="Bahnschrift SemiLight" panose="020B0502040204020203" pitchFamily="34" charset="0"/>
              </a:rPr>
              <a:t>stvaralo</a:t>
            </a:r>
            <a:r>
              <a:rPr lang="en-US" sz="2400" dirty="0">
                <a:latin typeface="Bahnschrift SemiLight" panose="020B0502040204020203" pitchFamily="34" charset="0"/>
              </a:rPr>
              <a:t> </a:t>
            </a:r>
            <a:r>
              <a:rPr lang="en-US" sz="2400" dirty="0" err="1">
                <a:latin typeface="Bahnschrift SemiLight" panose="020B0502040204020203" pitchFamily="34" charset="0"/>
              </a:rPr>
              <a:t>rizik</a:t>
            </a:r>
            <a:r>
              <a:rPr lang="en-US" sz="2400" dirty="0">
                <a:latin typeface="Bahnschrift SemiLight" panose="020B0502040204020203" pitchFamily="34" charset="0"/>
              </a:rPr>
              <a:t> od </a:t>
            </a:r>
            <a:r>
              <a:rPr lang="en-US" sz="2400" dirty="0" err="1">
                <a:latin typeface="Bahnschrift SemiLight" panose="020B0502040204020203" pitchFamily="34" charset="0"/>
              </a:rPr>
              <a:t>pogrešaka</a:t>
            </a:r>
            <a:r>
              <a:rPr lang="en-US" sz="2400" dirty="0">
                <a:latin typeface="Bahnschrift SemiLight" panose="020B0502040204020203" pitchFamily="34" charset="0"/>
              </a:rPr>
              <a:t>.</a:t>
            </a:r>
          </a:p>
          <a:p>
            <a:endParaRPr lang="en-US" sz="2400" b="1" dirty="0">
              <a:solidFill>
                <a:srgbClr val="0ADBBC"/>
              </a:solidFill>
              <a:latin typeface="Bahnschrift SemiLight" panose="020B0502040204020203" pitchFamily="34" charset="0"/>
            </a:endParaRPr>
          </a:p>
          <a:p>
            <a:r>
              <a:rPr lang="en-US" sz="2400" b="1" dirty="0" err="1">
                <a:solidFill>
                  <a:srgbClr val="0ADBBC"/>
                </a:solidFill>
                <a:latin typeface="Bahnschrift SemiLight" panose="020B0502040204020203" pitchFamily="34" charset="0"/>
              </a:rPr>
              <a:t>Cilj</a:t>
            </a:r>
            <a:r>
              <a:rPr lang="en-US" sz="2400" b="1" dirty="0">
                <a:solidFill>
                  <a:srgbClr val="0ADBBC"/>
                </a:solidFill>
                <a:latin typeface="Bahnschrift SemiLight" panose="020B0502040204020203" pitchFamily="34" charset="0"/>
              </a:rPr>
              <a:t> </a:t>
            </a:r>
            <a:r>
              <a:rPr lang="en-US" sz="2400" b="1" dirty="0" err="1">
                <a:solidFill>
                  <a:srgbClr val="0ADBBC"/>
                </a:solidFill>
                <a:latin typeface="Bahnschrift SemiLight" panose="020B0502040204020203" pitchFamily="34" charset="0"/>
              </a:rPr>
              <a:t>projekta</a:t>
            </a:r>
            <a:endParaRPr lang="en-US" sz="2400" b="1" dirty="0">
              <a:solidFill>
                <a:srgbClr val="0ADBBC"/>
              </a:solidFill>
              <a:latin typeface="Bahnschrift SemiLight" panose="020B0502040204020203" pitchFamily="34" charset="0"/>
            </a:endParaRPr>
          </a:p>
          <a:p>
            <a:r>
              <a:rPr lang="en-US" sz="2400" dirty="0">
                <a:latin typeface="Bahnschrift SemiLight" panose="020B0502040204020203" pitchFamily="34" charset="0"/>
              </a:rPr>
              <a:t>– </a:t>
            </a:r>
            <a:r>
              <a:rPr lang="en-US" sz="2400" dirty="0" err="1">
                <a:latin typeface="Bahnschrift SemiLight" panose="020B0502040204020203" pitchFamily="34" charset="0"/>
              </a:rPr>
              <a:t>Razviti</a:t>
            </a:r>
            <a:r>
              <a:rPr lang="en-US" sz="2400" dirty="0">
                <a:latin typeface="Bahnschrift SemiLight" panose="020B0502040204020203" pitchFamily="34" charset="0"/>
              </a:rPr>
              <a:t> </a:t>
            </a:r>
            <a:r>
              <a:rPr lang="en-US" sz="2400" dirty="0" err="1">
                <a:latin typeface="Bahnschrift SemiLight" panose="020B0502040204020203" pitchFamily="34" charset="0"/>
              </a:rPr>
              <a:t>alat</a:t>
            </a:r>
            <a:r>
              <a:rPr lang="en-US" sz="2400" dirty="0">
                <a:latin typeface="Bahnschrift SemiLight" panose="020B0502040204020203" pitchFamily="34" charset="0"/>
              </a:rPr>
              <a:t> za </a:t>
            </a:r>
            <a:r>
              <a:rPr lang="en-US" sz="2400" b="1" dirty="0" err="1">
                <a:latin typeface="Bahnschrift SemiLight" panose="020B0502040204020203" pitchFamily="34" charset="0"/>
              </a:rPr>
              <a:t>samostalni</a:t>
            </a:r>
            <a:r>
              <a:rPr lang="en-US" sz="2400" b="1" dirty="0">
                <a:latin typeface="Bahnschrift SemiLight" panose="020B0502040204020203" pitchFamily="34" charset="0"/>
              </a:rPr>
              <a:t> </a:t>
            </a:r>
            <a:r>
              <a:rPr lang="en-US" sz="2400" b="1" dirty="0" err="1">
                <a:latin typeface="Bahnschrift SemiLight" panose="020B0502040204020203" pitchFamily="34" charset="0"/>
              </a:rPr>
              <a:t>uvoz</a:t>
            </a:r>
            <a:r>
              <a:rPr lang="en-US" sz="2400" b="1" dirty="0">
                <a:latin typeface="Bahnschrift SemiLight" panose="020B0502040204020203" pitchFamily="34" charset="0"/>
              </a:rPr>
              <a:t> </a:t>
            </a:r>
            <a:r>
              <a:rPr lang="en-US" sz="2400" b="1" dirty="0" err="1">
                <a:latin typeface="Bahnschrift SemiLight" panose="020B0502040204020203" pitchFamily="34" charset="0"/>
              </a:rPr>
              <a:t>podataka</a:t>
            </a:r>
            <a:r>
              <a:rPr lang="en-US" sz="2400" b="1" dirty="0">
                <a:latin typeface="Bahnschrift SemiLight" panose="020B0502040204020203" pitchFamily="34" charset="0"/>
              </a:rPr>
              <a:t> </a:t>
            </a:r>
            <a:r>
              <a:rPr lang="en-US" sz="2400" dirty="0">
                <a:latin typeface="Bahnschrift SemiLight" panose="020B0502040204020203" pitchFamily="34" charset="0"/>
              </a:rPr>
              <a:t>koji </a:t>
            </a:r>
            <a:r>
              <a:rPr lang="en-US" sz="2400" dirty="0" err="1">
                <a:latin typeface="Bahnschrift SemiLight" panose="020B0502040204020203" pitchFamily="34" charset="0"/>
              </a:rPr>
              <a:t>omogućuje</a:t>
            </a:r>
            <a:r>
              <a:rPr lang="en-US" sz="2400" dirty="0">
                <a:latin typeface="Bahnschrift SemiLight" panose="020B0502040204020203" pitchFamily="34" charset="0"/>
              </a:rPr>
              <a:t> </a:t>
            </a:r>
            <a:r>
              <a:rPr lang="en-US" sz="2400" dirty="0" err="1">
                <a:latin typeface="Bahnschrift SemiLight" panose="020B0502040204020203" pitchFamily="34" charset="0"/>
              </a:rPr>
              <a:t>internim</a:t>
            </a:r>
            <a:r>
              <a:rPr lang="en-US" sz="2400" dirty="0">
                <a:latin typeface="Bahnschrift SemiLight" panose="020B0502040204020203" pitchFamily="34" charset="0"/>
              </a:rPr>
              <a:t> </a:t>
            </a:r>
            <a:r>
              <a:rPr lang="en-US" sz="2400" dirty="0" err="1">
                <a:latin typeface="Bahnschrift SemiLight" panose="020B0502040204020203" pitchFamily="34" charset="0"/>
              </a:rPr>
              <a:t>korisnicima</a:t>
            </a:r>
            <a:r>
              <a:rPr lang="en-US" sz="2400" dirty="0">
                <a:latin typeface="Bahnschrift SemiLight" panose="020B0502040204020203" pitchFamily="34" charset="0"/>
              </a:rPr>
              <a:t> </a:t>
            </a:r>
            <a:r>
              <a:rPr lang="en-US" sz="2400" dirty="0" err="1">
                <a:latin typeface="Bahnschrift SemiLight" panose="020B0502040204020203" pitchFamily="34" charset="0"/>
              </a:rPr>
              <a:t>siguran</a:t>
            </a:r>
            <a:r>
              <a:rPr lang="en-US" sz="2400" dirty="0">
                <a:latin typeface="Bahnschrift SemiLight" panose="020B0502040204020203" pitchFamily="34" charset="0"/>
              </a:rPr>
              <a:t> </a:t>
            </a:r>
            <a:r>
              <a:rPr lang="en-US" sz="2400" dirty="0" err="1">
                <a:latin typeface="Bahnschrift SemiLight" panose="020B0502040204020203" pitchFamily="34" charset="0"/>
              </a:rPr>
              <a:t>uvoz</a:t>
            </a:r>
            <a:r>
              <a:rPr lang="en-US" sz="2400" dirty="0">
                <a:latin typeface="Bahnschrift SemiLight" panose="020B0502040204020203" pitchFamily="34" charset="0"/>
              </a:rPr>
              <a:t> </a:t>
            </a:r>
            <a:r>
              <a:rPr lang="en-US" sz="2400" dirty="0" err="1">
                <a:latin typeface="Bahnschrift SemiLight" panose="020B0502040204020203" pitchFamily="34" charset="0"/>
              </a:rPr>
              <a:t>podataka</a:t>
            </a:r>
            <a:r>
              <a:rPr lang="en-US" sz="2400" dirty="0">
                <a:latin typeface="Bahnschrift SemiLight" panose="020B0502040204020203" pitchFamily="34" charset="0"/>
              </a:rPr>
              <a:t> bez </a:t>
            </a:r>
            <a:r>
              <a:rPr lang="en-US" sz="2400" dirty="0" err="1">
                <a:latin typeface="Bahnschrift SemiLight" panose="020B0502040204020203" pitchFamily="34" charset="0"/>
              </a:rPr>
              <a:t>intervencije</a:t>
            </a:r>
            <a:r>
              <a:rPr lang="en-US" sz="2400" dirty="0">
                <a:latin typeface="Bahnschrift SemiLight" panose="020B0502040204020203" pitchFamily="34" charset="0"/>
              </a:rPr>
              <a:t> </a:t>
            </a:r>
            <a:r>
              <a:rPr lang="en-US" sz="2400" dirty="0" err="1">
                <a:latin typeface="Bahnschrift SemiLight" panose="020B0502040204020203" pitchFamily="34" charset="0"/>
              </a:rPr>
              <a:t>programera</a:t>
            </a:r>
            <a:r>
              <a:rPr lang="en-US" sz="2400" dirty="0">
                <a:latin typeface="Bahnschrift SemiLight" panose="020B0502040204020203" pitchFamily="34" charset="0"/>
              </a:rPr>
              <a:t>.</a:t>
            </a:r>
          </a:p>
          <a:p>
            <a:endParaRPr lang="en-US" sz="2400" b="1" dirty="0">
              <a:solidFill>
                <a:srgbClr val="0ADBBC"/>
              </a:solidFill>
              <a:latin typeface="Bahnschrift SemiLight" panose="020B0502040204020203" pitchFamily="34" charset="0"/>
            </a:endParaRPr>
          </a:p>
          <a:p>
            <a:r>
              <a:rPr lang="en-US" sz="2400" b="1" dirty="0" err="1">
                <a:solidFill>
                  <a:srgbClr val="0ADBBC"/>
                </a:solidFill>
                <a:latin typeface="Bahnschrift SemiLight" panose="020B0502040204020203" pitchFamily="34" charset="0"/>
              </a:rPr>
              <a:t>Ključni</a:t>
            </a:r>
            <a:r>
              <a:rPr lang="en-US" sz="2400" b="1" dirty="0">
                <a:solidFill>
                  <a:srgbClr val="0ADBBC"/>
                </a:solidFill>
                <a:latin typeface="Bahnschrift SemiLight" panose="020B0502040204020203" pitchFamily="34" charset="0"/>
              </a:rPr>
              <a:t> </a:t>
            </a:r>
            <a:r>
              <a:rPr lang="en-US" sz="2400" b="1" dirty="0" err="1">
                <a:solidFill>
                  <a:srgbClr val="0ADBBC"/>
                </a:solidFill>
                <a:latin typeface="Bahnschrift SemiLight" panose="020B0502040204020203" pitchFamily="34" charset="0"/>
              </a:rPr>
              <a:t>izazov</a:t>
            </a:r>
            <a:endParaRPr lang="en-US" sz="2400" b="1" dirty="0">
              <a:solidFill>
                <a:srgbClr val="0ADBBC"/>
              </a:solidFill>
              <a:latin typeface="Bahnschrift SemiLight" panose="020B0502040204020203" pitchFamily="34" charset="0"/>
            </a:endParaRPr>
          </a:p>
          <a:p>
            <a:r>
              <a:rPr lang="en-US" sz="2400" dirty="0">
                <a:latin typeface="Bahnschrift SemiLight" panose="020B0502040204020203" pitchFamily="34" charset="0"/>
              </a:rPr>
              <a:t>– </a:t>
            </a:r>
            <a:r>
              <a:rPr lang="en-US" sz="2400" dirty="0" err="1">
                <a:latin typeface="Bahnschrift SemiLight" panose="020B0502040204020203" pitchFamily="34" charset="0"/>
              </a:rPr>
              <a:t>Definirati</a:t>
            </a:r>
            <a:r>
              <a:rPr lang="en-US" sz="2400" dirty="0">
                <a:latin typeface="Bahnschrift SemiLight" panose="020B0502040204020203" pitchFamily="34" charset="0"/>
              </a:rPr>
              <a:t> </a:t>
            </a:r>
            <a:r>
              <a:rPr lang="en-US" sz="2400" b="1" dirty="0" err="1">
                <a:latin typeface="Bahnschrift SemiLight" panose="020B0502040204020203" pitchFamily="34" charset="0"/>
              </a:rPr>
              <a:t>standardni</a:t>
            </a:r>
            <a:r>
              <a:rPr lang="en-US" sz="2400" b="1" dirty="0">
                <a:latin typeface="Bahnschrift SemiLight" panose="020B0502040204020203" pitchFamily="34" charset="0"/>
              </a:rPr>
              <a:t> format </a:t>
            </a:r>
            <a:r>
              <a:rPr lang="en-US" sz="2400" b="1" dirty="0" err="1">
                <a:latin typeface="Bahnschrift SemiLight" panose="020B0502040204020203" pitchFamily="34" charset="0"/>
              </a:rPr>
              <a:t>datoteke</a:t>
            </a:r>
            <a:r>
              <a:rPr lang="en-US" sz="2400" b="1" dirty="0">
                <a:latin typeface="Bahnschrift SemiLight" panose="020B0502040204020203" pitchFamily="34" charset="0"/>
              </a:rPr>
              <a:t> </a:t>
            </a:r>
            <a:r>
              <a:rPr lang="en-US" sz="2400" dirty="0" err="1">
                <a:latin typeface="Bahnschrift SemiLight" panose="020B0502040204020203" pitchFamily="34" charset="0"/>
              </a:rPr>
              <a:t>prikladan</a:t>
            </a:r>
            <a:r>
              <a:rPr lang="en-US" sz="2400" dirty="0">
                <a:latin typeface="Bahnschrift SemiLight" panose="020B0502040204020203" pitchFamily="34" charset="0"/>
              </a:rPr>
              <a:t> za </a:t>
            </a:r>
            <a:r>
              <a:rPr lang="en-US" sz="2400" dirty="0" err="1">
                <a:latin typeface="Bahnschrift SemiLight" panose="020B0502040204020203" pitchFamily="34" charset="0"/>
              </a:rPr>
              <a:t>različite</a:t>
            </a:r>
            <a:r>
              <a:rPr lang="en-US" sz="2400" dirty="0">
                <a:latin typeface="Bahnschrift SemiLight" panose="020B0502040204020203" pitchFamily="34" charset="0"/>
              </a:rPr>
              <a:t> </a:t>
            </a:r>
            <a:r>
              <a:rPr lang="en-US" sz="2400" dirty="0" err="1">
                <a:latin typeface="Bahnschrift SemiLight" panose="020B0502040204020203" pitchFamily="34" charset="0"/>
              </a:rPr>
              <a:t>korisnike</a:t>
            </a:r>
            <a:r>
              <a:rPr lang="en-US" sz="2400" dirty="0">
                <a:latin typeface="Bahnschrift SemiLight" panose="020B0502040204020203" pitchFamily="34" charset="0"/>
              </a:rPr>
              <a:t> i </a:t>
            </a:r>
            <a:r>
              <a:rPr lang="en-US" sz="2400" dirty="0" err="1">
                <a:latin typeface="Bahnschrift SemiLight" panose="020B0502040204020203" pitchFamily="34" charset="0"/>
              </a:rPr>
              <a:t>slučajeve</a:t>
            </a:r>
            <a:r>
              <a:rPr lang="en-US" sz="2400" dirty="0">
                <a:latin typeface="Bahnschrift SemiLight" panose="020B0502040204020203" pitchFamily="34" charset="0"/>
              </a:rPr>
              <a:t> </a:t>
            </a:r>
            <a:r>
              <a:rPr lang="en-US" sz="2400" dirty="0" err="1">
                <a:latin typeface="Bahnschrift SemiLight" panose="020B0502040204020203" pitchFamily="34" charset="0"/>
              </a:rPr>
              <a:t>uporabe</a:t>
            </a:r>
            <a:r>
              <a:rPr lang="en-US" sz="2400" dirty="0">
                <a:latin typeface="Bahnschrift SemiLight" panose="020B0502040204020203" pitchFamily="34" charset="0"/>
              </a:rPr>
              <a:t>.</a:t>
            </a:r>
          </a:p>
        </p:txBody>
      </p:sp>
    </p:spTree>
    <p:extLst>
      <p:ext uri="{BB962C8B-B14F-4D97-AF65-F5344CB8AC3E}">
        <p14:creationId xmlns:p14="http://schemas.microsoft.com/office/powerpoint/2010/main" val="37212460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3E39-2847-1D43-3A7F-7CADA34F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D02E2-CE42-71C2-871B-76155BD2789C}"/>
              </a:ext>
            </a:extLst>
          </p:cNvPr>
          <p:cNvSpPr>
            <a:spLocks noGrp="1"/>
          </p:cNvSpPr>
          <p:nvPr>
            <p:ph type="title"/>
          </p:nvPr>
        </p:nvSpPr>
        <p:spPr/>
        <p:txBody>
          <a:bodyPr>
            <a:noAutofit/>
          </a:bodyPr>
          <a:lstStyle/>
          <a:p>
            <a:br>
              <a:rPr kumimoji="0" lang="en-US" altLang="en-US" b="1" i="0" u="none" strike="noStrike" cap="none" normalizeH="0" baseline="0" dirty="0">
                <a:ln>
                  <a:noFill/>
                </a:ln>
                <a:solidFill>
                  <a:schemeClr val="tx1"/>
                </a:solidFill>
                <a:effectLst/>
                <a:latin typeface="Bahnschrift SemiLight" panose="020B0502040204020203" pitchFamily="34" charset="0"/>
              </a:rPr>
            </a:br>
            <a:r>
              <a:rPr kumimoji="0" lang="en-US" altLang="en-US" b="1" i="0" u="none" strike="noStrike" cap="none" normalizeH="0" baseline="0" dirty="0" err="1">
                <a:ln>
                  <a:noFill/>
                </a:ln>
                <a:solidFill>
                  <a:schemeClr val="tx1"/>
                </a:solidFill>
                <a:effectLst/>
                <a:latin typeface="Bahnschrift SemiLight" panose="020B0502040204020203" pitchFamily="34" charset="0"/>
              </a:rPr>
              <a:t>Grupna</a:t>
            </a:r>
            <a:r>
              <a:rPr kumimoji="0" lang="en-US" altLang="en-US" b="1" i="0" u="none" strike="noStrike" cap="none" normalizeH="0" baseline="0" dirty="0">
                <a:ln>
                  <a:noFill/>
                </a:ln>
                <a:solidFill>
                  <a:schemeClr val="tx1"/>
                </a:solidFill>
                <a:effectLst/>
                <a:latin typeface="Bahnschrift SemiLight" panose="020B0502040204020203" pitchFamily="34" charset="0"/>
              </a:rPr>
              <a:t> </a:t>
            </a:r>
            <a:r>
              <a:rPr kumimoji="0" lang="en-US" altLang="en-US" b="1" i="0" u="none" strike="noStrike" cap="none" normalizeH="0" baseline="0" dirty="0" err="1">
                <a:ln>
                  <a:noFill/>
                </a:ln>
                <a:solidFill>
                  <a:schemeClr val="tx1"/>
                </a:solidFill>
                <a:effectLst/>
                <a:latin typeface="Bahnschrift SemiLight" panose="020B0502040204020203" pitchFamily="34" charset="0"/>
              </a:rPr>
              <a:t>vježba</a:t>
            </a:r>
            <a:r>
              <a:rPr kumimoji="0" lang="en-US" altLang="en-US" b="1" i="0" u="none" strike="noStrike" cap="none" normalizeH="0" baseline="0" dirty="0">
                <a:ln>
                  <a:noFill/>
                </a:ln>
                <a:solidFill>
                  <a:schemeClr val="tx1"/>
                </a:solidFill>
                <a:effectLst/>
                <a:latin typeface="Bahnschrift SemiLight" panose="020B0502040204020203" pitchFamily="34" charset="0"/>
              </a:rPr>
              <a:t> – Infobip </a:t>
            </a:r>
            <a:r>
              <a:rPr kumimoji="0" lang="en-US" altLang="en-US" b="1" i="0" u="none" strike="noStrike" cap="none" normalizeH="0" baseline="0" dirty="0" err="1">
                <a:ln>
                  <a:noFill/>
                </a:ln>
                <a:solidFill>
                  <a:schemeClr val="tx1"/>
                </a:solidFill>
                <a:effectLst/>
                <a:latin typeface="Bahnschrift SemiLight" panose="020B0502040204020203" pitchFamily="34" charset="0"/>
              </a:rPr>
              <a:t>projekt</a:t>
            </a:r>
            <a:br>
              <a:rPr lang="en-US" kern="100" dirty="0">
                <a:latin typeface="Bahnschrift SemiLight" panose="020B0502040204020203" pitchFamily="34" charset="0"/>
                <a:ea typeface="Aptos" panose="020B0004020202020204" pitchFamily="34" charset="0"/>
                <a:cs typeface="Arial" panose="020B0604020202020204" pitchFamily="34" charset="0"/>
              </a:rPr>
            </a:br>
            <a:endParaRPr lang="en-US" dirty="0">
              <a:latin typeface="Bahnschrift SemiLight" panose="020B0502040204020203" pitchFamily="34" charset="0"/>
            </a:endParaRPr>
          </a:p>
        </p:txBody>
      </p:sp>
      <p:sp>
        <p:nvSpPr>
          <p:cNvPr id="4" name="Rezervirano mjesto sadržaja 2">
            <a:extLst>
              <a:ext uri="{FF2B5EF4-FFF2-40B4-BE49-F238E27FC236}">
                <a16:creationId xmlns:a16="http://schemas.microsoft.com/office/drawing/2014/main" id="{17145C28-A542-0413-5942-FCA8BAB8AE27}"/>
              </a:ext>
            </a:extLst>
          </p:cNvPr>
          <p:cNvSpPr>
            <a:spLocks noGrp="1"/>
          </p:cNvSpPr>
          <p:nvPr/>
        </p:nvSpPr>
        <p:spPr>
          <a:xfrm>
            <a:off x="485078" y="2503991"/>
            <a:ext cx="10515600" cy="37380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Semi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Semi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Semi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Semi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hr-HR" dirty="0"/>
          </a:p>
        </p:txBody>
      </p:sp>
      <p:sp>
        <p:nvSpPr>
          <p:cNvPr id="9" name="CasetăText 8">
            <a:extLst>
              <a:ext uri="{FF2B5EF4-FFF2-40B4-BE49-F238E27FC236}">
                <a16:creationId xmlns:a16="http://schemas.microsoft.com/office/drawing/2014/main" id="{445A3E5B-4A5D-7363-974F-8B0E87BA667C}"/>
              </a:ext>
            </a:extLst>
          </p:cNvPr>
          <p:cNvSpPr txBox="1"/>
          <p:nvPr/>
        </p:nvSpPr>
        <p:spPr>
          <a:xfrm>
            <a:off x="838199" y="2061766"/>
            <a:ext cx="9416143" cy="2527423"/>
          </a:xfrm>
          <a:prstGeom prst="rect">
            <a:avLst/>
          </a:prstGeom>
          <a:noFill/>
        </p:spPr>
        <p:txBody>
          <a:bodyPr wrap="square">
            <a:spAutoFit/>
          </a:bodyPr>
          <a:lstStyle/>
          <a:p>
            <a:pPr>
              <a:lnSpc>
                <a:spcPct val="107000"/>
              </a:lnSpc>
              <a:spcAft>
                <a:spcPts val="800"/>
              </a:spcAft>
              <a:buNone/>
            </a:pPr>
            <a:r>
              <a:rPr lang="en-US" sz="2800" b="1" noProof="0" dirty="0" err="1">
                <a:solidFill>
                  <a:srgbClr val="0ADBBC"/>
                </a:solidFill>
                <a:latin typeface="Bahnschrift SemiLight" panose="020B0502040204020203" pitchFamily="34" charset="0"/>
              </a:rPr>
              <a:t>Zadatak</a:t>
            </a:r>
            <a:r>
              <a:rPr lang="hr-HR" sz="2800" b="1" noProof="0" dirty="0">
                <a:solidFill>
                  <a:srgbClr val="0ADBBC"/>
                </a:solidFill>
                <a:latin typeface="Bahnschrift SemiLight" panose="020B0502040204020203" pitchFamily="34" charset="0"/>
              </a:rPr>
              <a:t> za vježbu</a:t>
            </a:r>
            <a:endParaRPr lang="en-US" sz="2800" b="1" noProof="0" dirty="0">
              <a:solidFill>
                <a:srgbClr val="0ADBBC"/>
              </a:solidFill>
              <a:latin typeface="Bahnschrift SemiLight" panose="020B0502040204020203" pitchFamily="34" charset="0"/>
            </a:endParaRPr>
          </a:p>
          <a:p>
            <a:pPr>
              <a:lnSpc>
                <a:spcPct val="107000"/>
              </a:lnSpc>
              <a:spcAft>
                <a:spcPts val="800"/>
              </a:spcAft>
              <a:buNone/>
            </a:pPr>
            <a:endParaRPr lang="en-US" sz="2800" b="1" noProof="0" dirty="0">
              <a:solidFill>
                <a:srgbClr val="0ADBBC"/>
              </a:solidFill>
              <a:latin typeface="Bahnschrift SemiLight" panose="020B0502040204020203" pitchFamily="34" charset="0"/>
            </a:endParaRPr>
          </a:p>
          <a:p>
            <a:pPr>
              <a:lnSpc>
                <a:spcPct val="107000"/>
              </a:lnSpc>
              <a:spcAft>
                <a:spcPts val="800"/>
              </a:spcAft>
              <a:buNone/>
            </a:pPr>
            <a:r>
              <a:rPr lang="en-US" sz="2800" i="1" noProof="0" dirty="0" err="1">
                <a:latin typeface="Bahnschrift SemiLight" panose="020B0502040204020203" pitchFamily="34" charset="0"/>
              </a:rPr>
              <a:t>Identificirati</a:t>
            </a:r>
            <a:r>
              <a:rPr lang="en-US" sz="2800" i="1" noProof="0" dirty="0">
                <a:latin typeface="Bahnschrift SemiLight" panose="020B0502040204020203" pitchFamily="34" charset="0"/>
              </a:rPr>
              <a:t> </a:t>
            </a:r>
            <a:r>
              <a:rPr lang="en-US" sz="2800" i="1" noProof="0" dirty="0" err="1">
                <a:latin typeface="Bahnschrift SemiLight" panose="020B0502040204020203" pitchFamily="34" charset="0"/>
              </a:rPr>
              <a:t>potencijalne</a:t>
            </a:r>
            <a:r>
              <a:rPr lang="en-US" sz="2800" i="1" noProof="0" dirty="0">
                <a:latin typeface="Bahnschrift SemiLight" panose="020B0502040204020203" pitchFamily="34" charset="0"/>
              </a:rPr>
              <a:t> </a:t>
            </a:r>
            <a:r>
              <a:rPr lang="en-US" sz="2800" i="1" noProof="0" dirty="0" err="1">
                <a:latin typeface="Bahnschrift SemiLight" panose="020B0502040204020203" pitchFamily="34" charset="0"/>
              </a:rPr>
              <a:t>projektne</a:t>
            </a:r>
            <a:r>
              <a:rPr lang="en-US" sz="2800" i="1" noProof="0" dirty="0">
                <a:latin typeface="Bahnschrift SemiLight" panose="020B0502040204020203" pitchFamily="34" charset="0"/>
              </a:rPr>
              <a:t> </a:t>
            </a:r>
            <a:r>
              <a:rPr lang="en-US" sz="2800" i="1" noProof="0" dirty="0" err="1">
                <a:latin typeface="Bahnschrift SemiLight" panose="020B0502040204020203" pitchFamily="34" charset="0"/>
              </a:rPr>
              <a:t>rizike</a:t>
            </a:r>
            <a:r>
              <a:rPr lang="en-US" sz="2800" i="1" noProof="0" dirty="0">
                <a:latin typeface="Bahnschrift SemiLight" panose="020B0502040204020203" pitchFamily="34" charset="0"/>
              </a:rPr>
              <a:t> i </a:t>
            </a:r>
            <a:r>
              <a:rPr lang="en-US" sz="2800" i="1" noProof="0" dirty="0" err="1">
                <a:latin typeface="Bahnschrift SemiLight" panose="020B0502040204020203" pitchFamily="34" charset="0"/>
              </a:rPr>
              <a:t>izraditi</a:t>
            </a:r>
            <a:r>
              <a:rPr lang="en-US" sz="2800" i="1" noProof="0" dirty="0">
                <a:latin typeface="Bahnschrift SemiLight" panose="020B0502040204020203" pitchFamily="34" charset="0"/>
              </a:rPr>
              <a:t> </a:t>
            </a:r>
            <a:r>
              <a:rPr lang="en-US" sz="2800" i="1" noProof="0" dirty="0" err="1">
                <a:latin typeface="Bahnschrift SemiLight" panose="020B0502040204020203" pitchFamily="34" charset="0"/>
              </a:rPr>
              <a:t>registar</a:t>
            </a:r>
            <a:r>
              <a:rPr lang="en-US" sz="2800" i="1" noProof="0" dirty="0">
                <a:latin typeface="Bahnschrift SemiLight" panose="020B0502040204020203" pitchFamily="34" charset="0"/>
              </a:rPr>
              <a:t> </a:t>
            </a:r>
            <a:r>
              <a:rPr lang="en-US" sz="2800" i="1" noProof="0" dirty="0" err="1">
                <a:latin typeface="Bahnschrift SemiLight" panose="020B0502040204020203" pitchFamily="34" charset="0"/>
              </a:rPr>
              <a:t>rizika</a:t>
            </a:r>
            <a:r>
              <a:rPr lang="en-US" sz="2800" i="1" noProof="0" dirty="0">
                <a:latin typeface="Bahnschrift SemiLight" panose="020B0502040204020203" pitchFamily="34" charset="0"/>
              </a:rPr>
              <a:t> za </a:t>
            </a:r>
            <a:r>
              <a:rPr lang="en-US" sz="2800" i="1" noProof="0" dirty="0" err="1">
                <a:latin typeface="Bahnschrift SemiLight" panose="020B0502040204020203" pitchFamily="34" charset="0"/>
              </a:rPr>
              <a:t>ovaj</a:t>
            </a:r>
            <a:r>
              <a:rPr lang="en-US" sz="2800" i="1" noProof="0" dirty="0">
                <a:latin typeface="Bahnschrift SemiLight" panose="020B0502040204020203" pitchFamily="34" charset="0"/>
              </a:rPr>
              <a:t> </a:t>
            </a:r>
            <a:r>
              <a:rPr lang="en-US" sz="2800" i="1" noProof="0" dirty="0" err="1">
                <a:latin typeface="Bahnschrift SemiLight" panose="020B0502040204020203" pitchFamily="34" charset="0"/>
              </a:rPr>
              <a:t>projekt</a:t>
            </a:r>
            <a:r>
              <a:rPr lang="en-US" sz="2800" i="1" noProof="0" dirty="0">
                <a:latin typeface="Bahnschrift SemiLight" panose="020B0502040204020203" pitchFamily="34" charset="0"/>
              </a:rPr>
              <a:t>.</a:t>
            </a:r>
          </a:p>
          <a:p>
            <a:pPr>
              <a:lnSpc>
                <a:spcPct val="107000"/>
              </a:lnSpc>
              <a:spcAft>
                <a:spcPts val="800"/>
              </a:spcAft>
              <a:buNone/>
            </a:pPr>
            <a:r>
              <a:rPr lang="ro-RO" sz="1800" dirty="0">
                <a:effectLst/>
                <a:latin typeface="Calibri" panose="020F0502020204030204" pitchFamily="34" charset="0"/>
                <a:ea typeface="Calibri" panose="020F0502020204030204" pitchFamily="34" charset="0"/>
                <a:cs typeface="Arial" panose="020B0604020202020204" pitchFamily="34" charset="0"/>
              </a:rPr>
              <a:t> </a:t>
            </a:r>
            <a:endParaRPr lang="ro-RO"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228078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C1248-B769-C1F0-5FFF-C81A22CF9295}"/>
              </a:ext>
            </a:extLst>
          </p:cNvPr>
          <p:cNvSpPr>
            <a:spLocks noGrp="1"/>
          </p:cNvSpPr>
          <p:nvPr>
            <p:ph type="title"/>
          </p:nvPr>
        </p:nvSpPr>
        <p:spPr/>
        <p:txBody>
          <a:bodyPr/>
          <a:lstStyle/>
          <a:p>
            <a:r>
              <a:rPr lang="hr-HR" dirty="0"/>
              <a:t>Izvori</a:t>
            </a:r>
            <a:endParaRPr lang="en-US" dirty="0"/>
          </a:p>
        </p:txBody>
      </p:sp>
      <p:sp>
        <p:nvSpPr>
          <p:cNvPr id="5" name="Content Placeholder 4">
            <a:extLst>
              <a:ext uri="{FF2B5EF4-FFF2-40B4-BE49-F238E27FC236}">
                <a16:creationId xmlns:a16="http://schemas.microsoft.com/office/drawing/2014/main" id="{1FEA13CC-0ED2-11D6-C76B-35CB1393240F}"/>
              </a:ext>
            </a:extLst>
          </p:cNvPr>
          <p:cNvSpPr>
            <a:spLocks noGrp="1"/>
          </p:cNvSpPr>
          <p:nvPr>
            <p:ph idx="1"/>
          </p:nvPr>
        </p:nvSpPr>
        <p:spPr>
          <a:xfrm>
            <a:off x="498565" y="1799664"/>
            <a:ext cx="9660674" cy="4351338"/>
          </a:xfrm>
        </p:spPr>
        <p:txBody>
          <a:bodyPr>
            <a:normAutofit fontScale="92500" lnSpcReduction="20000"/>
          </a:bodyPr>
          <a:lstStyle/>
          <a:p>
            <a:pPr marL="0" indent="0">
              <a:buNone/>
            </a:pPr>
            <a:r>
              <a:rPr lang="en-GB" u="sng" dirty="0">
                <a:solidFill>
                  <a:srgbClr val="0563C1"/>
                </a:solidFill>
                <a:effectLst/>
                <a:latin typeface="Bahnschrift SemiLight" panose="020B0502040204020203" pitchFamily="34" charset="0"/>
                <a:ea typeface="Bahnschrift SemiLight" panose="020B0502040204020203" pitchFamily="34" charset="0"/>
                <a:cs typeface="Bahnschrift SemiLight" panose="020B0502040204020203" pitchFamily="34" charset="0"/>
                <a:hlinkClick r:id="rId3"/>
              </a:rPr>
              <a:t>PMI.org</a:t>
            </a:r>
            <a:endParaRPr lang="en-GB" u="sng" dirty="0">
              <a:solidFill>
                <a:srgbClr val="0563C1"/>
              </a:solidFill>
              <a:effectLst/>
              <a:latin typeface="Bahnschrift SemiLight" panose="020B0502040204020203" pitchFamily="34" charset="0"/>
              <a:ea typeface="Bahnschrift SemiLight" panose="020B0502040204020203" pitchFamily="34" charset="0"/>
              <a:cs typeface="Bahnschrift SemiLight" panose="020B0502040204020203" pitchFamily="34" charset="0"/>
            </a:endParaRPr>
          </a:p>
          <a:p>
            <a:pPr marL="0" indent="0">
              <a:buNone/>
            </a:pPr>
            <a:endParaRPr lang="en-GB" u="sng" dirty="0">
              <a:solidFill>
                <a:srgbClr val="0563C1"/>
              </a:solidFill>
              <a:cs typeface="Arial" panose="020B0604020202020204" pitchFamily="34" charset="0"/>
            </a:endParaRPr>
          </a:p>
          <a:p>
            <a:pPr marL="0" indent="0">
              <a:buNone/>
            </a:pPr>
            <a:r>
              <a:rPr lang="en-GB" u="sng" dirty="0">
                <a:solidFill>
                  <a:srgbClr val="0563C1"/>
                </a:solidFill>
                <a:effectLst/>
                <a:latin typeface="Bahnschrift SemiLight" panose="020B0502040204020203" pitchFamily="34" charset="0"/>
                <a:ea typeface="Bahnschrift SemiLight" panose="020B0502040204020203" pitchFamily="34" charset="0"/>
                <a:cs typeface="Bahnschrift SemiLight" panose="020B0502040204020203" pitchFamily="34" charset="0"/>
                <a:hlinkClick r:id="rId4"/>
              </a:rPr>
              <a:t>PMBOK Guide</a:t>
            </a:r>
            <a:endParaRPr lang="en-GB" u="sng" dirty="0">
              <a:solidFill>
                <a:srgbClr val="0563C1"/>
              </a:solidFill>
              <a:effectLst/>
              <a:latin typeface="Bahnschrift SemiLight" panose="020B0502040204020203" pitchFamily="34" charset="0"/>
              <a:ea typeface="Bahnschrift SemiLight" panose="020B0502040204020203" pitchFamily="34" charset="0"/>
              <a:cs typeface="Bahnschrift SemiLight" panose="020B0502040204020203" pitchFamily="34" charset="0"/>
            </a:endParaRPr>
          </a:p>
          <a:p>
            <a:pPr marL="0" indent="0">
              <a:buNone/>
            </a:pPr>
            <a:endParaRPr lang="en-GB" u="sng" dirty="0">
              <a:solidFill>
                <a:srgbClr val="0563C1"/>
              </a:solidFill>
              <a:ea typeface="Bahnschrift SemiLight" panose="020B0502040204020203" pitchFamily="34" charset="0"/>
              <a:cs typeface="Arial" panose="020B0604020202020204" pitchFamily="34" charset="0"/>
            </a:endParaRPr>
          </a:p>
          <a:p>
            <a:pPr marL="0" indent="0">
              <a:buNone/>
            </a:pPr>
            <a:r>
              <a:rPr lang="en-US" b="1" dirty="0"/>
              <a:t>PMI Guidelines on Change Management</a:t>
            </a:r>
          </a:p>
          <a:p>
            <a:pPr marL="0" indent="0">
              <a:buNone/>
            </a:pPr>
            <a:endParaRPr lang="en-US" b="1" dirty="0"/>
          </a:p>
          <a:p>
            <a:pPr marL="0" indent="0">
              <a:buNone/>
            </a:pPr>
            <a:r>
              <a:rPr lang="fr-FR" dirty="0">
                <a:hlinkClick r:id="rId5"/>
              </a:rPr>
              <a:t>Project Management Journal: Sage </a:t>
            </a:r>
            <a:r>
              <a:rPr lang="fr-FR" dirty="0" err="1">
                <a:hlinkClick r:id="rId5"/>
              </a:rPr>
              <a:t>Journals</a:t>
            </a:r>
            <a:endParaRPr lang="fr-FR" dirty="0"/>
          </a:p>
          <a:p>
            <a:pPr marL="0" indent="0">
              <a:buNone/>
            </a:pPr>
            <a:endParaRPr lang="en-US" b="1" i="0" dirty="0">
              <a:solidFill>
                <a:srgbClr val="0F0F0F"/>
              </a:solidFill>
              <a:effectLst/>
              <a:latin typeface="Roboto" panose="02000000000000000000" pitchFamily="2" charset="0"/>
            </a:endParaRPr>
          </a:p>
          <a:p>
            <a:pPr marL="0" indent="0">
              <a:buNone/>
            </a:pPr>
            <a:r>
              <a:rPr lang="en-US" b="1" i="0" dirty="0">
                <a:solidFill>
                  <a:srgbClr val="0F0F0F"/>
                </a:solidFill>
                <a:effectLst/>
              </a:rPr>
              <a:t>The 7 Quality Control (QC) Tools Explained with an Example!</a:t>
            </a:r>
            <a:endParaRPr lang="fr-FR" dirty="0"/>
          </a:p>
          <a:p>
            <a:pPr marL="0" indent="0">
              <a:buNone/>
            </a:pPr>
            <a:r>
              <a:rPr lang="fr-FR" dirty="0">
                <a:hlinkClick r:id="rId6"/>
              </a:rPr>
              <a:t>https://youtu.be/yuH35ottILU?si=VmYxOOSz8N_SRSUT</a:t>
            </a:r>
            <a:r>
              <a:rPr lang="fr-FR" dirty="0"/>
              <a:t> </a:t>
            </a:r>
          </a:p>
          <a:p>
            <a:pPr marL="0" indent="0">
              <a:buNone/>
            </a:pPr>
            <a:endParaRPr lang="fr-FR" dirty="0">
              <a:cs typeface="Arial" panose="020B0604020202020204" pitchFamily="34" charset="0"/>
            </a:endParaRPr>
          </a:p>
          <a:p>
            <a:pPr marL="0" indent="0">
              <a:buNone/>
            </a:pPr>
            <a:endParaRPr lang="en-US" b="1" i="0" dirty="0">
              <a:solidFill>
                <a:srgbClr val="0F0F0F"/>
              </a:solidFill>
              <a:effectLst/>
              <a:latin typeface="Roboto" panose="02000000000000000000" pitchFamily="2" charset="0"/>
            </a:endParaRPr>
          </a:p>
          <a:p>
            <a:pPr marL="0" indent="0">
              <a:buNone/>
            </a:pPr>
            <a:endParaRPr lang="en-US" dirty="0">
              <a:cs typeface="Arial" panose="020B0604020202020204" pitchFamily="34" charset="0"/>
            </a:endParaRPr>
          </a:p>
        </p:txBody>
      </p:sp>
    </p:spTree>
    <p:extLst>
      <p:ext uri="{BB962C8B-B14F-4D97-AF65-F5344CB8AC3E}">
        <p14:creationId xmlns:p14="http://schemas.microsoft.com/office/powerpoint/2010/main" val="3194375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tăText 1">
            <a:extLst>
              <a:ext uri="{FF2B5EF4-FFF2-40B4-BE49-F238E27FC236}">
                <a16:creationId xmlns:a16="http://schemas.microsoft.com/office/drawing/2014/main" id="{85A2BCC9-DFAF-A944-3825-DE48AB02071D}"/>
              </a:ext>
            </a:extLst>
          </p:cNvPr>
          <p:cNvSpPr txBox="1"/>
          <p:nvPr/>
        </p:nvSpPr>
        <p:spPr>
          <a:xfrm>
            <a:off x="914400" y="553452"/>
            <a:ext cx="814537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r-HR" sz="3600" b="0" i="0" u="none" strike="noStrike" kern="1200" cap="none" spc="0" normalizeH="0" baseline="0" noProof="0" dirty="0">
                <a:ln>
                  <a:noFill/>
                </a:ln>
                <a:solidFill>
                  <a:prstClr val="black"/>
                </a:solidFill>
                <a:effectLst/>
                <a:uLnTx/>
                <a:uFillTx/>
                <a:latin typeface="Bahnschrift SemiBold"/>
                <a:ea typeface="+mn-ea"/>
                <a:cs typeface="+mn-cs"/>
              </a:rPr>
              <a:t>DODATNI MATERIJALI</a:t>
            </a:r>
            <a:endParaRPr kumimoji="0" lang="ro-R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CasetăText 10">
            <a:extLst>
              <a:ext uri="{FF2B5EF4-FFF2-40B4-BE49-F238E27FC236}">
                <a16:creationId xmlns:a16="http://schemas.microsoft.com/office/drawing/2014/main" id="{566B8B66-D8DF-9BDD-0AD5-997A33A86E00}"/>
              </a:ext>
            </a:extLst>
          </p:cNvPr>
          <p:cNvSpPr txBox="1"/>
          <p:nvPr/>
        </p:nvSpPr>
        <p:spPr>
          <a:xfrm>
            <a:off x="446776" y="2027977"/>
            <a:ext cx="9080626" cy="923330"/>
          </a:xfrm>
          <a:prstGeom prst="rect">
            <a:avLst/>
          </a:prstGeom>
          <a:noFill/>
        </p:spPr>
        <p:txBody>
          <a:bodyPr wrap="square" rtlCol="0">
            <a:spAutoFit/>
          </a:bodyPr>
          <a:lstStyle/>
          <a:p>
            <a:br>
              <a:rPr lang="ro-RO" dirty="0"/>
            </a:br>
            <a:endParaRPr lang="ro-RO" dirty="0"/>
          </a:p>
          <a:p>
            <a:endParaRPr lang="ro-RO" dirty="0"/>
          </a:p>
        </p:txBody>
      </p:sp>
      <p:sp>
        <p:nvSpPr>
          <p:cNvPr id="15" name="CasetăText 14">
            <a:extLst>
              <a:ext uri="{FF2B5EF4-FFF2-40B4-BE49-F238E27FC236}">
                <a16:creationId xmlns:a16="http://schemas.microsoft.com/office/drawing/2014/main" id="{CCA2F5CC-E586-965A-2FB8-42013F8AE37A}"/>
              </a:ext>
            </a:extLst>
          </p:cNvPr>
          <p:cNvSpPr txBox="1"/>
          <p:nvPr/>
        </p:nvSpPr>
        <p:spPr>
          <a:xfrm>
            <a:off x="626677" y="1934159"/>
            <a:ext cx="9497085" cy="4092402"/>
          </a:xfrm>
          <a:prstGeom prst="rect">
            <a:avLst/>
          </a:prstGeom>
          <a:noFill/>
        </p:spPr>
        <p:txBody>
          <a:bodyPr wrap="square" rtlCol="0">
            <a:spAutoFit/>
          </a:bodyPr>
          <a:lstStyle/>
          <a:p>
            <a:pPr>
              <a:lnSpc>
                <a:spcPct val="90000"/>
              </a:lnSpc>
              <a:spcBef>
                <a:spcPts val="1000"/>
              </a:spcBef>
            </a:pPr>
            <a:r>
              <a:rPr lang="en-US" sz="2800" u="sng" dirty="0">
                <a:solidFill>
                  <a:srgbClr val="0563C1"/>
                </a:solidFill>
                <a:latin typeface="Bahnschrift SemiLight" panose="020B0502040204020203" pitchFamily="34" charset="0"/>
                <a:hlinkClick r:id="rId3">
                  <a:extLst>
                    <a:ext uri="{A12FA001-AC4F-418D-AE19-62706E023703}">
                      <ahyp:hlinkClr xmlns:ahyp="http://schemas.microsoft.com/office/drawing/2018/hyperlinkcolor" val="tx"/>
                    </a:ext>
                  </a:extLst>
                </a:hlinkClick>
              </a:rPr>
              <a:t>PMI – Pulse of the Profession Reports</a:t>
            </a:r>
            <a:endParaRPr lang="en-US" sz="2800" u="sng" dirty="0">
              <a:solidFill>
                <a:srgbClr val="0563C1"/>
              </a:solidFill>
              <a:latin typeface="Bahnschrift SemiLight" panose="020B0502040204020203" pitchFamily="34" charset="0"/>
            </a:endParaRPr>
          </a:p>
          <a:p>
            <a:pPr>
              <a:lnSpc>
                <a:spcPct val="90000"/>
              </a:lnSpc>
              <a:spcBef>
                <a:spcPts val="1000"/>
              </a:spcBef>
            </a:pPr>
            <a:endParaRPr lang="en-US" sz="2800" u="sng" dirty="0">
              <a:solidFill>
                <a:srgbClr val="0563C1"/>
              </a:solidFill>
              <a:latin typeface="Bahnschrift SemiLight" panose="020B0502040204020203" pitchFamily="34" charset="0"/>
            </a:endParaRPr>
          </a:p>
          <a:p>
            <a:pPr>
              <a:lnSpc>
                <a:spcPct val="90000"/>
              </a:lnSpc>
              <a:spcBef>
                <a:spcPts val="1000"/>
              </a:spcBef>
            </a:pPr>
            <a:r>
              <a:rPr lang="en-US" sz="2800" u="sng" dirty="0">
                <a:solidFill>
                  <a:srgbClr val="0563C1"/>
                </a:solidFill>
                <a:latin typeface="Bahnschrift SemiLight" panose="020B0502040204020203" pitchFamily="34" charset="0"/>
                <a:hlinkClick r:id="rId4">
                  <a:extLst>
                    <a:ext uri="{A12FA001-AC4F-418D-AE19-62706E023703}">
                      <ahyp:hlinkClr xmlns:ahyp="http://schemas.microsoft.com/office/drawing/2018/hyperlinkcolor" val="tx"/>
                    </a:ext>
                  </a:extLst>
                </a:hlinkClick>
              </a:rPr>
              <a:t>Atlassian – Project Management Guides and Resources</a:t>
            </a:r>
            <a:endParaRPr lang="en-US" sz="2800" u="sng" dirty="0">
              <a:solidFill>
                <a:srgbClr val="0563C1"/>
              </a:solidFill>
              <a:latin typeface="Bahnschrift SemiLight" panose="020B0502040204020203" pitchFamily="34" charset="0"/>
            </a:endParaRPr>
          </a:p>
          <a:p>
            <a:pPr>
              <a:lnSpc>
                <a:spcPct val="90000"/>
              </a:lnSpc>
              <a:spcBef>
                <a:spcPts val="1000"/>
              </a:spcBef>
            </a:pPr>
            <a:endParaRPr lang="en-US" sz="2800" u="sng" dirty="0">
              <a:solidFill>
                <a:srgbClr val="0563C1"/>
              </a:solidFill>
              <a:latin typeface="Bahnschrift SemiLight" panose="020B0502040204020203" pitchFamily="34" charset="0"/>
            </a:endParaRPr>
          </a:p>
          <a:p>
            <a:pPr>
              <a:lnSpc>
                <a:spcPct val="90000"/>
              </a:lnSpc>
              <a:spcBef>
                <a:spcPts val="1000"/>
              </a:spcBef>
            </a:pPr>
            <a:r>
              <a:rPr lang="ro-RO" sz="2800" u="sng" dirty="0">
                <a:solidFill>
                  <a:srgbClr val="0563C1"/>
                </a:solidFill>
                <a:latin typeface="Bahnschrift SemiLight" panose="020B0502040204020203" pitchFamily="34" charset="0"/>
                <a:hlinkClick r:id="rId5">
                  <a:extLst>
                    <a:ext uri="{A12FA001-AC4F-418D-AE19-62706E023703}">
                      <ahyp:hlinkClr xmlns:ahyp="http://schemas.microsoft.com/office/drawing/2018/hyperlinkcolor" val="tx"/>
                    </a:ext>
                  </a:extLst>
                </a:hlinkClick>
              </a:rPr>
              <a:t>MindTools – Change Management Techniques</a:t>
            </a:r>
            <a:endParaRPr lang="en-US" sz="2800" u="sng" dirty="0">
              <a:solidFill>
                <a:srgbClr val="0563C1"/>
              </a:solidFill>
              <a:latin typeface="Bahnschrift SemiLight" panose="020B0502040204020203" pitchFamily="34" charset="0"/>
            </a:endParaRPr>
          </a:p>
          <a:p>
            <a:pPr>
              <a:lnSpc>
                <a:spcPct val="90000"/>
              </a:lnSpc>
              <a:spcBef>
                <a:spcPts val="1000"/>
              </a:spcBef>
            </a:pPr>
            <a:endParaRPr lang="en-US" sz="2800" u="sng" dirty="0">
              <a:solidFill>
                <a:srgbClr val="0563C1"/>
              </a:solidFill>
              <a:latin typeface="Bahnschrift SemiLight" panose="020B0502040204020203" pitchFamily="34" charset="0"/>
            </a:endParaRPr>
          </a:p>
          <a:p>
            <a:pPr>
              <a:lnSpc>
                <a:spcPct val="90000"/>
              </a:lnSpc>
              <a:spcBef>
                <a:spcPts val="1000"/>
              </a:spcBef>
            </a:pPr>
            <a:r>
              <a:rPr lang="en-US" sz="2800" u="sng" dirty="0">
                <a:solidFill>
                  <a:srgbClr val="0563C1"/>
                </a:solidFill>
                <a:latin typeface="Bahnschrift SemiLight" panose="020B0502040204020203" pitchFamily="34" charset="0"/>
                <a:hlinkClick r:id="rId6">
                  <a:extLst>
                    <a:ext uri="{A12FA001-AC4F-418D-AE19-62706E023703}">
                      <ahyp:hlinkClr xmlns:ahyp="http://schemas.microsoft.com/office/drawing/2018/hyperlinkcolor" val="tx"/>
                    </a:ext>
                  </a:extLst>
                </a:hlinkClick>
              </a:rPr>
              <a:t>Smartsheet – Project Monitoring and Control Guide</a:t>
            </a:r>
            <a:r>
              <a:rPr lang="en-US" sz="2800" u="sng" dirty="0">
                <a:solidFill>
                  <a:srgbClr val="0563C1"/>
                </a:solidFill>
                <a:latin typeface="Bahnschrift SemiLight" panose="020B0502040204020203" pitchFamily="34" charset="0"/>
              </a:rPr>
              <a:t> </a:t>
            </a:r>
          </a:p>
          <a:p>
            <a:pPr>
              <a:lnSpc>
                <a:spcPct val="90000"/>
              </a:lnSpc>
              <a:spcBef>
                <a:spcPts val="1000"/>
              </a:spcBef>
            </a:pPr>
            <a:endParaRPr lang="en-US" sz="2800" u="sng" dirty="0">
              <a:solidFill>
                <a:srgbClr val="0563C1"/>
              </a:solidFill>
              <a:latin typeface="Bahnschrift SemiLight" panose="020B0502040204020203" pitchFamily="34" charset="0"/>
            </a:endParaRPr>
          </a:p>
        </p:txBody>
      </p:sp>
    </p:spTree>
    <p:extLst>
      <p:ext uri="{BB962C8B-B14F-4D97-AF65-F5344CB8AC3E}">
        <p14:creationId xmlns:p14="http://schemas.microsoft.com/office/powerpoint/2010/main" val="368699384"/>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e0725af-73e2-4213-b62d-dcea596e5d6d">
      <Terms xmlns="http://schemas.microsoft.com/office/infopath/2007/PartnerControls"/>
    </lcf76f155ced4ddcb4097134ff3c332f>
    <TaxCatchAll xmlns="e6fa96dc-0a02-4bd9-bdcb-2aa22c1a578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ACC08E76AEB004B8A6B2F235BBAB143" ma:contentTypeVersion="19" ma:contentTypeDescription="Create a new document." ma:contentTypeScope="" ma:versionID="b126276037d73a60ecdb5034901a4665">
  <xsd:schema xmlns:xsd="http://www.w3.org/2001/XMLSchema" xmlns:xs="http://www.w3.org/2001/XMLSchema" xmlns:p="http://schemas.microsoft.com/office/2006/metadata/properties" xmlns:ns2="5e0725af-73e2-4213-b62d-dcea596e5d6d" xmlns:ns3="e6fa96dc-0a02-4bd9-bdcb-2aa22c1a578f" targetNamespace="http://schemas.microsoft.com/office/2006/metadata/properties" ma:root="true" ma:fieldsID="77aeb5855ce30fad2cc8b28886ebdb2f" ns2:_="" ns3:_="">
    <xsd:import namespace="5e0725af-73e2-4213-b62d-dcea596e5d6d"/>
    <xsd:import namespace="e6fa96dc-0a02-4bd9-bdcb-2aa22c1a57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0725af-73e2-4213-b62d-dcea596e5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051300b-affb-4af5-9054-83ab1355cdd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6fa96dc-0a02-4bd9-bdcb-2aa22c1a57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2ee04ee1-424f-44c6-b165-f66518ce87aa}" ma:internalName="TaxCatchAll" ma:showField="CatchAllData" ma:web="e6fa96dc-0a02-4bd9-bdcb-2aa22c1a57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F167A6-4509-4CDC-872E-B75078D0A471}">
  <ds:schemaRefs>
    <ds:schemaRef ds:uri="http://schemas.microsoft.com/sharepoint/v3/contenttype/forms"/>
  </ds:schemaRefs>
</ds:datastoreItem>
</file>

<file path=customXml/itemProps2.xml><?xml version="1.0" encoding="utf-8"?>
<ds:datastoreItem xmlns:ds="http://schemas.openxmlformats.org/officeDocument/2006/customXml" ds:itemID="{2E8D62CC-B914-477D-B9D0-0F95ABEF2B0F}">
  <ds:schemaRefs>
    <ds:schemaRef ds:uri="http://schemas.microsoft.com/office/2006/metadata/properties"/>
    <ds:schemaRef ds:uri="http://schemas.microsoft.com/office/infopath/2007/PartnerControls"/>
    <ds:schemaRef ds:uri="5ccc8f2e-ac27-4ac8-8955-ea2701adcc78"/>
    <ds:schemaRef ds:uri="178ab0e0-c460-419a-847d-ca81e089ac39"/>
    <ds:schemaRef ds:uri="5e0725af-73e2-4213-b62d-dcea596e5d6d"/>
    <ds:schemaRef ds:uri="e6fa96dc-0a02-4bd9-bdcb-2aa22c1a578f"/>
  </ds:schemaRefs>
</ds:datastoreItem>
</file>

<file path=customXml/itemProps3.xml><?xml version="1.0" encoding="utf-8"?>
<ds:datastoreItem xmlns:ds="http://schemas.openxmlformats.org/officeDocument/2006/customXml" ds:itemID="{BF95E1A8-CA7E-4E18-9726-A1A1985BA3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0725af-73e2-4213-b62d-dcea596e5d6d"/>
    <ds:schemaRef ds:uri="e6fa96dc-0a02-4bd9-bdcb-2aa22c1a57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5280</TotalTime>
  <Words>6336</Words>
  <Application>Microsoft Office PowerPoint</Application>
  <PresentationFormat>Široki zaslon</PresentationFormat>
  <Paragraphs>650</Paragraphs>
  <Slides>56</Slides>
  <Notes>35</Notes>
  <HiddenSlides>0</HiddenSlides>
  <MMClips>0</MMClips>
  <ScaleCrop>false</ScaleCrop>
  <HeadingPairs>
    <vt:vector size="6" baseType="variant">
      <vt:variant>
        <vt:lpstr>Korišteni fontovi</vt:lpstr>
      </vt:variant>
      <vt:variant>
        <vt:i4>12</vt:i4>
      </vt:variant>
      <vt:variant>
        <vt:lpstr>Tema</vt:lpstr>
      </vt:variant>
      <vt:variant>
        <vt:i4>2</vt:i4>
      </vt:variant>
      <vt:variant>
        <vt:lpstr>Naslovi slajdova</vt:lpstr>
      </vt:variant>
      <vt:variant>
        <vt:i4>56</vt:i4>
      </vt:variant>
    </vt:vector>
  </HeadingPairs>
  <TitlesOfParts>
    <vt:vector size="70" baseType="lpstr">
      <vt:lpstr>Aptos</vt:lpstr>
      <vt:lpstr>Arial</vt:lpstr>
      <vt:lpstr>Bahnschrift</vt:lpstr>
      <vt:lpstr>Bahnschrift SemiBold</vt:lpstr>
      <vt:lpstr>Bahnschrift SemiLight</vt:lpstr>
      <vt:lpstr>Calibri</vt:lpstr>
      <vt:lpstr>Calibri Light</vt:lpstr>
      <vt:lpstr>Montserrat</vt:lpstr>
      <vt:lpstr>Nunito</vt:lpstr>
      <vt:lpstr>Roboto</vt:lpstr>
      <vt:lpstr>Symbol</vt:lpstr>
      <vt:lpstr>Times New Roman</vt:lpstr>
      <vt:lpstr>Tema sustava Office</vt:lpstr>
      <vt:lpstr>1_Tema sustava Office</vt:lpstr>
      <vt:lpstr>SHIFT4IT</vt:lpstr>
      <vt:lpstr>  Izvršavanje zadataka</vt:lpstr>
      <vt:lpstr>1. Učinci neplaniranih promjena opsega (scope) (1 h)  2. Važnost praćenja rasporeda (1 h)  3. Značaj praćenja proračuna (1 h)  4. Osiguranje kvalitete u upravljanju projektima (1 h)  5. Važnost upravljanja promjenama u projektima (1 h)  6. Važnost upravljanja rizicima u projektima (1 h) </vt:lpstr>
      <vt:lpstr>IZVRŠAVANJE ZADATAKA </vt:lpstr>
      <vt:lpstr> </vt:lpstr>
      <vt:lpstr>2. Strategije za sprječavanje promjena opsega</vt:lpstr>
      <vt:lpstr>3. Prepoznavanje utjecaja na raspored i proračun</vt:lpstr>
      <vt:lpstr>Plan upravljanja promjenama opsega I.</vt:lpstr>
      <vt:lpstr>Plan upravljanja promjenama opsega I.</vt:lpstr>
      <vt:lpstr>Plan upravljanja promjenama opsega II.</vt:lpstr>
      <vt:lpstr>Plan upravljanja promjenama opsega II.</vt:lpstr>
      <vt:lpstr>  Studija slučaja: Provedba promjene opsega u projektu proizvodnje uniformi   </vt:lpstr>
      <vt:lpstr>IZVRŠAVANJE ZADATAKA </vt:lpstr>
      <vt:lpstr>Tehnike za praćenje i kontrolu projektnih rasporeda I.</vt:lpstr>
      <vt:lpstr>Tehnike za praćenje i kontrolu projektnih rasporeda II.</vt:lpstr>
      <vt:lpstr>Metoda CPM (Critical Path Method )</vt:lpstr>
      <vt:lpstr>Metoda CPM (Critical Path Method )</vt:lpstr>
      <vt:lpstr>Koraci za primjenu CPM-a </vt:lpstr>
      <vt:lpstr>  Primjer CPM-a I.   </vt:lpstr>
      <vt:lpstr>Primjer CPM-a II.</vt:lpstr>
      <vt:lpstr>Primjer CPM-a II.</vt:lpstr>
      <vt:lpstr>IZVRŠAVANJE ZADATAKA </vt:lpstr>
      <vt:lpstr>5 tehnika za praćenje i kontrolu projektnog proračuna I. </vt:lpstr>
      <vt:lpstr>5 tehnika za praćenje i kontrolu projektnog proračuna II. </vt:lpstr>
      <vt:lpstr> Upravljanje zarađenom vrijednošću (Earned Value Management - EVM) </vt:lpstr>
      <vt:lpstr> Ključni pojmovi u EVM-u I.  </vt:lpstr>
      <vt:lpstr> Ključni pojmovi u EVM-u:  </vt:lpstr>
      <vt:lpstr> Studija slučaja:  </vt:lpstr>
      <vt:lpstr>IZVRŠAVANJE ZADATAKA </vt:lpstr>
      <vt:lpstr> 1. Planiranje upravljanja kvalitetom I.  </vt:lpstr>
      <vt:lpstr> 1. Planiranje upravljanja kvalitetom II.  </vt:lpstr>
      <vt:lpstr>2. Upravljanje kvalitetom I. </vt:lpstr>
      <vt:lpstr>2. Upravljanje kvalitetom II. </vt:lpstr>
      <vt:lpstr>3. Kontrola kvalitete I. </vt:lpstr>
      <vt:lpstr>3. Kontrola kvalitete I. </vt:lpstr>
      <vt:lpstr>3. Kontrola kvalitete II. </vt:lpstr>
      <vt:lpstr> Studija slučaja I.  </vt:lpstr>
      <vt:lpstr> Studija slučaja I.  </vt:lpstr>
      <vt:lpstr> Studija slučaja II. </vt:lpstr>
      <vt:lpstr> Studija slučaja II. </vt:lpstr>
      <vt:lpstr> Studija slučaja _ Grupna vježba III.  </vt:lpstr>
      <vt:lpstr>IZVRŠAVANJE ZADATAKA </vt:lpstr>
      <vt:lpstr>Ključni koraci u učinkovitom upravljanju promjenama I.</vt:lpstr>
      <vt:lpstr>Ključni koraci u učinkovitom upravljanju promjenama II.</vt:lpstr>
      <vt:lpstr>Uobičajeni izazovi u upravljanju promjenama i rješenja</vt:lpstr>
      <vt:lpstr> Grupna vježba  </vt:lpstr>
      <vt:lpstr>IZVRŠAVANJE ZADATAKA </vt:lpstr>
      <vt:lpstr>1. Tehnike za identificiranje rizika</vt:lpstr>
      <vt:lpstr>1. Tehnike za identificiranje rizika</vt:lpstr>
      <vt:lpstr>2. Tehnike za identificiranje rizika</vt:lpstr>
      <vt:lpstr>Registar rizika I.</vt:lpstr>
      <vt:lpstr>Registar rizika II.</vt:lpstr>
      <vt:lpstr> Studija slučaja – Infobip: alat za uvoz podataka (Data Import Tool)   </vt:lpstr>
      <vt:lpstr> Grupna vježba – Infobip projekt </vt:lpstr>
      <vt:lpstr>Izvori</vt:lpstr>
      <vt:lpstr>PowerPoint prezentacija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Anita Crnčić</cp:lastModifiedBy>
  <cp:revision>105</cp:revision>
  <dcterms:created xsi:type="dcterms:W3CDTF">2024-02-12T13:35:47Z</dcterms:created>
  <dcterms:modified xsi:type="dcterms:W3CDTF">2026-04-30T07:53:10Z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0x010100AACC08E76AEB004B8A6B2F235BBAB143</vt:lpwstr>
  </property>
  <property fmtid="{D5CDD505-2E9C-101B-9397-08002B2CF9AE}" pid="3" name="MediaServiceImageTags">
    <vt:lpwstr/>
  </property>
</Properties>
</file>
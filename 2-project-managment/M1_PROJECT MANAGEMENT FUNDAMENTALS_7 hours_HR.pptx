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1" r:id="rId5"/>
    <p:sldMasterId id="2147483687" r:id="rId6"/>
  </p:sldMasterIdLst>
  <p:notesMasterIdLst>
    <p:notesMasterId r:id="rId65"/>
  </p:notesMasterIdLst>
  <p:sldIdLst>
    <p:sldId id="454" r:id="rId7"/>
    <p:sldId id="451" r:id="rId8"/>
    <p:sldId id="314" r:id="rId9"/>
    <p:sldId id="259" r:id="rId10"/>
    <p:sldId id="260" r:id="rId11"/>
    <p:sldId id="261" r:id="rId12"/>
    <p:sldId id="263" r:id="rId13"/>
    <p:sldId id="315" r:id="rId14"/>
    <p:sldId id="267" r:id="rId15"/>
    <p:sldId id="316" r:id="rId16"/>
    <p:sldId id="278" r:id="rId17"/>
    <p:sldId id="269" r:id="rId18"/>
    <p:sldId id="274" r:id="rId19"/>
    <p:sldId id="270" r:id="rId20"/>
    <p:sldId id="275" r:id="rId21"/>
    <p:sldId id="271" r:id="rId22"/>
    <p:sldId id="276" r:id="rId23"/>
    <p:sldId id="277" r:id="rId24"/>
    <p:sldId id="279" r:id="rId25"/>
    <p:sldId id="280" r:id="rId26"/>
    <p:sldId id="458" r:id="rId27"/>
    <p:sldId id="317" r:id="rId28"/>
    <p:sldId id="283" r:id="rId29"/>
    <p:sldId id="461" r:id="rId30"/>
    <p:sldId id="282" r:id="rId31"/>
    <p:sldId id="284" r:id="rId32"/>
    <p:sldId id="462" r:id="rId33"/>
    <p:sldId id="463" r:id="rId34"/>
    <p:sldId id="286" r:id="rId35"/>
    <p:sldId id="287" r:id="rId36"/>
    <p:sldId id="289" r:id="rId37"/>
    <p:sldId id="288" r:id="rId38"/>
    <p:sldId id="290" r:id="rId39"/>
    <p:sldId id="292" r:id="rId40"/>
    <p:sldId id="291" r:id="rId41"/>
    <p:sldId id="293" r:id="rId42"/>
    <p:sldId id="294" r:id="rId43"/>
    <p:sldId id="295" r:id="rId44"/>
    <p:sldId id="296" r:id="rId45"/>
    <p:sldId id="297" r:id="rId46"/>
    <p:sldId id="313" r:id="rId47"/>
    <p:sldId id="298" r:id="rId48"/>
    <p:sldId id="299" r:id="rId49"/>
    <p:sldId id="300" r:id="rId50"/>
    <p:sldId id="460" r:id="rId51"/>
    <p:sldId id="305" r:id="rId52"/>
    <p:sldId id="301" r:id="rId53"/>
    <p:sldId id="302" r:id="rId54"/>
    <p:sldId id="303" r:id="rId55"/>
    <p:sldId id="304" r:id="rId56"/>
    <p:sldId id="306" r:id="rId57"/>
    <p:sldId id="307" r:id="rId58"/>
    <p:sldId id="308" r:id="rId59"/>
    <p:sldId id="309" r:id="rId60"/>
    <p:sldId id="310" r:id="rId61"/>
    <p:sldId id="459" r:id="rId62"/>
    <p:sldId id="318" r:id="rId63"/>
    <p:sldId id="256" r:id="rId64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DBBC"/>
    <a:srgbClr val="002060"/>
    <a:srgbClr val="FFFFFF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723957-374F-4D0C-BB33-BD75E403087B}" v="73" dt="2026-03-10T11:48:55.4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24" autoAdjust="0"/>
    <p:restoredTop sz="73160" autoAdjust="0"/>
  </p:normalViewPr>
  <p:slideViewPr>
    <p:cSldViewPr snapToGrid="0">
      <p:cViewPr varScale="1">
        <p:scale>
          <a:sx n="97" d="100"/>
          <a:sy n="97" d="100"/>
        </p:scale>
        <p:origin x="224" y="14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theme" Target="theme/theme1.xml"/><Relationship Id="rId7" Type="http://schemas.openxmlformats.org/officeDocument/2006/relationships/slide" Target="slides/slide1.xml"/><Relationship Id="rId71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tableStyles" Target="tableStyle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viewProps" Target="view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u@nicuzegheanu.ro" userId="S::urn:spo:guest#nicu@nicuzegheanu.ro::" providerId="AD" clId="Web-{ECB40979-19D5-9DB7-B429-FEB3F6139274}"/>
    <pc:docChg chg="delSld modSld">
      <pc:chgData name="nicu@nicuzegheanu.ro" userId="S::urn:spo:guest#nicu@nicuzegheanu.ro::" providerId="AD" clId="Web-{ECB40979-19D5-9DB7-B429-FEB3F6139274}" dt="2026-02-20T11:50:16.605" v="12" actId="1076"/>
      <pc:docMkLst>
        <pc:docMk/>
      </pc:docMkLst>
      <pc:sldChg chg="addSp modSp">
        <pc:chgData name="nicu@nicuzegheanu.ro" userId="S::urn:spo:guest#nicu@nicuzegheanu.ro::" providerId="AD" clId="Web-{ECB40979-19D5-9DB7-B429-FEB3F6139274}" dt="2026-02-20T11:49:47.745" v="8" actId="20577"/>
        <pc:sldMkLst>
          <pc:docMk/>
          <pc:sldMk cId="495518943" sldId="256"/>
        </pc:sldMkLst>
        <pc:spChg chg="add mod">
          <ac:chgData name="nicu@nicuzegheanu.ro" userId="S::urn:spo:guest#nicu@nicuzegheanu.ro::" providerId="AD" clId="Web-{ECB40979-19D5-9DB7-B429-FEB3F6139274}" dt="2026-02-20T11:49:47.745" v="8" actId="20577"/>
          <ac:spMkLst>
            <pc:docMk/>
            <pc:sldMk cId="495518943" sldId="256"/>
            <ac:spMk id="3" creationId="{AFCE9E2B-212E-71FB-0191-076CE1CA6939}"/>
          </ac:spMkLst>
        </pc:spChg>
      </pc:sldChg>
      <pc:sldChg chg="modSp">
        <pc:chgData name="nicu@nicuzegheanu.ro" userId="S::urn:spo:guest#nicu@nicuzegheanu.ro::" providerId="AD" clId="Web-{ECB40979-19D5-9DB7-B429-FEB3F6139274}" dt="2026-02-20T11:50:16.605" v="12" actId="1076"/>
        <pc:sldMkLst>
          <pc:docMk/>
          <pc:sldMk cId="3194375770" sldId="318"/>
        </pc:sldMkLst>
        <pc:spChg chg="mod">
          <ac:chgData name="nicu@nicuzegheanu.ro" userId="S::urn:spo:guest#nicu@nicuzegheanu.ro::" providerId="AD" clId="Web-{ECB40979-19D5-9DB7-B429-FEB3F6139274}" dt="2026-02-20T11:50:16.605" v="12" actId="1076"/>
          <ac:spMkLst>
            <pc:docMk/>
            <pc:sldMk cId="3194375770" sldId="318"/>
            <ac:spMk id="5" creationId="{1FEA13CC-0ED2-11D6-C76B-35CB1393240F}"/>
          </ac:spMkLst>
        </pc:spChg>
      </pc:sldChg>
    </pc:docChg>
  </pc:docChgLst>
  <pc:docChgLst>
    <pc:chgData name="Cornelia Popescu" userId="444ac7d1-afda-4314-b2c2-4aff562fe857" providerId="ADAL" clId="{3812F0D7-A263-41B2-AC96-1F3B68D731C9}"/>
    <pc:docChg chg="undo custSel addSld delSld modSld sldOrd">
      <pc:chgData name="Cornelia Popescu" userId="444ac7d1-afda-4314-b2c2-4aff562fe857" providerId="ADAL" clId="{3812F0D7-A263-41B2-AC96-1F3B68D731C9}" dt="2026-03-10T11:49:18.673" v="155" actId="2696"/>
      <pc:docMkLst>
        <pc:docMk/>
      </pc:docMkLst>
      <pc:sldChg chg="delSp mod">
        <pc:chgData name="Cornelia Popescu" userId="444ac7d1-afda-4314-b2c2-4aff562fe857" providerId="ADAL" clId="{3812F0D7-A263-41B2-AC96-1F3B68D731C9}" dt="2026-03-10T08:54:39.868" v="1" actId="478"/>
        <pc:sldMkLst>
          <pc:docMk/>
          <pc:sldMk cId="3949681399" sldId="259"/>
        </pc:sldMkLst>
        <pc:spChg chg="del">
          <ac:chgData name="Cornelia Popescu" userId="444ac7d1-afda-4314-b2c2-4aff562fe857" providerId="ADAL" clId="{3812F0D7-A263-41B2-AC96-1F3B68D731C9}" dt="2026-03-10T08:54:39.868" v="1" actId="478"/>
          <ac:spMkLst>
            <pc:docMk/>
            <pc:sldMk cId="3949681399" sldId="259"/>
            <ac:spMk id="2" creationId="{4635A921-5693-3C37-1E3D-9496C2A3D055}"/>
          </ac:spMkLst>
        </pc:spChg>
      </pc:sldChg>
      <pc:sldChg chg="del">
        <pc:chgData name="Cornelia Popescu" userId="444ac7d1-afda-4314-b2c2-4aff562fe857" providerId="ADAL" clId="{3812F0D7-A263-41B2-AC96-1F3B68D731C9}" dt="2026-03-10T08:54:59.935" v="2" actId="2696"/>
        <pc:sldMkLst>
          <pc:docMk/>
          <pc:sldMk cId="3031701498" sldId="266"/>
        </pc:sldMkLst>
      </pc:sldChg>
      <pc:sldChg chg="delSp mod">
        <pc:chgData name="Cornelia Popescu" userId="444ac7d1-afda-4314-b2c2-4aff562fe857" providerId="ADAL" clId="{3812F0D7-A263-41B2-AC96-1F3B68D731C9}" dt="2026-03-10T08:55:14.981" v="3" actId="478"/>
        <pc:sldMkLst>
          <pc:docMk/>
          <pc:sldMk cId="2803414431" sldId="267"/>
        </pc:sldMkLst>
        <pc:spChg chg="del">
          <ac:chgData name="Cornelia Popescu" userId="444ac7d1-afda-4314-b2c2-4aff562fe857" providerId="ADAL" clId="{3812F0D7-A263-41B2-AC96-1F3B68D731C9}" dt="2026-03-10T08:55:14.981" v="3" actId="478"/>
          <ac:spMkLst>
            <pc:docMk/>
            <pc:sldMk cId="2803414431" sldId="267"/>
            <ac:spMk id="2" creationId="{852A56C9-5E75-F4FA-6236-79E2A5BBF80D}"/>
          </ac:spMkLst>
        </pc:spChg>
      </pc:sldChg>
      <pc:sldChg chg="delSp modSp mod">
        <pc:chgData name="Cornelia Popescu" userId="444ac7d1-afda-4314-b2c2-4aff562fe857" providerId="ADAL" clId="{3812F0D7-A263-41B2-AC96-1F3B68D731C9}" dt="2026-03-10T08:55:26.748" v="6" actId="478"/>
        <pc:sldMkLst>
          <pc:docMk/>
          <pc:sldMk cId="1075810590" sldId="279"/>
        </pc:sldMkLst>
        <pc:spChg chg="del mod">
          <ac:chgData name="Cornelia Popescu" userId="444ac7d1-afda-4314-b2c2-4aff562fe857" providerId="ADAL" clId="{3812F0D7-A263-41B2-AC96-1F3B68D731C9}" dt="2026-03-10T08:55:26.748" v="6" actId="478"/>
          <ac:spMkLst>
            <pc:docMk/>
            <pc:sldMk cId="1075810590" sldId="279"/>
            <ac:spMk id="5" creationId="{4FE69BED-A9C4-303F-96FE-9E080CFC2FAD}"/>
          </ac:spMkLst>
        </pc:spChg>
        <pc:picChg chg="del">
          <ac:chgData name="Cornelia Popescu" userId="444ac7d1-afda-4314-b2c2-4aff562fe857" providerId="ADAL" clId="{3812F0D7-A263-41B2-AC96-1F3B68D731C9}" dt="2026-03-10T08:55:25.310" v="4" actId="478"/>
          <ac:picMkLst>
            <pc:docMk/>
            <pc:sldMk cId="1075810590" sldId="279"/>
            <ac:picMk id="3" creationId="{35B7ADCA-0CA5-52C6-4EBE-83CC3D7CC202}"/>
          </ac:picMkLst>
        </pc:picChg>
      </pc:sldChg>
      <pc:sldChg chg="modSp mod">
        <pc:chgData name="Cornelia Popescu" userId="444ac7d1-afda-4314-b2c2-4aff562fe857" providerId="ADAL" clId="{3812F0D7-A263-41B2-AC96-1F3B68D731C9}" dt="2026-03-10T09:05:09.031" v="66" actId="1076"/>
        <pc:sldMkLst>
          <pc:docMk/>
          <pc:sldMk cId="1257748625" sldId="280"/>
        </pc:sldMkLst>
        <pc:spChg chg="mod">
          <ac:chgData name="Cornelia Popescu" userId="444ac7d1-afda-4314-b2c2-4aff562fe857" providerId="ADAL" clId="{3812F0D7-A263-41B2-AC96-1F3B68D731C9}" dt="2026-03-10T09:05:09.031" v="66" actId="1076"/>
          <ac:spMkLst>
            <pc:docMk/>
            <pc:sldMk cId="1257748625" sldId="280"/>
            <ac:spMk id="2" creationId="{CCF0E458-757C-09CF-99EF-BD77A23A6FED}"/>
          </ac:spMkLst>
        </pc:spChg>
        <pc:picChg chg="mod">
          <ac:chgData name="Cornelia Popescu" userId="444ac7d1-afda-4314-b2c2-4aff562fe857" providerId="ADAL" clId="{3812F0D7-A263-41B2-AC96-1F3B68D731C9}" dt="2026-03-10T09:02:01.939" v="9" actId="14100"/>
          <ac:picMkLst>
            <pc:docMk/>
            <pc:sldMk cId="1257748625" sldId="280"/>
            <ac:picMk id="1030" creationId="{021ABB45-58F9-3CA8-6454-2B07AD01097B}"/>
          </ac:picMkLst>
        </pc:picChg>
      </pc:sldChg>
      <pc:sldChg chg="modSp mod">
        <pc:chgData name="Cornelia Popescu" userId="444ac7d1-afda-4314-b2c2-4aff562fe857" providerId="ADAL" clId="{3812F0D7-A263-41B2-AC96-1F3B68D731C9}" dt="2026-03-10T09:06:00.158" v="74" actId="1076"/>
        <pc:sldMkLst>
          <pc:docMk/>
          <pc:sldMk cId="4461670" sldId="283"/>
        </pc:sldMkLst>
        <pc:spChg chg="mod">
          <ac:chgData name="Cornelia Popescu" userId="444ac7d1-afda-4314-b2c2-4aff562fe857" providerId="ADAL" clId="{3812F0D7-A263-41B2-AC96-1F3B68D731C9}" dt="2026-03-10T09:06:00.158" v="74" actId="1076"/>
          <ac:spMkLst>
            <pc:docMk/>
            <pc:sldMk cId="4461670" sldId="283"/>
            <ac:spMk id="3" creationId="{02D0B9FC-D2B9-8F61-14D2-851B36CA4415}"/>
          </ac:spMkLst>
        </pc:spChg>
      </pc:sldChg>
      <pc:sldChg chg="modSp ord modAnim">
        <pc:chgData name="Cornelia Popescu" userId="444ac7d1-afda-4314-b2c2-4aff562fe857" providerId="ADAL" clId="{3812F0D7-A263-41B2-AC96-1F3B68D731C9}" dt="2026-03-10T09:12:37.999" v="97" actId="20577"/>
        <pc:sldMkLst>
          <pc:docMk/>
          <pc:sldMk cId="2811162036" sldId="284"/>
        </pc:sldMkLst>
        <pc:spChg chg="mod">
          <ac:chgData name="Cornelia Popescu" userId="444ac7d1-afda-4314-b2c2-4aff562fe857" providerId="ADAL" clId="{3812F0D7-A263-41B2-AC96-1F3B68D731C9}" dt="2026-03-10T09:12:37.999" v="97" actId="20577"/>
          <ac:spMkLst>
            <pc:docMk/>
            <pc:sldMk cId="2811162036" sldId="284"/>
            <ac:spMk id="4" creationId="{AA507517-92C0-7697-0B69-47E4D406B796}"/>
          </ac:spMkLst>
        </pc:spChg>
      </pc:sldChg>
      <pc:sldChg chg="modSp del modAnim">
        <pc:chgData name="Cornelia Popescu" userId="444ac7d1-afda-4314-b2c2-4aff562fe857" providerId="ADAL" clId="{3812F0D7-A263-41B2-AC96-1F3B68D731C9}" dt="2026-03-10T11:49:18.673" v="155" actId="2696"/>
        <pc:sldMkLst>
          <pc:docMk/>
          <pc:sldMk cId="3469969736" sldId="285"/>
        </pc:sldMkLst>
        <pc:spChg chg="mod">
          <ac:chgData name="Cornelia Popescu" userId="444ac7d1-afda-4314-b2c2-4aff562fe857" providerId="ADAL" clId="{3812F0D7-A263-41B2-AC96-1F3B68D731C9}" dt="2026-03-10T11:48:55.463" v="154" actId="20577"/>
          <ac:spMkLst>
            <pc:docMk/>
            <pc:sldMk cId="3469969736" sldId="285"/>
            <ac:spMk id="4" creationId="{85E585DE-E549-F106-F11E-E65096370A3B}"/>
          </ac:spMkLst>
        </pc:spChg>
      </pc:sldChg>
      <pc:sldChg chg="modSp mod">
        <pc:chgData name="Cornelia Popescu" userId="444ac7d1-afda-4314-b2c2-4aff562fe857" providerId="ADAL" clId="{3812F0D7-A263-41B2-AC96-1F3B68D731C9}" dt="2026-03-10T09:04:02.707" v="63" actId="20577"/>
        <pc:sldMkLst>
          <pc:docMk/>
          <pc:sldMk cId="2317221130" sldId="300"/>
        </pc:sldMkLst>
        <pc:spChg chg="mod">
          <ac:chgData name="Cornelia Popescu" userId="444ac7d1-afda-4314-b2c2-4aff562fe857" providerId="ADAL" clId="{3812F0D7-A263-41B2-AC96-1F3B68D731C9}" dt="2026-03-10T09:04:02.707" v="63" actId="20577"/>
          <ac:spMkLst>
            <pc:docMk/>
            <pc:sldMk cId="2317221130" sldId="300"/>
            <ac:spMk id="3" creationId="{D1846BEA-449F-3408-5622-24A46D90CD56}"/>
          </ac:spMkLst>
        </pc:spChg>
      </pc:sldChg>
      <pc:sldChg chg="del">
        <pc:chgData name="Cornelia Popescu" userId="444ac7d1-afda-4314-b2c2-4aff562fe857" providerId="ADAL" clId="{3812F0D7-A263-41B2-AC96-1F3B68D731C9}" dt="2026-03-10T09:00:07.897" v="7" actId="2696"/>
        <pc:sldMkLst>
          <pc:docMk/>
          <pc:sldMk cId="3059674935" sldId="455"/>
        </pc:sldMkLst>
      </pc:sldChg>
      <pc:sldChg chg="del">
        <pc:chgData name="Cornelia Popescu" userId="444ac7d1-afda-4314-b2c2-4aff562fe857" providerId="ADAL" clId="{3812F0D7-A263-41B2-AC96-1F3B68D731C9}" dt="2026-03-10T08:54:34.963" v="0" actId="2696"/>
        <pc:sldMkLst>
          <pc:docMk/>
          <pc:sldMk cId="2055695395" sldId="457"/>
        </pc:sldMkLst>
      </pc:sldChg>
      <pc:sldChg chg="modSp add mod">
        <pc:chgData name="Cornelia Popescu" userId="444ac7d1-afda-4314-b2c2-4aff562fe857" providerId="ADAL" clId="{3812F0D7-A263-41B2-AC96-1F3B68D731C9}" dt="2026-03-10T09:03:45.945" v="56" actId="20577"/>
        <pc:sldMkLst>
          <pc:docMk/>
          <pc:sldMk cId="1761323289" sldId="460"/>
        </pc:sldMkLst>
        <pc:spChg chg="mod">
          <ac:chgData name="Cornelia Popescu" userId="444ac7d1-afda-4314-b2c2-4aff562fe857" providerId="ADAL" clId="{3812F0D7-A263-41B2-AC96-1F3B68D731C9}" dt="2026-03-10T09:03:45.945" v="56" actId="20577"/>
          <ac:spMkLst>
            <pc:docMk/>
            <pc:sldMk cId="1761323289" sldId="460"/>
            <ac:spMk id="3" creationId="{E5868E28-61A9-5D1C-DA91-EDD3D3193B3E}"/>
          </ac:spMkLst>
        </pc:spChg>
      </pc:sldChg>
      <pc:sldChg chg="modSp add mod">
        <pc:chgData name="Cornelia Popescu" userId="444ac7d1-afda-4314-b2c2-4aff562fe857" providerId="ADAL" clId="{3812F0D7-A263-41B2-AC96-1F3B68D731C9}" dt="2026-03-10T09:06:31.853" v="79" actId="1076"/>
        <pc:sldMkLst>
          <pc:docMk/>
          <pc:sldMk cId="1044039640" sldId="461"/>
        </pc:sldMkLst>
        <pc:spChg chg="mod">
          <ac:chgData name="Cornelia Popescu" userId="444ac7d1-afda-4314-b2c2-4aff562fe857" providerId="ADAL" clId="{3812F0D7-A263-41B2-AC96-1F3B68D731C9}" dt="2026-03-10T09:06:31.853" v="79" actId="1076"/>
          <ac:spMkLst>
            <pc:docMk/>
            <pc:sldMk cId="1044039640" sldId="461"/>
            <ac:spMk id="3" creationId="{8944930B-56AB-9D99-6E29-BF65569BBA09}"/>
          </ac:spMkLst>
        </pc:spChg>
      </pc:sldChg>
      <pc:sldChg chg="modSp add modAnim">
        <pc:chgData name="Cornelia Popescu" userId="444ac7d1-afda-4314-b2c2-4aff562fe857" providerId="ADAL" clId="{3812F0D7-A263-41B2-AC96-1F3B68D731C9}" dt="2026-03-10T09:14:56.712" v="127" actId="255"/>
        <pc:sldMkLst>
          <pc:docMk/>
          <pc:sldMk cId="2079130563" sldId="462"/>
        </pc:sldMkLst>
        <pc:spChg chg="mod">
          <ac:chgData name="Cornelia Popescu" userId="444ac7d1-afda-4314-b2c2-4aff562fe857" providerId="ADAL" clId="{3812F0D7-A263-41B2-AC96-1F3B68D731C9}" dt="2026-03-10T09:14:56.712" v="127" actId="255"/>
          <ac:spMkLst>
            <pc:docMk/>
            <pc:sldMk cId="2079130563" sldId="462"/>
            <ac:spMk id="4" creationId="{FE3C3B3C-DC8A-726B-A4DA-688552FDCBBB}"/>
          </ac:spMkLst>
        </pc:spChg>
      </pc:sldChg>
      <pc:sldChg chg="modSp add del modAnim">
        <pc:chgData name="Cornelia Popescu" userId="444ac7d1-afda-4314-b2c2-4aff562fe857" providerId="ADAL" clId="{3812F0D7-A263-41B2-AC96-1F3B68D731C9}" dt="2026-03-10T09:12:10.044" v="90" actId="2696"/>
        <pc:sldMkLst>
          <pc:docMk/>
          <pc:sldMk cId="4165657501" sldId="462"/>
        </pc:sldMkLst>
        <pc:spChg chg="mod">
          <ac:chgData name="Cornelia Popescu" userId="444ac7d1-afda-4314-b2c2-4aff562fe857" providerId="ADAL" clId="{3812F0D7-A263-41B2-AC96-1F3B68D731C9}" dt="2026-03-10T09:11:34.447" v="84" actId="20577"/>
          <ac:spMkLst>
            <pc:docMk/>
            <pc:sldMk cId="4165657501" sldId="462"/>
            <ac:spMk id="4" creationId="{D7135236-758F-75D1-FB25-12755CBF42D2}"/>
          </ac:spMkLst>
        </pc:spChg>
      </pc:sldChg>
      <pc:sldChg chg="add">
        <pc:chgData name="Cornelia Popescu" userId="444ac7d1-afda-4314-b2c2-4aff562fe857" providerId="ADAL" clId="{3812F0D7-A263-41B2-AC96-1F3B68D731C9}" dt="2026-03-10T11:47:22.985" v="128" actId="2890"/>
        <pc:sldMkLst>
          <pc:docMk/>
          <pc:sldMk cId="1323286175" sldId="4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1DDD4-3CED-4400-A9AC-F2C4A6E68C5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845E0-60C2-446A-9A7D-97133A17FF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5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50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70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79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0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75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dirty="0"/>
              <a:t>Ključne karakteristike </a:t>
            </a:r>
            <a:r>
              <a:rPr lang="hr-HR" b="1" dirty="0" err="1"/>
              <a:t>prediktivnog</a:t>
            </a:r>
            <a:r>
              <a:rPr lang="hr-HR" b="1" dirty="0"/>
              <a:t> pristupa:</a:t>
            </a:r>
          </a:p>
          <a:p>
            <a:r>
              <a:rPr lang="hr-HR" dirty="0"/>
              <a:t>1. </a:t>
            </a:r>
            <a:r>
              <a:rPr lang="hr-HR" b="1" dirty="0"/>
              <a:t>Fiksni opseg i vremenski okvir</a:t>
            </a:r>
            <a:r>
              <a:rPr lang="hr-HR" dirty="0"/>
              <a:t> – Projekt ima jasno definirane zahtjeve, a promjene su svedene na minimum.</a:t>
            </a:r>
          </a:p>
          <a:p>
            <a:r>
              <a:rPr lang="hr-HR" dirty="0"/>
              <a:t>2. </a:t>
            </a:r>
            <a:r>
              <a:rPr lang="hr-HR" b="1" dirty="0"/>
              <a:t>Sekvencijalne faze</a:t>
            </a:r>
            <a:r>
              <a:rPr lang="hr-HR" dirty="0"/>
              <a:t> – Projekt slijedi strukturirani tijek od pokretanja do završetka.</a:t>
            </a:r>
          </a:p>
          <a:p>
            <a:r>
              <a:rPr lang="hr-HR" dirty="0"/>
              <a:t>3. </a:t>
            </a:r>
            <a:r>
              <a:rPr lang="hr-HR" b="1" dirty="0"/>
              <a:t>Detaljno planiranje</a:t>
            </a:r>
            <a:r>
              <a:rPr lang="hr-HR" dirty="0"/>
              <a:t> – Svaka faza planira se unaprijed, uz definirane prekretnice, budžet i resurse.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47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sz="1000" b="1" dirty="0"/>
              <a:t>Ključne karakteristike adaptivnog pristupa:</a:t>
            </a:r>
          </a:p>
          <a:p>
            <a:r>
              <a:rPr lang="hr-HR" sz="1000" b="1" dirty="0"/>
              <a:t>1. Fleksibilan opseg i promjenjivi zahtjevi</a:t>
            </a:r>
            <a:r>
              <a:rPr lang="hr-HR" sz="1000" dirty="0"/>
              <a:t> – Projekt započinje s osnovnim funkcionalnostima, a dodatne se prilagođavaju na temelju povratnih informacija korisnika.</a:t>
            </a:r>
          </a:p>
          <a:p>
            <a:r>
              <a:rPr lang="hr-HR" sz="1000" b="1" dirty="0"/>
              <a:t>2. Iterativni razvoj</a:t>
            </a:r>
            <a:r>
              <a:rPr lang="hr-HR" sz="1000" dirty="0"/>
              <a:t> – Rad se odvija u kratkim ciklusima (sprintovima), uz kontinuirano testiranje i unapređenje.</a:t>
            </a:r>
          </a:p>
          <a:p>
            <a:r>
              <a:rPr lang="hr-HR" sz="1000" b="1" dirty="0"/>
              <a:t>3. Bliska suradnja</a:t>
            </a:r>
            <a:r>
              <a:rPr lang="hr-HR" sz="1000" dirty="0"/>
              <a:t> – Programeri, dizajneri, poslovni analitičari i dionici surađuju tijekom cijelog projekta.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32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dirty="0"/>
              <a:t>Ključne karakteristike hibridnog pristupa:</a:t>
            </a:r>
          </a:p>
          <a:p>
            <a:r>
              <a:rPr lang="hr-HR" b="1" dirty="0"/>
              <a:t>1.Prediktivni pristup za fiksne elemente</a:t>
            </a:r>
            <a:r>
              <a:rPr lang="hr-HR" dirty="0"/>
              <a:t> – Infrastruktura, sigurnosna usklađenost i pozadinski sustavi slijede strukturirani plan s unaprijed definiranim rokovima.</a:t>
            </a:r>
          </a:p>
          <a:p>
            <a:r>
              <a:rPr lang="hr-HR" b="1" dirty="0"/>
              <a:t>2.Adaptivni pristup za korisnički orijentirane funkcionalnosti</a:t>
            </a:r>
            <a:r>
              <a:rPr lang="hr-HR" dirty="0"/>
              <a:t> – Dizajn UI/UX-a, integracija plaćanja i unapređenja korisničkog iskustva razvijaju se iterativno na temelju povratnih informacija korisnika.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18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865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9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73264-D4F8-4D4E-EFAE-05E29D4F1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03603-E60D-2713-A779-9FB05054D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C1ABB0-EAD6-A37B-FE9D-BE9859F95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1. Trener će dati osobni primjer za svako od ključnih načela</a:t>
            </a:r>
            <a:br>
              <a:rPr lang="hr-HR" dirty="0"/>
            </a:br>
            <a:r>
              <a:rPr lang="hr-HR" dirty="0"/>
              <a:t>    npr. Iskrenost – kao negativan primjer: nepotizam</a:t>
            </a:r>
          </a:p>
          <a:p>
            <a:r>
              <a:rPr lang="hr-HR" dirty="0"/>
              <a:t>2. Trener će također govoriti o povjerljivosti i NDA-u (ugovoru o povjerljivosti)</a:t>
            </a:r>
          </a:p>
          <a:p>
            <a:r>
              <a:rPr lang="hr-HR" dirty="0"/>
              <a:t>3. Koji je utjecaj na projekt ako se ne poštuje bilo koje od ova 4 načela?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65035-05FB-147E-354D-78663F5F7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866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Ovaj primjer pokazuje kako zanemarivanje </a:t>
            </a:r>
            <a:r>
              <a:rPr lang="hr-HR" b="1" dirty="0"/>
              <a:t>odgovornosti</a:t>
            </a:r>
            <a:r>
              <a:rPr lang="hr-HR" dirty="0"/>
              <a:t> (</a:t>
            </a:r>
            <a:r>
              <a:rPr lang="hr-HR" dirty="0" err="1"/>
              <a:t>neadresiranjem</a:t>
            </a:r>
            <a:r>
              <a:rPr lang="hr-HR" dirty="0"/>
              <a:t> rizika) i </a:t>
            </a:r>
            <a:r>
              <a:rPr lang="hr-HR" b="1" dirty="0"/>
              <a:t>pravednosti</a:t>
            </a:r>
            <a:r>
              <a:rPr lang="hr-HR" dirty="0"/>
              <a:t> (neravnomjernom raspodjelom posla) može dovesti do neuspjeha projekta i nezadovoljstva tima.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195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1497B-B147-02B4-B3BF-BF54A41FB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AEC529-896F-8932-8470-5784F2ABF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33DD3-84BA-6B33-5961-A0D08415B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Ovaj primjer naglašava kako zanemarivanje </a:t>
            </a:r>
            <a:r>
              <a:rPr lang="hr-HR" b="1" dirty="0"/>
              <a:t>odgovornosti</a:t>
            </a:r>
            <a:r>
              <a:rPr lang="hr-HR" dirty="0"/>
              <a:t> (nepravovremenim rješavanjem rizika) i </a:t>
            </a:r>
            <a:r>
              <a:rPr lang="hr-HR" b="1" dirty="0"/>
              <a:t>pravednosti</a:t>
            </a:r>
            <a:r>
              <a:rPr lang="hr-HR" dirty="0"/>
              <a:t> (neravnomjernom raspodjelom posla) može dovesti do neuspjeha projekta i nezadovoljstva tima.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38551-AD2A-51A1-3756-217CBA8FF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289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132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657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8767A-4EF8-F5BD-16CD-EBC6A5C12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D65BB420-4F6A-A81B-6E7F-02A2043C1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72C54C43-0116-9930-BCB5-2252318EF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00C77C8B-5742-626F-3EE9-B55AF3DC0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777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dirty="0"/>
              <a:t>Fiziološke potrebe – osigurati osnovne uvjete</a:t>
            </a:r>
            <a:br>
              <a:rPr lang="hr-HR" dirty="0"/>
            </a:br>
            <a:r>
              <a:rPr lang="hr-HR" b="1" dirty="0"/>
              <a:t>Problem:</a:t>
            </a:r>
            <a:r>
              <a:rPr lang="hr-HR" dirty="0"/>
              <a:t> John kasni na posao i ranije odlazi, što utječe na njegov učinak. Nakon razgovora, Sarah saznaje da se John suočava s osobnim financijskim stresom.</a:t>
            </a:r>
            <a:br>
              <a:rPr lang="hr-HR" dirty="0"/>
            </a:br>
            <a:r>
              <a:rPr lang="hr-HR" b="1" dirty="0"/>
              <a:t>Akcija: </a:t>
            </a:r>
            <a:r>
              <a:rPr lang="hr-HR" dirty="0"/>
              <a:t>Sarah s njim razgovara o dostupnim pogodnostima u tvrtki, poput resursa za financijsko planiranje i fleksibilnosti rada od kuće, kako bi mu osigurala stabilno okruženje za rad.</a:t>
            </a:r>
          </a:p>
          <a:p>
            <a:r>
              <a:rPr lang="hr-HR" b="1" dirty="0"/>
              <a:t>Problem:</a:t>
            </a:r>
            <a:r>
              <a:rPr lang="hr-HR" dirty="0"/>
              <a:t> John se osjeća nesigurno u vezi svoje uloge i strahuje da bi mogao biti zamijenjen zbog slabijeg učinka.</a:t>
            </a:r>
          </a:p>
          <a:p>
            <a:r>
              <a:rPr lang="hr-HR" b="1" dirty="0"/>
              <a:t>Akcija: </a:t>
            </a:r>
            <a:r>
              <a:rPr lang="hr-HR" dirty="0"/>
              <a:t>Sarah ga uvjerava u </a:t>
            </a:r>
            <a:r>
              <a:rPr lang="hr-HR" b="1" dirty="0"/>
              <a:t>sigurnost njegovog radnog mjesta</a:t>
            </a:r>
            <a:r>
              <a:rPr lang="hr-HR" dirty="0"/>
              <a:t>, postavlja jasna očekivanja i pruža </a:t>
            </a:r>
            <a:r>
              <a:rPr lang="hr-HR" b="1" dirty="0"/>
              <a:t>podršku kroz </a:t>
            </a:r>
            <a:r>
              <a:rPr lang="hr-HR" b="1" dirty="0" err="1"/>
              <a:t>coaching</a:t>
            </a:r>
            <a:r>
              <a:rPr lang="hr-HR" dirty="0"/>
              <a:t>. Uvodi strukturirani plan s ostvarivim ciljevima te osigurava mentora koji će ga voditi.</a:t>
            </a:r>
          </a:p>
          <a:p>
            <a:r>
              <a:rPr lang="hr-HR" b="1" dirty="0"/>
              <a:t>Potrebe za pripadanjem – potaknuti uključenost u tim</a:t>
            </a:r>
            <a:br>
              <a:rPr lang="hr-HR" dirty="0"/>
            </a:br>
            <a:r>
              <a:rPr lang="hr-HR" b="1" dirty="0"/>
              <a:t>Problem:</a:t>
            </a:r>
            <a:r>
              <a:rPr lang="hr-HR" dirty="0"/>
              <a:t> John se osjeća izolirano te izbjegava sastanke i suradnju.</a:t>
            </a:r>
            <a:br>
              <a:rPr lang="hr-HR" dirty="0"/>
            </a:br>
            <a:r>
              <a:rPr lang="hr-HR" b="1" dirty="0"/>
              <a:t>Akcija:</a:t>
            </a:r>
            <a:r>
              <a:rPr lang="hr-HR" dirty="0"/>
              <a:t> Sarah potiče </a:t>
            </a:r>
            <a:r>
              <a:rPr lang="hr-HR" b="1" dirty="0"/>
              <a:t>rad u paru </a:t>
            </a:r>
            <a:r>
              <a:rPr lang="hr-HR" dirty="0"/>
              <a:t>(</a:t>
            </a:r>
            <a:r>
              <a:rPr lang="hr-HR" dirty="0" err="1"/>
              <a:t>pair</a:t>
            </a:r>
            <a:r>
              <a:rPr lang="hr-HR" dirty="0"/>
              <a:t> </a:t>
            </a:r>
            <a:r>
              <a:rPr lang="hr-HR" dirty="0" err="1"/>
              <a:t>programming</a:t>
            </a:r>
            <a:r>
              <a:rPr lang="hr-HR" dirty="0"/>
              <a:t>) i dodjeljuje Johna manjem timu u kojem se može osjećati ugodnije i aktivnije doprinositi. Također organizira neformalne timske aktivnosti kako bi se osjećao </a:t>
            </a:r>
            <a:r>
              <a:rPr lang="hr-HR" b="1" dirty="0"/>
              <a:t>vrijedno i uključeno</a:t>
            </a:r>
            <a:r>
              <a:rPr lang="hr-HR" dirty="0"/>
              <a:t>.</a:t>
            </a:r>
          </a:p>
          <a:p>
            <a:r>
              <a:rPr lang="hr-HR" b="1" dirty="0"/>
              <a:t>Potrebe za poštovanjem – prepoznati i osnažiti</a:t>
            </a:r>
            <a:br>
              <a:rPr lang="hr-HR" dirty="0"/>
            </a:br>
            <a:r>
              <a:rPr lang="hr-HR" b="1" dirty="0"/>
              <a:t>Problem:</a:t>
            </a:r>
            <a:r>
              <a:rPr lang="hr-HR" dirty="0"/>
              <a:t> John je izgubio samopouzdanje zbog prethodnih neuspjeha na projektima.</a:t>
            </a:r>
            <a:br>
              <a:rPr lang="hr-HR" dirty="0"/>
            </a:br>
            <a:r>
              <a:rPr lang="hr-HR" b="1" dirty="0"/>
              <a:t>Akcija: </a:t>
            </a:r>
            <a:r>
              <a:rPr lang="hr-HR" dirty="0"/>
              <a:t>Sarah mu dodjeljuje </a:t>
            </a:r>
            <a:r>
              <a:rPr lang="hr-HR" b="1" dirty="0"/>
              <a:t>izvediv, ali važan zadatak </a:t>
            </a:r>
            <a:r>
              <a:rPr lang="hr-HR" dirty="0"/>
              <a:t>te javno </a:t>
            </a:r>
            <a:r>
              <a:rPr lang="hr-HR" b="1" dirty="0"/>
              <a:t>priznaje njegov napredak</a:t>
            </a:r>
            <a:r>
              <a:rPr lang="hr-HR" dirty="0"/>
              <a:t> na timskom sastanku. Osigurava da je povratna informacija konstruktivna i uravnotežena pozitivnim poticajem.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r-HR" b="1" dirty="0" err="1"/>
              <a:t>Samoaktualizacija</a:t>
            </a:r>
            <a:r>
              <a:rPr lang="hr-HR" b="1" dirty="0"/>
              <a:t> – omogućiti razvoj i smisao</a:t>
            </a:r>
            <a:br>
              <a:rPr lang="hr-HR" dirty="0"/>
            </a:br>
            <a:r>
              <a:rPr lang="hr-HR" b="1" dirty="0"/>
              <a:t>Problem: </a:t>
            </a:r>
            <a:r>
              <a:rPr lang="hr-HR" dirty="0"/>
              <a:t>John nema motivaciju i svoj rad doživljava kao rutinu.</a:t>
            </a:r>
            <a:br>
              <a:rPr lang="hr-HR" dirty="0"/>
            </a:br>
            <a:r>
              <a:rPr lang="hr-HR" b="1" dirty="0"/>
              <a:t>Akcija:</a:t>
            </a:r>
            <a:r>
              <a:rPr lang="hr-HR" dirty="0"/>
              <a:t> Sarah mu pruža priliku </a:t>
            </a:r>
            <a:r>
              <a:rPr lang="hr-HR" b="1" dirty="0"/>
              <a:t>raditi na inovativnoj funkcionalnosti </a:t>
            </a:r>
            <a:r>
              <a:rPr lang="hr-HR" dirty="0"/>
              <a:t>i uključuje ga u </a:t>
            </a:r>
            <a:r>
              <a:rPr lang="hr-HR" b="1" dirty="0"/>
              <a:t>naprednu radionicu programiranja</a:t>
            </a:r>
            <a:r>
              <a:rPr lang="hr-HR" dirty="0"/>
              <a:t>. Također mu omogućuje da iznosi nove ideje na sprint sastancima, dajući mu vlasništvo nad manjim projektom.</a:t>
            </a:r>
          </a:p>
          <a:p>
            <a:endParaRPr lang="hr-HR" dirty="0"/>
          </a:p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84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892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38444-E48A-38C7-78C5-D908D4AA3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B84D2-B206-EA6A-D567-BAB0EDF96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9AB28-2E41-ADC9-427F-884371D04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EF7D7-8EB8-DAC4-B69B-45522BE60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286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latin typeface="Bahnschrift SemiLight" panose="020B0502040204020203" pitchFamily="34" charset="0"/>
              </a:rPr>
              <a:t>Ovaj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konflikt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zahtijeva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pregovaranje</a:t>
            </a:r>
            <a:r>
              <a:rPr lang="en-US" dirty="0">
                <a:latin typeface="Bahnschrift SemiLight" panose="020B0502040204020203" pitchFamily="34" charset="0"/>
              </a:rPr>
              <a:t> — </a:t>
            </a:r>
            <a:r>
              <a:rPr lang="en-US" dirty="0" err="1">
                <a:latin typeface="Bahnschrift SemiLight" panose="020B0502040204020203" pitchFamily="34" charset="0"/>
              </a:rPr>
              <a:t>bilo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prilagodbu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roka</a:t>
            </a:r>
            <a:r>
              <a:rPr lang="en-US" dirty="0">
                <a:latin typeface="Bahnschrift SemiLight" panose="020B0502040204020203" pitchFamily="34" charset="0"/>
              </a:rPr>
              <a:t>, </a:t>
            </a:r>
            <a:r>
              <a:rPr lang="en-US" dirty="0" err="1">
                <a:latin typeface="Bahnschrift SemiLight" panose="020B0502040204020203" pitchFamily="34" charset="0"/>
              </a:rPr>
              <a:t>preraspodjelu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resursa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ili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pronalaženje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kompromisa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kako</a:t>
            </a:r>
            <a:r>
              <a:rPr lang="en-US" dirty="0">
                <a:latin typeface="Bahnschrift SemiLight" panose="020B0502040204020203" pitchFamily="34" charset="0"/>
              </a:rPr>
              <a:t> bi se </a:t>
            </a:r>
            <a:r>
              <a:rPr lang="en-US" dirty="0" err="1">
                <a:latin typeface="Bahnschrift SemiLight" panose="020B0502040204020203" pitchFamily="34" charset="0"/>
              </a:rPr>
              <a:t>uskladili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kvaliteta</a:t>
            </a:r>
            <a:r>
              <a:rPr lang="en-US" dirty="0">
                <a:latin typeface="Bahnschrift SemiLight" panose="020B0502040204020203" pitchFamily="34" charset="0"/>
              </a:rPr>
              <a:t> i </a:t>
            </a:r>
            <a:r>
              <a:rPr lang="en-US" dirty="0" err="1">
                <a:latin typeface="Bahnschrift SemiLight" panose="020B0502040204020203" pitchFamily="34" charset="0"/>
              </a:rPr>
              <a:t>brzina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isporuke</a:t>
            </a:r>
            <a:r>
              <a:rPr lang="en-US" dirty="0">
                <a:latin typeface="Bahnschrift SemiLight" panose="020B0502040204020203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67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47689-0A01-02C0-92F2-7FBF7284C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92EA1-576E-073B-46FF-57A152C43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7324BD-C018-EE88-0171-9E5AECFCC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latin typeface="Bahnschrift SemiLight" panose="020B0502040204020203" pitchFamily="34" charset="0"/>
              </a:rPr>
              <a:t>Ovaj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konflikt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zahtijeva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pregovaranje</a:t>
            </a:r>
            <a:r>
              <a:rPr lang="en-US" dirty="0">
                <a:latin typeface="Bahnschrift SemiLight" panose="020B0502040204020203" pitchFamily="34" charset="0"/>
              </a:rPr>
              <a:t> — </a:t>
            </a:r>
            <a:r>
              <a:rPr lang="en-US" dirty="0" err="1">
                <a:latin typeface="Bahnschrift SemiLight" panose="020B0502040204020203" pitchFamily="34" charset="0"/>
              </a:rPr>
              <a:t>prilagodbu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rokova</a:t>
            </a:r>
            <a:r>
              <a:rPr lang="en-US" dirty="0">
                <a:latin typeface="Bahnschrift SemiLight" panose="020B0502040204020203" pitchFamily="34" charset="0"/>
              </a:rPr>
              <a:t>, </a:t>
            </a:r>
            <a:r>
              <a:rPr lang="en-US" dirty="0" err="1">
                <a:latin typeface="Bahnschrift SemiLight" panose="020B0502040204020203" pitchFamily="34" charset="0"/>
              </a:rPr>
              <a:t>preraspodjelu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resursa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ili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pronalaženje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kompromisa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kako</a:t>
            </a:r>
            <a:r>
              <a:rPr lang="en-US" dirty="0">
                <a:latin typeface="Bahnschrift SemiLight" panose="020B0502040204020203" pitchFamily="34" charset="0"/>
              </a:rPr>
              <a:t> bi se </a:t>
            </a:r>
            <a:r>
              <a:rPr lang="en-US" dirty="0" err="1">
                <a:latin typeface="Bahnschrift SemiLight" panose="020B0502040204020203" pitchFamily="34" charset="0"/>
              </a:rPr>
              <a:t>uskladili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kvaliteta</a:t>
            </a:r>
            <a:r>
              <a:rPr lang="en-US" dirty="0">
                <a:latin typeface="Bahnschrift SemiLight" panose="020B0502040204020203" pitchFamily="34" charset="0"/>
              </a:rPr>
              <a:t> i </a:t>
            </a:r>
            <a:r>
              <a:rPr lang="en-US" dirty="0" err="1">
                <a:latin typeface="Bahnschrift SemiLight" panose="020B0502040204020203" pitchFamily="34" charset="0"/>
              </a:rPr>
              <a:t>brzina</a:t>
            </a:r>
            <a:r>
              <a:rPr lang="en-US" dirty="0"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latin typeface="Bahnschrift SemiLight" panose="020B0502040204020203" pitchFamily="34" charset="0"/>
              </a:rPr>
              <a:t>isporuke</a:t>
            </a:r>
            <a:r>
              <a:rPr lang="en-US" dirty="0">
                <a:latin typeface="Bahnschrift SemiLight" panose="020B0502040204020203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F50E9-6EB0-D467-63A8-FDF2143B6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415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916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368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115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4A67C-A02A-86A8-E575-24E390B3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6A6F6C1F-CC4E-C9B8-BAC3-BCAE8961C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766F635B-F749-6378-4078-D7A93006F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13BF591B-E3DE-9DB4-6BB2-426153A7F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402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845E0-60C2-446A-9A7D-97133A17FFD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6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ka 13">
            <a:extLst>
              <a:ext uri="{FF2B5EF4-FFF2-40B4-BE49-F238E27FC236}">
                <a16:creationId xmlns:a16="http://schemas.microsoft.com/office/drawing/2014/main" id="{8FBD081C-E6C2-807B-F622-45A52F57D6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2468084"/>
            <a:ext cx="9144000" cy="2387600"/>
          </a:xfrm>
        </p:spPr>
        <p:txBody>
          <a:bodyPr anchor="b"/>
          <a:lstStyle>
            <a:lvl1pPr algn="r">
              <a:defRPr sz="6000">
                <a:latin typeface="Montserrat" panose="00000500000000000000" pitchFamily="2" charset="-18"/>
              </a:defRPr>
            </a:lvl1pPr>
          </a:lstStyle>
          <a:p>
            <a:r>
              <a:rPr lang="hr-HR" dirty="0"/>
              <a:t>DOCUMENT TITLE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7A61E420-EBAD-A9E6-F448-076E17D0F2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5653" y="4947759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latin typeface="Montserrat" panose="00000500000000000000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 dirty="0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16379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62662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ka 9" descr="Slika na kojoj se prikazuje crta, snimka zaslona, šarenilo, dizajn&#10;&#10;Opis je automatski generiran">
            <a:extLst>
              <a:ext uri="{FF2B5EF4-FFF2-40B4-BE49-F238E27FC236}">
                <a16:creationId xmlns:a16="http://schemas.microsoft.com/office/drawing/2014/main" id="{7D3E6235-77BD-81C2-1C4B-460BFF2AC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601275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Slika na kojoj se prikazuje crta, snimka zaslona, šarenilo, dizajn">
            <a:extLst>
              <a:ext uri="{FF2B5EF4-FFF2-40B4-BE49-F238E27FC236}">
                <a16:creationId xmlns:a16="http://schemas.microsoft.com/office/drawing/2014/main" id="{813DD7BB-6C45-D079-40C8-D9AAFA3351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30842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4911BAC4-6BC8-78C9-C3A0-3B8193B50B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941421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Slika na kojoj se prikazuje crta, snimka zaslona, dizajn&#10;&#10;Opis je automatski generiran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558903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snimka zaslona, dizajn&#10;&#10;Opis je automatski generiran">
            <a:extLst>
              <a:ext uri="{FF2B5EF4-FFF2-40B4-BE49-F238E27FC236}">
                <a16:creationId xmlns:a16="http://schemas.microsoft.com/office/drawing/2014/main" id="{5FF10651-A88B-132B-AE77-005E725B18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56830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>
            <a:extLst>
              <a:ext uri="{FF2B5EF4-FFF2-40B4-BE49-F238E27FC236}">
                <a16:creationId xmlns:a16="http://schemas.microsoft.com/office/drawing/2014/main" id="{8A7D5785-C017-9CDE-887E-053A663A78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811607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alat, dizajn&#10;&#10;Opis je automatski generiran">
            <a:extLst>
              <a:ext uri="{FF2B5EF4-FFF2-40B4-BE49-F238E27FC236}">
                <a16:creationId xmlns:a16="http://schemas.microsoft.com/office/drawing/2014/main" id="{7174B7B0-D794-7A54-5CF6-E0A21E0E58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498932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>
            <a:extLst>
              <a:ext uri="{FF2B5EF4-FFF2-40B4-BE49-F238E27FC236}">
                <a16:creationId xmlns:a16="http://schemas.microsoft.com/office/drawing/2014/main" id="{78154B72-B9D9-7CC8-2522-C7E3F4476C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38972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5F67D23E-A28C-75D8-1345-0AB914675C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25255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 descr="Slika na kojoj se prikazuje ljubičasto, Magenta, Jorgovan, ljubičica&#10;&#10;Opis je automatski generiran">
            <a:extLst>
              <a:ext uri="{FF2B5EF4-FFF2-40B4-BE49-F238E27FC236}">
                <a16:creationId xmlns:a16="http://schemas.microsoft.com/office/drawing/2014/main" id="{35DF2062-AC53-CC06-3408-F03D9B95BB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226208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ljubičasto, Magenta, Jorgovan, ljubičica&#10;&#10;Opis je automatski generiran">
            <a:extLst>
              <a:ext uri="{FF2B5EF4-FFF2-40B4-BE49-F238E27FC236}">
                <a16:creationId xmlns:a16="http://schemas.microsoft.com/office/drawing/2014/main" id="{9FAA237F-8481-A276-5DC5-A3FC50F5B1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83575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ACF3BB00-7BB7-10A7-AF1C-C068963059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511350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dizajn&#10;&#10;Opis je automatski generiran">
            <a:extLst>
              <a:ext uri="{FF2B5EF4-FFF2-40B4-BE49-F238E27FC236}">
                <a16:creationId xmlns:a16="http://schemas.microsoft.com/office/drawing/2014/main" id="{B7D62D7D-7D80-2656-0C29-220AC7C0C0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911371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>
            <a:extLst>
              <a:ext uri="{FF2B5EF4-FFF2-40B4-BE49-F238E27FC236}">
                <a16:creationId xmlns:a16="http://schemas.microsoft.com/office/drawing/2014/main" id="{1FCDBB5E-C312-9CA7-3D6E-5B05ED0C9D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467470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Završ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27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ilagođeni izg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Slika na kojoj se prikazuje crta, snimka zaslona, dijagram, dizajn">
            <a:extLst>
              <a:ext uri="{FF2B5EF4-FFF2-40B4-BE49-F238E27FC236}">
                <a16:creationId xmlns:a16="http://schemas.microsoft.com/office/drawing/2014/main" id="{3A63C51E-BBBB-22E4-3216-33F3A8DECE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AE0E3769-885C-635A-42E6-2DFD4C088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r-HR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1696466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ka 13">
            <a:extLst>
              <a:ext uri="{FF2B5EF4-FFF2-40B4-BE49-F238E27FC236}">
                <a16:creationId xmlns:a16="http://schemas.microsoft.com/office/drawing/2014/main" id="{8FBD081C-E6C2-807B-F622-45A52F57D6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2468084"/>
            <a:ext cx="9144000" cy="2387600"/>
          </a:xfrm>
        </p:spPr>
        <p:txBody>
          <a:bodyPr anchor="b"/>
          <a:lstStyle>
            <a:lvl1pPr algn="r">
              <a:defRPr sz="6000">
                <a:latin typeface="Montserrat" panose="00000500000000000000" pitchFamily="2" charset="-18"/>
              </a:defRPr>
            </a:lvl1pPr>
          </a:lstStyle>
          <a:p>
            <a:r>
              <a:rPr lang="hr-HR" dirty="0"/>
              <a:t>DOCUMENT TITLE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7A61E420-EBAD-A9E6-F448-076E17D0F2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5653" y="4947759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latin typeface="Montserrat" panose="00000500000000000000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 dirty="0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8788001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8260536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ka 9" descr="Slika na kojoj se prikazuje crta, snimka zaslona, šarenilo, dizajn&#10;&#10;Opis je automatski generiran">
            <a:extLst>
              <a:ext uri="{FF2B5EF4-FFF2-40B4-BE49-F238E27FC236}">
                <a16:creationId xmlns:a16="http://schemas.microsoft.com/office/drawing/2014/main" id="{7D3E6235-77BD-81C2-1C4B-460BFF2AC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1515728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Slika na kojoj se prikazuje crta, snimka zaslona, šarenilo, dizajn">
            <a:extLst>
              <a:ext uri="{FF2B5EF4-FFF2-40B4-BE49-F238E27FC236}">
                <a16:creationId xmlns:a16="http://schemas.microsoft.com/office/drawing/2014/main" id="{813DD7BB-6C45-D079-40C8-D9AAFA3351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406327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ACF3BB00-7BB7-10A7-AF1C-C068963059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1066288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lagođeni izg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Slika na kojoj se prikazuje crta, snimka zaslona, dijagram, dizajn">
            <a:extLst>
              <a:ext uri="{FF2B5EF4-FFF2-40B4-BE49-F238E27FC236}">
                <a16:creationId xmlns:a16="http://schemas.microsoft.com/office/drawing/2014/main" id="{3A63C51E-BBBB-22E4-3216-33F3A8DECE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AE0E3769-885C-635A-42E6-2DFD4C088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r-HR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5702897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dizajn&#10;&#10;Opis je automatski generiran">
            <a:extLst>
              <a:ext uri="{FF2B5EF4-FFF2-40B4-BE49-F238E27FC236}">
                <a16:creationId xmlns:a16="http://schemas.microsoft.com/office/drawing/2014/main" id="{B7D62D7D-7D80-2656-0C29-220AC7C0C0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2471692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>
            <a:extLst>
              <a:ext uri="{FF2B5EF4-FFF2-40B4-BE49-F238E27FC236}">
                <a16:creationId xmlns:a16="http://schemas.microsoft.com/office/drawing/2014/main" id="{1FCDBB5E-C312-9CA7-3D6E-5B05ED0C9D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425139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3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428"/>
            <a:ext cx="12191996" cy="6857141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DISCUSSION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9058386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4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428"/>
            <a:ext cx="12191996" cy="685714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EXERCISE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8839996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5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4" cy="685714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HOMEWORK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3490238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6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4" cy="685713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ASSESSMENTS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7530770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7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3" cy="685713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ADDITIONAL READING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089665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8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3" cy="6857138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RESOURCES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1126983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Završ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5436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ka 13">
            <a:extLst>
              <a:ext uri="{FF2B5EF4-FFF2-40B4-BE49-F238E27FC236}">
                <a16:creationId xmlns:a16="http://schemas.microsoft.com/office/drawing/2014/main" id="{8FBD081C-E6C2-807B-F622-45A52F57D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2468084"/>
            <a:ext cx="9144000" cy="2387600"/>
          </a:xfrm>
        </p:spPr>
        <p:txBody>
          <a:bodyPr anchor="b"/>
          <a:lstStyle>
            <a:lvl1pPr algn="r">
              <a:defRPr sz="6000">
                <a:latin typeface="Montserrat" panose="00000500000000000000" pitchFamily="2" charset="-18"/>
              </a:defRPr>
            </a:lvl1pPr>
          </a:lstStyle>
          <a:p>
            <a:r>
              <a:rPr lang="hr-HR" dirty="0"/>
              <a:t>DOCUMENT TITLE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7A61E420-EBAD-A9E6-F448-076E17D0F2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5653" y="4947759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latin typeface="Montserrat" panose="00000500000000000000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 dirty="0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4574289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4176070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ka 9" descr="Slika na kojoj se prikazuje crta, snimka zaslona, šarenilo, dizajn&#10;&#10;Opis je automatski generiran">
            <a:extLst>
              <a:ext uri="{FF2B5EF4-FFF2-40B4-BE49-F238E27FC236}">
                <a16:creationId xmlns:a16="http://schemas.microsoft.com/office/drawing/2014/main" id="{7D3E6235-77BD-81C2-1C4B-460BFF2AC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5778581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Slika na kojoj se prikazuje crta, snimka zaslona, šarenilo, dizajn">
            <a:extLst>
              <a:ext uri="{FF2B5EF4-FFF2-40B4-BE49-F238E27FC236}">
                <a16:creationId xmlns:a16="http://schemas.microsoft.com/office/drawing/2014/main" id="{813DD7BB-6C45-D079-40C8-D9AAFA335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2978443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4911BAC4-6BC8-78C9-C3A0-3B8193B50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2339235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lagođeni izg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Slika na kojoj se prikazuje crta, snimka zaslona, dijagram, dizajn&#10;&#10;Sadržaj generiran umjetnom inteligencijom može biti netočan.">
            <a:extLst>
              <a:ext uri="{FF2B5EF4-FFF2-40B4-BE49-F238E27FC236}">
                <a16:creationId xmlns:a16="http://schemas.microsoft.com/office/drawing/2014/main" id="{C0FCACAC-BB9E-0632-BD17-545E78065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9737123B-701A-537A-EC45-AA46D9298A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8495581" cy="1325563"/>
          </a:xfrm>
        </p:spPr>
        <p:txBody>
          <a:bodyPr/>
          <a:lstStyle>
            <a:lvl1pPr>
              <a:defRPr/>
            </a:lvl1pPr>
          </a:lstStyle>
          <a:p>
            <a:r>
              <a:rPr lang="hr-HR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26387956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 descr="Slika na kojoj se prikazuje crta, snimka zaslona, dizajn&#10;&#10;Opis je automatski generiran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8185868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crta, snimka zaslona, dizajn&#10;&#10;Opis je automatski generiran">
            <a:extLst>
              <a:ext uri="{FF2B5EF4-FFF2-40B4-BE49-F238E27FC236}">
                <a16:creationId xmlns:a16="http://schemas.microsoft.com/office/drawing/2014/main" id="{5FF10651-A88B-132B-AE77-005E725B1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/>
              <a:t>Kliknite da biste uredili stil naslova matrice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7625350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DISCUSSION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5234546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EXERCISE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6824621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1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HOMEWORK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195450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428"/>
            <a:ext cx="12191996" cy="6857141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ASSESSMENTS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3369787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428"/>
            <a:ext cx="12191996" cy="685714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ADDITIONAL READING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0661430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0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4" cy="685714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RESOURCES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2616130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Završ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45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1B650DF9-2458-1434-6EFF-3D965EDC4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76C6E5EE-2B8F-9019-690C-3AF0A69B8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70CF1CA-F427-A5AF-96AA-671002CD7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3B997-549E-41F4-A1E4-B0CF42B49EF1}" type="datetimeFigureOut">
              <a:rPr lang="hr-HR" smtClean="0"/>
              <a:t>11.05.2026.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8D829544-1FE5-4ED0-6A51-373B24568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33A67201-5F88-A086-59F5-4A06FA6BE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DD723-16A0-42C8-A963-6C8D73A0AD4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9751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9" r:id="rId4"/>
    <p:sldLayoutId id="2147483665" r:id="rId5"/>
    <p:sldLayoutId id="2147483651" r:id="rId6"/>
    <p:sldLayoutId id="2147483660" r:id="rId7"/>
    <p:sldLayoutId id="2147483666" r:id="rId8"/>
    <p:sldLayoutId id="2147483652" r:id="rId9"/>
    <p:sldLayoutId id="2147483661" r:id="rId10"/>
    <p:sldLayoutId id="2147483667" r:id="rId11"/>
    <p:sldLayoutId id="2147483653" r:id="rId12"/>
    <p:sldLayoutId id="2147483662" r:id="rId13"/>
    <p:sldLayoutId id="2147483668" r:id="rId14"/>
    <p:sldLayoutId id="2147483654" r:id="rId15"/>
    <p:sldLayoutId id="2147483663" r:id="rId16"/>
    <p:sldLayoutId id="2147483669" r:id="rId17"/>
    <p:sldLayoutId id="214748367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1B650DF9-2458-1434-6EFF-3D965EDC4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76C6E5EE-2B8F-9019-690C-3AF0A69B8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70CF1CA-F427-A5AF-96AA-671002CD7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3B997-549E-41F4-A1E4-B0CF42B49EF1}" type="datetimeFigureOut">
              <a:rPr lang="hr-HR" smtClean="0"/>
              <a:t>11.05.2026.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8D829544-1FE5-4ED0-6A51-373B24568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33A67201-5F88-A086-59F5-4A06FA6BE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DD723-16A0-42C8-A963-6C8D73A0AD4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8882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1B650DF9-2458-1434-6EFF-3D965EDC4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76C6E5EE-2B8F-9019-690C-3AF0A69B8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70CF1CA-F427-A5AF-96AA-671002CD7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14BC6-5124-4F98-9787-DC21F168941F}" type="datetimeFigureOut">
              <a:rPr lang="hr-HR" smtClean="0"/>
              <a:t>11.05.2026.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8D829544-1FE5-4ED0-6A51-373B24568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33A67201-5F88-A086-59F5-4A06FA6BE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9144E-F003-4576-A945-982E90F0F2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72071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7" Type="http://schemas.openxmlformats.org/officeDocument/2006/relationships/image" Target="../media/image3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mi.org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.sagepub.com/home/pmx" TargetMode="External"/><Relationship Id="rId2" Type="http://schemas.openxmlformats.org/officeDocument/2006/relationships/hyperlink" Target="https://www.pmi.org/pmbok-guide-standards/foundational/pmbok" TargetMode="Externa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2CB60DA-D540-9401-635F-A45F01BADE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SHIFT4IT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63E0B6ED-D750-5275-50F0-366067E1B8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Nunito" pitchFamily="2" charset="0"/>
              </a:rPr>
              <a:t>Shifting the paradigm for women in IT sector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43487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3DF1749-1A1D-3164-354A-8D2A8109F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4043" y="3382477"/>
            <a:ext cx="8265610" cy="2387600"/>
          </a:xfrm>
        </p:spPr>
        <p:txBody>
          <a:bodyPr>
            <a:normAutofit fontScale="90000"/>
          </a:bodyPr>
          <a:lstStyle/>
          <a:p>
            <a:br>
              <a:rPr lang="ro-RO" dirty="0"/>
            </a:br>
            <a:br>
              <a:rPr lang="ro-RO" dirty="0"/>
            </a:br>
            <a:r>
              <a:rPr lang="en-US" sz="5300" dirty="0"/>
              <a:t>Osnove </a:t>
            </a:r>
            <a:r>
              <a:rPr lang="en-US" sz="5300" dirty="0" err="1"/>
              <a:t>upravljanja</a:t>
            </a:r>
            <a:r>
              <a:rPr lang="en-US" sz="5300" dirty="0"/>
              <a:t> </a:t>
            </a:r>
            <a:r>
              <a:rPr lang="en-US" sz="5300" dirty="0" err="1"/>
              <a:t>projektima</a:t>
            </a:r>
            <a:br>
              <a:rPr lang="en-US" sz="5300" dirty="0"/>
            </a:br>
            <a:endParaRPr lang="hr-HR" sz="5300" dirty="0"/>
          </a:p>
        </p:txBody>
      </p:sp>
    </p:spTree>
    <p:extLst>
      <p:ext uri="{BB962C8B-B14F-4D97-AF65-F5344CB8AC3E}">
        <p14:creationId xmlns:p14="http://schemas.microsoft.com/office/powerpoint/2010/main" val="262323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25DB994-20D2-9EF1-A081-C76AA523F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Bahnschrift SemiBold" panose="020B0502040204020203" pitchFamily="34" charset="0"/>
              </a:rPr>
              <a:t>Sažetak</a:t>
            </a:r>
            <a:r>
              <a:rPr lang="en-US" sz="3600" dirty="0"/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C353DD-410E-0D01-85CF-C64EC687F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453" y="1627001"/>
            <a:ext cx="9692837" cy="508345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2696" rIns="0" bIns="-12696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lang="en-US" altLang="en-US" sz="24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</a:br>
            <a:br>
              <a:rPr lang="en-US" altLang="en-US" sz="24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</a:b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1.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Definirati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životni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ciklus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projekta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2600" dirty="0">
              <a:solidFill>
                <a:srgbClr val="1F1F1F"/>
              </a:solidFill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2.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Metodologije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upravljanja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projektima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: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prediktivni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,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adaptivni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i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hibridni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pristupi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2600" dirty="0">
              <a:solidFill>
                <a:srgbClr val="1F1F1F"/>
              </a:solidFill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3.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Važnost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etike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u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upravljanju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projektima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2600" dirty="0">
              <a:solidFill>
                <a:srgbClr val="1F1F1F"/>
              </a:solidFill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4. Liderske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vještine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u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projektnom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okruženju</a:t>
            </a:r>
            <a:endParaRPr lang="en-US" altLang="en-US" sz="2600" dirty="0">
              <a:solidFill>
                <a:srgbClr val="1F1F1F"/>
              </a:solidFill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2600" dirty="0">
              <a:solidFill>
                <a:srgbClr val="1F1F1F"/>
              </a:solidFill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5.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Učinkovita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komunikacija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u </a:t>
            </a:r>
            <a:r>
              <a:rPr lang="en-US" altLang="en-US" sz="2600" dirty="0" err="1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projektima</a:t>
            </a:r>
            <a:r>
              <a:rPr lang="en-US" altLang="en-US" sz="2600" dirty="0">
                <a:solidFill>
                  <a:srgbClr val="1F1F1F"/>
                </a:solidFill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2400" dirty="0">
              <a:latin typeface="Bahnschrift SemiLight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784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5B2607-83C3-7BE3-DEB0-6FE351DFF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732" y="2782827"/>
            <a:ext cx="780715" cy="7807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8CB107-46F3-1B3E-820E-255E6F9CC2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068" y="2511079"/>
            <a:ext cx="2191519" cy="13242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15C5B2-6334-526A-E327-DE57C3F7B3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288" y="2906471"/>
            <a:ext cx="775236" cy="533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492FFD-570E-03DA-22D8-86EFE2B16C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227" y="2133008"/>
            <a:ext cx="2498916" cy="20803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356F89-538B-CB36-2166-B16A394987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547" y="2373082"/>
            <a:ext cx="1371600" cy="1600200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28053DAD-72B6-3860-D882-2954EF08B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17501" y="4726536"/>
            <a:ext cx="10150642" cy="959245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en-US" sz="32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Bahnschrift SemiLight" panose="020B0502040204020203" pitchFamily="34" charset="0"/>
              </a:rPr>
              <a:t>San bez plana je samo želja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Bahnschrift SemiLight" panose="020B0502040204020203" pitchFamily="34" charset="0"/>
              </a:rPr>
              <a:t>! 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Bahnschrift SemiLight" panose="020B0502040204020203" pitchFamily="34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Bahnschrift SemiLight" panose="020B0502040204020203" pitchFamily="34" charset="0"/>
              </a:rPr>
              <a:t>- Antoine de Saint-Exupéry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Light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968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38E1-172C-57C5-61B2-539BBE832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Što je specifično za projekt</a:t>
            </a:r>
            <a:r>
              <a:rPr lang="en-US" b="1" dirty="0">
                <a:latin typeface="Bahnschrift SemiLight" panose="020B0502040204020203" pitchFamily="34" charset="0"/>
              </a:rPr>
              <a:t>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FD6B2A-4DB2-1EF9-D254-AA4674C03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299" y="2028301"/>
            <a:ext cx="9569885" cy="3500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SLOŽENE AKTIVNOSTI KOJE STVARAJU PROMJENE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Mješoviti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ciljevi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 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ograničenja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vezani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uz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kvalitetu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 /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trošak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 /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vrijeme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Ljudi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iz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različitih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područja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ili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funkcionalnih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dijelova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organizacije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Bahnschrift SemiLight" panose="020B0502040204020203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Podrazumijeva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jedinstvenost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Bahnschrift SemiLight" panose="020B0502040204020203" pitchFamily="34" charset="0"/>
                <a:cs typeface="Arial" panose="020B0604020202020204" pitchFamily="34" charset="0"/>
              </a:rPr>
              <a:t>aktivnosti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Bahnschrift SemiLight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798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44AD0-140A-0F94-3F33-EE08AD234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93E8-6A38-7B17-B29F-5D6C19B0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l-PL" dirty="0"/>
              <a:t>Što je specifično za projekt</a:t>
            </a:r>
            <a:r>
              <a:rPr lang="en-US" b="1" dirty="0">
                <a:latin typeface="Bahnschrift SemiLight" panose="020B0502040204020203" pitchFamily="34" charset="0"/>
              </a:rPr>
              <a:t>?</a:t>
            </a:r>
            <a:endParaRPr lang="hr-HR" b="1" kern="1200" dirty="0">
              <a:latin typeface="Bahnschrift Semi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4DB5B4-E7CB-AEF3-A685-BA85433B332C}"/>
              </a:ext>
            </a:extLst>
          </p:cNvPr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hr-HR" sz="2800" b="1" dirty="0">
                <a:solidFill>
                  <a:srgbClr val="0ADBBC"/>
                </a:solidFill>
                <a:latin typeface="Bahnschrift SemiLight" panose="020B0502040204020203" pitchFamily="34" charset="0"/>
              </a:rPr>
              <a:t>OPERACIJE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hr-HR" sz="2800" kern="1200" dirty="0">
              <a:latin typeface="Bahnschrift SemiLight" panose="020B0502040204020203" pitchFamily="34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r-HR" sz="2800" kern="1200" dirty="0">
                <a:latin typeface="Bahnschrift SemiLight" panose="020B0502040204020203" pitchFamily="34" charset="0"/>
              </a:rPr>
              <a:t>PONAVLJAJUĆE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r-HR" sz="2800" kern="1200" dirty="0">
                <a:latin typeface="Bahnschrift SemiLight" panose="020B0502040204020203" pitchFamily="34" charset="0"/>
              </a:rPr>
              <a:t>TRAJNE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r-HR" sz="2800" kern="1200" dirty="0">
                <a:latin typeface="Bahnschrift SemiLight" panose="020B0502040204020203" pitchFamily="34" charset="0"/>
              </a:rPr>
              <a:t>„EVOLUCIJSKE“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r-HR" sz="2800" kern="1200" dirty="0">
                <a:latin typeface="Bahnschrift SemiLight" panose="020B0502040204020203" pitchFamily="34" charset="0"/>
              </a:rPr>
              <a:t>PROMJENA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r-HR" sz="2800" kern="1200" dirty="0">
                <a:latin typeface="Bahnschrift SemiLight" panose="020B0502040204020203" pitchFamily="34" charset="0"/>
              </a:rPr>
              <a:t>URAVNOTEŽENI CILJEVI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r-HR" sz="2800" kern="1200" dirty="0">
                <a:latin typeface="Bahnschrift SemiLight" panose="020B0502040204020203" pitchFamily="34" charset="0"/>
              </a:rPr>
              <a:t>STABILNI RESURSI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066BBF-83D9-2694-DD06-4ACBA4E0841F}"/>
              </a:ext>
            </a:extLst>
          </p:cNvPr>
          <p:cNvSpPr txBox="1"/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hr-HR" sz="2800" b="1" dirty="0">
                <a:solidFill>
                  <a:srgbClr val="0ADBBC"/>
                </a:solidFill>
                <a:latin typeface="Bahnschrift SemiLight" panose="020B0502040204020203" pitchFamily="34" charset="0"/>
              </a:rPr>
              <a:t>PROJEKTI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hr-HR" sz="2800" b="1" dirty="0">
              <a:solidFill>
                <a:srgbClr val="0ADBBC"/>
              </a:solidFill>
              <a:latin typeface="Bahnschrift SemiLight" panose="020B0502040204020203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hr-HR" sz="2800" dirty="0">
                <a:latin typeface="Bahnschrift SemiLight" panose="020B0502040204020203" pitchFamily="34" charset="0"/>
              </a:rPr>
              <a:t>JEDINSTVENOST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hr-HR" sz="2800" dirty="0">
                <a:latin typeface="Bahnschrift SemiLight" panose="020B0502040204020203" pitchFamily="34" charset="0"/>
              </a:rPr>
              <a:t>VREMENSKI OGRANIČENI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hr-HR" sz="2800" dirty="0">
                <a:latin typeface="Bahnschrift SemiLight" panose="020B0502040204020203" pitchFamily="34" charset="0"/>
              </a:rPr>
              <a:t>„REVOLUCIONARNA“ PROMJENA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hr-HR" sz="2800" dirty="0">
                <a:latin typeface="Bahnschrift SemiLight" panose="020B0502040204020203" pitchFamily="34" charset="0"/>
              </a:rPr>
              <a:t>DONOSE NERAVNOTEŽU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hr-HR" sz="2800" dirty="0">
                <a:latin typeface="Bahnschrift SemiLight" panose="020B0502040204020203" pitchFamily="34" charset="0"/>
              </a:rPr>
              <a:t>OGRANIČENI RESURSI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hr-HR" sz="2800" dirty="0">
                <a:latin typeface="Bahnschrift SemiLight" panose="020B0502040204020203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34685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82B3324-56EC-8332-4E4A-6E7623D0C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676021" cy="11989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projektima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2DC7C-0674-78E7-C222-9AB22EEC5921}"/>
              </a:ext>
            </a:extLst>
          </p:cNvPr>
          <p:cNvSpPr txBox="1"/>
          <p:nvPr/>
        </p:nvSpPr>
        <p:spPr>
          <a:xfrm>
            <a:off x="838199" y="1845433"/>
            <a:ext cx="10363200" cy="51673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r-HR" sz="2000" b="1" kern="1200" dirty="0">
                <a:latin typeface="Bahnschrift SemiLight" panose="020B0502040204020203" pitchFamily="34" charset="0"/>
              </a:rPr>
              <a:t>CILJ PROJEKTA </a:t>
            </a:r>
            <a:r>
              <a:rPr lang="hr-HR" sz="2000" kern="1200" dirty="0">
                <a:latin typeface="Bahnschrift SemiLight" panose="020B0502040204020203" pitchFamily="34" charset="0"/>
              </a:rPr>
              <a:t>predstavlja namjeravanu svrhu projekta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hr-HR" sz="2000" kern="1200" dirty="0">
              <a:latin typeface="Bahnschrift SemiLight" panose="020B0502040204020203" pitchFamily="34" charset="0"/>
            </a:endParaRP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r-HR" sz="2000" b="1" kern="1200" dirty="0">
                <a:latin typeface="Bahnschrift SemiLight" panose="020B0502040204020203" pitchFamily="34" charset="0"/>
              </a:rPr>
              <a:t>OPĆI CILJ PROJEKTA </a:t>
            </a:r>
            <a:r>
              <a:rPr lang="hr-HR" sz="2000" kern="1200" dirty="0">
                <a:latin typeface="Bahnschrift SemiLight" panose="020B0502040204020203" pitchFamily="34" charset="0"/>
              </a:rPr>
              <a:t>uzima u obzir širu usmjerenost kojoj projekt treba doprinijeti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hr-HR" sz="2000" kern="1200" dirty="0">
              <a:latin typeface="Bahnschrift SemiLight" panose="020B0502040204020203" pitchFamily="34" charset="0"/>
            </a:endParaRP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r-HR" sz="2000" b="1" kern="1200" dirty="0">
                <a:latin typeface="Bahnschrift SemiLight" panose="020B0502040204020203" pitchFamily="34" charset="0"/>
              </a:rPr>
              <a:t>NEPOSREDNI (SPECIFIČNI) CILJ </a:t>
            </a:r>
            <a:r>
              <a:rPr lang="hr-HR" sz="2000" kern="1200" dirty="0">
                <a:latin typeface="Bahnschrift SemiLight" panose="020B0502040204020203" pitchFamily="34" charset="0"/>
              </a:rPr>
              <a:t>odnosi se na pozitivan utjecaj projekta na korisnika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hr-HR" sz="2000" kern="1200" dirty="0">
              <a:latin typeface="Bahnschrift SemiLight" panose="020B0502040204020203" pitchFamily="34" charset="0"/>
            </a:endParaRP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r-HR" sz="2000" kern="1200" dirty="0">
                <a:latin typeface="Bahnschrift SemiLight" panose="020B0502040204020203" pitchFamily="34" charset="0"/>
              </a:rPr>
              <a:t>Ciljevi se definiraju u fazi pokretanja projekta, ali se mogu naknadno mijenjati u fazi planiranja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hr-HR" sz="2000" kern="1200" dirty="0">
              <a:latin typeface="Bahnschrift SemiLight" panose="020B0502040204020203" pitchFamily="34" charset="0"/>
            </a:endParaRP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r-HR" sz="2000" kern="1200" dirty="0">
                <a:latin typeface="Bahnschrift SemiLight" panose="020B0502040204020203" pitchFamily="34" charset="0"/>
              </a:rPr>
              <a:t>Projekt se smatra završenim kada su ciljevi ostvareni ili se zaustavlja kada se ciljevi ne mogu postići</a:t>
            </a:r>
          </a:p>
        </p:txBody>
      </p:sp>
    </p:spTree>
    <p:extLst>
      <p:ext uri="{BB962C8B-B14F-4D97-AF65-F5344CB8AC3E}">
        <p14:creationId xmlns:p14="http://schemas.microsoft.com/office/powerpoint/2010/main" val="1155574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D937988-CB55-CE43-2758-A0FD4FED5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Ra</a:t>
            </a:r>
            <a:r>
              <a:rPr lang="hr-HR" dirty="0"/>
              <a:t>sprava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B1AFE36-0324-EAFA-C788-C1EF54020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endParaRPr lang="en-US" dirty="0">
              <a:latin typeface="Montserrat" panose="00000500000000000000" pitchFamily="2" charset="0"/>
            </a:endParaRPr>
          </a:p>
          <a:p>
            <a:r>
              <a:rPr lang="en-US" sz="3200" dirty="0"/>
              <a:t>Kao primjer </a:t>
            </a:r>
            <a:r>
              <a:rPr lang="en-US" sz="3200" dirty="0" err="1"/>
              <a:t>projekta</a:t>
            </a:r>
            <a:r>
              <a:rPr lang="en-US" sz="3200" dirty="0"/>
              <a:t> </a:t>
            </a:r>
            <a:r>
              <a:rPr lang="en-US" sz="3200" dirty="0" err="1"/>
              <a:t>koristit</a:t>
            </a:r>
            <a:r>
              <a:rPr lang="en-US" sz="3200" dirty="0"/>
              <a:t> </a:t>
            </a:r>
            <a:r>
              <a:rPr lang="en-US" sz="3200" dirty="0" err="1"/>
              <a:t>ćemo</a:t>
            </a:r>
            <a:r>
              <a:rPr lang="en-US" sz="3200" dirty="0"/>
              <a:t> SHIFT4IT.</a:t>
            </a:r>
          </a:p>
          <a:p>
            <a:r>
              <a:rPr lang="en-US" sz="3200" dirty="0" err="1"/>
              <a:t>Sudionici</a:t>
            </a:r>
            <a:r>
              <a:rPr lang="en-US" sz="3200" dirty="0"/>
              <a:t> </a:t>
            </a:r>
            <a:r>
              <a:rPr lang="en-US" sz="3200" dirty="0" err="1"/>
              <a:t>će</a:t>
            </a:r>
            <a:r>
              <a:rPr lang="en-US" sz="3200" dirty="0"/>
              <a:t> </a:t>
            </a:r>
            <a:r>
              <a:rPr lang="en-US" sz="3200" dirty="0" err="1"/>
              <a:t>identificirati</a:t>
            </a:r>
            <a:r>
              <a:rPr lang="en-US" sz="3200" dirty="0"/>
              <a:t> </a:t>
            </a:r>
            <a:r>
              <a:rPr lang="en-US" sz="3200" dirty="0" err="1"/>
              <a:t>svaku</a:t>
            </a:r>
            <a:r>
              <a:rPr lang="en-US" sz="3200" dirty="0"/>
              <a:t> </a:t>
            </a:r>
            <a:r>
              <a:rPr lang="en-US" sz="3200" dirty="0" err="1"/>
              <a:t>fazu</a:t>
            </a:r>
            <a:r>
              <a:rPr lang="en-US" sz="3200" dirty="0"/>
              <a:t> </a:t>
            </a:r>
            <a:r>
              <a:rPr lang="en-US" sz="3200" dirty="0" err="1"/>
              <a:t>projekta</a:t>
            </a:r>
            <a:r>
              <a:rPr lang="en-US" sz="3200" dirty="0"/>
              <a:t> i </a:t>
            </a:r>
            <a:r>
              <a:rPr lang="en-US" sz="3200" dirty="0" err="1"/>
              <a:t>njezine</a:t>
            </a:r>
            <a:r>
              <a:rPr lang="en-US" sz="3200" dirty="0"/>
              <a:t> </a:t>
            </a:r>
            <a:r>
              <a:rPr lang="en-US" sz="3200" dirty="0" err="1"/>
              <a:t>isporuke</a:t>
            </a:r>
            <a:endParaRPr lang="en-US" sz="3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495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01273-F65E-B249-59FA-1F5188B10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D0CAD23-0EB5-82C9-FE32-E4DAC21BA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b="1" dirty="0" err="1"/>
              <a:t>Životni</a:t>
            </a:r>
            <a:r>
              <a:rPr lang="en-US" b="1" dirty="0"/>
              <a:t> </a:t>
            </a:r>
            <a:r>
              <a:rPr lang="en-US" b="1" dirty="0" err="1"/>
              <a:t>ciklus</a:t>
            </a:r>
            <a:r>
              <a:rPr lang="en-US" b="1" dirty="0"/>
              <a:t> </a:t>
            </a:r>
            <a:r>
              <a:rPr lang="en-US" b="1" dirty="0" err="1"/>
              <a:t>proizvoda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9E63A1-853C-7211-0B4D-A05ACB6F7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69813"/>
            <a:ext cx="7772400" cy="474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414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D0431-E033-AED9-51D1-A637FFD38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EB7925F-2B60-E95B-FE24-DBAFF5C3D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GRUPNA RASPRAVA</a:t>
            </a:r>
            <a:r>
              <a:rPr lang="hr-HR" dirty="0"/>
              <a:t>_ </a:t>
            </a:r>
            <a:r>
              <a:rPr lang="en-US" dirty="0" err="1"/>
              <a:t>Životni</a:t>
            </a:r>
            <a:r>
              <a:rPr lang="en-US" dirty="0"/>
              <a:t> </a:t>
            </a:r>
            <a:r>
              <a:rPr lang="en-US" dirty="0" err="1"/>
              <a:t>ciklus</a:t>
            </a:r>
            <a:r>
              <a:rPr lang="en-US" dirty="0"/>
              <a:t> </a:t>
            </a:r>
            <a:r>
              <a:rPr lang="en-US" dirty="0" err="1"/>
              <a:t>proizvoda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69743E-0D01-0F17-6C05-4FB26B35A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3921060"/>
          </a:xfrm>
        </p:spPr>
        <p:txBody>
          <a:bodyPr/>
          <a:lstStyle/>
          <a:p>
            <a:endParaRPr lang="en-US" dirty="0"/>
          </a:p>
          <a:p>
            <a:r>
              <a:rPr lang="en-US" dirty="0" err="1"/>
              <a:t>Identificirat</a:t>
            </a:r>
            <a:r>
              <a:rPr lang="en-US" dirty="0"/>
              <a:t> </a:t>
            </a:r>
            <a:r>
              <a:rPr lang="en-US" dirty="0" err="1"/>
              <a:t>ćemo</a:t>
            </a:r>
            <a:r>
              <a:rPr lang="en-US" dirty="0"/>
              <a:t> 2–3 </a:t>
            </a:r>
            <a:r>
              <a:rPr lang="en-US" dirty="0" err="1"/>
              <a:t>proizvoda</a:t>
            </a:r>
            <a:r>
              <a:rPr lang="en-US" dirty="0"/>
              <a:t> / </a:t>
            </a:r>
            <a:r>
              <a:rPr lang="en-US" dirty="0" err="1"/>
              <a:t>brenda</a:t>
            </a:r>
            <a:r>
              <a:rPr lang="en-US" dirty="0"/>
              <a:t> i </a:t>
            </a:r>
            <a:r>
              <a:rPr lang="en-US" dirty="0" err="1"/>
              <a:t>njihov</a:t>
            </a:r>
            <a:r>
              <a:rPr lang="en-US" dirty="0"/>
              <a:t> </a:t>
            </a:r>
            <a:r>
              <a:rPr lang="en-US" dirty="0" err="1"/>
              <a:t>životni</a:t>
            </a:r>
            <a:r>
              <a:rPr lang="en-US" dirty="0"/>
              <a:t> </a:t>
            </a:r>
            <a:r>
              <a:rPr lang="en-US" dirty="0" err="1"/>
              <a:t>ciklus</a:t>
            </a:r>
            <a:r>
              <a:rPr lang="en-US" dirty="0"/>
              <a:t> </a:t>
            </a:r>
            <a:r>
              <a:rPr lang="en-US" dirty="0" err="1"/>
              <a:t>proizvoda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883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5BA62-CF77-09B4-D7FC-1B59356EA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slov 3">
            <a:extLst>
              <a:ext uri="{FF2B5EF4-FFF2-40B4-BE49-F238E27FC236}">
                <a16:creationId xmlns:a16="http://schemas.microsoft.com/office/drawing/2014/main" id="{DC7C75E3-11B2-9B0D-7D3E-0535816B17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PROJECT MANAGEMENT FUNDAMENTALS</a:t>
            </a:r>
            <a:endParaRPr lang="hr-HR" sz="4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347F65C-31E3-EB4A-E9AC-7FE40C80D725}"/>
              </a:ext>
            </a:extLst>
          </p:cNvPr>
          <p:cNvSpPr txBox="1">
            <a:spLocks/>
          </p:cNvSpPr>
          <p:nvPr/>
        </p:nvSpPr>
        <p:spPr>
          <a:xfrm>
            <a:off x="3032927" y="4146115"/>
            <a:ext cx="8753338" cy="160081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Montserrat" panose="00000500000000000000" pitchFamily="2" charset="-18"/>
                <a:ea typeface="+mj-ea"/>
                <a:cs typeface="+mj-cs"/>
              </a:defRPr>
            </a:lvl1pPr>
          </a:lstStyle>
          <a:p>
            <a:r>
              <a:rPr lang="en-US" sz="4000" dirty="0" err="1">
                <a:latin typeface="Bahnschrift" panose="020B0502040204020203" pitchFamily="34" charset="0"/>
              </a:rPr>
              <a:t>Metodologije</a:t>
            </a:r>
            <a:r>
              <a:rPr lang="en-US" sz="4000" dirty="0">
                <a:latin typeface="Bahnschrift" panose="020B0502040204020203" pitchFamily="34" charset="0"/>
              </a:rPr>
              <a:t> </a:t>
            </a:r>
            <a:endParaRPr lang="hr-HR" sz="4000" dirty="0">
              <a:latin typeface="Bahnschrift" panose="020B0502040204020203" pitchFamily="34" charset="0"/>
            </a:endParaRPr>
          </a:p>
          <a:p>
            <a:r>
              <a:rPr lang="en-US" sz="4000" dirty="0" err="1">
                <a:latin typeface="Bahnschrift" panose="020B0502040204020203" pitchFamily="34" charset="0"/>
              </a:rPr>
              <a:t>upravljanja</a:t>
            </a:r>
            <a:r>
              <a:rPr lang="en-US" sz="4000" dirty="0">
                <a:latin typeface="Bahnschrift" panose="020B0502040204020203" pitchFamily="34" charset="0"/>
              </a:rPr>
              <a:t> </a:t>
            </a:r>
            <a:r>
              <a:rPr lang="en-US" sz="4000" dirty="0" err="1">
                <a:latin typeface="Bahnschrift" panose="020B0502040204020203" pitchFamily="34" charset="0"/>
              </a:rPr>
              <a:t>projektima</a:t>
            </a:r>
            <a:endParaRPr lang="en-US" sz="4000" dirty="0">
              <a:latin typeface="Bahnschrift" panose="020B0502040204020203" pitchFamily="34" charset="0"/>
            </a:endParaRPr>
          </a:p>
        </p:txBody>
      </p:sp>
      <p:sp>
        <p:nvSpPr>
          <p:cNvPr id="2" name="Naslov 3">
            <a:extLst>
              <a:ext uri="{FF2B5EF4-FFF2-40B4-BE49-F238E27FC236}">
                <a16:creationId xmlns:a16="http://schemas.microsoft.com/office/drawing/2014/main" id="{97144630-2766-50FA-ABD6-B0E330BA072A}"/>
              </a:ext>
            </a:extLst>
          </p:cNvPr>
          <p:cNvSpPr txBox="1">
            <a:spLocks/>
          </p:cNvSpPr>
          <p:nvPr/>
        </p:nvSpPr>
        <p:spPr>
          <a:xfrm>
            <a:off x="2632935" y="152399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OSNOVE UPRAVLJANJA PROJEKTIMA</a:t>
            </a:r>
          </a:p>
        </p:txBody>
      </p:sp>
    </p:spTree>
    <p:extLst>
      <p:ext uri="{BB962C8B-B14F-4D97-AF65-F5344CB8AC3E}">
        <p14:creationId xmlns:p14="http://schemas.microsoft.com/office/powerpoint/2010/main" val="4056521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A6FB7-737C-19A9-9C50-3719033BF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FEAA8A7-E593-368C-DA4B-A8879FFA6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Prediktivni </a:t>
            </a:r>
            <a:r>
              <a:rPr lang="en-US" sz="3800" b="1" dirty="0" err="1"/>
              <a:t>pristup</a:t>
            </a:r>
            <a:r>
              <a:rPr lang="en-US" sz="3800" b="1" dirty="0"/>
              <a:t> (Waterfall)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A780CC-102D-EF4A-9BBD-441BD67BE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874" y="1494131"/>
            <a:ext cx="11692618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600" b="1" dirty="0" err="1">
                <a:solidFill>
                  <a:srgbClr val="0ADBBC"/>
                </a:solidFill>
                <a:latin typeface="Bahnschrift SemiLight" panose="020B0502040204020203" pitchFamily="34" charset="0"/>
              </a:rPr>
              <a:t>Definicija</a:t>
            </a:r>
            <a:r>
              <a:rPr lang="en-US" altLang="en-US" sz="2600" b="1" dirty="0">
                <a:solidFill>
                  <a:srgbClr val="0ADBBC"/>
                </a:solidFill>
                <a:latin typeface="Bahnschrift SemiLight" panose="020B0502040204020203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 err="1">
                <a:latin typeface="Bahnschrift SemiLight" panose="020B0502040204020203" pitchFamily="34" charset="0"/>
              </a:rPr>
              <a:t>Strukturirana</a:t>
            </a:r>
            <a:r>
              <a:rPr lang="en-US" altLang="en-US" sz="2400" dirty="0">
                <a:latin typeface="Bahnschrift SemiLight" panose="020B0502040204020203" pitchFamily="34" charset="0"/>
              </a:rPr>
              <a:t> i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linearna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metodologija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upravljanja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projektima</a:t>
            </a:r>
            <a:r>
              <a:rPr lang="en-US" altLang="en-US" sz="2400" dirty="0">
                <a:latin typeface="Bahnschrift SemiLight" panose="020B0502040204020203" pitchFamily="34" charset="0"/>
              </a:rPr>
              <a:t> u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kojoj</a:t>
            </a:r>
            <a:r>
              <a:rPr lang="en-US" altLang="en-US" sz="2400" dirty="0">
                <a:latin typeface="Bahnschrift SemiLight" panose="020B0502040204020203" pitchFamily="34" charset="0"/>
              </a:rPr>
              <a:t> se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cijeli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projekt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planira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unaprijed</a:t>
            </a:r>
            <a:r>
              <a:rPr lang="en-US" altLang="en-US" sz="2400" dirty="0">
                <a:latin typeface="Bahnschrift SemiLight" panose="020B0502040204020203" pitchFamily="34" charset="0"/>
              </a:rPr>
              <a:t>, a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opseg</a:t>
            </a:r>
            <a:r>
              <a:rPr lang="en-US" altLang="en-US" sz="2400" dirty="0">
                <a:latin typeface="Bahnschrift SemiLight" panose="020B0502040204020203" pitchFamily="34" charset="0"/>
              </a:rPr>
              <a:t>,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trošak</a:t>
            </a:r>
            <a:r>
              <a:rPr lang="en-US" altLang="en-US" sz="2400" dirty="0">
                <a:latin typeface="Bahnschrift SemiLight" panose="020B0502040204020203" pitchFamily="34" charset="0"/>
              </a:rPr>
              <a:t> i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raspored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jasno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su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definirani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na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početku</a:t>
            </a:r>
            <a:r>
              <a:rPr lang="en-US" altLang="en-US" sz="2400" dirty="0">
                <a:latin typeface="Bahnschrift SemiLigh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600" b="1" dirty="0">
              <a:solidFill>
                <a:srgbClr val="0ADBBC"/>
              </a:solidFill>
              <a:latin typeface="Bahnschrift Semi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600" b="1" dirty="0">
                <a:solidFill>
                  <a:srgbClr val="0ADBBC"/>
                </a:solidFill>
                <a:latin typeface="Bahnschrift SemiLight" panose="020B0502040204020203" pitchFamily="34" charset="0"/>
              </a:rPr>
              <a:t>Ključne </a:t>
            </a:r>
            <a:r>
              <a:rPr lang="en-US" altLang="en-US" sz="2600" b="1" dirty="0" err="1">
                <a:solidFill>
                  <a:srgbClr val="0ADBBC"/>
                </a:solidFill>
                <a:latin typeface="Bahnschrift SemiLight" panose="020B0502040204020203" pitchFamily="34" charset="0"/>
              </a:rPr>
              <a:t>značajke</a:t>
            </a:r>
            <a:r>
              <a:rPr lang="en-US" altLang="en-US" sz="2600" b="1" dirty="0">
                <a:solidFill>
                  <a:srgbClr val="0ADBBC"/>
                </a:solidFill>
                <a:latin typeface="Bahnschrift SemiLight" panose="020B0502040204020203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r-HR" altLang="en-US" sz="2400" dirty="0">
                <a:latin typeface="Bahnschrift SemiLight" panose="020B0502040204020203" pitchFamily="34" charset="0"/>
              </a:rPr>
              <a:t>-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Slijedi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sekvencijalni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proces</a:t>
            </a:r>
            <a:r>
              <a:rPr lang="en-US" altLang="en-US" sz="2400" dirty="0">
                <a:latin typeface="Bahnschrift SemiLight" panose="020B0502040204020203" pitchFamily="34" charset="0"/>
              </a:rPr>
              <a:t> (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npr</a:t>
            </a:r>
            <a:r>
              <a:rPr lang="en-US" altLang="en-US" sz="2400" dirty="0">
                <a:latin typeface="Bahnschrift SemiLight" panose="020B0502040204020203" pitchFamily="34" charset="0"/>
              </a:rPr>
              <a:t>.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pokretanje</a:t>
            </a:r>
            <a:r>
              <a:rPr lang="en-US" altLang="en-US" sz="2400" dirty="0">
                <a:latin typeface="Bahnschrift SemiLight" panose="020B0502040204020203" pitchFamily="34" charset="0"/>
              </a:rPr>
              <a:t> →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planiranje</a:t>
            </a:r>
            <a:r>
              <a:rPr lang="en-US" altLang="en-US" sz="2400" dirty="0">
                <a:latin typeface="Bahnschrift SemiLight" panose="020B0502040204020203" pitchFamily="34" charset="0"/>
              </a:rPr>
              <a:t> →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provedba</a:t>
            </a:r>
            <a:r>
              <a:rPr lang="en-US" altLang="en-US" sz="2400" dirty="0">
                <a:latin typeface="Bahnschrift SemiLight" panose="020B0502040204020203" pitchFamily="34" charset="0"/>
              </a:rPr>
              <a:t> →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praćenje</a:t>
            </a:r>
            <a:r>
              <a:rPr lang="en-US" altLang="en-US" sz="2400" dirty="0">
                <a:latin typeface="Bahnschrift SemiLight" panose="020B0502040204020203" pitchFamily="34" charset="0"/>
              </a:rPr>
              <a:t> →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zatvaranje</a:t>
            </a:r>
            <a:r>
              <a:rPr lang="en-US" altLang="en-US" sz="2400" dirty="0">
                <a:latin typeface="Bahnschrift SemiLight" panose="020B0502040204020203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r-HR" altLang="en-US" sz="2400" dirty="0">
                <a:latin typeface="Bahnschrift SemiLight" panose="020B0502040204020203" pitchFamily="34" charset="0"/>
              </a:rPr>
              <a:t>- </a:t>
            </a:r>
            <a:r>
              <a:rPr lang="en-US" altLang="en-US" sz="2400" dirty="0">
                <a:latin typeface="Bahnschrift SemiLight" panose="020B0502040204020203" pitchFamily="34" charset="0"/>
              </a:rPr>
              <a:t>Prikladna za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projekte</a:t>
            </a:r>
            <a:r>
              <a:rPr lang="en-US" altLang="en-US" sz="2400" dirty="0">
                <a:latin typeface="Bahnschrift SemiLight" panose="020B0502040204020203" pitchFamily="34" charset="0"/>
              </a:rPr>
              <a:t> s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jasno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definiranim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zahtjevima</a:t>
            </a:r>
            <a:r>
              <a:rPr lang="en-US" altLang="en-US" sz="2400" dirty="0">
                <a:latin typeface="Bahnschrift SemiLight" panose="020B0502040204020203" pitchFamily="34" charset="0"/>
              </a:rPr>
              <a:t> i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minimalnim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očekivanim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promjenama</a:t>
            </a:r>
            <a:r>
              <a:rPr lang="en-US" altLang="en-US" sz="2400" dirty="0">
                <a:latin typeface="Bahnschrift SemiLigh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r-HR" altLang="en-US" sz="2400" dirty="0">
                <a:latin typeface="Bahnschrift SemiLight" panose="020B0502040204020203" pitchFamily="34" charset="0"/>
              </a:rPr>
              <a:t>-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Naglašava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dokumentaciju</a:t>
            </a:r>
            <a:r>
              <a:rPr lang="en-US" altLang="en-US" sz="2400" dirty="0">
                <a:latin typeface="Bahnschrift SemiLight" panose="020B0502040204020203" pitchFamily="34" charset="0"/>
              </a:rPr>
              <a:t> i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kontrolu</a:t>
            </a:r>
            <a:r>
              <a:rPr lang="en-US" altLang="en-US" sz="2400" dirty="0">
                <a:latin typeface="Bahnschrift SemiLigh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600" b="1" dirty="0">
              <a:solidFill>
                <a:srgbClr val="0ADBBC"/>
              </a:solidFill>
              <a:latin typeface="Bahnschrift Semi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600" b="1" dirty="0" err="1">
                <a:solidFill>
                  <a:srgbClr val="0ADBBC"/>
                </a:solidFill>
                <a:latin typeface="Bahnschrift SemiLight" panose="020B0502040204020203" pitchFamily="34" charset="0"/>
              </a:rPr>
              <a:t>Najprikladnije</a:t>
            </a:r>
            <a:r>
              <a:rPr lang="en-US" altLang="en-US" sz="2600" b="1" dirty="0">
                <a:solidFill>
                  <a:srgbClr val="0ADBBC"/>
                </a:solidFill>
                <a:latin typeface="Bahnschrift SemiLight" panose="020B0502040204020203" pitchFamily="34" charset="0"/>
              </a:rPr>
              <a:t> za: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Bahnschrift SemiLight" panose="020B0502040204020203" pitchFamily="34" charset="0"/>
              </a:rPr>
              <a:t>Projekte u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stabilnim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okruženjima</a:t>
            </a:r>
            <a:r>
              <a:rPr lang="en-US" altLang="en-US" sz="2400" dirty="0">
                <a:latin typeface="Bahnschrift SemiLight" panose="020B0502040204020203" pitchFamily="34" charset="0"/>
              </a:rPr>
              <a:t>,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poput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građevinarstva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ili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proizvodnje</a:t>
            </a:r>
            <a:r>
              <a:rPr lang="en-US" altLang="en-US" sz="2400" dirty="0">
                <a:latin typeface="Bahnschrift SemiLight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6093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06B3-FD80-99EF-DE8E-40684A835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Prediktivni </a:t>
            </a:r>
            <a:r>
              <a:rPr lang="en-US" sz="3800" b="1" dirty="0" err="1"/>
              <a:t>pristup</a:t>
            </a:r>
            <a:r>
              <a:rPr lang="en-US" sz="3800" b="1" dirty="0"/>
              <a:t> _ </a:t>
            </a:r>
            <a:r>
              <a:rPr lang="hr-HR" sz="3800" b="1" dirty="0"/>
              <a:t>rasprava</a:t>
            </a:r>
            <a:endParaRPr lang="en-US" sz="3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6E906-F905-94FA-26DD-515EA1EA1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1510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ADBBC"/>
                </a:solidFill>
              </a:rPr>
              <a:t>Projekt: </a:t>
            </a:r>
            <a:r>
              <a:rPr lang="en-US" b="1" dirty="0" err="1">
                <a:solidFill>
                  <a:srgbClr val="0ADBBC"/>
                </a:solidFill>
              </a:rPr>
              <a:t>Izgradnja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nove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poslovne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zgrade</a:t>
            </a:r>
            <a:r>
              <a:rPr lang="en-US" b="1" dirty="0">
                <a:solidFill>
                  <a:srgbClr val="0ADBBC"/>
                </a:solidFill>
              </a:rPr>
              <a:t>    </a:t>
            </a:r>
          </a:p>
          <a:p>
            <a:pPr>
              <a:buNone/>
            </a:pPr>
            <a:endParaRPr lang="en-US" b="1" dirty="0"/>
          </a:p>
          <a:p>
            <a:r>
              <a:rPr lang="en-US" dirty="0" err="1"/>
              <a:t>Građevinska</a:t>
            </a:r>
            <a:r>
              <a:rPr lang="en-US" dirty="0"/>
              <a:t> </a:t>
            </a:r>
            <a:r>
              <a:rPr lang="en-US" dirty="0" err="1"/>
              <a:t>tvrtka</a:t>
            </a:r>
            <a:r>
              <a:rPr lang="en-US" dirty="0"/>
              <a:t> </a:t>
            </a:r>
            <a:r>
              <a:rPr lang="en-US" dirty="0" err="1"/>
              <a:t>angažirana</a:t>
            </a:r>
            <a:r>
              <a:rPr lang="en-US" dirty="0"/>
              <a:t> je za </a:t>
            </a:r>
            <a:r>
              <a:rPr lang="en-US" dirty="0" err="1"/>
              <a:t>izgradnju</a:t>
            </a:r>
            <a:r>
              <a:rPr lang="en-US" dirty="0"/>
              <a:t> </a:t>
            </a:r>
            <a:r>
              <a:rPr lang="en-US" dirty="0" err="1"/>
              <a:t>nove</a:t>
            </a:r>
            <a:r>
              <a:rPr lang="en-US" dirty="0"/>
              <a:t> </a:t>
            </a:r>
            <a:r>
              <a:rPr lang="en-US" dirty="0" err="1"/>
              <a:t>poslovne</a:t>
            </a:r>
            <a:r>
              <a:rPr lang="en-US" dirty="0"/>
              <a:t> </a:t>
            </a:r>
            <a:r>
              <a:rPr lang="en-US" dirty="0" err="1"/>
              <a:t>zgrade</a:t>
            </a:r>
            <a:r>
              <a:rPr lang="en-US" dirty="0"/>
              <a:t> za </a:t>
            </a:r>
            <a:r>
              <a:rPr lang="en-US" dirty="0" err="1"/>
              <a:t>klijenta</a:t>
            </a:r>
            <a:r>
              <a:rPr lang="en-US" dirty="0"/>
              <a:t>. S </a:t>
            </a:r>
            <a:r>
              <a:rPr lang="en-US" dirty="0" err="1"/>
              <a:t>obzirom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složenost</a:t>
            </a:r>
            <a:r>
              <a:rPr lang="en-US" dirty="0"/>
              <a:t>, </a:t>
            </a:r>
            <a:r>
              <a:rPr lang="en-US" dirty="0" err="1"/>
              <a:t>ograničenja</a:t>
            </a:r>
            <a:r>
              <a:rPr lang="en-US" dirty="0"/>
              <a:t> </a:t>
            </a:r>
            <a:r>
              <a:rPr lang="en-US" dirty="0" err="1"/>
              <a:t>budžeta</a:t>
            </a:r>
            <a:r>
              <a:rPr lang="en-US" dirty="0"/>
              <a:t> i </a:t>
            </a:r>
            <a:r>
              <a:rPr lang="en-US" dirty="0" err="1"/>
              <a:t>stroge</a:t>
            </a:r>
            <a:r>
              <a:rPr lang="en-US" dirty="0"/>
              <a:t> </a:t>
            </a:r>
            <a:r>
              <a:rPr lang="en-US" dirty="0" err="1"/>
              <a:t>regulatorne</a:t>
            </a:r>
            <a:r>
              <a:rPr lang="en-US" dirty="0"/>
              <a:t> </a:t>
            </a:r>
            <a:r>
              <a:rPr lang="en-US" dirty="0" err="1"/>
              <a:t>zahtjeve</a:t>
            </a:r>
            <a:r>
              <a:rPr lang="en-US" dirty="0"/>
              <a:t>, </a:t>
            </a:r>
            <a:r>
              <a:rPr lang="en-US" dirty="0" err="1"/>
              <a:t>tvrtka</a:t>
            </a:r>
            <a:r>
              <a:rPr lang="en-US" dirty="0"/>
              <a:t> </a:t>
            </a:r>
            <a:r>
              <a:rPr lang="en-US" dirty="0" err="1"/>
              <a:t>primjenjuje</a:t>
            </a:r>
            <a:r>
              <a:rPr lang="en-US" dirty="0"/>
              <a:t> </a:t>
            </a:r>
            <a:r>
              <a:rPr lang="en-US" b="1" dirty="0" err="1"/>
              <a:t>prediktivni</a:t>
            </a:r>
            <a:r>
              <a:rPr lang="en-US" b="1" dirty="0"/>
              <a:t> (Waterfall) </a:t>
            </a:r>
            <a:r>
              <a:rPr lang="en-US" b="1" dirty="0" err="1"/>
              <a:t>pristup</a:t>
            </a:r>
            <a:r>
              <a:rPr lang="en-US" b="1" dirty="0"/>
              <a:t> </a:t>
            </a:r>
            <a:r>
              <a:rPr lang="en-US" b="1" dirty="0" err="1"/>
              <a:t>upravljanju</a:t>
            </a:r>
            <a:r>
              <a:rPr lang="en-US" b="1" dirty="0"/>
              <a:t> </a:t>
            </a:r>
            <a:r>
              <a:rPr lang="en-US" b="1" dirty="0" err="1"/>
              <a:t>projektom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Rasprava</a:t>
            </a:r>
            <a:r>
              <a:rPr lang="en-US" dirty="0"/>
              <a:t>: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ključne</a:t>
            </a:r>
            <a:r>
              <a:rPr lang="en-US" dirty="0"/>
              <a:t> </a:t>
            </a:r>
            <a:r>
              <a:rPr lang="en-US" dirty="0" err="1"/>
              <a:t>karakteristike</a:t>
            </a:r>
            <a:r>
              <a:rPr lang="en-US" dirty="0"/>
              <a:t> </a:t>
            </a:r>
            <a:r>
              <a:rPr lang="en-US" dirty="0" err="1"/>
              <a:t>prediktivnog</a:t>
            </a:r>
            <a:r>
              <a:rPr lang="en-US" dirty="0"/>
              <a:t> </a:t>
            </a:r>
            <a:r>
              <a:rPr lang="en-US" dirty="0" err="1"/>
              <a:t>pristupa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385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9B605-4848-DF91-D477-2D03F5201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3EC586B-FFA1-B9BC-6F7D-D2A0C599C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b="1" dirty="0"/>
              <a:t>Adaptivni </a:t>
            </a:r>
            <a:r>
              <a:rPr lang="en-US" sz="3800" b="1" dirty="0" err="1"/>
              <a:t>pristup</a:t>
            </a:r>
            <a:r>
              <a:rPr lang="en-US" sz="3800" b="1" dirty="0"/>
              <a:t> (Agile)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AC1749-AC45-5D36-A6D2-2C5AD8F9F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694" y="1536799"/>
            <a:ext cx="10854611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600" b="1" dirty="0" err="1">
                <a:solidFill>
                  <a:srgbClr val="0ADBBC"/>
                </a:solidFill>
                <a:latin typeface="Bahnschrift SemiLight" panose="020B0502040204020203" pitchFamily="34" charset="0"/>
              </a:rPr>
              <a:t>Definicija</a:t>
            </a:r>
            <a:r>
              <a:rPr lang="en-US" altLang="en-US" sz="2600" b="1" dirty="0">
                <a:solidFill>
                  <a:srgbClr val="0ADBBC"/>
                </a:solidFill>
                <a:latin typeface="Bahnschrift SemiLight" panose="020B0502040204020203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 err="1">
                <a:latin typeface="Bahnschrift SemiLight" panose="020B0502040204020203" pitchFamily="34" charset="0"/>
              </a:rPr>
              <a:t>Fleksibilna</a:t>
            </a:r>
            <a:r>
              <a:rPr lang="en-US" altLang="en-US" sz="2400" dirty="0">
                <a:latin typeface="Bahnschrift SemiLight" panose="020B0502040204020203" pitchFamily="34" charset="0"/>
              </a:rPr>
              <a:t> i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iterativna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metodologija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koja</a:t>
            </a:r>
            <a:r>
              <a:rPr lang="en-US" altLang="en-US" sz="2400" dirty="0">
                <a:latin typeface="Bahnschrift SemiLight" panose="020B0502040204020203" pitchFamily="34" charset="0"/>
              </a:rPr>
              <a:t> se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fokusira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na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kontinuirano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unapređenje</a:t>
            </a:r>
            <a:r>
              <a:rPr lang="en-US" altLang="en-US" sz="2400" dirty="0">
                <a:latin typeface="Bahnschrift SemiLight" panose="020B0502040204020203" pitchFamily="34" charset="0"/>
              </a:rPr>
              <a:t>,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suradnju</a:t>
            </a:r>
            <a:r>
              <a:rPr lang="en-US" altLang="en-US" sz="2400" dirty="0">
                <a:latin typeface="Bahnschrift SemiLight" panose="020B0502040204020203" pitchFamily="34" charset="0"/>
              </a:rPr>
              <a:t> i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prilagodbu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promjenjivim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zahtjevima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tijekom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životnog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ciklusa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projekta</a:t>
            </a:r>
            <a:r>
              <a:rPr lang="en-US" altLang="en-US" sz="2400" dirty="0">
                <a:latin typeface="Bahnschrift SemiLigh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600" b="1" dirty="0">
              <a:solidFill>
                <a:srgbClr val="0ADBBC"/>
              </a:solidFill>
              <a:latin typeface="Bahnschrift Semi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600" b="1" dirty="0">
                <a:solidFill>
                  <a:srgbClr val="0ADBBC"/>
                </a:solidFill>
                <a:latin typeface="Bahnschrift SemiLight" panose="020B0502040204020203" pitchFamily="34" charset="0"/>
              </a:rPr>
              <a:t>Ključne </a:t>
            </a:r>
            <a:r>
              <a:rPr lang="en-US" altLang="en-US" sz="2600" b="1" dirty="0" err="1">
                <a:solidFill>
                  <a:srgbClr val="0ADBBC"/>
                </a:solidFill>
                <a:latin typeface="Bahnschrift SemiLight" panose="020B0502040204020203" pitchFamily="34" charset="0"/>
              </a:rPr>
              <a:t>značajke</a:t>
            </a:r>
            <a:r>
              <a:rPr lang="en-US" altLang="en-US" sz="2600" b="1" dirty="0">
                <a:solidFill>
                  <a:srgbClr val="0ADBBC"/>
                </a:solidFill>
                <a:latin typeface="Bahnschrift SemiLight" panose="020B0502040204020203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r-HR" altLang="en-US" sz="2400" dirty="0">
                <a:latin typeface="Bahnschrift SemiLight" panose="020B0502040204020203" pitchFamily="34" charset="0"/>
              </a:rPr>
              <a:t>-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Dijeli</a:t>
            </a:r>
            <a:r>
              <a:rPr lang="en-US" altLang="en-US" sz="2400" dirty="0">
                <a:latin typeface="Bahnschrift SemiLight" panose="020B0502040204020203" pitchFamily="34" charset="0"/>
              </a:rPr>
              <a:t> rad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na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manje</a:t>
            </a:r>
            <a:r>
              <a:rPr lang="en-US" altLang="en-US" sz="2400" dirty="0">
                <a:latin typeface="Bahnschrift SemiLight" panose="020B0502040204020203" pitchFamily="34" charset="0"/>
              </a:rPr>
              <a:t>,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upravljive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cjeline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ili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sprintove</a:t>
            </a:r>
            <a:r>
              <a:rPr lang="en-US" altLang="en-US" sz="2400" dirty="0">
                <a:latin typeface="Bahnschrift SemiLigh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r-HR" altLang="en-US" sz="2400" dirty="0">
                <a:latin typeface="Bahnschrift SemiLight" panose="020B0502040204020203" pitchFamily="34" charset="0"/>
              </a:rPr>
              <a:t>-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Naglašava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suradnju</a:t>
            </a:r>
            <a:r>
              <a:rPr lang="en-US" altLang="en-US" sz="2400" dirty="0">
                <a:latin typeface="Bahnschrift SemiLight" panose="020B0502040204020203" pitchFamily="34" charset="0"/>
              </a:rPr>
              <a:t>,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čestu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povratnu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informaciju</a:t>
            </a:r>
            <a:r>
              <a:rPr lang="en-US" altLang="en-US" sz="2400" dirty="0">
                <a:latin typeface="Bahnschrift SemiLight" panose="020B0502040204020203" pitchFamily="34" charset="0"/>
              </a:rPr>
              <a:t> i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uključivanje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korisnika</a:t>
            </a:r>
            <a:r>
              <a:rPr lang="en-US" altLang="en-US" sz="2400" dirty="0">
                <a:latin typeface="Bahnschrift SemiLigh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r-HR" altLang="en-US" sz="2400" dirty="0">
                <a:latin typeface="Bahnschrift SemiLight" panose="020B0502040204020203" pitchFamily="34" charset="0"/>
              </a:rPr>
              <a:t>- </a:t>
            </a:r>
            <a:r>
              <a:rPr lang="en-US" altLang="en-US" sz="2400" dirty="0">
                <a:latin typeface="Bahnschrift SemiLight" panose="020B0502040204020203" pitchFamily="34" charset="0"/>
              </a:rPr>
              <a:t>Lako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prihvaća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promjene</a:t>
            </a:r>
            <a:r>
              <a:rPr lang="en-US" altLang="en-US" sz="2400" dirty="0">
                <a:latin typeface="Bahnschrift SemiLight" panose="020B0502040204020203" pitchFamily="34" charset="0"/>
              </a:rPr>
              <a:t> i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potiče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brzu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isporuku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vrijednosti</a:t>
            </a:r>
            <a:r>
              <a:rPr lang="en-US" altLang="en-US" sz="2400" dirty="0">
                <a:latin typeface="Bahnschrift SemiLigh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600" b="1" dirty="0">
              <a:solidFill>
                <a:srgbClr val="0ADBBC"/>
              </a:solidFill>
              <a:latin typeface="Bahnschrift Semi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600" b="1" dirty="0" err="1">
                <a:solidFill>
                  <a:srgbClr val="0ADBBC"/>
                </a:solidFill>
                <a:latin typeface="Bahnschrift SemiLight" panose="020B0502040204020203" pitchFamily="34" charset="0"/>
              </a:rPr>
              <a:t>Najprikladnije</a:t>
            </a:r>
            <a:r>
              <a:rPr lang="en-US" altLang="en-US" sz="2600" b="1" dirty="0">
                <a:solidFill>
                  <a:srgbClr val="0ADBBC"/>
                </a:solidFill>
                <a:latin typeface="Bahnschrift SemiLight" panose="020B0502040204020203" pitchFamily="34" charset="0"/>
              </a:rPr>
              <a:t> za: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 err="1">
                <a:latin typeface="Bahnschrift SemiLight" panose="020B0502040204020203" pitchFamily="34" charset="0"/>
              </a:rPr>
              <a:t>Dinamične</a:t>
            </a:r>
            <a:r>
              <a:rPr lang="en-US" altLang="en-US" sz="2400" dirty="0">
                <a:latin typeface="Bahnschrift SemiLight" panose="020B0502040204020203" pitchFamily="34" charset="0"/>
              </a:rPr>
              <a:t> i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složene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projekte</a:t>
            </a:r>
            <a:r>
              <a:rPr lang="en-US" altLang="en-US" sz="2400" dirty="0">
                <a:latin typeface="Bahnschrift SemiLight" panose="020B0502040204020203" pitchFamily="34" charset="0"/>
              </a:rPr>
              <a:t>,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poput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razvoja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softvera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ili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inicijativa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vođenih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inovacijama</a:t>
            </a:r>
            <a:r>
              <a:rPr lang="en-US" altLang="en-US" sz="2400" dirty="0">
                <a:latin typeface="Bahnschrift SemiLight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10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AFBCB-7724-2F25-83F1-CA9A1A212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8306-1926-86FA-8812-A8CC10A91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Adaptivni </a:t>
            </a:r>
            <a:r>
              <a:rPr lang="en-US" sz="3800" b="1" dirty="0" err="1"/>
              <a:t>pristup</a:t>
            </a:r>
            <a:r>
              <a:rPr lang="en-US" sz="3800" b="1" dirty="0"/>
              <a:t> _ </a:t>
            </a:r>
            <a:r>
              <a:rPr lang="hr-HR" sz="3800" b="1" dirty="0"/>
              <a:t>rasprava</a:t>
            </a:r>
            <a:endParaRPr lang="en-US" sz="3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00FD4-7651-3F94-20B3-FCE4B2191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731" y="1925833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b="1" dirty="0">
                <a:solidFill>
                  <a:srgbClr val="0ADBBC"/>
                </a:solidFill>
              </a:rPr>
              <a:t>Projekt: Razvoj mobilne bankarske aplikacije</a:t>
            </a:r>
          </a:p>
          <a:p>
            <a:pPr>
              <a:buNone/>
            </a:pPr>
            <a:endParaRPr lang="en-US" b="1" dirty="0"/>
          </a:p>
          <a:p>
            <a:r>
              <a:rPr lang="en-US" dirty="0" err="1"/>
              <a:t>Financijsko-tehnološka</a:t>
            </a:r>
            <a:r>
              <a:rPr lang="en-US" dirty="0"/>
              <a:t> </a:t>
            </a:r>
            <a:r>
              <a:rPr lang="en-US" dirty="0" err="1"/>
              <a:t>tvrtka</a:t>
            </a:r>
            <a:r>
              <a:rPr lang="en-US" dirty="0"/>
              <a:t> </a:t>
            </a:r>
            <a:r>
              <a:rPr lang="en-US" dirty="0" err="1"/>
              <a:t>razvija</a:t>
            </a:r>
            <a:r>
              <a:rPr lang="en-US" dirty="0"/>
              <a:t> </a:t>
            </a:r>
            <a:r>
              <a:rPr lang="en-US" dirty="0" err="1"/>
              <a:t>novu</a:t>
            </a:r>
            <a:r>
              <a:rPr lang="en-US" dirty="0"/>
              <a:t> </a:t>
            </a:r>
            <a:r>
              <a:rPr lang="en-US" dirty="0" err="1"/>
              <a:t>mobilnu</a:t>
            </a:r>
            <a:r>
              <a:rPr lang="en-US" dirty="0"/>
              <a:t> </a:t>
            </a:r>
            <a:r>
              <a:rPr lang="en-US" dirty="0" err="1"/>
              <a:t>bankarsku</a:t>
            </a:r>
            <a:r>
              <a:rPr lang="en-US" dirty="0"/>
              <a:t> </a:t>
            </a:r>
            <a:r>
              <a:rPr lang="en-US" dirty="0" err="1"/>
              <a:t>aplikaciju</a:t>
            </a:r>
            <a:r>
              <a:rPr lang="en-US" dirty="0"/>
              <a:t>. S </a:t>
            </a:r>
            <a:r>
              <a:rPr lang="en-US" dirty="0" err="1"/>
              <a:t>obzirom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promjenjive</a:t>
            </a:r>
            <a:r>
              <a:rPr lang="en-US" dirty="0"/>
              <a:t> </a:t>
            </a:r>
            <a:r>
              <a:rPr lang="en-US" dirty="0" err="1"/>
              <a:t>potrebe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, </a:t>
            </a:r>
            <a:r>
              <a:rPr lang="en-US" dirty="0" err="1"/>
              <a:t>regulatorne</a:t>
            </a:r>
            <a:r>
              <a:rPr lang="en-US" dirty="0"/>
              <a:t> </a:t>
            </a:r>
            <a:r>
              <a:rPr lang="en-US" dirty="0" err="1"/>
              <a:t>izmjene</a:t>
            </a:r>
            <a:r>
              <a:rPr lang="en-US" dirty="0"/>
              <a:t> i </a:t>
            </a:r>
            <a:r>
              <a:rPr lang="en-US" dirty="0" err="1"/>
              <a:t>tehnološki</a:t>
            </a:r>
            <a:r>
              <a:rPr lang="en-US" dirty="0"/>
              <a:t> </a:t>
            </a:r>
            <a:r>
              <a:rPr lang="en-US" dirty="0" err="1"/>
              <a:t>napredak</a:t>
            </a:r>
            <a:r>
              <a:rPr lang="en-US" dirty="0"/>
              <a:t>, </a:t>
            </a:r>
            <a:r>
              <a:rPr lang="en-US" dirty="0" err="1"/>
              <a:t>tim</a:t>
            </a:r>
            <a:r>
              <a:rPr lang="en-US" dirty="0"/>
              <a:t> </a:t>
            </a:r>
            <a:r>
              <a:rPr lang="en-US" dirty="0" err="1"/>
              <a:t>primjenjuje</a:t>
            </a:r>
            <a:r>
              <a:rPr lang="en-US" dirty="0"/>
              <a:t> </a:t>
            </a:r>
            <a:r>
              <a:rPr lang="en-US" b="1" dirty="0" err="1"/>
              <a:t>adaptivni</a:t>
            </a:r>
            <a:r>
              <a:rPr lang="en-US" b="1" dirty="0"/>
              <a:t> (Agile) </a:t>
            </a:r>
            <a:r>
              <a:rPr lang="en-US" b="1" dirty="0" err="1"/>
              <a:t>pristup</a:t>
            </a:r>
            <a:r>
              <a:rPr lang="en-US" b="1" dirty="0"/>
              <a:t> </a:t>
            </a:r>
            <a:r>
              <a:rPr lang="en-US" b="1" dirty="0" err="1"/>
              <a:t>upravljanju</a:t>
            </a:r>
            <a:r>
              <a:rPr lang="en-US" b="1" dirty="0"/>
              <a:t> </a:t>
            </a:r>
            <a:r>
              <a:rPr lang="en-US" b="1" dirty="0" err="1"/>
              <a:t>projektom</a:t>
            </a:r>
            <a:r>
              <a:rPr lang="en-US" b="1" dirty="0"/>
              <a:t> </a:t>
            </a:r>
            <a:r>
              <a:rPr lang="en-US" dirty="0" err="1"/>
              <a:t>kako</a:t>
            </a:r>
            <a:r>
              <a:rPr lang="en-US" dirty="0"/>
              <a:t> bi </a:t>
            </a:r>
            <a:r>
              <a:rPr lang="en-US" dirty="0" err="1"/>
              <a:t>osigurao</a:t>
            </a:r>
            <a:r>
              <a:rPr lang="en-US" dirty="0"/>
              <a:t> </a:t>
            </a:r>
            <a:r>
              <a:rPr lang="en-US" dirty="0" err="1"/>
              <a:t>fleksibilnost</a:t>
            </a:r>
            <a:r>
              <a:rPr lang="en-US" dirty="0"/>
              <a:t> i </a:t>
            </a:r>
            <a:r>
              <a:rPr lang="en-US" dirty="0" err="1"/>
              <a:t>kontinuirano</a:t>
            </a:r>
            <a:r>
              <a:rPr lang="en-US" dirty="0"/>
              <a:t> </a:t>
            </a:r>
            <a:r>
              <a:rPr lang="en-US" dirty="0" err="1"/>
              <a:t>unapređenje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Rasprava</a:t>
            </a:r>
            <a:r>
              <a:rPr lang="en-US" dirty="0"/>
              <a:t>: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ključne</a:t>
            </a:r>
            <a:r>
              <a:rPr lang="en-US" dirty="0"/>
              <a:t> </a:t>
            </a:r>
            <a:r>
              <a:rPr lang="en-US" dirty="0" err="1"/>
              <a:t>karakteristike</a:t>
            </a:r>
            <a:r>
              <a:rPr lang="en-US" dirty="0"/>
              <a:t> </a:t>
            </a:r>
            <a:r>
              <a:rPr lang="en-US" dirty="0" err="1"/>
              <a:t>adaptivnog</a:t>
            </a:r>
            <a:r>
              <a:rPr lang="en-US" dirty="0"/>
              <a:t> </a:t>
            </a:r>
            <a:r>
              <a:rPr lang="en-US" dirty="0" err="1"/>
              <a:t>pristupa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079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22415-4146-CC95-009F-1DB711F22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D2E2747-9E5C-0B3D-BD11-54657D884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915" y="365125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3800" b="1" dirty="0"/>
              <a:t>Hibridni </a:t>
            </a:r>
            <a:r>
              <a:rPr lang="en-US" sz="3800" b="1" dirty="0" err="1"/>
              <a:t>pristup</a:t>
            </a:r>
            <a:endParaRPr lang="en-US" sz="38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B48D51-5917-8CEC-1FFE-23CFE63DB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025" y="1366202"/>
            <a:ext cx="1127138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600" b="1" dirty="0" err="1">
                <a:solidFill>
                  <a:srgbClr val="0ADBBC"/>
                </a:solidFill>
                <a:latin typeface="Bahnschrift SemiLight" panose="020B0502040204020203" pitchFamily="34" charset="0"/>
              </a:rPr>
              <a:t>Definicija</a:t>
            </a:r>
            <a:r>
              <a:rPr lang="en-US" altLang="en-US" sz="2600" b="1" dirty="0">
                <a:solidFill>
                  <a:srgbClr val="0ADBBC"/>
                </a:solidFill>
                <a:latin typeface="Bahnschrift SemiLight" panose="020B0502040204020203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Bahnschrift SemiLight" panose="020B0502040204020203" pitchFamily="34" charset="0"/>
              </a:rPr>
              <a:t>Kombinacija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prediktivnog</a:t>
            </a:r>
            <a:r>
              <a:rPr lang="en-US" altLang="en-US" sz="2400" dirty="0">
                <a:latin typeface="Bahnschrift SemiLight" panose="020B0502040204020203" pitchFamily="34" charset="0"/>
              </a:rPr>
              <a:t> i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adaptivnog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pristupa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koja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koristi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prednosti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obje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metodologije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kako</a:t>
            </a:r>
            <a:r>
              <a:rPr lang="en-US" altLang="en-US" sz="2400" dirty="0">
                <a:latin typeface="Bahnschrift SemiLight" panose="020B0502040204020203" pitchFamily="34" charset="0"/>
              </a:rPr>
              <a:t> bi se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prilagodila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specifičnim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potrebama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projekta</a:t>
            </a:r>
            <a:r>
              <a:rPr lang="en-US" altLang="en-US" sz="2400" dirty="0">
                <a:latin typeface="Bahnschrift SemiLigh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600" b="1" dirty="0">
              <a:solidFill>
                <a:srgbClr val="0ADBBC"/>
              </a:solidFill>
              <a:latin typeface="Bahnschrift Semi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600" b="1" dirty="0">
                <a:solidFill>
                  <a:srgbClr val="0ADBBC"/>
                </a:solidFill>
                <a:latin typeface="Bahnschrift SemiLight" panose="020B0502040204020203" pitchFamily="34" charset="0"/>
              </a:rPr>
              <a:t>Ključne </a:t>
            </a:r>
            <a:r>
              <a:rPr lang="en-US" altLang="en-US" sz="2600" b="1" dirty="0" err="1">
                <a:solidFill>
                  <a:srgbClr val="0ADBBC"/>
                </a:solidFill>
                <a:latin typeface="Bahnschrift SemiLight" panose="020B0502040204020203" pitchFamily="34" charset="0"/>
              </a:rPr>
              <a:t>značajke</a:t>
            </a:r>
            <a:r>
              <a:rPr lang="en-US" altLang="en-US" sz="2600" b="1" dirty="0">
                <a:solidFill>
                  <a:srgbClr val="0ADBBC"/>
                </a:solidFill>
                <a:latin typeface="Bahnschrift SemiLight" panose="020B0502040204020203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r-HR" altLang="en-US" sz="2400" dirty="0">
                <a:latin typeface="Bahnschrift SemiLight" panose="020B0502040204020203" pitchFamily="34" charset="0"/>
              </a:rPr>
              <a:t>-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Koristi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strukturirani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prediktivni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pristup</a:t>
            </a:r>
            <a:r>
              <a:rPr lang="en-US" altLang="en-US" sz="2400" dirty="0">
                <a:latin typeface="Bahnschrift SemiLight" panose="020B0502040204020203" pitchFamily="34" charset="0"/>
              </a:rPr>
              <a:t> za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dijelove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projekta</a:t>
            </a:r>
            <a:r>
              <a:rPr lang="en-US" altLang="en-US" sz="2400" dirty="0">
                <a:latin typeface="Bahnschrift SemiLight" panose="020B0502040204020203" pitchFamily="34" charset="0"/>
              </a:rPr>
              <a:t> koji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su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jasno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definirani</a:t>
            </a:r>
            <a:r>
              <a:rPr lang="en-US" altLang="en-US" sz="2400" dirty="0">
                <a:latin typeface="Bahnschrift SemiLigh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r-HR" altLang="en-US" sz="2400" dirty="0">
                <a:latin typeface="Bahnschrift SemiLight" panose="020B0502040204020203" pitchFamily="34" charset="0"/>
              </a:rPr>
              <a:t>-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Primjenjuje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adaptivni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pristup</a:t>
            </a:r>
            <a:r>
              <a:rPr lang="en-US" altLang="en-US" sz="2400" dirty="0">
                <a:latin typeface="Bahnschrift SemiLight" panose="020B0502040204020203" pitchFamily="34" charset="0"/>
              </a:rPr>
              <a:t> za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dijelove</a:t>
            </a:r>
            <a:r>
              <a:rPr lang="en-US" altLang="en-US" sz="2400" dirty="0">
                <a:latin typeface="Bahnschrift SemiLight" panose="020B0502040204020203" pitchFamily="34" charset="0"/>
              </a:rPr>
              <a:t> koji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zahtijevaju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fleksibilnost</a:t>
            </a:r>
            <a:r>
              <a:rPr lang="en-US" altLang="en-US" sz="2400" dirty="0">
                <a:latin typeface="Bahnschrift SemiLight" panose="020B0502040204020203" pitchFamily="34" charset="0"/>
              </a:rPr>
              <a:t> i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iterativni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razvoj</a:t>
            </a:r>
            <a:r>
              <a:rPr lang="en-US" altLang="en-US" sz="2400" dirty="0">
                <a:latin typeface="Bahnschrift SemiLigh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r-HR" altLang="en-US" sz="2400" dirty="0">
                <a:latin typeface="Bahnschrift SemiLight" panose="020B0502040204020203" pitchFamily="34" charset="0"/>
              </a:rPr>
              <a:t>-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Uravnotežuje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planiranje</a:t>
            </a:r>
            <a:r>
              <a:rPr lang="en-US" altLang="en-US" sz="2400" dirty="0">
                <a:latin typeface="Bahnschrift SemiLight" panose="020B0502040204020203" pitchFamily="34" charset="0"/>
              </a:rPr>
              <a:t> i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prilagodljivost</a:t>
            </a:r>
            <a:r>
              <a:rPr lang="en-US" altLang="en-US" sz="2400" dirty="0">
                <a:latin typeface="Bahnschrift SemiLigh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600" b="1" dirty="0">
              <a:solidFill>
                <a:srgbClr val="0ADBBC"/>
              </a:solidFill>
              <a:latin typeface="Bahnschrift Semi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600" b="1" dirty="0" err="1">
                <a:solidFill>
                  <a:srgbClr val="0ADBBC"/>
                </a:solidFill>
                <a:latin typeface="Bahnschrift SemiLight" panose="020B0502040204020203" pitchFamily="34" charset="0"/>
              </a:rPr>
              <a:t>Najprikladnije</a:t>
            </a:r>
            <a:r>
              <a:rPr lang="en-US" altLang="en-US" sz="2600" b="1" dirty="0">
                <a:solidFill>
                  <a:srgbClr val="0ADBBC"/>
                </a:solidFill>
                <a:latin typeface="Bahnschrift SemiLight" panose="020B0502040204020203" pitchFamily="34" charset="0"/>
              </a:rPr>
              <a:t> za: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Bahnschrift SemiLight" panose="020B0502040204020203" pitchFamily="34" charset="0"/>
              </a:rPr>
              <a:t>Projekte koji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imaju</a:t>
            </a:r>
            <a:r>
              <a:rPr lang="en-US" altLang="en-US" sz="2400" dirty="0">
                <a:latin typeface="Bahnschrift SemiLight" panose="020B0502040204020203" pitchFamily="34" charset="0"/>
              </a:rPr>
              <a:t> i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predvidljive</a:t>
            </a:r>
            <a:r>
              <a:rPr lang="en-US" altLang="en-US" sz="2400" dirty="0">
                <a:latin typeface="Bahnschrift SemiLight" panose="020B0502040204020203" pitchFamily="34" charset="0"/>
              </a:rPr>
              <a:t> i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neizvjesne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elemente</a:t>
            </a:r>
            <a:r>
              <a:rPr lang="en-US" altLang="en-US" sz="2400" dirty="0">
                <a:latin typeface="Bahnschrift SemiLight" panose="020B0502040204020203" pitchFamily="34" charset="0"/>
              </a:rPr>
              <a:t>,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gdje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su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neki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dijelovi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jasno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definirani</a:t>
            </a:r>
            <a:r>
              <a:rPr lang="en-US" altLang="en-US" sz="2400" dirty="0">
                <a:latin typeface="Bahnschrift SemiLight" panose="020B0502040204020203" pitchFamily="34" charset="0"/>
              </a:rPr>
              <a:t>,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dok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drugi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zahtijevaju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iterativno</a:t>
            </a:r>
            <a:r>
              <a:rPr lang="en-US" altLang="en-US" sz="2400" dirty="0">
                <a:latin typeface="Bahnschrift SemiLight" panose="020B0502040204020203" pitchFamily="34" charset="0"/>
              </a:rPr>
              <a:t> </a:t>
            </a:r>
            <a:r>
              <a:rPr lang="en-US" altLang="en-US" sz="2400" dirty="0" err="1">
                <a:latin typeface="Bahnschrift SemiLight" panose="020B0502040204020203" pitchFamily="34" charset="0"/>
              </a:rPr>
              <a:t>istraživanje</a:t>
            </a:r>
            <a:r>
              <a:rPr lang="en-US" altLang="en-US" sz="2400" dirty="0">
                <a:latin typeface="Bahnschrift SemiLight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1075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5F391-35D8-BA4D-4252-FF671F076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8F21C-9EA2-4897-81AC-77506A141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Hibridni </a:t>
            </a:r>
            <a:r>
              <a:rPr lang="en-US" sz="3800" b="1" dirty="0" err="1"/>
              <a:t>pristup</a:t>
            </a:r>
            <a:r>
              <a:rPr lang="hr-HR" sz="3800" b="1" dirty="0"/>
              <a:t> </a:t>
            </a:r>
            <a:r>
              <a:rPr lang="en-US" sz="3800" b="1" dirty="0"/>
              <a:t>_ </a:t>
            </a:r>
            <a:r>
              <a:rPr lang="hr-HR" sz="3800" b="1" dirty="0"/>
              <a:t>rasprava</a:t>
            </a:r>
            <a:r>
              <a:rPr lang="en-US" sz="3800" b="1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4C4A6-271A-5E1C-D634-55C4AA61B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531" y="2141536"/>
            <a:ext cx="11442415" cy="454802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ADBBC"/>
                </a:solidFill>
              </a:rPr>
              <a:t>Projekt: </a:t>
            </a:r>
            <a:r>
              <a:rPr lang="en-US" b="1" dirty="0" err="1">
                <a:solidFill>
                  <a:srgbClr val="0ADBBC"/>
                </a:solidFill>
              </a:rPr>
              <a:t>Razvoj</a:t>
            </a:r>
            <a:r>
              <a:rPr lang="en-US" b="1" dirty="0">
                <a:solidFill>
                  <a:srgbClr val="0ADBBC"/>
                </a:solidFill>
              </a:rPr>
              <a:t> i </a:t>
            </a:r>
            <a:r>
              <a:rPr lang="en-US" b="1" dirty="0" err="1">
                <a:solidFill>
                  <a:srgbClr val="0ADBBC"/>
                </a:solidFill>
              </a:rPr>
              <a:t>implementacija</a:t>
            </a:r>
            <a:r>
              <a:rPr lang="en-US" b="1" dirty="0">
                <a:solidFill>
                  <a:srgbClr val="0ADBBC"/>
                </a:solidFill>
              </a:rPr>
              <a:t> e-</a:t>
            </a:r>
            <a:r>
              <a:rPr lang="en-US" b="1" dirty="0" err="1">
                <a:solidFill>
                  <a:srgbClr val="0ADBBC"/>
                </a:solidFill>
              </a:rPr>
              <a:t>trgovinske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platforme</a:t>
            </a:r>
            <a:endParaRPr lang="en-US" b="1" dirty="0">
              <a:solidFill>
                <a:srgbClr val="0ADBBC"/>
              </a:solidFill>
            </a:endParaRPr>
          </a:p>
          <a:p>
            <a:pPr>
              <a:buNone/>
            </a:pPr>
            <a:endParaRPr lang="en-US" sz="2400" b="1" dirty="0"/>
          </a:p>
          <a:p>
            <a:r>
              <a:rPr lang="en-US" sz="2400" dirty="0"/>
              <a:t>Maloprodajna </a:t>
            </a:r>
            <a:r>
              <a:rPr lang="en-US" sz="2400" dirty="0" err="1"/>
              <a:t>tvrtka</a:t>
            </a:r>
            <a:r>
              <a:rPr lang="en-US" sz="2400" dirty="0"/>
              <a:t> </a:t>
            </a:r>
            <a:r>
              <a:rPr lang="en-US" sz="2400" dirty="0" err="1"/>
              <a:t>želi</a:t>
            </a:r>
            <a:r>
              <a:rPr lang="en-US" sz="2400" dirty="0"/>
              <a:t> </a:t>
            </a:r>
            <a:r>
              <a:rPr lang="en-US" sz="2400" dirty="0" err="1"/>
              <a:t>pokrenuti</a:t>
            </a:r>
            <a:r>
              <a:rPr lang="en-US" sz="2400" dirty="0"/>
              <a:t> </a:t>
            </a:r>
            <a:r>
              <a:rPr lang="en-US" sz="2400" dirty="0" err="1"/>
              <a:t>novu</a:t>
            </a:r>
            <a:r>
              <a:rPr lang="en-US" sz="2400" dirty="0"/>
              <a:t> e-</a:t>
            </a:r>
            <a:r>
              <a:rPr lang="en-US" sz="2400" dirty="0" err="1"/>
              <a:t>trgovinsku</a:t>
            </a:r>
            <a:r>
              <a:rPr lang="en-US" sz="2400" dirty="0"/>
              <a:t> </a:t>
            </a:r>
            <a:r>
              <a:rPr lang="en-US" sz="2400" dirty="0" err="1"/>
              <a:t>platformu</a:t>
            </a:r>
            <a:r>
              <a:rPr lang="en-US" sz="2400" dirty="0"/>
              <a:t>. Projekt </a:t>
            </a:r>
            <a:r>
              <a:rPr lang="en-US" sz="2400" dirty="0" err="1"/>
              <a:t>zahtijeva</a:t>
            </a:r>
            <a:r>
              <a:rPr lang="en-US" sz="2400" dirty="0"/>
              <a:t> </a:t>
            </a:r>
            <a:r>
              <a:rPr lang="en-US" sz="2400" b="1" dirty="0" err="1"/>
              <a:t>strukturirani</a:t>
            </a:r>
            <a:r>
              <a:rPr lang="en-US" sz="2400" b="1" dirty="0"/>
              <a:t> plan za </a:t>
            </a:r>
            <a:r>
              <a:rPr lang="en-US" sz="2400" b="1" dirty="0" err="1"/>
              <a:t>postavljanje</a:t>
            </a:r>
            <a:r>
              <a:rPr lang="en-US" sz="2400" b="1" dirty="0"/>
              <a:t> </a:t>
            </a:r>
            <a:r>
              <a:rPr lang="en-US" sz="2400" b="1" dirty="0" err="1"/>
              <a:t>infrastrukture</a:t>
            </a:r>
            <a:r>
              <a:rPr lang="en-US" sz="2400" b="1" dirty="0"/>
              <a:t> </a:t>
            </a:r>
            <a:r>
              <a:rPr lang="en-US" sz="2400" dirty="0" err="1"/>
              <a:t>uz</a:t>
            </a:r>
            <a:r>
              <a:rPr lang="en-US" sz="2400" dirty="0"/>
              <a:t> </a:t>
            </a:r>
            <a:r>
              <a:rPr lang="en-US" sz="2400" dirty="0" err="1"/>
              <a:t>zadržavanje</a:t>
            </a:r>
            <a:r>
              <a:rPr lang="en-US" sz="2400" dirty="0"/>
              <a:t> </a:t>
            </a:r>
            <a:r>
              <a:rPr lang="en-US" sz="2400" b="1" dirty="0" err="1"/>
              <a:t>fleksibilnosti</a:t>
            </a:r>
            <a:r>
              <a:rPr lang="en-US" sz="2400" b="1" dirty="0"/>
              <a:t> za </a:t>
            </a:r>
            <a:r>
              <a:rPr lang="en-US" sz="2400" b="1" dirty="0" err="1"/>
              <a:t>razvoj</a:t>
            </a:r>
            <a:r>
              <a:rPr lang="en-US" sz="2400" b="1" dirty="0"/>
              <a:t> </a:t>
            </a:r>
            <a:r>
              <a:rPr lang="en-US" sz="2400" b="1" dirty="0" err="1"/>
              <a:t>funkcionalnosti</a:t>
            </a:r>
            <a:r>
              <a:rPr lang="en-US" sz="2400" b="1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temelju</a:t>
            </a:r>
            <a:r>
              <a:rPr lang="en-US" sz="2400" dirty="0"/>
              <a:t> </a:t>
            </a:r>
            <a:r>
              <a:rPr lang="en-US" sz="2400" dirty="0" err="1"/>
              <a:t>povratnih</a:t>
            </a:r>
            <a:r>
              <a:rPr lang="en-US" sz="2400" dirty="0"/>
              <a:t> </a:t>
            </a:r>
            <a:r>
              <a:rPr lang="en-US" sz="2400" dirty="0" err="1"/>
              <a:t>informacija</a:t>
            </a:r>
            <a:r>
              <a:rPr lang="en-US" sz="2400" dirty="0"/>
              <a:t> </a:t>
            </a:r>
            <a:r>
              <a:rPr lang="en-US" sz="2400" dirty="0" err="1"/>
              <a:t>korisnika</a:t>
            </a:r>
            <a:r>
              <a:rPr lang="en-US" sz="2400" dirty="0"/>
              <a:t>. Tim </a:t>
            </a:r>
            <a:r>
              <a:rPr lang="en-US" sz="2400" dirty="0" err="1"/>
              <a:t>primjenjuje</a:t>
            </a:r>
            <a:r>
              <a:rPr lang="en-US" sz="2400" dirty="0"/>
              <a:t> </a:t>
            </a:r>
            <a:r>
              <a:rPr lang="en-US" sz="2400" b="1" dirty="0" err="1"/>
              <a:t>hibridni</a:t>
            </a:r>
            <a:r>
              <a:rPr lang="en-US" sz="2400" b="1" dirty="0"/>
              <a:t> </a:t>
            </a:r>
            <a:r>
              <a:rPr lang="en-US" sz="2400" b="1" dirty="0" err="1"/>
              <a:t>pristup</a:t>
            </a:r>
            <a:r>
              <a:rPr lang="en-US" sz="2400" b="1" dirty="0"/>
              <a:t> </a:t>
            </a:r>
            <a:r>
              <a:rPr lang="en-US" sz="2400" b="1" dirty="0" err="1"/>
              <a:t>upravljanju</a:t>
            </a:r>
            <a:r>
              <a:rPr lang="en-US" sz="2400" b="1" dirty="0"/>
              <a:t> </a:t>
            </a:r>
            <a:r>
              <a:rPr lang="en-US" sz="2400" b="1" dirty="0" err="1"/>
              <a:t>projektom</a:t>
            </a:r>
            <a:r>
              <a:rPr lang="en-US" sz="2400" dirty="0"/>
              <a:t>, </a:t>
            </a:r>
            <a:r>
              <a:rPr lang="en-US" sz="2400" dirty="0" err="1"/>
              <a:t>kombinirajući</a:t>
            </a:r>
            <a:r>
              <a:rPr lang="en-US" sz="2400" dirty="0"/>
              <a:t> </a:t>
            </a:r>
            <a:r>
              <a:rPr lang="en-US" sz="2400" dirty="0" err="1"/>
              <a:t>elemente</a:t>
            </a:r>
            <a:r>
              <a:rPr lang="en-US" sz="2400" dirty="0"/>
              <a:t> </a:t>
            </a:r>
            <a:r>
              <a:rPr lang="en-US" sz="2400" b="1" dirty="0" err="1"/>
              <a:t>prediktivnih</a:t>
            </a:r>
            <a:r>
              <a:rPr lang="en-US" sz="2400" b="1" dirty="0"/>
              <a:t> (Waterfall) i </a:t>
            </a:r>
            <a:r>
              <a:rPr lang="en-US" sz="2400" b="1" dirty="0" err="1"/>
              <a:t>adaptivnih</a:t>
            </a:r>
            <a:r>
              <a:rPr lang="en-US" sz="2400" b="1" dirty="0"/>
              <a:t> (Agile) </a:t>
            </a:r>
            <a:r>
              <a:rPr lang="en-US" sz="2400" b="1" dirty="0" err="1"/>
              <a:t>metodologija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Rasprava</a:t>
            </a:r>
            <a:r>
              <a:rPr lang="en-US" sz="2400" dirty="0"/>
              <a:t>: </a:t>
            </a:r>
            <a:r>
              <a:rPr lang="en-US" sz="2400" dirty="0" err="1"/>
              <a:t>koje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ključne</a:t>
            </a:r>
            <a:r>
              <a:rPr lang="en-US" sz="2400" dirty="0"/>
              <a:t> </a:t>
            </a:r>
            <a:r>
              <a:rPr lang="en-US" sz="2400" dirty="0" err="1"/>
              <a:t>karakteristike</a:t>
            </a:r>
            <a:r>
              <a:rPr lang="en-US" sz="2400" dirty="0"/>
              <a:t> </a:t>
            </a:r>
            <a:r>
              <a:rPr lang="en-US" sz="2400" dirty="0" err="1"/>
              <a:t>hibridnog</a:t>
            </a:r>
            <a:r>
              <a:rPr lang="en-US" sz="2400" dirty="0"/>
              <a:t> </a:t>
            </a:r>
            <a:r>
              <a:rPr lang="en-US" sz="2400" dirty="0" err="1"/>
              <a:t>pristupa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7935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97540-2A62-5FC6-F43F-00A2B5FB2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 err="1"/>
              <a:t>Vježbe</a:t>
            </a:r>
            <a:endParaRPr lang="en-US" sz="3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6C2B2-C66D-9552-E556-940F8DE6B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466" y="2506662"/>
            <a:ext cx="10515600" cy="2603957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Na </a:t>
            </a:r>
            <a:r>
              <a:rPr lang="en-GB" dirty="0" err="1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temelju</a:t>
            </a:r>
            <a:r>
              <a:rPr lang="en-GB" dirty="0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prethodno</a:t>
            </a:r>
            <a:r>
              <a:rPr lang="en-GB" dirty="0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opisanog</a:t>
            </a:r>
            <a:r>
              <a:rPr lang="en-GB" dirty="0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studijskog</a:t>
            </a:r>
            <a:r>
              <a:rPr lang="en-GB" dirty="0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primjera</a:t>
            </a:r>
            <a:r>
              <a:rPr lang="en-GB" dirty="0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identificirat</a:t>
            </a:r>
            <a:r>
              <a:rPr lang="en-GB" dirty="0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ćemo</a:t>
            </a:r>
            <a:r>
              <a:rPr lang="en-GB" dirty="0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prednosti</a:t>
            </a:r>
            <a:r>
              <a:rPr lang="en-GB" dirty="0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 i </a:t>
            </a:r>
            <a:r>
              <a:rPr lang="en-GB" dirty="0" err="1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nedostatke</a:t>
            </a:r>
            <a:r>
              <a:rPr lang="en-GB" dirty="0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korištenja</a:t>
            </a:r>
            <a:r>
              <a:rPr lang="en-GB" dirty="0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prediktivnog</a:t>
            </a:r>
            <a:r>
              <a:rPr lang="en-GB" dirty="0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adaptivnog</a:t>
            </a:r>
            <a:r>
              <a:rPr lang="en-GB" dirty="0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 i </a:t>
            </a:r>
            <a:r>
              <a:rPr lang="en-GB" dirty="0" err="1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hibridnog</a:t>
            </a:r>
            <a:r>
              <a:rPr lang="en-GB" dirty="0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pristupa</a:t>
            </a:r>
            <a:r>
              <a:rPr lang="en-GB" dirty="0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 u </a:t>
            </a:r>
            <a:r>
              <a:rPr lang="en-GB" dirty="0" err="1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različitim</a:t>
            </a:r>
            <a:r>
              <a:rPr lang="en-GB" dirty="0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projektima</a:t>
            </a:r>
            <a:r>
              <a:rPr lang="en-GB" dirty="0">
                <a:effectLst/>
                <a:ea typeface="Bahnschrift SemiLight" panose="020B0502040204020203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6595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EEB1-D83D-A942-01D5-CB7940DB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BE3066D-FEE6-AA89-9DC2-78F65904D9C3}"/>
              </a:ext>
            </a:extLst>
          </p:cNvPr>
          <p:cNvSpPr txBox="1">
            <a:spLocks/>
          </p:cNvSpPr>
          <p:nvPr/>
        </p:nvSpPr>
        <p:spPr>
          <a:xfrm>
            <a:off x="6096000" y="3406627"/>
            <a:ext cx="5646643" cy="236362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Montserrat" panose="00000500000000000000" pitchFamily="2" charset="-18"/>
                <a:ea typeface="+mj-ea"/>
                <a:cs typeface="+mj-cs"/>
              </a:defRPr>
            </a:lvl1pPr>
          </a:lstStyle>
          <a:p>
            <a:r>
              <a:rPr lang="en-US" sz="4000" dirty="0" err="1">
                <a:latin typeface="Bahnschrift" panose="020B0502040204020203" pitchFamily="34" charset="0"/>
              </a:rPr>
              <a:t>Važnost</a:t>
            </a:r>
            <a:r>
              <a:rPr lang="en-US" sz="4000" dirty="0">
                <a:latin typeface="Bahnschrift" panose="020B0502040204020203" pitchFamily="34" charset="0"/>
              </a:rPr>
              <a:t> </a:t>
            </a:r>
            <a:r>
              <a:rPr lang="en-US" sz="4000" dirty="0" err="1">
                <a:latin typeface="Bahnschrift" panose="020B0502040204020203" pitchFamily="34" charset="0"/>
              </a:rPr>
              <a:t>etike</a:t>
            </a:r>
            <a:r>
              <a:rPr lang="en-US" sz="4000" dirty="0">
                <a:latin typeface="Bahnschrift" panose="020B0502040204020203" pitchFamily="34" charset="0"/>
              </a:rPr>
              <a:t> u </a:t>
            </a:r>
            <a:r>
              <a:rPr lang="en-US" sz="4000" dirty="0" err="1">
                <a:latin typeface="Bahnschrift" panose="020B0502040204020203" pitchFamily="34" charset="0"/>
              </a:rPr>
              <a:t>upravljanju</a:t>
            </a:r>
            <a:r>
              <a:rPr lang="en-US" sz="4000" dirty="0">
                <a:latin typeface="Bahnschrift" panose="020B0502040204020203" pitchFamily="34" charset="0"/>
              </a:rPr>
              <a:t> </a:t>
            </a:r>
            <a:r>
              <a:rPr lang="en-US" sz="4000" dirty="0" err="1">
                <a:latin typeface="Bahnschrift" panose="020B0502040204020203" pitchFamily="34" charset="0"/>
              </a:rPr>
              <a:t>projektima</a:t>
            </a:r>
            <a:endParaRPr lang="en-US" sz="4000" dirty="0">
              <a:latin typeface="Bahnschrift" panose="020B0502040204020203" pitchFamily="34" charset="0"/>
            </a:endParaRPr>
          </a:p>
        </p:txBody>
      </p:sp>
      <p:sp>
        <p:nvSpPr>
          <p:cNvPr id="2" name="Naslov 3">
            <a:extLst>
              <a:ext uri="{FF2B5EF4-FFF2-40B4-BE49-F238E27FC236}">
                <a16:creationId xmlns:a16="http://schemas.microsoft.com/office/drawing/2014/main" id="{2F148496-CAD0-1DD2-03AE-EB106DAF9ED1}"/>
              </a:ext>
            </a:extLst>
          </p:cNvPr>
          <p:cNvSpPr txBox="1">
            <a:spLocks/>
          </p:cNvSpPr>
          <p:nvPr/>
        </p:nvSpPr>
        <p:spPr>
          <a:xfrm>
            <a:off x="2572468" y="10414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OSNOVE UPRAVLJANJA PROJEKTIMA</a:t>
            </a:r>
          </a:p>
        </p:txBody>
      </p:sp>
    </p:spTree>
    <p:extLst>
      <p:ext uri="{BB962C8B-B14F-4D97-AF65-F5344CB8AC3E}">
        <p14:creationId xmlns:p14="http://schemas.microsoft.com/office/powerpoint/2010/main" val="1075810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Title 1">
            <a:extLst>
              <a:ext uri="{FF2B5EF4-FFF2-40B4-BE49-F238E27FC236}">
                <a16:creationId xmlns:a16="http://schemas.microsoft.com/office/drawing/2014/main" id="{3D1F31F6-15A6-2871-D22E-783EB3B8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4 </a:t>
            </a:r>
            <a:r>
              <a:rPr lang="en-US" dirty="0" err="1"/>
              <a:t>načela</a:t>
            </a:r>
            <a:endParaRPr lang="en-US" dirty="0"/>
          </a:p>
        </p:txBody>
      </p:sp>
      <p:pic>
        <p:nvPicPr>
          <p:cNvPr id="1030" name="Picture 6" descr="01_PMP_Introduction.pdf - Speaker Deck">
            <a:extLst>
              <a:ext uri="{FF2B5EF4-FFF2-40B4-BE49-F238E27FC236}">
                <a16:creationId xmlns:a16="http://schemas.microsoft.com/office/drawing/2014/main" id="{021ABB45-58F9-3CA8-6454-2B07AD010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10" b="7426"/>
          <a:stretch/>
        </p:blipFill>
        <p:spPr bwMode="auto">
          <a:xfrm>
            <a:off x="1245132" y="1797317"/>
            <a:ext cx="8957647" cy="4397285"/>
          </a:xfrm>
          <a:prstGeom prst="rect">
            <a:avLst/>
          </a:prstGeom>
          <a:noFill/>
        </p:spPr>
      </p:pic>
      <p:sp>
        <p:nvSpPr>
          <p:cNvPr id="2" name="CasetăText 1">
            <a:extLst>
              <a:ext uri="{FF2B5EF4-FFF2-40B4-BE49-F238E27FC236}">
                <a16:creationId xmlns:a16="http://schemas.microsoft.com/office/drawing/2014/main" id="{CCF0E458-757C-09CF-99EF-BD77A23A6FED}"/>
              </a:ext>
            </a:extLst>
          </p:cNvPr>
          <p:cNvSpPr txBox="1"/>
          <p:nvPr/>
        </p:nvSpPr>
        <p:spPr>
          <a:xfrm>
            <a:off x="3618428" y="6308209"/>
            <a:ext cx="4427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Izvor</a:t>
            </a:r>
            <a:r>
              <a:rPr lang="en-US" dirty="0"/>
              <a:t>: PMI – Project Management Institute 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257748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11934-A3E1-4B11-77F6-0DBE03BDA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8239F-A8A5-D241-4A8F-705E363D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568" y="280904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4 </a:t>
            </a:r>
            <a:r>
              <a:rPr lang="en-US" dirty="0" err="1"/>
              <a:t>načela</a:t>
            </a:r>
            <a:r>
              <a:rPr lang="en-US" dirty="0"/>
              <a:t> _ </a:t>
            </a:r>
            <a:r>
              <a:rPr lang="en-US" dirty="0" err="1"/>
              <a:t>definicije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39D4301-23EA-F54A-E533-2AA362CD62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8234142"/>
              </p:ext>
            </p:extLst>
          </p:nvPr>
        </p:nvGraphicFramePr>
        <p:xfrm>
          <a:off x="419686" y="1606467"/>
          <a:ext cx="11352628" cy="5229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9413">
                  <a:extLst>
                    <a:ext uri="{9D8B030D-6E8A-4147-A177-3AD203B41FA5}">
                      <a16:colId xmlns:a16="http://schemas.microsoft.com/office/drawing/2014/main" val="2639601998"/>
                    </a:ext>
                  </a:extLst>
                </a:gridCol>
                <a:gridCol w="5883215">
                  <a:extLst>
                    <a:ext uri="{9D8B030D-6E8A-4147-A177-3AD203B41FA5}">
                      <a16:colId xmlns:a16="http://schemas.microsoft.com/office/drawing/2014/main" val="3350106672"/>
                    </a:ext>
                  </a:extLst>
                </a:gridCol>
              </a:tblGrid>
              <a:tr h="2577905">
                <a:tc>
                  <a:txBody>
                    <a:bodyPr/>
                    <a:lstStyle/>
                    <a:p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ISKRENOST</a:t>
                      </a:r>
                      <a:r>
                        <a:rPr lang="hr-HR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(HONESTY)</a:t>
                      </a:r>
                      <a:endParaRPr lang="en-US" sz="2400" b="1" u="sng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</a:endParaRPr>
                    </a:p>
                    <a:p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Budite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iskreni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prema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članovima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tima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poslovnim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sponzorima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klijentima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;</a:t>
                      </a:r>
                    </a:p>
                    <a:p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Pogrešno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prikazivanje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ili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laganje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o </a:t>
                      </a:r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bilo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kojem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dijelu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projekta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narušava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povjerenje</a:t>
                      </a:r>
                      <a:r>
                        <a:rPr lang="en-US" sz="2400" b="1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ADBBC">
                            <a:tint val="66000"/>
                            <a:satMod val="160000"/>
                          </a:srgbClr>
                        </a:gs>
                        <a:gs pos="50000">
                          <a:srgbClr val="0ADBBC">
                            <a:tint val="44500"/>
                            <a:satMod val="160000"/>
                          </a:srgbClr>
                        </a:gs>
                        <a:gs pos="100000">
                          <a:srgbClr val="0ADBBC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ODGOVORNOST</a:t>
                      </a:r>
                      <a:r>
                        <a:rPr lang="hr-HR" sz="2400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(RESPONSIBILITY)</a:t>
                      </a:r>
                      <a:endParaRPr lang="en-US" sz="2400" u="sng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</a:endParaRPr>
                    </a:p>
                    <a:p>
                      <a:r>
                        <a:rPr lang="en-US" sz="2400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Budite</a:t>
                      </a:r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organizirani</a:t>
                      </a:r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, </a:t>
                      </a:r>
                      <a:r>
                        <a:rPr lang="en-US" sz="2400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točni</a:t>
                      </a:r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2400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dajte</a:t>
                      </a:r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svoj</a:t>
                      </a:r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maksimum</a:t>
                      </a:r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u </a:t>
                      </a:r>
                      <a:r>
                        <a:rPr lang="en-US" sz="2400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projektu</a:t>
                      </a:r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;</a:t>
                      </a:r>
                    </a:p>
                    <a:p>
                      <a:r>
                        <a:rPr lang="en-US" sz="2400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Odgovorni</a:t>
                      </a:r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ste</a:t>
                      </a:r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za </a:t>
                      </a:r>
                      <a:r>
                        <a:rPr lang="en-US" sz="2400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uspjeh</a:t>
                      </a:r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ili</a:t>
                      </a:r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neuspjeh</a:t>
                      </a:r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svog</a:t>
                      </a:r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u="none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projekta</a:t>
                      </a:r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ADBBC">
                            <a:tint val="66000"/>
                            <a:satMod val="160000"/>
                          </a:srgbClr>
                        </a:gs>
                        <a:gs pos="50000">
                          <a:srgbClr val="0ADBBC">
                            <a:tint val="44500"/>
                            <a:satMod val="160000"/>
                          </a:srgbClr>
                        </a:gs>
                        <a:gs pos="100000">
                          <a:srgbClr val="0ADBBC">
                            <a:tint val="23500"/>
                            <a:satMod val="160000"/>
                          </a:srgb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36913854"/>
                  </a:ext>
                </a:extLst>
              </a:tr>
              <a:tr h="2577905">
                <a:tc>
                  <a:txBody>
                    <a:bodyPr/>
                    <a:lstStyle/>
                    <a:p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POŠTOVANJE</a:t>
                      </a:r>
                      <a:r>
                        <a:rPr lang="hr-HR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(RESPECT)</a:t>
                      </a:r>
                      <a:endParaRPr lang="en-US" sz="2400" b="1" u="sng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</a:endParaRPr>
                    </a:p>
                    <a:p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Budite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puni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poštovanja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prema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članovima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tima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očekujte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poštovanje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zauzvrat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;</a:t>
                      </a:r>
                    </a:p>
                    <a:p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Međusobno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poštovanje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pomaže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timu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da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funkcionira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na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najbolji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mogući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način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ADBBC">
                            <a:tint val="66000"/>
                            <a:satMod val="160000"/>
                          </a:srgbClr>
                        </a:gs>
                        <a:gs pos="50000">
                          <a:srgbClr val="0ADBBC">
                            <a:tint val="44500"/>
                            <a:satMod val="160000"/>
                          </a:srgbClr>
                        </a:gs>
                        <a:gs pos="100000">
                          <a:srgbClr val="0ADBBC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PRAVEDNOST</a:t>
                      </a:r>
                      <a:r>
                        <a:rPr lang="hr-HR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(FAIRNESS)</a:t>
                      </a:r>
                      <a:endParaRPr lang="en-US" sz="2400" b="1" u="sng" dirty="0">
                        <a:solidFill>
                          <a:schemeClr val="tx1"/>
                        </a:solidFill>
                        <a:latin typeface="Bahnschrift SemiLight" panose="020B0502040204020203" pitchFamily="34" charset="0"/>
                      </a:endParaRPr>
                    </a:p>
                    <a:p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Nikada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nemojte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favorizirati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pojedine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članove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tima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niti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ciljati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člana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tima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koji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vam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se ne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sviđa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;</a:t>
                      </a:r>
                    </a:p>
                    <a:p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To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narušava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povjerenje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unutar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tima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i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negativno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utječe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na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uspjeh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en-US" sz="2400" b="1" u="sng" dirty="0" err="1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projekta</a:t>
                      </a:r>
                      <a:r>
                        <a:rPr lang="en-US" sz="2400" b="1" u="sng" dirty="0">
                          <a:solidFill>
                            <a:schemeClr val="tx1"/>
                          </a:solidFill>
                          <a:latin typeface="Bahnschrift SemiLight" panose="020B0502040204020203" pitchFamily="34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0ADBBC">
                            <a:tint val="66000"/>
                            <a:satMod val="160000"/>
                          </a:srgbClr>
                        </a:gs>
                        <a:gs pos="50000">
                          <a:srgbClr val="0ADBBC">
                            <a:tint val="44500"/>
                            <a:satMod val="160000"/>
                          </a:srgbClr>
                        </a:gs>
                        <a:gs pos="100000">
                          <a:srgbClr val="0ADBBC">
                            <a:tint val="23500"/>
                            <a:satMod val="160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2377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690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B33C53-8276-3C10-34AC-1F36DC8DE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Rasprava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FE5886-13C8-F90E-E948-D10F1E948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Trener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osobni</a:t>
            </a:r>
            <a:r>
              <a:rPr lang="en-US" dirty="0"/>
              <a:t> primjer za </a:t>
            </a:r>
            <a:r>
              <a:rPr lang="en-US" dirty="0" err="1"/>
              <a:t>svako</a:t>
            </a:r>
            <a:r>
              <a:rPr lang="en-US" dirty="0"/>
              <a:t> od </a:t>
            </a:r>
            <a:r>
              <a:rPr lang="en-US" dirty="0" err="1"/>
              <a:t>ključnih</a:t>
            </a:r>
            <a:r>
              <a:rPr lang="en-US" dirty="0"/>
              <a:t> </a:t>
            </a:r>
            <a:r>
              <a:rPr lang="en-US" dirty="0" err="1"/>
              <a:t>načela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dirty="0" err="1"/>
              <a:t>Iskrenost</a:t>
            </a:r>
            <a:r>
              <a:rPr lang="en-US" dirty="0"/>
              <a:t> –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negativan</a:t>
            </a:r>
            <a:r>
              <a:rPr lang="en-US" dirty="0"/>
              <a:t> primjer: </a:t>
            </a:r>
            <a:r>
              <a:rPr lang="en-US" dirty="0" err="1"/>
              <a:t>nepotizam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Trener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također</a:t>
            </a:r>
            <a:r>
              <a:rPr lang="en-US" dirty="0"/>
              <a:t> </a:t>
            </a:r>
            <a:r>
              <a:rPr lang="en-US" dirty="0" err="1"/>
              <a:t>govoriti</a:t>
            </a:r>
            <a:r>
              <a:rPr lang="en-US" dirty="0"/>
              <a:t> o </a:t>
            </a:r>
            <a:r>
              <a:rPr lang="en-US" dirty="0" err="1"/>
              <a:t>povjerljivosti</a:t>
            </a:r>
            <a:r>
              <a:rPr lang="en-US" dirty="0"/>
              <a:t> i NDA-u (</a:t>
            </a:r>
            <a:r>
              <a:rPr lang="en-US" dirty="0" err="1"/>
              <a:t>ugovoru</a:t>
            </a:r>
            <a:r>
              <a:rPr lang="en-US" dirty="0"/>
              <a:t> o </a:t>
            </a:r>
            <a:r>
              <a:rPr lang="en-US" dirty="0" err="1"/>
              <a:t>povjerljivosti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Koji je </a:t>
            </a:r>
            <a:r>
              <a:rPr lang="en-US" dirty="0" err="1"/>
              <a:t>utjecaj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projekt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se ne </a:t>
            </a:r>
            <a:r>
              <a:rPr lang="en-US" dirty="0" err="1"/>
              <a:t>poštuje</a:t>
            </a:r>
            <a:r>
              <a:rPr lang="en-US" dirty="0"/>
              <a:t>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od ova 4 </a:t>
            </a:r>
            <a:r>
              <a:rPr lang="en-US" dirty="0" err="1"/>
              <a:t>načela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794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52E1F-5870-41F7-7416-2130D55D3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A1131-1DAB-1CF2-10A4-9A3F7F3A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Procjena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0B9FC-D2B9-8F61-14D2-851B36CA4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2" y="2195369"/>
            <a:ext cx="11244719" cy="49273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>
                <a:cs typeface="Arial" panose="020B0604020202020204" pitchFamily="34" charset="0"/>
              </a:rPr>
              <a:t>Voditeljica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projekta</a:t>
            </a:r>
            <a:r>
              <a:rPr lang="en-US" dirty="0">
                <a:cs typeface="Arial" panose="020B0604020202020204" pitchFamily="34" charset="0"/>
              </a:rPr>
              <a:t>, Sarah, </a:t>
            </a:r>
            <a:r>
              <a:rPr lang="en-US" dirty="0" err="1">
                <a:cs typeface="Arial" panose="020B0604020202020204" pitchFamily="34" charset="0"/>
              </a:rPr>
              <a:t>vodi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projekt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razvoja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softvera</a:t>
            </a:r>
            <a:r>
              <a:rPr lang="en-US" dirty="0">
                <a:cs typeface="Arial" panose="020B0604020202020204" pitchFamily="34" charset="0"/>
              </a:rPr>
              <a:t> za </a:t>
            </a:r>
            <a:r>
              <a:rPr lang="en-US" dirty="0" err="1">
                <a:cs typeface="Arial" panose="020B0604020202020204" pitchFamily="34" charset="0"/>
              </a:rPr>
              <a:t>klijenta</a:t>
            </a:r>
            <a:r>
              <a:rPr lang="en-US" dirty="0">
                <a:cs typeface="Arial" panose="020B0604020202020204" pitchFamily="34" charset="0"/>
              </a:rPr>
              <a:t> s </a:t>
            </a:r>
            <a:r>
              <a:rPr lang="en-US" dirty="0" err="1">
                <a:cs typeface="Arial" panose="020B0604020202020204" pitchFamily="34" charset="0"/>
              </a:rPr>
              <a:t>vrlo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strogim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rokom</a:t>
            </a:r>
            <a:r>
              <a:rPr lang="en-US" dirty="0"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cs typeface="Arial" panose="020B0604020202020204" pitchFamily="34" charset="0"/>
              </a:rPr>
              <a:t>Sarah je </a:t>
            </a:r>
            <a:r>
              <a:rPr lang="en-US" dirty="0" err="1">
                <a:cs typeface="Arial" panose="020B0604020202020204" pitchFamily="34" charset="0"/>
              </a:rPr>
              <a:t>svjesna</a:t>
            </a:r>
            <a:r>
              <a:rPr lang="en-US" dirty="0">
                <a:cs typeface="Arial" panose="020B0604020202020204" pitchFamily="34" charset="0"/>
              </a:rPr>
              <a:t> da je </a:t>
            </a:r>
            <a:r>
              <a:rPr lang="en-US" dirty="0" err="1">
                <a:cs typeface="Arial" panose="020B0604020202020204" pitchFamily="34" charset="0"/>
              </a:rPr>
              <a:t>jedan</a:t>
            </a:r>
            <a:r>
              <a:rPr lang="en-US" dirty="0">
                <a:cs typeface="Arial" panose="020B0604020202020204" pitchFamily="34" charset="0"/>
              </a:rPr>
              <a:t> od </a:t>
            </a:r>
            <a:r>
              <a:rPr lang="en-US" dirty="0" err="1">
                <a:cs typeface="Arial" panose="020B0604020202020204" pitchFamily="34" charset="0"/>
              </a:rPr>
              <a:t>ključnih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projektnih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prekretnica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ugrožen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zbog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ograničenih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resursa</a:t>
            </a:r>
            <a:r>
              <a:rPr lang="en-US" dirty="0">
                <a:cs typeface="Arial" panose="020B0604020202020204" pitchFamily="34" charset="0"/>
              </a:rPr>
              <a:t>, </a:t>
            </a:r>
            <a:r>
              <a:rPr lang="en-US" dirty="0" err="1">
                <a:cs typeface="Arial" panose="020B0604020202020204" pitchFamily="34" charset="0"/>
              </a:rPr>
              <a:t>ali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umjesto</a:t>
            </a:r>
            <a:r>
              <a:rPr lang="en-US" dirty="0">
                <a:cs typeface="Arial" panose="020B0604020202020204" pitchFamily="34" charset="0"/>
              </a:rPr>
              <a:t> da se </a:t>
            </a:r>
            <a:r>
              <a:rPr lang="en-US" dirty="0" err="1">
                <a:cs typeface="Arial" panose="020B0604020202020204" pitchFamily="34" charset="0"/>
              </a:rPr>
              <a:t>suoči</a:t>
            </a:r>
            <a:r>
              <a:rPr lang="en-US" dirty="0">
                <a:cs typeface="Arial" panose="020B0604020202020204" pitchFamily="34" charset="0"/>
              </a:rPr>
              <a:t> s </a:t>
            </a:r>
            <a:r>
              <a:rPr lang="en-US" dirty="0" err="1">
                <a:cs typeface="Arial" panose="020B0604020202020204" pitchFamily="34" charset="0"/>
              </a:rPr>
              <a:t>problemom</a:t>
            </a:r>
            <a:r>
              <a:rPr lang="en-US" dirty="0">
                <a:cs typeface="Arial" panose="020B0604020202020204" pitchFamily="34" charset="0"/>
              </a:rPr>
              <a:t>, </a:t>
            </a:r>
            <a:r>
              <a:rPr lang="en-US" dirty="0" err="1">
                <a:cs typeface="Arial" panose="020B0604020202020204" pitchFamily="34" charset="0"/>
              </a:rPr>
              <a:t>odlučuje</a:t>
            </a:r>
            <a:r>
              <a:rPr lang="en-US" dirty="0">
                <a:cs typeface="Arial" panose="020B0604020202020204" pitchFamily="34" charset="0"/>
              </a:rPr>
              <a:t> ga </a:t>
            </a:r>
            <a:r>
              <a:rPr lang="en-US" dirty="0" err="1">
                <a:cs typeface="Arial" panose="020B0604020202020204" pitchFamily="34" charset="0"/>
              </a:rPr>
              <a:t>ignorirati</a:t>
            </a:r>
            <a:r>
              <a:rPr lang="en-US" dirty="0">
                <a:cs typeface="Arial" panose="020B0604020202020204" pitchFamily="34" charset="0"/>
              </a:rPr>
              <a:t> i ne </a:t>
            </a:r>
            <a:r>
              <a:rPr lang="en-US" dirty="0" err="1">
                <a:cs typeface="Arial" panose="020B0604020202020204" pitchFamily="34" charset="0"/>
              </a:rPr>
              <a:t>obavještava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dionike</a:t>
            </a:r>
            <a:r>
              <a:rPr lang="en-US" dirty="0">
                <a:cs typeface="Arial" panose="020B0604020202020204" pitchFamily="34" charset="0"/>
              </a:rPr>
              <a:t>. </a:t>
            </a:r>
            <a:r>
              <a:rPr lang="en-US" dirty="0" err="1">
                <a:cs typeface="Arial" panose="020B0604020202020204" pitchFamily="34" charset="0"/>
              </a:rPr>
              <a:t>Pretpostavlja</a:t>
            </a:r>
            <a:r>
              <a:rPr lang="en-US" dirty="0">
                <a:cs typeface="Arial" panose="020B0604020202020204" pitchFamily="34" charset="0"/>
              </a:rPr>
              <a:t> da </a:t>
            </a:r>
            <a:r>
              <a:rPr lang="en-US" dirty="0" err="1">
                <a:cs typeface="Arial" panose="020B0604020202020204" pitchFamily="34" charset="0"/>
              </a:rPr>
              <a:t>će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tim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nekako</a:t>
            </a:r>
            <a:r>
              <a:rPr lang="en-US" dirty="0">
                <a:cs typeface="Arial" panose="020B0604020202020204" pitchFamily="34" charset="0"/>
              </a:rPr>
              <a:t> „</a:t>
            </a:r>
            <a:r>
              <a:rPr lang="en-US" dirty="0" err="1">
                <a:cs typeface="Arial" panose="020B0604020202020204" pitchFamily="34" charset="0"/>
              </a:rPr>
              <a:t>riješiti</a:t>
            </a:r>
            <a:r>
              <a:rPr lang="en-US" dirty="0">
                <a:cs typeface="Arial" panose="020B0604020202020204" pitchFamily="34" charset="0"/>
              </a:rPr>
              <a:t> problem“ u </a:t>
            </a:r>
            <a:r>
              <a:rPr lang="en-US" dirty="0" err="1">
                <a:cs typeface="Arial" panose="020B0604020202020204" pitchFamily="34" charset="0"/>
              </a:rPr>
              <a:t>zadnji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trenutak</a:t>
            </a:r>
            <a:r>
              <a:rPr lang="en-US" dirty="0">
                <a:cs typeface="Arial" panose="020B0604020202020204" pitchFamily="34" charset="0"/>
              </a:rPr>
              <a:t>. Kao </a:t>
            </a:r>
            <a:r>
              <a:rPr lang="en-US" dirty="0" err="1">
                <a:cs typeface="Arial" panose="020B0604020202020204" pitchFamily="34" charset="0"/>
              </a:rPr>
              <a:t>rezultat</a:t>
            </a:r>
            <a:r>
              <a:rPr lang="en-US" dirty="0">
                <a:cs typeface="Arial" panose="020B0604020202020204" pitchFamily="34" charset="0"/>
              </a:rPr>
              <a:t> toga, </a:t>
            </a:r>
            <a:r>
              <a:rPr lang="en-US" dirty="0" err="1">
                <a:cs typeface="Arial" panose="020B0604020202020204" pitchFamily="34" charset="0"/>
              </a:rPr>
              <a:t>projekt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kasni</a:t>
            </a:r>
            <a:r>
              <a:rPr lang="en-US" dirty="0">
                <a:cs typeface="Arial" panose="020B0604020202020204" pitchFamily="34" charset="0"/>
              </a:rPr>
              <a:t>, </a:t>
            </a:r>
            <a:r>
              <a:rPr lang="en-US" dirty="0" err="1">
                <a:cs typeface="Arial" panose="020B0604020202020204" pitchFamily="34" charset="0"/>
              </a:rPr>
              <a:t>što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narušava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reputaciju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tvrtke</a:t>
            </a:r>
            <a:r>
              <a:rPr lang="en-US" dirty="0">
                <a:cs typeface="Arial" panose="020B0604020202020204" pitchFamily="34" charset="0"/>
              </a:rPr>
              <a:t> i </a:t>
            </a:r>
            <a:r>
              <a:rPr lang="en-US" dirty="0" err="1">
                <a:cs typeface="Arial" panose="020B0604020202020204" pitchFamily="34" charset="0"/>
              </a:rPr>
              <a:t>uzrokuje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nezadovoljstvo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među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dionicima</a:t>
            </a:r>
            <a:r>
              <a:rPr lang="en-US" dirty="0"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C18AF5-13A7-E997-B92E-63519D0CF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1690" y="5725972"/>
            <a:ext cx="970310" cy="113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A44B7-1E53-8BC7-3D7F-9273E61F8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23EB1-24A4-A824-8D18-64121B482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Procjena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4930B-56AB-9D99-6E29-BF65569BB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640" y="2171306"/>
            <a:ext cx="11244719" cy="4927325"/>
          </a:xfrm>
        </p:spPr>
        <p:txBody>
          <a:bodyPr>
            <a:noAutofit/>
          </a:bodyPr>
          <a:lstStyle/>
          <a:p>
            <a:r>
              <a:rPr lang="en-US" dirty="0">
                <a:cs typeface="Arial" panose="020B0604020202020204" pitchFamily="34" charset="0"/>
              </a:rPr>
              <a:t>Sarah </a:t>
            </a:r>
            <a:r>
              <a:rPr lang="en-US" dirty="0" err="1">
                <a:cs typeface="Arial" panose="020B0604020202020204" pitchFamily="34" charset="0"/>
              </a:rPr>
              <a:t>dodjeljuje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najkritičnije</a:t>
            </a:r>
            <a:r>
              <a:rPr lang="en-US" dirty="0">
                <a:cs typeface="Arial" panose="020B0604020202020204" pitchFamily="34" charset="0"/>
              </a:rPr>
              <a:t> i </a:t>
            </a:r>
            <a:r>
              <a:rPr lang="en-US" dirty="0" err="1">
                <a:cs typeface="Arial" panose="020B0604020202020204" pitchFamily="34" charset="0"/>
              </a:rPr>
              <a:t>najzahtjevnije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zadatke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nekolicini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iskusnijih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developera</a:t>
            </a:r>
            <a:r>
              <a:rPr lang="en-US" dirty="0">
                <a:cs typeface="Arial" panose="020B0604020202020204" pitchFamily="34" charset="0"/>
              </a:rPr>
              <a:t> bez </a:t>
            </a:r>
            <a:r>
              <a:rPr lang="en-US" dirty="0" err="1">
                <a:cs typeface="Arial" panose="020B0604020202020204" pitchFamily="34" charset="0"/>
              </a:rPr>
              <a:t>uzimanja</a:t>
            </a:r>
            <a:r>
              <a:rPr lang="en-US" dirty="0">
                <a:cs typeface="Arial" panose="020B0604020202020204" pitchFamily="34" charset="0"/>
              </a:rPr>
              <a:t> u </a:t>
            </a:r>
            <a:r>
              <a:rPr lang="en-US" dirty="0" err="1">
                <a:cs typeface="Arial" panose="020B0604020202020204" pitchFamily="34" charset="0"/>
              </a:rPr>
              <a:t>obzir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raspodjele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opterećenja</a:t>
            </a:r>
            <a:r>
              <a:rPr lang="en-US" dirty="0">
                <a:cs typeface="Arial" panose="020B0604020202020204" pitchFamily="34" charset="0"/>
              </a:rPr>
              <a:t>. U </a:t>
            </a:r>
            <a:r>
              <a:rPr lang="en-US" dirty="0" err="1">
                <a:cs typeface="Arial" panose="020B0604020202020204" pitchFamily="34" charset="0"/>
              </a:rPr>
              <a:t>međuvremenu</a:t>
            </a:r>
            <a:r>
              <a:rPr lang="en-US" dirty="0">
                <a:cs typeface="Arial" panose="020B0604020202020204" pitchFamily="34" charset="0"/>
              </a:rPr>
              <a:t>, </a:t>
            </a:r>
            <a:r>
              <a:rPr lang="en-US" dirty="0" err="1">
                <a:cs typeface="Arial" panose="020B0604020202020204" pitchFamily="34" charset="0"/>
              </a:rPr>
              <a:t>drugi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članovi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tima</a:t>
            </a:r>
            <a:r>
              <a:rPr lang="en-US" dirty="0">
                <a:cs typeface="Arial" panose="020B0604020202020204" pitchFamily="34" charset="0"/>
              </a:rPr>
              <a:t> s </a:t>
            </a:r>
            <a:r>
              <a:rPr lang="en-US" dirty="0" err="1">
                <a:cs typeface="Arial" panose="020B0604020202020204" pitchFamily="34" charset="0"/>
              </a:rPr>
              <a:t>manje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obveza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imaju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više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vremena</a:t>
            </a:r>
            <a:r>
              <a:rPr lang="en-US" dirty="0">
                <a:cs typeface="Arial" panose="020B0604020202020204" pitchFamily="34" charset="0"/>
              </a:rPr>
              <a:t>, </a:t>
            </a:r>
            <a:r>
              <a:rPr lang="en-US" dirty="0" err="1">
                <a:cs typeface="Arial" panose="020B0604020202020204" pitchFamily="34" charset="0"/>
              </a:rPr>
              <a:t>ali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im</a:t>
            </a:r>
            <a:r>
              <a:rPr lang="en-US" dirty="0">
                <a:cs typeface="Arial" panose="020B0604020202020204" pitchFamily="34" charset="0"/>
              </a:rPr>
              <a:t> se ne </a:t>
            </a:r>
            <a:r>
              <a:rPr lang="en-US" dirty="0" err="1">
                <a:cs typeface="Arial" panose="020B0604020202020204" pitchFamily="34" charset="0"/>
              </a:rPr>
              <a:t>daje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prilika</a:t>
            </a:r>
            <a:r>
              <a:rPr lang="en-US" dirty="0">
                <a:cs typeface="Arial" panose="020B0604020202020204" pitchFamily="34" charset="0"/>
              </a:rPr>
              <a:t> da </a:t>
            </a:r>
            <a:r>
              <a:rPr lang="en-US" dirty="0" err="1">
                <a:cs typeface="Arial" panose="020B0604020202020204" pitchFamily="34" charset="0"/>
              </a:rPr>
              <a:t>smisleno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doprinesu</a:t>
            </a:r>
            <a:r>
              <a:rPr lang="en-US" dirty="0">
                <a:cs typeface="Arial" panose="020B0604020202020204" pitchFamily="34" charset="0"/>
              </a:rPr>
              <a:t>. To </a:t>
            </a:r>
            <a:r>
              <a:rPr lang="en-US" dirty="0" err="1">
                <a:cs typeface="Arial" panose="020B0604020202020204" pitchFamily="34" charset="0"/>
              </a:rPr>
              <a:t>dovodi</a:t>
            </a:r>
            <a:r>
              <a:rPr lang="en-US" dirty="0">
                <a:cs typeface="Arial" panose="020B0604020202020204" pitchFamily="34" charset="0"/>
              </a:rPr>
              <a:t> do </a:t>
            </a:r>
            <a:r>
              <a:rPr lang="en-US" dirty="0" err="1">
                <a:cs typeface="Arial" panose="020B0604020202020204" pitchFamily="34" charset="0"/>
              </a:rPr>
              <a:t>izgaranja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kod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iskusnijih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developera</a:t>
            </a:r>
            <a:r>
              <a:rPr lang="en-US" dirty="0">
                <a:cs typeface="Arial" panose="020B0604020202020204" pitchFamily="34" charset="0"/>
              </a:rPr>
              <a:t> i </a:t>
            </a:r>
            <a:r>
              <a:rPr lang="en-US" dirty="0" err="1">
                <a:cs typeface="Arial" panose="020B0604020202020204" pitchFamily="34" charset="0"/>
              </a:rPr>
              <a:t>nezadovoljstva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unutar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tima</a:t>
            </a:r>
            <a:r>
              <a:rPr lang="en-US" dirty="0">
                <a:cs typeface="Arial" panose="020B0604020202020204" pitchFamily="34" charset="0"/>
              </a:rPr>
              <a:t>, </a:t>
            </a:r>
            <a:r>
              <a:rPr lang="en-US" dirty="0" err="1">
                <a:cs typeface="Arial" panose="020B0604020202020204" pitchFamily="34" charset="0"/>
              </a:rPr>
              <a:t>jer</a:t>
            </a:r>
            <a:r>
              <a:rPr lang="en-US" dirty="0">
                <a:cs typeface="Arial" panose="020B0604020202020204" pitchFamily="34" charset="0"/>
              </a:rPr>
              <a:t> se </a:t>
            </a:r>
            <a:r>
              <a:rPr lang="en-US" dirty="0" err="1">
                <a:cs typeface="Arial" panose="020B0604020202020204" pitchFamily="34" charset="0"/>
              </a:rPr>
              <a:t>neki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zaposlenici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osjećaju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preopterećeno</a:t>
            </a:r>
            <a:r>
              <a:rPr lang="en-US" dirty="0">
                <a:cs typeface="Arial" panose="020B0604020202020204" pitchFamily="34" charset="0"/>
              </a:rPr>
              <a:t>, </a:t>
            </a:r>
            <a:r>
              <a:rPr lang="en-US" dirty="0" err="1">
                <a:cs typeface="Arial" panose="020B0604020202020204" pitchFamily="34" charset="0"/>
              </a:rPr>
              <a:t>dok</a:t>
            </a:r>
            <a:r>
              <a:rPr lang="en-US" dirty="0">
                <a:cs typeface="Arial" panose="020B0604020202020204" pitchFamily="34" charset="0"/>
              </a:rPr>
              <a:t> se </a:t>
            </a:r>
            <a:r>
              <a:rPr lang="en-US" dirty="0" err="1">
                <a:cs typeface="Arial" panose="020B0604020202020204" pitchFamily="34" charset="0"/>
              </a:rPr>
              <a:t>drugi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osjećaju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podcijenjeno</a:t>
            </a:r>
            <a:r>
              <a:rPr lang="en-US" dirty="0">
                <a:cs typeface="Arial" panose="020B0604020202020204" pitchFamily="34" charset="0"/>
              </a:rPr>
              <a:t>.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cs typeface="Arial" panose="020B0604020202020204" pitchFamily="34" charset="0"/>
              </a:rPr>
              <a:t>P 1: Koja </a:t>
            </a:r>
            <a:r>
              <a:rPr lang="en-US" b="1" dirty="0" err="1">
                <a:cs typeface="Arial" panose="020B0604020202020204" pitchFamily="34" charset="0"/>
              </a:rPr>
              <a:t>su</a:t>
            </a:r>
            <a:r>
              <a:rPr lang="en-US" b="1" dirty="0">
                <a:cs typeface="Arial" panose="020B0604020202020204" pitchFamily="34" charset="0"/>
              </a:rPr>
              <a:t> </a:t>
            </a:r>
            <a:r>
              <a:rPr lang="en-US" b="1" dirty="0" err="1">
                <a:cs typeface="Arial" panose="020B0604020202020204" pitchFamily="34" charset="0"/>
              </a:rPr>
              <a:t>načela</a:t>
            </a:r>
            <a:r>
              <a:rPr lang="en-US" b="1" dirty="0">
                <a:cs typeface="Arial" panose="020B0604020202020204" pitchFamily="34" charset="0"/>
              </a:rPr>
              <a:t> </a:t>
            </a:r>
            <a:r>
              <a:rPr lang="en-US" b="1" dirty="0" err="1">
                <a:cs typeface="Arial" panose="020B0604020202020204" pitchFamily="34" charset="0"/>
              </a:rPr>
              <a:t>koja</a:t>
            </a:r>
            <a:r>
              <a:rPr lang="en-US" b="1" dirty="0">
                <a:cs typeface="Arial" panose="020B0604020202020204" pitchFamily="34" charset="0"/>
              </a:rPr>
              <a:t> je </a:t>
            </a:r>
            <a:r>
              <a:rPr lang="en-US" b="1" dirty="0" err="1">
                <a:cs typeface="Arial" panose="020B0604020202020204" pitchFamily="34" charset="0"/>
              </a:rPr>
              <a:t>voditeljica</a:t>
            </a:r>
            <a:r>
              <a:rPr lang="en-US" b="1" dirty="0">
                <a:cs typeface="Arial" panose="020B0604020202020204" pitchFamily="34" charset="0"/>
              </a:rPr>
              <a:t> </a:t>
            </a:r>
            <a:r>
              <a:rPr lang="en-US" b="1" dirty="0" err="1">
                <a:cs typeface="Arial" panose="020B0604020202020204" pitchFamily="34" charset="0"/>
              </a:rPr>
              <a:t>projekta</a:t>
            </a:r>
            <a:r>
              <a:rPr lang="en-US" b="1" dirty="0">
                <a:cs typeface="Arial" panose="020B0604020202020204" pitchFamily="34" charset="0"/>
              </a:rPr>
              <a:t> </a:t>
            </a:r>
            <a:r>
              <a:rPr lang="en-US" b="1" dirty="0" err="1">
                <a:cs typeface="Arial" panose="020B0604020202020204" pitchFamily="34" charset="0"/>
              </a:rPr>
              <a:t>prekršila</a:t>
            </a:r>
            <a:r>
              <a:rPr lang="en-US" b="1" dirty="0"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r>
              <a:rPr lang="en-US" b="1" dirty="0">
                <a:cs typeface="Arial" panose="020B0604020202020204" pitchFamily="34" charset="0"/>
              </a:rPr>
              <a:t>P 2: Kako bi </a:t>
            </a:r>
            <a:r>
              <a:rPr lang="en-US" b="1" dirty="0" err="1">
                <a:cs typeface="Arial" panose="020B0604020202020204" pitchFamily="34" charset="0"/>
              </a:rPr>
              <a:t>trebala</a:t>
            </a:r>
            <a:r>
              <a:rPr lang="en-US" b="1" dirty="0">
                <a:cs typeface="Arial" panose="020B0604020202020204" pitchFamily="34" charset="0"/>
              </a:rPr>
              <a:t> </a:t>
            </a:r>
            <a:r>
              <a:rPr lang="en-US" b="1" dirty="0" err="1">
                <a:cs typeface="Arial" panose="020B0604020202020204" pitchFamily="34" charset="0"/>
              </a:rPr>
              <a:t>postupiti</a:t>
            </a:r>
            <a:r>
              <a:rPr lang="en-US" b="1" dirty="0">
                <a:cs typeface="Arial" panose="020B0604020202020204" pitchFamily="34" charset="0"/>
              </a:rPr>
              <a:t> u </a:t>
            </a:r>
            <a:r>
              <a:rPr lang="en-US" b="1" dirty="0" err="1">
                <a:cs typeface="Arial" panose="020B0604020202020204" pitchFamily="34" charset="0"/>
              </a:rPr>
              <a:t>tim</a:t>
            </a:r>
            <a:r>
              <a:rPr lang="en-US" b="1" dirty="0">
                <a:cs typeface="Arial" panose="020B0604020202020204" pitchFamily="34" charset="0"/>
              </a:rPr>
              <a:t> </a:t>
            </a:r>
            <a:r>
              <a:rPr lang="en-US" b="1" dirty="0" err="1">
                <a:cs typeface="Arial" panose="020B0604020202020204" pitchFamily="34" charset="0"/>
              </a:rPr>
              <a:t>situacijama</a:t>
            </a:r>
            <a:r>
              <a:rPr lang="en-US" b="1" dirty="0"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endParaRPr lang="en-US" sz="2200" dirty="0"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FA66C1-7034-DC3B-C0C8-2DF8ECD4C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1690" y="5725972"/>
            <a:ext cx="970310" cy="113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03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35A3E-CEE0-04D4-CD07-51462A214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slov 3">
            <a:extLst>
              <a:ext uri="{FF2B5EF4-FFF2-40B4-BE49-F238E27FC236}">
                <a16:creationId xmlns:a16="http://schemas.microsoft.com/office/drawing/2014/main" id="{1B74B525-7003-DAF8-C6AE-B23CD290D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3700" y="1208604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OSNOVE UPRAVLJANJA PROJEKTIMA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60EDC78-3F6D-4AB7-52C0-67A3686983F8}"/>
              </a:ext>
            </a:extLst>
          </p:cNvPr>
          <p:cNvSpPr txBox="1">
            <a:spLocks/>
          </p:cNvSpPr>
          <p:nvPr/>
        </p:nvSpPr>
        <p:spPr>
          <a:xfrm>
            <a:off x="4127822" y="3811989"/>
            <a:ext cx="7639063" cy="183740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Montserrat" panose="00000500000000000000" pitchFamily="2" charset="-18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ahnschrift" panose="020B0502040204020203" pitchFamily="34" charset="0"/>
              </a:rPr>
              <a:t>Liderske 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ahnschrift" panose="020B0502040204020203" pitchFamily="34" charset="0"/>
              </a:rPr>
              <a:t>vještine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ahnschrift" panose="020B0502040204020203" pitchFamily="34" charset="0"/>
              </a:rPr>
              <a:t> u 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ahnschrift" panose="020B0502040204020203" pitchFamily="34" charset="0"/>
              </a:rPr>
              <a:t>projektnom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ahnschrift" panose="020B0502040204020203" pitchFamily="34" charset="0"/>
              </a:rPr>
              <a:t> 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ahnschrift" panose="020B0502040204020203" pitchFamily="34" charset="0"/>
              </a:rPr>
              <a:t>okruženju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832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25ECDD-C982-0335-DDFC-8C878882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64" y="164708"/>
            <a:ext cx="10440499" cy="1339239"/>
          </a:xfrm>
        </p:spPr>
        <p:txBody>
          <a:bodyPr anchor="ctr">
            <a:normAutofit/>
          </a:bodyPr>
          <a:lstStyle/>
          <a:p>
            <a:r>
              <a:rPr lang="pl-PL" dirty="0"/>
              <a:t>ČINJENICE o liderskim vještinama potrebnima za voditelja projekta: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07517-92C0-7697-0B69-47E4D406B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263" y="1725416"/>
            <a:ext cx="11430989" cy="4967875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 err="1"/>
              <a:t>Projektni</a:t>
            </a:r>
            <a:r>
              <a:rPr lang="en-US" sz="3200" dirty="0"/>
              <a:t> </a:t>
            </a:r>
            <a:r>
              <a:rPr lang="en-US" sz="3200" dirty="0" err="1"/>
              <a:t>tim</a:t>
            </a:r>
            <a:r>
              <a:rPr lang="en-US" sz="3200" dirty="0"/>
              <a:t> </a:t>
            </a:r>
            <a:r>
              <a:rPr lang="en-US" sz="3200" dirty="0" err="1"/>
              <a:t>sastoji</a:t>
            </a:r>
            <a:r>
              <a:rPr lang="en-US" sz="3200" dirty="0"/>
              <a:t> se od </a:t>
            </a:r>
            <a:r>
              <a:rPr lang="en-US" sz="3200" dirty="0" err="1"/>
              <a:t>skupine</a:t>
            </a:r>
            <a:r>
              <a:rPr lang="en-US" sz="3200" dirty="0"/>
              <a:t> </a:t>
            </a:r>
            <a:r>
              <a:rPr lang="en-US" sz="3200" dirty="0" err="1"/>
              <a:t>ljudi</a:t>
            </a:r>
            <a:r>
              <a:rPr lang="en-US" sz="3200" dirty="0"/>
              <a:t>, </a:t>
            </a:r>
            <a:r>
              <a:rPr lang="en-US" sz="3200" dirty="0" err="1"/>
              <a:t>predvođenih</a:t>
            </a:r>
            <a:r>
              <a:rPr lang="en-US" sz="3200" dirty="0"/>
              <a:t> </a:t>
            </a:r>
            <a:r>
              <a:rPr lang="en-US" sz="3200" dirty="0" err="1"/>
              <a:t>voditeljem</a:t>
            </a:r>
            <a:r>
              <a:rPr lang="en-US" sz="3200" dirty="0"/>
              <a:t> </a:t>
            </a:r>
            <a:r>
              <a:rPr lang="en-US" sz="3200" dirty="0" err="1"/>
              <a:t>projekta</a:t>
            </a:r>
            <a:r>
              <a:rPr lang="en-US" sz="3200" dirty="0"/>
              <a:t>, koji </a:t>
            </a:r>
            <a:r>
              <a:rPr lang="en-US" sz="3200" dirty="0" err="1"/>
              <a:t>zajedno</a:t>
            </a:r>
            <a:r>
              <a:rPr lang="en-US" sz="3200" dirty="0"/>
              <a:t> </a:t>
            </a:r>
            <a:r>
              <a:rPr lang="en-US" sz="3200" dirty="0" err="1"/>
              <a:t>rade</a:t>
            </a:r>
            <a:r>
              <a:rPr lang="en-US" sz="3200" dirty="0"/>
              <a:t> </a:t>
            </a:r>
            <a:r>
              <a:rPr lang="en-US" sz="3200" dirty="0" err="1"/>
              <a:t>na</a:t>
            </a:r>
            <a:r>
              <a:rPr lang="en-US" sz="3200" dirty="0"/>
              <a:t> </a:t>
            </a:r>
            <a:r>
              <a:rPr lang="en-US" sz="3200" dirty="0" err="1"/>
              <a:t>realizaciji</a:t>
            </a:r>
            <a:r>
              <a:rPr lang="en-US" sz="3200" dirty="0"/>
              <a:t> </a:t>
            </a:r>
            <a:r>
              <a:rPr lang="en-US" sz="3200" dirty="0" err="1"/>
              <a:t>projekta</a:t>
            </a:r>
            <a:r>
              <a:rPr lang="en-US" sz="3200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Zadatak </a:t>
            </a:r>
            <a:r>
              <a:rPr lang="en-US" sz="3200" dirty="0" err="1"/>
              <a:t>voditelja</a:t>
            </a:r>
            <a:r>
              <a:rPr lang="en-US" sz="3200" dirty="0"/>
              <a:t> </a:t>
            </a:r>
            <a:r>
              <a:rPr lang="en-US" sz="3200" dirty="0" err="1"/>
              <a:t>projekta</a:t>
            </a:r>
            <a:r>
              <a:rPr lang="en-US" sz="3200" dirty="0"/>
              <a:t> je </a:t>
            </a:r>
            <a:r>
              <a:rPr lang="en-US" sz="3200" dirty="0" err="1"/>
              <a:t>organizirati</a:t>
            </a:r>
            <a:r>
              <a:rPr lang="en-US" sz="3200" dirty="0"/>
              <a:t> i </a:t>
            </a:r>
            <a:r>
              <a:rPr lang="en-US" sz="3200" dirty="0" err="1"/>
              <a:t>sam</a:t>
            </a:r>
            <a:r>
              <a:rPr lang="en-US" sz="3200" dirty="0"/>
              <a:t> </a:t>
            </a:r>
            <a:r>
              <a:rPr lang="en-US" sz="3200" dirty="0" err="1"/>
              <a:t>projekt</a:t>
            </a:r>
            <a:r>
              <a:rPr lang="en-US" sz="3200" dirty="0"/>
              <a:t> i </a:t>
            </a:r>
            <a:r>
              <a:rPr lang="en-US" sz="3200" dirty="0" err="1"/>
              <a:t>članove</a:t>
            </a:r>
            <a:r>
              <a:rPr lang="en-US" sz="3200" dirty="0"/>
              <a:t> </a:t>
            </a:r>
            <a:r>
              <a:rPr lang="en-US" sz="3200" dirty="0" err="1"/>
              <a:t>tima</a:t>
            </a:r>
            <a:r>
              <a:rPr lang="en-US" sz="3200" dirty="0"/>
              <a:t> koji </a:t>
            </a:r>
            <a:r>
              <a:rPr lang="en-US" sz="3200" dirty="0" err="1"/>
              <a:t>na</a:t>
            </a:r>
            <a:r>
              <a:rPr lang="en-US" sz="3200" dirty="0"/>
              <a:t> </a:t>
            </a:r>
            <a:r>
              <a:rPr lang="en-US" sz="3200" dirty="0" err="1"/>
              <a:t>njemu</a:t>
            </a:r>
            <a:r>
              <a:rPr lang="en-US" sz="3200" dirty="0"/>
              <a:t> </a:t>
            </a:r>
            <a:r>
              <a:rPr lang="en-US" sz="3200" dirty="0" err="1"/>
              <a:t>rade</a:t>
            </a:r>
            <a:r>
              <a:rPr lang="en-US" sz="3200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 err="1"/>
              <a:t>Voditelj</a:t>
            </a:r>
            <a:r>
              <a:rPr lang="en-US" sz="3200" dirty="0"/>
              <a:t> </a:t>
            </a:r>
            <a:r>
              <a:rPr lang="en-US" sz="3200" dirty="0" err="1"/>
              <a:t>projekta</a:t>
            </a:r>
            <a:r>
              <a:rPr lang="en-US" sz="3200" dirty="0"/>
              <a:t> </a:t>
            </a:r>
            <a:r>
              <a:rPr lang="en-US" sz="3200" dirty="0" err="1"/>
              <a:t>zapravo</a:t>
            </a:r>
            <a:r>
              <a:rPr lang="en-US" sz="3200" dirty="0"/>
              <a:t> je </a:t>
            </a:r>
            <a:r>
              <a:rPr lang="en-US" sz="3200" dirty="0" err="1"/>
              <a:t>lider</a:t>
            </a:r>
            <a:r>
              <a:rPr lang="en-US" sz="3200" dirty="0"/>
              <a:t> </a:t>
            </a:r>
            <a:r>
              <a:rPr lang="en-US" sz="3200" dirty="0" err="1"/>
              <a:t>projekta</a:t>
            </a:r>
            <a:r>
              <a:rPr lang="en-US" sz="3200" dirty="0"/>
              <a:t>, a ne </a:t>
            </a:r>
            <a:r>
              <a:rPr lang="en-US" sz="3200" dirty="0" err="1"/>
              <a:t>samo</a:t>
            </a:r>
            <a:r>
              <a:rPr lang="en-US" sz="3200" dirty="0"/>
              <a:t> </a:t>
            </a:r>
            <a:r>
              <a:rPr lang="en-US" sz="3200" dirty="0" err="1"/>
              <a:t>menadžer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116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257C4-B979-99AB-443C-7E0E5166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9FE011-2670-A49A-F01D-6C72C3C81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64" y="164708"/>
            <a:ext cx="10440499" cy="1339239"/>
          </a:xfrm>
        </p:spPr>
        <p:txBody>
          <a:bodyPr anchor="ctr">
            <a:normAutofit/>
          </a:bodyPr>
          <a:lstStyle/>
          <a:p>
            <a:r>
              <a:rPr lang="pl-PL" dirty="0"/>
              <a:t>ČINJENICE o liderskim vještinama potrebnima za voditelja projekta: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C3B3C-DC8A-726B-A4DA-688552FDC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263" y="1725416"/>
            <a:ext cx="11430989" cy="4967875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3200" dirty="0" err="1"/>
              <a:t>Vodstvo</a:t>
            </a:r>
            <a:r>
              <a:rPr lang="en-US" sz="3200" dirty="0"/>
              <a:t> u </a:t>
            </a:r>
            <a:r>
              <a:rPr lang="en-US" sz="3200" dirty="0" err="1"/>
              <a:t>projektu</a:t>
            </a:r>
            <a:r>
              <a:rPr lang="en-US" sz="3200" dirty="0"/>
              <a:t> </a:t>
            </a:r>
            <a:r>
              <a:rPr lang="en-US" sz="3200" dirty="0" err="1"/>
              <a:t>podrazumijeva</a:t>
            </a:r>
            <a:r>
              <a:rPr lang="en-US" sz="3200" dirty="0"/>
              <a:t>: </a:t>
            </a:r>
            <a:r>
              <a:rPr lang="en-US" sz="3200" dirty="0" err="1"/>
              <a:t>uspostavljanje</a:t>
            </a:r>
            <a:r>
              <a:rPr lang="en-US" sz="3200" dirty="0"/>
              <a:t> </a:t>
            </a:r>
            <a:r>
              <a:rPr lang="en-US" sz="3200" dirty="0" err="1"/>
              <a:t>komunikacijskih</a:t>
            </a:r>
            <a:r>
              <a:rPr lang="en-US" sz="3200" dirty="0"/>
              <a:t> </a:t>
            </a:r>
            <a:r>
              <a:rPr lang="en-US" sz="3200" dirty="0" err="1"/>
              <a:t>kanala</a:t>
            </a:r>
            <a:r>
              <a:rPr lang="en-US" sz="3200" dirty="0"/>
              <a:t>, </a:t>
            </a:r>
            <a:r>
              <a:rPr lang="en-US" sz="3200" dirty="0" err="1"/>
              <a:t>pomaganje</a:t>
            </a:r>
            <a:r>
              <a:rPr lang="en-US" sz="3200" dirty="0"/>
              <a:t> </a:t>
            </a:r>
            <a:r>
              <a:rPr lang="en-US" sz="3200" dirty="0" err="1"/>
              <a:t>drugima</a:t>
            </a:r>
            <a:r>
              <a:rPr lang="en-US" sz="3200" dirty="0"/>
              <a:t> da </a:t>
            </a:r>
            <a:r>
              <a:rPr lang="en-US" sz="3200" dirty="0" err="1"/>
              <a:t>dijele</a:t>
            </a:r>
            <a:r>
              <a:rPr lang="en-US" sz="3200" dirty="0"/>
              <a:t> </a:t>
            </a:r>
            <a:r>
              <a:rPr lang="en-US" sz="3200" dirty="0" err="1"/>
              <a:t>ideje</a:t>
            </a:r>
            <a:r>
              <a:rPr lang="en-US" sz="3200" dirty="0"/>
              <a:t>, </a:t>
            </a:r>
            <a:r>
              <a:rPr lang="en-US" sz="3200" dirty="0" err="1"/>
              <a:t>postavljanje</a:t>
            </a:r>
            <a:r>
              <a:rPr lang="en-US" sz="3200" dirty="0"/>
              <a:t> </a:t>
            </a:r>
            <a:r>
              <a:rPr lang="en-US" sz="3200" dirty="0" err="1"/>
              <a:t>rasporeda</a:t>
            </a:r>
            <a:r>
              <a:rPr lang="en-US" sz="3200" dirty="0"/>
              <a:t>, </a:t>
            </a:r>
            <a:r>
              <a:rPr lang="en-US" sz="3200" dirty="0" err="1"/>
              <a:t>evaluaciju</a:t>
            </a:r>
            <a:r>
              <a:rPr lang="en-US" sz="3200" dirty="0"/>
              <a:t> </a:t>
            </a:r>
            <a:r>
              <a:rPr lang="en-US" sz="3200" dirty="0" err="1"/>
              <a:t>napretka</a:t>
            </a:r>
            <a:r>
              <a:rPr lang="en-US" sz="3200" dirty="0"/>
              <a:t> </a:t>
            </a:r>
            <a:r>
              <a:rPr lang="en-US" sz="3200" dirty="0" err="1"/>
              <a:t>prema</a:t>
            </a:r>
            <a:r>
              <a:rPr lang="en-US" sz="3200" dirty="0"/>
              <a:t> </a:t>
            </a:r>
            <a:r>
              <a:rPr lang="en-US" sz="3200" dirty="0" err="1"/>
              <a:t>viziji</a:t>
            </a:r>
            <a:r>
              <a:rPr lang="en-US" sz="3200" dirty="0"/>
              <a:t> i </a:t>
            </a:r>
            <a:r>
              <a:rPr lang="en-US" sz="3200" dirty="0" err="1"/>
              <a:t>ciljevima</a:t>
            </a:r>
            <a:r>
              <a:rPr lang="en-US" sz="3200" dirty="0"/>
              <a:t> </a:t>
            </a:r>
            <a:r>
              <a:rPr lang="en-US" sz="3200" dirty="0" err="1"/>
              <a:t>projekta</a:t>
            </a:r>
            <a:r>
              <a:rPr lang="en-US" sz="3200" dirty="0"/>
              <a:t> </a:t>
            </a:r>
            <a:r>
              <a:rPr lang="en-US" sz="3200" dirty="0" err="1"/>
              <a:t>te</a:t>
            </a:r>
            <a:r>
              <a:rPr lang="en-US" sz="3200" dirty="0"/>
              <a:t> </a:t>
            </a:r>
            <a:r>
              <a:rPr lang="en-US" sz="3200" dirty="0" err="1"/>
              <a:t>povjerenje</a:t>
            </a:r>
            <a:r>
              <a:rPr lang="en-US" sz="3200" dirty="0"/>
              <a:t> u </a:t>
            </a:r>
            <a:r>
              <a:rPr lang="en-US" sz="3200" dirty="0" err="1"/>
              <a:t>članove</a:t>
            </a:r>
            <a:r>
              <a:rPr lang="en-US" sz="3200" dirty="0"/>
              <a:t> </a:t>
            </a:r>
            <a:r>
              <a:rPr lang="en-US" sz="3200" dirty="0" err="1"/>
              <a:t>tima</a:t>
            </a:r>
            <a:r>
              <a:rPr lang="en-US" sz="3200" dirty="0"/>
              <a:t> da </a:t>
            </a:r>
            <a:r>
              <a:rPr lang="en-US" sz="3200" dirty="0" err="1"/>
              <a:t>daju</a:t>
            </a:r>
            <a:r>
              <a:rPr lang="en-US" sz="3200" dirty="0"/>
              <a:t> </a:t>
            </a:r>
            <a:r>
              <a:rPr lang="en-US" sz="3200" dirty="0" err="1"/>
              <a:t>svoj</a:t>
            </a:r>
            <a:r>
              <a:rPr lang="en-US" sz="3200" dirty="0"/>
              <a:t> </a:t>
            </a:r>
            <a:r>
              <a:rPr lang="en-US" sz="3200" dirty="0" err="1"/>
              <a:t>maksimum</a:t>
            </a:r>
            <a:r>
              <a:rPr lang="en-US" sz="3200" dirty="0"/>
              <a:t>.</a:t>
            </a:r>
          </a:p>
          <a:p>
            <a:pPr marL="514350" indent="-514350">
              <a:buFont typeface="+mj-lt"/>
              <a:buAutoNum type="arabicPeriod" startAt="4"/>
            </a:pPr>
            <a:endParaRPr lang="en-US" sz="3200" dirty="0"/>
          </a:p>
          <a:p>
            <a:pPr marL="514350" indent="-514350">
              <a:buFont typeface="+mj-lt"/>
              <a:buAutoNum type="arabicPeriod" startAt="4"/>
            </a:pPr>
            <a:r>
              <a:rPr lang="en-US" sz="3200" dirty="0"/>
              <a:t>Dobar </a:t>
            </a:r>
            <a:r>
              <a:rPr lang="en-US" sz="3200" dirty="0" err="1"/>
              <a:t>voditelj</a:t>
            </a:r>
            <a:r>
              <a:rPr lang="en-US" sz="3200" dirty="0"/>
              <a:t> </a:t>
            </a:r>
            <a:r>
              <a:rPr lang="en-US" sz="3200" dirty="0" err="1"/>
              <a:t>projekta</a:t>
            </a:r>
            <a:r>
              <a:rPr lang="en-US" sz="3200" dirty="0"/>
              <a:t> </a:t>
            </a:r>
            <a:r>
              <a:rPr lang="en-US" sz="3200" dirty="0" err="1"/>
              <a:t>ima</a:t>
            </a:r>
            <a:r>
              <a:rPr lang="en-US" sz="3200" dirty="0"/>
              <a:t> </a:t>
            </a:r>
            <a:r>
              <a:rPr lang="en-US" sz="3200" dirty="0" err="1"/>
              <a:t>barem</a:t>
            </a:r>
            <a:r>
              <a:rPr lang="en-US" sz="3200" dirty="0"/>
              <a:t> tri </a:t>
            </a:r>
            <a:r>
              <a:rPr lang="en-US" sz="3200" dirty="0" err="1"/>
              <a:t>liderske</a:t>
            </a:r>
            <a:r>
              <a:rPr lang="en-US" sz="3200" dirty="0"/>
              <a:t> </a:t>
            </a:r>
            <a:r>
              <a:rPr lang="en-US" sz="3200" dirty="0" err="1"/>
              <a:t>vještine</a:t>
            </a:r>
            <a:r>
              <a:rPr lang="en-US" sz="3200" dirty="0"/>
              <a:t>: </a:t>
            </a:r>
            <a:r>
              <a:rPr lang="en-US" sz="3200" dirty="0" err="1"/>
              <a:t>vještine</a:t>
            </a:r>
            <a:r>
              <a:rPr lang="en-US" sz="3200" dirty="0"/>
              <a:t> </a:t>
            </a:r>
            <a:r>
              <a:rPr lang="en-US" sz="3200" dirty="0" err="1"/>
              <a:t>slušanja</a:t>
            </a:r>
            <a:r>
              <a:rPr lang="en-US" sz="3200" dirty="0"/>
              <a:t>, </a:t>
            </a:r>
            <a:r>
              <a:rPr lang="en-US" sz="3200" dirty="0" err="1"/>
              <a:t>učinkovite</a:t>
            </a:r>
            <a:r>
              <a:rPr lang="en-US" sz="3200" dirty="0"/>
              <a:t> </a:t>
            </a:r>
            <a:r>
              <a:rPr lang="en-US" sz="3200" dirty="0" err="1"/>
              <a:t>komunikacijske</a:t>
            </a:r>
            <a:r>
              <a:rPr lang="en-US" sz="3200" dirty="0"/>
              <a:t> </a:t>
            </a:r>
            <a:r>
              <a:rPr lang="en-US" sz="3200" dirty="0" err="1"/>
              <a:t>vještine</a:t>
            </a:r>
            <a:r>
              <a:rPr lang="en-US" sz="3200" dirty="0"/>
              <a:t> i </a:t>
            </a:r>
            <a:r>
              <a:rPr lang="en-US" sz="3200" dirty="0" err="1"/>
              <a:t>motivacijske</a:t>
            </a:r>
            <a:r>
              <a:rPr lang="en-US" sz="3200" dirty="0"/>
              <a:t> </a:t>
            </a:r>
            <a:r>
              <a:rPr lang="en-US" sz="3200" dirty="0" err="1"/>
              <a:t>vještine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913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EAADE-0467-FDE1-352C-C45467D4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B169B-0F36-1F31-0EEC-D99C94E6B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dirty="0"/>
              <a:t>Maslowljeva </a:t>
            </a:r>
            <a:r>
              <a:rPr lang="en-US" altLang="en-US" sz="3800" dirty="0" err="1"/>
              <a:t>teorija</a:t>
            </a:r>
            <a:r>
              <a:rPr lang="en-US" altLang="en-US" sz="3800" dirty="0"/>
              <a:t> </a:t>
            </a:r>
            <a:r>
              <a:rPr lang="en-US" altLang="en-US" sz="3800" dirty="0" err="1"/>
              <a:t>motivacije</a:t>
            </a:r>
            <a:endParaRPr lang="en-US" altLang="en-US" sz="3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767DD8-1983-43C6-7107-D80BA07651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7242" y="1595021"/>
            <a:ext cx="1153751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rgbClr val="0ADBBC"/>
                </a:solidFill>
              </a:rPr>
              <a:t>1. </a:t>
            </a:r>
            <a:r>
              <a:rPr lang="en-US" altLang="en-US" sz="2400" b="1" dirty="0" err="1">
                <a:solidFill>
                  <a:srgbClr val="0ADBBC"/>
                </a:solidFill>
              </a:rPr>
              <a:t>Fiziološke</a:t>
            </a:r>
            <a:r>
              <a:rPr lang="en-US" altLang="en-US" sz="2400" b="1" dirty="0">
                <a:solidFill>
                  <a:srgbClr val="0ADBBC"/>
                </a:solidFill>
              </a:rPr>
              <a:t> </a:t>
            </a:r>
            <a:r>
              <a:rPr lang="en-US" altLang="en-US" sz="2400" b="1" dirty="0" err="1">
                <a:solidFill>
                  <a:srgbClr val="0ADBBC"/>
                </a:solidFill>
              </a:rPr>
              <a:t>potrebe</a:t>
            </a:r>
            <a:r>
              <a:rPr lang="en-US" altLang="en-US" sz="2400" b="1" dirty="0">
                <a:solidFill>
                  <a:srgbClr val="0ADBBC"/>
                </a:solidFill>
              </a:rPr>
              <a:t> (</a:t>
            </a:r>
            <a:r>
              <a:rPr lang="en-US" altLang="en-US" sz="2400" b="1" dirty="0" err="1">
                <a:solidFill>
                  <a:srgbClr val="0ADBBC"/>
                </a:solidFill>
              </a:rPr>
              <a:t>osnovne</a:t>
            </a:r>
            <a:r>
              <a:rPr lang="en-US" altLang="en-US" sz="2400" b="1" dirty="0">
                <a:solidFill>
                  <a:srgbClr val="0ADBBC"/>
                </a:solidFill>
              </a:rPr>
              <a:t> </a:t>
            </a:r>
            <a:r>
              <a:rPr lang="en-US" altLang="en-US" sz="2400" b="1" dirty="0" err="1">
                <a:solidFill>
                  <a:srgbClr val="0ADBBC"/>
                </a:solidFill>
              </a:rPr>
              <a:t>potrebe</a:t>
            </a:r>
            <a:r>
              <a:rPr lang="en-US" altLang="en-US" sz="2400" b="1" dirty="0">
                <a:solidFill>
                  <a:srgbClr val="0ADBBC"/>
                </a:solidFill>
              </a:rPr>
              <a:t>): </a:t>
            </a:r>
            <a:r>
              <a:rPr lang="en-US" altLang="en-US" sz="2400" dirty="0"/>
              <a:t>To </a:t>
            </a:r>
            <a:r>
              <a:rPr lang="en-US" altLang="en-US" sz="2400" dirty="0" err="1"/>
              <a:t>su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najosnovnije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potrebe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nužne</a:t>
            </a:r>
            <a:r>
              <a:rPr lang="en-US" altLang="en-US" sz="2400" dirty="0"/>
              <a:t> za </a:t>
            </a:r>
            <a:r>
              <a:rPr lang="en-US" altLang="en-US" sz="2400" dirty="0" err="1"/>
              <a:t>preživljavanje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poput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hrane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vode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skloništa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sna</a:t>
            </a:r>
            <a:r>
              <a:rPr lang="en-US" altLang="en-US" sz="2400" dirty="0"/>
              <a:t> i </a:t>
            </a:r>
            <a:r>
              <a:rPr lang="en-US" altLang="en-US" sz="2400" dirty="0" err="1"/>
              <a:t>zraka</a:t>
            </a:r>
            <a:r>
              <a:rPr lang="en-US" altLang="en-US" sz="2400" dirty="0"/>
              <a:t>.</a:t>
            </a:r>
            <a:endParaRPr lang="en-US" altLang="en-US" sz="2400" b="1" dirty="0">
              <a:solidFill>
                <a:srgbClr val="0ADBBC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rgbClr val="0ADBBC"/>
                </a:solidFill>
              </a:rPr>
              <a:t>2. </a:t>
            </a:r>
            <a:r>
              <a:rPr lang="en-US" altLang="en-US" sz="2400" b="1" dirty="0" err="1">
                <a:solidFill>
                  <a:srgbClr val="0ADBBC"/>
                </a:solidFill>
              </a:rPr>
              <a:t>Potrebe</a:t>
            </a:r>
            <a:r>
              <a:rPr lang="en-US" altLang="en-US" sz="2400" b="1" dirty="0">
                <a:solidFill>
                  <a:srgbClr val="0ADBBC"/>
                </a:solidFill>
              </a:rPr>
              <a:t> za </a:t>
            </a:r>
            <a:r>
              <a:rPr lang="en-US" altLang="en-US" sz="2400" b="1" dirty="0" err="1">
                <a:solidFill>
                  <a:srgbClr val="0ADBBC"/>
                </a:solidFill>
              </a:rPr>
              <a:t>sigurnošću</a:t>
            </a:r>
            <a:r>
              <a:rPr lang="en-US" altLang="en-US" sz="2400" b="1" dirty="0">
                <a:solidFill>
                  <a:srgbClr val="0ADBBC"/>
                </a:solidFill>
              </a:rPr>
              <a:t> (</a:t>
            </a:r>
            <a:r>
              <a:rPr lang="en-US" altLang="en-US" sz="2400" b="1" dirty="0" err="1">
                <a:solidFill>
                  <a:srgbClr val="0ADBBC"/>
                </a:solidFill>
              </a:rPr>
              <a:t>sigurnost</a:t>
            </a:r>
            <a:r>
              <a:rPr lang="en-US" altLang="en-US" sz="2400" b="1" dirty="0">
                <a:solidFill>
                  <a:srgbClr val="0ADBBC"/>
                </a:solidFill>
              </a:rPr>
              <a:t> i </a:t>
            </a:r>
            <a:r>
              <a:rPr lang="en-US" altLang="en-US" sz="2400" b="1" dirty="0" err="1">
                <a:solidFill>
                  <a:srgbClr val="0ADBBC"/>
                </a:solidFill>
              </a:rPr>
              <a:t>stabilnost</a:t>
            </a:r>
            <a:r>
              <a:rPr lang="en-US" altLang="en-US" sz="2400" b="1" dirty="0">
                <a:solidFill>
                  <a:srgbClr val="0ADBBC"/>
                </a:solidFill>
              </a:rPr>
              <a:t>): </a:t>
            </a:r>
            <a:r>
              <a:rPr lang="en-US" altLang="en-US" sz="2400" dirty="0" err="1"/>
              <a:t>Nakon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zadovoljenja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osnovnih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potreba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pojedinci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traže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sigurnost</a:t>
            </a:r>
            <a:r>
              <a:rPr lang="en-US" altLang="en-US" sz="2400" dirty="0"/>
              <a:t> i </a:t>
            </a:r>
            <a:r>
              <a:rPr lang="en-US" altLang="en-US" sz="2400" dirty="0" err="1"/>
              <a:t>stabilnost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uključujući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financijsku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sigurnost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zdravlje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sigurnost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posla</a:t>
            </a:r>
            <a:r>
              <a:rPr lang="en-US" altLang="en-US" sz="2400" dirty="0"/>
              <a:t> i </a:t>
            </a:r>
            <a:r>
              <a:rPr lang="en-US" altLang="en-US" sz="2400" dirty="0" err="1"/>
              <a:t>zaštitu</a:t>
            </a:r>
            <a:r>
              <a:rPr lang="en-US" altLang="en-US" sz="2400" dirty="0"/>
              <a:t> od </a:t>
            </a:r>
            <a:r>
              <a:rPr lang="en-US" altLang="en-US" sz="2400" dirty="0" err="1"/>
              <a:t>opasnosti</a:t>
            </a:r>
            <a:r>
              <a:rPr lang="en-US" altLang="en-US" sz="2400" dirty="0"/>
              <a:t>.</a:t>
            </a:r>
            <a:endParaRPr lang="en-US" altLang="en-US" sz="2400" b="1" dirty="0">
              <a:solidFill>
                <a:srgbClr val="0ADBBC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rgbClr val="0ADBBC"/>
                </a:solidFill>
              </a:rPr>
              <a:t>3. </a:t>
            </a:r>
            <a:r>
              <a:rPr lang="en-US" altLang="en-US" sz="2400" b="1" dirty="0" err="1">
                <a:solidFill>
                  <a:srgbClr val="0ADBBC"/>
                </a:solidFill>
              </a:rPr>
              <a:t>Potrebe</a:t>
            </a:r>
            <a:r>
              <a:rPr lang="en-US" altLang="en-US" sz="2400" b="1" dirty="0">
                <a:solidFill>
                  <a:srgbClr val="0ADBBC"/>
                </a:solidFill>
              </a:rPr>
              <a:t> za </a:t>
            </a:r>
            <a:r>
              <a:rPr lang="en-US" altLang="en-US" sz="2400" b="1" dirty="0" err="1">
                <a:solidFill>
                  <a:srgbClr val="0ADBBC"/>
                </a:solidFill>
              </a:rPr>
              <a:t>ljubavlju</a:t>
            </a:r>
            <a:r>
              <a:rPr lang="en-US" altLang="en-US" sz="2400" b="1" dirty="0">
                <a:solidFill>
                  <a:srgbClr val="0ADBBC"/>
                </a:solidFill>
              </a:rPr>
              <a:t> i </a:t>
            </a:r>
            <a:r>
              <a:rPr lang="en-US" altLang="en-US" sz="2400" b="1" dirty="0" err="1">
                <a:solidFill>
                  <a:srgbClr val="0ADBBC"/>
                </a:solidFill>
              </a:rPr>
              <a:t>pripadanjem</a:t>
            </a:r>
            <a:r>
              <a:rPr lang="en-US" altLang="en-US" sz="2400" b="1" dirty="0">
                <a:solidFill>
                  <a:srgbClr val="0ADBBC"/>
                </a:solidFill>
              </a:rPr>
              <a:t> (</a:t>
            </a:r>
            <a:r>
              <a:rPr lang="en-US" altLang="en-US" sz="2400" b="1" dirty="0" err="1">
                <a:solidFill>
                  <a:srgbClr val="0ADBBC"/>
                </a:solidFill>
              </a:rPr>
              <a:t>socijalne</a:t>
            </a:r>
            <a:r>
              <a:rPr lang="en-US" altLang="en-US" sz="2400" b="1" dirty="0">
                <a:solidFill>
                  <a:srgbClr val="0ADBBC"/>
                </a:solidFill>
              </a:rPr>
              <a:t> </a:t>
            </a:r>
            <a:r>
              <a:rPr lang="en-US" altLang="en-US" sz="2400" b="1" dirty="0" err="1">
                <a:solidFill>
                  <a:srgbClr val="0ADBBC"/>
                </a:solidFill>
              </a:rPr>
              <a:t>potrebe</a:t>
            </a:r>
            <a:r>
              <a:rPr lang="en-US" altLang="en-US" sz="2400" b="1" dirty="0">
                <a:solidFill>
                  <a:srgbClr val="0ADBBC"/>
                </a:solidFill>
              </a:rPr>
              <a:t>): </a:t>
            </a:r>
            <a:r>
              <a:rPr lang="en-US" altLang="en-US" sz="2400" dirty="0" err="1"/>
              <a:t>Ljudi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imaju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potrebu</a:t>
            </a:r>
            <a:r>
              <a:rPr lang="en-US" altLang="en-US" sz="2400" dirty="0"/>
              <a:t> za </a:t>
            </a:r>
            <a:r>
              <a:rPr lang="en-US" altLang="en-US" sz="2400" dirty="0" err="1"/>
              <a:t>povezanošću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ljubavlju</a:t>
            </a:r>
            <a:r>
              <a:rPr lang="en-US" altLang="en-US" sz="2400" dirty="0"/>
              <a:t> i </a:t>
            </a:r>
            <a:r>
              <a:rPr lang="en-US" altLang="en-US" sz="2400" dirty="0" err="1"/>
              <a:t>osjećajem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pripadnosti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što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dolazi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iz</a:t>
            </a:r>
            <a:r>
              <a:rPr lang="en-US" altLang="en-US" sz="2400" dirty="0"/>
              <a:t> </a:t>
            </a:r>
            <a:r>
              <a:rPr lang="en-US" altLang="en-US" sz="2400" dirty="0" err="1"/>
              <a:t>odnosa</a:t>
            </a:r>
            <a:r>
              <a:rPr lang="en-US" altLang="en-US" sz="2400" dirty="0"/>
              <a:t> s </a:t>
            </a:r>
            <a:r>
              <a:rPr lang="en-US" altLang="en-US" sz="2400" dirty="0" err="1"/>
              <a:t>obitelji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prijateljima</a:t>
            </a:r>
            <a:r>
              <a:rPr lang="en-US" altLang="en-US" sz="2400" dirty="0"/>
              <a:t> i </a:t>
            </a:r>
            <a:r>
              <a:rPr lang="en-US" altLang="en-US" sz="2400" dirty="0" err="1"/>
              <a:t>društvenim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skupinama</a:t>
            </a:r>
            <a:r>
              <a:rPr lang="en-US" altLang="en-US" sz="2400" dirty="0"/>
              <a:t>.</a:t>
            </a:r>
            <a:endParaRPr lang="en-US" altLang="en-US" sz="2400" b="1" dirty="0">
              <a:solidFill>
                <a:srgbClr val="0ADBBC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rgbClr val="0ADBBC"/>
                </a:solidFill>
              </a:rPr>
              <a:t>4. </a:t>
            </a:r>
            <a:r>
              <a:rPr lang="en-US" altLang="en-US" sz="2400" b="1" dirty="0" err="1">
                <a:solidFill>
                  <a:srgbClr val="0ADBBC"/>
                </a:solidFill>
              </a:rPr>
              <a:t>Potrebe</a:t>
            </a:r>
            <a:r>
              <a:rPr lang="en-US" altLang="en-US" sz="2400" b="1" dirty="0">
                <a:solidFill>
                  <a:srgbClr val="0ADBBC"/>
                </a:solidFill>
              </a:rPr>
              <a:t> za </a:t>
            </a:r>
            <a:r>
              <a:rPr lang="en-US" altLang="en-US" sz="2400" b="1" dirty="0" err="1">
                <a:solidFill>
                  <a:srgbClr val="0ADBBC"/>
                </a:solidFill>
              </a:rPr>
              <a:t>poštovanjem</a:t>
            </a:r>
            <a:r>
              <a:rPr lang="en-US" altLang="en-US" sz="2400" b="1" dirty="0">
                <a:solidFill>
                  <a:srgbClr val="0ADBBC"/>
                </a:solidFill>
              </a:rPr>
              <a:t> (</a:t>
            </a:r>
            <a:r>
              <a:rPr lang="en-US" altLang="en-US" sz="2400" b="1" dirty="0" err="1">
                <a:solidFill>
                  <a:srgbClr val="0ADBBC"/>
                </a:solidFill>
              </a:rPr>
              <a:t>priznanje</a:t>
            </a:r>
            <a:r>
              <a:rPr lang="en-US" altLang="en-US" sz="2400" b="1" dirty="0">
                <a:solidFill>
                  <a:srgbClr val="0ADBBC"/>
                </a:solidFill>
              </a:rPr>
              <a:t> i </a:t>
            </a:r>
            <a:r>
              <a:rPr lang="en-US" altLang="en-US" sz="2400" b="1" dirty="0" err="1">
                <a:solidFill>
                  <a:srgbClr val="0ADBBC"/>
                </a:solidFill>
              </a:rPr>
              <a:t>uvažavanje</a:t>
            </a:r>
            <a:r>
              <a:rPr lang="en-US" altLang="en-US" sz="2400" b="1" dirty="0">
                <a:solidFill>
                  <a:srgbClr val="0ADBBC"/>
                </a:solidFill>
              </a:rPr>
              <a:t>): </a:t>
            </a:r>
            <a:r>
              <a:rPr lang="en-US" altLang="en-US" sz="2400" dirty="0"/>
              <a:t>To </a:t>
            </a:r>
            <a:r>
              <a:rPr lang="en-US" altLang="en-US" sz="2400" dirty="0" err="1"/>
              <a:t>uključuje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samopoštovanje</a:t>
            </a:r>
            <a:r>
              <a:rPr lang="en-US" altLang="en-US" sz="2400" dirty="0"/>
              <a:t> (</a:t>
            </a:r>
            <a:r>
              <a:rPr lang="en-US" altLang="en-US" sz="2400" dirty="0" err="1"/>
              <a:t>samopouzdanje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postignuća</a:t>
            </a:r>
            <a:r>
              <a:rPr lang="en-US" altLang="en-US" sz="2400" dirty="0"/>
              <a:t>) i </a:t>
            </a:r>
            <a:r>
              <a:rPr lang="en-US" altLang="en-US" sz="2400" dirty="0" err="1"/>
              <a:t>poštovanje</a:t>
            </a:r>
            <a:r>
              <a:rPr lang="en-US" altLang="en-US" sz="2400" dirty="0"/>
              <a:t> od </a:t>
            </a:r>
            <a:r>
              <a:rPr lang="en-US" altLang="en-US" sz="2400" dirty="0" err="1"/>
              <a:t>strane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drugih</a:t>
            </a:r>
            <a:r>
              <a:rPr lang="en-US" altLang="en-US" sz="2400" dirty="0"/>
              <a:t> (</a:t>
            </a:r>
            <a:r>
              <a:rPr lang="en-US" altLang="en-US" sz="2400" dirty="0" err="1"/>
              <a:t>priznanje</a:t>
            </a:r>
            <a:r>
              <a:rPr lang="en-US" altLang="en-US" sz="2400" dirty="0"/>
              <a:t>, status, </a:t>
            </a:r>
            <a:r>
              <a:rPr lang="en-US" altLang="en-US" sz="2400" dirty="0" err="1"/>
              <a:t>respekt</a:t>
            </a:r>
            <a:r>
              <a:rPr lang="en-US" altLang="en-US" sz="2400" dirty="0"/>
              <a:t>). </a:t>
            </a:r>
            <a:r>
              <a:rPr lang="en-US" altLang="en-US" sz="2400" dirty="0" err="1"/>
              <a:t>Zadovoljenje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ovih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potreba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vodi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osjećaju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vrijednosti</a:t>
            </a:r>
            <a:r>
              <a:rPr lang="en-US" altLang="en-US" sz="2400" dirty="0"/>
              <a:t> i </a:t>
            </a:r>
            <a:r>
              <a:rPr lang="en-US" altLang="en-US" sz="2400" dirty="0" err="1"/>
              <a:t>uspjeha</a:t>
            </a:r>
            <a:r>
              <a:rPr lang="en-US" altLang="en-US" sz="2400" dirty="0"/>
              <a:t>.</a:t>
            </a:r>
            <a:endParaRPr lang="en-US" altLang="en-US" sz="2400" b="1" dirty="0">
              <a:solidFill>
                <a:srgbClr val="0ADBBC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rgbClr val="0ADBBC"/>
                </a:solidFill>
              </a:rPr>
              <a:t>5. </a:t>
            </a:r>
            <a:r>
              <a:rPr lang="en-US" altLang="en-US" sz="2400" b="1" dirty="0" err="1">
                <a:solidFill>
                  <a:srgbClr val="0ADBBC"/>
                </a:solidFill>
              </a:rPr>
              <a:t>Samoaktualizacija</a:t>
            </a:r>
            <a:r>
              <a:rPr lang="en-US" altLang="en-US" sz="2400" b="1" dirty="0">
                <a:solidFill>
                  <a:srgbClr val="0ADBBC"/>
                </a:solidFill>
              </a:rPr>
              <a:t> (</a:t>
            </a:r>
            <a:r>
              <a:rPr lang="en-US" altLang="en-US" sz="2400" b="1" dirty="0" err="1">
                <a:solidFill>
                  <a:srgbClr val="0ADBBC"/>
                </a:solidFill>
              </a:rPr>
              <a:t>osobni</a:t>
            </a:r>
            <a:r>
              <a:rPr lang="en-US" altLang="en-US" sz="2400" b="1" dirty="0">
                <a:solidFill>
                  <a:srgbClr val="0ADBBC"/>
                </a:solidFill>
              </a:rPr>
              <a:t> </a:t>
            </a:r>
            <a:r>
              <a:rPr lang="en-US" altLang="en-US" sz="2400" b="1" dirty="0" err="1">
                <a:solidFill>
                  <a:srgbClr val="0ADBBC"/>
                </a:solidFill>
              </a:rPr>
              <a:t>razvoj</a:t>
            </a:r>
            <a:r>
              <a:rPr lang="en-US" altLang="en-US" sz="2400" b="1" dirty="0">
                <a:solidFill>
                  <a:srgbClr val="0ADBBC"/>
                </a:solidFill>
              </a:rPr>
              <a:t> i </a:t>
            </a:r>
            <a:r>
              <a:rPr lang="en-US" altLang="en-US" sz="2400" b="1" dirty="0" err="1">
                <a:solidFill>
                  <a:srgbClr val="0ADBBC"/>
                </a:solidFill>
              </a:rPr>
              <a:t>ispunjenje</a:t>
            </a:r>
            <a:r>
              <a:rPr lang="en-US" altLang="en-US" sz="2400" b="1" dirty="0">
                <a:solidFill>
                  <a:srgbClr val="0ADBBC"/>
                </a:solidFill>
              </a:rPr>
              <a:t>): </a:t>
            </a:r>
            <a:r>
              <a:rPr lang="en-US" altLang="en-US" sz="2400" dirty="0" err="1"/>
              <a:t>Najviša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razina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na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kojoj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pojedinci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nastoje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ostvariti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svoj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puni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potencijal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razvijati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kreativnost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osobni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rast</a:t>
            </a:r>
            <a:r>
              <a:rPr lang="en-US" altLang="en-US" sz="2400" dirty="0"/>
              <a:t> i </a:t>
            </a:r>
            <a:r>
              <a:rPr lang="en-US" altLang="en-US" sz="2400" dirty="0" err="1"/>
              <a:t>ostvarivati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smisleno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postavljene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ciljeve</a:t>
            </a:r>
            <a:r>
              <a:rPr lang="en-US" alt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328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4603C-46AE-3689-C15D-3A7389BEC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AF7BE-2321-781C-05B7-1B9317A3F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dirty="0"/>
              <a:t>Maslowljeva </a:t>
            </a:r>
            <a:r>
              <a:rPr lang="en-US" altLang="en-US" sz="3800" dirty="0" err="1"/>
              <a:t>teorija</a:t>
            </a:r>
            <a:r>
              <a:rPr lang="en-US" altLang="en-US" sz="3800" dirty="0"/>
              <a:t> </a:t>
            </a:r>
            <a:r>
              <a:rPr lang="en-US" altLang="en-US" sz="3800" dirty="0" err="1"/>
              <a:t>motivacije</a:t>
            </a:r>
            <a:endParaRPr lang="en-US" sz="3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70DAFB-218C-8BC2-AF92-5BC58DF4F2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7784" y="1690688"/>
            <a:ext cx="11086578" cy="5175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ADBBC"/>
                </a:solidFill>
              </a:rPr>
              <a:t>KLJUČNE PORUKE: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Ljudi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motivirani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prvo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zadovoljiti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potrebe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niže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razine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nego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što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usmjere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više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razine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Kada je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neka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potreba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zadovoljena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više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djeluje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kao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snažan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motivator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osoba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usmjerava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sljedeću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razinu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teorija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široko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primjenjuje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područjima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poslovanja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obrazovanja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osobnog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razvoja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za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razumijevanje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motivacije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651731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F0849-2327-907C-5CE3-B2F5EE405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757"/>
            <a:ext cx="10515600" cy="1325563"/>
          </a:xfrm>
        </p:spPr>
        <p:txBody>
          <a:bodyPr>
            <a:normAutofit/>
          </a:bodyPr>
          <a:lstStyle/>
          <a:p>
            <a:r>
              <a:rPr lang="en-US" sz="3800" dirty="0" err="1"/>
              <a:t>Studija</a:t>
            </a:r>
            <a:r>
              <a:rPr lang="en-US" sz="3800" dirty="0"/>
              <a:t> </a:t>
            </a:r>
            <a:r>
              <a:rPr lang="en-US" sz="3800" dirty="0" err="1"/>
              <a:t>slučaja</a:t>
            </a:r>
            <a:r>
              <a:rPr lang="en-US" sz="3800" dirty="0"/>
              <a:t>: </a:t>
            </a:r>
            <a:r>
              <a:rPr lang="en-US" sz="3800" dirty="0" err="1"/>
              <a:t>Motiviranje</a:t>
            </a:r>
            <a:r>
              <a:rPr lang="en-US" sz="3800" dirty="0"/>
              <a:t> </a:t>
            </a:r>
            <a:r>
              <a:rPr lang="en-US" sz="3800" dirty="0" err="1"/>
              <a:t>člana</a:t>
            </a:r>
            <a:r>
              <a:rPr lang="en-US" sz="3800" dirty="0"/>
              <a:t> </a:t>
            </a:r>
            <a:r>
              <a:rPr lang="en-US" sz="3800" dirty="0" err="1"/>
              <a:t>tima</a:t>
            </a:r>
            <a:r>
              <a:rPr lang="en-US" sz="3800" dirty="0"/>
              <a:t> s </a:t>
            </a:r>
            <a:r>
              <a:rPr lang="en-US" sz="3800" dirty="0" err="1"/>
              <a:t>niskom</a:t>
            </a:r>
            <a:r>
              <a:rPr lang="en-US" sz="3800" dirty="0"/>
              <a:t> </a:t>
            </a:r>
            <a:r>
              <a:rPr lang="en-US" sz="3800" dirty="0" err="1"/>
              <a:t>razinom</a:t>
            </a:r>
            <a:r>
              <a:rPr lang="en-US" sz="3800" dirty="0"/>
              <a:t> </a:t>
            </a:r>
            <a:r>
              <a:rPr lang="en-US" sz="3800" dirty="0" err="1"/>
              <a:t>učinka</a:t>
            </a:r>
            <a:r>
              <a:rPr lang="en-US" sz="3800" dirty="0"/>
              <a:t> </a:t>
            </a:r>
            <a:r>
              <a:rPr lang="en-US" sz="3800" dirty="0" err="1"/>
              <a:t>primjenom</a:t>
            </a:r>
            <a:r>
              <a:rPr lang="en-US" sz="3800" dirty="0"/>
              <a:t> </a:t>
            </a:r>
            <a:r>
              <a:rPr lang="en-US" sz="3800" dirty="0" err="1"/>
              <a:t>Maslowljeve</a:t>
            </a:r>
            <a:r>
              <a:rPr lang="en-US" sz="3800" dirty="0"/>
              <a:t> </a:t>
            </a:r>
            <a:r>
              <a:rPr lang="en-US" sz="3800" dirty="0" err="1"/>
              <a:t>teorije</a:t>
            </a: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0E64D-6F90-8A04-03B2-F85199077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680" y="22789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cs typeface="Arial" panose="020B0604020202020204" pitchFamily="34" charset="0"/>
              </a:rPr>
              <a:t>John je </a:t>
            </a:r>
            <a:r>
              <a:rPr lang="en-US" sz="2600" dirty="0" err="1">
                <a:cs typeface="Arial" panose="020B0604020202020204" pitchFamily="34" charset="0"/>
              </a:rPr>
              <a:t>softverski</a:t>
            </a:r>
            <a:r>
              <a:rPr lang="en-US" sz="2600" dirty="0">
                <a:cs typeface="Arial" panose="020B0604020202020204" pitchFamily="34" charset="0"/>
              </a:rPr>
              <a:t> developer koji </a:t>
            </a:r>
            <a:r>
              <a:rPr lang="en-US" sz="2600" dirty="0" err="1">
                <a:cs typeface="Arial" panose="020B0604020202020204" pitchFamily="34" charset="0"/>
              </a:rPr>
              <a:t>radi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na</a:t>
            </a:r>
            <a:r>
              <a:rPr lang="en-US" sz="2600" dirty="0">
                <a:cs typeface="Arial" panose="020B0604020202020204" pitchFamily="34" charset="0"/>
              </a:rPr>
              <a:t> Agile </a:t>
            </a:r>
            <a:r>
              <a:rPr lang="en-US" sz="2600" dirty="0" err="1">
                <a:cs typeface="Arial" panose="020B0604020202020204" pitchFamily="34" charset="0"/>
              </a:rPr>
              <a:t>projektu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razvoja</a:t>
            </a:r>
            <a:r>
              <a:rPr lang="en-US" sz="2600" dirty="0">
                <a:cs typeface="Arial" panose="020B0604020202020204" pitchFamily="34" charset="0"/>
              </a:rPr>
              <a:t> za fintech </a:t>
            </a:r>
            <a:r>
              <a:rPr lang="en-US" sz="2600" dirty="0" err="1">
                <a:cs typeface="Arial" panose="020B0604020202020204" pitchFamily="34" charset="0"/>
              </a:rPr>
              <a:t>tvrtku</a:t>
            </a:r>
            <a:r>
              <a:rPr lang="en-US" sz="2600" dirty="0"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dirty="0">
                <a:cs typeface="Arial" panose="020B0604020202020204" pitchFamily="34" charset="0"/>
              </a:rPr>
              <a:t>U </a:t>
            </a:r>
            <a:r>
              <a:rPr lang="en-US" sz="2600" dirty="0" err="1">
                <a:cs typeface="Arial" panose="020B0604020202020204" pitchFamily="34" charset="0"/>
              </a:rPr>
              <a:t>posljednje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vrijeme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njegova</a:t>
            </a:r>
            <a:r>
              <a:rPr lang="en-US" sz="2600" dirty="0">
                <a:cs typeface="Arial" panose="020B0604020202020204" pitchFamily="34" charset="0"/>
              </a:rPr>
              <a:t> je </a:t>
            </a:r>
            <a:r>
              <a:rPr lang="en-US" sz="2600" dirty="0" err="1">
                <a:cs typeface="Arial" panose="020B0604020202020204" pitchFamily="34" charset="0"/>
              </a:rPr>
              <a:t>učinkovitost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opala</a:t>
            </a:r>
            <a:r>
              <a:rPr lang="en-US" sz="2600" dirty="0">
                <a:cs typeface="Arial" panose="020B0604020202020204" pitchFamily="34" charset="0"/>
              </a:rPr>
              <a:t> — </a:t>
            </a:r>
            <a:r>
              <a:rPr lang="en-US" sz="2600" dirty="0" err="1">
                <a:cs typeface="Arial" panose="020B0604020202020204" pitchFamily="34" charset="0"/>
              </a:rPr>
              <a:t>propušta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rokove</a:t>
            </a:r>
            <a:r>
              <a:rPr lang="en-US" sz="2600" dirty="0">
                <a:cs typeface="Arial" panose="020B0604020202020204" pitchFamily="34" charset="0"/>
              </a:rPr>
              <a:t>, </a:t>
            </a:r>
            <a:r>
              <a:rPr lang="en-US" sz="2600" dirty="0" err="1">
                <a:cs typeface="Arial" panose="020B0604020202020204" pitchFamily="34" charset="0"/>
              </a:rPr>
              <a:t>izbjegava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timske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rasprave</a:t>
            </a:r>
            <a:r>
              <a:rPr lang="en-US" sz="2600" dirty="0">
                <a:cs typeface="Arial" panose="020B0604020202020204" pitchFamily="34" charset="0"/>
              </a:rPr>
              <a:t> i </a:t>
            </a:r>
            <a:r>
              <a:rPr lang="en-US" sz="2600" dirty="0" err="1">
                <a:cs typeface="Arial" panose="020B0604020202020204" pitchFamily="34" charset="0"/>
              </a:rPr>
              <a:t>isporučuje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nepotpun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kod</a:t>
            </a:r>
            <a:r>
              <a:rPr lang="en-US" sz="2600" dirty="0"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dirty="0">
                <a:cs typeface="Arial" panose="020B0604020202020204" pitchFamily="34" charset="0"/>
              </a:rPr>
              <a:t>Kao </a:t>
            </a:r>
            <a:r>
              <a:rPr lang="en-US" sz="2600" dirty="0" err="1">
                <a:cs typeface="Arial" panose="020B0604020202020204" pitchFamily="34" charset="0"/>
              </a:rPr>
              <a:t>voditeljica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projekta</a:t>
            </a:r>
            <a:r>
              <a:rPr lang="en-US" sz="2600" dirty="0">
                <a:cs typeface="Arial" panose="020B0604020202020204" pitchFamily="34" charset="0"/>
              </a:rPr>
              <a:t>, Sarah mora </a:t>
            </a:r>
            <a:r>
              <a:rPr lang="en-US" sz="2600" dirty="0" err="1">
                <a:cs typeface="Arial" panose="020B0604020202020204" pitchFamily="34" charset="0"/>
              </a:rPr>
              <a:t>pronaći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način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kako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motivirati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Johna</a:t>
            </a:r>
            <a:r>
              <a:rPr lang="en-US" sz="2600" dirty="0">
                <a:cs typeface="Arial" panose="020B0604020202020204" pitchFamily="34" charset="0"/>
              </a:rPr>
              <a:t> i </a:t>
            </a:r>
            <a:r>
              <a:rPr lang="en-US" sz="2600" dirty="0" err="1">
                <a:cs typeface="Arial" panose="020B0604020202020204" pitchFamily="34" charset="0"/>
              </a:rPr>
              <a:t>pomoći</a:t>
            </a:r>
            <a:r>
              <a:rPr lang="en-US" sz="2600" dirty="0">
                <a:cs typeface="Arial" panose="020B0604020202020204" pitchFamily="34" charset="0"/>
              </a:rPr>
              <a:t> mu da </a:t>
            </a:r>
            <a:r>
              <a:rPr lang="en-US" sz="2600" dirty="0" err="1">
                <a:cs typeface="Arial" panose="020B0604020202020204" pitchFamily="34" charset="0"/>
              </a:rPr>
              <a:t>ponovno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postigne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produktivnost</a:t>
            </a:r>
            <a:r>
              <a:rPr lang="en-US" sz="2600" dirty="0"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sz="26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600" dirty="0" err="1">
                <a:cs typeface="Arial" panose="020B0604020202020204" pitchFamily="34" charset="0"/>
              </a:rPr>
              <a:t>Primijenite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b="1" dirty="0" err="1">
                <a:cs typeface="Arial" panose="020B0604020202020204" pitchFamily="34" charset="0"/>
              </a:rPr>
              <a:t>Maslowljevu</a:t>
            </a:r>
            <a:r>
              <a:rPr lang="en-US" sz="2600" b="1" dirty="0">
                <a:cs typeface="Arial" panose="020B0604020202020204" pitchFamily="34" charset="0"/>
              </a:rPr>
              <a:t> </a:t>
            </a:r>
            <a:r>
              <a:rPr lang="en-US" sz="2600" b="1" dirty="0" err="1">
                <a:cs typeface="Arial" panose="020B0604020202020204" pitchFamily="34" charset="0"/>
              </a:rPr>
              <a:t>hijerarhiju</a:t>
            </a:r>
            <a:r>
              <a:rPr lang="en-US" sz="2600" b="1" dirty="0">
                <a:cs typeface="Arial" panose="020B0604020202020204" pitchFamily="34" charset="0"/>
              </a:rPr>
              <a:t> </a:t>
            </a:r>
            <a:r>
              <a:rPr lang="en-US" sz="2600" b="1" dirty="0" err="1">
                <a:cs typeface="Arial" panose="020B0604020202020204" pitchFamily="34" charset="0"/>
              </a:rPr>
              <a:t>potreba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tako</a:t>
            </a:r>
            <a:r>
              <a:rPr lang="en-US" sz="2600" dirty="0">
                <a:cs typeface="Arial" panose="020B0604020202020204" pitchFamily="34" charset="0"/>
              </a:rPr>
              <a:t> da </a:t>
            </a:r>
            <a:r>
              <a:rPr lang="en-US" sz="2600" dirty="0" err="1">
                <a:cs typeface="Arial" panose="020B0604020202020204" pitchFamily="34" charset="0"/>
              </a:rPr>
              <a:t>razvijete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motivacijski</a:t>
            </a:r>
            <a:r>
              <a:rPr lang="en-US" sz="2600" dirty="0">
                <a:cs typeface="Arial" panose="020B0604020202020204" pitchFamily="34" charset="0"/>
              </a:rPr>
              <a:t> plan za </a:t>
            </a:r>
            <a:r>
              <a:rPr lang="en-US" sz="2600" dirty="0" err="1">
                <a:cs typeface="Arial" panose="020B0604020202020204" pitchFamily="34" charset="0"/>
              </a:rPr>
              <a:t>Johna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kako</a:t>
            </a:r>
            <a:r>
              <a:rPr lang="en-US" sz="2600" dirty="0">
                <a:cs typeface="Arial" panose="020B0604020202020204" pitchFamily="34" charset="0"/>
              </a:rPr>
              <a:t> bi </a:t>
            </a:r>
            <a:r>
              <a:rPr lang="en-US" sz="2600" dirty="0" err="1">
                <a:cs typeface="Arial" panose="020B0604020202020204" pitchFamily="34" charset="0"/>
              </a:rPr>
              <a:t>ostao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motiviran</a:t>
            </a:r>
            <a:r>
              <a:rPr lang="en-US" sz="2600" dirty="0">
                <a:cs typeface="Arial" panose="020B0604020202020204" pitchFamily="34" charset="0"/>
              </a:rPr>
              <a:t>, </a:t>
            </a:r>
            <a:r>
              <a:rPr lang="en-US" sz="2600" dirty="0" err="1">
                <a:cs typeface="Arial" panose="020B0604020202020204" pitchFamily="34" charset="0"/>
              </a:rPr>
              <a:t>produktivan</a:t>
            </a:r>
            <a:r>
              <a:rPr lang="en-US" sz="2600" dirty="0">
                <a:cs typeface="Arial" panose="020B0604020202020204" pitchFamily="34" charset="0"/>
              </a:rPr>
              <a:t> i </a:t>
            </a:r>
            <a:r>
              <a:rPr lang="en-US" sz="2600" dirty="0" err="1">
                <a:cs typeface="Arial" panose="020B0604020202020204" pitchFamily="34" charset="0"/>
              </a:rPr>
              <a:t>angažiran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tijekom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cijelog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životnog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ciklusa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projekta</a:t>
            </a:r>
            <a:r>
              <a:rPr lang="en-US" sz="2600" dirty="0"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sz="2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2881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9D823-74C2-6D8C-1B66-C946F3167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E4434-0573-52D4-2B73-31AFE9C3E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err="1"/>
              <a:t>Coveyjev</a:t>
            </a:r>
            <a:r>
              <a:rPr lang="en-US" sz="3800" dirty="0"/>
              <a:t> </a:t>
            </a:r>
            <a:r>
              <a:rPr lang="en-US" sz="3800" dirty="0" err="1"/>
              <a:t>pristup</a:t>
            </a:r>
            <a:r>
              <a:rPr lang="en-US" sz="3800" dirty="0"/>
              <a:t> </a:t>
            </a:r>
            <a:r>
              <a:rPr lang="en-US" sz="3800" dirty="0" err="1"/>
              <a:t>slušanju</a:t>
            </a:r>
            <a:r>
              <a:rPr lang="en-US" sz="3800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B34EE-11E1-0A80-F5EB-42AF42337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06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dirty="0" err="1">
                <a:cs typeface="Arial" panose="020B0604020202020204" pitchFamily="34" charset="0"/>
              </a:rPr>
              <a:t>Četiri</a:t>
            </a:r>
            <a:r>
              <a:rPr lang="en-US" sz="2600" b="1" dirty="0">
                <a:cs typeface="Arial" panose="020B0604020202020204" pitchFamily="34" charset="0"/>
              </a:rPr>
              <a:t> </a:t>
            </a:r>
            <a:r>
              <a:rPr lang="en-US" sz="2600" b="1" dirty="0" err="1">
                <a:cs typeface="Arial" panose="020B0604020202020204" pitchFamily="34" charset="0"/>
              </a:rPr>
              <a:t>razine</a:t>
            </a:r>
            <a:r>
              <a:rPr lang="en-US" sz="2600" b="1" dirty="0">
                <a:cs typeface="Arial" panose="020B0604020202020204" pitchFamily="34" charset="0"/>
              </a:rPr>
              <a:t> </a:t>
            </a:r>
            <a:r>
              <a:rPr lang="en-US" sz="2600" b="1" dirty="0" err="1">
                <a:cs typeface="Arial" panose="020B0604020202020204" pitchFamily="34" charset="0"/>
              </a:rPr>
              <a:t>slušanja</a:t>
            </a:r>
            <a:r>
              <a:rPr lang="en-US" sz="2600" b="1" dirty="0">
                <a:cs typeface="Arial" panose="020B0604020202020204" pitchFamily="34" charset="0"/>
              </a:rPr>
              <a:t> </a:t>
            </a:r>
            <a:r>
              <a:rPr lang="en-US" sz="2600" dirty="0">
                <a:cs typeface="Arial" panose="020B0604020202020204" pitchFamily="34" charset="0"/>
              </a:rPr>
              <a:t>(</a:t>
            </a:r>
            <a:r>
              <a:rPr lang="en-US" sz="2600" dirty="0" err="1">
                <a:cs typeface="Arial" panose="020B0604020202020204" pitchFamily="34" charset="0"/>
              </a:rPr>
              <a:t>kako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većina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ljudi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sluša</a:t>
            </a:r>
            <a:r>
              <a:rPr lang="en-US" sz="2600" dirty="0">
                <a:cs typeface="Arial" panose="020B0604020202020204" pitchFamily="34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 err="1">
                <a:solidFill>
                  <a:srgbClr val="0ADBBC"/>
                </a:solidFill>
              </a:rPr>
              <a:t>Ignoriranje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dirty="0"/>
              <a:t>– </a:t>
            </a:r>
            <a:r>
              <a:rPr lang="en-US" sz="2600" dirty="0" err="1"/>
              <a:t>uopće</a:t>
            </a:r>
            <a:r>
              <a:rPr lang="en-US" sz="2600" dirty="0"/>
              <a:t> ne </a:t>
            </a:r>
            <a:r>
              <a:rPr lang="en-US" sz="2600" dirty="0" err="1"/>
              <a:t>obraćati</a:t>
            </a:r>
            <a:r>
              <a:rPr lang="en-US" sz="2600" dirty="0"/>
              <a:t> </a:t>
            </a:r>
            <a:r>
              <a:rPr lang="en-US" sz="2600" dirty="0" err="1"/>
              <a:t>pažnju</a:t>
            </a:r>
            <a:r>
              <a:rPr lang="en-US" sz="26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 err="1">
                <a:solidFill>
                  <a:srgbClr val="0ADBBC"/>
                </a:solidFill>
              </a:rPr>
              <a:t>Pretvaranje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dirty="0"/>
              <a:t>– </a:t>
            </a:r>
            <a:r>
              <a:rPr lang="en-US" sz="2600" dirty="0" err="1"/>
              <a:t>davanje</a:t>
            </a:r>
            <a:r>
              <a:rPr lang="en-US" sz="2600" dirty="0"/>
              <a:t> </a:t>
            </a:r>
            <a:r>
              <a:rPr lang="en-US" sz="2600" dirty="0" err="1"/>
              <a:t>površnih</a:t>
            </a:r>
            <a:r>
              <a:rPr lang="en-US" sz="2600" dirty="0"/>
              <a:t> </a:t>
            </a:r>
            <a:r>
              <a:rPr lang="en-US" sz="2600" dirty="0" err="1"/>
              <a:t>odgovora</a:t>
            </a:r>
            <a:r>
              <a:rPr lang="en-US" sz="2600" dirty="0"/>
              <a:t> </a:t>
            </a:r>
            <a:r>
              <a:rPr lang="en-US" sz="2600" dirty="0" err="1"/>
              <a:t>poput</a:t>
            </a:r>
            <a:r>
              <a:rPr lang="en-US" sz="2600" dirty="0"/>
              <a:t> „aha“ bez </a:t>
            </a:r>
            <a:r>
              <a:rPr lang="en-US" sz="2600" dirty="0" err="1"/>
              <a:t>stvarne</a:t>
            </a:r>
            <a:r>
              <a:rPr lang="en-US" sz="2600" dirty="0"/>
              <a:t> </a:t>
            </a:r>
            <a:r>
              <a:rPr lang="en-US" sz="2600" dirty="0" err="1"/>
              <a:t>uključenosti</a:t>
            </a:r>
            <a:r>
              <a:rPr lang="en-US" sz="2600" dirty="0"/>
              <a:t>.</a:t>
            </a:r>
            <a:endParaRPr lang="en-US" sz="2600" b="1" dirty="0">
              <a:solidFill>
                <a:srgbClr val="0ADBBC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600" b="1" dirty="0" err="1">
                <a:solidFill>
                  <a:srgbClr val="0ADBBC"/>
                </a:solidFill>
              </a:rPr>
              <a:t>Selektivno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slušanje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dirty="0"/>
              <a:t>– </a:t>
            </a:r>
            <a:r>
              <a:rPr lang="en-US" sz="2600" dirty="0" err="1"/>
              <a:t>slušanje</a:t>
            </a:r>
            <a:r>
              <a:rPr lang="en-US" sz="2600" dirty="0"/>
              <a:t> </a:t>
            </a:r>
            <a:r>
              <a:rPr lang="en-US" sz="2600" dirty="0" err="1"/>
              <a:t>samo</a:t>
            </a:r>
            <a:r>
              <a:rPr lang="en-US" sz="2600" dirty="0"/>
              <a:t> </a:t>
            </a:r>
            <a:r>
              <a:rPr lang="en-US" sz="2600" dirty="0" err="1"/>
              <a:t>onoga</a:t>
            </a:r>
            <a:r>
              <a:rPr lang="en-US" sz="2600" dirty="0"/>
              <a:t> </a:t>
            </a:r>
            <a:r>
              <a:rPr lang="en-US" sz="2600" dirty="0" err="1"/>
              <a:t>što</a:t>
            </a:r>
            <a:r>
              <a:rPr lang="en-US" sz="2600" dirty="0"/>
              <a:t> se </a:t>
            </a:r>
            <a:r>
              <a:rPr lang="en-US" sz="2600" dirty="0" err="1"/>
              <a:t>čini</a:t>
            </a:r>
            <a:r>
              <a:rPr lang="en-US" sz="2600" dirty="0"/>
              <a:t> </a:t>
            </a:r>
            <a:r>
              <a:rPr lang="en-US" sz="2600" dirty="0" err="1"/>
              <a:t>važnim</a:t>
            </a:r>
            <a:r>
              <a:rPr lang="en-US" sz="2600" dirty="0"/>
              <a:t> za </a:t>
            </a:r>
            <a:r>
              <a:rPr lang="en-US" sz="2600" dirty="0" err="1"/>
              <a:t>sebe</a:t>
            </a:r>
            <a:r>
              <a:rPr lang="en-US" sz="2600" dirty="0"/>
              <a:t>.</a:t>
            </a:r>
            <a:endParaRPr lang="en-US" sz="2600" b="1" dirty="0">
              <a:solidFill>
                <a:srgbClr val="0ADBBC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600" b="1" dirty="0" err="1">
                <a:solidFill>
                  <a:srgbClr val="0ADBBC"/>
                </a:solidFill>
              </a:rPr>
              <a:t>Pažljivo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slušanje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dirty="0"/>
              <a:t>– </a:t>
            </a:r>
            <a:r>
              <a:rPr lang="en-US" sz="2600" dirty="0" err="1"/>
              <a:t>fokusiranje</a:t>
            </a:r>
            <a:r>
              <a:rPr lang="en-US" sz="2600" dirty="0"/>
              <a:t> </a:t>
            </a:r>
            <a:r>
              <a:rPr lang="en-US" sz="2600" dirty="0" err="1"/>
              <a:t>na</a:t>
            </a:r>
            <a:r>
              <a:rPr lang="en-US" sz="2600" dirty="0"/>
              <a:t> </a:t>
            </a:r>
            <a:r>
              <a:rPr lang="en-US" sz="2600" dirty="0" err="1"/>
              <a:t>riječi</a:t>
            </a:r>
            <a:r>
              <a:rPr lang="en-US" sz="2600" dirty="0"/>
              <a:t>, </a:t>
            </a:r>
            <a:r>
              <a:rPr lang="en-US" sz="2600" dirty="0" err="1"/>
              <a:t>ali</a:t>
            </a:r>
            <a:r>
              <a:rPr lang="en-US" sz="2600" dirty="0"/>
              <a:t> ne i </a:t>
            </a:r>
            <a:r>
              <a:rPr lang="en-US" sz="2600" dirty="0" err="1"/>
              <a:t>na</a:t>
            </a:r>
            <a:r>
              <a:rPr lang="en-US" sz="2600" dirty="0"/>
              <a:t> </a:t>
            </a:r>
            <a:r>
              <a:rPr lang="en-US" sz="2600" dirty="0" err="1"/>
              <a:t>emocije</a:t>
            </a:r>
            <a:r>
              <a:rPr lang="en-US" sz="2600" dirty="0"/>
              <a:t>.</a:t>
            </a:r>
            <a:endParaRPr lang="en-US" sz="2600" b="1" dirty="0">
              <a:solidFill>
                <a:srgbClr val="0ADBBC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600" b="1" dirty="0" err="1">
                <a:solidFill>
                  <a:srgbClr val="0ADBBC"/>
                </a:solidFill>
              </a:rPr>
              <a:t>Empatijsko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slušanje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dirty="0"/>
              <a:t>– </a:t>
            </a:r>
            <a:r>
              <a:rPr lang="en-US" sz="2600" dirty="0" err="1"/>
              <a:t>slušanje</a:t>
            </a:r>
            <a:r>
              <a:rPr lang="en-US" sz="2600" dirty="0"/>
              <a:t> s </a:t>
            </a:r>
            <a:r>
              <a:rPr lang="en-US" sz="2600" dirty="0" err="1"/>
              <a:t>namjerom</a:t>
            </a:r>
            <a:r>
              <a:rPr lang="en-US" sz="2600" dirty="0"/>
              <a:t> </a:t>
            </a:r>
            <a:r>
              <a:rPr lang="en-US" sz="2600" b="1" dirty="0" err="1"/>
              <a:t>razumijevanja</a:t>
            </a:r>
            <a:r>
              <a:rPr lang="en-US" sz="2600" dirty="0"/>
              <a:t> (a ne </a:t>
            </a:r>
            <a:r>
              <a:rPr lang="en-US" sz="2600" dirty="0" err="1"/>
              <a:t>odgovaranja</a:t>
            </a:r>
            <a:r>
              <a:rPr lang="en-US" sz="2600" dirty="0"/>
              <a:t>) </a:t>
            </a:r>
            <a:r>
              <a:rPr lang="en-US" sz="2600" dirty="0" err="1"/>
              <a:t>emocija</a:t>
            </a:r>
            <a:r>
              <a:rPr lang="en-US" sz="2600" dirty="0"/>
              <a:t>, </a:t>
            </a:r>
            <a:r>
              <a:rPr lang="en-US" sz="2600" dirty="0" err="1"/>
              <a:t>perspektiva</a:t>
            </a:r>
            <a:r>
              <a:rPr lang="en-US" sz="2600" dirty="0"/>
              <a:t> i </a:t>
            </a:r>
            <a:r>
              <a:rPr lang="en-US" sz="2600" dirty="0" err="1"/>
              <a:t>neizrečenih</a:t>
            </a:r>
            <a:r>
              <a:rPr lang="en-US" sz="2600" dirty="0"/>
              <a:t> </a:t>
            </a:r>
            <a:r>
              <a:rPr lang="en-US" sz="2600" dirty="0" err="1"/>
              <a:t>briga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r>
              <a:rPr lang="en-US" sz="2600" dirty="0">
                <a:cs typeface="Arial" panose="020B0604020202020204" pitchFamily="34" charset="0"/>
              </a:rPr>
              <a:t>	</a:t>
            </a:r>
          </a:p>
          <a:p>
            <a:pPr marL="0" indent="0">
              <a:buNone/>
            </a:pPr>
            <a:r>
              <a:rPr lang="en-US" sz="2600" dirty="0">
                <a:cs typeface="Arial" panose="020B0604020202020204" pitchFamily="34" charset="0"/>
              </a:rPr>
              <a:t>		Stephen Covey, </a:t>
            </a:r>
            <a:r>
              <a:rPr lang="hr-HR" sz="2600" dirty="0">
                <a:cs typeface="Arial" panose="020B0604020202020204" pitchFamily="34" charset="0"/>
              </a:rPr>
              <a:t>u </a:t>
            </a:r>
            <a:r>
              <a:rPr lang="en-US" sz="2600" i="1" dirty="0">
                <a:cs typeface="Arial" panose="020B0604020202020204" pitchFamily="34" charset="0"/>
              </a:rPr>
              <a:t>The 7 Habits of Highly Effective People</a:t>
            </a:r>
            <a:endParaRPr lang="en-US" sz="2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8988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82188-BCA1-9F92-2FF1-B80412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Primjer </a:t>
            </a:r>
            <a:r>
              <a:rPr lang="en-US" sz="3800" dirty="0" err="1"/>
              <a:t>empatijskog</a:t>
            </a:r>
            <a:r>
              <a:rPr lang="en-US" sz="3800" dirty="0"/>
              <a:t> </a:t>
            </a:r>
            <a:r>
              <a:rPr lang="en-US" sz="3800" dirty="0" err="1"/>
              <a:t>slušanja</a:t>
            </a:r>
            <a:r>
              <a:rPr lang="en-US" sz="3800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CCE20-8FBD-DCA2-BBE6-9046E26F0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19" y="18256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>
                <a:cs typeface="Arial" panose="020B0604020202020204" pitchFamily="34" charset="0"/>
              </a:rPr>
              <a:t>Voditelj</a:t>
            </a:r>
            <a:r>
              <a:rPr lang="en-US" sz="2400" dirty="0">
                <a:cs typeface="Arial" panose="020B0604020202020204" pitchFamily="34" charset="0"/>
              </a:rPr>
              <a:t> </a:t>
            </a:r>
            <a:r>
              <a:rPr lang="en-US" sz="2400" dirty="0" err="1">
                <a:cs typeface="Arial" panose="020B0604020202020204" pitchFamily="34" charset="0"/>
              </a:rPr>
              <a:t>projekta</a:t>
            </a:r>
            <a:r>
              <a:rPr lang="en-US" sz="2400" dirty="0">
                <a:cs typeface="Arial" panose="020B0604020202020204" pitchFamily="34" charset="0"/>
              </a:rPr>
              <a:t> </a:t>
            </a:r>
            <a:r>
              <a:rPr lang="en-US" sz="2400" dirty="0" err="1">
                <a:cs typeface="Arial" panose="020B0604020202020204" pitchFamily="34" charset="0"/>
              </a:rPr>
              <a:t>primjećuje</a:t>
            </a:r>
            <a:r>
              <a:rPr lang="en-US" sz="2400" dirty="0">
                <a:cs typeface="Arial" panose="020B0604020202020204" pitchFamily="34" charset="0"/>
              </a:rPr>
              <a:t> da </a:t>
            </a:r>
            <a:r>
              <a:rPr lang="en-US" sz="2400" dirty="0" err="1">
                <a:cs typeface="Arial" panose="020B0604020202020204" pitchFamily="34" charset="0"/>
              </a:rPr>
              <a:t>član</a:t>
            </a:r>
            <a:r>
              <a:rPr lang="en-US" sz="2400" dirty="0">
                <a:cs typeface="Arial" panose="020B0604020202020204" pitchFamily="34" charset="0"/>
              </a:rPr>
              <a:t> </a:t>
            </a:r>
            <a:r>
              <a:rPr lang="en-US" sz="2400" dirty="0" err="1">
                <a:cs typeface="Arial" panose="020B0604020202020204" pitchFamily="34" charset="0"/>
              </a:rPr>
              <a:t>tima</a:t>
            </a:r>
            <a:r>
              <a:rPr lang="en-US" sz="2400" dirty="0">
                <a:cs typeface="Arial" panose="020B0604020202020204" pitchFamily="34" charset="0"/>
              </a:rPr>
              <a:t>, Alex, </a:t>
            </a:r>
            <a:r>
              <a:rPr lang="en-US" sz="2400" dirty="0" err="1">
                <a:cs typeface="Arial" panose="020B0604020202020204" pitchFamily="34" charset="0"/>
              </a:rPr>
              <a:t>propušta</a:t>
            </a:r>
            <a:r>
              <a:rPr lang="en-US" sz="2400" dirty="0">
                <a:cs typeface="Arial" panose="020B0604020202020204" pitchFamily="34" charset="0"/>
              </a:rPr>
              <a:t> </a:t>
            </a:r>
            <a:r>
              <a:rPr lang="en-US" sz="2400" dirty="0" err="1">
                <a:cs typeface="Arial" panose="020B0604020202020204" pitchFamily="34" charset="0"/>
              </a:rPr>
              <a:t>rokove</a:t>
            </a:r>
            <a:r>
              <a:rPr lang="en-US" sz="2400" dirty="0">
                <a:cs typeface="Arial" panose="020B0604020202020204" pitchFamily="34" charset="0"/>
              </a:rPr>
              <a:t> i </a:t>
            </a:r>
            <a:r>
              <a:rPr lang="en-US" sz="2400" dirty="0" err="1">
                <a:cs typeface="Arial" panose="020B0604020202020204" pitchFamily="34" charset="0"/>
              </a:rPr>
              <a:t>djeluje</a:t>
            </a:r>
            <a:r>
              <a:rPr lang="en-US" sz="2400" dirty="0">
                <a:cs typeface="Arial" panose="020B0604020202020204" pitchFamily="34" charset="0"/>
              </a:rPr>
              <a:t> </a:t>
            </a:r>
            <a:r>
              <a:rPr lang="en-US" sz="2400" dirty="0" err="1">
                <a:cs typeface="Arial" panose="020B0604020202020204" pitchFamily="34" charset="0"/>
              </a:rPr>
              <a:t>nezainteresirano</a:t>
            </a:r>
            <a:r>
              <a:rPr lang="en-US" sz="2400" dirty="0"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400" dirty="0" err="1">
                <a:cs typeface="Arial" panose="020B0604020202020204" pitchFamily="34" charset="0"/>
              </a:rPr>
              <a:t>Umjesto</a:t>
            </a:r>
            <a:r>
              <a:rPr lang="en-US" sz="2400" dirty="0">
                <a:cs typeface="Arial" panose="020B0604020202020204" pitchFamily="34" charset="0"/>
              </a:rPr>
              <a:t> da </a:t>
            </a:r>
            <a:r>
              <a:rPr lang="en-US" sz="2400" dirty="0" err="1">
                <a:cs typeface="Arial" panose="020B0604020202020204" pitchFamily="34" charset="0"/>
              </a:rPr>
              <a:t>donosi</a:t>
            </a:r>
            <a:r>
              <a:rPr lang="en-US" sz="2400" dirty="0">
                <a:cs typeface="Arial" panose="020B0604020202020204" pitchFamily="34" charset="0"/>
              </a:rPr>
              <a:t> </a:t>
            </a:r>
            <a:r>
              <a:rPr lang="en-US" sz="2400" dirty="0" err="1">
                <a:cs typeface="Arial" panose="020B0604020202020204" pitchFamily="34" charset="0"/>
              </a:rPr>
              <a:t>preuranjene</a:t>
            </a:r>
            <a:r>
              <a:rPr lang="en-US" sz="2400" dirty="0">
                <a:cs typeface="Arial" panose="020B0604020202020204" pitchFamily="34" charset="0"/>
              </a:rPr>
              <a:t> </a:t>
            </a:r>
            <a:r>
              <a:rPr lang="en-US" sz="2400" dirty="0" err="1">
                <a:cs typeface="Arial" panose="020B0604020202020204" pitchFamily="34" charset="0"/>
              </a:rPr>
              <a:t>zaključke</a:t>
            </a:r>
            <a:r>
              <a:rPr lang="en-US" sz="2400" dirty="0">
                <a:cs typeface="Arial" panose="020B0604020202020204" pitchFamily="34" charset="0"/>
              </a:rPr>
              <a:t>, </a:t>
            </a:r>
            <a:r>
              <a:rPr lang="en-US" sz="2400" dirty="0" err="1">
                <a:cs typeface="Arial" panose="020B0604020202020204" pitchFamily="34" charset="0"/>
              </a:rPr>
              <a:t>voditelj</a:t>
            </a:r>
            <a:r>
              <a:rPr lang="en-US" sz="2400" dirty="0">
                <a:cs typeface="Arial" panose="020B0604020202020204" pitchFamily="34" charset="0"/>
              </a:rPr>
              <a:t> </a:t>
            </a:r>
            <a:r>
              <a:rPr lang="en-US" sz="2400" dirty="0" err="1">
                <a:cs typeface="Arial" panose="020B0604020202020204" pitchFamily="34" charset="0"/>
              </a:rPr>
              <a:t>primjenjuje</a:t>
            </a:r>
            <a:r>
              <a:rPr lang="en-US" sz="2400" dirty="0">
                <a:cs typeface="Arial" panose="020B0604020202020204" pitchFamily="34" charset="0"/>
              </a:rPr>
              <a:t> </a:t>
            </a:r>
            <a:r>
              <a:rPr lang="en-US" sz="2400" dirty="0" err="1">
                <a:cs typeface="Arial" panose="020B0604020202020204" pitchFamily="34" charset="0"/>
              </a:rPr>
              <a:t>Coveyjev</a:t>
            </a:r>
            <a:r>
              <a:rPr lang="en-US" sz="2400" dirty="0">
                <a:cs typeface="Arial" panose="020B0604020202020204" pitchFamily="34" charset="0"/>
              </a:rPr>
              <a:t> </a:t>
            </a:r>
            <a:r>
              <a:rPr lang="en-US" sz="2400" dirty="0" err="1">
                <a:cs typeface="Arial" panose="020B0604020202020204" pitchFamily="34" charset="0"/>
              </a:rPr>
              <a:t>pristup</a:t>
            </a:r>
            <a:r>
              <a:rPr lang="en-US" sz="2400" dirty="0">
                <a:cs typeface="Arial" panose="020B0604020202020204" pitchFamily="34" charset="0"/>
              </a:rPr>
              <a:t> </a:t>
            </a:r>
            <a:r>
              <a:rPr lang="en-US" sz="2400" dirty="0" err="1">
                <a:cs typeface="Arial" panose="020B0604020202020204" pitchFamily="34" charset="0"/>
              </a:rPr>
              <a:t>empatijskog</a:t>
            </a:r>
            <a:r>
              <a:rPr lang="en-US" sz="2400" dirty="0">
                <a:cs typeface="Arial" panose="020B0604020202020204" pitchFamily="34" charset="0"/>
              </a:rPr>
              <a:t> </a:t>
            </a:r>
            <a:r>
              <a:rPr lang="en-US" sz="2400" dirty="0" err="1">
                <a:cs typeface="Arial" panose="020B0604020202020204" pitchFamily="34" charset="0"/>
              </a:rPr>
              <a:t>slušanja</a:t>
            </a:r>
            <a:r>
              <a:rPr lang="en-US" sz="2400" dirty="0"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sz="2600" b="1" dirty="0" err="1">
                <a:solidFill>
                  <a:srgbClr val="0ADBBC"/>
                </a:solidFill>
              </a:rPr>
              <a:t>Postavlja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otvorena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pitanja</a:t>
            </a:r>
            <a:r>
              <a:rPr lang="en-US" sz="2600" b="1" dirty="0">
                <a:solidFill>
                  <a:srgbClr val="0ADBBC"/>
                </a:solidFill>
              </a:rPr>
              <a:t>: </a:t>
            </a:r>
            <a:r>
              <a:rPr lang="en-US" sz="2400" dirty="0"/>
              <a:t>„</a:t>
            </a:r>
            <a:r>
              <a:rPr lang="en-US" sz="2400" dirty="0" err="1"/>
              <a:t>Primijetio</a:t>
            </a:r>
            <a:r>
              <a:rPr lang="en-US" sz="2400" dirty="0"/>
              <a:t>/la </a:t>
            </a:r>
            <a:r>
              <a:rPr lang="en-US" sz="2400" dirty="0" err="1"/>
              <a:t>sam</a:t>
            </a:r>
            <a:r>
              <a:rPr lang="en-US" sz="2400" dirty="0"/>
              <a:t> da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tiši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sastancima</a:t>
            </a:r>
            <a:r>
              <a:rPr lang="en-US" sz="2400" dirty="0"/>
              <a:t>. Ima li </a:t>
            </a:r>
            <a:r>
              <a:rPr lang="en-US" sz="2400" dirty="0" err="1"/>
              <a:t>nešto</a:t>
            </a:r>
            <a:r>
              <a:rPr lang="en-US" sz="2400" dirty="0"/>
              <a:t> </a:t>
            </a:r>
            <a:r>
              <a:rPr lang="en-US" sz="2400" dirty="0" err="1"/>
              <a:t>što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muči</a:t>
            </a:r>
            <a:r>
              <a:rPr lang="en-US" sz="2400" dirty="0"/>
              <a:t>?“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0ADBBC"/>
                </a:solidFill>
              </a:rPr>
              <a:t>Sluša bez </a:t>
            </a:r>
            <a:r>
              <a:rPr lang="en-US" sz="2600" b="1" dirty="0" err="1">
                <a:solidFill>
                  <a:srgbClr val="0ADBBC"/>
                </a:solidFill>
              </a:rPr>
              <a:t>prekidanja</a:t>
            </a:r>
            <a:r>
              <a:rPr lang="en-US" sz="2600" b="1" dirty="0">
                <a:solidFill>
                  <a:srgbClr val="0ADBBC"/>
                </a:solidFill>
              </a:rPr>
              <a:t>, </a:t>
            </a:r>
            <a:r>
              <a:rPr lang="en-US" sz="2400" dirty="0" err="1"/>
              <a:t>obraćajući</a:t>
            </a:r>
            <a:r>
              <a:rPr lang="en-US" sz="2400" dirty="0"/>
              <a:t> </a:t>
            </a:r>
            <a:r>
              <a:rPr lang="en-US" sz="2400" dirty="0" err="1"/>
              <a:t>pažnju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emocije</a:t>
            </a:r>
            <a:r>
              <a:rPr lang="en-US" sz="2400" dirty="0"/>
              <a:t> </a:t>
            </a:r>
            <a:r>
              <a:rPr lang="en-US" sz="2400" dirty="0" err="1"/>
              <a:t>iza</a:t>
            </a:r>
            <a:r>
              <a:rPr lang="en-US" sz="2400" dirty="0"/>
              <a:t> </a:t>
            </a:r>
            <a:r>
              <a:rPr lang="en-US" sz="2400" dirty="0" err="1"/>
              <a:t>izgovorenih</a:t>
            </a:r>
            <a:r>
              <a:rPr lang="en-US" sz="2400" dirty="0"/>
              <a:t> </a:t>
            </a:r>
            <a:r>
              <a:rPr lang="en-US" sz="2400" dirty="0" err="1"/>
              <a:t>riječi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600" b="1" dirty="0" err="1">
                <a:solidFill>
                  <a:srgbClr val="0ADBBC"/>
                </a:solidFill>
              </a:rPr>
              <a:t>Reflektira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osjećaje</a:t>
            </a:r>
            <a:r>
              <a:rPr lang="en-US" sz="2600" b="1" dirty="0">
                <a:solidFill>
                  <a:srgbClr val="0ADBBC"/>
                </a:solidFill>
              </a:rPr>
              <a:t>: </a:t>
            </a:r>
            <a:r>
              <a:rPr lang="en-US" sz="2400" dirty="0"/>
              <a:t>„</a:t>
            </a:r>
            <a:r>
              <a:rPr lang="en-US" sz="2400" dirty="0" err="1"/>
              <a:t>Zvuči</a:t>
            </a:r>
            <a:r>
              <a:rPr lang="en-US" sz="2400" dirty="0"/>
              <a:t> </a:t>
            </a:r>
            <a:r>
              <a:rPr lang="en-US" sz="2400" dirty="0" err="1"/>
              <a:t>kao</a:t>
            </a:r>
            <a:r>
              <a:rPr lang="en-US" sz="2400" dirty="0"/>
              <a:t> da se </a:t>
            </a:r>
            <a:r>
              <a:rPr lang="en-US" sz="2400" dirty="0" err="1"/>
              <a:t>osjećaš</a:t>
            </a:r>
            <a:r>
              <a:rPr lang="en-US" sz="2400" dirty="0"/>
              <a:t> </a:t>
            </a:r>
            <a:r>
              <a:rPr lang="en-US" sz="2400" dirty="0" err="1"/>
              <a:t>preopterećeno</a:t>
            </a:r>
            <a:r>
              <a:rPr lang="en-US" sz="2400" dirty="0"/>
              <a:t> </a:t>
            </a:r>
            <a:r>
              <a:rPr lang="en-US" sz="2400" dirty="0" err="1"/>
              <a:t>količinom</a:t>
            </a:r>
            <a:r>
              <a:rPr lang="en-US" sz="2400" dirty="0"/>
              <a:t> </a:t>
            </a:r>
            <a:r>
              <a:rPr lang="en-US" sz="2400" dirty="0" err="1"/>
              <a:t>posla</a:t>
            </a:r>
            <a:r>
              <a:rPr lang="en-US" sz="2400" dirty="0"/>
              <a:t>.“</a:t>
            </a:r>
          </a:p>
          <a:p>
            <a:pPr marL="0" indent="0">
              <a:buNone/>
            </a:pPr>
            <a:r>
              <a:rPr lang="en-US" sz="2600" b="1" dirty="0" err="1">
                <a:solidFill>
                  <a:srgbClr val="0ADBBC"/>
                </a:solidFill>
              </a:rPr>
              <a:t>Potvrđuje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razumijevanje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400" dirty="0" err="1"/>
              <a:t>prije</a:t>
            </a:r>
            <a:r>
              <a:rPr lang="en-US" sz="2400" dirty="0"/>
              <a:t> </a:t>
            </a:r>
            <a:r>
              <a:rPr lang="en-US" sz="2400" dirty="0" err="1"/>
              <a:t>nego</a:t>
            </a:r>
            <a:r>
              <a:rPr lang="en-US" sz="2400" dirty="0"/>
              <a:t> </a:t>
            </a:r>
            <a:r>
              <a:rPr lang="en-US" sz="2400" dirty="0" err="1"/>
              <a:t>što</a:t>
            </a:r>
            <a:r>
              <a:rPr lang="en-US" sz="2400" dirty="0"/>
              <a:t> </a:t>
            </a:r>
            <a:r>
              <a:rPr lang="en-US" sz="2400" dirty="0" err="1"/>
              <a:t>ponudi</a:t>
            </a:r>
            <a:r>
              <a:rPr lang="en-US" sz="2400" dirty="0"/>
              <a:t> </a:t>
            </a:r>
            <a:r>
              <a:rPr lang="en-US" sz="2400" dirty="0" err="1"/>
              <a:t>rješenja</a:t>
            </a:r>
            <a:r>
              <a:rPr lang="en-US" sz="2400" dirty="0"/>
              <a:t>: „</a:t>
            </a:r>
            <a:r>
              <a:rPr lang="en-US" sz="2400" dirty="0" err="1"/>
              <a:t>Cijenim</a:t>
            </a:r>
            <a:r>
              <a:rPr lang="en-US" sz="2400" dirty="0"/>
              <a:t> </a:t>
            </a:r>
            <a:r>
              <a:rPr lang="en-US" sz="2400" dirty="0" err="1"/>
              <a:t>što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to </a:t>
            </a:r>
            <a:r>
              <a:rPr lang="en-US" sz="2400" dirty="0" err="1"/>
              <a:t>podijelio</a:t>
            </a:r>
            <a:r>
              <a:rPr lang="en-US" sz="2400" dirty="0"/>
              <a:t>/la. </a:t>
            </a:r>
            <a:r>
              <a:rPr lang="en-US" sz="2400" dirty="0" err="1"/>
              <a:t>Hajdemo</a:t>
            </a:r>
            <a:r>
              <a:rPr lang="en-US" sz="2400" dirty="0"/>
              <a:t> </a:t>
            </a:r>
            <a:r>
              <a:rPr lang="en-US" sz="2400" dirty="0" err="1"/>
              <a:t>zajedno</a:t>
            </a:r>
            <a:r>
              <a:rPr lang="en-US" sz="2400" dirty="0"/>
              <a:t> </a:t>
            </a:r>
            <a:r>
              <a:rPr lang="en-US" sz="2400" dirty="0" err="1"/>
              <a:t>prilagoditi</a:t>
            </a:r>
            <a:r>
              <a:rPr lang="en-US" sz="2400" dirty="0"/>
              <a:t> </a:t>
            </a:r>
            <a:r>
              <a:rPr lang="en-US" sz="2400" dirty="0" err="1"/>
              <a:t>tvoje</a:t>
            </a:r>
            <a:r>
              <a:rPr lang="en-US" sz="2400" dirty="0"/>
              <a:t> </a:t>
            </a:r>
            <a:r>
              <a:rPr lang="en-US" sz="2400" dirty="0" err="1"/>
              <a:t>zadatke</a:t>
            </a:r>
            <a:r>
              <a:rPr lang="en-US" sz="2400" dirty="0"/>
              <a:t>.“</a:t>
            </a:r>
          </a:p>
        </p:txBody>
      </p:sp>
    </p:spTree>
    <p:extLst>
      <p:ext uri="{BB962C8B-B14F-4D97-AF65-F5344CB8AC3E}">
        <p14:creationId xmlns:p14="http://schemas.microsoft.com/office/powerpoint/2010/main" val="6228247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F48A5-C540-37AB-0DD9-83988F05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588"/>
            <a:ext cx="10515600" cy="1325563"/>
          </a:xfrm>
        </p:spPr>
        <p:txBody>
          <a:bodyPr>
            <a:normAutofit/>
          </a:bodyPr>
          <a:lstStyle/>
          <a:p>
            <a:r>
              <a:rPr lang="pl-PL" sz="3800" dirty="0"/>
              <a:t>Važnost povratne informacije u projektnim okruženjima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CC23A-BC48-1435-B32C-D53E48381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47" y="195088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err="1">
                <a:cs typeface="Arial" panose="020B0604020202020204" pitchFamily="34" charset="0"/>
              </a:rPr>
              <a:t>Povratna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informacija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ključna</a:t>
            </a:r>
            <a:r>
              <a:rPr lang="en-US" dirty="0">
                <a:cs typeface="Arial" panose="020B0604020202020204" pitchFamily="34" charset="0"/>
              </a:rPr>
              <a:t> je u </a:t>
            </a:r>
            <a:r>
              <a:rPr lang="en-US" dirty="0" err="1">
                <a:cs typeface="Arial" panose="020B0604020202020204" pitchFamily="34" charset="0"/>
              </a:rPr>
              <a:t>projektnom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okruženju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jer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b="1" dirty="0" err="1">
                <a:cs typeface="Arial" panose="020B0604020202020204" pitchFamily="34" charset="0"/>
              </a:rPr>
              <a:t>potiče</a:t>
            </a:r>
            <a:r>
              <a:rPr lang="en-US" b="1" dirty="0">
                <a:cs typeface="Arial" panose="020B0604020202020204" pitchFamily="34" charset="0"/>
              </a:rPr>
              <a:t> </a:t>
            </a:r>
            <a:r>
              <a:rPr lang="en-US" b="1" dirty="0" err="1">
                <a:cs typeface="Arial" panose="020B0604020202020204" pitchFamily="34" charset="0"/>
              </a:rPr>
              <a:t>unapređenje</a:t>
            </a:r>
            <a:r>
              <a:rPr lang="en-US" b="1" dirty="0">
                <a:cs typeface="Arial" panose="020B0604020202020204" pitchFamily="34" charset="0"/>
              </a:rPr>
              <a:t>, </a:t>
            </a:r>
            <a:r>
              <a:rPr lang="en-US" b="1" dirty="0" err="1">
                <a:cs typeface="Arial" panose="020B0604020202020204" pitchFamily="34" charset="0"/>
              </a:rPr>
              <a:t>jača</a:t>
            </a:r>
            <a:r>
              <a:rPr lang="en-US" b="1" dirty="0">
                <a:cs typeface="Arial" panose="020B0604020202020204" pitchFamily="34" charset="0"/>
              </a:rPr>
              <a:t> </a:t>
            </a:r>
            <a:r>
              <a:rPr lang="en-US" b="1" dirty="0" err="1">
                <a:cs typeface="Arial" panose="020B0604020202020204" pitchFamily="34" charset="0"/>
              </a:rPr>
              <a:t>timski</a:t>
            </a:r>
            <a:r>
              <a:rPr lang="en-US" b="1" dirty="0">
                <a:cs typeface="Arial" panose="020B0604020202020204" pitchFamily="34" charset="0"/>
              </a:rPr>
              <a:t> rad i </a:t>
            </a:r>
            <a:r>
              <a:rPr lang="en-US" b="1" dirty="0" err="1">
                <a:cs typeface="Arial" panose="020B0604020202020204" pitchFamily="34" charset="0"/>
              </a:rPr>
              <a:t>osigurava</a:t>
            </a:r>
            <a:r>
              <a:rPr lang="en-US" b="1" dirty="0">
                <a:cs typeface="Arial" panose="020B0604020202020204" pitchFamily="34" charset="0"/>
              </a:rPr>
              <a:t> </a:t>
            </a:r>
            <a:r>
              <a:rPr lang="en-US" b="1" dirty="0" err="1">
                <a:cs typeface="Arial" panose="020B0604020202020204" pitchFamily="34" charset="0"/>
              </a:rPr>
              <a:t>uspjeh</a:t>
            </a:r>
            <a:r>
              <a:rPr lang="en-US" b="1" dirty="0">
                <a:cs typeface="Arial" panose="020B0604020202020204" pitchFamily="34" charset="0"/>
              </a:rPr>
              <a:t> </a:t>
            </a:r>
            <a:r>
              <a:rPr lang="en-US" b="1" dirty="0" err="1">
                <a:cs typeface="Arial" panose="020B0604020202020204" pitchFamily="34" charset="0"/>
              </a:rPr>
              <a:t>projekta</a:t>
            </a:r>
            <a:r>
              <a:rPr lang="en-US" dirty="0"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err="1">
                <a:cs typeface="Arial" panose="020B0604020202020204" pitchFamily="34" charset="0"/>
              </a:rPr>
              <a:t>Snažna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kultura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povratne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informacije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dovodi</a:t>
            </a:r>
            <a:r>
              <a:rPr lang="en-US" dirty="0">
                <a:cs typeface="Arial" panose="020B0604020202020204" pitchFamily="34" charset="0"/>
              </a:rPr>
              <a:t> do:</a:t>
            </a:r>
          </a:p>
          <a:p>
            <a:pPr marL="0" indent="0">
              <a:buNone/>
            </a:pPr>
            <a:r>
              <a:rPr lang="hr-HR" b="1" dirty="0">
                <a:cs typeface="Arial" panose="020B0604020202020204" pitchFamily="34" charset="0"/>
              </a:rPr>
              <a:t>- </a:t>
            </a:r>
            <a:r>
              <a:rPr lang="en-US" b="1" dirty="0" err="1">
                <a:cs typeface="Arial" panose="020B0604020202020204" pitchFamily="34" charset="0"/>
              </a:rPr>
              <a:t>veće</a:t>
            </a:r>
            <a:r>
              <a:rPr lang="en-US" b="1" dirty="0">
                <a:cs typeface="Arial" panose="020B0604020202020204" pitchFamily="34" charset="0"/>
              </a:rPr>
              <a:t> </a:t>
            </a:r>
            <a:r>
              <a:rPr lang="en-US" b="1" dirty="0" err="1">
                <a:cs typeface="Arial" panose="020B0604020202020204" pitchFamily="34" charset="0"/>
              </a:rPr>
              <a:t>učinkovitosti</a:t>
            </a:r>
            <a:r>
              <a:rPr lang="en-US" b="1" dirty="0">
                <a:cs typeface="Arial" panose="020B0604020202020204" pitchFamily="34" charset="0"/>
              </a:rPr>
              <a:t>,</a:t>
            </a:r>
          </a:p>
          <a:p>
            <a:pPr marL="0" indent="0">
              <a:buNone/>
            </a:pPr>
            <a:r>
              <a:rPr lang="hr-HR" b="1" dirty="0">
                <a:cs typeface="Arial" panose="020B0604020202020204" pitchFamily="34" charset="0"/>
              </a:rPr>
              <a:t>- </a:t>
            </a:r>
            <a:r>
              <a:rPr lang="en-US" b="1" dirty="0" err="1">
                <a:cs typeface="Arial" panose="020B0604020202020204" pitchFamily="34" charset="0"/>
              </a:rPr>
              <a:t>inovacija</a:t>
            </a:r>
            <a:r>
              <a:rPr lang="en-US" b="1" dirty="0">
                <a:cs typeface="Arial" panose="020B0604020202020204" pitchFamily="34" charset="0"/>
              </a:rPr>
              <a:t> i</a:t>
            </a:r>
          </a:p>
          <a:p>
            <a:pPr marL="0" indent="0">
              <a:buNone/>
            </a:pPr>
            <a:r>
              <a:rPr lang="hr-HR" b="1" dirty="0">
                <a:cs typeface="Arial" panose="020B0604020202020204" pitchFamily="34" charset="0"/>
              </a:rPr>
              <a:t>- </a:t>
            </a:r>
            <a:r>
              <a:rPr lang="en-US" b="1" dirty="0" err="1">
                <a:cs typeface="Arial" panose="020B0604020202020204" pitchFamily="34" charset="0"/>
              </a:rPr>
              <a:t>zadovoljstva</a:t>
            </a:r>
            <a:r>
              <a:rPr lang="en-US" b="1" dirty="0">
                <a:cs typeface="Arial" panose="020B0604020202020204" pitchFamily="34" charset="0"/>
              </a:rPr>
              <a:t> </a:t>
            </a:r>
            <a:r>
              <a:rPr lang="en-US" b="1" dirty="0" err="1">
                <a:cs typeface="Arial" panose="020B0604020202020204" pitchFamily="34" charset="0"/>
              </a:rPr>
              <a:t>tima</a:t>
            </a:r>
            <a:r>
              <a:rPr lang="en-US" dirty="0"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02605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9D61F-5061-69A3-4234-C931E13AA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6FC5C-43EE-EA43-C688-1DC66D4E6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377" y="115614"/>
            <a:ext cx="10515600" cy="1325563"/>
          </a:xfrm>
        </p:spPr>
        <p:txBody>
          <a:bodyPr>
            <a:normAutofit/>
          </a:bodyPr>
          <a:lstStyle/>
          <a:p>
            <a:r>
              <a:rPr lang="pl-PL" sz="3800" dirty="0"/>
              <a:t>Važnost povratne informacije u projektnim okruženjima</a:t>
            </a: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B33E0-9FF5-ED67-821E-E402AB972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974" y="1728266"/>
            <a:ext cx="11074051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dirty="0">
                <a:cs typeface="Arial" panose="020B0604020202020204" pitchFamily="34" charset="0"/>
              </a:rPr>
              <a:t>1. </a:t>
            </a:r>
            <a:r>
              <a:rPr lang="en-US" sz="2600" b="1" dirty="0" err="1">
                <a:solidFill>
                  <a:srgbClr val="0ADBBC"/>
                </a:solidFill>
                <a:cs typeface="Arial" panose="020B0604020202020204" pitchFamily="34" charset="0"/>
              </a:rPr>
              <a:t>Poboljšava</a:t>
            </a:r>
            <a:r>
              <a:rPr lang="en-US" sz="2600" b="1" dirty="0">
                <a:solidFill>
                  <a:srgbClr val="0ADBBC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ADBBC"/>
                </a:solidFill>
                <a:cs typeface="Arial" panose="020B0604020202020204" pitchFamily="34" charset="0"/>
              </a:rPr>
              <a:t>učinkovitost</a:t>
            </a:r>
            <a:r>
              <a:rPr lang="en-US" sz="2600" b="1" dirty="0">
                <a:solidFill>
                  <a:srgbClr val="0ADBBC"/>
                </a:solidFill>
                <a:cs typeface="Arial" panose="020B0604020202020204" pitchFamily="34" charset="0"/>
              </a:rPr>
              <a:t> i </a:t>
            </a:r>
            <a:r>
              <a:rPr lang="en-US" sz="2600" b="1" dirty="0" err="1">
                <a:solidFill>
                  <a:srgbClr val="0ADBBC"/>
                </a:solidFill>
                <a:cs typeface="Arial" panose="020B0604020202020204" pitchFamily="34" charset="0"/>
              </a:rPr>
              <a:t>produktivnost</a:t>
            </a:r>
            <a:endParaRPr lang="en-US" sz="2600" b="1" dirty="0">
              <a:solidFill>
                <a:srgbClr val="0ADBBC"/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r-HR" sz="2600" dirty="0">
                <a:cs typeface="Arial" panose="020B0604020202020204" pitchFamily="34" charset="0"/>
              </a:rPr>
              <a:t>- </a:t>
            </a:r>
            <a:r>
              <a:rPr lang="en-US" sz="2600" dirty="0" err="1">
                <a:cs typeface="Arial" panose="020B0604020202020204" pitchFamily="34" charset="0"/>
              </a:rPr>
              <a:t>Pomaže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članovima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tima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prepoznati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snage</a:t>
            </a:r>
            <a:r>
              <a:rPr lang="en-US" sz="2600" dirty="0">
                <a:cs typeface="Arial" panose="020B0604020202020204" pitchFamily="34" charset="0"/>
              </a:rPr>
              <a:t> i </a:t>
            </a:r>
            <a:r>
              <a:rPr lang="en-US" sz="2600" dirty="0" err="1">
                <a:cs typeface="Arial" panose="020B0604020202020204" pitchFamily="34" charset="0"/>
              </a:rPr>
              <a:t>područja</a:t>
            </a:r>
            <a:r>
              <a:rPr lang="en-US" sz="2600" dirty="0">
                <a:cs typeface="Arial" panose="020B0604020202020204" pitchFamily="34" charset="0"/>
              </a:rPr>
              <a:t> za </a:t>
            </a:r>
            <a:r>
              <a:rPr lang="en-US" sz="2600" dirty="0" err="1">
                <a:cs typeface="Arial" panose="020B0604020202020204" pitchFamily="34" charset="0"/>
              </a:rPr>
              <a:t>poboljšanje</a:t>
            </a:r>
            <a:r>
              <a:rPr lang="en-US" sz="2600" dirty="0"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hr-HR" sz="2600" dirty="0">
                <a:cs typeface="Arial" panose="020B0604020202020204" pitchFamily="34" charset="0"/>
              </a:rPr>
              <a:t>- </a:t>
            </a:r>
            <a:r>
              <a:rPr lang="en-US" sz="2600" dirty="0" err="1">
                <a:cs typeface="Arial" panose="020B0604020202020204" pitchFamily="34" charset="0"/>
              </a:rPr>
              <a:t>Potiče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odgovornost</a:t>
            </a:r>
            <a:r>
              <a:rPr lang="en-US" sz="2600" dirty="0">
                <a:cs typeface="Arial" panose="020B0604020202020204" pitchFamily="34" charset="0"/>
              </a:rPr>
              <a:t> i </a:t>
            </a:r>
            <a:r>
              <a:rPr lang="en-US" sz="2600" dirty="0" err="1">
                <a:cs typeface="Arial" panose="020B0604020202020204" pitchFamily="34" charset="0"/>
              </a:rPr>
              <a:t>motivaciju</a:t>
            </a:r>
            <a:r>
              <a:rPr lang="en-US" sz="2600" dirty="0">
                <a:cs typeface="Arial" panose="020B0604020202020204" pitchFamily="34" charset="0"/>
              </a:rPr>
              <a:t> za </a:t>
            </a:r>
            <a:r>
              <a:rPr lang="en-US" sz="2600" dirty="0" err="1">
                <a:cs typeface="Arial" panose="020B0604020202020204" pitchFamily="34" charset="0"/>
              </a:rPr>
              <a:t>isporuku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kvalitetnog</a:t>
            </a:r>
            <a:r>
              <a:rPr lang="en-US" sz="2600" dirty="0">
                <a:cs typeface="Arial" panose="020B0604020202020204" pitchFamily="34" charset="0"/>
              </a:rPr>
              <a:t> rada.</a:t>
            </a:r>
          </a:p>
          <a:p>
            <a:pPr marL="0" indent="0">
              <a:buNone/>
            </a:pPr>
            <a:r>
              <a:rPr lang="en-US" sz="2600" b="1" dirty="0">
                <a:cs typeface="Arial" panose="020B0604020202020204" pitchFamily="34" charset="0"/>
              </a:rPr>
              <a:t>2. </a:t>
            </a:r>
            <a:r>
              <a:rPr lang="en-US" sz="2600" b="1" dirty="0" err="1">
                <a:solidFill>
                  <a:srgbClr val="0ADBBC"/>
                </a:solidFill>
                <a:cs typeface="Arial" panose="020B0604020202020204" pitchFamily="34" charset="0"/>
              </a:rPr>
              <a:t>Unapređuje</a:t>
            </a:r>
            <a:r>
              <a:rPr lang="en-US" sz="2600" b="1" dirty="0">
                <a:solidFill>
                  <a:srgbClr val="0ADBBC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ADBBC"/>
                </a:solidFill>
                <a:cs typeface="Arial" panose="020B0604020202020204" pitchFamily="34" charset="0"/>
              </a:rPr>
              <a:t>komunikaciju</a:t>
            </a:r>
            <a:r>
              <a:rPr lang="en-US" sz="2600" b="1" dirty="0">
                <a:solidFill>
                  <a:srgbClr val="0ADBBC"/>
                </a:solidFill>
                <a:cs typeface="Arial" panose="020B0604020202020204" pitchFamily="34" charset="0"/>
              </a:rPr>
              <a:t> i </a:t>
            </a:r>
            <a:r>
              <a:rPr lang="en-US" sz="2600" b="1" dirty="0" err="1">
                <a:solidFill>
                  <a:srgbClr val="0ADBBC"/>
                </a:solidFill>
                <a:cs typeface="Arial" panose="020B0604020202020204" pitchFamily="34" charset="0"/>
              </a:rPr>
              <a:t>suradnju</a:t>
            </a:r>
            <a:endParaRPr lang="en-US" sz="2600" b="1" dirty="0">
              <a:solidFill>
                <a:srgbClr val="0ADBBC"/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r-HR" sz="2600" dirty="0">
                <a:cs typeface="Arial" panose="020B0604020202020204" pitchFamily="34" charset="0"/>
              </a:rPr>
              <a:t>- </a:t>
            </a:r>
            <a:r>
              <a:rPr lang="en-US" sz="2600" dirty="0" err="1">
                <a:cs typeface="Arial" panose="020B0604020202020204" pitchFamily="34" charset="0"/>
              </a:rPr>
              <a:t>Potiče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otvoren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dijalog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između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članova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tima</a:t>
            </a:r>
            <a:r>
              <a:rPr lang="en-US" sz="2600" dirty="0">
                <a:cs typeface="Arial" panose="020B0604020202020204" pitchFamily="34" charset="0"/>
              </a:rPr>
              <a:t> i </a:t>
            </a:r>
            <a:r>
              <a:rPr lang="en-US" sz="2600" dirty="0" err="1">
                <a:cs typeface="Arial" panose="020B0604020202020204" pitchFamily="34" charset="0"/>
              </a:rPr>
              <a:t>dionika</a:t>
            </a:r>
            <a:r>
              <a:rPr lang="en-US" sz="2600" dirty="0"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hr-HR" sz="2600" dirty="0">
                <a:cs typeface="Arial" panose="020B0604020202020204" pitchFamily="34" charset="0"/>
              </a:rPr>
              <a:t>- </a:t>
            </a:r>
            <a:r>
              <a:rPr lang="en-US" sz="2600" dirty="0" err="1">
                <a:cs typeface="Arial" panose="020B0604020202020204" pitchFamily="34" charset="0"/>
              </a:rPr>
              <a:t>Sprječava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nesporazume</a:t>
            </a:r>
            <a:r>
              <a:rPr lang="en-US" sz="2600" dirty="0">
                <a:cs typeface="Arial" panose="020B0604020202020204" pitchFamily="34" charset="0"/>
              </a:rPr>
              <a:t> i </a:t>
            </a:r>
            <a:r>
              <a:rPr lang="en-US" sz="2600" dirty="0" err="1">
                <a:cs typeface="Arial" panose="020B0604020202020204" pitchFamily="34" charset="0"/>
              </a:rPr>
              <a:t>osigurava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usklađenost</a:t>
            </a:r>
            <a:r>
              <a:rPr lang="en-US" sz="2600" dirty="0">
                <a:cs typeface="Arial" panose="020B0604020202020204" pitchFamily="34" charset="0"/>
              </a:rPr>
              <a:t> s </a:t>
            </a:r>
            <a:r>
              <a:rPr lang="en-US" sz="2600" dirty="0" err="1">
                <a:cs typeface="Arial" panose="020B0604020202020204" pitchFamily="34" charset="0"/>
              </a:rPr>
              <a:t>ciljevima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projekta</a:t>
            </a:r>
            <a:r>
              <a:rPr lang="en-US" sz="2600" dirty="0"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600" b="1" dirty="0">
                <a:cs typeface="Arial" panose="020B0604020202020204" pitchFamily="34" charset="0"/>
              </a:rPr>
              <a:t>3. </a:t>
            </a:r>
            <a:r>
              <a:rPr lang="en-US" sz="2600" b="1" dirty="0" err="1">
                <a:solidFill>
                  <a:srgbClr val="0ADBBC"/>
                </a:solidFill>
                <a:cs typeface="Arial" panose="020B0604020202020204" pitchFamily="34" charset="0"/>
              </a:rPr>
              <a:t>Podržava</a:t>
            </a:r>
            <a:r>
              <a:rPr lang="en-US" sz="2600" b="1" dirty="0">
                <a:solidFill>
                  <a:srgbClr val="0ADBBC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ADBBC"/>
                </a:solidFill>
                <a:cs typeface="Arial" panose="020B0604020202020204" pitchFamily="34" charset="0"/>
              </a:rPr>
              <a:t>kontinuirano</a:t>
            </a:r>
            <a:r>
              <a:rPr lang="en-US" sz="2600" b="1" dirty="0">
                <a:solidFill>
                  <a:srgbClr val="0ADBBC"/>
                </a:solidFill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ADBBC"/>
                </a:solidFill>
                <a:cs typeface="Arial" panose="020B0604020202020204" pitchFamily="34" charset="0"/>
              </a:rPr>
              <a:t>unapređenje</a:t>
            </a:r>
            <a:r>
              <a:rPr lang="en-US" sz="2600" b="1" dirty="0">
                <a:solidFill>
                  <a:srgbClr val="0ADBBC"/>
                </a:solidFill>
                <a:cs typeface="Arial" panose="020B0604020202020204" pitchFamily="34" charset="0"/>
              </a:rPr>
              <a:t> i </a:t>
            </a:r>
            <a:r>
              <a:rPr lang="en-US" sz="2600" b="1" dirty="0" err="1">
                <a:solidFill>
                  <a:srgbClr val="0ADBBC"/>
                </a:solidFill>
                <a:cs typeface="Arial" panose="020B0604020202020204" pitchFamily="34" charset="0"/>
              </a:rPr>
              <a:t>inovacije</a:t>
            </a:r>
            <a:endParaRPr lang="en-US" sz="2600" b="1" dirty="0">
              <a:solidFill>
                <a:srgbClr val="0ADBBC"/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r-HR" sz="2600" dirty="0">
                <a:cs typeface="Arial" panose="020B0604020202020204" pitchFamily="34" charset="0"/>
              </a:rPr>
              <a:t>- </a:t>
            </a:r>
            <a:r>
              <a:rPr lang="en-US" sz="2600" dirty="0" err="1">
                <a:cs typeface="Arial" panose="020B0604020202020204" pitchFamily="34" charset="0"/>
              </a:rPr>
              <a:t>Pomaže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timovima</a:t>
            </a:r>
            <a:r>
              <a:rPr lang="en-US" sz="2600" dirty="0">
                <a:cs typeface="Arial" panose="020B0604020202020204" pitchFamily="34" charset="0"/>
              </a:rPr>
              <a:t> da se </a:t>
            </a:r>
            <a:r>
              <a:rPr lang="en-US" sz="2600" dirty="0" err="1">
                <a:cs typeface="Arial" panose="020B0604020202020204" pitchFamily="34" charset="0"/>
              </a:rPr>
              <a:t>prilagode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izazovima</a:t>
            </a:r>
            <a:r>
              <a:rPr lang="en-US" sz="2600" dirty="0">
                <a:cs typeface="Arial" panose="020B0604020202020204" pitchFamily="34" charset="0"/>
              </a:rPr>
              <a:t> i </a:t>
            </a:r>
            <a:r>
              <a:rPr lang="en-US" sz="2600" dirty="0" err="1">
                <a:cs typeface="Arial" panose="020B0604020202020204" pitchFamily="34" charset="0"/>
              </a:rPr>
              <a:t>unaprijede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procese</a:t>
            </a:r>
            <a:r>
              <a:rPr lang="en-US" sz="2600" dirty="0"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hr-HR" sz="2600" dirty="0">
                <a:cs typeface="Arial" panose="020B0604020202020204" pitchFamily="34" charset="0"/>
              </a:rPr>
              <a:t>- </a:t>
            </a:r>
            <a:r>
              <a:rPr lang="en-US" sz="2600" dirty="0" err="1">
                <a:cs typeface="Arial" panose="020B0604020202020204" pitchFamily="34" charset="0"/>
              </a:rPr>
              <a:t>Potiče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eksperimentiranje</a:t>
            </a:r>
            <a:r>
              <a:rPr lang="en-US" sz="2600" dirty="0">
                <a:cs typeface="Arial" panose="020B0604020202020204" pitchFamily="34" charset="0"/>
              </a:rPr>
              <a:t> i </a:t>
            </a:r>
            <a:r>
              <a:rPr lang="en-US" sz="2600" dirty="0" err="1">
                <a:cs typeface="Arial" panose="020B0604020202020204" pitchFamily="34" charset="0"/>
              </a:rPr>
              <a:t>učenje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iz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pogrešaka</a:t>
            </a:r>
            <a:r>
              <a:rPr lang="en-US" sz="2600" dirty="0"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sz="2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9981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5DC89-692C-B831-9F20-3337C7498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67C4E-5A07-D6AA-2BBC-301126412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247" y="202286"/>
            <a:ext cx="10515600" cy="1325563"/>
          </a:xfrm>
        </p:spPr>
        <p:txBody>
          <a:bodyPr>
            <a:normAutofit/>
          </a:bodyPr>
          <a:lstStyle/>
          <a:p>
            <a:r>
              <a:rPr lang="pl-PL" sz="3800" dirty="0"/>
              <a:t>Važnost povratne informacije u projektnim okruženjima</a:t>
            </a: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223A7-ED80-BD3A-5A17-F7857616F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7" y="1863203"/>
            <a:ext cx="1114920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cs typeface="Arial" panose="020B0604020202020204" pitchFamily="34" charset="0"/>
              </a:rPr>
              <a:t>4. </a:t>
            </a:r>
            <a:r>
              <a:rPr lang="en-US" b="1" dirty="0">
                <a:solidFill>
                  <a:srgbClr val="0ADBBC"/>
                </a:solidFill>
                <a:cs typeface="Arial" panose="020B0604020202020204" pitchFamily="34" charset="0"/>
              </a:rPr>
              <a:t>Gradi </a:t>
            </a:r>
            <a:r>
              <a:rPr lang="en-US" b="1" dirty="0" err="1">
                <a:solidFill>
                  <a:srgbClr val="0ADBBC"/>
                </a:solidFill>
                <a:cs typeface="Arial" panose="020B0604020202020204" pitchFamily="34" charset="0"/>
              </a:rPr>
              <a:t>povjerenje</a:t>
            </a:r>
            <a:r>
              <a:rPr lang="en-US" b="1" dirty="0">
                <a:solidFill>
                  <a:srgbClr val="0ADBBC"/>
                </a:solidFill>
                <a:cs typeface="Arial" panose="020B0604020202020204" pitchFamily="34" charset="0"/>
              </a:rPr>
              <a:t> i </a:t>
            </a:r>
            <a:r>
              <a:rPr lang="en-US" b="1" dirty="0" err="1">
                <a:solidFill>
                  <a:srgbClr val="0ADBBC"/>
                </a:solidFill>
                <a:cs typeface="Arial" panose="020B0604020202020204" pitchFamily="34" charset="0"/>
              </a:rPr>
              <a:t>angažman</a:t>
            </a:r>
            <a:endParaRPr lang="hr-HR" b="1" dirty="0">
              <a:solidFill>
                <a:srgbClr val="0ADBBC"/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r-HR" dirty="0">
                <a:cs typeface="Arial" panose="020B0604020202020204" pitchFamily="34" charset="0"/>
              </a:rPr>
              <a:t>- </a:t>
            </a:r>
            <a:r>
              <a:rPr lang="en-US" dirty="0" err="1">
                <a:cs typeface="Arial" panose="020B0604020202020204" pitchFamily="34" charset="0"/>
              </a:rPr>
              <a:t>Redovita</a:t>
            </a:r>
            <a:r>
              <a:rPr lang="en-US" dirty="0">
                <a:cs typeface="Arial" panose="020B0604020202020204" pitchFamily="34" charset="0"/>
              </a:rPr>
              <a:t> i </a:t>
            </a:r>
            <a:r>
              <a:rPr lang="en-US" dirty="0" err="1">
                <a:cs typeface="Arial" panose="020B0604020202020204" pitchFamily="34" charset="0"/>
              </a:rPr>
              <a:t>pravedna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povratna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informacija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stvara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kulturu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transparentnosti</a:t>
            </a:r>
            <a:r>
              <a:rPr lang="en-US" dirty="0">
                <a:cs typeface="Arial" panose="020B0604020202020204" pitchFamily="34" charset="0"/>
              </a:rPr>
              <a:t> i </a:t>
            </a:r>
            <a:r>
              <a:rPr lang="en-US" dirty="0" err="1">
                <a:cs typeface="Arial" panose="020B0604020202020204" pitchFamily="34" charset="0"/>
              </a:rPr>
              <a:t>međusobnog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poštovanja</a:t>
            </a:r>
            <a:r>
              <a:rPr lang="en-US" dirty="0"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hr-HR" dirty="0">
                <a:cs typeface="Arial" panose="020B0604020202020204" pitchFamily="34" charset="0"/>
              </a:rPr>
              <a:t>- </a:t>
            </a:r>
            <a:r>
              <a:rPr lang="en-US" dirty="0" err="1">
                <a:cs typeface="Arial" panose="020B0604020202020204" pitchFamily="34" charset="0"/>
              </a:rPr>
              <a:t>Zaposlenici</a:t>
            </a:r>
            <a:r>
              <a:rPr lang="en-US" dirty="0">
                <a:cs typeface="Arial" panose="020B0604020202020204" pitchFamily="34" charset="0"/>
              </a:rPr>
              <a:t> se </a:t>
            </a:r>
            <a:r>
              <a:rPr lang="en-US" dirty="0" err="1">
                <a:cs typeface="Arial" panose="020B0604020202020204" pitchFamily="34" charset="0"/>
              </a:rPr>
              <a:t>osjećaju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cijenjeno</a:t>
            </a:r>
            <a:r>
              <a:rPr lang="en-US" dirty="0">
                <a:cs typeface="Arial" panose="020B0604020202020204" pitchFamily="34" charset="0"/>
              </a:rPr>
              <a:t> i </a:t>
            </a:r>
            <a:r>
              <a:rPr lang="en-US" dirty="0" err="1">
                <a:cs typeface="Arial" panose="020B0604020202020204" pitchFamily="34" charset="0"/>
              </a:rPr>
              <a:t>angažirano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kada</a:t>
            </a:r>
            <a:r>
              <a:rPr lang="en-US" dirty="0">
                <a:cs typeface="Arial" panose="020B0604020202020204" pitchFamily="34" charset="0"/>
              </a:rPr>
              <a:t> se </a:t>
            </a:r>
            <a:r>
              <a:rPr lang="en-US" dirty="0" err="1">
                <a:cs typeface="Arial" panose="020B0604020202020204" pitchFamily="34" charset="0"/>
              </a:rPr>
              <a:t>njihov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doprinos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prepoznaje</a:t>
            </a:r>
            <a:r>
              <a:rPr lang="en-US" dirty="0"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cs typeface="Arial" panose="020B0604020202020204" pitchFamily="34" charset="0"/>
              </a:rPr>
              <a:t>5. </a:t>
            </a:r>
            <a:r>
              <a:rPr lang="en-US" b="1" dirty="0" err="1">
                <a:solidFill>
                  <a:srgbClr val="0ADBBC"/>
                </a:solidFill>
                <a:cs typeface="Arial" panose="020B0604020202020204" pitchFamily="34" charset="0"/>
              </a:rPr>
              <a:t>Smanjuje</a:t>
            </a:r>
            <a:r>
              <a:rPr lang="en-US" b="1" dirty="0">
                <a:solidFill>
                  <a:srgbClr val="0ADBBC"/>
                </a:solidFill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ADBBC"/>
                </a:solidFill>
                <a:cs typeface="Arial" panose="020B0604020202020204" pitchFamily="34" charset="0"/>
              </a:rPr>
              <a:t>rizike</a:t>
            </a:r>
            <a:r>
              <a:rPr lang="en-US" b="1" dirty="0">
                <a:solidFill>
                  <a:srgbClr val="0ADBBC"/>
                </a:solidFill>
                <a:cs typeface="Arial" panose="020B0604020202020204" pitchFamily="34" charset="0"/>
              </a:rPr>
              <a:t> i </a:t>
            </a:r>
            <a:r>
              <a:rPr lang="en-US" b="1" dirty="0" err="1">
                <a:solidFill>
                  <a:srgbClr val="0ADBBC"/>
                </a:solidFill>
                <a:cs typeface="Arial" panose="020B0604020202020204" pitchFamily="34" charset="0"/>
              </a:rPr>
              <a:t>sprječava</a:t>
            </a:r>
            <a:r>
              <a:rPr lang="en-US" b="1" dirty="0">
                <a:solidFill>
                  <a:srgbClr val="0ADBBC"/>
                </a:solidFill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ADBBC"/>
                </a:solidFill>
                <a:cs typeface="Arial" panose="020B0604020202020204" pitchFamily="34" charset="0"/>
              </a:rPr>
              <a:t>neuspjeh</a:t>
            </a:r>
            <a:r>
              <a:rPr lang="en-US" b="1" dirty="0">
                <a:solidFill>
                  <a:srgbClr val="0ADBBC"/>
                </a:solidFill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0ADBBC"/>
                </a:solidFill>
                <a:cs typeface="Arial" panose="020B0604020202020204" pitchFamily="34" charset="0"/>
              </a:rPr>
              <a:t>projekta</a:t>
            </a:r>
            <a:endParaRPr lang="en-US" b="1" dirty="0">
              <a:solidFill>
                <a:srgbClr val="0ADBBC"/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r-HR" dirty="0">
                <a:cs typeface="Arial" panose="020B0604020202020204" pitchFamily="34" charset="0"/>
              </a:rPr>
              <a:t>- </a:t>
            </a:r>
            <a:r>
              <a:rPr lang="en-US" dirty="0">
                <a:cs typeface="Arial" panose="020B0604020202020204" pitchFamily="34" charset="0"/>
              </a:rPr>
              <a:t>Rana </a:t>
            </a:r>
            <a:r>
              <a:rPr lang="en-US" dirty="0" err="1">
                <a:cs typeface="Arial" panose="020B0604020202020204" pitchFamily="34" charset="0"/>
              </a:rPr>
              <a:t>povratna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informacija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pomaže</a:t>
            </a:r>
            <a:r>
              <a:rPr lang="en-US" dirty="0">
                <a:cs typeface="Arial" panose="020B0604020202020204" pitchFamily="34" charset="0"/>
              </a:rPr>
              <a:t> u </a:t>
            </a:r>
            <a:r>
              <a:rPr lang="en-US" dirty="0" err="1">
                <a:cs typeface="Arial" panose="020B0604020202020204" pitchFamily="34" charset="0"/>
              </a:rPr>
              <a:t>prepoznavanju</a:t>
            </a:r>
            <a:r>
              <a:rPr lang="en-US" dirty="0">
                <a:cs typeface="Arial" panose="020B0604020202020204" pitchFamily="34" charset="0"/>
              </a:rPr>
              <a:t> i </a:t>
            </a:r>
            <a:r>
              <a:rPr lang="en-US" dirty="0" err="1">
                <a:cs typeface="Arial" panose="020B0604020202020204" pitchFamily="34" charset="0"/>
              </a:rPr>
              <a:t>rješavanju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problema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prije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nego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što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eskaliraju</a:t>
            </a:r>
            <a:r>
              <a:rPr lang="en-US" dirty="0"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hr-HR" dirty="0">
                <a:cs typeface="Arial" panose="020B0604020202020204" pitchFamily="34" charset="0"/>
              </a:rPr>
              <a:t>- </a:t>
            </a:r>
            <a:r>
              <a:rPr lang="en-US" dirty="0" err="1">
                <a:cs typeface="Arial" panose="020B0604020202020204" pitchFamily="34" charset="0"/>
              </a:rPr>
              <a:t>Osigurava</a:t>
            </a:r>
            <a:r>
              <a:rPr lang="en-US" dirty="0">
                <a:cs typeface="Arial" panose="020B0604020202020204" pitchFamily="34" charset="0"/>
              </a:rPr>
              <a:t> da </a:t>
            </a:r>
            <a:r>
              <a:rPr lang="en-US" dirty="0" err="1">
                <a:cs typeface="Arial" panose="020B0604020202020204" pitchFamily="34" charset="0"/>
              </a:rPr>
              <a:t>projekt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ostane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usklađen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sa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standardima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kvalitete</a:t>
            </a:r>
            <a:r>
              <a:rPr lang="en-US" dirty="0">
                <a:cs typeface="Arial" panose="020B0604020202020204" pitchFamily="34" charset="0"/>
              </a:rPr>
              <a:t> i </a:t>
            </a:r>
            <a:r>
              <a:rPr lang="en-US" dirty="0" err="1">
                <a:cs typeface="Arial" panose="020B0604020202020204" pitchFamily="34" charset="0"/>
              </a:rPr>
              <a:t>rokovima</a:t>
            </a:r>
            <a:r>
              <a:rPr lang="en-US" dirty="0"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7215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177A4-0193-4BFE-73E0-0074A398D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391"/>
            <a:ext cx="10515600" cy="1325563"/>
          </a:xfrm>
        </p:spPr>
        <p:txBody>
          <a:bodyPr>
            <a:normAutofit/>
          </a:bodyPr>
          <a:lstStyle/>
          <a:p>
            <a:r>
              <a:rPr lang="en-US" sz="3800" dirty="0"/>
              <a:t>Kako </a:t>
            </a:r>
            <a:r>
              <a:rPr lang="en-US" sz="3800" dirty="0" err="1"/>
              <a:t>dati</a:t>
            </a:r>
            <a:r>
              <a:rPr lang="en-US" sz="3800" dirty="0"/>
              <a:t> </a:t>
            </a:r>
            <a:r>
              <a:rPr lang="en-US" sz="3800" dirty="0" err="1"/>
              <a:t>učinkovitu</a:t>
            </a:r>
            <a:r>
              <a:rPr lang="en-US" sz="3800" dirty="0"/>
              <a:t> </a:t>
            </a:r>
            <a:r>
              <a:rPr lang="en-US" sz="3800" dirty="0" err="1"/>
              <a:t>povratnu</a:t>
            </a:r>
            <a:r>
              <a:rPr lang="en-US" sz="3800" dirty="0"/>
              <a:t> </a:t>
            </a:r>
            <a:r>
              <a:rPr lang="en-US" sz="3800" dirty="0" err="1"/>
              <a:t>informaciju</a:t>
            </a:r>
            <a:r>
              <a:rPr lang="en-US" sz="3800" dirty="0"/>
              <a:t> </a:t>
            </a:r>
            <a:r>
              <a:rPr lang="en-US" sz="3800" dirty="0" err="1"/>
              <a:t>kao</a:t>
            </a:r>
            <a:r>
              <a:rPr lang="en-US" sz="3800" dirty="0"/>
              <a:t> </a:t>
            </a:r>
            <a:r>
              <a:rPr lang="en-US" sz="3800" dirty="0" err="1"/>
              <a:t>voditelj</a:t>
            </a:r>
            <a:r>
              <a:rPr lang="en-US" sz="3800" dirty="0"/>
              <a:t> </a:t>
            </a:r>
            <a:r>
              <a:rPr lang="en-US" sz="3800" dirty="0" err="1"/>
              <a:t>projekta</a:t>
            </a: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CC0C8-E937-506D-0820-7060E5A88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974" y="1900781"/>
            <a:ext cx="1107405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ADBBC"/>
                </a:solidFill>
              </a:rPr>
              <a:t>"SBI" model </a:t>
            </a:r>
            <a:r>
              <a:rPr lang="en-US" b="1" dirty="0" err="1">
                <a:solidFill>
                  <a:srgbClr val="0ADBBC"/>
                </a:solidFill>
              </a:rPr>
              <a:t>povratne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informacije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/>
              <a:t>(</a:t>
            </a:r>
            <a:r>
              <a:rPr lang="en-US" b="1" dirty="0" err="1"/>
              <a:t>Situacija</a:t>
            </a:r>
            <a:r>
              <a:rPr lang="en-US" b="1" dirty="0"/>
              <a:t> – </a:t>
            </a:r>
            <a:r>
              <a:rPr lang="en-US" b="1" dirty="0" err="1"/>
              <a:t>Behaviour</a:t>
            </a:r>
            <a:r>
              <a:rPr lang="en-US" b="1" dirty="0"/>
              <a:t> – Impact)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>
                <a:solidFill>
                  <a:srgbClr val="0ADBBC"/>
                </a:solidFill>
              </a:rPr>
              <a:t>Situacija</a:t>
            </a:r>
            <a:r>
              <a:rPr lang="en-US" b="1" dirty="0">
                <a:solidFill>
                  <a:srgbClr val="0ADBBC"/>
                </a:solidFill>
              </a:rPr>
              <a:t>: </a:t>
            </a:r>
            <a:r>
              <a:rPr lang="en-US" dirty="0" err="1"/>
              <a:t>Opišite</a:t>
            </a:r>
            <a:r>
              <a:rPr lang="en-US" dirty="0"/>
              <a:t> </a:t>
            </a:r>
            <a:r>
              <a:rPr lang="en-US" dirty="0" err="1"/>
              <a:t>kontekst</a:t>
            </a:r>
            <a:r>
              <a:rPr lang="en-US" dirty="0"/>
              <a:t>. (</a:t>
            </a:r>
            <a:r>
              <a:rPr lang="en-US" i="1" dirty="0"/>
              <a:t>„</a:t>
            </a:r>
            <a:r>
              <a:rPr lang="en-US" i="1" dirty="0" err="1"/>
              <a:t>Tijekom</a:t>
            </a:r>
            <a:r>
              <a:rPr lang="en-US" i="1" dirty="0"/>
              <a:t> </a:t>
            </a:r>
            <a:r>
              <a:rPr lang="en-US" i="1" dirty="0" err="1"/>
              <a:t>jučerašnjeg</a:t>
            </a:r>
            <a:r>
              <a:rPr lang="en-US" i="1" dirty="0"/>
              <a:t> sprint </a:t>
            </a:r>
            <a:r>
              <a:rPr lang="en-US" i="1" dirty="0" err="1"/>
              <a:t>reviewa</a:t>
            </a:r>
            <a:r>
              <a:rPr lang="en-US" i="1" dirty="0"/>
              <a:t>…“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b="1" dirty="0">
              <a:solidFill>
                <a:srgbClr val="0ADBBC"/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0ADBBC"/>
                </a:solidFill>
              </a:rPr>
              <a:t>Ponašanje</a:t>
            </a:r>
            <a:r>
              <a:rPr lang="en-US" b="1" dirty="0">
                <a:solidFill>
                  <a:srgbClr val="0ADBBC"/>
                </a:solidFill>
              </a:rPr>
              <a:t>: </a:t>
            </a:r>
            <a:r>
              <a:rPr lang="en-US" dirty="0" err="1"/>
              <a:t>Precizno</a:t>
            </a:r>
            <a:r>
              <a:rPr lang="en-US" dirty="0"/>
              <a:t> </a:t>
            </a:r>
            <a:r>
              <a:rPr lang="en-US" dirty="0" err="1"/>
              <a:t>opišite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uočeno</a:t>
            </a:r>
            <a:r>
              <a:rPr lang="en-US" dirty="0"/>
              <a:t>. (</a:t>
            </a:r>
            <a:r>
              <a:rPr lang="en-US" i="1" dirty="0"/>
              <a:t>„</a:t>
            </a:r>
            <a:r>
              <a:rPr lang="en-US" i="1" dirty="0" err="1"/>
              <a:t>Tvoje</a:t>
            </a:r>
            <a:r>
              <a:rPr lang="en-US" i="1" dirty="0"/>
              <a:t> </a:t>
            </a:r>
            <a:r>
              <a:rPr lang="en-US" i="1" dirty="0" err="1"/>
              <a:t>izvješće</a:t>
            </a:r>
            <a:r>
              <a:rPr lang="en-US" i="1" dirty="0"/>
              <a:t> </a:t>
            </a:r>
            <a:r>
              <a:rPr lang="en-US" i="1" dirty="0" err="1"/>
              <a:t>nije</a:t>
            </a:r>
            <a:r>
              <a:rPr lang="en-US" i="1" dirty="0"/>
              <a:t> </a:t>
            </a:r>
            <a:r>
              <a:rPr lang="en-US" i="1" dirty="0" err="1"/>
              <a:t>sadržavalo</a:t>
            </a:r>
            <a:r>
              <a:rPr lang="en-US" i="1" dirty="0"/>
              <a:t> </a:t>
            </a:r>
            <a:r>
              <a:rPr lang="en-US" i="1" dirty="0" err="1"/>
              <a:t>ključne</a:t>
            </a:r>
            <a:r>
              <a:rPr lang="en-US" i="1" dirty="0"/>
              <a:t> </a:t>
            </a:r>
            <a:r>
              <a:rPr lang="en-US" i="1" dirty="0" err="1"/>
              <a:t>metrike</a:t>
            </a:r>
            <a:r>
              <a:rPr lang="en-US" i="1" dirty="0"/>
              <a:t> </a:t>
            </a:r>
            <a:r>
              <a:rPr lang="en-US" i="1" dirty="0" err="1"/>
              <a:t>uspješnosti</a:t>
            </a:r>
            <a:r>
              <a:rPr lang="en-US" i="1" dirty="0"/>
              <a:t>…“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b="1" dirty="0">
              <a:solidFill>
                <a:srgbClr val="0ADBBC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ADBBC"/>
                </a:solidFill>
              </a:rPr>
              <a:t>Utjecaj: </a:t>
            </a:r>
            <a:r>
              <a:rPr lang="en-US" dirty="0" err="1"/>
              <a:t>Objasnite</a:t>
            </a:r>
            <a:r>
              <a:rPr lang="en-US" dirty="0"/>
              <a:t> </a:t>
            </a:r>
            <a:r>
              <a:rPr lang="en-US" dirty="0" err="1"/>
              <a:t>učinak</a:t>
            </a:r>
            <a:r>
              <a:rPr lang="en-US" dirty="0"/>
              <a:t>. (</a:t>
            </a:r>
            <a:r>
              <a:rPr lang="en-US" i="1" dirty="0"/>
              <a:t>„To je </a:t>
            </a:r>
            <a:r>
              <a:rPr lang="en-US" i="1" dirty="0" err="1"/>
              <a:t>otežalo</a:t>
            </a:r>
            <a:r>
              <a:rPr lang="en-US" i="1" dirty="0"/>
              <a:t> </a:t>
            </a:r>
            <a:r>
              <a:rPr lang="en-US" i="1" dirty="0" err="1"/>
              <a:t>timu</a:t>
            </a:r>
            <a:r>
              <a:rPr lang="en-US" i="1" dirty="0"/>
              <a:t> </a:t>
            </a:r>
            <a:r>
              <a:rPr lang="en-US" i="1" dirty="0" err="1"/>
              <a:t>praćenje</a:t>
            </a:r>
            <a:r>
              <a:rPr lang="en-US" i="1" dirty="0"/>
              <a:t> </a:t>
            </a:r>
            <a:r>
              <a:rPr lang="en-US" i="1" dirty="0" err="1"/>
              <a:t>napretka</a:t>
            </a:r>
            <a:r>
              <a:rPr lang="en-US" i="1" dirty="0"/>
              <a:t>.“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4578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49A66-4435-C95E-7F02-3AB2061E3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6D1A7-08B6-C686-0D98-F6E09A1A6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684"/>
            <a:ext cx="10515600" cy="1325563"/>
          </a:xfrm>
        </p:spPr>
        <p:txBody>
          <a:bodyPr>
            <a:normAutofit/>
          </a:bodyPr>
          <a:lstStyle/>
          <a:p>
            <a:r>
              <a:rPr lang="en-US" sz="3800" dirty="0"/>
              <a:t>Kako </a:t>
            </a:r>
            <a:r>
              <a:rPr lang="en-US" sz="3800" dirty="0" err="1"/>
              <a:t>dati</a:t>
            </a:r>
            <a:r>
              <a:rPr lang="en-US" sz="3800" dirty="0"/>
              <a:t> </a:t>
            </a:r>
            <a:r>
              <a:rPr lang="en-US" sz="3800" dirty="0" err="1"/>
              <a:t>učinkovitu</a:t>
            </a:r>
            <a:r>
              <a:rPr lang="en-US" sz="3800" dirty="0"/>
              <a:t> </a:t>
            </a:r>
            <a:r>
              <a:rPr lang="en-US" sz="3800" dirty="0" err="1"/>
              <a:t>povratnu</a:t>
            </a:r>
            <a:r>
              <a:rPr lang="en-US" sz="3800" dirty="0"/>
              <a:t> </a:t>
            </a:r>
            <a:r>
              <a:rPr lang="en-US" sz="3800" dirty="0" err="1"/>
              <a:t>informaciju</a:t>
            </a:r>
            <a:r>
              <a:rPr lang="en-US" sz="3800" dirty="0"/>
              <a:t> </a:t>
            </a:r>
            <a:r>
              <a:rPr lang="en-US" sz="3800" dirty="0" err="1"/>
              <a:t>kao</a:t>
            </a:r>
            <a:r>
              <a:rPr lang="en-US" sz="3800" dirty="0"/>
              <a:t> </a:t>
            </a:r>
            <a:r>
              <a:rPr lang="en-US" sz="3800" dirty="0" err="1"/>
              <a:t>voditelj</a:t>
            </a:r>
            <a:r>
              <a:rPr lang="en-US" sz="3800" dirty="0"/>
              <a:t> </a:t>
            </a:r>
            <a:r>
              <a:rPr lang="en-US" sz="3800" dirty="0" err="1"/>
              <a:t>projekta</a:t>
            </a: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C3607-122A-B397-E4CB-7C3A60AC3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 err="1">
                <a:cs typeface="Arial" panose="020B0604020202020204" pitchFamily="34" charset="0"/>
              </a:rPr>
              <a:t>Povratna</a:t>
            </a:r>
            <a:r>
              <a:rPr lang="en-US" sz="2600" b="1" dirty="0">
                <a:cs typeface="Arial" panose="020B0604020202020204" pitchFamily="34" charset="0"/>
              </a:rPr>
              <a:t> </a:t>
            </a:r>
            <a:r>
              <a:rPr lang="en-US" sz="2600" b="1" dirty="0" err="1">
                <a:cs typeface="Arial" panose="020B0604020202020204" pitchFamily="34" charset="0"/>
              </a:rPr>
              <a:t>informacija</a:t>
            </a:r>
            <a:r>
              <a:rPr lang="en-US" sz="2600" b="1" dirty="0">
                <a:cs typeface="Arial" panose="020B0604020202020204" pitchFamily="34" charset="0"/>
              </a:rPr>
              <a:t> </a:t>
            </a:r>
            <a:r>
              <a:rPr lang="en-US" sz="2600" b="1" dirty="0" err="1">
                <a:cs typeface="Arial" panose="020B0604020202020204" pitchFamily="34" charset="0"/>
              </a:rPr>
              <a:t>treba</a:t>
            </a:r>
            <a:r>
              <a:rPr lang="en-US" sz="2600" b="1" dirty="0">
                <a:cs typeface="Arial" panose="020B0604020202020204" pitchFamily="34" charset="0"/>
              </a:rPr>
              <a:t> </a:t>
            </a:r>
            <a:r>
              <a:rPr lang="en-US" sz="2600" b="1" dirty="0" err="1">
                <a:cs typeface="Arial" panose="020B0604020202020204" pitchFamily="34" charset="0"/>
              </a:rPr>
              <a:t>biti</a:t>
            </a:r>
            <a:r>
              <a:rPr lang="en-US" sz="2600" b="1" dirty="0">
                <a:cs typeface="Arial" panose="020B0604020202020204" pitchFamily="34" charset="0"/>
              </a:rPr>
              <a:t> </a:t>
            </a:r>
            <a:r>
              <a:rPr lang="en-US" sz="2600" b="1" dirty="0" err="1">
                <a:cs typeface="Arial" panose="020B0604020202020204" pitchFamily="34" charset="0"/>
              </a:rPr>
              <a:t>konstruktivna</a:t>
            </a:r>
            <a:r>
              <a:rPr lang="en-US" sz="2600" b="1" dirty="0">
                <a:cs typeface="Arial" panose="020B0604020202020204" pitchFamily="34" charset="0"/>
              </a:rPr>
              <a:t> i </a:t>
            </a:r>
            <a:r>
              <a:rPr lang="en-US" sz="2600" b="1" dirty="0" err="1">
                <a:cs typeface="Arial" panose="020B0604020202020204" pitchFamily="34" charset="0"/>
              </a:rPr>
              <a:t>uravnotežena</a:t>
            </a:r>
            <a:endParaRPr lang="en-US" sz="2600" b="1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600" b="1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600" dirty="0" err="1">
                <a:cs typeface="Arial" panose="020B0604020202020204" pitchFamily="34" charset="0"/>
              </a:rPr>
              <a:t>Usmjerite</a:t>
            </a:r>
            <a:r>
              <a:rPr lang="en-US" sz="2600" dirty="0">
                <a:cs typeface="Arial" panose="020B0604020202020204" pitchFamily="34" charset="0"/>
              </a:rPr>
              <a:t> se </a:t>
            </a:r>
            <a:r>
              <a:rPr lang="en-US" sz="2600" dirty="0" err="1">
                <a:cs typeface="Arial" panose="020B0604020202020204" pitchFamily="34" charset="0"/>
              </a:rPr>
              <a:t>na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b="1" dirty="0">
                <a:cs typeface="Arial" panose="020B0604020202020204" pitchFamily="34" charset="0"/>
              </a:rPr>
              <a:t>rad</a:t>
            </a:r>
            <a:r>
              <a:rPr lang="en-US" sz="2600" dirty="0">
                <a:cs typeface="Arial" panose="020B0604020202020204" pitchFamily="34" charset="0"/>
              </a:rPr>
              <a:t>, a ne </a:t>
            </a:r>
            <a:r>
              <a:rPr lang="en-US" sz="2600" dirty="0" err="1">
                <a:cs typeface="Arial" panose="020B0604020202020204" pitchFamily="34" charset="0"/>
              </a:rPr>
              <a:t>na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osobu</a:t>
            </a:r>
            <a:r>
              <a:rPr lang="en-US" sz="2600" dirty="0">
                <a:cs typeface="Arial" panose="020B0604020202020204" pitchFamily="34" charset="0"/>
              </a:rPr>
              <a:t>. (</a:t>
            </a:r>
            <a:r>
              <a:rPr lang="en-US" sz="2600" i="1" dirty="0" err="1">
                <a:cs typeface="Arial" panose="020B0604020202020204" pitchFamily="34" charset="0"/>
              </a:rPr>
              <a:t>Izbjegavajte</a:t>
            </a:r>
            <a:r>
              <a:rPr lang="en-US" sz="2600" i="1" dirty="0">
                <a:cs typeface="Arial" panose="020B0604020202020204" pitchFamily="34" charset="0"/>
              </a:rPr>
              <a:t>: „</a:t>
            </a:r>
            <a:r>
              <a:rPr lang="en-US" sz="2600" i="1" dirty="0" err="1">
                <a:cs typeface="Arial" panose="020B0604020202020204" pitchFamily="34" charset="0"/>
              </a:rPr>
              <a:t>Loš</a:t>
            </a:r>
            <a:r>
              <a:rPr lang="en-US" sz="2600" i="1" dirty="0">
                <a:cs typeface="Arial" panose="020B0604020202020204" pitchFamily="34" charset="0"/>
              </a:rPr>
              <a:t>/a </a:t>
            </a:r>
            <a:r>
              <a:rPr lang="en-US" sz="2600" i="1" dirty="0" err="1">
                <a:cs typeface="Arial" panose="020B0604020202020204" pitchFamily="34" charset="0"/>
              </a:rPr>
              <a:t>si</a:t>
            </a:r>
            <a:r>
              <a:rPr lang="en-US" sz="2600" i="1" dirty="0">
                <a:cs typeface="Arial" panose="020B0604020202020204" pitchFamily="34" charset="0"/>
              </a:rPr>
              <a:t> u </a:t>
            </a:r>
            <a:r>
              <a:rPr lang="en-US" sz="2600" i="1" dirty="0" err="1">
                <a:cs typeface="Arial" panose="020B0604020202020204" pitchFamily="34" charset="0"/>
              </a:rPr>
              <a:t>prezentiranju</a:t>
            </a:r>
            <a:r>
              <a:rPr lang="en-US" sz="2600" i="1" dirty="0">
                <a:cs typeface="Arial" panose="020B0604020202020204" pitchFamily="34" charset="0"/>
              </a:rPr>
              <a:t>.“ </a:t>
            </a:r>
            <a:r>
              <a:rPr lang="en-US" sz="2600" i="1" dirty="0" err="1">
                <a:cs typeface="Arial" panose="020B0604020202020204" pitchFamily="34" charset="0"/>
              </a:rPr>
              <a:t>Umjesto</a:t>
            </a:r>
            <a:r>
              <a:rPr lang="en-US" sz="2600" i="1" dirty="0">
                <a:cs typeface="Arial" panose="020B0604020202020204" pitchFamily="34" charset="0"/>
              </a:rPr>
              <a:t> toga: „</a:t>
            </a:r>
            <a:r>
              <a:rPr lang="en-US" sz="2600" i="1" dirty="0" err="1">
                <a:cs typeface="Arial" panose="020B0604020202020204" pitchFamily="34" charset="0"/>
              </a:rPr>
              <a:t>Tvoji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slajdovi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nisu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bili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dovoljno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jasni</a:t>
            </a:r>
            <a:r>
              <a:rPr lang="en-US" sz="2600" i="1" dirty="0">
                <a:cs typeface="Arial" panose="020B0604020202020204" pitchFamily="34" charset="0"/>
              </a:rPr>
              <a:t>, </a:t>
            </a:r>
            <a:r>
              <a:rPr lang="en-US" sz="2600" i="1" dirty="0" err="1">
                <a:cs typeface="Arial" panose="020B0604020202020204" pitchFamily="34" charset="0"/>
              </a:rPr>
              <a:t>što</a:t>
            </a:r>
            <a:r>
              <a:rPr lang="en-US" sz="2600" i="1" dirty="0">
                <a:cs typeface="Arial" panose="020B0604020202020204" pitchFamily="34" charset="0"/>
              </a:rPr>
              <a:t> je </a:t>
            </a:r>
            <a:r>
              <a:rPr lang="en-US" sz="2600" i="1" dirty="0" err="1">
                <a:cs typeface="Arial" panose="020B0604020202020204" pitchFamily="34" charset="0"/>
              </a:rPr>
              <a:t>otežalo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praćenje</a:t>
            </a:r>
            <a:r>
              <a:rPr lang="en-US" sz="2600" i="1" dirty="0">
                <a:cs typeface="Arial" panose="020B0604020202020204" pitchFamily="34" charset="0"/>
              </a:rPr>
              <a:t>.“</a:t>
            </a:r>
            <a:r>
              <a:rPr lang="en-US" sz="2600" dirty="0"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en-US" sz="26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600" dirty="0" err="1">
                <a:cs typeface="Arial" panose="020B0604020202020204" pitchFamily="34" charset="0"/>
              </a:rPr>
              <a:t>Uravnotežite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b="1" dirty="0" err="1">
                <a:cs typeface="Arial" panose="020B0604020202020204" pitchFamily="34" charset="0"/>
              </a:rPr>
              <a:t>pozitivnu</a:t>
            </a:r>
            <a:r>
              <a:rPr lang="en-US" sz="2600" b="1" dirty="0">
                <a:cs typeface="Arial" panose="020B0604020202020204" pitchFamily="34" charset="0"/>
              </a:rPr>
              <a:t> i </a:t>
            </a:r>
            <a:r>
              <a:rPr lang="en-US" sz="2600" b="1" dirty="0" err="1">
                <a:cs typeface="Arial" panose="020B0604020202020204" pitchFamily="34" charset="0"/>
              </a:rPr>
              <a:t>konstruktivnu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povratnu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informaciju</a:t>
            </a:r>
            <a:r>
              <a:rPr lang="en-US" sz="2600" dirty="0">
                <a:cs typeface="Arial" panose="020B0604020202020204" pitchFamily="34" charset="0"/>
              </a:rPr>
              <a:t>. </a:t>
            </a:r>
            <a:r>
              <a:rPr lang="en-US" sz="2600" i="1" dirty="0">
                <a:cs typeface="Arial" panose="020B0604020202020204" pitchFamily="34" charset="0"/>
              </a:rPr>
              <a:t>(„</a:t>
            </a:r>
            <a:r>
              <a:rPr lang="en-US" sz="2600" i="1" dirty="0" err="1">
                <a:cs typeface="Arial" panose="020B0604020202020204" pitchFamily="34" charset="0"/>
              </a:rPr>
              <a:t>Tvoj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dizajn</a:t>
            </a:r>
            <a:r>
              <a:rPr lang="en-US" sz="2600" i="1" dirty="0">
                <a:cs typeface="Arial" panose="020B0604020202020204" pitchFamily="34" charset="0"/>
              </a:rPr>
              <a:t> je </a:t>
            </a:r>
            <a:r>
              <a:rPr lang="en-US" sz="2600" i="1" dirty="0" err="1">
                <a:cs typeface="Arial" panose="020B0604020202020204" pitchFamily="34" charset="0"/>
              </a:rPr>
              <a:t>vizualno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privlačan</a:t>
            </a:r>
            <a:r>
              <a:rPr lang="en-US" sz="2600" i="1" dirty="0">
                <a:cs typeface="Arial" panose="020B0604020202020204" pitchFamily="34" charset="0"/>
              </a:rPr>
              <a:t>, </a:t>
            </a:r>
            <a:r>
              <a:rPr lang="en-US" sz="2600" i="1" dirty="0" err="1">
                <a:cs typeface="Arial" panose="020B0604020202020204" pitchFamily="34" charset="0"/>
              </a:rPr>
              <a:t>ali</a:t>
            </a:r>
            <a:r>
              <a:rPr lang="en-US" sz="2600" i="1" dirty="0">
                <a:cs typeface="Arial" panose="020B0604020202020204" pitchFamily="34" charset="0"/>
              </a:rPr>
              <a:t> bi </a:t>
            </a:r>
            <a:r>
              <a:rPr lang="en-US" sz="2600" i="1" dirty="0" err="1">
                <a:cs typeface="Arial" panose="020B0604020202020204" pitchFamily="34" charset="0"/>
              </a:rPr>
              <a:t>dodavanje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navigacijske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trake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poboljšalo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upotrebljivost</a:t>
            </a:r>
            <a:r>
              <a:rPr lang="en-US" sz="2600" i="1" dirty="0">
                <a:cs typeface="Arial" panose="020B0604020202020204" pitchFamily="34" charset="0"/>
              </a:rPr>
              <a:t>.“</a:t>
            </a:r>
            <a:r>
              <a:rPr lang="en-US" sz="2600" dirty="0"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en-US" sz="26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600" dirty="0" err="1">
                <a:cs typeface="Arial" panose="020B0604020202020204" pitchFamily="34" charset="0"/>
              </a:rPr>
              <a:t>Budite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b="1" dirty="0" err="1">
                <a:cs typeface="Arial" panose="020B0604020202020204" pitchFamily="34" charset="0"/>
              </a:rPr>
              <a:t>konkretni</a:t>
            </a:r>
            <a:r>
              <a:rPr lang="en-US" sz="2600" b="1" dirty="0">
                <a:cs typeface="Arial" panose="020B0604020202020204" pitchFamily="34" charset="0"/>
              </a:rPr>
              <a:t> i </a:t>
            </a:r>
            <a:r>
              <a:rPr lang="en-US" sz="2600" b="1" dirty="0" err="1">
                <a:cs typeface="Arial" panose="020B0604020202020204" pitchFamily="34" charset="0"/>
              </a:rPr>
              <a:t>usmjereni</a:t>
            </a:r>
            <a:r>
              <a:rPr lang="en-US" sz="2600" b="1" dirty="0">
                <a:cs typeface="Arial" panose="020B0604020202020204" pitchFamily="34" charset="0"/>
              </a:rPr>
              <a:t> </a:t>
            </a:r>
            <a:r>
              <a:rPr lang="en-US" sz="2600" b="1" dirty="0" err="1">
                <a:cs typeface="Arial" panose="020B0604020202020204" pitchFamily="34" charset="0"/>
              </a:rPr>
              <a:t>na</a:t>
            </a:r>
            <a:r>
              <a:rPr lang="en-US" sz="2600" b="1" dirty="0">
                <a:cs typeface="Arial" panose="020B0604020202020204" pitchFamily="34" charset="0"/>
              </a:rPr>
              <a:t> </a:t>
            </a:r>
            <a:r>
              <a:rPr lang="en-US" sz="2600" b="1" dirty="0" err="1">
                <a:cs typeface="Arial" panose="020B0604020202020204" pitchFamily="34" charset="0"/>
              </a:rPr>
              <a:t>djelovanje</a:t>
            </a:r>
            <a:r>
              <a:rPr lang="en-US" sz="2600" b="1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kako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biste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potaknuli</a:t>
            </a:r>
            <a:r>
              <a:rPr lang="en-US" sz="2600" dirty="0">
                <a:cs typeface="Arial" panose="020B0604020202020204" pitchFamily="34" charset="0"/>
              </a:rPr>
              <a:t> </a:t>
            </a:r>
            <a:r>
              <a:rPr lang="en-US" sz="2600" dirty="0" err="1">
                <a:cs typeface="Arial" panose="020B0604020202020204" pitchFamily="34" charset="0"/>
              </a:rPr>
              <a:t>unapređenje</a:t>
            </a:r>
            <a:r>
              <a:rPr lang="en-US" sz="2600" dirty="0"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sz="2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09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70235-5B80-5EDD-FB52-4C49F2BD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10C7F-B477-607D-E320-E3200DBA6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58162" y="277016"/>
            <a:ext cx="10515600" cy="1325563"/>
          </a:xfrm>
        </p:spPr>
        <p:txBody>
          <a:bodyPr>
            <a:normAutofit/>
          </a:bodyPr>
          <a:lstStyle/>
          <a:p>
            <a:pPr algn="r"/>
            <a:r>
              <a:rPr lang="pl-PL" sz="3800" dirty="0"/>
              <a:t>Dobra razmjena povratnih informacija u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30AAA-1693-ED76-D58D-F2DDE70C6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986" y="193835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cs typeface="Arial" panose="020B0604020202020204" pitchFamily="34" charset="0"/>
              </a:rPr>
              <a:t>🗣 </a:t>
            </a:r>
            <a:r>
              <a:rPr lang="en-US" b="1" dirty="0" err="1">
                <a:solidFill>
                  <a:srgbClr val="0ADBBC"/>
                </a:solidFill>
              </a:rPr>
              <a:t>Voditelj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projekta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prema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developeru</a:t>
            </a:r>
            <a:r>
              <a:rPr lang="en-US" b="1" dirty="0">
                <a:solidFill>
                  <a:srgbClr val="0ADBBC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600" i="1" dirty="0">
                <a:cs typeface="Arial" panose="020B0604020202020204" pitchFamily="34" charset="0"/>
              </a:rPr>
              <a:t>„</a:t>
            </a:r>
            <a:r>
              <a:rPr lang="en-US" sz="2600" i="1" dirty="0" err="1">
                <a:cs typeface="Arial" panose="020B0604020202020204" pitchFamily="34" charset="0"/>
              </a:rPr>
              <a:t>Primijetio</a:t>
            </a:r>
            <a:r>
              <a:rPr lang="en-US" sz="2600" i="1" dirty="0">
                <a:cs typeface="Arial" panose="020B0604020202020204" pitchFamily="34" charset="0"/>
              </a:rPr>
              <a:t>/la </a:t>
            </a:r>
            <a:r>
              <a:rPr lang="en-US" sz="2600" i="1" dirty="0" err="1">
                <a:cs typeface="Arial" panose="020B0604020202020204" pitchFamily="34" charset="0"/>
              </a:rPr>
              <a:t>sam</a:t>
            </a:r>
            <a:r>
              <a:rPr lang="en-US" sz="2600" i="1" dirty="0">
                <a:cs typeface="Arial" panose="020B0604020202020204" pitchFamily="34" charset="0"/>
              </a:rPr>
              <a:t> da </a:t>
            </a:r>
            <a:r>
              <a:rPr lang="en-US" sz="2600" i="1" dirty="0" err="1">
                <a:cs typeface="Arial" panose="020B0604020202020204" pitchFamily="34" charset="0"/>
              </a:rPr>
              <a:t>su</a:t>
            </a:r>
            <a:r>
              <a:rPr lang="en-US" sz="2600" i="1" dirty="0">
                <a:cs typeface="Arial" panose="020B0604020202020204" pitchFamily="34" charset="0"/>
              </a:rPr>
              <a:t> u </a:t>
            </a:r>
            <a:r>
              <a:rPr lang="en-US" sz="2600" i="1" dirty="0" err="1">
                <a:cs typeface="Arial" panose="020B0604020202020204" pitchFamily="34" charset="0"/>
              </a:rPr>
              <a:t>prošlom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sprintu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neki</a:t>
            </a:r>
            <a:r>
              <a:rPr lang="en-US" sz="2600" i="1" dirty="0">
                <a:cs typeface="Arial" panose="020B0604020202020204" pitchFamily="34" charset="0"/>
              </a:rPr>
              <a:t> code </a:t>
            </a:r>
            <a:r>
              <a:rPr lang="en-US" sz="2600" i="1" dirty="0" err="1">
                <a:cs typeface="Arial" panose="020B0604020202020204" pitchFamily="34" charset="0"/>
              </a:rPr>
              <a:t>reviewi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kasnili</a:t>
            </a:r>
            <a:r>
              <a:rPr lang="en-US" sz="2600" i="1" dirty="0">
                <a:cs typeface="Arial" panose="020B0604020202020204" pitchFamily="34" charset="0"/>
              </a:rPr>
              <a:t>, </a:t>
            </a:r>
            <a:r>
              <a:rPr lang="en-US" sz="2600" i="1" dirty="0" err="1">
                <a:cs typeface="Arial" panose="020B0604020202020204" pitchFamily="34" charset="0"/>
              </a:rPr>
              <a:t>što</a:t>
            </a:r>
            <a:r>
              <a:rPr lang="en-US" sz="2600" i="1" dirty="0">
                <a:cs typeface="Arial" panose="020B0604020202020204" pitchFamily="34" charset="0"/>
              </a:rPr>
              <a:t> je </a:t>
            </a:r>
            <a:r>
              <a:rPr lang="en-US" sz="2600" i="1" dirty="0" err="1">
                <a:cs typeface="Arial" panose="020B0604020202020204" pitchFamily="34" charset="0"/>
              </a:rPr>
              <a:t>usporilo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implementaciju</a:t>
            </a:r>
            <a:r>
              <a:rPr lang="en-US" sz="2600" i="1" dirty="0">
                <a:cs typeface="Arial" panose="020B0604020202020204" pitchFamily="34" charset="0"/>
              </a:rPr>
              <a:t>. Kako </a:t>
            </a:r>
            <a:r>
              <a:rPr lang="en-US" sz="2600" i="1" dirty="0" err="1">
                <a:cs typeface="Arial" panose="020B0604020202020204" pitchFamily="34" charset="0"/>
              </a:rPr>
              <a:t>bismo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održali</a:t>
            </a:r>
            <a:r>
              <a:rPr lang="en-US" sz="2600" i="1" dirty="0">
                <a:cs typeface="Arial" panose="020B0604020202020204" pitchFamily="34" charset="0"/>
              </a:rPr>
              <a:t> tempo, možemo li </a:t>
            </a:r>
            <a:r>
              <a:rPr lang="en-US" sz="2600" i="1" dirty="0" err="1">
                <a:cs typeface="Arial" panose="020B0604020202020204" pitchFamily="34" charset="0"/>
              </a:rPr>
              <a:t>postaviti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ranije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rokove</a:t>
            </a:r>
            <a:r>
              <a:rPr lang="en-US" sz="2600" i="1" dirty="0">
                <a:cs typeface="Arial" panose="020B0604020202020204" pitchFamily="34" charset="0"/>
              </a:rPr>
              <a:t> za </a:t>
            </a:r>
            <a:r>
              <a:rPr lang="en-US" sz="2600" i="1" dirty="0" err="1">
                <a:cs typeface="Arial" panose="020B0604020202020204" pitchFamily="34" charset="0"/>
              </a:rPr>
              <a:t>pregled</a:t>
            </a:r>
            <a:r>
              <a:rPr lang="en-US" sz="2600" i="1" dirty="0">
                <a:cs typeface="Arial" panose="020B0604020202020204" pitchFamily="34" charset="0"/>
              </a:rPr>
              <a:t>? </a:t>
            </a:r>
            <a:r>
              <a:rPr lang="en-US" sz="2600" i="1" dirty="0" err="1">
                <a:cs typeface="Arial" panose="020B0604020202020204" pitchFamily="34" charset="0"/>
              </a:rPr>
              <a:t>Kvaliteta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tvog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koda</a:t>
            </a:r>
            <a:r>
              <a:rPr lang="en-US" sz="2600" i="1" dirty="0">
                <a:cs typeface="Arial" panose="020B0604020202020204" pitchFamily="34" charset="0"/>
              </a:rPr>
              <a:t> je </a:t>
            </a:r>
            <a:r>
              <a:rPr lang="en-US" sz="2600" i="1" dirty="0" err="1">
                <a:cs typeface="Arial" panose="020B0604020202020204" pitchFamily="34" charset="0"/>
              </a:rPr>
              <a:t>odlična</a:t>
            </a:r>
            <a:r>
              <a:rPr lang="en-US" sz="2600" i="1" dirty="0">
                <a:cs typeface="Arial" panose="020B0604020202020204" pitchFamily="34" charset="0"/>
              </a:rPr>
              <a:t>, a </a:t>
            </a:r>
            <a:r>
              <a:rPr lang="en-US" sz="2600" i="1" dirty="0" err="1">
                <a:cs typeface="Arial" panose="020B0604020202020204" pitchFamily="34" charset="0"/>
              </a:rPr>
              <a:t>poboljšanje</a:t>
            </a:r>
            <a:r>
              <a:rPr lang="en-US" sz="2600" i="1" dirty="0">
                <a:cs typeface="Arial" panose="020B0604020202020204" pitchFamily="34" charset="0"/>
              </a:rPr>
              <a:t> u </a:t>
            </a:r>
            <a:r>
              <a:rPr lang="en-US" sz="2600" i="1" dirty="0" err="1">
                <a:cs typeface="Arial" panose="020B0604020202020204" pitchFamily="34" charset="0"/>
              </a:rPr>
              <a:t>vremenskom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okviru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dodatno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će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unaprijediti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naš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proces</a:t>
            </a:r>
            <a:r>
              <a:rPr lang="en-US" sz="2600" i="1" dirty="0">
                <a:cs typeface="Arial" panose="020B0604020202020204" pitchFamily="34" charset="0"/>
              </a:rPr>
              <a:t>.“</a:t>
            </a:r>
            <a:endParaRPr lang="hr-HR" sz="2600" i="1" dirty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6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0ADBBC"/>
                </a:solidFill>
              </a:rPr>
              <a:t>Odgovor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developera</a:t>
            </a:r>
            <a:r>
              <a:rPr lang="en-US" b="1" dirty="0">
                <a:solidFill>
                  <a:srgbClr val="0ADBBC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600" i="1" dirty="0">
                <a:cs typeface="Arial" panose="020B0604020202020204" pitchFamily="34" charset="0"/>
              </a:rPr>
              <a:t>„Hvala </a:t>
            </a:r>
            <a:r>
              <a:rPr lang="en-US" sz="2600" i="1" dirty="0" err="1">
                <a:cs typeface="Arial" panose="020B0604020202020204" pitchFamily="34" charset="0"/>
              </a:rPr>
              <a:t>na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uvidu</a:t>
            </a:r>
            <a:r>
              <a:rPr lang="en-US" sz="2600" i="1" dirty="0">
                <a:cs typeface="Arial" panose="020B0604020202020204" pitchFamily="34" charset="0"/>
              </a:rPr>
              <a:t>! </a:t>
            </a:r>
            <a:r>
              <a:rPr lang="en-US" sz="2600" i="1" dirty="0" err="1">
                <a:cs typeface="Arial" panose="020B0604020202020204" pitchFamily="34" charset="0"/>
              </a:rPr>
              <a:t>Planirat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ću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ranije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preglede</a:t>
            </a:r>
            <a:r>
              <a:rPr lang="en-US" sz="2600" i="1" dirty="0">
                <a:cs typeface="Arial" panose="020B0604020202020204" pitchFamily="34" charset="0"/>
              </a:rPr>
              <a:t> i </a:t>
            </a:r>
            <a:r>
              <a:rPr lang="en-US" sz="2600" i="1" dirty="0" err="1">
                <a:cs typeface="Arial" panose="020B0604020202020204" pitchFamily="34" charset="0"/>
              </a:rPr>
              <a:t>surađivati</a:t>
            </a:r>
            <a:r>
              <a:rPr lang="en-US" sz="2600" i="1" dirty="0">
                <a:cs typeface="Arial" panose="020B0604020202020204" pitchFamily="34" charset="0"/>
              </a:rPr>
              <a:t> s </a:t>
            </a:r>
            <a:r>
              <a:rPr lang="en-US" sz="2600" i="1" dirty="0" err="1">
                <a:cs typeface="Arial" panose="020B0604020202020204" pitchFamily="34" charset="0"/>
              </a:rPr>
              <a:t>timom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kako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bismo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unaprijedili</a:t>
            </a:r>
            <a:r>
              <a:rPr lang="en-US" sz="2600" i="1" dirty="0">
                <a:cs typeface="Arial" panose="020B0604020202020204" pitchFamily="34" charset="0"/>
              </a:rPr>
              <a:t> </a:t>
            </a:r>
            <a:r>
              <a:rPr lang="en-US" sz="2600" i="1" dirty="0" err="1">
                <a:cs typeface="Arial" panose="020B0604020202020204" pitchFamily="34" charset="0"/>
              </a:rPr>
              <a:t>proces</a:t>
            </a:r>
            <a:r>
              <a:rPr lang="en-US" sz="2600" i="1" dirty="0">
                <a:cs typeface="Arial" panose="020B0604020202020204" pitchFamily="34" charset="0"/>
              </a:rPr>
              <a:t>.“</a:t>
            </a:r>
          </a:p>
          <a:p>
            <a:pPr marL="0" indent="0">
              <a:buNone/>
            </a:pPr>
            <a:endParaRPr lang="en-US" sz="2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652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D9B36-8090-9F48-03F2-8E6550A5D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0122C-AF20-7212-8380-F33F16716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40" y="365125"/>
            <a:ext cx="10640860" cy="1325563"/>
          </a:xfrm>
        </p:spPr>
        <p:txBody>
          <a:bodyPr>
            <a:normAutofit/>
          </a:bodyPr>
          <a:lstStyle/>
          <a:p>
            <a:r>
              <a:rPr lang="en-US" sz="3800" dirty="0" err="1"/>
              <a:t>Igre</a:t>
            </a:r>
            <a:r>
              <a:rPr lang="en-US" sz="3800" dirty="0"/>
              <a:t> </a:t>
            </a:r>
            <a:r>
              <a:rPr lang="en-US" sz="3800" dirty="0" err="1"/>
              <a:t>uloga</a:t>
            </a: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AC131-1116-E898-A8FC-74060854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940" y="2506662"/>
            <a:ext cx="10515600" cy="3092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Arial" panose="020B0604020202020204" pitchFamily="34" charset="0"/>
              </a:rPr>
              <a:t>Trener </a:t>
            </a:r>
            <a:r>
              <a:rPr lang="en-US" dirty="0" err="1">
                <a:cs typeface="Arial" panose="020B0604020202020204" pitchFamily="34" charset="0"/>
              </a:rPr>
              <a:t>će</a:t>
            </a:r>
            <a:r>
              <a:rPr lang="en-US" dirty="0">
                <a:cs typeface="Arial" panose="020B0604020202020204" pitchFamily="34" charset="0"/>
              </a:rPr>
              <a:t> od </a:t>
            </a:r>
            <a:r>
              <a:rPr lang="en-US" dirty="0" err="1">
                <a:cs typeface="Arial" panose="020B0604020202020204" pitchFamily="34" charset="0"/>
              </a:rPr>
              <a:t>sudionika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prikupiti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situacije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iz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projekata</a:t>
            </a:r>
            <a:r>
              <a:rPr lang="en-US" dirty="0">
                <a:cs typeface="Arial" panose="020B0604020202020204" pitchFamily="34" charset="0"/>
              </a:rPr>
              <a:t> u </a:t>
            </a:r>
            <a:r>
              <a:rPr lang="en-US" dirty="0" err="1">
                <a:cs typeface="Arial" panose="020B0604020202020204" pitchFamily="34" charset="0"/>
              </a:rPr>
              <a:t>kojima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su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ranije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sudjelovali</a:t>
            </a:r>
            <a:r>
              <a:rPr lang="en-US" dirty="0"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cs typeface="Arial" panose="020B0604020202020204" pitchFamily="34" charset="0"/>
              </a:rPr>
              <a:t>U </a:t>
            </a:r>
            <a:r>
              <a:rPr lang="en-US" dirty="0" err="1">
                <a:cs typeface="Arial" panose="020B0604020202020204" pitchFamily="34" charset="0"/>
              </a:rPr>
              <a:t>parovima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će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međusobno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davati</a:t>
            </a:r>
            <a:r>
              <a:rPr lang="en-US" dirty="0">
                <a:cs typeface="Arial" panose="020B0604020202020204" pitchFamily="34" charset="0"/>
              </a:rPr>
              <a:t> i </a:t>
            </a:r>
            <a:r>
              <a:rPr lang="en-US" dirty="0" err="1">
                <a:cs typeface="Arial" panose="020B0604020202020204" pitchFamily="34" charset="0"/>
              </a:rPr>
              <a:t>primati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povratne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informacije</a:t>
            </a:r>
            <a:r>
              <a:rPr lang="en-US" dirty="0">
                <a:cs typeface="Arial" panose="020B0604020202020204" pitchFamily="34" charset="0"/>
              </a:rPr>
              <a:t> u </a:t>
            </a:r>
            <a:r>
              <a:rPr lang="en-US" dirty="0" err="1">
                <a:cs typeface="Arial" panose="020B0604020202020204" pitchFamily="34" charset="0"/>
              </a:rPr>
              <a:t>skladu</a:t>
            </a:r>
            <a:r>
              <a:rPr lang="en-US" dirty="0">
                <a:cs typeface="Arial" panose="020B0604020202020204" pitchFamily="34" charset="0"/>
              </a:rPr>
              <a:t> s </a:t>
            </a:r>
            <a:r>
              <a:rPr lang="en-US" dirty="0" err="1">
                <a:cs typeface="Arial" panose="020B0604020202020204" pitchFamily="34" charset="0"/>
              </a:rPr>
              <a:t>naučenim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načelima</a:t>
            </a:r>
            <a:r>
              <a:rPr lang="en-US" dirty="0"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83249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EB6D6-3270-9D54-4D45-06983148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STRATEGIJE UPRAVLJANJA KONFLIKTIMA I.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72DD5-FEA1-1955-193E-D911F6AFA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023" y="1564079"/>
            <a:ext cx="10785954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1. </a:t>
            </a:r>
            <a:r>
              <a:rPr lang="en-US" sz="2400" b="1" dirty="0" err="1">
                <a:solidFill>
                  <a:srgbClr val="0ADBBC"/>
                </a:solidFill>
              </a:rPr>
              <a:t>Povlačenje</a:t>
            </a:r>
            <a:r>
              <a:rPr lang="en-US" sz="2400" b="1" dirty="0">
                <a:solidFill>
                  <a:srgbClr val="0ADBBC"/>
                </a:solidFill>
              </a:rPr>
              <a:t>/</a:t>
            </a:r>
            <a:r>
              <a:rPr lang="en-US" sz="2400" b="1" dirty="0" err="1">
                <a:solidFill>
                  <a:srgbClr val="0ADBBC"/>
                </a:solidFill>
              </a:rPr>
              <a:t>Izbjegavanje</a:t>
            </a:r>
            <a:r>
              <a:rPr lang="en-US" sz="2400" dirty="0"/>
              <a:t> – </a:t>
            </a:r>
            <a:r>
              <a:rPr lang="en-US" sz="2400" dirty="0" err="1"/>
              <a:t>Podrazumijeva</a:t>
            </a:r>
            <a:r>
              <a:rPr lang="en-US" sz="2400" dirty="0"/>
              <a:t> </a:t>
            </a:r>
            <a:r>
              <a:rPr lang="en-US" sz="2400" dirty="0" err="1"/>
              <a:t>ignoriranje</a:t>
            </a:r>
            <a:r>
              <a:rPr lang="en-US" sz="2400" dirty="0"/>
              <a:t> </a:t>
            </a:r>
            <a:r>
              <a:rPr lang="en-US" sz="2400" dirty="0" err="1"/>
              <a:t>ili</a:t>
            </a:r>
            <a:r>
              <a:rPr lang="en-US" sz="2400" dirty="0"/>
              <a:t> </a:t>
            </a:r>
            <a:r>
              <a:rPr lang="en-US" sz="2400" dirty="0" err="1"/>
              <a:t>odgađanje</a:t>
            </a:r>
            <a:r>
              <a:rPr lang="en-US" sz="2400" dirty="0"/>
              <a:t> </a:t>
            </a:r>
            <a:r>
              <a:rPr lang="en-US" sz="2400" dirty="0" err="1"/>
              <a:t>konflikta</a:t>
            </a:r>
            <a:r>
              <a:rPr lang="en-US" sz="2400" dirty="0"/>
              <a:t> bez </a:t>
            </a:r>
            <a:r>
              <a:rPr lang="en-US" sz="2400" dirty="0" err="1"/>
              <a:t>izravnog</a:t>
            </a:r>
            <a:r>
              <a:rPr lang="en-US" sz="2400" dirty="0"/>
              <a:t> </a:t>
            </a:r>
            <a:r>
              <a:rPr lang="en-US" sz="2400" dirty="0" err="1"/>
              <a:t>suočavanja</a:t>
            </a:r>
            <a:r>
              <a:rPr lang="en-US" sz="2400" dirty="0"/>
              <a:t> s </a:t>
            </a:r>
            <a:r>
              <a:rPr lang="en-US" sz="2400" dirty="0" err="1"/>
              <a:t>njim</a:t>
            </a:r>
            <a:r>
              <a:rPr lang="en-US" sz="2400" dirty="0"/>
              <a:t>. </a:t>
            </a:r>
            <a:r>
              <a:rPr lang="en-US" sz="2400" dirty="0" err="1"/>
              <a:t>Korisno</a:t>
            </a:r>
            <a:r>
              <a:rPr lang="en-US" sz="2400" dirty="0"/>
              <a:t> za </a:t>
            </a:r>
            <a:r>
              <a:rPr lang="en-US" sz="2400" dirty="0" err="1"/>
              <a:t>manje</a:t>
            </a:r>
            <a:r>
              <a:rPr lang="en-US" sz="2400" dirty="0"/>
              <a:t> </a:t>
            </a:r>
            <a:r>
              <a:rPr lang="en-US" sz="2400" dirty="0" err="1"/>
              <a:t>probleme</a:t>
            </a:r>
            <a:r>
              <a:rPr lang="en-US" sz="2400" dirty="0"/>
              <a:t> </a:t>
            </a:r>
            <a:r>
              <a:rPr lang="en-US" sz="2400" dirty="0" err="1"/>
              <a:t>ili</a:t>
            </a:r>
            <a:r>
              <a:rPr lang="en-US" sz="2400" dirty="0"/>
              <a:t> </a:t>
            </a:r>
            <a:r>
              <a:rPr lang="en-US" sz="2400" dirty="0" err="1"/>
              <a:t>kada</a:t>
            </a:r>
            <a:r>
              <a:rPr lang="en-US" sz="2400" dirty="0"/>
              <a:t> je </a:t>
            </a:r>
            <a:r>
              <a:rPr lang="en-US" sz="2400" dirty="0" err="1"/>
              <a:t>potrebno</a:t>
            </a:r>
            <a:r>
              <a:rPr lang="en-US" sz="2400" dirty="0"/>
              <a:t> </a:t>
            </a:r>
            <a:r>
              <a:rPr lang="en-US" sz="2400" dirty="0" err="1"/>
              <a:t>više</a:t>
            </a:r>
            <a:r>
              <a:rPr lang="en-US" sz="2400" dirty="0"/>
              <a:t> </a:t>
            </a:r>
            <a:r>
              <a:rPr lang="en-US" sz="2400" dirty="0" err="1"/>
              <a:t>vremena</a:t>
            </a:r>
            <a:r>
              <a:rPr lang="en-US" sz="2400" dirty="0"/>
              <a:t> za </a:t>
            </a:r>
            <a:r>
              <a:rPr lang="en-US" sz="2400" dirty="0" err="1"/>
              <a:t>analizu</a:t>
            </a:r>
            <a:r>
              <a:rPr lang="en-US" sz="2400" dirty="0"/>
              <a:t>, </a:t>
            </a:r>
            <a:r>
              <a:rPr lang="en-US" sz="2400" dirty="0" err="1"/>
              <a:t>ali</a:t>
            </a:r>
            <a:r>
              <a:rPr lang="en-US" sz="2400" dirty="0"/>
              <a:t> </a:t>
            </a:r>
            <a:r>
              <a:rPr lang="en-US" sz="2400" dirty="0" err="1"/>
              <a:t>dugoročno</a:t>
            </a:r>
            <a:r>
              <a:rPr lang="en-US" sz="2400" dirty="0"/>
              <a:t> </a:t>
            </a:r>
            <a:r>
              <a:rPr lang="en-US" sz="2400" dirty="0" err="1"/>
              <a:t>može</a:t>
            </a:r>
            <a:r>
              <a:rPr lang="en-US" sz="2400" dirty="0"/>
              <a:t> </a:t>
            </a:r>
            <a:r>
              <a:rPr lang="en-US" sz="2400" dirty="0" err="1"/>
              <a:t>dovesti</a:t>
            </a:r>
            <a:r>
              <a:rPr lang="en-US" sz="2400" dirty="0"/>
              <a:t> do </a:t>
            </a:r>
            <a:r>
              <a:rPr lang="en-US" sz="2400" dirty="0" err="1"/>
              <a:t>eskalacije</a:t>
            </a:r>
            <a:r>
              <a:rPr lang="en-US" sz="2400" dirty="0"/>
              <a:t> </a:t>
            </a:r>
            <a:r>
              <a:rPr lang="en-US" sz="2400" dirty="0" err="1"/>
              <a:t>konflikta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2. </a:t>
            </a:r>
            <a:r>
              <a:rPr lang="en-US" sz="2400" b="1" dirty="0" err="1">
                <a:solidFill>
                  <a:srgbClr val="0ADBBC"/>
                </a:solidFill>
              </a:rPr>
              <a:t>Prilagođavanje</a:t>
            </a:r>
            <a:r>
              <a:rPr lang="en-US" sz="2400" b="1" dirty="0">
                <a:solidFill>
                  <a:srgbClr val="0ADBBC"/>
                </a:solidFill>
              </a:rPr>
              <a:t>/</a:t>
            </a:r>
            <a:r>
              <a:rPr lang="en-US" sz="2400" b="1" dirty="0" err="1">
                <a:solidFill>
                  <a:srgbClr val="0ADBBC"/>
                </a:solidFill>
              </a:rPr>
              <a:t>Popuštanje</a:t>
            </a:r>
            <a:r>
              <a:rPr lang="en-US" sz="2400" dirty="0"/>
              <a:t> – </a:t>
            </a:r>
            <a:r>
              <a:rPr lang="en-US" sz="2400" dirty="0" err="1"/>
              <a:t>Fokusira</a:t>
            </a:r>
            <a:r>
              <a:rPr lang="en-US" sz="2400" dirty="0"/>
              <a:t> se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održavanje</a:t>
            </a:r>
            <a:r>
              <a:rPr lang="en-US" sz="2400" dirty="0"/>
              <a:t> </a:t>
            </a:r>
            <a:r>
              <a:rPr lang="en-US" sz="2400" dirty="0" err="1"/>
              <a:t>harmonije</a:t>
            </a:r>
            <a:r>
              <a:rPr lang="en-US" sz="2400" dirty="0"/>
              <a:t> </a:t>
            </a:r>
            <a:r>
              <a:rPr lang="en-US" sz="2400" dirty="0" err="1"/>
              <a:t>popuštanjem</a:t>
            </a:r>
            <a:r>
              <a:rPr lang="en-US" sz="2400" dirty="0"/>
              <a:t> </a:t>
            </a:r>
            <a:r>
              <a:rPr lang="en-US" sz="2400" dirty="0" err="1"/>
              <a:t>drugoj</a:t>
            </a:r>
            <a:r>
              <a:rPr lang="en-US" sz="2400" dirty="0"/>
              <a:t> </a:t>
            </a:r>
            <a:r>
              <a:rPr lang="en-US" sz="2400" dirty="0" err="1"/>
              <a:t>strani</a:t>
            </a:r>
            <a:r>
              <a:rPr lang="en-US" sz="2400" dirty="0"/>
              <a:t>. </a:t>
            </a:r>
            <a:r>
              <a:rPr lang="en-US" sz="2400" dirty="0" err="1"/>
              <a:t>Učinkovito</a:t>
            </a:r>
            <a:r>
              <a:rPr lang="en-US" sz="2400" dirty="0"/>
              <a:t> za </a:t>
            </a:r>
            <a:r>
              <a:rPr lang="en-US" sz="2400" dirty="0" err="1"/>
              <a:t>dugoročne</a:t>
            </a:r>
            <a:r>
              <a:rPr lang="en-US" sz="2400" dirty="0"/>
              <a:t> </a:t>
            </a:r>
            <a:r>
              <a:rPr lang="en-US" sz="2400" dirty="0" err="1"/>
              <a:t>odnose</a:t>
            </a:r>
            <a:r>
              <a:rPr lang="en-US" sz="2400" dirty="0"/>
              <a:t>, </a:t>
            </a:r>
            <a:r>
              <a:rPr lang="en-US" sz="2400" dirty="0" err="1"/>
              <a:t>ali</a:t>
            </a:r>
            <a:r>
              <a:rPr lang="en-US" sz="2400" dirty="0"/>
              <a:t> </a:t>
            </a:r>
            <a:r>
              <a:rPr lang="en-US" sz="2400" dirty="0" err="1"/>
              <a:t>može</a:t>
            </a:r>
            <a:r>
              <a:rPr lang="en-US" sz="2400" dirty="0"/>
              <a:t> </a:t>
            </a:r>
            <a:r>
              <a:rPr lang="en-US" sz="2400" dirty="0" err="1"/>
              <a:t>uzrokovati</a:t>
            </a:r>
            <a:r>
              <a:rPr lang="en-US" sz="2400" dirty="0"/>
              <a:t> </a:t>
            </a:r>
            <a:r>
              <a:rPr lang="en-US" sz="2400" dirty="0" err="1"/>
              <a:t>frustraciju</a:t>
            </a:r>
            <a:r>
              <a:rPr lang="en-US" sz="2400" dirty="0"/>
              <a:t> </a:t>
            </a:r>
            <a:r>
              <a:rPr lang="en-US" sz="2400" dirty="0" err="1"/>
              <a:t>ako</a:t>
            </a:r>
            <a:r>
              <a:rPr lang="en-US" sz="2400" dirty="0"/>
              <a:t> se </a:t>
            </a:r>
            <a:r>
              <a:rPr lang="en-US" sz="2400" dirty="0" err="1"/>
              <a:t>prečesto</a:t>
            </a:r>
            <a:r>
              <a:rPr lang="en-US" sz="2400" dirty="0"/>
              <a:t> </a:t>
            </a:r>
            <a:r>
              <a:rPr lang="en-US" sz="2400" dirty="0" err="1"/>
              <a:t>koristi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3. </a:t>
            </a:r>
            <a:r>
              <a:rPr lang="en-US" sz="2400" b="1" dirty="0" err="1">
                <a:solidFill>
                  <a:srgbClr val="0ADBBC"/>
                </a:solidFill>
              </a:rPr>
              <a:t>Kompromis</a:t>
            </a:r>
            <a:r>
              <a:rPr lang="en-US" sz="2400" b="1" dirty="0">
                <a:solidFill>
                  <a:srgbClr val="0ADBBC"/>
                </a:solidFill>
              </a:rPr>
              <a:t>/</a:t>
            </a:r>
            <a:r>
              <a:rPr lang="en-US" sz="2400" b="1" dirty="0" err="1">
                <a:solidFill>
                  <a:srgbClr val="0ADBBC"/>
                </a:solidFill>
              </a:rPr>
              <a:t>Pomirenje</a:t>
            </a:r>
            <a:r>
              <a:rPr lang="en-US" sz="2400" dirty="0"/>
              <a:t> – </a:t>
            </a:r>
            <a:r>
              <a:rPr lang="en-US" sz="2400" dirty="0" err="1"/>
              <a:t>Obje</a:t>
            </a:r>
            <a:r>
              <a:rPr lang="en-US" sz="2400" dirty="0"/>
              <a:t> </a:t>
            </a:r>
            <a:r>
              <a:rPr lang="en-US" sz="2400" dirty="0" err="1"/>
              <a:t>strane</a:t>
            </a:r>
            <a:r>
              <a:rPr lang="en-US" sz="2400" dirty="0"/>
              <a:t> </a:t>
            </a:r>
            <a:r>
              <a:rPr lang="en-US" sz="2400" dirty="0" err="1"/>
              <a:t>odustaju</a:t>
            </a:r>
            <a:r>
              <a:rPr lang="en-US" sz="2400" dirty="0"/>
              <a:t> od </a:t>
            </a:r>
            <a:r>
              <a:rPr lang="en-US" sz="2400" dirty="0" err="1"/>
              <a:t>dijela</a:t>
            </a:r>
            <a:r>
              <a:rPr lang="en-US" sz="2400" dirty="0"/>
              <a:t> </a:t>
            </a:r>
            <a:r>
              <a:rPr lang="en-US" sz="2400" dirty="0" err="1"/>
              <a:t>svojih</a:t>
            </a:r>
            <a:r>
              <a:rPr lang="en-US" sz="2400" dirty="0"/>
              <a:t> </a:t>
            </a:r>
            <a:r>
              <a:rPr lang="en-US" sz="2400" dirty="0" err="1"/>
              <a:t>zahtjeva</a:t>
            </a:r>
            <a:r>
              <a:rPr lang="en-US" sz="2400" dirty="0"/>
              <a:t> </a:t>
            </a:r>
            <a:r>
              <a:rPr lang="en-US" sz="2400" dirty="0" err="1"/>
              <a:t>kako</a:t>
            </a:r>
            <a:r>
              <a:rPr lang="en-US" sz="2400" dirty="0"/>
              <a:t> bi se </a:t>
            </a:r>
            <a:r>
              <a:rPr lang="en-US" sz="2400" dirty="0" err="1"/>
              <a:t>postiglo</a:t>
            </a:r>
            <a:r>
              <a:rPr lang="en-US" sz="2400" dirty="0"/>
              <a:t> </a:t>
            </a:r>
            <a:r>
              <a:rPr lang="en-US" sz="2400" dirty="0" err="1"/>
              <a:t>prihvatljivo</a:t>
            </a:r>
            <a:r>
              <a:rPr lang="en-US" sz="2400" dirty="0"/>
              <a:t> </a:t>
            </a:r>
            <a:r>
              <a:rPr lang="en-US" sz="2400" dirty="0" err="1"/>
              <a:t>rješenje</a:t>
            </a:r>
            <a:r>
              <a:rPr lang="en-US" sz="2400" dirty="0"/>
              <a:t>. To je </a:t>
            </a:r>
            <a:r>
              <a:rPr lang="en-US" sz="2400" dirty="0" err="1"/>
              <a:t>brz</a:t>
            </a:r>
            <a:r>
              <a:rPr lang="en-US" sz="2400" dirty="0"/>
              <a:t> i </a:t>
            </a:r>
            <a:r>
              <a:rPr lang="en-US" sz="2400" dirty="0" err="1"/>
              <a:t>uravnotežen</a:t>
            </a:r>
            <a:r>
              <a:rPr lang="en-US" sz="2400" dirty="0"/>
              <a:t> </a:t>
            </a:r>
            <a:r>
              <a:rPr lang="en-US" sz="2400" dirty="0" err="1"/>
              <a:t>pristup</a:t>
            </a:r>
            <a:r>
              <a:rPr lang="en-US" sz="2400" dirty="0"/>
              <a:t>, </a:t>
            </a:r>
            <a:r>
              <a:rPr lang="en-US" sz="2400" dirty="0" err="1"/>
              <a:t>ali</a:t>
            </a:r>
            <a:r>
              <a:rPr lang="en-US" sz="2400" dirty="0"/>
              <a:t> ne mora </a:t>
            </a:r>
            <a:r>
              <a:rPr lang="en-US" sz="2400" dirty="0" err="1"/>
              <a:t>uvijek</a:t>
            </a:r>
            <a:r>
              <a:rPr lang="en-US" sz="2400" dirty="0"/>
              <a:t> </a:t>
            </a:r>
            <a:r>
              <a:rPr lang="en-US" sz="2400" dirty="0" err="1"/>
              <a:t>donijeti</a:t>
            </a:r>
            <a:r>
              <a:rPr lang="en-US" sz="2400" dirty="0"/>
              <a:t> </a:t>
            </a:r>
            <a:r>
              <a:rPr lang="en-US" sz="2400" dirty="0" err="1"/>
              <a:t>najbolje</a:t>
            </a:r>
            <a:r>
              <a:rPr lang="en-US" sz="2400" dirty="0"/>
              <a:t> </a:t>
            </a:r>
            <a:r>
              <a:rPr lang="en-US" sz="2400" dirty="0" err="1"/>
              <a:t>rješenje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23176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757C6-BD4C-481F-C3B3-9ACACC66C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851CA-F1AF-770C-90D3-EF821634C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STRATEGIJE UPRAVLJANJA KONFLIKTIMA II.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A9778-3BBE-5B54-5FD3-158108B54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4. </a:t>
            </a:r>
            <a:r>
              <a:rPr lang="en-US" sz="2600" b="1" dirty="0" err="1">
                <a:solidFill>
                  <a:srgbClr val="0ADBBC"/>
                </a:solidFill>
              </a:rPr>
              <a:t>Nametanje</a:t>
            </a:r>
            <a:r>
              <a:rPr lang="en-US" sz="2600" b="1" dirty="0">
                <a:solidFill>
                  <a:srgbClr val="0ADBBC"/>
                </a:solidFill>
              </a:rPr>
              <a:t>/</a:t>
            </a:r>
            <a:r>
              <a:rPr lang="en-US" sz="2600" b="1" dirty="0" err="1">
                <a:solidFill>
                  <a:srgbClr val="0ADBBC"/>
                </a:solidFill>
              </a:rPr>
              <a:t>Direktno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rješavanje</a:t>
            </a:r>
            <a:r>
              <a:rPr lang="en-US" sz="2600" dirty="0"/>
              <a:t> – </a:t>
            </a:r>
            <a:r>
              <a:rPr lang="en-US" sz="2600" dirty="0" err="1"/>
              <a:t>Oslanja</a:t>
            </a:r>
            <a:r>
              <a:rPr lang="en-US" sz="2600" dirty="0"/>
              <a:t> se </a:t>
            </a:r>
            <a:r>
              <a:rPr lang="en-US" sz="2600" dirty="0" err="1"/>
              <a:t>na</a:t>
            </a:r>
            <a:r>
              <a:rPr lang="en-US" sz="2600" dirty="0"/>
              <a:t> </a:t>
            </a:r>
            <a:r>
              <a:rPr lang="en-US" sz="2600" dirty="0" err="1"/>
              <a:t>autoritet</a:t>
            </a:r>
            <a:r>
              <a:rPr lang="en-US" sz="2600" dirty="0"/>
              <a:t> </a:t>
            </a:r>
            <a:r>
              <a:rPr lang="en-US" sz="2600" dirty="0" err="1"/>
              <a:t>ili</a:t>
            </a:r>
            <a:r>
              <a:rPr lang="en-US" sz="2600" dirty="0"/>
              <a:t> </a:t>
            </a:r>
            <a:r>
              <a:rPr lang="en-US" sz="2600" dirty="0" err="1"/>
              <a:t>moć</a:t>
            </a:r>
            <a:r>
              <a:rPr lang="en-US" sz="2600" dirty="0"/>
              <a:t> </a:t>
            </a:r>
            <a:r>
              <a:rPr lang="en-US" sz="2600" dirty="0" err="1"/>
              <a:t>kako</a:t>
            </a:r>
            <a:r>
              <a:rPr lang="en-US" sz="2600" dirty="0"/>
              <a:t> bi se </a:t>
            </a:r>
            <a:r>
              <a:rPr lang="en-US" sz="2600" dirty="0" err="1"/>
              <a:t>konflikt</a:t>
            </a:r>
            <a:r>
              <a:rPr lang="en-US" sz="2600" dirty="0"/>
              <a:t> </a:t>
            </a:r>
            <a:r>
              <a:rPr lang="en-US" sz="2600" dirty="0" err="1"/>
              <a:t>riješio</a:t>
            </a:r>
            <a:r>
              <a:rPr lang="en-US" sz="2600" dirty="0"/>
              <a:t>. </a:t>
            </a:r>
            <a:r>
              <a:rPr lang="en-US" sz="2600" dirty="0" err="1"/>
              <a:t>Djelotvorno</a:t>
            </a:r>
            <a:r>
              <a:rPr lang="en-US" sz="2600" dirty="0"/>
              <a:t> je u </a:t>
            </a:r>
            <a:r>
              <a:rPr lang="en-US" sz="2600" dirty="0" err="1"/>
              <a:t>kritičnim</a:t>
            </a:r>
            <a:r>
              <a:rPr lang="en-US" sz="2600" dirty="0"/>
              <a:t> </a:t>
            </a:r>
            <a:r>
              <a:rPr lang="en-US" sz="2600" dirty="0" err="1"/>
              <a:t>situacijama</a:t>
            </a:r>
            <a:r>
              <a:rPr lang="en-US" sz="2600" dirty="0"/>
              <a:t>, </a:t>
            </a:r>
            <a:r>
              <a:rPr lang="en-US" sz="2600" dirty="0" err="1"/>
              <a:t>ali</a:t>
            </a:r>
            <a:r>
              <a:rPr lang="en-US" sz="2600" dirty="0"/>
              <a:t> </a:t>
            </a:r>
            <a:r>
              <a:rPr lang="en-US" sz="2600" dirty="0" err="1"/>
              <a:t>može</a:t>
            </a:r>
            <a:r>
              <a:rPr lang="en-US" sz="2600" dirty="0"/>
              <a:t> </a:t>
            </a:r>
            <a:r>
              <a:rPr lang="en-US" sz="2600" dirty="0" err="1"/>
              <a:t>izazvati</a:t>
            </a:r>
            <a:r>
              <a:rPr lang="en-US" sz="2600" dirty="0"/>
              <a:t> </a:t>
            </a:r>
            <a:r>
              <a:rPr lang="en-US" sz="2600" dirty="0" err="1"/>
              <a:t>nezadovoljstvo</a:t>
            </a:r>
            <a:r>
              <a:rPr lang="en-US" sz="2600" dirty="0"/>
              <a:t> i </a:t>
            </a:r>
            <a:r>
              <a:rPr lang="en-US" sz="2600" dirty="0" err="1"/>
              <a:t>otpor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5. </a:t>
            </a:r>
            <a:r>
              <a:rPr lang="en-US" sz="2600" b="1" dirty="0" err="1">
                <a:solidFill>
                  <a:srgbClr val="0ADBBC"/>
                </a:solidFill>
              </a:rPr>
              <a:t>Suradnja</a:t>
            </a:r>
            <a:r>
              <a:rPr lang="en-US" sz="2600" b="1" dirty="0">
                <a:solidFill>
                  <a:srgbClr val="0ADBBC"/>
                </a:solidFill>
              </a:rPr>
              <a:t>/</a:t>
            </a:r>
            <a:r>
              <a:rPr lang="en-US" sz="2600" b="1" dirty="0" err="1">
                <a:solidFill>
                  <a:srgbClr val="0ADBBC"/>
                </a:solidFill>
              </a:rPr>
              <a:t>Rješavanje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problema</a:t>
            </a:r>
            <a:r>
              <a:rPr lang="en-US" sz="2600" dirty="0"/>
              <a:t> – </a:t>
            </a:r>
            <a:r>
              <a:rPr lang="en-US" sz="2600" dirty="0" err="1"/>
              <a:t>Podrazumijeva</a:t>
            </a:r>
            <a:r>
              <a:rPr lang="en-US" sz="2600" dirty="0"/>
              <a:t> </a:t>
            </a:r>
            <a:r>
              <a:rPr lang="en-US" sz="2600" dirty="0" err="1"/>
              <a:t>pronalaženje</a:t>
            </a:r>
            <a:r>
              <a:rPr lang="en-US" sz="2600" dirty="0"/>
              <a:t> </a:t>
            </a:r>
            <a:r>
              <a:rPr lang="en-US" sz="2600" dirty="0" err="1"/>
              <a:t>rješenja</a:t>
            </a:r>
            <a:r>
              <a:rPr lang="en-US" sz="2600" dirty="0"/>
              <a:t> </a:t>
            </a:r>
            <a:r>
              <a:rPr lang="en-US" sz="2600" dirty="0" err="1"/>
              <a:t>koje</a:t>
            </a:r>
            <a:r>
              <a:rPr lang="en-US" sz="2600" dirty="0"/>
              <a:t> </a:t>
            </a:r>
            <a:r>
              <a:rPr lang="en-US" sz="2600" dirty="0" err="1"/>
              <a:t>zadovoljava</a:t>
            </a:r>
            <a:r>
              <a:rPr lang="en-US" sz="2600" dirty="0"/>
              <a:t> </a:t>
            </a:r>
            <a:r>
              <a:rPr lang="en-US" sz="2600" dirty="0" err="1"/>
              <a:t>sve</a:t>
            </a:r>
            <a:r>
              <a:rPr lang="en-US" sz="2600" dirty="0"/>
              <a:t> </a:t>
            </a:r>
            <a:r>
              <a:rPr lang="en-US" sz="2600" dirty="0" err="1"/>
              <a:t>strane</a:t>
            </a:r>
            <a:r>
              <a:rPr lang="en-US" sz="2600" dirty="0"/>
              <a:t>. To je </a:t>
            </a:r>
            <a:r>
              <a:rPr lang="en-US" sz="2600" dirty="0" err="1"/>
              <a:t>najučinkovitija</a:t>
            </a:r>
            <a:r>
              <a:rPr lang="en-US" sz="2600" dirty="0"/>
              <a:t> </a:t>
            </a:r>
            <a:r>
              <a:rPr lang="en-US" sz="2600" dirty="0" err="1"/>
              <a:t>dugoročna</a:t>
            </a:r>
            <a:r>
              <a:rPr lang="en-US" sz="2600" dirty="0"/>
              <a:t> </a:t>
            </a:r>
            <a:r>
              <a:rPr lang="en-US" sz="2600" dirty="0" err="1"/>
              <a:t>strategija</a:t>
            </a:r>
            <a:r>
              <a:rPr lang="en-US" sz="2600" dirty="0"/>
              <a:t>, </a:t>
            </a:r>
            <a:r>
              <a:rPr lang="en-US" sz="2600" dirty="0" err="1"/>
              <a:t>ali</a:t>
            </a:r>
            <a:r>
              <a:rPr lang="en-US" sz="2600" dirty="0"/>
              <a:t> </a:t>
            </a:r>
            <a:r>
              <a:rPr lang="en-US" sz="2600" dirty="0" err="1"/>
              <a:t>zahtijeva</a:t>
            </a:r>
            <a:r>
              <a:rPr lang="en-US" sz="2600" dirty="0"/>
              <a:t> </a:t>
            </a:r>
            <a:r>
              <a:rPr lang="en-US" sz="2600" dirty="0" err="1"/>
              <a:t>vrijeme</a:t>
            </a:r>
            <a:r>
              <a:rPr lang="en-US" sz="2600" dirty="0"/>
              <a:t> i </a:t>
            </a:r>
            <a:r>
              <a:rPr lang="en-US" sz="2600" dirty="0" err="1"/>
              <a:t>trud</a:t>
            </a:r>
            <a:r>
              <a:rPr lang="en-US" sz="2600" dirty="0"/>
              <a:t> za </a:t>
            </a:r>
            <a:r>
              <a:rPr lang="en-US" sz="2600" dirty="0" err="1"/>
              <a:t>komunikaciju</a:t>
            </a:r>
            <a:r>
              <a:rPr lang="en-US" sz="2600" dirty="0"/>
              <a:t> i </a:t>
            </a:r>
            <a:r>
              <a:rPr lang="en-US" sz="2600" dirty="0" err="1"/>
              <a:t>pregovaranje</a:t>
            </a:r>
            <a:r>
              <a:rPr lang="en-U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7386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3EC0F-CD10-D540-B17B-2B6A566DF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64" y="28090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4200" dirty="0"/>
              <a:t>Utjecaj </a:t>
            </a:r>
            <a:r>
              <a:rPr lang="en-US" sz="4200" dirty="0" err="1"/>
              <a:t>rješavanja</a:t>
            </a:r>
            <a:r>
              <a:rPr lang="en-US" sz="4200" dirty="0"/>
              <a:t> </a:t>
            </a:r>
            <a:r>
              <a:rPr lang="en-US" sz="4200" dirty="0" err="1"/>
              <a:t>konflikata</a:t>
            </a:r>
            <a:r>
              <a:rPr lang="en-US" sz="4200" dirty="0"/>
              <a:t> </a:t>
            </a:r>
            <a:r>
              <a:rPr lang="en-US" sz="4200" dirty="0" err="1"/>
              <a:t>na</a:t>
            </a:r>
            <a:r>
              <a:rPr lang="en-US" sz="4200" dirty="0"/>
              <a:t> </a:t>
            </a:r>
            <a:r>
              <a:rPr lang="en-US" sz="4200" dirty="0" err="1"/>
              <a:t>dinamiku</a:t>
            </a:r>
            <a:r>
              <a:rPr lang="en-US" sz="4200" dirty="0"/>
              <a:t> </a:t>
            </a:r>
            <a:r>
              <a:rPr lang="en-US" sz="4200" dirty="0" err="1"/>
              <a:t>tima</a:t>
            </a:r>
            <a:r>
              <a:rPr lang="en-US" sz="4200" dirty="0"/>
              <a:t> i </a:t>
            </a:r>
            <a:r>
              <a:rPr lang="en-US" sz="4200" dirty="0" err="1"/>
              <a:t>uspjeh</a:t>
            </a:r>
            <a:r>
              <a:rPr lang="en-US" sz="4200" dirty="0"/>
              <a:t> </a:t>
            </a:r>
            <a:r>
              <a:rPr lang="en-US" sz="4200" dirty="0" err="1"/>
              <a:t>projekta</a:t>
            </a:r>
            <a:r>
              <a:rPr lang="en-US" sz="4200" dirty="0"/>
              <a:t> I.  </a:t>
            </a:r>
            <a:br>
              <a:rPr lang="en-US" b="1" dirty="0">
                <a:latin typeface="Bahnschrift SemiLight" panose="020B0502040204020203" pitchFamily="34" charset="0"/>
              </a:rPr>
            </a:br>
            <a:endParaRPr lang="en-US" b="1" dirty="0">
              <a:latin typeface="Bahnschrift SemiLigh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0BD20-0808-BD0A-3EDA-2BC2B4625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464" y="1831389"/>
            <a:ext cx="10628335" cy="46614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dirty="0" err="1"/>
              <a:t>Učinkovito</a:t>
            </a:r>
            <a:r>
              <a:rPr lang="en-US" sz="2600" dirty="0"/>
              <a:t> </a:t>
            </a:r>
            <a:r>
              <a:rPr lang="en-US" sz="2600" dirty="0" err="1"/>
              <a:t>rješavanje</a:t>
            </a:r>
            <a:r>
              <a:rPr lang="en-US" sz="2600" dirty="0"/>
              <a:t> </a:t>
            </a:r>
            <a:r>
              <a:rPr lang="en-US" sz="2600" dirty="0" err="1"/>
              <a:t>konflikata</a:t>
            </a:r>
            <a:r>
              <a:rPr lang="en-US" sz="2600" dirty="0"/>
              <a:t> </a:t>
            </a:r>
            <a:r>
              <a:rPr lang="en-US" sz="2600" dirty="0" err="1"/>
              <a:t>ima</a:t>
            </a:r>
            <a:r>
              <a:rPr lang="en-US" sz="2600" dirty="0"/>
              <a:t> </a:t>
            </a:r>
            <a:r>
              <a:rPr lang="en-US" sz="2600" dirty="0" err="1"/>
              <a:t>ključnu</a:t>
            </a:r>
            <a:r>
              <a:rPr lang="en-US" sz="2600" dirty="0"/>
              <a:t> </a:t>
            </a:r>
            <a:r>
              <a:rPr lang="en-US" sz="2600" dirty="0" err="1"/>
              <a:t>ulogu</a:t>
            </a:r>
            <a:r>
              <a:rPr lang="en-US" sz="2600" dirty="0"/>
              <a:t> u </a:t>
            </a:r>
            <a:r>
              <a:rPr lang="en-US" sz="2600" dirty="0" err="1"/>
              <a:t>oblikovanju</a:t>
            </a:r>
            <a:r>
              <a:rPr lang="en-US" sz="2600" dirty="0"/>
              <a:t> </a:t>
            </a:r>
            <a:r>
              <a:rPr lang="en-US" sz="2600" dirty="0" err="1"/>
              <a:t>dinamike</a:t>
            </a:r>
            <a:r>
              <a:rPr lang="en-US" sz="2600" dirty="0"/>
              <a:t> </a:t>
            </a:r>
            <a:r>
              <a:rPr lang="en-US" sz="2600" dirty="0" err="1"/>
              <a:t>tima</a:t>
            </a:r>
            <a:r>
              <a:rPr lang="en-US" sz="2600" dirty="0"/>
              <a:t> i </a:t>
            </a:r>
            <a:r>
              <a:rPr lang="en-US" sz="2600" dirty="0" err="1"/>
              <a:t>određivanju</a:t>
            </a:r>
            <a:r>
              <a:rPr lang="en-US" sz="2600" dirty="0"/>
              <a:t> </a:t>
            </a:r>
            <a:r>
              <a:rPr lang="en-US" sz="2600" dirty="0" err="1"/>
              <a:t>uspjeha</a:t>
            </a:r>
            <a:r>
              <a:rPr lang="en-US" sz="2600" dirty="0"/>
              <a:t> </a:t>
            </a:r>
            <a:r>
              <a:rPr lang="en-US" sz="2600" dirty="0" err="1"/>
              <a:t>projekta</a:t>
            </a:r>
            <a:r>
              <a:rPr lang="en-US" sz="2600" dirty="0"/>
              <a:t>. Evo </a:t>
            </a:r>
            <a:r>
              <a:rPr lang="en-US" sz="2600" dirty="0" err="1"/>
              <a:t>kako</a:t>
            </a:r>
            <a:r>
              <a:rPr lang="en-US" sz="2600" dirty="0"/>
              <a:t>: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1. </a:t>
            </a:r>
            <a:r>
              <a:rPr lang="en-US" sz="2600" b="1" dirty="0" err="1">
                <a:solidFill>
                  <a:srgbClr val="0ADBBC"/>
                </a:solidFill>
              </a:rPr>
              <a:t>Poboljšana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suradnja</a:t>
            </a:r>
            <a:r>
              <a:rPr lang="en-US" sz="2600" b="1" dirty="0">
                <a:solidFill>
                  <a:srgbClr val="0ADBBC"/>
                </a:solidFill>
              </a:rPr>
              <a:t> u </a:t>
            </a:r>
            <a:r>
              <a:rPr lang="en-US" sz="2600" b="1" dirty="0" err="1">
                <a:solidFill>
                  <a:srgbClr val="0ADBBC"/>
                </a:solidFill>
              </a:rPr>
              <a:t>timu</a:t>
            </a:r>
            <a:r>
              <a:rPr lang="en-US" sz="2600" dirty="0"/>
              <a:t> – </a:t>
            </a:r>
            <a:r>
              <a:rPr lang="en-US" sz="2600" dirty="0" err="1"/>
              <a:t>Konstruktivno</a:t>
            </a:r>
            <a:r>
              <a:rPr lang="en-US" sz="2600" dirty="0"/>
              <a:t> </a:t>
            </a:r>
            <a:r>
              <a:rPr lang="en-US" sz="2600" dirty="0" err="1"/>
              <a:t>rješavanje</a:t>
            </a:r>
            <a:r>
              <a:rPr lang="en-US" sz="2600" dirty="0"/>
              <a:t> </a:t>
            </a:r>
            <a:r>
              <a:rPr lang="en-US" sz="2600" dirty="0" err="1"/>
              <a:t>konflikata</a:t>
            </a:r>
            <a:r>
              <a:rPr lang="en-US" sz="2600" dirty="0"/>
              <a:t> </a:t>
            </a:r>
            <a:r>
              <a:rPr lang="en-US" sz="2600" dirty="0" err="1"/>
              <a:t>potiče</a:t>
            </a:r>
            <a:r>
              <a:rPr lang="en-US" sz="2600" dirty="0"/>
              <a:t> </a:t>
            </a:r>
            <a:r>
              <a:rPr lang="en-US" sz="2600" dirty="0" err="1"/>
              <a:t>kulturu</a:t>
            </a:r>
            <a:r>
              <a:rPr lang="en-US" sz="2600" dirty="0"/>
              <a:t> </a:t>
            </a:r>
            <a:r>
              <a:rPr lang="en-US" sz="2600" dirty="0" err="1"/>
              <a:t>otvorene</a:t>
            </a:r>
            <a:r>
              <a:rPr lang="en-US" sz="2600" dirty="0"/>
              <a:t> </a:t>
            </a:r>
            <a:r>
              <a:rPr lang="en-US" sz="2600" dirty="0" err="1"/>
              <a:t>komunikacije</a:t>
            </a:r>
            <a:r>
              <a:rPr lang="en-US" sz="2600" dirty="0"/>
              <a:t> i </a:t>
            </a:r>
            <a:r>
              <a:rPr lang="en-US" sz="2600" dirty="0" err="1"/>
              <a:t>povjerenja</a:t>
            </a:r>
            <a:r>
              <a:rPr lang="en-US" sz="2600" dirty="0"/>
              <a:t>, </a:t>
            </a:r>
            <a:r>
              <a:rPr lang="en-US" sz="2600" dirty="0" err="1"/>
              <a:t>što</a:t>
            </a:r>
            <a:r>
              <a:rPr lang="en-US" sz="2600" dirty="0"/>
              <a:t> </a:t>
            </a:r>
            <a:r>
              <a:rPr lang="en-US" sz="2600" dirty="0" err="1"/>
              <a:t>omogućuje</a:t>
            </a:r>
            <a:r>
              <a:rPr lang="en-US" sz="2600" dirty="0"/>
              <a:t> </a:t>
            </a:r>
            <a:r>
              <a:rPr lang="en-US" sz="2600" dirty="0" err="1"/>
              <a:t>članovima</a:t>
            </a:r>
            <a:r>
              <a:rPr lang="en-US" sz="2600" dirty="0"/>
              <a:t> </a:t>
            </a:r>
            <a:r>
              <a:rPr lang="en-US" sz="2600" dirty="0" err="1"/>
              <a:t>tima</a:t>
            </a:r>
            <a:r>
              <a:rPr lang="en-US" sz="2600" dirty="0"/>
              <a:t> </a:t>
            </a:r>
            <a:r>
              <a:rPr lang="en-US" sz="2600" dirty="0" err="1"/>
              <a:t>učinkovitiju</a:t>
            </a:r>
            <a:r>
              <a:rPr lang="en-US" sz="2600" dirty="0"/>
              <a:t> </a:t>
            </a:r>
            <a:r>
              <a:rPr lang="en-US" sz="2600" dirty="0" err="1"/>
              <a:t>suradnju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2. </a:t>
            </a:r>
            <a:r>
              <a:rPr lang="en-US" sz="2600" b="1" dirty="0" err="1">
                <a:solidFill>
                  <a:srgbClr val="0ADBBC"/>
                </a:solidFill>
              </a:rPr>
              <a:t>Unaprijeđeno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donošenje</a:t>
            </a:r>
            <a:r>
              <a:rPr lang="en-US" sz="2600" b="1" dirty="0">
                <a:solidFill>
                  <a:srgbClr val="0ADBBC"/>
                </a:solidFill>
              </a:rPr>
              <a:t> </a:t>
            </a:r>
            <a:r>
              <a:rPr lang="en-US" sz="2600" b="1" dirty="0" err="1">
                <a:solidFill>
                  <a:srgbClr val="0ADBBC"/>
                </a:solidFill>
              </a:rPr>
              <a:t>odluka</a:t>
            </a:r>
            <a:r>
              <a:rPr lang="en-US" sz="2600" dirty="0"/>
              <a:t> – </a:t>
            </a:r>
            <a:r>
              <a:rPr lang="en-US" sz="2600" dirty="0" err="1"/>
              <a:t>Rješavanje</a:t>
            </a:r>
            <a:r>
              <a:rPr lang="en-US" sz="2600" dirty="0"/>
              <a:t> </a:t>
            </a:r>
            <a:r>
              <a:rPr lang="en-US" sz="2600" dirty="0" err="1"/>
              <a:t>konflikata</a:t>
            </a:r>
            <a:r>
              <a:rPr lang="en-US" sz="2600" dirty="0"/>
              <a:t> </a:t>
            </a:r>
            <a:r>
              <a:rPr lang="en-US" sz="2600" dirty="0" err="1"/>
              <a:t>potiče</a:t>
            </a:r>
            <a:r>
              <a:rPr lang="en-US" sz="2600" dirty="0"/>
              <a:t> </a:t>
            </a:r>
            <a:r>
              <a:rPr lang="en-US" sz="2600" dirty="0" err="1"/>
              <a:t>razmjenu</a:t>
            </a:r>
            <a:r>
              <a:rPr lang="en-US" sz="2600" dirty="0"/>
              <a:t> </a:t>
            </a:r>
            <a:r>
              <a:rPr lang="en-US" sz="2600" dirty="0" err="1"/>
              <a:t>različitih</a:t>
            </a:r>
            <a:r>
              <a:rPr lang="en-US" sz="2600" dirty="0"/>
              <a:t> </a:t>
            </a:r>
            <a:r>
              <a:rPr lang="en-US" sz="2600" dirty="0" err="1"/>
              <a:t>perspektiva</a:t>
            </a:r>
            <a:r>
              <a:rPr lang="en-US" sz="2600" dirty="0"/>
              <a:t>, </a:t>
            </a:r>
            <a:r>
              <a:rPr lang="en-US" sz="2600" dirty="0" err="1"/>
              <a:t>što</a:t>
            </a:r>
            <a:r>
              <a:rPr lang="en-US" sz="2600" dirty="0"/>
              <a:t> </a:t>
            </a:r>
            <a:r>
              <a:rPr lang="en-US" sz="2600" dirty="0" err="1"/>
              <a:t>dovodi</a:t>
            </a:r>
            <a:r>
              <a:rPr lang="en-US" sz="2600" dirty="0"/>
              <a:t> do </a:t>
            </a:r>
            <a:r>
              <a:rPr lang="en-US" sz="2600" dirty="0" err="1"/>
              <a:t>kvalitetnijih</a:t>
            </a:r>
            <a:r>
              <a:rPr lang="en-US" sz="2600" dirty="0"/>
              <a:t> i </a:t>
            </a:r>
            <a:r>
              <a:rPr lang="en-US" sz="2600" dirty="0" err="1"/>
              <a:t>inovativnijih</a:t>
            </a:r>
            <a:r>
              <a:rPr lang="en-US" sz="2600" dirty="0"/>
              <a:t> </a:t>
            </a:r>
            <a:r>
              <a:rPr lang="en-US" sz="2600" dirty="0" err="1"/>
              <a:t>rješenja</a:t>
            </a:r>
            <a:r>
              <a:rPr lang="en-US" sz="2600" dirty="0"/>
              <a:t>. </a:t>
            </a:r>
            <a:r>
              <a:rPr lang="en-US" sz="2600" dirty="0" err="1"/>
              <a:t>Timovi</a:t>
            </a:r>
            <a:r>
              <a:rPr lang="en-US" sz="2600" dirty="0"/>
              <a:t> koji dobro </a:t>
            </a:r>
            <a:r>
              <a:rPr lang="en-US" sz="2600" dirty="0" err="1"/>
              <a:t>upravljaju</a:t>
            </a:r>
            <a:r>
              <a:rPr lang="en-US" sz="2600" dirty="0"/>
              <a:t> </a:t>
            </a:r>
            <a:r>
              <a:rPr lang="en-US" sz="2600" dirty="0" err="1"/>
              <a:t>konfliktima</a:t>
            </a:r>
            <a:r>
              <a:rPr lang="en-US" sz="2600" dirty="0"/>
              <a:t> </a:t>
            </a:r>
            <a:r>
              <a:rPr lang="en-US" sz="2600" dirty="0" err="1"/>
              <a:t>donose</a:t>
            </a:r>
            <a:r>
              <a:rPr lang="en-US" sz="2600" dirty="0"/>
              <a:t> </a:t>
            </a:r>
            <a:r>
              <a:rPr lang="en-US" sz="2600" dirty="0" err="1"/>
              <a:t>informiranije</a:t>
            </a:r>
            <a:r>
              <a:rPr lang="en-US" sz="2600" dirty="0"/>
              <a:t> i </a:t>
            </a:r>
            <a:r>
              <a:rPr lang="en-US" sz="2600" dirty="0" err="1"/>
              <a:t>strateški</a:t>
            </a:r>
            <a:r>
              <a:rPr lang="en-US" sz="2600" dirty="0"/>
              <a:t> </a:t>
            </a:r>
            <a:r>
              <a:rPr lang="en-US" sz="2600" dirty="0" err="1"/>
              <a:t>bolje</a:t>
            </a:r>
            <a:r>
              <a:rPr lang="en-US" sz="2600" dirty="0"/>
              <a:t> </a:t>
            </a:r>
            <a:r>
              <a:rPr lang="en-US" sz="2600" dirty="0" err="1"/>
              <a:t>odluke</a:t>
            </a:r>
            <a:r>
              <a:rPr lang="en-US" sz="2600" dirty="0"/>
              <a:t>.</a:t>
            </a:r>
          </a:p>
          <a:p>
            <a:endParaRPr lang="en-US" sz="26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8543429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FB545-8542-C56C-688B-D5E715290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FF793-1A97-8CC9-E44E-0FA18AF04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/>
              <a:t>Utjecaj </a:t>
            </a:r>
            <a:r>
              <a:rPr lang="en-US" sz="3800" dirty="0" err="1"/>
              <a:t>rješavanja</a:t>
            </a:r>
            <a:r>
              <a:rPr lang="en-US" sz="3800" dirty="0"/>
              <a:t> </a:t>
            </a:r>
            <a:r>
              <a:rPr lang="en-US" sz="3800" dirty="0" err="1"/>
              <a:t>konflikata</a:t>
            </a:r>
            <a:r>
              <a:rPr lang="en-US" sz="3800" dirty="0"/>
              <a:t> </a:t>
            </a:r>
            <a:r>
              <a:rPr lang="en-US" sz="3800" dirty="0" err="1"/>
              <a:t>na</a:t>
            </a:r>
            <a:r>
              <a:rPr lang="en-US" sz="3800" dirty="0"/>
              <a:t> </a:t>
            </a:r>
            <a:r>
              <a:rPr lang="en-US" sz="3800" dirty="0" err="1"/>
              <a:t>dinamiku</a:t>
            </a:r>
            <a:r>
              <a:rPr lang="en-US" sz="3800" dirty="0"/>
              <a:t> </a:t>
            </a:r>
            <a:r>
              <a:rPr lang="en-US" sz="3800" dirty="0" err="1"/>
              <a:t>tima</a:t>
            </a:r>
            <a:r>
              <a:rPr lang="en-US" sz="3800" dirty="0"/>
              <a:t> i </a:t>
            </a:r>
            <a:r>
              <a:rPr lang="en-US" sz="3800" dirty="0" err="1"/>
              <a:t>uspjeh</a:t>
            </a:r>
            <a:r>
              <a:rPr lang="en-US" sz="3800" dirty="0"/>
              <a:t> </a:t>
            </a:r>
            <a:r>
              <a:rPr lang="en-US" sz="3800" dirty="0" err="1"/>
              <a:t>projekta</a:t>
            </a:r>
            <a:r>
              <a:rPr lang="en-US" sz="3800" dirty="0"/>
              <a:t>  II.  </a:t>
            </a:r>
            <a:br>
              <a:rPr lang="en-US" sz="3800" dirty="0"/>
            </a:b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1D66A-767B-3BB7-2BB5-0D0E908AC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09" y="1690687"/>
            <a:ext cx="11080480" cy="4914649"/>
          </a:xfrm>
        </p:spPr>
        <p:txBody>
          <a:bodyPr>
            <a:noAutofit/>
          </a:bodyPr>
          <a:lstStyle/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3. </a:t>
            </a:r>
            <a:r>
              <a:rPr lang="en-US" sz="2400" b="1" dirty="0" err="1">
                <a:solidFill>
                  <a:srgbClr val="0ADBBC"/>
                </a:solidFill>
              </a:rPr>
              <a:t>Povećana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produktivnost</a:t>
            </a:r>
            <a:r>
              <a:rPr lang="en-US" sz="2400" dirty="0"/>
              <a:t> – </a:t>
            </a:r>
            <a:r>
              <a:rPr lang="en-US" sz="2400" dirty="0" err="1"/>
              <a:t>Neriješeni</a:t>
            </a:r>
            <a:r>
              <a:rPr lang="en-US" sz="2400" dirty="0"/>
              <a:t> </a:t>
            </a:r>
            <a:r>
              <a:rPr lang="en-US" sz="2400" dirty="0" err="1"/>
              <a:t>konflikti</a:t>
            </a:r>
            <a:r>
              <a:rPr lang="en-US" sz="2400" dirty="0"/>
              <a:t> </a:t>
            </a:r>
            <a:r>
              <a:rPr lang="en-US" sz="2400" dirty="0" err="1"/>
              <a:t>mogu</a:t>
            </a:r>
            <a:r>
              <a:rPr lang="en-US" sz="2400" dirty="0"/>
              <a:t> </a:t>
            </a:r>
            <a:r>
              <a:rPr lang="en-US" sz="2400" dirty="0" err="1"/>
              <a:t>trošiti</a:t>
            </a:r>
            <a:r>
              <a:rPr lang="en-US" sz="2400" dirty="0"/>
              <a:t> </a:t>
            </a:r>
            <a:r>
              <a:rPr lang="en-US" sz="2400" dirty="0" err="1"/>
              <a:t>vrijeme</a:t>
            </a:r>
            <a:r>
              <a:rPr lang="en-US" sz="2400" dirty="0"/>
              <a:t> i </a:t>
            </a:r>
            <a:r>
              <a:rPr lang="en-US" sz="2400" dirty="0" err="1"/>
              <a:t>energiju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smanjiti</a:t>
            </a:r>
            <a:r>
              <a:rPr lang="en-US" sz="2400" dirty="0"/>
              <a:t> </a:t>
            </a:r>
            <a:r>
              <a:rPr lang="en-US" sz="2400" dirty="0" err="1"/>
              <a:t>učinkovitost</a:t>
            </a:r>
            <a:r>
              <a:rPr lang="en-US" sz="2400" dirty="0"/>
              <a:t>. </a:t>
            </a:r>
            <a:r>
              <a:rPr lang="en-US" sz="2400" dirty="0" err="1"/>
              <a:t>Učinkovito</a:t>
            </a:r>
            <a:r>
              <a:rPr lang="en-US" sz="2400" dirty="0"/>
              <a:t> </a:t>
            </a:r>
            <a:r>
              <a:rPr lang="en-US" sz="2400" dirty="0" err="1"/>
              <a:t>upravljanje</a:t>
            </a:r>
            <a:r>
              <a:rPr lang="en-US" sz="2400" dirty="0"/>
              <a:t> </a:t>
            </a:r>
            <a:r>
              <a:rPr lang="en-US" sz="2400" dirty="0" err="1"/>
              <a:t>konfliktima</a:t>
            </a:r>
            <a:r>
              <a:rPr lang="en-US" sz="2400" dirty="0"/>
              <a:t> </a:t>
            </a:r>
            <a:r>
              <a:rPr lang="en-US" sz="2400" dirty="0" err="1"/>
              <a:t>osigurava</a:t>
            </a:r>
            <a:r>
              <a:rPr lang="en-US" sz="2400" dirty="0"/>
              <a:t> da </a:t>
            </a:r>
            <a:r>
              <a:rPr lang="en-US" sz="2400" dirty="0" err="1"/>
              <a:t>tim</a:t>
            </a:r>
            <a:r>
              <a:rPr lang="en-US" sz="2400" dirty="0"/>
              <a:t> </a:t>
            </a:r>
            <a:r>
              <a:rPr lang="en-US" sz="2400" dirty="0" err="1"/>
              <a:t>ostane</a:t>
            </a:r>
            <a:r>
              <a:rPr lang="en-US" sz="2400" dirty="0"/>
              <a:t> </a:t>
            </a:r>
            <a:r>
              <a:rPr lang="en-US" sz="2400" dirty="0" err="1"/>
              <a:t>fokusiran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ciljeve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, a ne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međuljudske</a:t>
            </a:r>
            <a:r>
              <a:rPr lang="en-US" sz="2400" dirty="0"/>
              <a:t> </a:t>
            </a:r>
            <a:r>
              <a:rPr lang="en-US" sz="2400" dirty="0" err="1"/>
              <a:t>nesuglasice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4. </a:t>
            </a:r>
            <a:r>
              <a:rPr lang="en-US" sz="2400" b="1" dirty="0">
                <a:solidFill>
                  <a:srgbClr val="0ADBBC"/>
                </a:solidFill>
              </a:rPr>
              <a:t>Snažniji </a:t>
            </a:r>
            <a:r>
              <a:rPr lang="en-US" sz="2400" b="1" dirty="0" err="1">
                <a:solidFill>
                  <a:srgbClr val="0ADBBC"/>
                </a:solidFill>
              </a:rPr>
              <a:t>timski</a:t>
            </a:r>
            <a:r>
              <a:rPr lang="en-US" sz="2400" b="1" dirty="0">
                <a:solidFill>
                  <a:srgbClr val="0ADBBC"/>
                </a:solidFill>
              </a:rPr>
              <a:t> moral i </a:t>
            </a:r>
            <a:r>
              <a:rPr lang="en-US" sz="2400" b="1" dirty="0" err="1">
                <a:solidFill>
                  <a:srgbClr val="0ADBBC"/>
                </a:solidFill>
              </a:rPr>
              <a:t>angažman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dirty="0"/>
              <a:t>– Kada se </a:t>
            </a:r>
            <a:r>
              <a:rPr lang="en-US" sz="2400" dirty="0" err="1"/>
              <a:t>konflikti</a:t>
            </a:r>
            <a:r>
              <a:rPr lang="en-US" sz="2400" dirty="0"/>
              <a:t> </a:t>
            </a:r>
            <a:r>
              <a:rPr lang="en-US" sz="2400" dirty="0" err="1"/>
              <a:t>rješavaju</a:t>
            </a:r>
            <a:r>
              <a:rPr lang="en-US" sz="2400" dirty="0"/>
              <a:t> </a:t>
            </a:r>
            <a:r>
              <a:rPr lang="en-US" sz="2400" dirty="0" err="1"/>
              <a:t>pravedno</a:t>
            </a:r>
            <a:r>
              <a:rPr lang="en-US" sz="2400" dirty="0"/>
              <a:t>, </a:t>
            </a:r>
            <a:r>
              <a:rPr lang="en-US" sz="2400" dirty="0" err="1"/>
              <a:t>članovi</a:t>
            </a:r>
            <a:r>
              <a:rPr lang="en-US" sz="2400" dirty="0"/>
              <a:t> </a:t>
            </a:r>
            <a:r>
              <a:rPr lang="en-US" sz="2400" dirty="0" err="1"/>
              <a:t>tima</a:t>
            </a:r>
            <a:r>
              <a:rPr lang="en-US" sz="2400" dirty="0"/>
              <a:t> </a:t>
            </a:r>
            <a:r>
              <a:rPr lang="en-US" sz="2400" dirty="0" err="1"/>
              <a:t>osjećaju</a:t>
            </a:r>
            <a:r>
              <a:rPr lang="en-US" sz="2400" dirty="0"/>
              <a:t> se </a:t>
            </a:r>
            <a:r>
              <a:rPr lang="en-US" sz="2400" dirty="0" err="1"/>
              <a:t>cijenjeno</a:t>
            </a:r>
            <a:r>
              <a:rPr lang="en-US" sz="2400" dirty="0"/>
              <a:t> i </a:t>
            </a:r>
            <a:r>
              <a:rPr lang="en-US" sz="2400" dirty="0" err="1"/>
              <a:t>poštovano</a:t>
            </a:r>
            <a:r>
              <a:rPr lang="en-US" sz="2400" dirty="0"/>
              <a:t>, </a:t>
            </a:r>
            <a:r>
              <a:rPr lang="en-US" sz="2400" dirty="0" err="1"/>
              <a:t>što</a:t>
            </a:r>
            <a:r>
              <a:rPr lang="en-US" sz="2400" dirty="0"/>
              <a:t> </a:t>
            </a:r>
            <a:r>
              <a:rPr lang="en-US" sz="2400" dirty="0" err="1"/>
              <a:t>povećava</a:t>
            </a:r>
            <a:r>
              <a:rPr lang="en-US" sz="2400" dirty="0"/>
              <a:t> moral i </a:t>
            </a:r>
            <a:r>
              <a:rPr lang="en-US" sz="2400" dirty="0" err="1"/>
              <a:t>angažman</a:t>
            </a:r>
            <a:r>
              <a:rPr lang="en-US" sz="2400" dirty="0"/>
              <a:t>. To </a:t>
            </a:r>
            <a:r>
              <a:rPr lang="en-US" sz="2400" dirty="0" err="1"/>
              <a:t>dovodi</a:t>
            </a:r>
            <a:r>
              <a:rPr lang="en-US" sz="2400" dirty="0"/>
              <a:t> do </a:t>
            </a:r>
            <a:r>
              <a:rPr lang="en-US" sz="2400" dirty="0" err="1"/>
              <a:t>motiviranijeg</a:t>
            </a:r>
            <a:r>
              <a:rPr lang="en-US" sz="2400" dirty="0"/>
              <a:t> i </a:t>
            </a:r>
            <a:r>
              <a:rPr lang="en-US" sz="2400" dirty="0" err="1"/>
              <a:t>posvećenijeg</a:t>
            </a:r>
            <a:r>
              <a:rPr lang="en-US" sz="2400" dirty="0"/>
              <a:t> </a:t>
            </a:r>
            <a:r>
              <a:rPr lang="en-US" sz="2400" dirty="0" err="1"/>
              <a:t>tima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5. </a:t>
            </a:r>
            <a:r>
              <a:rPr lang="en-US" sz="2400" b="1" dirty="0" err="1">
                <a:solidFill>
                  <a:srgbClr val="0ADBBC"/>
                </a:solidFill>
              </a:rPr>
              <a:t>Veća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uspješnost</a:t>
            </a:r>
            <a:r>
              <a:rPr lang="en-US" sz="2400" b="1" dirty="0">
                <a:solidFill>
                  <a:srgbClr val="0ADBBC"/>
                </a:solidFill>
              </a:rPr>
              <a:t> </a:t>
            </a:r>
            <a:r>
              <a:rPr lang="en-US" sz="2400" b="1" dirty="0" err="1">
                <a:solidFill>
                  <a:srgbClr val="0ADBBC"/>
                </a:solidFill>
              </a:rPr>
              <a:t>projekata</a:t>
            </a:r>
            <a:r>
              <a:rPr lang="en-US" sz="2400" dirty="0"/>
              <a:t> – </a:t>
            </a:r>
            <a:r>
              <a:rPr lang="en-US" sz="2400" dirty="0" err="1"/>
              <a:t>Timovi</a:t>
            </a:r>
            <a:r>
              <a:rPr lang="en-US" sz="2400" dirty="0"/>
              <a:t> koji </a:t>
            </a:r>
            <a:r>
              <a:rPr lang="en-US" sz="2400" dirty="0" err="1"/>
              <a:t>uspješno</a:t>
            </a:r>
            <a:r>
              <a:rPr lang="en-US" sz="2400" dirty="0"/>
              <a:t> </a:t>
            </a:r>
            <a:r>
              <a:rPr lang="en-US" sz="2400" dirty="0" err="1"/>
              <a:t>upravljaju</a:t>
            </a:r>
            <a:r>
              <a:rPr lang="en-US" sz="2400" dirty="0"/>
              <a:t> </a:t>
            </a:r>
            <a:r>
              <a:rPr lang="en-US" sz="2400" dirty="0" err="1"/>
              <a:t>konfliktima</a:t>
            </a:r>
            <a:r>
              <a:rPr lang="en-US" sz="2400" dirty="0"/>
              <a:t> </a:t>
            </a:r>
            <a:r>
              <a:rPr lang="en-US" sz="2400" dirty="0" err="1"/>
              <a:t>prilagodljiviji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, </a:t>
            </a:r>
            <a:r>
              <a:rPr lang="en-US" sz="2400" dirty="0" err="1"/>
              <a:t>otporniji</a:t>
            </a:r>
            <a:r>
              <a:rPr lang="en-US" sz="2400" dirty="0"/>
              <a:t> i </a:t>
            </a:r>
            <a:r>
              <a:rPr lang="en-US" sz="2400" dirty="0" err="1"/>
              <a:t>bolje</a:t>
            </a:r>
            <a:r>
              <a:rPr lang="en-US" sz="2400" dirty="0"/>
              <a:t> </a:t>
            </a:r>
            <a:r>
              <a:rPr lang="en-US" sz="2400" dirty="0" err="1"/>
              <a:t>usklađeni</a:t>
            </a:r>
            <a:r>
              <a:rPr lang="en-US" sz="2400" dirty="0"/>
              <a:t> s </a:t>
            </a:r>
            <a:r>
              <a:rPr lang="en-US" sz="2400" dirty="0" err="1"/>
              <a:t>ciljevima</a:t>
            </a:r>
            <a:r>
              <a:rPr lang="en-US" sz="2400" dirty="0"/>
              <a:t> </a:t>
            </a:r>
            <a:r>
              <a:rPr lang="en-US" sz="2400" dirty="0" err="1"/>
              <a:t>projekta</a:t>
            </a:r>
            <a:r>
              <a:rPr lang="en-US" sz="2400" dirty="0"/>
              <a:t>, </a:t>
            </a:r>
            <a:r>
              <a:rPr lang="en-US" sz="2400" dirty="0" err="1"/>
              <a:t>što</a:t>
            </a:r>
            <a:r>
              <a:rPr lang="en-US" sz="2400" dirty="0"/>
              <a:t> </a:t>
            </a:r>
            <a:r>
              <a:rPr lang="en-US" sz="2400" dirty="0" err="1"/>
              <a:t>rezultira</a:t>
            </a:r>
            <a:r>
              <a:rPr lang="en-US" sz="2400" dirty="0"/>
              <a:t> </a:t>
            </a:r>
            <a:r>
              <a:rPr lang="en-US" sz="2400" dirty="0" err="1"/>
              <a:t>većom</a:t>
            </a:r>
            <a:r>
              <a:rPr lang="en-US" sz="2400" dirty="0"/>
              <a:t> </a:t>
            </a:r>
            <a:r>
              <a:rPr lang="en-US" sz="2400" dirty="0" err="1"/>
              <a:t>uspješnošću</a:t>
            </a:r>
            <a:r>
              <a:rPr lang="en-US" sz="2400" dirty="0"/>
              <a:t> u </a:t>
            </a:r>
            <a:r>
              <a:rPr lang="en-US" sz="2400" dirty="0" err="1"/>
              <a:t>provedbi</a:t>
            </a:r>
            <a:r>
              <a:rPr lang="en-US" sz="2400" dirty="0"/>
              <a:t> i </a:t>
            </a:r>
            <a:r>
              <a:rPr lang="en-US" sz="2400" dirty="0" err="1"/>
              <a:t>isporuci</a:t>
            </a:r>
            <a:r>
              <a:rPr lang="en-US" sz="2400" dirty="0"/>
              <a:t> </a:t>
            </a:r>
            <a:r>
              <a:rPr lang="en-US" sz="2400" dirty="0" err="1"/>
              <a:t>projekata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72575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F5A8-1418-BA29-9FF1-700B30D1E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742" y="37919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sv-SE" sz="3800" dirty="0"/>
              <a:t>Scenarij konflikta </a:t>
            </a:r>
            <a:br>
              <a:rPr lang="hr-HR" sz="3800" dirty="0"/>
            </a:br>
            <a:r>
              <a:rPr lang="sv-SE" sz="3800" dirty="0"/>
              <a:t>u projektnom timu</a:t>
            </a:r>
            <a:r>
              <a:rPr lang="en-US" sz="3800" dirty="0"/>
              <a:t> </a:t>
            </a:r>
            <a:br>
              <a:rPr lang="en-US" sz="3800" dirty="0"/>
            </a:b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46BEA-449F-3408-5622-24A46D90C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045" y="2162508"/>
            <a:ext cx="10515600" cy="48037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/>
              <a:t>Voditeljica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, Sarah, </a:t>
            </a:r>
            <a:r>
              <a:rPr lang="en-US" dirty="0" err="1"/>
              <a:t>postavlja</a:t>
            </a:r>
            <a:r>
              <a:rPr lang="en-US" dirty="0"/>
              <a:t> </a:t>
            </a:r>
            <a:r>
              <a:rPr lang="en-US" dirty="0" err="1"/>
              <a:t>kratak</a:t>
            </a:r>
            <a:r>
              <a:rPr lang="en-US" dirty="0"/>
              <a:t> </a:t>
            </a:r>
            <a:r>
              <a:rPr lang="en-US" dirty="0" err="1"/>
              <a:t>rok</a:t>
            </a:r>
            <a:r>
              <a:rPr lang="en-US" dirty="0"/>
              <a:t> za </a:t>
            </a:r>
            <a:r>
              <a:rPr lang="en-US" dirty="0" err="1"/>
              <a:t>lansiranje</a:t>
            </a:r>
            <a:r>
              <a:rPr lang="en-US" dirty="0"/>
              <a:t> </a:t>
            </a:r>
            <a:r>
              <a:rPr lang="en-US" dirty="0" err="1"/>
              <a:t>novog</a:t>
            </a:r>
            <a:r>
              <a:rPr lang="en-US" dirty="0"/>
              <a:t> </a:t>
            </a:r>
            <a:r>
              <a:rPr lang="en-US" dirty="0" err="1"/>
              <a:t>softvera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err="1"/>
              <a:t>Glavni</a:t>
            </a:r>
            <a:r>
              <a:rPr lang="en-US" dirty="0"/>
              <a:t> developer, James, </a:t>
            </a:r>
            <a:r>
              <a:rPr lang="en-US" dirty="0" err="1"/>
              <a:t>tvrdi</a:t>
            </a:r>
            <a:r>
              <a:rPr lang="en-US" dirty="0"/>
              <a:t> da je </a:t>
            </a:r>
            <a:r>
              <a:rPr lang="en-US" dirty="0" err="1"/>
              <a:t>vremenski</a:t>
            </a:r>
            <a:r>
              <a:rPr lang="en-US" dirty="0"/>
              <a:t> </a:t>
            </a:r>
            <a:r>
              <a:rPr lang="en-US" dirty="0" err="1"/>
              <a:t>okvir</a:t>
            </a:r>
            <a:r>
              <a:rPr lang="en-US" dirty="0"/>
              <a:t> </a:t>
            </a:r>
            <a:r>
              <a:rPr lang="en-US" dirty="0" err="1"/>
              <a:t>nerealan</a:t>
            </a:r>
            <a:r>
              <a:rPr lang="en-US" dirty="0"/>
              <a:t> </a:t>
            </a:r>
            <a:r>
              <a:rPr lang="en-US" dirty="0" err="1"/>
              <a:t>zbog</a:t>
            </a:r>
            <a:r>
              <a:rPr lang="en-US" dirty="0"/>
              <a:t> </a:t>
            </a:r>
            <a:r>
              <a:rPr lang="en-US" dirty="0" err="1"/>
              <a:t>nepredviđenih</a:t>
            </a:r>
            <a:r>
              <a:rPr lang="en-US" dirty="0"/>
              <a:t> </a:t>
            </a:r>
            <a:r>
              <a:rPr lang="en-US" dirty="0" err="1"/>
              <a:t>tehničkih</a:t>
            </a:r>
            <a:r>
              <a:rPr lang="en-US" dirty="0"/>
              <a:t> </a:t>
            </a:r>
            <a:r>
              <a:rPr lang="en-US" dirty="0" err="1"/>
              <a:t>izazova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Sarah </a:t>
            </a:r>
            <a:r>
              <a:rPr lang="en-US" dirty="0" err="1"/>
              <a:t>inzistira</a:t>
            </a:r>
            <a:r>
              <a:rPr lang="en-US" dirty="0"/>
              <a:t> da se </a:t>
            </a:r>
            <a:r>
              <a:rPr lang="en-US" dirty="0" err="1"/>
              <a:t>rok</a:t>
            </a:r>
            <a:r>
              <a:rPr lang="en-US" dirty="0"/>
              <a:t> mora </a:t>
            </a:r>
            <a:r>
              <a:rPr lang="en-US" dirty="0" err="1"/>
              <a:t>ispoštovati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bi se </a:t>
            </a:r>
            <a:r>
              <a:rPr lang="en-US" dirty="0" err="1"/>
              <a:t>zadovoljili</a:t>
            </a:r>
            <a:r>
              <a:rPr lang="en-US" dirty="0"/>
              <a:t> </a:t>
            </a:r>
            <a:r>
              <a:rPr lang="en-US" dirty="0" err="1"/>
              <a:t>dionici</a:t>
            </a:r>
            <a:r>
              <a:rPr lang="en-US" dirty="0"/>
              <a:t>, </a:t>
            </a:r>
            <a:r>
              <a:rPr lang="en-US" dirty="0" err="1"/>
              <a:t>dok</a:t>
            </a:r>
            <a:r>
              <a:rPr lang="en-US" dirty="0"/>
              <a:t> James </a:t>
            </a:r>
            <a:r>
              <a:rPr lang="en-US" dirty="0" err="1"/>
              <a:t>upozorava</a:t>
            </a:r>
            <a:r>
              <a:rPr lang="en-US" dirty="0"/>
              <a:t> da bi </a:t>
            </a:r>
            <a:r>
              <a:rPr lang="en-US" dirty="0" err="1"/>
              <a:t>žurba</a:t>
            </a:r>
            <a:r>
              <a:rPr lang="en-US" dirty="0"/>
              <a:t> </a:t>
            </a:r>
            <a:r>
              <a:rPr lang="en-US" dirty="0" err="1"/>
              <a:t>mogla</a:t>
            </a:r>
            <a:r>
              <a:rPr lang="en-US" dirty="0"/>
              <a:t> </a:t>
            </a:r>
            <a:r>
              <a:rPr lang="en-US" dirty="0" err="1"/>
              <a:t>ugroziti</a:t>
            </a:r>
            <a:r>
              <a:rPr lang="en-US" dirty="0"/>
              <a:t> </a:t>
            </a:r>
            <a:r>
              <a:rPr lang="en-US" dirty="0" err="1"/>
              <a:t>kvalitetu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72211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2B329-CC67-4632-E100-38AF94E8B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2083C-6AD6-BBA6-8BB1-6B1EA4E7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sz="3800" dirty="0"/>
              <a:t>Scenarij konflikta </a:t>
            </a:r>
            <a:br>
              <a:rPr lang="sv-SE" sz="3800" dirty="0"/>
            </a:br>
            <a:r>
              <a:rPr lang="sv-SE" sz="3800" dirty="0"/>
              <a:t>u projektnom timu </a:t>
            </a:r>
            <a:br>
              <a:rPr lang="en-US" sz="3800" dirty="0"/>
            </a:b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8E28-61A9-5D1C-DA91-EDD3D3193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045" y="2162508"/>
            <a:ext cx="10515600" cy="48037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/>
              <a:t>Napetost</a:t>
            </a:r>
            <a:r>
              <a:rPr lang="en-US" dirty="0"/>
              <a:t> </a:t>
            </a:r>
            <a:r>
              <a:rPr lang="en-US" dirty="0" err="1"/>
              <a:t>raste</a:t>
            </a:r>
            <a:r>
              <a:rPr lang="en-US" dirty="0"/>
              <a:t> </a:t>
            </a:r>
            <a:r>
              <a:rPr lang="en-US" dirty="0" err="1"/>
              <a:t>jer</a:t>
            </a:r>
            <a:r>
              <a:rPr lang="en-US" dirty="0"/>
              <a:t> </a:t>
            </a:r>
            <a:r>
              <a:rPr lang="en-US" dirty="0" err="1"/>
              <a:t>marketinški</a:t>
            </a:r>
            <a:r>
              <a:rPr lang="en-US" dirty="0"/>
              <a:t> </a:t>
            </a:r>
            <a:r>
              <a:rPr lang="en-US" dirty="0" err="1"/>
              <a:t>tim</a:t>
            </a:r>
            <a:r>
              <a:rPr lang="en-US" dirty="0"/>
              <a:t> </a:t>
            </a:r>
            <a:r>
              <a:rPr lang="en-US" dirty="0" err="1"/>
              <a:t>također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/>
              <a:t>vrijeme</a:t>
            </a:r>
            <a:r>
              <a:rPr lang="en-US" dirty="0"/>
              <a:t> za </a:t>
            </a:r>
            <a:r>
              <a:rPr lang="en-US" dirty="0" err="1"/>
              <a:t>promociju</a:t>
            </a:r>
            <a:r>
              <a:rPr lang="en-US" dirty="0"/>
              <a:t>, a </a:t>
            </a:r>
            <a:r>
              <a:rPr lang="en-US" dirty="0" err="1"/>
              <a:t>kašnjenja</a:t>
            </a:r>
            <a:r>
              <a:rPr lang="en-US" dirty="0"/>
              <a:t> bi </a:t>
            </a:r>
            <a:r>
              <a:rPr lang="en-US" dirty="0" err="1"/>
              <a:t>mogla</a:t>
            </a:r>
            <a:r>
              <a:rPr lang="en-US" dirty="0"/>
              <a:t> </a:t>
            </a:r>
            <a:r>
              <a:rPr lang="en-US" dirty="0" err="1"/>
              <a:t>utjecati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cijeli</a:t>
            </a:r>
            <a:r>
              <a:rPr lang="en-US" dirty="0"/>
              <a:t> </a:t>
            </a:r>
            <a:r>
              <a:rPr lang="en-US" dirty="0" err="1"/>
              <a:t>projekt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Bez </a:t>
            </a:r>
            <a:r>
              <a:rPr lang="en-US" dirty="0" err="1"/>
              <a:t>rješavanja</a:t>
            </a:r>
            <a:r>
              <a:rPr lang="en-US" dirty="0"/>
              <a:t> </a:t>
            </a:r>
            <a:r>
              <a:rPr lang="en-US" dirty="0" err="1"/>
              <a:t>konflikta</a:t>
            </a:r>
            <a:r>
              <a:rPr lang="en-US" dirty="0"/>
              <a:t>, </a:t>
            </a:r>
            <a:r>
              <a:rPr lang="en-US" dirty="0" err="1"/>
              <a:t>tim</a:t>
            </a:r>
            <a:r>
              <a:rPr lang="en-US" dirty="0"/>
              <a:t> </a:t>
            </a:r>
            <a:r>
              <a:rPr lang="en-US" dirty="0" err="1"/>
              <a:t>riskira</a:t>
            </a:r>
            <a:r>
              <a:rPr lang="en-US" dirty="0"/>
              <a:t> </a:t>
            </a:r>
            <a:r>
              <a:rPr lang="en-US" dirty="0" err="1"/>
              <a:t>izgaranje</a:t>
            </a:r>
            <a:r>
              <a:rPr lang="en-US" dirty="0"/>
              <a:t>, </a:t>
            </a:r>
            <a:r>
              <a:rPr lang="en-US" dirty="0" err="1"/>
              <a:t>neispunjena</a:t>
            </a:r>
            <a:r>
              <a:rPr lang="en-US" dirty="0"/>
              <a:t> </a:t>
            </a:r>
            <a:r>
              <a:rPr lang="en-US" dirty="0" err="1"/>
              <a:t>očekivanja</a:t>
            </a:r>
            <a:r>
              <a:rPr lang="en-US" dirty="0"/>
              <a:t> i </a:t>
            </a:r>
            <a:r>
              <a:rPr lang="en-US" dirty="0" err="1"/>
              <a:t>neuspjeh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13232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720AF-60CE-96DB-F083-642A37C47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slov 3">
            <a:extLst>
              <a:ext uri="{FF2B5EF4-FFF2-40B4-BE49-F238E27FC236}">
                <a16:creationId xmlns:a16="http://schemas.microsoft.com/office/drawing/2014/main" id="{83F19D61-FD25-8C8E-7283-1F5A87871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8804" y="150357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OSNOVE UPRAVLJANJA PROJEKTIMA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9142672-D7AD-F2C4-2704-5116C183AB9A}"/>
              </a:ext>
            </a:extLst>
          </p:cNvPr>
          <p:cNvSpPr txBox="1">
            <a:spLocks/>
          </p:cNvSpPr>
          <p:nvPr/>
        </p:nvSpPr>
        <p:spPr>
          <a:xfrm>
            <a:off x="5661213" y="4275054"/>
            <a:ext cx="6251591" cy="123898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Montserrat" panose="00000500000000000000" pitchFamily="2" charset="-18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dirty="0" err="1">
                <a:latin typeface="Bahnschrift" panose="020B0502040204020203" pitchFamily="34" charset="0"/>
              </a:rPr>
              <a:t>Učinkovita</a:t>
            </a:r>
            <a:r>
              <a:rPr lang="en-GB" sz="4800" dirty="0">
                <a:latin typeface="Bahnschrift" panose="020B0502040204020203" pitchFamily="34" charset="0"/>
              </a:rPr>
              <a:t> </a:t>
            </a:r>
            <a:endParaRPr lang="hr-HR" sz="4800" dirty="0">
              <a:latin typeface="Bahnschrift" panose="020B0502040204020203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800" dirty="0" err="1">
                <a:latin typeface="Bahnschrift" panose="020B0502040204020203" pitchFamily="34" charset="0"/>
              </a:rPr>
              <a:t>komunikacija</a:t>
            </a:r>
            <a:endParaRPr lang="en-GB" sz="4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9839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956CF-55E2-4D77-1A27-2B404CB89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 fontScale="90000"/>
          </a:bodyPr>
          <a:lstStyle/>
          <a:p>
            <a:r>
              <a:rPr lang="en-US" sz="3400" b="1" dirty="0"/>
              <a:t>1. Razumijevanje </a:t>
            </a:r>
            <a:r>
              <a:rPr lang="en-US" sz="3400" b="1" dirty="0" err="1"/>
              <a:t>komponenti</a:t>
            </a:r>
            <a:r>
              <a:rPr lang="en-US" sz="3400" b="1" dirty="0"/>
              <a:t> </a:t>
            </a:r>
            <a:r>
              <a:rPr lang="en-US" sz="3400" b="1" dirty="0" err="1"/>
              <a:t>komunikacijskog</a:t>
            </a:r>
            <a:r>
              <a:rPr lang="en-US" sz="3400" b="1" dirty="0"/>
              <a:t> </a:t>
            </a:r>
            <a:r>
              <a:rPr lang="en-US" sz="3400" b="1" dirty="0" err="1"/>
              <a:t>procesa</a:t>
            </a:r>
            <a:br>
              <a:rPr lang="en-US" sz="3400" dirty="0"/>
            </a:br>
            <a:endParaRPr lang="en-US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57DF5-BE67-8274-116A-D7C8C2FA67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521707" cy="435133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err="1"/>
              <a:t>Pošiljatelj</a:t>
            </a:r>
            <a:r>
              <a:rPr lang="en-US" dirty="0"/>
              <a:t>, </a:t>
            </a:r>
            <a:r>
              <a:rPr lang="en-US" dirty="0" err="1"/>
              <a:t>poruka</a:t>
            </a:r>
            <a:r>
              <a:rPr lang="en-US" dirty="0"/>
              <a:t>, </a:t>
            </a:r>
            <a:r>
              <a:rPr lang="en-US" dirty="0" err="1"/>
              <a:t>kanal</a:t>
            </a:r>
            <a:r>
              <a:rPr lang="en-US" dirty="0"/>
              <a:t>, </a:t>
            </a:r>
            <a:r>
              <a:rPr lang="en-US" dirty="0" err="1"/>
              <a:t>primatelj</a:t>
            </a:r>
            <a:r>
              <a:rPr lang="en-US" dirty="0"/>
              <a:t>, </a:t>
            </a:r>
            <a:r>
              <a:rPr lang="en-US" dirty="0" err="1"/>
              <a:t>povratna</a:t>
            </a:r>
            <a:r>
              <a:rPr lang="en-US" dirty="0"/>
              <a:t> </a:t>
            </a:r>
            <a:r>
              <a:rPr lang="en-US" dirty="0" err="1"/>
              <a:t>informacija</a:t>
            </a:r>
            <a:r>
              <a:rPr lang="en-US" dirty="0"/>
              <a:t> i </a:t>
            </a:r>
            <a:r>
              <a:rPr lang="en-US" dirty="0" err="1"/>
              <a:t>šum</a:t>
            </a:r>
            <a:r>
              <a:rPr lang="en-US" dirty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Važnost</a:t>
            </a:r>
            <a:r>
              <a:rPr lang="en-US" dirty="0"/>
              <a:t> </a:t>
            </a:r>
            <a:r>
              <a:rPr lang="en-US" dirty="0" err="1"/>
              <a:t>jasnoće</a:t>
            </a:r>
            <a:r>
              <a:rPr lang="en-US" dirty="0"/>
              <a:t>, </a:t>
            </a:r>
            <a:r>
              <a:rPr lang="en-US" dirty="0" err="1"/>
              <a:t>tona</a:t>
            </a:r>
            <a:r>
              <a:rPr lang="en-US" dirty="0"/>
              <a:t> i </a:t>
            </a:r>
            <a:r>
              <a:rPr lang="en-US" dirty="0" err="1"/>
              <a:t>neverbalnih</a:t>
            </a:r>
            <a:r>
              <a:rPr lang="en-US" dirty="0"/>
              <a:t> </a:t>
            </a:r>
            <a:r>
              <a:rPr lang="en-US" dirty="0" err="1"/>
              <a:t>znakova</a:t>
            </a:r>
            <a:r>
              <a:rPr lang="en-US" dirty="0"/>
              <a:t> u </a:t>
            </a:r>
            <a:r>
              <a:rPr lang="en-US" dirty="0" err="1"/>
              <a:t>komunikaciji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body language, voice and words">
            <a:extLst>
              <a:ext uri="{FF2B5EF4-FFF2-40B4-BE49-F238E27FC236}">
                <a16:creationId xmlns:a16="http://schemas.microsoft.com/office/drawing/2014/main" id="{D660D0B1-EC81-8008-2511-B49A13646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32094" y="1825625"/>
            <a:ext cx="3861812" cy="43513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0ABF37-7159-B6CF-7184-489F2F9FF5F2}"/>
              </a:ext>
            </a:extLst>
          </p:cNvPr>
          <p:cNvSpPr txBox="1"/>
          <p:nvPr/>
        </p:nvSpPr>
        <p:spPr>
          <a:xfrm>
            <a:off x="6939419" y="5934670"/>
            <a:ext cx="38618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https://www.revolutionlearning.co.uk/article/body-language-voice-words/</a:t>
            </a:r>
          </a:p>
        </p:txBody>
      </p:sp>
    </p:spTree>
    <p:extLst>
      <p:ext uri="{BB962C8B-B14F-4D97-AF65-F5344CB8AC3E}">
        <p14:creationId xmlns:p14="http://schemas.microsoft.com/office/powerpoint/2010/main" val="26523940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57A57-4AE6-DEFA-A68F-565E48E48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74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2. </a:t>
            </a:r>
            <a:r>
              <a:rPr lang="en-US" dirty="0" err="1"/>
              <a:t>Prepoznavanje</a:t>
            </a:r>
            <a:r>
              <a:rPr lang="en-US" dirty="0"/>
              <a:t> </a:t>
            </a:r>
            <a:r>
              <a:rPr lang="en-US" dirty="0" err="1"/>
              <a:t>uobičajenih</a:t>
            </a:r>
            <a:r>
              <a:rPr lang="en-US" dirty="0"/>
              <a:t> </a:t>
            </a:r>
            <a:r>
              <a:rPr lang="en-US" dirty="0" err="1"/>
              <a:t>prepreka</a:t>
            </a:r>
            <a:r>
              <a:rPr lang="en-US" dirty="0"/>
              <a:t> </a:t>
            </a:r>
            <a:r>
              <a:rPr lang="en-US" dirty="0" err="1"/>
              <a:t>učinkovitoj</a:t>
            </a:r>
            <a:r>
              <a:rPr lang="en-US" dirty="0"/>
              <a:t> </a:t>
            </a:r>
            <a:r>
              <a:rPr lang="en-US" dirty="0" err="1"/>
              <a:t>komunikaciji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50FC4-2867-5FD9-EA6A-5E88AB67D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0ADBBC"/>
                </a:solidFill>
              </a:rPr>
              <a:t>Fizičke </a:t>
            </a:r>
            <a:r>
              <a:rPr lang="en-US" b="1" dirty="0" err="1">
                <a:solidFill>
                  <a:srgbClr val="0ADBBC"/>
                </a:solidFill>
              </a:rPr>
              <a:t>prepreke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dirty="0"/>
              <a:t>(</a:t>
            </a:r>
            <a:r>
              <a:rPr lang="en-US" dirty="0" err="1"/>
              <a:t>udaljeni</a:t>
            </a:r>
            <a:r>
              <a:rPr lang="en-US" dirty="0"/>
              <a:t> </a:t>
            </a:r>
            <a:r>
              <a:rPr lang="en-US" dirty="0" err="1"/>
              <a:t>timovi</a:t>
            </a:r>
            <a:r>
              <a:rPr lang="en-US" dirty="0"/>
              <a:t>, </a:t>
            </a:r>
            <a:r>
              <a:rPr lang="en-US" dirty="0" err="1"/>
              <a:t>loša</a:t>
            </a:r>
            <a:r>
              <a:rPr lang="en-US" dirty="0"/>
              <a:t> </a:t>
            </a:r>
            <a:r>
              <a:rPr lang="en-US" dirty="0" err="1"/>
              <a:t>tehnologija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>
                <a:solidFill>
                  <a:srgbClr val="0ADBBC"/>
                </a:solidFill>
              </a:rPr>
              <a:t>Jezične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prepreke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dirty="0"/>
              <a:t>(</a:t>
            </a:r>
            <a:r>
              <a:rPr lang="en-US" dirty="0" err="1"/>
              <a:t>stručni</a:t>
            </a:r>
            <a:r>
              <a:rPr lang="en-US" dirty="0"/>
              <a:t> </a:t>
            </a:r>
            <a:r>
              <a:rPr lang="en-US" dirty="0" err="1"/>
              <a:t>žargon</a:t>
            </a:r>
            <a:r>
              <a:rPr lang="en-US" dirty="0"/>
              <a:t>, </a:t>
            </a:r>
            <a:r>
              <a:rPr lang="en-US" dirty="0" err="1"/>
              <a:t>kulturne</a:t>
            </a:r>
            <a:r>
              <a:rPr lang="en-US" dirty="0"/>
              <a:t> </a:t>
            </a:r>
            <a:r>
              <a:rPr lang="en-US" dirty="0" err="1"/>
              <a:t>razlike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0ADBBC"/>
                </a:solidFill>
              </a:rPr>
              <a:t>Psihološke </a:t>
            </a:r>
            <a:r>
              <a:rPr lang="en-US" b="1" dirty="0" err="1">
                <a:solidFill>
                  <a:srgbClr val="0ADBBC"/>
                </a:solidFill>
              </a:rPr>
              <a:t>prepreke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dirty="0"/>
              <a:t>(</a:t>
            </a:r>
            <a:r>
              <a:rPr lang="en-US" dirty="0" err="1"/>
              <a:t>stres</a:t>
            </a:r>
            <a:r>
              <a:rPr lang="en-US" dirty="0"/>
              <a:t>, </a:t>
            </a:r>
            <a:r>
              <a:rPr lang="en-US" dirty="0" err="1"/>
              <a:t>pretpostavke</a:t>
            </a:r>
            <a:r>
              <a:rPr lang="en-US" dirty="0"/>
              <a:t>, </a:t>
            </a:r>
            <a:r>
              <a:rPr lang="en-US" dirty="0" err="1"/>
              <a:t>pristranosti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>
                <a:solidFill>
                  <a:srgbClr val="0ADBBC"/>
                </a:solidFill>
              </a:rPr>
              <a:t>Informacijsko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preopterećenje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dirty="0"/>
              <a:t>(</a:t>
            </a:r>
            <a:r>
              <a:rPr lang="en-US" dirty="0" err="1"/>
              <a:t>previše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premalo</a:t>
            </a:r>
            <a:r>
              <a:rPr lang="en-US" dirty="0"/>
              <a:t> </a:t>
            </a:r>
            <a:r>
              <a:rPr lang="en-US" dirty="0" err="1"/>
              <a:t>informacija</a:t>
            </a:r>
            <a:r>
              <a:rPr lang="en-US" dirty="0"/>
              <a:t>).</a:t>
            </a:r>
          </a:p>
          <a:p>
            <a:endParaRPr lang="en-US" b="1" dirty="0">
              <a:solidFill>
                <a:srgbClr val="0ADBB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0076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F572C-B3B2-0CE9-5B59-5EA79F12D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l-PL" dirty="0"/>
              <a:t>3. Strategije za unapređenje komunikacije unutar tima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6064F-016A-61ED-CDB6-7ABFB9865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Aktivno</a:t>
            </a:r>
            <a:r>
              <a:rPr lang="en-US" dirty="0"/>
              <a:t> </a:t>
            </a:r>
            <a:r>
              <a:rPr lang="en-US" dirty="0" err="1"/>
              <a:t>slušanje</a:t>
            </a:r>
            <a:r>
              <a:rPr lang="en-US" dirty="0"/>
              <a:t> i </a:t>
            </a:r>
            <a:r>
              <a:rPr lang="en-US" dirty="0" err="1"/>
              <a:t>otvoreni</a:t>
            </a:r>
            <a:r>
              <a:rPr lang="en-US" dirty="0"/>
              <a:t> </a:t>
            </a:r>
            <a:r>
              <a:rPr lang="en-US" dirty="0" err="1"/>
              <a:t>krugovi</a:t>
            </a:r>
            <a:r>
              <a:rPr lang="en-US" dirty="0"/>
              <a:t> </a:t>
            </a:r>
            <a:r>
              <a:rPr lang="en-US" dirty="0" err="1"/>
              <a:t>povratne</a:t>
            </a:r>
            <a:r>
              <a:rPr lang="en-US" dirty="0"/>
              <a:t> </a:t>
            </a:r>
            <a:r>
              <a:rPr lang="en-US" dirty="0" err="1"/>
              <a:t>informacije</a:t>
            </a:r>
            <a:r>
              <a:rPr lang="en-US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Jasno i </a:t>
            </a:r>
            <a:r>
              <a:rPr lang="en-US" dirty="0" err="1"/>
              <a:t>sažeto</a:t>
            </a:r>
            <a:r>
              <a:rPr lang="en-US" dirty="0"/>
              <a:t> </a:t>
            </a:r>
            <a:r>
              <a:rPr lang="en-US" dirty="0" err="1"/>
              <a:t>komuniciranje</a:t>
            </a:r>
            <a:r>
              <a:rPr lang="en-US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Poticanje</a:t>
            </a:r>
            <a:r>
              <a:rPr lang="en-US" dirty="0"/>
              <a:t> </a:t>
            </a:r>
            <a:r>
              <a:rPr lang="en-US" dirty="0" err="1"/>
              <a:t>transparentnosti</a:t>
            </a:r>
            <a:r>
              <a:rPr lang="en-US" dirty="0"/>
              <a:t> i </a:t>
            </a:r>
            <a:r>
              <a:rPr lang="en-US" dirty="0" err="1"/>
              <a:t>povjerenja</a:t>
            </a:r>
            <a:r>
              <a:rPr lang="en-US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Prilagodba</a:t>
            </a:r>
            <a:r>
              <a:rPr lang="en-US" dirty="0"/>
              <a:t> </a:t>
            </a:r>
            <a:r>
              <a:rPr lang="en-US" dirty="0" err="1"/>
              <a:t>komunikacijskog</a:t>
            </a:r>
            <a:r>
              <a:rPr lang="en-US" dirty="0"/>
              <a:t> </a:t>
            </a:r>
            <a:r>
              <a:rPr lang="en-US" dirty="0" err="1"/>
              <a:t>stila</a:t>
            </a:r>
            <a:r>
              <a:rPr lang="en-US" dirty="0"/>
              <a:t> </a:t>
            </a:r>
            <a:r>
              <a:rPr lang="en-US" dirty="0" err="1"/>
              <a:t>potrebama</a:t>
            </a:r>
            <a:r>
              <a:rPr lang="en-US" dirty="0"/>
              <a:t> </a:t>
            </a:r>
            <a:r>
              <a:rPr lang="en-US" dirty="0" err="1"/>
              <a:t>članova</a:t>
            </a:r>
            <a:r>
              <a:rPr lang="en-US" dirty="0"/>
              <a:t> </a:t>
            </a:r>
            <a:r>
              <a:rPr lang="en-US" dirty="0" err="1"/>
              <a:t>tima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4989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15B55-A403-BD2E-626B-981C52B51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komunikacije</a:t>
            </a:r>
            <a:br>
              <a:rPr lang="en-US" b="1" dirty="0">
                <a:latin typeface="Bahnschrift SemiLight" panose="020B0502040204020203" pitchFamily="34" charset="0"/>
              </a:rPr>
            </a:br>
            <a:endParaRPr lang="en-US" dirty="0">
              <a:latin typeface="Bahnschrift SemiLigh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0C321-D1D0-9B5B-805D-8009F7FB4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0781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E-mail </a:t>
            </a:r>
            <a:r>
              <a:rPr lang="en-US" dirty="0"/>
              <a:t>– </a:t>
            </a:r>
            <a:r>
              <a:rPr lang="en-US" dirty="0" err="1"/>
              <a:t>formalna</a:t>
            </a:r>
            <a:r>
              <a:rPr lang="en-US" dirty="0"/>
              <a:t> </a:t>
            </a:r>
            <a:r>
              <a:rPr lang="en-US" dirty="0" err="1"/>
              <a:t>dokumentacija</a:t>
            </a:r>
            <a:r>
              <a:rPr lang="en-US" dirty="0"/>
              <a:t>, </a:t>
            </a:r>
            <a:r>
              <a:rPr lang="en-US" dirty="0" err="1"/>
              <a:t>asinkrone</a:t>
            </a:r>
            <a:r>
              <a:rPr lang="en-US" dirty="0"/>
              <a:t> </a:t>
            </a:r>
            <a:r>
              <a:rPr lang="en-US" dirty="0" err="1"/>
              <a:t>informacije</a:t>
            </a:r>
            <a:r>
              <a:rPr lang="en-US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 err="1"/>
              <a:t>Sastanci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en-US" dirty="0" err="1"/>
              <a:t>rasprava</a:t>
            </a:r>
            <a:r>
              <a:rPr lang="en-US" dirty="0"/>
              <a:t> u </a:t>
            </a:r>
            <a:r>
              <a:rPr lang="en-US" dirty="0" err="1"/>
              <a:t>stvarnom</a:t>
            </a:r>
            <a:r>
              <a:rPr lang="en-US" dirty="0"/>
              <a:t> </a:t>
            </a:r>
            <a:r>
              <a:rPr lang="en-US" dirty="0" err="1"/>
              <a:t>vremenu</a:t>
            </a:r>
            <a:r>
              <a:rPr lang="en-US" dirty="0"/>
              <a:t>, brainstorming, </a:t>
            </a:r>
            <a:r>
              <a:rPr lang="en-US" dirty="0" err="1"/>
              <a:t>donošenje</a:t>
            </a:r>
            <a:r>
              <a:rPr lang="en-US" dirty="0"/>
              <a:t> </a:t>
            </a:r>
            <a:r>
              <a:rPr lang="en-US" dirty="0" err="1"/>
              <a:t>odluka</a:t>
            </a:r>
            <a:r>
              <a:rPr lang="en-US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 err="1"/>
              <a:t>Izvješća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en-US" dirty="0" err="1"/>
              <a:t>detaljni</a:t>
            </a:r>
            <a:r>
              <a:rPr lang="en-US" dirty="0"/>
              <a:t> </a:t>
            </a:r>
            <a:r>
              <a:rPr lang="en-US" dirty="0" err="1"/>
              <a:t>uvidi</a:t>
            </a:r>
            <a:r>
              <a:rPr lang="en-US" dirty="0"/>
              <a:t>, </a:t>
            </a:r>
            <a:r>
              <a:rPr lang="en-US" dirty="0" err="1"/>
              <a:t>praćenje</a:t>
            </a:r>
            <a:r>
              <a:rPr lang="en-US" dirty="0"/>
              <a:t> </a:t>
            </a:r>
            <a:r>
              <a:rPr lang="en-US" dirty="0" err="1"/>
              <a:t>uspješnosti</a:t>
            </a:r>
            <a:r>
              <a:rPr lang="en-US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 err="1"/>
              <a:t>Kontrolne</a:t>
            </a:r>
            <a:r>
              <a:rPr lang="en-US" b="1" dirty="0"/>
              <a:t> </a:t>
            </a:r>
            <a:r>
              <a:rPr lang="en-US" b="1" dirty="0" err="1"/>
              <a:t>ploče</a:t>
            </a:r>
            <a:r>
              <a:rPr lang="en-US" b="1" dirty="0"/>
              <a:t> (</a:t>
            </a:r>
            <a:r>
              <a:rPr lang="en-US" b="1" dirty="0" err="1"/>
              <a:t>dashboardi</a:t>
            </a:r>
            <a:r>
              <a:rPr lang="en-US" b="1" dirty="0"/>
              <a:t>) </a:t>
            </a:r>
            <a:r>
              <a:rPr lang="en-US" dirty="0"/>
              <a:t>– </a:t>
            </a:r>
            <a:r>
              <a:rPr lang="en-US" dirty="0" err="1"/>
              <a:t>vizualni</a:t>
            </a:r>
            <a:r>
              <a:rPr lang="en-US" dirty="0"/>
              <a:t> </a:t>
            </a:r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napretka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4153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6677B-C9E8-CB1D-764A-4D40B73EC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5. Odabir </a:t>
            </a:r>
            <a:r>
              <a:rPr lang="en-US" sz="4000" dirty="0" err="1"/>
              <a:t>odgovarajuće</a:t>
            </a:r>
            <a:r>
              <a:rPr lang="en-US" sz="4000" dirty="0"/>
              <a:t> </a:t>
            </a:r>
            <a:r>
              <a:rPr lang="en-US" sz="4000" dirty="0" err="1"/>
              <a:t>metode</a:t>
            </a:r>
            <a:r>
              <a:rPr lang="en-US" sz="4000" dirty="0"/>
              <a:t> </a:t>
            </a:r>
            <a:r>
              <a:rPr lang="en-US" sz="4000" dirty="0" err="1"/>
              <a:t>komunikacije</a:t>
            </a:r>
            <a:r>
              <a:rPr lang="en-US" sz="4000" dirty="0"/>
              <a:t> za </a:t>
            </a:r>
            <a:r>
              <a:rPr lang="en-US" sz="4000" dirty="0" err="1"/>
              <a:t>različite</a:t>
            </a:r>
            <a:r>
              <a:rPr lang="en-US" sz="4000" dirty="0"/>
              <a:t> </a:t>
            </a:r>
            <a:r>
              <a:rPr lang="en-US" sz="4000" dirty="0" err="1"/>
              <a:t>situacije</a:t>
            </a:r>
            <a:br>
              <a:rPr lang="en-US" b="1" dirty="0">
                <a:latin typeface="Montserrat" panose="00000500000000000000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0A9CE-6AEC-8403-DBA9-2472B1DA7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464" y="1800572"/>
            <a:ext cx="10628335" cy="447496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err="1">
                <a:solidFill>
                  <a:srgbClr val="0ADBBC"/>
                </a:solidFill>
              </a:rPr>
              <a:t>Brze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obavijesti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dirty="0"/>
              <a:t>→ chat </a:t>
            </a:r>
            <a:r>
              <a:rPr lang="en-US" dirty="0" err="1"/>
              <a:t>ili</a:t>
            </a:r>
            <a:r>
              <a:rPr lang="en-US" dirty="0"/>
              <a:t> e-mail.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err="1">
                <a:solidFill>
                  <a:srgbClr val="0ADBBC"/>
                </a:solidFill>
              </a:rPr>
              <a:t>Važne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odluke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dirty="0"/>
              <a:t>→ </a:t>
            </a:r>
            <a:r>
              <a:rPr lang="en-US" dirty="0" err="1"/>
              <a:t>sastanci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izvješća</a:t>
            </a:r>
            <a:r>
              <a:rPr lang="en-US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err="1">
                <a:solidFill>
                  <a:srgbClr val="0ADBBC"/>
                </a:solidFill>
              </a:rPr>
              <a:t>Praćenje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projekta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dirty="0"/>
              <a:t>→ </a:t>
            </a:r>
            <a:r>
              <a:rPr lang="en-US" dirty="0" err="1"/>
              <a:t>dashboardi</a:t>
            </a:r>
            <a:r>
              <a:rPr lang="en-US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err="1">
                <a:solidFill>
                  <a:srgbClr val="0ADBBC"/>
                </a:solidFill>
              </a:rPr>
              <a:t>Rješavanje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konflikata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dirty="0"/>
              <a:t>→ </a:t>
            </a:r>
            <a:r>
              <a:rPr lang="en-US" dirty="0" err="1"/>
              <a:t>komunikacija</a:t>
            </a:r>
            <a:r>
              <a:rPr lang="en-US" dirty="0"/>
              <a:t> </a:t>
            </a:r>
            <a:r>
              <a:rPr lang="en-US" dirty="0" err="1"/>
              <a:t>uživo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video </a:t>
            </a:r>
            <a:r>
              <a:rPr lang="en-US" dirty="0" err="1"/>
              <a:t>pozivi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55458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A36E7-0D62-C40F-A817-4A27F8D5F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sz="4000" dirty="0"/>
              <a:t>6. Utjecaj komunikacijskih metoda na uspjeh projekta</a:t>
            </a:r>
            <a:br>
              <a:rPr lang="en-US" b="1" dirty="0">
                <a:latin typeface="Bahnschrift SemiLight" panose="020B0502040204020203" pitchFamily="34" charset="0"/>
              </a:rPr>
            </a:br>
            <a:endParaRPr lang="en-US" dirty="0">
              <a:latin typeface="Bahnschrift SemiLigh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DD6D1-57A6-F1F9-4A53-50D2D2363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Učinkovita</a:t>
            </a:r>
            <a:r>
              <a:rPr lang="en-US" dirty="0"/>
              <a:t> </a:t>
            </a:r>
            <a:r>
              <a:rPr lang="en-US" dirty="0" err="1"/>
              <a:t>komunikacija</a:t>
            </a:r>
            <a:r>
              <a:rPr lang="en-US" dirty="0"/>
              <a:t> </a:t>
            </a:r>
            <a:r>
              <a:rPr lang="en-US" b="1" dirty="0" err="1">
                <a:solidFill>
                  <a:srgbClr val="0ADBBC"/>
                </a:solidFill>
              </a:rPr>
              <a:t>osigurava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jasnoću</a:t>
            </a:r>
            <a:r>
              <a:rPr lang="en-US" b="1" dirty="0">
                <a:solidFill>
                  <a:srgbClr val="0ADBBC"/>
                </a:solidFill>
              </a:rPr>
              <a:t>, </a:t>
            </a:r>
            <a:r>
              <a:rPr lang="en-US" b="1" dirty="0" err="1">
                <a:solidFill>
                  <a:srgbClr val="0ADBBC"/>
                </a:solidFill>
              </a:rPr>
              <a:t>smanjuje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nesporazume</a:t>
            </a:r>
            <a:r>
              <a:rPr lang="en-US" dirty="0"/>
              <a:t> i </a:t>
            </a:r>
            <a:r>
              <a:rPr lang="en-US" dirty="0" err="1"/>
              <a:t>usklađuje</a:t>
            </a:r>
            <a:r>
              <a:rPr lang="en-US" dirty="0"/>
              <a:t> rad </a:t>
            </a:r>
            <a:r>
              <a:rPr lang="en-US" dirty="0" err="1"/>
              <a:t>tima</a:t>
            </a:r>
            <a:r>
              <a:rPr lang="en-US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Odabir </a:t>
            </a:r>
            <a:r>
              <a:rPr lang="en-US" dirty="0" err="1"/>
              <a:t>odgovarajuće</a:t>
            </a:r>
            <a:r>
              <a:rPr lang="en-US" dirty="0"/>
              <a:t> </a:t>
            </a:r>
            <a:r>
              <a:rPr lang="en-US" b="1" dirty="0" err="1">
                <a:solidFill>
                  <a:srgbClr val="0ADBBC"/>
                </a:solidFill>
              </a:rPr>
              <a:t>metode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unapređuje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suradnju</a:t>
            </a:r>
            <a:r>
              <a:rPr lang="en-US" b="1" dirty="0">
                <a:solidFill>
                  <a:srgbClr val="0ADBBC"/>
                </a:solidFill>
              </a:rPr>
              <a:t>, </a:t>
            </a:r>
            <a:r>
              <a:rPr lang="en-US" b="1" dirty="0" err="1">
                <a:solidFill>
                  <a:srgbClr val="0ADBBC"/>
                </a:solidFill>
              </a:rPr>
              <a:t>učinkovitost</a:t>
            </a:r>
            <a:r>
              <a:rPr lang="en-US" b="1" dirty="0">
                <a:solidFill>
                  <a:srgbClr val="0ADBBC"/>
                </a:solidFill>
              </a:rPr>
              <a:t> i </a:t>
            </a:r>
            <a:r>
              <a:rPr lang="en-US" b="1" dirty="0" err="1">
                <a:solidFill>
                  <a:srgbClr val="0ADBBC"/>
                </a:solidFill>
              </a:rPr>
              <a:t>donošenje</a:t>
            </a:r>
            <a:r>
              <a:rPr lang="en-US" b="1" dirty="0">
                <a:solidFill>
                  <a:srgbClr val="0ADBBC"/>
                </a:solidFill>
              </a:rPr>
              <a:t> </a:t>
            </a:r>
            <a:r>
              <a:rPr lang="en-US" b="1" dirty="0" err="1">
                <a:solidFill>
                  <a:srgbClr val="0ADBBC"/>
                </a:solidFill>
              </a:rPr>
              <a:t>odluka</a:t>
            </a:r>
            <a:r>
              <a:rPr lang="en-US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Loša</a:t>
            </a:r>
            <a:r>
              <a:rPr lang="en-US" dirty="0"/>
              <a:t> </a:t>
            </a:r>
            <a:r>
              <a:rPr lang="en-US" dirty="0" err="1"/>
              <a:t>komunikacija</a:t>
            </a:r>
            <a:r>
              <a:rPr lang="en-US" dirty="0"/>
              <a:t> </a:t>
            </a:r>
            <a:r>
              <a:rPr lang="en-US" dirty="0" err="1"/>
              <a:t>dovodi</a:t>
            </a:r>
            <a:r>
              <a:rPr lang="en-US" dirty="0"/>
              <a:t> do </a:t>
            </a:r>
            <a:r>
              <a:rPr lang="en-US" dirty="0" err="1"/>
              <a:t>kašnjenja</a:t>
            </a:r>
            <a:r>
              <a:rPr lang="en-US" dirty="0"/>
              <a:t>, </a:t>
            </a:r>
            <a:r>
              <a:rPr lang="en-US" dirty="0" err="1"/>
              <a:t>niskog</a:t>
            </a:r>
            <a:r>
              <a:rPr lang="en-US" dirty="0"/>
              <a:t> </a:t>
            </a:r>
            <a:r>
              <a:rPr lang="en-US" dirty="0" err="1"/>
              <a:t>morala</a:t>
            </a:r>
            <a:r>
              <a:rPr lang="en-US" dirty="0"/>
              <a:t> i </a:t>
            </a:r>
            <a:r>
              <a:rPr lang="en-US" dirty="0" err="1"/>
              <a:t>projektnih</a:t>
            </a:r>
            <a:r>
              <a:rPr lang="en-US" dirty="0"/>
              <a:t> </a:t>
            </a:r>
            <a:r>
              <a:rPr lang="en-US" dirty="0" err="1"/>
              <a:t>rizika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3898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186D6-6967-AE3A-A351-77CF65F9B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470"/>
            <a:ext cx="10515600" cy="1325563"/>
          </a:xfrm>
        </p:spPr>
        <p:txBody>
          <a:bodyPr>
            <a:normAutofit/>
          </a:bodyPr>
          <a:lstStyle/>
          <a:p>
            <a:r>
              <a:rPr lang="pl-PL" dirty="0"/>
              <a:t>Studija slučaja: Komunikacijski slom u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FC6BB-46C0-0445-2D1C-802C74092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63" y="2110592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err="1">
                <a:solidFill>
                  <a:srgbClr val="0ADBBC"/>
                </a:solidFill>
              </a:rPr>
              <a:t>Pozadina</a:t>
            </a:r>
            <a:endParaRPr lang="en-US" b="1" dirty="0">
              <a:solidFill>
                <a:srgbClr val="0ADBBC"/>
              </a:solidFill>
            </a:endParaRPr>
          </a:p>
          <a:p>
            <a:pPr marL="0" indent="0">
              <a:buNone/>
            </a:pPr>
            <a:r>
              <a:rPr lang="en-US" dirty="0"/>
              <a:t>Tim za </a:t>
            </a:r>
            <a:r>
              <a:rPr lang="en-US" dirty="0" err="1"/>
              <a:t>razvoj</a:t>
            </a:r>
            <a:r>
              <a:rPr lang="en-US" dirty="0"/>
              <a:t> </a:t>
            </a:r>
            <a:r>
              <a:rPr lang="en-US" dirty="0" err="1"/>
              <a:t>softvera</a:t>
            </a:r>
            <a:r>
              <a:rPr lang="en-US" dirty="0"/>
              <a:t> </a:t>
            </a:r>
            <a:r>
              <a:rPr lang="en-US" dirty="0" err="1"/>
              <a:t>dobio</a:t>
            </a:r>
            <a:r>
              <a:rPr lang="en-US" dirty="0"/>
              <a:t> je </a:t>
            </a:r>
            <a:r>
              <a:rPr lang="en-US" dirty="0" err="1"/>
              <a:t>zadatak</a:t>
            </a:r>
            <a:r>
              <a:rPr lang="en-US" dirty="0"/>
              <a:t> </a:t>
            </a:r>
            <a:r>
              <a:rPr lang="en-US" dirty="0" err="1"/>
              <a:t>isporučiti</a:t>
            </a:r>
            <a:r>
              <a:rPr lang="en-US" dirty="0"/>
              <a:t> novi </a:t>
            </a:r>
            <a:r>
              <a:rPr lang="en-US" dirty="0" err="1"/>
              <a:t>sustav</a:t>
            </a:r>
            <a:r>
              <a:rPr lang="en-US" dirty="0"/>
              <a:t> za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korisnicima</a:t>
            </a:r>
            <a:r>
              <a:rPr lang="en-US" dirty="0"/>
              <a:t> u </a:t>
            </a:r>
            <a:r>
              <a:rPr lang="en-US" dirty="0" err="1"/>
              <a:t>roku</a:t>
            </a:r>
            <a:r>
              <a:rPr lang="en-US" dirty="0"/>
              <a:t> od </a:t>
            </a:r>
            <a:r>
              <a:rPr lang="en-US" dirty="0" err="1"/>
              <a:t>šest</a:t>
            </a:r>
            <a:r>
              <a:rPr lang="en-US" dirty="0"/>
              <a:t> </a:t>
            </a:r>
            <a:r>
              <a:rPr lang="en-US" dirty="0" err="1"/>
              <a:t>mjeseci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Tim se </a:t>
            </a:r>
            <a:r>
              <a:rPr lang="en-US" dirty="0" err="1"/>
              <a:t>sastojao</a:t>
            </a:r>
            <a:r>
              <a:rPr lang="en-US" dirty="0"/>
              <a:t> od </a:t>
            </a:r>
            <a:r>
              <a:rPr lang="en-US" dirty="0" err="1"/>
              <a:t>developera</a:t>
            </a:r>
            <a:r>
              <a:rPr lang="en-US" dirty="0"/>
              <a:t>, </a:t>
            </a:r>
            <a:r>
              <a:rPr lang="en-US" dirty="0" err="1"/>
              <a:t>dizajnera</a:t>
            </a:r>
            <a:r>
              <a:rPr lang="en-US" dirty="0"/>
              <a:t>, </a:t>
            </a:r>
            <a:r>
              <a:rPr lang="en-US" dirty="0" err="1"/>
              <a:t>marketinških</a:t>
            </a:r>
            <a:r>
              <a:rPr lang="en-US" dirty="0"/>
              <a:t> </a:t>
            </a:r>
            <a:r>
              <a:rPr lang="en-US" dirty="0" err="1"/>
              <a:t>stručnjaka</a:t>
            </a:r>
            <a:r>
              <a:rPr lang="en-US" dirty="0"/>
              <a:t> i </a:t>
            </a:r>
            <a:r>
              <a:rPr lang="en-US" dirty="0" err="1"/>
              <a:t>dionika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Unatoč</a:t>
            </a:r>
            <a:r>
              <a:rPr lang="en-US" dirty="0"/>
              <a:t> </a:t>
            </a:r>
            <a:r>
              <a:rPr lang="en-US" dirty="0" err="1"/>
              <a:t>redovitim</a:t>
            </a:r>
            <a:r>
              <a:rPr lang="en-US" dirty="0"/>
              <a:t> </a:t>
            </a:r>
            <a:r>
              <a:rPr lang="en-US" dirty="0" err="1"/>
              <a:t>sastancima</a:t>
            </a:r>
            <a:r>
              <a:rPr lang="en-US" dirty="0"/>
              <a:t> i e-mail </a:t>
            </a:r>
            <a:r>
              <a:rPr lang="en-US" dirty="0" err="1"/>
              <a:t>ažuriranjima</a:t>
            </a:r>
            <a:r>
              <a:rPr lang="en-US" dirty="0"/>
              <a:t>, </a:t>
            </a:r>
            <a:r>
              <a:rPr lang="en-US" dirty="0" err="1"/>
              <a:t>projekt</a:t>
            </a:r>
            <a:r>
              <a:rPr lang="en-US" dirty="0"/>
              <a:t> je </a:t>
            </a:r>
            <a:r>
              <a:rPr lang="en-US" dirty="0" err="1"/>
              <a:t>kasnio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dovelo</a:t>
            </a:r>
            <a:r>
              <a:rPr lang="en-US" dirty="0"/>
              <a:t> do </a:t>
            </a:r>
            <a:r>
              <a:rPr lang="en-US" dirty="0" err="1"/>
              <a:t>frustracije</a:t>
            </a:r>
            <a:r>
              <a:rPr lang="en-US" dirty="0"/>
              <a:t> i </a:t>
            </a:r>
            <a:r>
              <a:rPr lang="en-US" dirty="0" err="1"/>
              <a:t>neusklađenosti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0437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E99E4-1D82-48A5-FC35-18B812C1D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E982B-D646-4EE7-087C-3A41C5DBC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>
            <a:normAutofit/>
          </a:bodyPr>
          <a:lstStyle/>
          <a:p>
            <a:r>
              <a:rPr lang="pl-PL" dirty="0"/>
              <a:t>Rasprava</a:t>
            </a:r>
            <a:br>
              <a:rPr lang="pl-PL" dirty="0"/>
            </a:br>
            <a:r>
              <a:rPr lang="pl-PL" dirty="0"/>
              <a:t>Komunikacijski slom u projektu I.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CCF55-D725-961E-726E-B675F95C9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548" y="1570372"/>
            <a:ext cx="10668000" cy="539591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 err="1">
                <a:solidFill>
                  <a:srgbClr val="0ADBBC"/>
                </a:solidFill>
              </a:rPr>
              <a:t>Identificirani</a:t>
            </a:r>
            <a:r>
              <a:rPr lang="en-US" sz="2000" b="1" dirty="0">
                <a:solidFill>
                  <a:srgbClr val="0ADBBC"/>
                </a:solidFill>
              </a:rPr>
              <a:t> </a:t>
            </a:r>
            <a:r>
              <a:rPr lang="en-US" sz="2000" b="1" dirty="0" err="1">
                <a:solidFill>
                  <a:srgbClr val="0ADBBC"/>
                </a:solidFill>
              </a:rPr>
              <a:t>komunikacijski</a:t>
            </a:r>
            <a:r>
              <a:rPr lang="en-US" sz="2000" b="1" dirty="0">
                <a:solidFill>
                  <a:srgbClr val="0ADBBC"/>
                </a:solidFill>
              </a:rPr>
              <a:t> </a:t>
            </a:r>
            <a:r>
              <a:rPr lang="en-US" sz="2000" b="1" dirty="0" err="1">
                <a:solidFill>
                  <a:srgbClr val="0ADBBC"/>
                </a:solidFill>
              </a:rPr>
              <a:t>problemi</a:t>
            </a:r>
            <a:endParaRPr lang="en-US" sz="2000" b="1" dirty="0">
              <a:solidFill>
                <a:srgbClr val="0ADBBC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 err="1"/>
              <a:t>Nedostatak</a:t>
            </a:r>
            <a:r>
              <a:rPr lang="en-US" sz="1800" b="1" dirty="0"/>
              <a:t> </a:t>
            </a:r>
            <a:r>
              <a:rPr lang="en-US" sz="1800" b="1" dirty="0" err="1"/>
              <a:t>jasnoće</a:t>
            </a:r>
            <a:r>
              <a:rPr lang="en-US" sz="1800" b="1" dirty="0"/>
              <a:t> u </a:t>
            </a:r>
            <a:r>
              <a:rPr lang="en-US" sz="1800" b="1" dirty="0" err="1"/>
              <a:t>ulogama</a:t>
            </a:r>
            <a:r>
              <a:rPr lang="en-US" sz="1800" b="1" dirty="0"/>
              <a:t> i </a:t>
            </a:r>
            <a:r>
              <a:rPr lang="en-US" sz="1800" b="1" dirty="0" err="1"/>
              <a:t>odgovornostima</a:t>
            </a:r>
            <a:r>
              <a:rPr lang="en-US" sz="1800" b="1" dirty="0"/>
              <a:t> </a:t>
            </a:r>
            <a:r>
              <a:rPr lang="en-US" sz="1800" dirty="0"/>
              <a:t>– </a:t>
            </a:r>
            <a:r>
              <a:rPr lang="en-US" sz="1800" dirty="0" err="1"/>
              <a:t>članovi</a:t>
            </a:r>
            <a:r>
              <a:rPr lang="en-US" sz="1800" dirty="0"/>
              <a:t> </a:t>
            </a:r>
            <a:r>
              <a:rPr lang="en-US" sz="1800" dirty="0" err="1"/>
              <a:t>tima</a:t>
            </a:r>
            <a:r>
              <a:rPr lang="en-US" sz="1800" dirty="0"/>
              <a:t> </a:t>
            </a:r>
            <a:r>
              <a:rPr lang="en-US" sz="1800" dirty="0" err="1"/>
              <a:t>nisu</a:t>
            </a:r>
            <a:r>
              <a:rPr lang="en-US" sz="1800" dirty="0"/>
              <a:t> </a:t>
            </a:r>
            <a:r>
              <a:rPr lang="en-US" sz="1800" dirty="0" err="1"/>
              <a:t>bili</a:t>
            </a:r>
            <a:r>
              <a:rPr lang="en-US" sz="1800" dirty="0"/>
              <a:t> </a:t>
            </a:r>
            <a:r>
              <a:rPr lang="en-US" sz="1800" dirty="0" err="1"/>
              <a:t>sigurni</a:t>
            </a:r>
            <a:r>
              <a:rPr lang="en-US" sz="1800" dirty="0"/>
              <a:t> u </a:t>
            </a:r>
            <a:r>
              <a:rPr lang="en-US" sz="1800" dirty="0" err="1"/>
              <a:t>svoje</a:t>
            </a:r>
            <a:r>
              <a:rPr lang="en-US" sz="1800" dirty="0"/>
              <a:t> </a:t>
            </a:r>
            <a:r>
              <a:rPr lang="en-US" sz="1800" dirty="0" err="1"/>
              <a:t>zadatke</a:t>
            </a:r>
            <a:r>
              <a:rPr lang="en-US" sz="1800" dirty="0"/>
              <a:t> i </a:t>
            </a:r>
            <a:r>
              <a:rPr lang="en-US" sz="1800" dirty="0" err="1"/>
              <a:t>rokove</a:t>
            </a:r>
            <a:r>
              <a:rPr lang="en-US" sz="1800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 err="1"/>
              <a:t>Preopterećenost</a:t>
            </a:r>
            <a:r>
              <a:rPr lang="en-US" sz="1800" b="1" dirty="0"/>
              <a:t> </a:t>
            </a:r>
            <a:r>
              <a:rPr lang="en-US" sz="1800" b="1" dirty="0" err="1"/>
              <a:t>informacijama</a:t>
            </a:r>
            <a:r>
              <a:rPr lang="en-US" sz="1800" b="1" dirty="0"/>
              <a:t> u e-</a:t>
            </a:r>
            <a:r>
              <a:rPr lang="en-US" sz="1800" b="1" dirty="0" err="1"/>
              <a:t>mailovima</a:t>
            </a:r>
            <a:r>
              <a:rPr lang="en-US" sz="1800" b="1" dirty="0"/>
              <a:t> </a:t>
            </a:r>
            <a:r>
              <a:rPr lang="en-US" sz="1800" dirty="0"/>
              <a:t>– </a:t>
            </a:r>
            <a:r>
              <a:rPr lang="en-US" sz="1800" dirty="0" err="1"/>
              <a:t>ključne</a:t>
            </a:r>
            <a:r>
              <a:rPr lang="en-US" sz="1800" dirty="0"/>
              <a:t> </a:t>
            </a:r>
            <a:r>
              <a:rPr lang="en-US" sz="1800" dirty="0" err="1"/>
              <a:t>informacije</a:t>
            </a:r>
            <a:r>
              <a:rPr lang="en-US" sz="1800" dirty="0"/>
              <a:t> bile </a:t>
            </a:r>
            <a:r>
              <a:rPr lang="en-US" sz="1800" dirty="0" err="1"/>
              <a:t>su</a:t>
            </a:r>
            <a:r>
              <a:rPr lang="en-US" sz="1800" dirty="0"/>
              <a:t> „</a:t>
            </a:r>
            <a:r>
              <a:rPr lang="en-US" sz="1800" dirty="0" err="1"/>
              <a:t>zakopane</a:t>
            </a:r>
            <a:r>
              <a:rPr lang="en-US" sz="1800" dirty="0"/>
              <a:t>” u </a:t>
            </a:r>
            <a:r>
              <a:rPr lang="en-US" sz="1800" dirty="0" err="1"/>
              <a:t>dugim</a:t>
            </a:r>
            <a:r>
              <a:rPr lang="en-US" sz="1800" dirty="0"/>
              <a:t> </a:t>
            </a:r>
            <a:r>
              <a:rPr lang="en-US" sz="1800" dirty="0" err="1"/>
              <a:t>nizovima</a:t>
            </a:r>
            <a:r>
              <a:rPr lang="en-US" sz="1800" dirty="0"/>
              <a:t> </a:t>
            </a:r>
            <a:r>
              <a:rPr lang="en-US" sz="1800" dirty="0" err="1"/>
              <a:t>poruka</a:t>
            </a:r>
            <a:r>
              <a:rPr lang="en-US" sz="1800" dirty="0"/>
              <a:t>, </a:t>
            </a:r>
            <a:r>
              <a:rPr lang="en-US" sz="1800" dirty="0" err="1"/>
              <a:t>što</a:t>
            </a:r>
            <a:r>
              <a:rPr lang="en-US" sz="1800" dirty="0"/>
              <a:t> je </a:t>
            </a:r>
            <a:r>
              <a:rPr lang="en-US" sz="1800" dirty="0" err="1"/>
              <a:t>otežavalo</a:t>
            </a:r>
            <a:r>
              <a:rPr lang="en-US" sz="1800" dirty="0"/>
              <a:t> </a:t>
            </a:r>
            <a:r>
              <a:rPr lang="en-US" sz="1800" dirty="0" err="1"/>
              <a:t>praćenje</a:t>
            </a:r>
            <a:r>
              <a:rPr lang="en-US" sz="1800" dirty="0"/>
              <a:t> </a:t>
            </a:r>
            <a:r>
              <a:rPr lang="en-US" sz="1800" dirty="0" err="1"/>
              <a:t>napretka</a:t>
            </a:r>
            <a:r>
              <a:rPr lang="en-US" sz="1800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/>
              <a:t>Rijetki </a:t>
            </a:r>
            <a:r>
              <a:rPr lang="en-US" sz="1800" b="1" dirty="0" err="1"/>
              <a:t>statusni</a:t>
            </a:r>
            <a:r>
              <a:rPr lang="en-US" sz="1800" b="1" dirty="0"/>
              <a:t> </a:t>
            </a:r>
            <a:r>
              <a:rPr lang="en-US" sz="1800" b="1" dirty="0" err="1"/>
              <a:t>sastanci</a:t>
            </a:r>
            <a:r>
              <a:rPr lang="en-US" sz="1800" b="1" dirty="0"/>
              <a:t> </a:t>
            </a:r>
            <a:r>
              <a:rPr lang="en-US" sz="1800" dirty="0"/>
              <a:t>– </a:t>
            </a:r>
            <a:r>
              <a:rPr lang="en-US" sz="1800" dirty="0" err="1"/>
              <a:t>tjedni</a:t>
            </a:r>
            <a:r>
              <a:rPr lang="en-US" sz="1800" dirty="0"/>
              <a:t> </a:t>
            </a:r>
            <a:r>
              <a:rPr lang="en-US" sz="1800" dirty="0" err="1"/>
              <a:t>sastanci</a:t>
            </a:r>
            <a:r>
              <a:rPr lang="en-US" sz="1800" dirty="0"/>
              <a:t> </a:t>
            </a:r>
            <a:r>
              <a:rPr lang="en-US" sz="1800" dirty="0" err="1"/>
              <a:t>nisu</a:t>
            </a:r>
            <a:r>
              <a:rPr lang="en-US" sz="1800" dirty="0"/>
              <a:t> </a:t>
            </a:r>
            <a:r>
              <a:rPr lang="en-US" sz="1800" dirty="0" err="1"/>
              <a:t>pružali</a:t>
            </a:r>
            <a:r>
              <a:rPr lang="en-US" sz="1800" dirty="0"/>
              <a:t> </a:t>
            </a:r>
            <a:r>
              <a:rPr lang="en-US" sz="1800" dirty="0" err="1"/>
              <a:t>pravovremene</a:t>
            </a:r>
            <a:r>
              <a:rPr lang="en-US" sz="1800" dirty="0"/>
              <a:t> </a:t>
            </a:r>
            <a:r>
              <a:rPr lang="en-US" sz="1800" dirty="0" err="1"/>
              <a:t>informacije</a:t>
            </a:r>
            <a:r>
              <a:rPr lang="en-US" sz="1800" dirty="0"/>
              <a:t>, </a:t>
            </a:r>
            <a:r>
              <a:rPr lang="en-US" sz="1800" dirty="0" err="1"/>
              <a:t>što</a:t>
            </a:r>
            <a:r>
              <a:rPr lang="en-US" sz="1800" dirty="0"/>
              <a:t> je </a:t>
            </a:r>
            <a:r>
              <a:rPr lang="en-US" sz="1800" dirty="0" err="1"/>
              <a:t>dovodilo</a:t>
            </a:r>
            <a:r>
              <a:rPr lang="en-US" sz="1800" dirty="0"/>
              <a:t> do </a:t>
            </a:r>
            <a:r>
              <a:rPr lang="en-US" sz="1800" dirty="0" err="1"/>
              <a:t>kašnjenja</a:t>
            </a:r>
            <a:r>
              <a:rPr lang="en-US" sz="1800" dirty="0"/>
              <a:t> u </a:t>
            </a:r>
            <a:r>
              <a:rPr lang="en-US" sz="1800" dirty="0" err="1"/>
              <a:t>rješavanju</a:t>
            </a:r>
            <a:r>
              <a:rPr lang="en-US" sz="1800" dirty="0"/>
              <a:t> </a:t>
            </a:r>
            <a:r>
              <a:rPr lang="en-US" sz="1800" dirty="0" err="1"/>
              <a:t>problema</a:t>
            </a:r>
            <a:r>
              <a:rPr lang="en-US" sz="1800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 err="1"/>
              <a:t>Nedostatak</a:t>
            </a:r>
            <a:r>
              <a:rPr lang="en-US" sz="1800" b="1" dirty="0"/>
              <a:t> </a:t>
            </a:r>
            <a:r>
              <a:rPr lang="en-US" sz="1800" b="1" dirty="0" err="1"/>
              <a:t>centraliziranog</a:t>
            </a:r>
            <a:r>
              <a:rPr lang="en-US" sz="1800" b="1" dirty="0"/>
              <a:t> </a:t>
            </a:r>
            <a:r>
              <a:rPr lang="en-US" sz="1800" b="1" dirty="0" err="1"/>
              <a:t>komunikacijskog</a:t>
            </a:r>
            <a:r>
              <a:rPr lang="en-US" sz="1800" b="1" dirty="0"/>
              <a:t> alata </a:t>
            </a:r>
            <a:r>
              <a:rPr lang="en-US" sz="1800" dirty="0"/>
              <a:t>– </a:t>
            </a:r>
            <a:r>
              <a:rPr lang="en-US" sz="1800" dirty="0" err="1"/>
              <a:t>timovi</a:t>
            </a:r>
            <a:r>
              <a:rPr lang="en-US" sz="1800" dirty="0"/>
              <a:t> </a:t>
            </a:r>
            <a:r>
              <a:rPr lang="en-US" sz="1800" dirty="0" err="1"/>
              <a:t>su</a:t>
            </a:r>
            <a:r>
              <a:rPr lang="en-US" sz="1800" dirty="0"/>
              <a:t> </a:t>
            </a:r>
            <a:r>
              <a:rPr lang="en-US" sz="1800" dirty="0" err="1"/>
              <a:t>koristili</a:t>
            </a:r>
            <a:r>
              <a:rPr lang="en-US" sz="1800" dirty="0"/>
              <a:t> </a:t>
            </a:r>
            <a:r>
              <a:rPr lang="en-US" sz="1800" dirty="0" err="1"/>
              <a:t>različite</a:t>
            </a:r>
            <a:r>
              <a:rPr lang="en-US" sz="1800" dirty="0"/>
              <a:t> </a:t>
            </a:r>
            <a:r>
              <a:rPr lang="en-US" sz="1800" dirty="0" err="1"/>
              <a:t>platforme</a:t>
            </a:r>
            <a:r>
              <a:rPr lang="en-US" sz="1800" dirty="0"/>
              <a:t> (e-mail, Slack, </a:t>
            </a:r>
            <a:r>
              <a:rPr lang="en-US" sz="1800" dirty="0" err="1"/>
              <a:t>proračunske</a:t>
            </a:r>
            <a:r>
              <a:rPr lang="en-US" sz="1800" dirty="0"/>
              <a:t> </a:t>
            </a:r>
            <a:r>
              <a:rPr lang="en-US" sz="1800" dirty="0" err="1"/>
              <a:t>tablice</a:t>
            </a:r>
            <a:r>
              <a:rPr lang="en-US" sz="1800" dirty="0"/>
              <a:t>) bez </a:t>
            </a:r>
            <a:r>
              <a:rPr lang="en-US" sz="1800" dirty="0" err="1"/>
              <a:t>jedinstvenog</a:t>
            </a:r>
            <a:r>
              <a:rPr lang="en-US" sz="1800" dirty="0"/>
              <a:t> </a:t>
            </a:r>
            <a:r>
              <a:rPr lang="en-US" sz="1800" dirty="0" err="1"/>
              <a:t>sustava</a:t>
            </a:r>
            <a:r>
              <a:rPr lang="en-US" sz="1800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 err="1"/>
              <a:t>Ograničeno</a:t>
            </a:r>
            <a:r>
              <a:rPr lang="en-US" sz="1800" b="1" dirty="0"/>
              <a:t> </a:t>
            </a:r>
            <a:r>
              <a:rPr lang="en-US" sz="1800" b="1" dirty="0" err="1"/>
              <a:t>uključivanje</a:t>
            </a:r>
            <a:r>
              <a:rPr lang="en-US" sz="1800" b="1" dirty="0"/>
              <a:t> </a:t>
            </a:r>
            <a:r>
              <a:rPr lang="en-US" sz="1800" b="1" dirty="0" err="1"/>
              <a:t>dionika</a:t>
            </a:r>
            <a:r>
              <a:rPr lang="en-US" sz="1800" b="1" dirty="0"/>
              <a:t> </a:t>
            </a:r>
            <a:r>
              <a:rPr lang="en-US" sz="1800" dirty="0"/>
              <a:t>– </a:t>
            </a:r>
            <a:r>
              <a:rPr lang="en-US" sz="1800" dirty="0" err="1"/>
              <a:t>dionici</a:t>
            </a:r>
            <a:r>
              <a:rPr lang="en-US" sz="1800" dirty="0"/>
              <a:t> </a:t>
            </a:r>
            <a:r>
              <a:rPr lang="en-US" sz="1800" dirty="0" err="1"/>
              <a:t>su</a:t>
            </a:r>
            <a:r>
              <a:rPr lang="en-US" sz="1800" dirty="0"/>
              <a:t> </a:t>
            </a:r>
            <a:r>
              <a:rPr lang="en-US" sz="1800" dirty="0" err="1"/>
              <a:t>bili</a:t>
            </a:r>
            <a:r>
              <a:rPr lang="en-US" sz="1800" dirty="0"/>
              <a:t> </a:t>
            </a:r>
            <a:r>
              <a:rPr lang="en-US" sz="1800" dirty="0" err="1"/>
              <a:t>informirani</a:t>
            </a:r>
            <a:r>
              <a:rPr lang="en-US" sz="1800" dirty="0"/>
              <a:t> </a:t>
            </a:r>
            <a:r>
              <a:rPr lang="en-US" sz="1800" dirty="0" err="1"/>
              <a:t>samo</a:t>
            </a:r>
            <a:r>
              <a:rPr lang="en-US" sz="1800" dirty="0"/>
              <a:t> u </a:t>
            </a:r>
            <a:r>
              <a:rPr lang="en-US" sz="1800" dirty="0" err="1"/>
              <a:t>ključnim</a:t>
            </a:r>
            <a:r>
              <a:rPr lang="en-US" sz="1800" dirty="0"/>
              <a:t> </a:t>
            </a:r>
            <a:r>
              <a:rPr lang="en-US" sz="1800" dirty="0" err="1"/>
              <a:t>fazama</a:t>
            </a:r>
            <a:r>
              <a:rPr lang="en-US" sz="1800" dirty="0"/>
              <a:t>, </a:t>
            </a:r>
            <a:r>
              <a:rPr lang="en-US" sz="1800" dirty="0" err="1"/>
              <a:t>što</a:t>
            </a:r>
            <a:r>
              <a:rPr lang="en-US" sz="1800" dirty="0"/>
              <a:t> je </a:t>
            </a:r>
            <a:r>
              <a:rPr lang="en-US" sz="1800" dirty="0" err="1"/>
              <a:t>dovelo</a:t>
            </a:r>
            <a:r>
              <a:rPr lang="en-US" sz="1800" dirty="0"/>
              <a:t> do </a:t>
            </a:r>
            <a:r>
              <a:rPr lang="en-US" sz="1800" dirty="0" err="1"/>
              <a:t>kasnih</a:t>
            </a:r>
            <a:r>
              <a:rPr lang="en-US" sz="1800" dirty="0"/>
              <a:t> </a:t>
            </a:r>
            <a:r>
              <a:rPr lang="en-US" sz="1800" dirty="0" err="1"/>
              <a:t>povratnih</a:t>
            </a:r>
            <a:r>
              <a:rPr lang="en-US" sz="1800" dirty="0"/>
              <a:t> </a:t>
            </a:r>
            <a:r>
              <a:rPr lang="en-US" sz="1800" dirty="0" err="1"/>
              <a:t>informacija</a:t>
            </a:r>
            <a:r>
              <a:rPr lang="en-US" sz="1800" dirty="0"/>
              <a:t> i </a:t>
            </a:r>
            <a:r>
              <a:rPr lang="en-US" sz="1800" dirty="0" err="1"/>
              <a:t>promjena</a:t>
            </a:r>
            <a:r>
              <a:rPr lang="en-US" sz="1800" dirty="0"/>
              <a:t> </a:t>
            </a:r>
            <a:r>
              <a:rPr lang="en-US" sz="1800" dirty="0" err="1"/>
              <a:t>opsega</a:t>
            </a:r>
            <a:r>
              <a:rPr lang="en-US" sz="1800" dirty="0"/>
              <a:t> </a:t>
            </a:r>
            <a:r>
              <a:rPr lang="en-US" sz="1800" dirty="0" err="1"/>
              <a:t>projekta</a:t>
            </a:r>
            <a:r>
              <a:rPr lang="en-US" sz="18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572026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CEEE6-75CA-3EAE-0B0B-91F352FA8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FE53B-6EBF-BBB3-0FC1-E35EBA76B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663" y="153192"/>
            <a:ext cx="10515600" cy="1325563"/>
          </a:xfrm>
        </p:spPr>
        <p:txBody>
          <a:bodyPr>
            <a:normAutofit/>
          </a:bodyPr>
          <a:lstStyle/>
          <a:p>
            <a:r>
              <a:rPr lang="pl-PL" dirty="0"/>
              <a:t>Rasprava</a:t>
            </a:r>
            <a:br>
              <a:rPr lang="pl-PL" dirty="0"/>
            </a:br>
            <a:r>
              <a:rPr lang="pl-PL" dirty="0"/>
              <a:t>Komunikacijski slom u projektu </a:t>
            </a:r>
            <a:r>
              <a:rPr lang="en-US" dirty="0"/>
              <a:t>II.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6A4C1-13B3-E627-568C-E281D4178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450" y="1478755"/>
            <a:ext cx="11121651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0ADBBC"/>
                </a:solidFill>
              </a:rPr>
              <a:t>Preporučena </a:t>
            </a:r>
            <a:r>
              <a:rPr lang="en-US" sz="2600" b="1" dirty="0" err="1">
                <a:solidFill>
                  <a:srgbClr val="0ADBBC"/>
                </a:solidFill>
              </a:rPr>
              <a:t>poboljšanja</a:t>
            </a:r>
            <a:endParaRPr lang="en-US" sz="2600" b="1" dirty="0">
              <a:solidFill>
                <a:srgbClr val="0ADBBC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b="1" dirty="0" err="1"/>
              <a:t>Definirati</a:t>
            </a:r>
            <a:r>
              <a:rPr lang="en-US" sz="2400" b="1" dirty="0"/>
              <a:t> </a:t>
            </a:r>
            <a:r>
              <a:rPr lang="en-US" sz="2400" b="1" dirty="0" err="1"/>
              <a:t>jasne</a:t>
            </a:r>
            <a:r>
              <a:rPr lang="en-US" sz="2400" b="1" dirty="0"/>
              <a:t> </a:t>
            </a:r>
            <a:r>
              <a:rPr lang="en-US" sz="2400" b="1" dirty="0" err="1"/>
              <a:t>uloge</a:t>
            </a:r>
            <a:r>
              <a:rPr lang="en-US" sz="2400" b="1" dirty="0"/>
              <a:t> i </a:t>
            </a:r>
            <a:r>
              <a:rPr lang="en-US" sz="2400" b="1" dirty="0" err="1"/>
              <a:t>odgovornosti</a:t>
            </a:r>
            <a:endParaRPr lang="en-US" sz="2400" dirty="0"/>
          </a:p>
          <a:p>
            <a:pPr marL="457200" lvl="1" indent="0">
              <a:buNone/>
            </a:pPr>
            <a:r>
              <a:rPr lang="en-US" dirty="0" err="1"/>
              <a:t>Koristiti</a:t>
            </a:r>
            <a:r>
              <a:rPr lang="en-US" dirty="0"/>
              <a:t> RACI </a:t>
            </a:r>
            <a:r>
              <a:rPr lang="en-US" dirty="0" err="1"/>
              <a:t>matricu</a:t>
            </a:r>
            <a:r>
              <a:rPr lang="en-US" dirty="0"/>
              <a:t> (Responsible, Accountable, Consulted, Informed) </a:t>
            </a:r>
            <a:r>
              <a:rPr lang="en-US" dirty="0" err="1"/>
              <a:t>kako</a:t>
            </a:r>
            <a:r>
              <a:rPr lang="en-US" dirty="0"/>
              <a:t> bi se </a:t>
            </a:r>
            <a:r>
              <a:rPr lang="en-US" dirty="0" err="1"/>
              <a:t>osigurala</a:t>
            </a:r>
            <a:r>
              <a:rPr lang="en-US" dirty="0"/>
              <a:t> </a:t>
            </a:r>
            <a:r>
              <a:rPr lang="en-US" dirty="0" err="1"/>
              <a:t>odgovornost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ro-RO" sz="2400" b="1" dirty="0"/>
              <a:t> </a:t>
            </a:r>
            <a:r>
              <a:rPr lang="en-US" sz="2400" b="1" dirty="0" err="1"/>
              <a:t>Pojednostaviti</a:t>
            </a:r>
            <a:r>
              <a:rPr lang="en-US" sz="2400" b="1" dirty="0"/>
              <a:t> </a:t>
            </a:r>
            <a:r>
              <a:rPr lang="en-US" sz="2400" b="1" dirty="0" err="1"/>
              <a:t>komunikacijske</a:t>
            </a:r>
            <a:r>
              <a:rPr lang="en-US" sz="2400" b="1" dirty="0"/>
              <a:t> </a:t>
            </a:r>
            <a:r>
              <a:rPr lang="en-US" sz="2400" b="1" dirty="0" err="1"/>
              <a:t>kanale</a:t>
            </a:r>
            <a:endParaRPr lang="en-US" sz="2400" dirty="0"/>
          </a:p>
          <a:p>
            <a:pPr marL="914400" lvl="1" indent="-457200">
              <a:buFont typeface="+mj-lt"/>
              <a:buAutoNum type="alphaLcPeriod"/>
            </a:pPr>
            <a:r>
              <a:rPr lang="pl-PL" dirty="0"/>
              <a:t>Koristiti </a:t>
            </a:r>
            <a:r>
              <a:rPr lang="pl-PL" b="1" dirty="0"/>
              <a:t>alat za upravljanje projektima</a:t>
            </a:r>
            <a:r>
              <a:rPr lang="pl-PL" dirty="0"/>
              <a:t> za praćenje zadataka i ključnih prekretnica</a:t>
            </a:r>
            <a:r>
              <a:rPr lang="en-US" dirty="0"/>
              <a:t>.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dirty="0"/>
              <a:t>Uspostaviti </a:t>
            </a:r>
            <a:r>
              <a:rPr lang="en-US" b="1" dirty="0"/>
              <a:t>Slack </a:t>
            </a:r>
            <a:r>
              <a:rPr lang="en-US" b="1" dirty="0" err="1"/>
              <a:t>ili</a:t>
            </a:r>
            <a:r>
              <a:rPr lang="en-US" b="1" dirty="0"/>
              <a:t> Teams </a:t>
            </a:r>
            <a:r>
              <a:rPr lang="en-US" b="1" dirty="0" err="1"/>
              <a:t>kanale</a:t>
            </a:r>
            <a:r>
              <a:rPr lang="en-US" b="1" dirty="0"/>
              <a:t> </a:t>
            </a:r>
            <a:r>
              <a:rPr lang="en-US" dirty="0"/>
              <a:t>za </a:t>
            </a:r>
            <a:r>
              <a:rPr lang="en-US" dirty="0" err="1"/>
              <a:t>brze</a:t>
            </a:r>
            <a:r>
              <a:rPr lang="en-US" dirty="0"/>
              <a:t> </a:t>
            </a:r>
            <a:r>
              <a:rPr lang="en-US" dirty="0" err="1"/>
              <a:t>obavijesti</a:t>
            </a:r>
            <a:r>
              <a:rPr lang="en-US" dirty="0"/>
              <a:t> i </a:t>
            </a:r>
            <a:r>
              <a:rPr lang="en-US" dirty="0" err="1"/>
              <a:t>rasprave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ro-RO" sz="2400" b="1" dirty="0"/>
              <a:t> </a:t>
            </a:r>
            <a:r>
              <a:rPr lang="en-US" sz="2400" b="1" dirty="0" err="1"/>
              <a:t>Uvesti</a:t>
            </a:r>
            <a:r>
              <a:rPr lang="en-US" sz="2400" b="1" dirty="0"/>
              <a:t> </a:t>
            </a:r>
            <a:r>
              <a:rPr lang="en-US" sz="2400" b="1" dirty="0" err="1"/>
              <a:t>strukturirani</a:t>
            </a:r>
            <a:r>
              <a:rPr lang="en-US" sz="2400" b="1" dirty="0"/>
              <a:t> </a:t>
            </a:r>
            <a:r>
              <a:rPr lang="en-US" sz="2400" b="1" dirty="0" err="1"/>
              <a:t>raspored</a:t>
            </a:r>
            <a:r>
              <a:rPr lang="en-US" sz="2400" b="1" dirty="0"/>
              <a:t> </a:t>
            </a:r>
            <a:r>
              <a:rPr lang="en-US" sz="2400" b="1" dirty="0" err="1"/>
              <a:t>sastanaka</a:t>
            </a:r>
            <a:endParaRPr lang="en-US" sz="2400" dirty="0"/>
          </a:p>
          <a:p>
            <a:pPr marL="914400" lvl="1" indent="-457200">
              <a:buFont typeface="+mj-lt"/>
              <a:buAutoNum type="alphaLcPeriod"/>
            </a:pPr>
            <a:r>
              <a:rPr lang="en-US" b="1" dirty="0"/>
              <a:t>Dnevni </a:t>
            </a:r>
            <a:r>
              <a:rPr lang="en-US" b="1" i="1" dirty="0"/>
              <a:t>stand-up</a:t>
            </a:r>
            <a:r>
              <a:rPr lang="en-US" b="1" dirty="0"/>
              <a:t> </a:t>
            </a:r>
            <a:r>
              <a:rPr lang="en-US" b="1" dirty="0" err="1"/>
              <a:t>sastanci</a:t>
            </a:r>
            <a:r>
              <a:rPr lang="en-US" b="1" dirty="0"/>
              <a:t> (15 min) </a:t>
            </a:r>
            <a:r>
              <a:rPr lang="en-US" dirty="0"/>
              <a:t>za </a:t>
            </a:r>
            <a:r>
              <a:rPr lang="en-US" dirty="0" err="1"/>
              <a:t>kratka</a:t>
            </a:r>
            <a:r>
              <a:rPr lang="en-US" dirty="0"/>
              <a:t> </a:t>
            </a:r>
            <a:r>
              <a:rPr lang="en-US" dirty="0" err="1"/>
              <a:t>ažuriranja</a:t>
            </a:r>
            <a:r>
              <a:rPr lang="en-US" dirty="0"/>
              <a:t> </a:t>
            </a:r>
            <a:r>
              <a:rPr lang="en-US" dirty="0" err="1"/>
              <a:t>napretka</a:t>
            </a:r>
            <a:r>
              <a:rPr lang="en-US" dirty="0"/>
              <a:t>.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b="1" dirty="0" err="1"/>
              <a:t>Dvotjedni</a:t>
            </a:r>
            <a:r>
              <a:rPr lang="en-US" b="1" dirty="0"/>
              <a:t> sprint review </a:t>
            </a:r>
            <a:r>
              <a:rPr lang="en-US" b="1" dirty="0" err="1"/>
              <a:t>sastanci</a:t>
            </a:r>
            <a:r>
              <a:rPr lang="en-US" b="1" dirty="0"/>
              <a:t> </a:t>
            </a:r>
            <a:r>
              <a:rPr lang="en-US" dirty="0"/>
              <a:t>za </a:t>
            </a:r>
            <a:r>
              <a:rPr lang="en-US" dirty="0" err="1"/>
              <a:t>procjenu</a:t>
            </a:r>
            <a:r>
              <a:rPr lang="en-US" dirty="0"/>
              <a:t> </a:t>
            </a:r>
            <a:r>
              <a:rPr lang="en-US" dirty="0" err="1"/>
              <a:t>napretka</a:t>
            </a:r>
            <a:r>
              <a:rPr lang="en-US" dirty="0"/>
              <a:t> i </a:t>
            </a:r>
            <a:r>
              <a:rPr lang="en-US" dirty="0" err="1"/>
              <a:t>rješavanje</a:t>
            </a:r>
            <a:r>
              <a:rPr lang="en-US" dirty="0"/>
              <a:t> </a:t>
            </a:r>
            <a:r>
              <a:rPr lang="en-US" dirty="0" err="1"/>
              <a:t>prepreka</a:t>
            </a:r>
            <a:r>
              <a:rPr lang="en-US" dirty="0"/>
              <a:t>.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b="1" dirty="0" err="1"/>
              <a:t>Mjesečni</a:t>
            </a:r>
            <a:r>
              <a:rPr lang="en-US" b="1" dirty="0"/>
              <a:t> </a:t>
            </a:r>
            <a:r>
              <a:rPr lang="en-US" b="1" dirty="0" err="1"/>
              <a:t>sastanci</a:t>
            </a:r>
            <a:r>
              <a:rPr lang="en-US" b="1" dirty="0"/>
              <a:t> s </a:t>
            </a:r>
            <a:r>
              <a:rPr lang="en-US" b="1" dirty="0" err="1"/>
              <a:t>dionicima</a:t>
            </a:r>
            <a:r>
              <a:rPr lang="en-US" b="1" dirty="0"/>
              <a:t> </a:t>
            </a:r>
            <a:r>
              <a:rPr lang="en-US" dirty="0"/>
              <a:t>za </a:t>
            </a:r>
            <a:r>
              <a:rPr lang="en-US" dirty="0" err="1"/>
              <a:t>povratne</a:t>
            </a:r>
            <a:r>
              <a:rPr lang="en-US" dirty="0"/>
              <a:t> </a:t>
            </a:r>
            <a:r>
              <a:rPr lang="en-US" dirty="0" err="1"/>
              <a:t>informacije</a:t>
            </a:r>
            <a:r>
              <a:rPr lang="en-US" dirty="0"/>
              <a:t> i </a:t>
            </a:r>
            <a:r>
              <a:rPr lang="en-US" dirty="0" err="1"/>
              <a:t>usklađivanje</a:t>
            </a:r>
            <a:r>
              <a:rPr lang="en-US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244001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038C6-068A-C002-7776-A318485E2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5A9C6-8363-2046-97F5-50BD47ECE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663" y="153192"/>
            <a:ext cx="10515600" cy="1325563"/>
          </a:xfrm>
        </p:spPr>
        <p:txBody>
          <a:bodyPr>
            <a:normAutofit/>
          </a:bodyPr>
          <a:lstStyle/>
          <a:p>
            <a:r>
              <a:rPr lang="pl-PL" dirty="0"/>
              <a:t>Rasprava</a:t>
            </a:r>
            <a:br>
              <a:rPr lang="pl-PL" dirty="0"/>
            </a:br>
            <a:r>
              <a:rPr lang="pl-PL" dirty="0"/>
              <a:t>Komunikacijski slom u projektu </a:t>
            </a:r>
            <a:r>
              <a:rPr lang="en-US" dirty="0"/>
              <a:t>III.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213009-33B4-3C4D-F4CD-3AE66FFC6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006" y="1478755"/>
            <a:ext cx="11204257" cy="502181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ADBBC"/>
                </a:solidFill>
              </a:rPr>
              <a:t>Preporučena </a:t>
            </a:r>
            <a:r>
              <a:rPr lang="en-US" sz="2400" b="1" dirty="0" err="1">
                <a:solidFill>
                  <a:srgbClr val="0ADBBC"/>
                </a:solidFill>
              </a:rPr>
              <a:t>poboljšanja</a:t>
            </a:r>
            <a:endParaRPr lang="en-US" sz="2400" b="1" dirty="0">
              <a:solidFill>
                <a:srgbClr val="0ADBBC"/>
              </a:solidFill>
            </a:endParaRPr>
          </a:p>
          <a:p>
            <a:pPr marL="0" indent="0">
              <a:buNone/>
            </a:pPr>
            <a:r>
              <a:rPr lang="en-US" sz="2200" b="1" dirty="0"/>
              <a:t>4. </a:t>
            </a:r>
            <a:r>
              <a:rPr lang="en-US" sz="2200" b="1" dirty="0" err="1"/>
              <a:t>Centralizirati</a:t>
            </a:r>
            <a:r>
              <a:rPr lang="en-US" sz="2200" b="1" dirty="0"/>
              <a:t> </a:t>
            </a:r>
            <a:r>
              <a:rPr lang="en-US" sz="2200" b="1" dirty="0" err="1"/>
              <a:t>dokumentaciju</a:t>
            </a:r>
            <a:r>
              <a:rPr lang="en-US" sz="2200" b="1" dirty="0"/>
              <a:t> i </a:t>
            </a:r>
            <a:r>
              <a:rPr lang="en-US" sz="2200" b="1" dirty="0" err="1"/>
              <a:t>izvješća</a:t>
            </a:r>
            <a:endParaRPr lang="en-US" sz="2200" b="1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err="1"/>
              <a:t>Koristiti</a:t>
            </a:r>
            <a:r>
              <a:rPr lang="en-US" sz="2200" dirty="0"/>
              <a:t> </a:t>
            </a:r>
            <a:r>
              <a:rPr lang="en-US" sz="2200" b="1" i="1" dirty="0" err="1"/>
              <a:t>dashboarde</a:t>
            </a:r>
            <a:r>
              <a:rPr lang="en-US" sz="2200" b="1" dirty="0"/>
              <a:t> </a:t>
            </a:r>
            <a:r>
              <a:rPr lang="en-US" sz="2200" dirty="0"/>
              <a:t>za </a:t>
            </a:r>
            <a:r>
              <a:rPr lang="en-US" sz="2200" dirty="0" err="1"/>
              <a:t>praćenje</a:t>
            </a:r>
            <a:r>
              <a:rPr lang="en-US" sz="2200" dirty="0"/>
              <a:t> </a:t>
            </a:r>
            <a:r>
              <a:rPr lang="en-US" sz="2200" dirty="0" err="1"/>
              <a:t>napretka</a:t>
            </a:r>
            <a:r>
              <a:rPr lang="en-US" sz="2200" dirty="0"/>
              <a:t> u </a:t>
            </a:r>
            <a:r>
              <a:rPr lang="en-US" sz="2200" dirty="0" err="1"/>
              <a:t>stvarnom</a:t>
            </a:r>
            <a:r>
              <a:rPr lang="en-US" sz="2200" dirty="0"/>
              <a:t> </a:t>
            </a:r>
            <a:r>
              <a:rPr lang="en-US" sz="2200" dirty="0" err="1"/>
              <a:t>vremenu</a:t>
            </a:r>
            <a:r>
              <a:rPr lang="en-US" sz="2200" dirty="0"/>
              <a:t>.</a:t>
            </a:r>
            <a:endParaRPr lang="hr-HR" sz="2200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err="1"/>
              <a:t>Održavati</a:t>
            </a:r>
            <a:r>
              <a:rPr lang="en-US" sz="2200" dirty="0"/>
              <a:t> </a:t>
            </a:r>
            <a:r>
              <a:rPr lang="en-US" sz="2200" dirty="0" err="1"/>
              <a:t>zajednički</a:t>
            </a:r>
            <a:r>
              <a:rPr lang="en-US" sz="2200" dirty="0"/>
              <a:t> </a:t>
            </a:r>
            <a:r>
              <a:rPr lang="en-US" sz="2200" dirty="0" err="1"/>
              <a:t>repozitorij</a:t>
            </a:r>
            <a:r>
              <a:rPr lang="en-US" sz="2200" dirty="0"/>
              <a:t> s </a:t>
            </a:r>
            <a:r>
              <a:rPr lang="en-US" sz="2200" dirty="0" err="1"/>
              <a:t>ažuriranim</a:t>
            </a:r>
            <a:r>
              <a:rPr lang="en-US" sz="2200" dirty="0"/>
              <a:t> </a:t>
            </a:r>
            <a:r>
              <a:rPr lang="en-US" sz="2200" dirty="0" err="1"/>
              <a:t>izvješćima</a:t>
            </a:r>
            <a:r>
              <a:rPr lang="en-US" sz="2200" dirty="0"/>
              <a:t>, </a:t>
            </a:r>
            <a:r>
              <a:rPr lang="en-US" sz="2200" dirty="0" err="1"/>
              <a:t>zapisnicima</a:t>
            </a:r>
            <a:r>
              <a:rPr lang="en-US" sz="2200" dirty="0"/>
              <a:t> </a:t>
            </a:r>
            <a:r>
              <a:rPr lang="en-US" sz="2200" dirty="0" err="1"/>
              <a:t>sa</a:t>
            </a:r>
            <a:r>
              <a:rPr lang="en-US" sz="2200" dirty="0"/>
              <a:t> </a:t>
            </a:r>
            <a:r>
              <a:rPr lang="en-US" sz="2200" dirty="0" err="1"/>
              <a:t>sastanaka</a:t>
            </a:r>
            <a:r>
              <a:rPr lang="en-US" sz="2200" dirty="0"/>
              <a:t> i </a:t>
            </a:r>
            <a:r>
              <a:rPr lang="en-US" sz="2200" dirty="0" err="1"/>
              <a:t>ključnim</a:t>
            </a:r>
            <a:r>
              <a:rPr lang="en-US" sz="2200" dirty="0"/>
              <a:t> </a:t>
            </a:r>
            <a:r>
              <a:rPr lang="en-US" sz="2200" dirty="0" err="1"/>
              <a:t>odlukama</a:t>
            </a:r>
            <a:r>
              <a:rPr lang="en-US" sz="2200" dirty="0"/>
              <a:t>.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5. Povećati </a:t>
            </a:r>
            <a:r>
              <a:rPr lang="en-US" sz="2200" b="1" dirty="0" err="1"/>
              <a:t>uključenost</a:t>
            </a:r>
            <a:r>
              <a:rPr lang="en-US" sz="2200" b="1" dirty="0"/>
              <a:t> </a:t>
            </a:r>
            <a:r>
              <a:rPr lang="en-US" sz="2200" b="1" dirty="0" err="1"/>
              <a:t>dionika</a:t>
            </a:r>
            <a:endParaRPr lang="en-US" sz="2200" b="1" dirty="0"/>
          </a:p>
          <a:p>
            <a:pPr marL="914400" lvl="1" indent="-457200">
              <a:buFont typeface="+mj-lt"/>
              <a:buAutoNum type="arabicPeriod"/>
            </a:pPr>
            <a:r>
              <a:rPr lang="en-US" sz="2200" b="1" dirty="0" err="1"/>
              <a:t>Redovito</a:t>
            </a:r>
            <a:r>
              <a:rPr lang="en-US" sz="2200" b="1" dirty="0"/>
              <a:t> </a:t>
            </a:r>
            <a:r>
              <a:rPr lang="en-US" sz="2200" b="1" dirty="0" err="1"/>
              <a:t>pružati</a:t>
            </a:r>
            <a:r>
              <a:rPr lang="en-US" sz="2200" b="1" dirty="0"/>
              <a:t> </a:t>
            </a:r>
            <a:r>
              <a:rPr lang="en-US" sz="2200" b="1" dirty="0" err="1"/>
              <a:t>sažeta</a:t>
            </a:r>
            <a:r>
              <a:rPr lang="en-US" sz="2200" b="1" dirty="0"/>
              <a:t> </a:t>
            </a:r>
            <a:r>
              <a:rPr lang="en-US" sz="2200" b="1" dirty="0" err="1"/>
              <a:t>izvješća</a:t>
            </a:r>
            <a:r>
              <a:rPr lang="en-US" sz="2200" b="1" dirty="0"/>
              <a:t> </a:t>
            </a:r>
            <a:r>
              <a:rPr lang="en-US" sz="2200" dirty="0" err="1"/>
              <a:t>dionicima</a:t>
            </a:r>
            <a:r>
              <a:rPr lang="en-US" sz="2200" dirty="0"/>
              <a:t> </a:t>
            </a:r>
            <a:r>
              <a:rPr lang="en-US" sz="2200" dirty="0" err="1"/>
              <a:t>umjesto</a:t>
            </a:r>
            <a:r>
              <a:rPr lang="en-US" sz="2200" dirty="0"/>
              <a:t> </a:t>
            </a:r>
            <a:r>
              <a:rPr lang="en-US" sz="2200" dirty="0" err="1"/>
              <a:t>čekanja</a:t>
            </a:r>
            <a:r>
              <a:rPr lang="en-US" sz="2200" dirty="0"/>
              <a:t> </a:t>
            </a:r>
            <a:r>
              <a:rPr lang="en-US" sz="2200" dirty="0" err="1"/>
              <a:t>ključnih</a:t>
            </a:r>
            <a:r>
              <a:rPr lang="en-US" sz="2200" dirty="0"/>
              <a:t> </a:t>
            </a:r>
            <a:r>
              <a:rPr lang="en-US" sz="2200" dirty="0" err="1"/>
              <a:t>prekretnica</a:t>
            </a:r>
            <a:r>
              <a:rPr lang="en-US" sz="22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err="1"/>
              <a:t>Organizirati</a:t>
            </a:r>
            <a:r>
              <a:rPr lang="en-US" sz="2200" dirty="0"/>
              <a:t> </a:t>
            </a:r>
            <a:r>
              <a:rPr lang="en-US" sz="2200" b="1" dirty="0" err="1"/>
              <a:t>sesije</a:t>
            </a:r>
            <a:r>
              <a:rPr lang="en-US" sz="2200" b="1" dirty="0"/>
              <a:t> za </a:t>
            </a:r>
            <a:r>
              <a:rPr lang="en-US" sz="2200" b="1" dirty="0" err="1"/>
              <a:t>povratne</a:t>
            </a:r>
            <a:r>
              <a:rPr lang="en-US" sz="2200" b="1" dirty="0"/>
              <a:t> </a:t>
            </a:r>
            <a:r>
              <a:rPr lang="en-US" sz="2200" b="1" dirty="0" err="1"/>
              <a:t>informacije</a:t>
            </a:r>
            <a:r>
              <a:rPr lang="en-US" sz="2200" b="1" dirty="0"/>
              <a:t> </a:t>
            </a:r>
            <a:r>
              <a:rPr lang="en-US" sz="2200" dirty="0" err="1"/>
              <a:t>kako</a:t>
            </a:r>
            <a:r>
              <a:rPr lang="en-US" sz="2200" dirty="0"/>
              <a:t> bi se </a:t>
            </a:r>
            <a:r>
              <a:rPr lang="en-US" sz="2200" dirty="0" err="1"/>
              <a:t>osigurala</a:t>
            </a:r>
            <a:r>
              <a:rPr lang="en-US" sz="2200" dirty="0"/>
              <a:t> </a:t>
            </a:r>
            <a:r>
              <a:rPr lang="en-US" sz="2200" dirty="0" err="1"/>
              <a:t>usklađenost</a:t>
            </a:r>
            <a:r>
              <a:rPr lang="en-US" sz="2200" dirty="0"/>
              <a:t> i </a:t>
            </a:r>
            <a:r>
              <a:rPr lang="en-US" sz="2200" dirty="0" err="1"/>
              <a:t>izbjegle</a:t>
            </a:r>
            <a:r>
              <a:rPr lang="en-US" sz="2200" dirty="0"/>
              <a:t> </a:t>
            </a:r>
            <a:r>
              <a:rPr lang="en-US" sz="2200" dirty="0" err="1"/>
              <a:t>promjene</a:t>
            </a:r>
            <a:r>
              <a:rPr lang="en-US" sz="2200" dirty="0"/>
              <a:t> u </a:t>
            </a:r>
            <a:r>
              <a:rPr lang="en-US" sz="2200" dirty="0" err="1"/>
              <a:t>zadnji</a:t>
            </a:r>
            <a:r>
              <a:rPr lang="en-US" sz="2200" dirty="0"/>
              <a:t> </a:t>
            </a:r>
            <a:r>
              <a:rPr lang="en-US" sz="2200" dirty="0" err="1"/>
              <a:t>trenutak</a:t>
            </a:r>
            <a:r>
              <a:rPr lang="en-US" sz="2200" dirty="0"/>
              <a:t>.</a:t>
            </a:r>
          </a:p>
          <a:p>
            <a:pPr marL="457200" lvl="1" indent="0">
              <a:buNone/>
            </a:pPr>
            <a:endParaRPr lang="en-US" sz="2200" dirty="0"/>
          </a:p>
          <a:p>
            <a:pPr>
              <a:buNone/>
            </a:pPr>
            <a:r>
              <a:rPr lang="en-US" sz="2400" b="1" dirty="0">
                <a:solidFill>
                  <a:srgbClr val="0ADBBC"/>
                </a:solidFill>
              </a:rPr>
              <a:t>Očekivani </a:t>
            </a:r>
            <a:r>
              <a:rPr lang="en-US" sz="2400" b="1" dirty="0" err="1">
                <a:solidFill>
                  <a:srgbClr val="0ADBBC"/>
                </a:solidFill>
              </a:rPr>
              <a:t>rezultati</a:t>
            </a:r>
            <a:r>
              <a:rPr lang="en-US" sz="2400" b="1" dirty="0">
                <a:solidFill>
                  <a:srgbClr val="0ADBBC"/>
                </a:solidFill>
              </a:rPr>
              <a:t>: </a:t>
            </a:r>
            <a:r>
              <a:rPr lang="en-US" sz="2200" dirty="0" err="1"/>
              <a:t>Unapređenjem</a:t>
            </a:r>
            <a:r>
              <a:rPr lang="en-US" sz="2200" dirty="0"/>
              <a:t> </a:t>
            </a:r>
            <a:r>
              <a:rPr lang="en-US" sz="2200" dirty="0" err="1"/>
              <a:t>komunikacijskih</a:t>
            </a:r>
            <a:r>
              <a:rPr lang="en-US" sz="2200" dirty="0"/>
              <a:t> </a:t>
            </a:r>
            <a:r>
              <a:rPr lang="en-US" sz="2200" dirty="0" err="1"/>
              <a:t>struktura</a:t>
            </a:r>
            <a:r>
              <a:rPr lang="en-US" sz="2200" dirty="0"/>
              <a:t> </a:t>
            </a:r>
            <a:r>
              <a:rPr lang="en-US" sz="2200" dirty="0" err="1"/>
              <a:t>tim</a:t>
            </a:r>
            <a:r>
              <a:rPr lang="en-US" sz="2200" dirty="0"/>
              <a:t> </a:t>
            </a:r>
            <a:r>
              <a:rPr lang="en-US" sz="2200" dirty="0" err="1"/>
              <a:t>može</a:t>
            </a:r>
            <a:r>
              <a:rPr lang="en-US" sz="2200" dirty="0"/>
              <a:t> </a:t>
            </a:r>
            <a:r>
              <a:rPr lang="en-US" sz="2200" dirty="0" err="1"/>
              <a:t>povećati</a:t>
            </a:r>
            <a:r>
              <a:rPr lang="en-US" sz="2200" dirty="0"/>
              <a:t> </a:t>
            </a:r>
            <a:r>
              <a:rPr lang="en-US" sz="2200" dirty="0" err="1"/>
              <a:t>transparentnost</a:t>
            </a:r>
            <a:r>
              <a:rPr lang="en-US" sz="2200" dirty="0"/>
              <a:t>, </a:t>
            </a:r>
            <a:r>
              <a:rPr lang="en-US" sz="2200" dirty="0" err="1"/>
              <a:t>smanjiti</a:t>
            </a:r>
            <a:r>
              <a:rPr lang="en-US" sz="2200" dirty="0"/>
              <a:t> </a:t>
            </a:r>
            <a:r>
              <a:rPr lang="en-US" sz="2200" dirty="0" err="1"/>
              <a:t>kašnjenja</a:t>
            </a:r>
            <a:r>
              <a:rPr lang="en-US" sz="2200" dirty="0"/>
              <a:t> i </a:t>
            </a:r>
            <a:r>
              <a:rPr lang="en-US" sz="2200" dirty="0" err="1"/>
              <a:t>osigurati</a:t>
            </a:r>
            <a:r>
              <a:rPr lang="en-US" sz="2200" dirty="0"/>
              <a:t> </a:t>
            </a:r>
            <a:r>
              <a:rPr lang="en-US" sz="2200" dirty="0" err="1"/>
              <a:t>bolju</a:t>
            </a:r>
            <a:r>
              <a:rPr lang="en-US" sz="2200" dirty="0"/>
              <a:t> </a:t>
            </a:r>
            <a:r>
              <a:rPr lang="en-US" sz="2200" dirty="0" err="1"/>
              <a:t>usklađenost</a:t>
            </a:r>
            <a:r>
              <a:rPr lang="en-US" sz="2200" dirty="0"/>
              <a:t> </a:t>
            </a:r>
            <a:r>
              <a:rPr lang="en-US" sz="2200" dirty="0" err="1"/>
              <a:t>svih</a:t>
            </a:r>
            <a:r>
              <a:rPr lang="en-US" sz="2200" dirty="0"/>
              <a:t> </a:t>
            </a:r>
            <a:r>
              <a:rPr lang="en-US" sz="2200" dirty="0" err="1"/>
              <a:t>dionika</a:t>
            </a:r>
            <a:r>
              <a:rPr lang="en-US" sz="2200" dirty="0"/>
              <a:t>, </a:t>
            </a:r>
            <a:r>
              <a:rPr lang="en-US" sz="2200" dirty="0" err="1"/>
              <a:t>što</a:t>
            </a:r>
            <a:r>
              <a:rPr lang="en-US" sz="2200" dirty="0"/>
              <a:t> </a:t>
            </a:r>
            <a:r>
              <a:rPr lang="en-US" sz="2200" dirty="0" err="1"/>
              <a:t>dovodi</a:t>
            </a:r>
            <a:r>
              <a:rPr lang="en-US" sz="2200" dirty="0"/>
              <a:t> do </a:t>
            </a:r>
            <a:r>
              <a:rPr lang="en-US" sz="2200" dirty="0" err="1"/>
              <a:t>uspješne</a:t>
            </a:r>
            <a:r>
              <a:rPr lang="en-US" sz="2200" dirty="0"/>
              <a:t> </a:t>
            </a:r>
            <a:r>
              <a:rPr lang="en-US" sz="2200" dirty="0" err="1"/>
              <a:t>provedbe</a:t>
            </a:r>
            <a:r>
              <a:rPr lang="en-US" sz="2200" dirty="0"/>
              <a:t> </a:t>
            </a:r>
            <a:r>
              <a:rPr lang="en-US" sz="2200" dirty="0" err="1"/>
              <a:t>projekta</a:t>
            </a:r>
            <a:r>
              <a:rPr lang="en-US" sz="22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904493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C1248-B769-C1F0-5FFF-C81A22CF9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IZVORI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EA13CC-0ED2-11D6-C76B-35CB13932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040" y="2805504"/>
            <a:ext cx="10515600" cy="8461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u="sng" dirty="0">
                <a:solidFill>
                  <a:srgbClr val="0563C1"/>
                </a:solidFill>
                <a:effectLst/>
                <a:latin typeface="Bahnschrift SemiLight" panose="020B0502040204020203" pitchFamily="34" charset="0"/>
                <a:ea typeface="Bahnschrift SemiLight" panose="020B0502040204020203" pitchFamily="34" charset="0"/>
                <a:cs typeface="Bahnschrift SemiLight" panose="020B0502040204020203" pitchFamily="34" charset="0"/>
                <a:hlinkClick r:id="rId3"/>
              </a:rPr>
              <a:t>PMI.org</a:t>
            </a:r>
            <a:endParaRPr lang="en-GB" u="sng" dirty="0">
              <a:solidFill>
                <a:srgbClr val="0563C1"/>
              </a:solidFill>
              <a:effectLst/>
              <a:latin typeface="Bahnschrift SemiLight" panose="020B0502040204020203" pitchFamily="34" charset="0"/>
              <a:ea typeface="Bahnschrift SemiLight" panose="020B0502040204020203" pitchFamily="34" charset="0"/>
              <a:cs typeface="Bahnschrift SemiLight" panose="020B0502040204020203" pitchFamily="34" charset="0"/>
            </a:endParaRPr>
          </a:p>
          <a:p>
            <a:pPr marL="0" indent="0">
              <a:buNone/>
            </a:pPr>
            <a:endParaRPr lang="en-GB" u="sng" dirty="0">
              <a:solidFill>
                <a:srgbClr val="0563C1"/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u="sng" dirty="0">
              <a:solidFill>
                <a:srgbClr val="0563C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3757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85A2BCC9-DFAF-A944-3825-DE48AB02071D}"/>
              </a:ext>
            </a:extLst>
          </p:cNvPr>
          <p:cNvSpPr txBox="1"/>
          <p:nvPr/>
        </p:nvSpPr>
        <p:spPr>
          <a:xfrm>
            <a:off x="914400" y="553452"/>
            <a:ext cx="8145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hr-HR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/>
                <a:ea typeface="+mj-ea"/>
                <a:cs typeface="+mj-cs"/>
              </a:rPr>
              <a:t>DODATNI MATERIJALI</a:t>
            </a:r>
            <a:endParaRPr lang="ro-RO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E9E2B-212E-71FB-0191-076CE1CA6939}"/>
              </a:ext>
            </a:extLst>
          </p:cNvPr>
          <p:cNvSpPr txBox="1"/>
          <p:nvPr/>
        </p:nvSpPr>
        <p:spPr>
          <a:xfrm>
            <a:off x="914400" y="2199640"/>
            <a:ext cx="9408160" cy="28212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2800" dirty="0">
                <a:solidFill>
                  <a:srgbClr val="0563C1"/>
                </a:solidFill>
                <a:latin typeface="Bahnschrift SemiLight"/>
                <a:hlinkClick r:id="rId2"/>
              </a:rPr>
              <a:t>PMBOK Guide</a:t>
            </a:r>
            <a:endParaRPr lang="en-GB" sz="2800">
              <a:solidFill>
                <a:srgbClr val="000000"/>
              </a:solidFill>
              <a:latin typeface="Bahnschrift SemiLigh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GB" sz="2800" dirty="0">
              <a:solidFill>
                <a:srgbClr val="000000"/>
              </a:solidFill>
              <a:latin typeface="Bahnschrift SemiLigh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sz="2800" dirty="0">
                <a:solidFill>
                  <a:srgbClr val="000000"/>
                </a:solidFill>
                <a:latin typeface="Bahnschrift SemiLight"/>
                <a:hlinkClick r:id="rId3"/>
              </a:rPr>
              <a:t>Project Management Journal: Sage Journals</a:t>
            </a:r>
            <a:endParaRPr lang="en-US" sz="2800">
              <a:solidFill>
                <a:srgbClr val="000000"/>
              </a:solidFill>
              <a:latin typeface="Bahnschrift SemiLigh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dirty="0">
              <a:solidFill>
                <a:srgbClr val="000000"/>
              </a:solidFill>
              <a:latin typeface="Bahnschrift SemiLight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b="0" i="0" u="none" strike="noStrike" baseline="0">
                <a:solidFill>
                  <a:srgbClr val="000000"/>
                </a:solidFill>
                <a:latin typeface="Bahnschrift SemiLight"/>
              </a:rPr>
              <a:t>Stephen Covey, ``</a:t>
            </a:r>
            <a:r>
              <a:rPr lang="en-US" sz="2800" b="0" i="1" u="none" strike="noStrike" baseline="0">
                <a:solidFill>
                  <a:srgbClr val="000000"/>
                </a:solidFill>
                <a:latin typeface="Bahnschrift SemiLight"/>
              </a:rPr>
              <a:t>The 7 Habits of Highly Effective People``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189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hift4IT_Powerpoint_TEMPLATE_Modul1-blu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0725af-73e2-4213-b62d-dcea596e5d6d">
      <Terms xmlns="http://schemas.microsoft.com/office/infopath/2007/PartnerControls"/>
    </lcf76f155ced4ddcb4097134ff3c332f>
    <TaxCatchAll xmlns="e6fa96dc-0a02-4bd9-bdcb-2aa22c1a578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CC08E76AEB004B8A6B2F235BBAB143" ma:contentTypeVersion="19" ma:contentTypeDescription="Creați un document nou." ma:contentTypeScope="" ma:versionID="cd467c45da60c3e8e3a9f5d4ab2c6457">
  <xsd:schema xmlns:xsd="http://www.w3.org/2001/XMLSchema" xmlns:xs="http://www.w3.org/2001/XMLSchema" xmlns:p="http://schemas.microsoft.com/office/2006/metadata/properties" xmlns:ns2="5e0725af-73e2-4213-b62d-dcea596e5d6d" xmlns:ns3="e6fa96dc-0a02-4bd9-bdcb-2aa22c1a578f" targetNamespace="http://schemas.microsoft.com/office/2006/metadata/properties" ma:root="true" ma:fieldsID="6ff76457272271eb7ef315d9c3011f92" ns2:_="" ns3:_="">
    <xsd:import namespace="5e0725af-73e2-4213-b62d-dcea596e5d6d"/>
    <xsd:import namespace="e6fa96dc-0a02-4bd9-bdcb-2aa22c1a57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0725af-73e2-4213-b62d-dcea596e5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Etichete imagine" ma:readOnly="false" ma:fieldId="{5cf76f15-5ced-4ddc-b409-7134ff3c332f}" ma:taxonomyMulti="true" ma:sspId="7051300b-affb-4af5-9054-83ab1355cd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fa96dc-0a02-4bd9-bdcb-2aa22c1a57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jat c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jat cu detali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2ee04ee1-424f-44c6-b165-f66518ce87aa}" ma:internalName="TaxCatchAll" ma:showField="CatchAllData" ma:web="e6fa96dc-0a02-4bd9-bdcb-2aa22c1a57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F167A6-4509-4CDC-872E-B75078D0A4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8D62CC-B914-477D-B9D0-0F95ABEF2B0F}">
  <ds:schemaRefs>
    <ds:schemaRef ds:uri="http://schemas.microsoft.com/office/2006/metadata/properties"/>
    <ds:schemaRef ds:uri="http://schemas.microsoft.com/office/infopath/2007/PartnerControls"/>
    <ds:schemaRef ds:uri="5ccc8f2e-ac27-4ac8-8955-ea2701adcc78"/>
    <ds:schemaRef ds:uri="178ab0e0-c460-419a-847d-ca81e089ac39"/>
    <ds:schemaRef ds:uri="5e0725af-73e2-4213-b62d-dcea596e5d6d"/>
    <ds:schemaRef ds:uri="e6fa96dc-0a02-4bd9-bdcb-2aa22c1a578f"/>
  </ds:schemaRefs>
</ds:datastoreItem>
</file>

<file path=customXml/itemProps3.xml><?xml version="1.0" encoding="utf-8"?>
<ds:datastoreItem xmlns:ds="http://schemas.openxmlformats.org/officeDocument/2006/customXml" ds:itemID="{16C08A36-8A01-4CA4-9737-992EE44495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0725af-73e2-4213-b62d-dcea596e5d6d"/>
    <ds:schemaRef ds:uri="e6fa96dc-0a02-4bd9-bdcb-2aa22c1a57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14595</TotalTime>
  <Words>3931</Words>
  <Application>Microsoft Macintosh PowerPoint</Application>
  <PresentationFormat>Widescreen</PresentationFormat>
  <Paragraphs>399</Paragraphs>
  <Slides>58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58</vt:i4>
      </vt:variant>
    </vt:vector>
  </HeadingPairs>
  <TitlesOfParts>
    <vt:vector size="70" baseType="lpstr">
      <vt:lpstr>Aptos</vt:lpstr>
      <vt:lpstr>Arial</vt:lpstr>
      <vt:lpstr>Bahnschrift</vt:lpstr>
      <vt:lpstr>Bahnschrift SemiBold</vt:lpstr>
      <vt:lpstr>Bahnschrift SemiLight</vt:lpstr>
      <vt:lpstr>Calibri</vt:lpstr>
      <vt:lpstr>Calibri Light</vt:lpstr>
      <vt:lpstr>Montserrat</vt:lpstr>
      <vt:lpstr>Nunito</vt:lpstr>
      <vt:lpstr>Tema sustava Office</vt:lpstr>
      <vt:lpstr>1_Tema sustava Office</vt:lpstr>
      <vt:lpstr>Shift4IT_Powerpoint_TEMPLATE_Modul1-blue</vt:lpstr>
      <vt:lpstr>SHIFT4IT</vt:lpstr>
      <vt:lpstr>  Osnove upravljanja projektima </vt:lpstr>
      <vt:lpstr>Sažetak </vt:lpstr>
      <vt:lpstr>San bez plana je samo želja!  - Antoine de Saint-Exupéry </vt:lpstr>
      <vt:lpstr>Što je specifično za projekt?</vt:lpstr>
      <vt:lpstr>Što je specifično za projekt?</vt:lpstr>
      <vt:lpstr>Upravljanje projektima</vt:lpstr>
      <vt:lpstr>Rasprava</vt:lpstr>
      <vt:lpstr>Životni ciklus proizvoda</vt:lpstr>
      <vt:lpstr>GRUPNA RASPRAVA_ Životni ciklus proizvoda</vt:lpstr>
      <vt:lpstr>PROJECT MANAGEMENT FUNDAMENTALS</vt:lpstr>
      <vt:lpstr>Prediktivni pristup (Waterfall)</vt:lpstr>
      <vt:lpstr>Prediktivni pristup _ rasprava</vt:lpstr>
      <vt:lpstr>Adaptivni pristup (Agile)</vt:lpstr>
      <vt:lpstr>Adaptivni pristup _ rasprava</vt:lpstr>
      <vt:lpstr>Hibridni pristup</vt:lpstr>
      <vt:lpstr>Hibridni pristup _ rasprava  </vt:lpstr>
      <vt:lpstr>Vježbe</vt:lpstr>
      <vt:lpstr>PowerPoint Presentation</vt:lpstr>
      <vt:lpstr>4 načela</vt:lpstr>
      <vt:lpstr>4 načela _ definicije</vt:lpstr>
      <vt:lpstr>Rasprava</vt:lpstr>
      <vt:lpstr>Procjena</vt:lpstr>
      <vt:lpstr>Procjena</vt:lpstr>
      <vt:lpstr>OSNOVE UPRAVLJANJA PROJEKTIMA</vt:lpstr>
      <vt:lpstr>ČINJENICE o liderskim vještinama potrebnima za voditelja projekta:</vt:lpstr>
      <vt:lpstr>ČINJENICE o liderskim vještinama potrebnima za voditelja projekta:</vt:lpstr>
      <vt:lpstr>Maslowljeva teorija motivacije</vt:lpstr>
      <vt:lpstr>Maslowljeva teorija motivacije</vt:lpstr>
      <vt:lpstr>Studija slučaja: Motiviranje člana tima s niskom razinom učinka primjenom Maslowljeve teorije</vt:lpstr>
      <vt:lpstr>Coveyjev pristup slušanju:</vt:lpstr>
      <vt:lpstr>Primjer empatijskog slušanja:</vt:lpstr>
      <vt:lpstr>Važnost povratne informacije u projektnim okruženjima</vt:lpstr>
      <vt:lpstr>Važnost povratne informacije u projektnim okruženjima</vt:lpstr>
      <vt:lpstr>Važnost povratne informacije u projektnim okruženjima</vt:lpstr>
      <vt:lpstr>Kako dati učinkovitu povratnu informaciju kao voditelj projekta</vt:lpstr>
      <vt:lpstr>Kako dati učinkovitu povratnu informaciju kao voditelj projekta</vt:lpstr>
      <vt:lpstr>Dobra razmjena povratnih informacija u projektu</vt:lpstr>
      <vt:lpstr>Igre uloga</vt:lpstr>
      <vt:lpstr>STRATEGIJE UPRAVLJANJA KONFLIKTIMA I.</vt:lpstr>
      <vt:lpstr>STRATEGIJE UPRAVLJANJA KONFLIKTIMA II.</vt:lpstr>
      <vt:lpstr>Utjecaj rješavanja konflikata na dinamiku tima i uspjeh projekta I.   </vt:lpstr>
      <vt:lpstr>Utjecaj rješavanja konflikata na dinamiku tima i uspjeh projekta  II.   </vt:lpstr>
      <vt:lpstr>Scenarij konflikta  u projektnom timu  </vt:lpstr>
      <vt:lpstr>Scenarij konflikta  u projektnom timu  </vt:lpstr>
      <vt:lpstr>OSNOVE UPRAVLJANJA PROJEKTIMA</vt:lpstr>
      <vt:lpstr>1. Razumijevanje komponenti komunikacijskog procesa </vt:lpstr>
      <vt:lpstr>2. Prepoznavanje uobičajenih prepreka učinkovitoj komunikaciji</vt:lpstr>
      <vt:lpstr>3. Strategije za unapređenje komunikacije unutar tima </vt:lpstr>
      <vt:lpstr>4. Različite metode komunikacije </vt:lpstr>
      <vt:lpstr>5. Odabir odgovarajuće metode komunikacije za različite situacije </vt:lpstr>
      <vt:lpstr>6. Utjecaj komunikacijskih metoda na uspjeh projekta </vt:lpstr>
      <vt:lpstr>Studija slučaja: Komunikacijski slom u projektu</vt:lpstr>
      <vt:lpstr>Rasprava Komunikacijski slom u projektu I.</vt:lpstr>
      <vt:lpstr>Rasprava Komunikacijski slom u projektu II.</vt:lpstr>
      <vt:lpstr>Rasprava Komunikacijski slom u projektu III.</vt:lpstr>
      <vt:lpstr>IZVORI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prezentacija</dc:title>
  <dc:creator>Božica Bajčić</dc:creator>
  <cp:lastModifiedBy>Dino Duvnjak</cp:lastModifiedBy>
  <cp:revision>118</cp:revision>
  <dcterms:created xsi:type="dcterms:W3CDTF">2024-02-12T13:35:47Z</dcterms:created>
  <dcterms:modified xsi:type="dcterms:W3CDTF">2026-05-11T08:53:20Z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0x010100AACC08E76AEB004B8A6B2F235BBAB143</vt:lpwstr>
  </property>
  <property fmtid="{D5CDD505-2E9C-101B-9397-08002B2CF9AE}" pid="3" name="MediaServiceImageTags">
    <vt:lpwstr/>
  </property>
</Properties>
</file>
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2.xml" ContentType="application/vnd.openxmlformats-officedocument.theme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71" r:id="rId5"/>
    <p:sldMasterId id="2147483687" r:id="rId6"/>
  </p:sldMasterIdLst>
  <p:notesMasterIdLst>
    <p:notesMasterId r:id="rId65"/>
  </p:notesMasterIdLst>
  <p:sldIdLst>
    <p:sldId id="454" r:id="rId7"/>
    <p:sldId id="451" r:id="rId8"/>
    <p:sldId id="314" r:id="rId9"/>
    <p:sldId id="259" r:id="rId10"/>
    <p:sldId id="260" r:id="rId11"/>
    <p:sldId id="261" r:id="rId12"/>
    <p:sldId id="263" r:id="rId13"/>
    <p:sldId id="315" r:id="rId14"/>
    <p:sldId id="267" r:id="rId15"/>
    <p:sldId id="316" r:id="rId16"/>
    <p:sldId id="278" r:id="rId17"/>
    <p:sldId id="269" r:id="rId18"/>
    <p:sldId id="274" r:id="rId19"/>
    <p:sldId id="270" r:id="rId20"/>
    <p:sldId id="275" r:id="rId21"/>
    <p:sldId id="271" r:id="rId22"/>
    <p:sldId id="276" r:id="rId23"/>
    <p:sldId id="277" r:id="rId24"/>
    <p:sldId id="279" r:id="rId25"/>
    <p:sldId id="280" r:id="rId26"/>
    <p:sldId id="458" r:id="rId27"/>
    <p:sldId id="317" r:id="rId28"/>
    <p:sldId id="283" r:id="rId29"/>
    <p:sldId id="461" r:id="rId30"/>
    <p:sldId id="282" r:id="rId31"/>
    <p:sldId id="284" r:id="rId32"/>
    <p:sldId id="462" r:id="rId33"/>
    <p:sldId id="463" r:id="rId34"/>
    <p:sldId id="286" r:id="rId35"/>
    <p:sldId id="287" r:id="rId36"/>
    <p:sldId id="289" r:id="rId37"/>
    <p:sldId id="288" r:id="rId38"/>
    <p:sldId id="290" r:id="rId39"/>
    <p:sldId id="292" r:id="rId40"/>
    <p:sldId id="291" r:id="rId41"/>
    <p:sldId id="293" r:id="rId42"/>
    <p:sldId id="294" r:id="rId43"/>
    <p:sldId id="295" r:id="rId44"/>
    <p:sldId id="296" r:id="rId45"/>
    <p:sldId id="297" r:id="rId46"/>
    <p:sldId id="313" r:id="rId47"/>
    <p:sldId id="298" r:id="rId48"/>
    <p:sldId id="299" r:id="rId49"/>
    <p:sldId id="300" r:id="rId50"/>
    <p:sldId id="460" r:id="rId51"/>
    <p:sldId id="305" r:id="rId52"/>
    <p:sldId id="301" r:id="rId53"/>
    <p:sldId id="302" r:id="rId54"/>
    <p:sldId id="303" r:id="rId55"/>
    <p:sldId id="304" r:id="rId56"/>
    <p:sldId id="306" r:id="rId57"/>
    <p:sldId id="307" r:id="rId58"/>
    <p:sldId id="308" r:id="rId59"/>
    <p:sldId id="309" r:id="rId60"/>
    <p:sldId id="310" r:id="rId61"/>
    <p:sldId id="459" r:id="rId62"/>
    <p:sldId id="318" r:id="rId63"/>
    <p:sldId id="256" r:id="rId64"/>
  </p:sldIdLst>
  <p:sldSz cx="12192000" cy="6858000"/>
  <p:notesSz cx="6858000" cy="9144000"/>
  <p:defaultTextStyle>
    <a:defPPr>
      <a:defRPr lang="sr-Latn-R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ADBBC"/>
    <a:srgbClr val="002060"/>
    <a:srgbClr val="FFFFFF"/>
    <a:srgbClr val="00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2723957-374F-4D0C-BB33-BD75E403087B}" v="73" dt="2026-03-10T11:48:55.46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876" autoAdjust="0"/>
    <p:restoredTop sz="73180" autoAdjust="0"/>
  </p:normalViewPr>
  <p:slideViewPr>
    <p:cSldViewPr snapToGrid="0">
      <p:cViewPr varScale="1">
        <p:scale>
          <a:sx n="68" d="100"/>
          <a:sy n="68" d="100"/>
        </p:scale>
        <p:origin x="84" y="34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0.xml"/><Relationship Id="rId21" Type="http://schemas.openxmlformats.org/officeDocument/2006/relationships/slide" Target="slides/slide15.xml"/><Relationship Id="rId42" Type="http://schemas.openxmlformats.org/officeDocument/2006/relationships/slide" Target="slides/slide36.xml"/><Relationship Id="rId47" Type="http://schemas.openxmlformats.org/officeDocument/2006/relationships/slide" Target="slides/slide41.xml"/><Relationship Id="rId63" Type="http://schemas.openxmlformats.org/officeDocument/2006/relationships/slide" Target="slides/slide57.xml"/><Relationship Id="rId68" Type="http://schemas.openxmlformats.org/officeDocument/2006/relationships/theme" Target="theme/theme1.xml"/><Relationship Id="rId7" Type="http://schemas.openxmlformats.org/officeDocument/2006/relationships/slide" Target="slides/slide1.xml"/><Relationship Id="rId71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0.xml"/><Relationship Id="rId29" Type="http://schemas.openxmlformats.org/officeDocument/2006/relationships/slide" Target="slides/slide23.xml"/><Relationship Id="rId11" Type="http://schemas.openxmlformats.org/officeDocument/2006/relationships/slide" Target="slides/slide5.xml"/><Relationship Id="rId24" Type="http://schemas.openxmlformats.org/officeDocument/2006/relationships/slide" Target="slides/slide18.xml"/><Relationship Id="rId32" Type="http://schemas.openxmlformats.org/officeDocument/2006/relationships/slide" Target="slides/slide26.xml"/><Relationship Id="rId37" Type="http://schemas.openxmlformats.org/officeDocument/2006/relationships/slide" Target="slides/slide31.xml"/><Relationship Id="rId40" Type="http://schemas.openxmlformats.org/officeDocument/2006/relationships/slide" Target="slides/slide34.xml"/><Relationship Id="rId45" Type="http://schemas.openxmlformats.org/officeDocument/2006/relationships/slide" Target="slides/slide39.xml"/><Relationship Id="rId53" Type="http://schemas.openxmlformats.org/officeDocument/2006/relationships/slide" Target="slides/slide47.xml"/><Relationship Id="rId58" Type="http://schemas.openxmlformats.org/officeDocument/2006/relationships/slide" Target="slides/slide52.xml"/><Relationship Id="rId66" Type="http://schemas.openxmlformats.org/officeDocument/2006/relationships/presProps" Target="presProps.xml"/><Relationship Id="rId5" Type="http://schemas.openxmlformats.org/officeDocument/2006/relationships/slideMaster" Target="slideMasters/slideMaster2.xml"/><Relationship Id="rId61" Type="http://schemas.openxmlformats.org/officeDocument/2006/relationships/slide" Target="slides/slide55.xml"/><Relationship Id="rId19" Type="http://schemas.openxmlformats.org/officeDocument/2006/relationships/slide" Target="slides/slide13.xml"/><Relationship Id="rId14" Type="http://schemas.openxmlformats.org/officeDocument/2006/relationships/slide" Target="slides/slide8.xml"/><Relationship Id="rId22" Type="http://schemas.openxmlformats.org/officeDocument/2006/relationships/slide" Target="slides/slide16.xml"/><Relationship Id="rId27" Type="http://schemas.openxmlformats.org/officeDocument/2006/relationships/slide" Target="slides/slide21.xml"/><Relationship Id="rId30" Type="http://schemas.openxmlformats.org/officeDocument/2006/relationships/slide" Target="slides/slide24.xml"/><Relationship Id="rId35" Type="http://schemas.openxmlformats.org/officeDocument/2006/relationships/slide" Target="slides/slide29.xml"/><Relationship Id="rId43" Type="http://schemas.openxmlformats.org/officeDocument/2006/relationships/slide" Target="slides/slide37.xml"/><Relationship Id="rId48" Type="http://schemas.openxmlformats.org/officeDocument/2006/relationships/slide" Target="slides/slide42.xml"/><Relationship Id="rId56" Type="http://schemas.openxmlformats.org/officeDocument/2006/relationships/slide" Target="slides/slide50.xml"/><Relationship Id="rId64" Type="http://schemas.openxmlformats.org/officeDocument/2006/relationships/slide" Target="slides/slide58.xml"/><Relationship Id="rId69" Type="http://schemas.openxmlformats.org/officeDocument/2006/relationships/tableStyles" Target="tableStyles.xml"/><Relationship Id="rId8" Type="http://schemas.openxmlformats.org/officeDocument/2006/relationships/slide" Target="slides/slide2.xml"/><Relationship Id="rId51" Type="http://schemas.openxmlformats.org/officeDocument/2006/relationships/slide" Target="slides/slide45.xml"/><Relationship Id="rId3" Type="http://schemas.openxmlformats.org/officeDocument/2006/relationships/customXml" Target="../customXml/item3.xml"/><Relationship Id="rId12" Type="http://schemas.openxmlformats.org/officeDocument/2006/relationships/slide" Target="slides/slide6.xml"/><Relationship Id="rId17" Type="http://schemas.openxmlformats.org/officeDocument/2006/relationships/slide" Target="slides/slide11.xml"/><Relationship Id="rId25" Type="http://schemas.openxmlformats.org/officeDocument/2006/relationships/slide" Target="slides/slide19.xml"/><Relationship Id="rId33" Type="http://schemas.openxmlformats.org/officeDocument/2006/relationships/slide" Target="slides/slide27.xml"/><Relationship Id="rId38" Type="http://schemas.openxmlformats.org/officeDocument/2006/relationships/slide" Target="slides/slide32.xml"/><Relationship Id="rId46" Type="http://schemas.openxmlformats.org/officeDocument/2006/relationships/slide" Target="slides/slide40.xml"/><Relationship Id="rId59" Type="http://schemas.openxmlformats.org/officeDocument/2006/relationships/slide" Target="slides/slide53.xml"/><Relationship Id="rId67" Type="http://schemas.openxmlformats.org/officeDocument/2006/relationships/viewProps" Target="viewProps.xml"/><Relationship Id="rId20" Type="http://schemas.openxmlformats.org/officeDocument/2006/relationships/slide" Target="slides/slide14.xml"/><Relationship Id="rId41" Type="http://schemas.openxmlformats.org/officeDocument/2006/relationships/slide" Target="slides/slide35.xml"/><Relationship Id="rId54" Type="http://schemas.openxmlformats.org/officeDocument/2006/relationships/slide" Target="slides/slide48.xml"/><Relationship Id="rId62" Type="http://schemas.openxmlformats.org/officeDocument/2006/relationships/slide" Target="slides/slide56.xml"/><Relationship Id="rId7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5" Type="http://schemas.openxmlformats.org/officeDocument/2006/relationships/slide" Target="slides/slide9.xml"/><Relationship Id="rId23" Type="http://schemas.openxmlformats.org/officeDocument/2006/relationships/slide" Target="slides/slide17.xml"/><Relationship Id="rId28" Type="http://schemas.openxmlformats.org/officeDocument/2006/relationships/slide" Target="slides/slide22.xml"/><Relationship Id="rId36" Type="http://schemas.openxmlformats.org/officeDocument/2006/relationships/slide" Target="slides/slide30.xml"/><Relationship Id="rId49" Type="http://schemas.openxmlformats.org/officeDocument/2006/relationships/slide" Target="slides/slide43.xml"/><Relationship Id="rId57" Type="http://schemas.openxmlformats.org/officeDocument/2006/relationships/slide" Target="slides/slide51.xml"/><Relationship Id="rId10" Type="http://schemas.openxmlformats.org/officeDocument/2006/relationships/slide" Target="slides/slide4.xml"/><Relationship Id="rId31" Type="http://schemas.openxmlformats.org/officeDocument/2006/relationships/slide" Target="slides/slide25.xml"/><Relationship Id="rId44" Type="http://schemas.openxmlformats.org/officeDocument/2006/relationships/slide" Target="slides/slide38.xml"/><Relationship Id="rId52" Type="http://schemas.openxmlformats.org/officeDocument/2006/relationships/slide" Target="slides/slide46.xml"/><Relationship Id="rId60" Type="http://schemas.openxmlformats.org/officeDocument/2006/relationships/slide" Target="slides/slide54.xml"/><Relationship Id="rId65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3" Type="http://schemas.openxmlformats.org/officeDocument/2006/relationships/slide" Target="slides/slide7.xml"/><Relationship Id="rId18" Type="http://schemas.openxmlformats.org/officeDocument/2006/relationships/slide" Target="slides/slide12.xml"/><Relationship Id="rId39" Type="http://schemas.openxmlformats.org/officeDocument/2006/relationships/slide" Target="slides/slide33.xml"/><Relationship Id="rId34" Type="http://schemas.openxmlformats.org/officeDocument/2006/relationships/slide" Target="slides/slide28.xml"/><Relationship Id="rId50" Type="http://schemas.openxmlformats.org/officeDocument/2006/relationships/slide" Target="slides/slide44.xml"/><Relationship Id="rId55" Type="http://schemas.openxmlformats.org/officeDocument/2006/relationships/slide" Target="slides/slide4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icu@nicuzegheanu.ro" userId="S::urn:spo:guest#nicu@nicuzegheanu.ro::" providerId="AD" clId="Web-{ECB40979-19D5-9DB7-B429-FEB3F6139274}"/>
    <pc:docChg chg="delSld modSld">
      <pc:chgData name="nicu@nicuzegheanu.ro" userId="S::urn:spo:guest#nicu@nicuzegheanu.ro::" providerId="AD" clId="Web-{ECB40979-19D5-9DB7-B429-FEB3F6139274}" dt="2026-02-20T11:50:16.605" v="12" actId="1076"/>
      <pc:docMkLst>
        <pc:docMk/>
      </pc:docMkLst>
      <pc:sldChg chg="addSp modSp">
        <pc:chgData name="nicu@nicuzegheanu.ro" userId="S::urn:spo:guest#nicu@nicuzegheanu.ro::" providerId="AD" clId="Web-{ECB40979-19D5-9DB7-B429-FEB3F6139274}" dt="2026-02-20T11:49:47.745" v="8" actId="20577"/>
        <pc:sldMkLst>
          <pc:docMk/>
          <pc:sldMk cId="495518943" sldId="256"/>
        </pc:sldMkLst>
        <pc:spChg chg="add mod">
          <ac:chgData name="nicu@nicuzegheanu.ro" userId="S::urn:spo:guest#nicu@nicuzegheanu.ro::" providerId="AD" clId="Web-{ECB40979-19D5-9DB7-B429-FEB3F6139274}" dt="2026-02-20T11:49:47.745" v="8" actId="20577"/>
          <ac:spMkLst>
            <pc:docMk/>
            <pc:sldMk cId="495518943" sldId="256"/>
            <ac:spMk id="3" creationId="{AFCE9E2B-212E-71FB-0191-076CE1CA6939}"/>
          </ac:spMkLst>
        </pc:spChg>
      </pc:sldChg>
      <pc:sldChg chg="modSp">
        <pc:chgData name="nicu@nicuzegheanu.ro" userId="S::urn:spo:guest#nicu@nicuzegheanu.ro::" providerId="AD" clId="Web-{ECB40979-19D5-9DB7-B429-FEB3F6139274}" dt="2026-02-20T11:50:16.605" v="12" actId="1076"/>
        <pc:sldMkLst>
          <pc:docMk/>
          <pc:sldMk cId="3194375770" sldId="318"/>
        </pc:sldMkLst>
        <pc:spChg chg="mod">
          <ac:chgData name="nicu@nicuzegheanu.ro" userId="S::urn:spo:guest#nicu@nicuzegheanu.ro::" providerId="AD" clId="Web-{ECB40979-19D5-9DB7-B429-FEB3F6139274}" dt="2026-02-20T11:50:16.605" v="12" actId="1076"/>
          <ac:spMkLst>
            <pc:docMk/>
            <pc:sldMk cId="3194375770" sldId="318"/>
            <ac:spMk id="5" creationId="{1FEA13CC-0ED2-11D6-C76B-35CB1393240F}"/>
          </ac:spMkLst>
        </pc:spChg>
      </pc:sldChg>
    </pc:docChg>
  </pc:docChgLst>
  <pc:docChgLst>
    <pc:chgData name="Cornelia Popescu" userId="444ac7d1-afda-4314-b2c2-4aff562fe857" providerId="ADAL" clId="{3812F0D7-A263-41B2-AC96-1F3B68D731C9}"/>
    <pc:docChg chg="undo custSel addSld delSld modSld sldOrd">
      <pc:chgData name="Cornelia Popescu" userId="444ac7d1-afda-4314-b2c2-4aff562fe857" providerId="ADAL" clId="{3812F0D7-A263-41B2-AC96-1F3B68D731C9}" dt="2026-03-10T11:49:18.673" v="155" actId="2696"/>
      <pc:docMkLst>
        <pc:docMk/>
      </pc:docMkLst>
      <pc:sldChg chg="delSp mod">
        <pc:chgData name="Cornelia Popescu" userId="444ac7d1-afda-4314-b2c2-4aff562fe857" providerId="ADAL" clId="{3812F0D7-A263-41B2-AC96-1F3B68D731C9}" dt="2026-03-10T08:54:39.868" v="1" actId="478"/>
        <pc:sldMkLst>
          <pc:docMk/>
          <pc:sldMk cId="3949681399" sldId="259"/>
        </pc:sldMkLst>
        <pc:spChg chg="del">
          <ac:chgData name="Cornelia Popescu" userId="444ac7d1-afda-4314-b2c2-4aff562fe857" providerId="ADAL" clId="{3812F0D7-A263-41B2-AC96-1F3B68D731C9}" dt="2026-03-10T08:54:39.868" v="1" actId="478"/>
          <ac:spMkLst>
            <pc:docMk/>
            <pc:sldMk cId="3949681399" sldId="259"/>
            <ac:spMk id="2" creationId="{4635A921-5693-3C37-1E3D-9496C2A3D055}"/>
          </ac:spMkLst>
        </pc:spChg>
      </pc:sldChg>
      <pc:sldChg chg="del">
        <pc:chgData name="Cornelia Popescu" userId="444ac7d1-afda-4314-b2c2-4aff562fe857" providerId="ADAL" clId="{3812F0D7-A263-41B2-AC96-1F3B68D731C9}" dt="2026-03-10T08:54:59.935" v="2" actId="2696"/>
        <pc:sldMkLst>
          <pc:docMk/>
          <pc:sldMk cId="3031701498" sldId="266"/>
        </pc:sldMkLst>
      </pc:sldChg>
      <pc:sldChg chg="delSp mod">
        <pc:chgData name="Cornelia Popescu" userId="444ac7d1-afda-4314-b2c2-4aff562fe857" providerId="ADAL" clId="{3812F0D7-A263-41B2-AC96-1F3B68D731C9}" dt="2026-03-10T08:55:14.981" v="3" actId="478"/>
        <pc:sldMkLst>
          <pc:docMk/>
          <pc:sldMk cId="2803414431" sldId="267"/>
        </pc:sldMkLst>
        <pc:spChg chg="del">
          <ac:chgData name="Cornelia Popescu" userId="444ac7d1-afda-4314-b2c2-4aff562fe857" providerId="ADAL" clId="{3812F0D7-A263-41B2-AC96-1F3B68D731C9}" dt="2026-03-10T08:55:14.981" v="3" actId="478"/>
          <ac:spMkLst>
            <pc:docMk/>
            <pc:sldMk cId="2803414431" sldId="267"/>
            <ac:spMk id="2" creationId="{852A56C9-5E75-F4FA-6236-79E2A5BBF80D}"/>
          </ac:spMkLst>
        </pc:spChg>
      </pc:sldChg>
      <pc:sldChg chg="delSp modSp mod">
        <pc:chgData name="Cornelia Popescu" userId="444ac7d1-afda-4314-b2c2-4aff562fe857" providerId="ADAL" clId="{3812F0D7-A263-41B2-AC96-1F3B68D731C9}" dt="2026-03-10T08:55:26.748" v="6" actId="478"/>
        <pc:sldMkLst>
          <pc:docMk/>
          <pc:sldMk cId="1075810590" sldId="279"/>
        </pc:sldMkLst>
        <pc:spChg chg="del mod">
          <ac:chgData name="Cornelia Popescu" userId="444ac7d1-afda-4314-b2c2-4aff562fe857" providerId="ADAL" clId="{3812F0D7-A263-41B2-AC96-1F3B68D731C9}" dt="2026-03-10T08:55:26.748" v="6" actId="478"/>
          <ac:spMkLst>
            <pc:docMk/>
            <pc:sldMk cId="1075810590" sldId="279"/>
            <ac:spMk id="5" creationId="{4FE69BED-A9C4-303F-96FE-9E080CFC2FAD}"/>
          </ac:spMkLst>
        </pc:spChg>
        <pc:picChg chg="del">
          <ac:chgData name="Cornelia Popescu" userId="444ac7d1-afda-4314-b2c2-4aff562fe857" providerId="ADAL" clId="{3812F0D7-A263-41B2-AC96-1F3B68D731C9}" dt="2026-03-10T08:55:25.310" v="4" actId="478"/>
          <ac:picMkLst>
            <pc:docMk/>
            <pc:sldMk cId="1075810590" sldId="279"/>
            <ac:picMk id="3" creationId="{35B7ADCA-0CA5-52C6-4EBE-83CC3D7CC202}"/>
          </ac:picMkLst>
        </pc:picChg>
      </pc:sldChg>
      <pc:sldChg chg="modSp mod">
        <pc:chgData name="Cornelia Popescu" userId="444ac7d1-afda-4314-b2c2-4aff562fe857" providerId="ADAL" clId="{3812F0D7-A263-41B2-AC96-1F3B68D731C9}" dt="2026-03-10T09:05:09.031" v="66" actId="1076"/>
        <pc:sldMkLst>
          <pc:docMk/>
          <pc:sldMk cId="1257748625" sldId="280"/>
        </pc:sldMkLst>
        <pc:spChg chg="mod">
          <ac:chgData name="Cornelia Popescu" userId="444ac7d1-afda-4314-b2c2-4aff562fe857" providerId="ADAL" clId="{3812F0D7-A263-41B2-AC96-1F3B68D731C9}" dt="2026-03-10T09:05:09.031" v="66" actId="1076"/>
          <ac:spMkLst>
            <pc:docMk/>
            <pc:sldMk cId="1257748625" sldId="280"/>
            <ac:spMk id="2" creationId="{CCF0E458-757C-09CF-99EF-BD77A23A6FED}"/>
          </ac:spMkLst>
        </pc:spChg>
        <pc:picChg chg="mod">
          <ac:chgData name="Cornelia Popescu" userId="444ac7d1-afda-4314-b2c2-4aff562fe857" providerId="ADAL" clId="{3812F0D7-A263-41B2-AC96-1F3B68D731C9}" dt="2026-03-10T09:02:01.939" v="9" actId="14100"/>
          <ac:picMkLst>
            <pc:docMk/>
            <pc:sldMk cId="1257748625" sldId="280"/>
            <ac:picMk id="1030" creationId="{021ABB45-58F9-3CA8-6454-2B07AD01097B}"/>
          </ac:picMkLst>
        </pc:picChg>
      </pc:sldChg>
      <pc:sldChg chg="modSp mod">
        <pc:chgData name="Cornelia Popescu" userId="444ac7d1-afda-4314-b2c2-4aff562fe857" providerId="ADAL" clId="{3812F0D7-A263-41B2-AC96-1F3B68D731C9}" dt="2026-03-10T09:06:00.158" v="74" actId="1076"/>
        <pc:sldMkLst>
          <pc:docMk/>
          <pc:sldMk cId="4461670" sldId="283"/>
        </pc:sldMkLst>
        <pc:spChg chg="mod">
          <ac:chgData name="Cornelia Popescu" userId="444ac7d1-afda-4314-b2c2-4aff562fe857" providerId="ADAL" clId="{3812F0D7-A263-41B2-AC96-1F3B68D731C9}" dt="2026-03-10T09:06:00.158" v="74" actId="1076"/>
          <ac:spMkLst>
            <pc:docMk/>
            <pc:sldMk cId="4461670" sldId="283"/>
            <ac:spMk id="3" creationId="{02D0B9FC-D2B9-8F61-14D2-851B36CA4415}"/>
          </ac:spMkLst>
        </pc:spChg>
      </pc:sldChg>
      <pc:sldChg chg="modSp ord modAnim">
        <pc:chgData name="Cornelia Popescu" userId="444ac7d1-afda-4314-b2c2-4aff562fe857" providerId="ADAL" clId="{3812F0D7-A263-41B2-AC96-1F3B68D731C9}" dt="2026-03-10T09:12:37.999" v="97" actId="20577"/>
        <pc:sldMkLst>
          <pc:docMk/>
          <pc:sldMk cId="2811162036" sldId="284"/>
        </pc:sldMkLst>
        <pc:spChg chg="mod">
          <ac:chgData name="Cornelia Popescu" userId="444ac7d1-afda-4314-b2c2-4aff562fe857" providerId="ADAL" clId="{3812F0D7-A263-41B2-AC96-1F3B68D731C9}" dt="2026-03-10T09:12:37.999" v="97" actId="20577"/>
          <ac:spMkLst>
            <pc:docMk/>
            <pc:sldMk cId="2811162036" sldId="284"/>
            <ac:spMk id="4" creationId="{AA507517-92C0-7697-0B69-47E4D406B796}"/>
          </ac:spMkLst>
        </pc:spChg>
      </pc:sldChg>
      <pc:sldChg chg="modSp del modAnim">
        <pc:chgData name="Cornelia Popescu" userId="444ac7d1-afda-4314-b2c2-4aff562fe857" providerId="ADAL" clId="{3812F0D7-A263-41B2-AC96-1F3B68D731C9}" dt="2026-03-10T11:49:18.673" v="155" actId="2696"/>
        <pc:sldMkLst>
          <pc:docMk/>
          <pc:sldMk cId="3469969736" sldId="285"/>
        </pc:sldMkLst>
        <pc:spChg chg="mod">
          <ac:chgData name="Cornelia Popescu" userId="444ac7d1-afda-4314-b2c2-4aff562fe857" providerId="ADAL" clId="{3812F0D7-A263-41B2-AC96-1F3B68D731C9}" dt="2026-03-10T11:48:55.463" v="154" actId="20577"/>
          <ac:spMkLst>
            <pc:docMk/>
            <pc:sldMk cId="3469969736" sldId="285"/>
            <ac:spMk id="4" creationId="{85E585DE-E549-F106-F11E-E65096370A3B}"/>
          </ac:spMkLst>
        </pc:spChg>
      </pc:sldChg>
      <pc:sldChg chg="modSp mod">
        <pc:chgData name="Cornelia Popescu" userId="444ac7d1-afda-4314-b2c2-4aff562fe857" providerId="ADAL" clId="{3812F0D7-A263-41B2-AC96-1F3B68D731C9}" dt="2026-03-10T09:04:02.707" v="63" actId="20577"/>
        <pc:sldMkLst>
          <pc:docMk/>
          <pc:sldMk cId="2317221130" sldId="300"/>
        </pc:sldMkLst>
        <pc:spChg chg="mod">
          <ac:chgData name="Cornelia Popescu" userId="444ac7d1-afda-4314-b2c2-4aff562fe857" providerId="ADAL" clId="{3812F0D7-A263-41B2-AC96-1F3B68D731C9}" dt="2026-03-10T09:04:02.707" v="63" actId="20577"/>
          <ac:spMkLst>
            <pc:docMk/>
            <pc:sldMk cId="2317221130" sldId="300"/>
            <ac:spMk id="3" creationId="{D1846BEA-449F-3408-5622-24A46D90CD56}"/>
          </ac:spMkLst>
        </pc:spChg>
      </pc:sldChg>
      <pc:sldChg chg="del">
        <pc:chgData name="Cornelia Popescu" userId="444ac7d1-afda-4314-b2c2-4aff562fe857" providerId="ADAL" clId="{3812F0D7-A263-41B2-AC96-1F3B68D731C9}" dt="2026-03-10T09:00:07.897" v="7" actId="2696"/>
        <pc:sldMkLst>
          <pc:docMk/>
          <pc:sldMk cId="3059674935" sldId="455"/>
        </pc:sldMkLst>
      </pc:sldChg>
      <pc:sldChg chg="del">
        <pc:chgData name="Cornelia Popescu" userId="444ac7d1-afda-4314-b2c2-4aff562fe857" providerId="ADAL" clId="{3812F0D7-A263-41B2-AC96-1F3B68D731C9}" dt="2026-03-10T08:54:34.963" v="0" actId="2696"/>
        <pc:sldMkLst>
          <pc:docMk/>
          <pc:sldMk cId="2055695395" sldId="457"/>
        </pc:sldMkLst>
      </pc:sldChg>
      <pc:sldChg chg="modSp add mod">
        <pc:chgData name="Cornelia Popescu" userId="444ac7d1-afda-4314-b2c2-4aff562fe857" providerId="ADAL" clId="{3812F0D7-A263-41B2-AC96-1F3B68D731C9}" dt="2026-03-10T09:03:45.945" v="56" actId="20577"/>
        <pc:sldMkLst>
          <pc:docMk/>
          <pc:sldMk cId="1761323289" sldId="460"/>
        </pc:sldMkLst>
        <pc:spChg chg="mod">
          <ac:chgData name="Cornelia Popescu" userId="444ac7d1-afda-4314-b2c2-4aff562fe857" providerId="ADAL" clId="{3812F0D7-A263-41B2-AC96-1F3B68D731C9}" dt="2026-03-10T09:03:45.945" v="56" actId="20577"/>
          <ac:spMkLst>
            <pc:docMk/>
            <pc:sldMk cId="1761323289" sldId="460"/>
            <ac:spMk id="3" creationId="{E5868E28-61A9-5D1C-DA91-EDD3D3193B3E}"/>
          </ac:spMkLst>
        </pc:spChg>
      </pc:sldChg>
      <pc:sldChg chg="modSp add mod">
        <pc:chgData name="Cornelia Popescu" userId="444ac7d1-afda-4314-b2c2-4aff562fe857" providerId="ADAL" clId="{3812F0D7-A263-41B2-AC96-1F3B68D731C9}" dt="2026-03-10T09:06:31.853" v="79" actId="1076"/>
        <pc:sldMkLst>
          <pc:docMk/>
          <pc:sldMk cId="1044039640" sldId="461"/>
        </pc:sldMkLst>
        <pc:spChg chg="mod">
          <ac:chgData name="Cornelia Popescu" userId="444ac7d1-afda-4314-b2c2-4aff562fe857" providerId="ADAL" clId="{3812F0D7-A263-41B2-AC96-1F3B68D731C9}" dt="2026-03-10T09:06:31.853" v="79" actId="1076"/>
          <ac:spMkLst>
            <pc:docMk/>
            <pc:sldMk cId="1044039640" sldId="461"/>
            <ac:spMk id="3" creationId="{8944930B-56AB-9D99-6E29-BF65569BBA09}"/>
          </ac:spMkLst>
        </pc:spChg>
      </pc:sldChg>
      <pc:sldChg chg="modSp add modAnim">
        <pc:chgData name="Cornelia Popescu" userId="444ac7d1-afda-4314-b2c2-4aff562fe857" providerId="ADAL" clId="{3812F0D7-A263-41B2-AC96-1F3B68D731C9}" dt="2026-03-10T09:14:56.712" v="127" actId="255"/>
        <pc:sldMkLst>
          <pc:docMk/>
          <pc:sldMk cId="2079130563" sldId="462"/>
        </pc:sldMkLst>
        <pc:spChg chg="mod">
          <ac:chgData name="Cornelia Popescu" userId="444ac7d1-afda-4314-b2c2-4aff562fe857" providerId="ADAL" clId="{3812F0D7-A263-41B2-AC96-1F3B68D731C9}" dt="2026-03-10T09:14:56.712" v="127" actId="255"/>
          <ac:spMkLst>
            <pc:docMk/>
            <pc:sldMk cId="2079130563" sldId="462"/>
            <ac:spMk id="4" creationId="{FE3C3B3C-DC8A-726B-A4DA-688552FDCBBB}"/>
          </ac:spMkLst>
        </pc:spChg>
      </pc:sldChg>
      <pc:sldChg chg="modSp add del modAnim">
        <pc:chgData name="Cornelia Popescu" userId="444ac7d1-afda-4314-b2c2-4aff562fe857" providerId="ADAL" clId="{3812F0D7-A263-41B2-AC96-1F3B68D731C9}" dt="2026-03-10T09:12:10.044" v="90" actId="2696"/>
        <pc:sldMkLst>
          <pc:docMk/>
          <pc:sldMk cId="4165657501" sldId="462"/>
        </pc:sldMkLst>
        <pc:spChg chg="mod">
          <ac:chgData name="Cornelia Popescu" userId="444ac7d1-afda-4314-b2c2-4aff562fe857" providerId="ADAL" clId="{3812F0D7-A263-41B2-AC96-1F3B68D731C9}" dt="2026-03-10T09:11:34.447" v="84" actId="20577"/>
          <ac:spMkLst>
            <pc:docMk/>
            <pc:sldMk cId="4165657501" sldId="462"/>
            <ac:spMk id="4" creationId="{D7135236-758F-75D1-FB25-12755CBF42D2}"/>
          </ac:spMkLst>
        </pc:spChg>
      </pc:sldChg>
      <pc:sldChg chg="add">
        <pc:chgData name="Cornelia Popescu" userId="444ac7d1-afda-4314-b2c2-4aff562fe857" providerId="ADAL" clId="{3812F0D7-A263-41B2-AC96-1F3B68D731C9}" dt="2026-03-10T11:47:22.985" v="128" actId="2890"/>
        <pc:sldMkLst>
          <pc:docMk/>
          <pc:sldMk cId="1323286175" sldId="463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051DDD4-3CED-4400-A9AC-F2C4A6E68C52}" type="datetimeFigureOut">
              <a:rPr lang="en-US" smtClean="0"/>
              <a:t>4/27/2026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0845E0-60C2-446A-9A7D-97133A17FFD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80507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imagine diapozitiv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3" name="Substituent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o-RO" dirty="0"/>
          </a:p>
        </p:txBody>
      </p:sp>
      <p:sp>
        <p:nvSpPr>
          <p:cNvPr id="4" name="Substituent număr diapozitiv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27505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imagine diapozitiv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Substituent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o-RO" dirty="0"/>
          </a:p>
        </p:txBody>
      </p:sp>
      <p:sp>
        <p:nvSpPr>
          <p:cNvPr id="4" name="Substituent număr diapozitiv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72709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imagine diapozitiv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Substituent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o-RO" dirty="0"/>
          </a:p>
        </p:txBody>
      </p:sp>
      <p:sp>
        <p:nvSpPr>
          <p:cNvPr id="4" name="Substituent număr diapozitiv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3792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imagine diapozitiv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Substituent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o-RO" dirty="0"/>
          </a:p>
        </p:txBody>
      </p:sp>
      <p:sp>
        <p:nvSpPr>
          <p:cNvPr id="4" name="Substituent număr diapozitiv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00078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21755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b="1" dirty="0"/>
              <a:t>Ključne karakteristike </a:t>
            </a:r>
            <a:r>
              <a:rPr lang="hr-HR" b="1" dirty="0" err="1"/>
              <a:t>prediktivnog</a:t>
            </a:r>
            <a:r>
              <a:rPr lang="hr-HR" b="1" dirty="0"/>
              <a:t> pristupa:</a:t>
            </a:r>
          </a:p>
          <a:p>
            <a:r>
              <a:rPr lang="hr-HR" dirty="0"/>
              <a:t>1. </a:t>
            </a:r>
            <a:r>
              <a:rPr lang="hr-HR" b="1" dirty="0"/>
              <a:t>Fiksni opseg i vremenski okvir</a:t>
            </a:r>
            <a:r>
              <a:rPr lang="hr-HR" dirty="0"/>
              <a:t> – Projekt ima jasno definirane zahtjeve, a promjene su svedene na minimum.</a:t>
            </a:r>
          </a:p>
          <a:p>
            <a:r>
              <a:rPr lang="hr-HR" dirty="0"/>
              <a:t>2. </a:t>
            </a:r>
            <a:r>
              <a:rPr lang="hr-HR" b="1" dirty="0"/>
              <a:t>Sekvencijalne faze</a:t>
            </a:r>
            <a:r>
              <a:rPr lang="hr-HR" dirty="0"/>
              <a:t> – Projekt slijedi strukturirani tijek od pokretanja do završetka.</a:t>
            </a:r>
          </a:p>
          <a:p>
            <a:r>
              <a:rPr lang="hr-HR" dirty="0"/>
              <a:t>3. </a:t>
            </a:r>
            <a:r>
              <a:rPr lang="hr-HR" b="1" dirty="0"/>
              <a:t>Detaljno planiranje</a:t>
            </a:r>
            <a:r>
              <a:rPr lang="hr-HR" dirty="0"/>
              <a:t> – Svaka faza planira se unaprijed, uz definirane prekretnice, budžet i resurse.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2475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sz="1000" b="1" dirty="0"/>
              <a:t>Ključne karakteristike adaptivnog pristupa:</a:t>
            </a:r>
          </a:p>
          <a:p>
            <a:r>
              <a:rPr lang="hr-HR" sz="1000" b="1" dirty="0"/>
              <a:t>1. Fleksibilan opseg i promjenjivi zahtjevi</a:t>
            </a:r>
            <a:r>
              <a:rPr lang="hr-HR" sz="1000" dirty="0"/>
              <a:t> – Projekt započinje s osnovnim funkcionalnostima, a dodatne se prilagođavaju na temelju povratnih informacija korisnika.</a:t>
            </a:r>
          </a:p>
          <a:p>
            <a:r>
              <a:rPr lang="hr-HR" sz="1000" b="1" dirty="0"/>
              <a:t>2. Iterativni razvoj</a:t>
            </a:r>
            <a:r>
              <a:rPr lang="hr-HR" sz="1000" dirty="0"/>
              <a:t> – Rad se odvija u kratkim ciklusima (sprintovima), uz kontinuirano testiranje i unapređenje.</a:t>
            </a:r>
          </a:p>
          <a:p>
            <a:r>
              <a:rPr lang="hr-HR" sz="1000" b="1" dirty="0"/>
              <a:t>3. Bliska suradnja</a:t>
            </a:r>
            <a:r>
              <a:rPr lang="hr-HR" sz="1000" dirty="0"/>
              <a:t> – Programeri, dizajneri, poslovni analitičari i dionici surađuju tijekom cijelog projekta.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53325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b="1" dirty="0"/>
              <a:t>Ključne karakteristike hibridnog pristupa:</a:t>
            </a:r>
          </a:p>
          <a:p>
            <a:r>
              <a:rPr lang="hr-HR" b="1" dirty="0"/>
              <a:t>1.Prediktivni pristup za fiksne elemente</a:t>
            </a:r>
            <a:r>
              <a:rPr lang="hr-HR" dirty="0"/>
              <a:t> – Infrastruktura, sigurnosna usklađenost i pozadinski sustavi slijede strukturirani plan s unaprijed definiranim rokovima.</a:t>
            </a:r>
          </a:p>
          <a:p>
            <a:r>
              <a:rPr lang="hr-HR" b="1" dirty="0"/>
              <a:t>2.Adaptivni pristup za korisnički orijentirane funkcionalnosti</a:t>
            </a:r>
            <a:r>
              <a:rPr lang="hr-HR" dirty="0"/>
              <a:t> – Dizajn UI/UX-a, integracija plaćanja i unapređenja korisničkog iskustva razvijaju se iterativno na temelju povratnih informacija korisnika.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5184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imagine diapozitiv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Substituent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o-RO" dirty="0"/>
          </a:p>
        </p:txBody>
      </p:sp>
      <p:sp>
        <p:nvSpPr>
          <p:cNvPr id="4" name="Substituent număr diapozitiv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78656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imagine diapozitiv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Substituent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o-RO" dirty="0"/>
          </a:p>
        </p:txBody>
      </p:sp>
      <p:sp>
        <p:nvSpPr>
          <p:cNvPr id="4" name="Substituent număr diapozitiv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995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73264-D4F8-4D4E-EFAE-05E29D4F11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703603-E60D-2713-A779-9FB05054D9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C1ABB0-EAD6-A37B-FE9D-BE9859F952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1. Trener će dati osobni primjer za svako od ključnih načela</a:t>
            </a:r>
            <a:br>
              <a:rPr lang="hr-HR" dirty="0"/>
            </a:br>
            <a:r>
              <a:rPr lang="hr-HR" dirty="0"/>
              <a:t>    npr. Iskrenost – kao negativan primjer: nepotizam</a:t>
            </a:r>
          </a:p>
          <a:p>
            <a:r>
              <a:rPr lang="hr-HR" dirty="0"/>
              <a:t>2. Trener će također govoriti o povjerljivosti i NDA-u (ugovoru o povjerljivosti)</a:t>
            </a:r>
          </a:p>
          <a:p>
            <a:r>
              <a:rPr lang="hr-HR" dirty="0"/>
              <a:t>3. Koji je utjecaj na projekt ako se ne poštuje bilo koje od ova 4 načela?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D65035-05FB-147E-354D-78663F5F75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586676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imagine diapozitiv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Substituent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o-RO" dirty="0"/>
          </a:p>
        </p:txBody>
      </p:sp>
      <p:sp>
        <p:nvSpPr>
          <p:cNvPr id="4" name="Substituent număr diapozitiv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7276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Ovaj primjer pokazuje kako zanemarivanje </a:t>
            </a:r>
            <a:r>
              <a:rPr lang="hr-HR" b="1" dirty="0"/>
              <a:t>odgovornosti</a:t>
            </a:r>
            <a:r>
              <a:rPr lang="hr-HR" dirty="0"/>
              <a:t> (</a:t>
            </a:r>
            <a:r>
              <a:rPr lang="hr-HR" dirty="0" err="1"/>
              <a:t>neadresiranjem</a:t>
            </a:r>
            <a:r>
              <a:rPr lang="hr-HR" dirty="0"/>
              <a:t> rizika) i </a:t>
            </a:r>
            <a:r>
              <a:rPr lang="hr-HR" b="1" dirty="0"/>
              <a:t>pravednosti</a:t>
            </a:r>
            <a:r>
              <a:rPr lang="hr-HR" dirty="0"/>
              <a:t> (neravnomjernom raspodjelom posla) može dovesti do neuspjeha projekta i nezadovoljstva tima.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121959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81497B-B147-02B4-B3BF-BF54A41FB4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AEC529-896F-8932-8470-5784F2ABF7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C33DD3-84BA-6B33-5961-A0D08415BC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dirty="0"/>
              <a:t>Ovaj primjer naglašava kako zanemarivanje </a:t>
            </a:r>
            <a:r>
              <a:rPr lang="hr-HR" b="1" dirty="0"/>
              <a:t>odgovornosti</a:t>
            </a:r>
            <a:r>
              <a:rPr lang="hr-HR" dirty="0"/>
              <a:t> (nepravovremenim rješavanjem rizika) i </a:t>
            </a:r>
            <a:r>
              <a:rPr lang="hr-HR" b="1" dirty="0"/>
              <a:t>pravednosti</a:t>
            </a:r>
            <a:r>
              <a:rPr lang="hr-HR" dirty="0"/>
              <a:t> (neravnomjernom raspodjelom posla) može dovesti do neuspjeha projekta i nezadovoljstva tima.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138551-AD2A-51A1-3756-217CBA8FFF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782894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imagine diapozitiv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Substituent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o-RO" dirty="0"/>
          </a:p>
        </p:txBody>
      </p:sp>
      <p:sp>
        <p:nvSpPr>
          <p:cNvPr id="4" name="Substituent număr diapozitiv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151327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imagine diapozitiv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Substituent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o-RO" dirty="0"/>
          </a:p>
        </p:txBody>
      </p:sp>
      <p:sp>
        <p:nvSpPr>
          <p:cNvPr id="4" name="Substituent număr diapozitiv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556571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58767A-4EF8-F5BD-16CD-EBC6A5C122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imagine diapozitiv 1">
            <a:extLst>
              <a:ext uri="{FF2B5EF4-FFF2-40B4-BE49-F238E27FC236}">
                <a16:creationId xmlns:a16="http://schemas.microsoft.com/office/drawing/2014/main" id="{D65BB420-4F6A-A81B-6E7F-02A2043C1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Substituent note 2">
            <a:extLst>
              <a:ext uri="{FF2B5EF4-FFF2-40B4-BE49-F238E27FC236}">
                <a16:creationId xmlns:a16="http://schemas.microsoft.com/office/drawing/2014/main" id="{72C54C43-0116-9930-BCB5-2252318EF5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o-RO" dirty="0"/>
          </a:p>
        </p:txBody>
      </p:sp>
      <p:sp>
        <p:nvSpPr>
          <p:cNvPr id="4" name="Substituent număr diapozitiv 3">
            <a:extLst>
              <a:ext uri="{FF2B5EF4-FFF2-40B4-BE49-F238E27FC236}">
                <a16:creationId xmlns:a16="http://schemas.microsoft.com/office/drawing/2014/main" id="{00C77C8B-5742-626F-3EE9-B55AF3DC0D1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327774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hr-HR" b="1" dirty="0"/>
              <a:t>Fiziološke potrebe – osigurati osnovne uvjete</a:t>
            </a:r>
            <a:br>
              <a:rPr lang="hr-HR" dirty="0"/>
            </a:br>
            <a:r>
              <a:rPr lang="hr-HR" b="1" dirty="0"/>
              <a:t>Problem:</a:t>
            </a:r>
            <a:r>
              <a:rPr lang="hr-HR" dirty="0"/>
              <a:t> John kasni na posao i ranije odlazi, što utječe na njegov učinak. Nakon razgovora, Sarah saznaje da se John suočava s osobnim financijskim stresom.</a:t>
            </a:r>
            <a:br>
              <a:rPr lang="hr-HR" dirty="0"/>
            </a:br>
            <a:r>
              <a:rPr lang="hr-HR" b="1" dirty="0"/>
              <a:t>Akcija: </a:t>
            </a:r>
            <a:r>
              <a:rPr lang="hr-HR" dirty="0"/>
              <a:t>Sarah s njim razgovara o dostupnim pogodnostima u tvrtki, poput resursa za financijsko planiranje i fleksibilnosti rada od kuće, kako bi mu osigurala stabilno okruženje za rad.</a:t>
            </a:r>
          </a:p>
          <a:p>
            <a:r>
              <a:rPr lang="hr-HR" b="1" dirty="0"/>
              <a:t>Problem:</a:t>
            </a:r>
            <a:r>
              <a:rPr lang="hr-HR" dirty="0"/>
              <a:t> John se osjeća nesigurno u vezi svoje uloge i strahuje da bi mogao biti zamijenjen zbog slabijeg učinka.</a:t>
            </a:r>
          </a:p>
          <a:p>
            <a:r>
              <a:rPr lang="hr-HR" b="1" dirty="0"/>
              <a:t>Akcija: </a:t>
            </a:r>
            <a:r>
              <a:rPr lang="hr-HR" dirty="0"/>
              <a:t>Sarah ga uvjerava u </a:t>
            </a:r>
            <a:r>
              <a:rPr lang="hr-HR" b="1" dirty="0"/>
              <a:t>sigurnost njegovog radnog mjesta</a:t>
            </a:r>
            <a:r>
              <a:rPr lang="hr-HR" dirty="0"/>
              <a:t>, postavlja jasna očekivanja i pruža </a:t>
            </a:r>
            <a:r>
              <a:rPr lang="hr-HR" b="1" dirty="0"/>
              <a:t>podršku kroz </a:t>
            </a:r>
            <a:r>
              <a:rPr lang="hr-HR" b="1" dirty="0" err="1"/>
              <a:t>coaching</a:t>
            </a:r>
            <a:r>
              <a:rPr lang="hr-HR" dirty="0"/>
              <a:t>. Uvodi strukturirani plan s ostvarivim ciljevima te osigurava mentora koji će ga voditi.</a:t>
            </a:r>
          </a:p>
          <a:p>
            <a:r>
              <a:rPr lang="hr-HR" b="1" dirty="0"/>
              <a:t>Potrebe za pripadanjem – potaknuti uključenost u tim</a:t>
            </a:r>
            <a:br>
              <a:rPr lang="hr-HR" dirty="0"/>
            </a:br>
            <a:r>
              <a:rPr lang="hr-HR" b="1" dirty="0"/>
              <a:t>Problem:</a:t>
            </a:r>
            <a:r>
              <a:rPr lang="hr-HR" dirty="0"/>
              <a:t> John se osjeća izolirano te izbjegava sastanke i suradnju.</a:t>
            </a:r>
            <a:br>
              <a:rPr lang="hr-HR" dirty="0"/>
            </a:br>
            <a:r>
              <a:rPr lang="hr-HR" b="1" dirty="0"/>
              <a:t>Akcija:</a:t>
            </a:r>
            <a:r>
              <a:rPr lang="hr-HR" dirty="0"/>
              <a:t> Sarah potiče </a:t>
            </a:r>
            <a:r>
              <a:rPr lang="hr-HR" b="1" dirty="0"/>
              <a:t>rad u paru </a:t>
            </a:r>
            <a:r>
              <a:rPr lang="hr-HR" dirty="0"/>
              <a:t>(</a:t>
            </a:r>
            <a:r>
              <a:rPr lang="hr-HR" dirty="0" err="1"/>
              <a:t>pair</a:t>
            </a:r>
            <a:r>
              <a:rPr lang="hr-HR" dirty="0"/>
              <a:t> </a:t>
            </a:r>
            <a:r>
              <a:rPr lang="hr-HR" dirty="0" err="1"/>
              <a:t>programming</a:t>
            </a:r>
            <a:r>
              <a:rPr lang="hr-HR" dirty="0"/>
              <a:t>) i dodjeljuje Johna manjem timu u kojem se može osjećati ugodnije i aktivnije doprinositi. Također organizira neformalne timske aktivnosti kako bi se osjećao </a:t>
            </a:r>
            <a:r>
              <a:rPr lang="hr-HR" b="1" dirty="0"/>
              <a:t>vrijedno i uključeno</a:t>
            </a:r>
            <a:r>
              <a:rPr lang="hr-HR" dirty="0"/>
              <a:t>.</a:t>
            </a:r>
          </a:p>
          <a:p>
            <a:r>
              <a:rPr lang="hr-HR" b="1" dirty="0"/>
              <a:t>Potrebe za poštovanjem – prepoznati i osnažiti</a:t>
            </a:r>
            <a:br>
              <a:rPr lang="hr-HR" dirty="0"/>
            </a:br>
            <a:r>
              <a:rPr lang="hr-HR" b="1" dirty="0"/>
              <a:t>Problem:</a:t>
            </a:r>
            <a:r>
              <a:rPr lang="hr-HR" dirty="0"/>
              <a:t> John je izgubio samopouzdanje zbog prethodnih neuspjeha na projektima.</a:t>
            </a:r>
            <a:br>
              <a:rPr lang="hr-HR" dirty="0"/>
            </a:br>
            <a:r>
              <a:rPr lang="hr-HR" b="1" dirty="0"/>
              <a:t>Akcija: </a:t>
            </a:r>
            <a:r>
              <a:rPr lang="hr-HR" dirty="0"/>
              <a:t>Sarah mu dodjeljuje </a:t>
            </a:r>
            <a:r>
              <a:rPr lang="hr-HR" b="1" dirty="0"/>
              <a:t>izvediv, ali važan zadatak </a:t>
            </a:r>
            <a:r>
              <a:rPr lang="hr-HR" dirty="0"/>
              <a:t>te javno </a:t>
            </a:r>
            <a:r>
              <a:rPr lang="hr-HR" b="1" dirty="0"/>
              <a:t>priznaje njegov napredak</a:t>
            </a:r>
            <a:r>
              <a:rPr lang="hr-HR" dirty="0"/>
              <a:t> na timskom sastanku. Osigurava da je povratna informacija konstruktivna i uravnotežena pozitivnim poticajem.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hr-HR" b="1" dirty="0" err="1"/>
              <a:t>Samoaktualizacija</a:t>
            </a:r>
            <a:r>
              <a:rPr lang="hr-HR" b="1" dirty="0"/>
              <a:t> – omogućiti razvoj i smisao</a:t>
            </a:r>
            <a:br>
              <a:rPr lang="hr-HR" dirty="0"/>
            </a:br>
            <a:r>
              <a:rPr lang="hr-HR" b="1" dirty="0"/>
              <a:t>Problem: </a:t>
            </a:r>
            <a:r>
              <a:rPr lang="hr-HR" dirty="0"/>
              <a:t>John nema motivaciju i svoj rad doživljava kao rutinu.</a:t>
            </a:r>
            <a:br>
              <a:rPr lang="hr-HR" dirty="0"/>
            </a:br>
            <a:r>
              <a:rPr lang="hr-HR" b="1" dirty="0"/>
              <a:t>Akcija:</a:t>
            </a:r>
            <a:r>
              <a:rPr lang="hr-HR" dirty="0"/>
              <a:t> Sarah mu pruža priliku </a:t>
            </a:r>
            <a:r>
              <a:rPr lang="hr-HR" b="1" dirty="0"/>
              <a:t>raditi na inovativnoj funkcionalnosti </a:t>
            </a:r>
            <a:r>
              <a:rPr lang="hr-HR" dirty="0"/>
              <a:t>i uključuje ga u </a:t>
            </a:r>
            <a:r>
              <a:rPr lang="hr-HR" b="1" dirty="0"/>
              <a:t>naprednu radionicu programiranja</a:t>
            </a:r>
            <a:r>
              <a:rPr lang="hr-HR" dirty="0"/>
              <a:t>. Također mu omogućuje da iznosi nove ideje na sprint sastancima, dajući mu vlasništvo nad manjim projektom.</a:t>
            </a:r>
          </a:p>
          <a:p>
            <a:endParaRPr lang="hr-HR" dirty="0"/>
          </a:p>
          <a:p>
            <a:endParaRPr lang="hr-HR" dirty="0"/>
          </a:p>
          <a:p>
            <a:endParaRPr lang="hr-H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6842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098921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238444-E48A-38C7-78C5-D908D4AA35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EB84D2-B206-EA6A-D567-BAB0EDF96E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49AB28-2E41-ADC9-427F-884371D040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6EF7D7-8EB8-DAC4-B69B-45522BE6054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162863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>
                <a:latin typeface="Bahnschrift SemiLight" panose="020B0502040204020203" pitchFamily="34" charset="0"/>
              </a:rPr>
              <a:t>Ovaj</a:t>
            </a:r>
            <a:r>
              <a:rPr lang="en-US" dirty="0">
                <a:latin typeface="Bahnschrift SemiLight" panose="020B0502040204020203" pitchFamily="34" charset="0"/>
              </a:rPr>
              <a:t> </a:t>
            </a:r>
            <a:r>
              <a:rPr lang="en-US" dirty="0" err="1">
                <a:latin typeface="Bahnschrift SemiLight" panose="020B0502040204020203" pitchFamily="34" charset="0"/>
              </a:rPr>
              <a:t>konflikt</a:t>
            </a:r>
            <a:r>
              <a:rPr lang="en-US" dirty="0">
                <a:latin typeface="Bahnschrift SemiLight" panose="020B0502040204020203" pitchFamily="34" charset="0"/>
              </a:rPr>
              <a:t> </a:t>
            </a:r>
            <a:r>
              <a:rPr lang="en-US" dirty="0" err="1">
                <a:latin typeface="Bahnschrift SemiLight" panose="020B0502040204020203" pitchFamily="34" charset="0"/>
              </a:rPr>
              <a:t>zahtijeva</a:t>
            </a:r>
            <a:r>
              <a:rPr lang="en-US" dirty="0">
                <a:latin typeface="Bahnschrift SemiLight" panose="020B0502040204020203" pitchFamily="34" charset="0"/>
              </a:rPr>
              <a:t> </a:t>
            </a:r>
            <a:r>
              <a:rPr lang="en-US" dirty="0" err="1">
                <a:latin typeface="Bahnschrift SemiLight" panose="020B0502040204020203" pitchFamily="34" charset="0"/>
              </a:rPr>
              <a:t>pregovaranje</a:t>
            </a:r>
            <a:r>
              <a:rPr lang="en-US" dirty="0">
                <a:latin typeface="Bahnschrift SemiLight" panose="020B0502040204020203" pitchFamily="34" charset="0"/>
              </a:rPr>
              <a:t> — </a:t>
            </a:r>
            <a:r>
              <a:rPr lang="en-US" dirty="0" err="1">
                <a:latin typeface="Bahnschrift SemiLight" panose="020B0502040204020203" pitchFamily="34" charset="0"/>
              </a:rPr>
              <a:t>bilo</a:t>
            </a:r>
            <a:r>
              <a:rPr lang="en-US" dirty="0">
                <a:latin typeface="Bahnschrift SemiLight" panose="020B0502040204020203" pitchFamily="34" charset="0"/>
              </a:rPr>
              <a:t> </a:t>
            </a:r>
            <a:r>
              <a:rPr lang="en-US" dirty="0" err="1">
                <a:latin typeface="Bahnschrift SemiLight" panose="020B0502040204020203" pitchFamily="34" charset="0"/>
              </a:rPr>
              <a:t>prilagodbu</a:t>
            </a:r>
            <a:r>
              <a:rPr lang="en-US" dirty="0">
                <a:latin typeface="Bahnschrift SemiLight" panose="020B0502040204020203" pitchFamily="34" charset="0"/>
              </a:rPr>
              <a:t> </a:t>
            </a:r>
            <a:r>
              <a:rPr lang="en-US" dirty="0" err="1">
                <a:latin typeface="Bahnschrift SemiLight" panose="020B0502040204020203" pitchFamily="34" charset="0"/>
              </a:rPr>
              <a:t>roka</a:t>
            </a:r>
            <a:r>
              <a:rPr lang="en-US" dirty="0">
                <a:latin typeface="Bahnschrift SemiLight" panose="020B0502040204020203" pitchFamily="34" charset="0"/>
              </a:rPr>
              <a:t>, </a:t>
            </a:r>
            <a:r>
              <a:rPr lang="en-US" dirty="0" err="1">
                <a:latin typeface="Bahnschrift SemiLight" panose="020B0502040204020203" pitchFamily="34" charset="0"/>
              </a:rPr>
              <a:t>preraspodjelu</a:t>
            </a:r>
            <a:r>
              <a:rPr lang="en-US" dirty="0">
                <a:latin typeface="Bahnschrift SemiLight" panose="020B0502040204020203" pitchFamily="34" charset="0"/>
              </a:rPr>
              <a:t> </a:t>
            </a:r>
            <a:r>
              <a:rPr lang="en-US" dirty="0" err="1">
                <a:latin typeface="Bahnschrift SemiLight" panose="020B0502040204020203" pitchFamily="34" charset="0"/>
              </a:rPr>
              <a:t>resursa</a:t>
            </a:r>
            <a:r>
              <a:rPr lang="en-US" dirty="0">
                <a:latin typeface="Bahnschrift SemiLight" panose="020B0502040204020203" pitchFamily="34" charset="0"/>
              </a:rPr>
              <a:t> </a:t>
            </a:r>
            <a:r>
              <a:rPr lang="en-US" dirty="0" err="1">
                <a:latin typeface="Bahnschrift SemiLight" panose="020B0502040204020203" pitchFamily="34" charset="0"/>
              </a:rPr>
              <a:t>ili</a:t>
            </a:r>
            <a:r>
              <a:rPr lang="en-US" dirty="0">
                <a:latin typeface="Bahnschrift SemiLight" panose="020B0502040204020203" pitchFamily="34" charset="0"/>
              </a:rPr>
              <a:t> </a:t>
            </a:r>
            <a:r>
              <a:rPr lang="en-US" dirty="0" err="1">
                <a:latin typeface="Bahnschrift SemiLight" panose="020B0502040204020203" pitchFamily="34" charset="0"/>
              </a:rPr>
              <a:t>pronalaženje</a:t>
            </a:r>
            <a:r>
              <a:rPr lang="en-US" dirty="0">
                <a:latin typeface="Bahnschrift SemiLight" panose="020B0502040204020203" pitchFamily="34" charset="0"/>
              </a:rPr>
              <a:t> </a:t>
            </a:r>
            <a:r>
              <a:rPr lang="en-US" dirty="0" err="1">
                <a:latin typeface="Bahnschrift SemiLight" panose="020B0502040204020203" pitchFamily="34" charset="0"/>
              </a:rPr>
              <a:t>kompromisa</a:t>
            </a:r>
            <a:r>
              <a:rPr lang="en-US" dirty="0">
                <a:latin typeface="Bahnschrift SemiLight" panose="020B0502040204020203" pitchFamily="34" charset="0"/>
              </a:rPr>
              <a:t> </a:t>
            </a:r>
            <a:r>
              <a:rPr lang="en-US" dirty="0" err="1">
                <a:latin typeface="Bahnschrift SemiLight" panose="020B0502040204020203" pitchFamily="34" charset="0"/>
              </a:rPr>
              <a:t>kako</a:t>
            </a:r>
            <a:r>
              <a:rPr lang="en-US" dirty="0">
                <a:latin typeface="Bahnschrift SemiLight" panose="020B0502040204020203" pitchFamily="34" charset="0"/>
              </a:rPr>
              <a:t> bi se </a:t>
            </a:r>
            <a:r>
              <a:rPr lang="en-US" dirty="0" err="1">
                <a:latin typeface="Bahnschrift SemiLight" panose="020B0502040204020203" pitchFamily="34" charset="0"/>
              </a:rPr>
              <a:t>uskladili</a:t>
            </a:r>
            <a:r>
              <a:rPr lang="en-US" dirty="0">
                <a:latin typeface="Bahnschrift SemiLight" panose="020B0502040204020203" pitchFamily="34" charset="0"/>
              </a:rPr>
              <a:t> </a:t>
            </a:r>
            <a:r>
              <a:rPr lang="en-US" dirty="0" err="1">
                <a:latin typeface="Bahnschrift SemiLight" panose="020B0502040204020203" pitchFamily="34" charset="0"/>
              </a:rPr>
              <a:t>kvaliteta</a:t>
            </a:r>
            <a:r>
              <a:rPr lang="en-US" dirty="0">
                <a:latin typeface="Bahnschrift SemiLight" panose="020B0502040204020203" pitchFamily="34" charset="0"/>
              </a:rPr>
              <a:t> i </a:t>
            </a:r>
            <a:r>
              <a:rPr lang="en-US" dirty="0" err="1">
                <a:latin typeface="Bahnschrift SemiLight" panose="020B0502040204020203" pitchFamily="34" charset="0"/>
              </a:rPr>
              <a:t>brzina</a:t>
            </a:r>
            <a:r>
              <a:rPr lang="en-US" dirty="0">
                <a:latin typeface="Bahnschrift SemiLight" panose="020B0502040204020203" pitchFamily="34" charset="0"/>
              </a:rPr>
              <a:t> </a:t>
            </a:r>
            <a:r>
              <a:rPr lang="en-US" dirty="0" err="1">
                <a:latin typeface="Bahnschrift SemiLight" panose="020B0502040204020203" pitchFamily="34" charset="0"/>
              </a:rPr>
              <a:t>isporuke</a:t>
            </a:r>
            <a:r>
              <a:rPr lang="en-US" dirty="0">
                <a:latin typeface="Bahnschrift SemiLight" panose="020B0502040204020203" pitchFamily="34" charset="0"/>
              </a:rPr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2671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47689-0A01-02C0-92F2-7FBF7284C6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A92EA1-576E-073B-46FF-57A152C436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ro-RO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7324BD-C018-EE88-0171-9E5AECFCC6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>
                <a:latin typeface="Bahnschrift SemiLight" panose="020B0502040204020203" pitchFamily="34" charset="0"/>
              </a:rPr>
              <a:t>Ovaj</a:t>
            </a:r>
            <a:r>
              <a:rPr lang="en-US" dirty="0">
                <a:latin typeface="Bahnschrift SemiLight" panose="020B0502040204020203" pitchFamily="34" charset="0"/>
              </a:rPr>
              <a:t> </a:t>
            </a:r>
            <a:r>
              <a:rPr lang="en-US" dirty="0" err="1">
                <a:latin typeface="Bahnschrift SemiLight" panose="020B0502040204020203" pitchFamily="34" charset="0"/>
              </a:rPr>
              <a:t>konflikt</a:t>
            </a:r>
            <a:r>
              <a:rPr lang="en-US" dirty="0">
                <a:latin typeface="Bahnschrift SemiLight" panose="020B0502040204020203" pitchFamily="34" charset="0"/>
              </a:rPr>
              <a:t> </a:t>
            </a:r>
            <a:r>
              <a:rPr lang="en-US" dirty="0" err="1">
                <a:latin typeface="Bahnschrift SemiLight" panose="020B0502040204020203" pitchFamily="34" charset="0"/>
              </a:rPr>
              <a:t>zahtijeva</a:t>
            </a:r>
            <a:r>
              <a:rPr lang="en-US" dirty="0">
                <a:latin typeface="Bahnschrift SemiLight" panose="020B0502040204020203" pitchFamily="34" charset="0"/>
              </a:rPr>
              <a:t> </a:t>
            </a:r>
            <a:r>
              <a:rPr lang="en-US" dirty="0" err="1">
                <a:latin typeface="Bahnschrift SemiLight" panose="020B0502040204020203" pitchFamily="34" charset="0"/>
              </a:rPr>
              <a:t>pregovaranje</a:t>
            </a:r>
            <a:r>
              <a:rPr lang="en-US" dirty="0">
                <a:latin typeface="Bahnschrift SemiLight" panose="020B0502040204020203" pitchFamily="34" charset="0"/>
              </a:rPr>
              <a:t> — </a:t>
            </a:r>
            <a:r>
              <a:rPr lang="en-US" dirty="0" err="1">
                <a:latin typeface="Bahnschrift SemiLight" panose="020B0502040204020203" pitchFamily="34" charset="0"/>
              </a:rPr>
              <a:t>prilagodbu</a:t>
            </a:r>
            <a:r>
              <a:rPr lang="en-US" dirty="0">
                <a:latin typeface="Bahnschrift SemiLight" panose="020B0502040204020203" pitchFamily="34" charset="0"/>
              </a:rPr>
              <a:t> </a:t>
            </a:r>
            <a:r>
              <a:rPr lang="en-US" dirty="0" err="1">
                <a:latin typeface="Bahnschrift SemiLight" panose="020B0502040204020203" pitchFamily="34" charset="0"/>
              </a:rPr>
              <a:t>rokova</a:t>
            </a:r>
            <a:r>
              <a:rPr lang="en-US" dirty="0">
                <a:latin typeface="Bahnschrift SemiLight" panose="020B0502040204020203" pitchFamily="34" charset="0"/>
              </a:rPr>
              <a:t>, </a:t>
            </a:r>
            <a:r>
              <a:rPr lang="en-US" dirty="0" err="1">
                <a:latin typeface="Bahnschrift SemiLight" panose="020B0502040204020203" pitchFamily="34" charset="0"/>
              </a:rPr>
              <a:t>preraspodjelu</a:t>
            </a:r>
            <a:r>
              <a:rPr lang="en-US" dirty="0">
                <a:latin typeface="Bahnschrift SemiLight" panose="020B0502040204020203" pitchFamily="34" charset="0"/>
              </a:rPr>
              <a:t> </a:t>
            </a:r>
            <a:r>
              <a:rPr lang="en-US" dirty="0" err="1">
                <a:latin typeface="Bahnschrift SemiLight" panose="020B0502040204020203" pitchFamily="34" charset="0"/>
              </a:rPr>
              <a:t>resursa</a:t>
            </a:r>
            <a:r>
              <a:rPr lang="en-US" dirty="0">
                <a:latin typeface="Bahnschrift SemiLight" panose="020B0502040204020203" pitchFamily="34" charset="0"/>
              </a:rPr>
              <a:t> </a:t>
            </a:r>
            <a:r>
              <a:rPr lang="en-US" dirty="0" err="1">
                <a:latin typeface="Bahnschrift SemiLight" panose="020B0502040204020203" pitchFamily="34" charset="0"/>
              </a:rPr>
              <a:t>ili</a:t>
            </a:r>
            <a:r>
              <a:rPr lang="en-US" dirty="0">
                <a:latin typeface="Bahnschrift SemiLight" panose="020B0502040204020203" pitchFamily="34" charset="0"/>
              </a:rPr>
              <a:t> </a:t>
            </a:r>
            <a:r>
              <a:rPr lang="en-US" dirty="0" err="1">
                <a:latin typeface="Bahnschrift SemiLight" panose="020B0502040204020203" pitchFamily="34" charset="0"/>
              </a:rPr>
              <a:t>pronalaženje</a:t>
            </a:r>
            <a:r>
              <a:rPr lang="en-US" dirty="0">
                <a:latin typeface="Bahnschrift SemiLight" panose="020B0502040204020203" pitchFamily="34" charset="0"/>
              </a:rPr>
              <a:t> </a:t>
            </a:r>
            <a:r>
              <a:rPr lang="en-US" dirty="0" err="1">
                <a:latin typeface="Bahnschrift SemiLight" panose="020B0502040204020203" pitchFamily="34" charset="0"/>
              </a:rPr>
              <a:t>kompromisa</a:t>
            </a:r>
            <a:r>
              <a:rPr lang="en-US" dirty="0">
                <a:latin typeface="Bahnschrift SemiLight" panose="020B0502040204020203" pitchFamily="34" charset="0"/>
              </a:rPr>
              <a:t> </a:t>
            </a:r>
            <a:r>
              <a:rPr lang="en-US" dirty="0" err="1">
                <a:latin typeface="Bahnschrift SemiLight" panose="020B0502040204020203" pitchFamily="34" charset="0"/>
              </a:rPr>
              <a:t>kako</a:t>
            </a:r>
            <a:r>
              <a:rPr lang="en-US" dirty="0">
                <a:latin typeface="Bahnschrift SemiLight" panose="020B0502040204020203" pitchFamily="34" charset="0"/>
              </a:rPr>
              <a:t> bi se </a:t>
            </a:r>
            <a:r>
              <a:rPr lang="en-US" dirty="0" err="1">
                <a:latin typeface="Bahnschrift SemiLight" panose="020B0502040204020203" pitchFamily="34" charset="0"/>
              </a:rPr>
              <a:t>uskladili</a:t>
            </a:r>
            <a:r>
              <a:rPr lang="en-US" dirty="0">
                <a:latin typeface="Bahnschrift SemiLight" panose="020B0502040204020203" pitchFamily="34" charset="0"/>
              </a:rPr>
              <a:t> </a:t>
            </a:r>
            <a:r>
              <a:rPr lang="en-US" dirty="0" err="1">
                <a:latin typeface="Bahnschrift SemiLight" panose="020B0502040204020203" pitchFamily="34" charset="0"/>
              </a:rPr>
              <a:t>kvaliteta</a:t>
            </a:r>
            <a:r>
              <a:rPr lang="en-US" dirty="0">
                <a:latin typeface="Bahnschrift SemiLight" panose="020B0502040204020203" pitchFamily="34" charset="0"/>
              </a:rPr>
              <a:t> i </a:t>
            </a:r>
            <a:r>
              <a:rPr lang="en-US" dirty="0" err="1">
                <a:latin typeface="Bahnschrift SemiLight" panose="020B0502040204020203" pitchFamily="34" charset="0"/>
              </a:rPr>
              <a:t>brzina</a:t>
            </a:r>
            <a:r>
              <a:rPr lang="en-US" dirty="0">
                <a:latin typeface="Bahnschrift SemiLight" panose="020B0502040204020203" pitchFamily="34" charset="0"/>
              </a:rPr>
              <a:t> </a:t>
            </a:r>
            <a:r>
              <a:rPr lang="en-US" dirty="0" err="1">
                <a:latin typeface="Bahnschrift SemiLight" panose="020B0502040204020203" pitchFamily="34" charset="0"/>
              </a:rPr>
              <a:t>isporuke</a:t>
            </a:r>
            <a:r>
              <a:rPr lang="en-US" dirty="0">
                <a:latin typeface="Bahnschrift SemiLight" panose="020B0502040204020203" pitchFamily="34" charset="0"/>
              </a:rPr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CF50E9-6EB0-D467-63A8-FDF2143B60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594158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imagine diapozitiv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3" name="Substituent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o-RO" dirty="0"/>
          </a:p>
        </p:txBody>
      </p:sp>
      <p:sp>
        <p:nvSpPr>
          <p:cNvPr id="4" name="Substituent număr diapozitiv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183688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imagine diapozitiv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3" name="Substituent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o-RO" dirty="0"/>
          </a:p>
        </p:txBody>
      </p:sp>
      <p:sp>
        <p:nvSpPr>
          <p:cNvPr id="4" name="Substituent număr diapozitiv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511150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4A67C-A02A-86A8-E575-24E390B3B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imagine diapozitiv 1">
            <a:extLst>
              <a:ext uri="{FF2B5EF4-FFF2-40B4-BE49-F238E27FC236}">
                <a16:creationId xmlns:a16="http://schemas.microsoft.com/office/drawing/2014/main" id="{6A6F6C1F-CC4E-C9B8-BAC3-BCAE8961C6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3" name="Substituent note 2">
            <a:extLst>
              <a:ext uri="{FF2B5EF4-FFF2-40B4-BE49-F238E27FC236}">
                <a16:creationId xmlns:a16="http://schemas.microsoft.com/office/drawing/2014/main" id="{766F635B-F749-6378-4078-D7A93006FD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o-RO" dirty="0"/>
          </a:p>
        </p:txBody>
      </p:sp>
      <p:sp>
        <p:nvSpPr>
          <p:cNvPr id="4" name="Substituent număr diapozitiv 3">
            <a:extLst>
              <a:ext uri="{FF2B5EF4-FFF2-40B4-BE49-F238E27FC236}">
                <a16:creationId xmlns:a16="http://schemas.microsoft.com/office/drawing/2014/main" id="{13BF591B-E3DE-9DB4-6BB2-426153A7FE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094021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stituent imagine diapozitiv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hr-HR"/>
          </a:p>
        </p:txBody>
      </p:sp>
      <p:sp>
        <p:nvSpPr>
          <p:cNvPr id="3" name="Substituent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o-RO" dirty="0"/>
          </a:p>
        </p:txBody>
      </p:sp>
      <p:sp>
        <p:nvSpPr>
          <p:cNvPr id="4" name="Substituent număr diapozitiv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0845E0-60C2-446A-9A7D-97133A17FFD2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146445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Master" Target="../slideMasters/slideMaster3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Master" Target="../slideMasters/slideMaster3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Master" Target="../slideMasters/slideMaster3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Master" Target="../slideMasters/slideMaster3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Slika 13">
            <a:extLst>
              <a:ext uri="{FF2B5EF4-FFF2-40B4-BE49-F238E27FC236}">
                <a16:creationId xmlns:a16="http://schemas.microsoft.com/office/drawing/2014/main" id="{8FBD081C-E6C2-807B-F622-45A52F57D6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428"/>
            <a:ext cx="12192000" cy="6857142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00F290A5-665D-F2E4-352E-051E267BCC1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455653" y="2468084"/>
            <a:ext cx="9144000" cy="2387600"/>
          </a:xfrm>
        </p:spPr>
        <p:txBody>
          <a:bodyPr anchor="b"/>
          <a:lstStyle>
            <a:lvl1pPr algn="r">
              <a:defRPr sz="6000">
                <a:latin typeface="Montserrat" panose="00000500000000000000" pitchFamily="2" charset="-18"/>
              </a:defRPr>
            </a:lvl1pPr>
          </a:lstStyle>
          <a:p>
            <a:r>
              <a:rPr lang="hr-HR" dirty="0"/>
              <a:t>DOCUMENT TITLE</a:t>
            </a:r>
          </a:p>
        </p:txBody>
      </p:sp>
      <p:sp>
        <p:nvSpPr>
          <p:cNvPr id="3" name="Podnaslov 2">
            <a:extLst>
              <a:ext uri="{FF2B5EF4-FFF2-40B4-BE49-F238E27FC236}">
                <a16:creationId xmlns:a16="http://schemas.microsoft.com/office/drawing/2014/main" id="{7A61E420-EBAD-A9E6-F448-076E17D0F2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455653" y="4947759"/>
            <a:ext cx="9144000" cy="1655762"/>
          </a:xfrm>
        </p:spPr>
        <p:txBody>
          <a:bodyPr/>
          <a:lstStyle>
            <a:lvl1pPr marL="0" indent="0" algn="r">
              <a:buNone/>
              <a:defRPr sz="2400">
                <a:latin typeface="Montserrat" panose="00000500000000000000" pitchFamily="2" charset="-1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r-HR" dirty="0"/>
              <a:t>SUBHEADING</a:t>
            </a:r>
          </a:p>
        </p:txBody>
      </p:sp>
    </p:spTree>
    <p:extLst>
      <p:ext uri="{BB962C8B-B14F-4D97-AF65-F5344CB8AC3E}">
        <p14:creationId xmlns:p14="http://schemas.microsoft.com/office/powerpoint/2010/main" val="1637976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lika 8">
            <a:extLst>
              <a:ext uri="{FF2B5EF4-FFF2-40B4-BE49-F238E27FC236}">
                <a16:creationId xmlns:a16="http://schemas.microsoft.com/office/drawing/2014/main" id="{1E9C26A1-6687-A87D-1AE0-CDCFC63DA5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428"/>
            <a:ext cx="12192000" cy="6857142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00F290A5-665D-F2E4-352E-051E267BCC1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455653" y="3382477"/>
            <a:ext cx="9144000" cy="2387600"/>
          </a:xfrm>
        </p:spPr>
        <p:txBody>
          <a:bodyPr anchor="b"/>
          <a:lstStyle>
            <a:lvl1pPr algn="r">
              <a:defRPr sz="4800">
                <a:latin typeface="Bahnschrift" panose="020B0502040204020203" pitchFamily="34" charset="0"/>
              </a:defRPr>
            </a:lvl1pPr>
          </a:lstStyle>
          <a:p>
            <a:r>
              <a:rPr lang="hr-HR" dirty="0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val="162662255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Slika 9" descr="Slika na kojoj se prikazuje crta, snimka zaslona, šarenilo, dizajn&#10;&#10;Opis je automatski generiran">
            <a:extLst>
              <a:ext uri="{FF2B5EF4-FFF2-40B4-BE49-F238E27FC236}">
                <a16:creationId xmlns:a16="http://schemas.microsoft.com/office/drawing/2014/main" id="{7D3E6235-77BD-81C2-1C4B-460BFF2AC5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 dirty="0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16012754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sadržaj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Slika 7" descr="Slika na kojoj se prikazuje crta, snimka zaslona, šarenilo, dizajn">
            <a:extLst>
              <a:ext uri="{FF2B5EF4-FFF2-40B4-BE49-F238E27FC236}">
                <a16:creationId xmlns:a16="http://schemas.microsoft.com/office/drawing/2014/main" id="{813DD7BB-6C45-D079-40C8-D9AAFA33515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E69C0126-D498-D7EF-F08C-471CA839C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E0915537-B2D1-B872-5BC6-E6A6498B82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</a:lstStyle>
          <a:p>
            <a:pPr lvl="0"/>
            <a:r>
              <a:rPr lang="hr-HR" dirty="0"/>
              <a:t>Kliknite da biste uredili matrice</a:t>
            </a:r>
          </a:p>
        </p:txBody>
      </p:sp>
      <p:sp>
        <p:nvSpPr>
          <p:cNvPr id="4" name="Rezervirano mjesto sadržaja 3">
            <a:extLst>
              <a:ext uri="{FF2B5EF4-FFF2-40B4-BE49-F238E27FC236}">
                <a16:creationId xmlns:a16="http://schemas.microsoft.com/office/drawing/2014/main" id="{6E429AF7-3B52-7B21-C5E7-7BA86CDA8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41308425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Slika 3">
            <a:extLst>
              <a:ext uri="{FF2B5EF4-FFF2-40B4-BE49-F238E27FC236}">
                <a16:creationId xmlns:a16="http://schemas.microsoft.com/office/drawing/2014/main" id="{4911BAC4-6BC8-78C9-C3A0-3B8193B50BA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428"/>
            <a:ext cx="12192000" cy="6857142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00F290A5-665D-F2E4-352E-051E267BCC1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455653" y="3382477"/>
            <a:ext cx="9144000" cy="2387600"/>
          </a:xfrm>
        </p:spPr>
        <p:txBody>
          <a:bodyPr anchor="b"/>
          <a:lstStyle>
            <a:lvl1pPr algn="r">
              <a:defRPr sz="4800">
                <a:latin typeface="Bahnschrift" panose="020B0502040204020203" pitchFamily="34" charset="0"/>
              </a:defRPr>
            </a:lvl1pPr>
          </a:lstStyle>
          <a:p>
            <a:r>
              <a:rPr lang="hr-HR" dirty="0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val="29414218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 descr="Slika na kojoj se prikazuje crta, snimka zaslona, dizajn&#10;&#10;Opis je automatski generiran">
            <a:extLst>
              <a:ext uri="{FF2B5EF4-FFF2-40B4-BE49-F238E27FC236}">
                <a16:creationId xmlns:a16="http://schemas.microsoft.com/office/drawing/2014/main" id="{E1102532-B18A-F116-ED3D-C3E4F6576C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 dirty="0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15589031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1_Dva sadržaj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lika 4" descr="Slika na kojoj se prikazuje crta, snimka zaslona, dizajn&#10;&#10;Opis je automatski generiran">
            <a:extLst>
              <a:ext uri="{FF2B5EF4-FFF2-40B4-BE49-F238E27FC236}">
                <a16:creationId xmlns:a16="http://schemas.microsoft.com/office/drawing/2014/main" id="{5FF10651-A88B-132B-AE77-005E725B182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E69C0126-D498-D7EF-F08C-471CA839C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E0915537-B2D1-B872-5BC6-E6A6498B82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</a:lstStyle>
          <a:p>
            <a:pPr lvl="0"/>
            <a:r>
              <a:rPr lang="hr-HR" dirty="0"/>
              <a:t>Kliknite da biste uredili matrice</a:t>
            </a:r>
          </a:p>
        </p:txBody>
      </p:sp>
      <p:sp>
        <p:nvSpPr>
          <p:cNvPr id="4" name="Rezervirano mjesto sadržaja 3">
            <a:extLst>
              <a:ext uri="{FF2B5EF4-FFF2-40B4-BE49-F238E27FC236}">
                <a16:creationId xmlns:a16="http://schemas.microsoft.com/office/drawing/2014/main" id="{6E429AF7-3B52-7B21-C5E7-7BA86CDA8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25568300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lika 4">
            <a:extLst>
              <a:ext uri="{FF2B5EF4-FFF2-40B4-BE49-F238E27FC236}">
                <a16:creationId xmlns:a16="http://schemas.microsoft.com/office/drawing/2014/main" id="{8A7D5785-C017-9CDE-887E-053A663A786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428"/>
            <a:ext cx="12192000" cy="6857142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00F290A5-665D-F2E4-352E-051E267BCC1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455653" y="3382477"/>
            <a:ext cx="9144000" cy="2387600"/>
          </a:xfrm>
        </p:spPr>
        <p:txBody>
          <a:bodyPr anchor="b"/>
          <a:lstStyle>
            <a:lvl1pPr algn="r">
              <a:defRPr sz="4800">
                <a:latin typeface="Bahnschrift" panose="020B0502040204020203" pitchFamily="34" charset="0"/>
              </a:defRPr>
            </a:lvl1pPr>
          </a:lstStyle>
          <a:p>
            <a:r>
              <a:rPr lang="hr-HR" dirty="0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val="38116070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lika 4" descr="Slika na kojoj se prikazuje crta, alat, dizajn&#10;&#10;Opis je automatski generiran">
            <a:extLst>
              <a:ext uri="{FF2B5EF4-FFF2-40B4-BE49-F238E27FC236}">
                <a16:creationId xmlns:a16="http://schemas.microsoft.com/office/drawing/2014/main" id="{7174B7B0-D794-7A54-5CF6-E0A21E0E58C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 dirty="0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34989322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_Dva sadržaj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Slika 5">
            <a:extLst>
              <a:ext uri="{FF2B5EF4-FFF2-40B4-BE49-F238E27FC236}">
                <a16:creationId xmlns:a16="http://schemas.microsoft.com/office/drawing/2014/main" id="{78154B72-B9D9-7CC8-2522-C7E3F4476C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E69C0126-D498-D7EF-F08C-471CA839C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E0915537-B2D1-B872-5BC6-E6A6498B82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</a:lstStyle>
          <a:p>
            <a:pPr lvl="0"/>
            <a:r>
              <a:rPr lang="hr-HR" dirty="0"/>
              <a:t>Kliknite da biste uredili matrice</a:t>
            </a:r>
          </a:p>
        </p:txBody>
      </p:sp>
      <p:sp>
        <p:nvSpPr>
          <p:cNvPr id="4" name="Rezervirano mjesto sadržaja 3">
            <a:extLst>
              <a:ext uri="{FF2B5EF4-FFF2-40B4-BE49-F238E27FC236}">
                <a16:creationId xmlns:a16="http://schemas.microsoft.com/office/drawing/2014/main" id="{6E429AF7-3B52-7B21-C5E7-7BA86CDA8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6389726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Slika 3">
            <a:extLst>
              <a:ext uri="{FF2B5EF4-FFF2-40B4-BE49-F238E27FC236}">
                <a16:creationId xmlns:a16="http://schemas.microsoft.com/office/drawing/2014/main" id="{5F67D23E-A28C-75D8-1345-0AB914675C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428"/>
            <a:ext cx="12192000" cy="6857142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00F290A5-665D-F2E4-352E-051E267BCC1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455653" y="3382477"/>
            <a:ext cx="9144000" cy="2387600"/>
          </a:xfrm>
        </p:spPr>
        <p:txBody>
          <a:bodyPr anchor="b"/>
          <a:lstStyle>
            <a:lvl1pPr algn="r">
              <a:defRPr sz="4800">
                <a:latin typeface="Bahnschrift" panose="020B0502040204020203" pitchFamily="34" charset="0"/>
              </a:defRPr>
            </a:lvl1pPr>
          </a:lstStyle>
          <a:p>
            <a:r>
              <a:rPr lang="hr-HR" dirty="0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val="22525504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3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Slika 5" descr="Slika na kojoj se prikazuje ljubičasto, Magenta, Jorgovan, ljubičica&#10;&#10;Opis je automatski generiran">
            <a:extLst>
              <a:ext uri="{FF2B5EF4-FFF2-40B4-BE49-F238E27FC236}">
                <a16:creationId xmlns:a16="http://schemas.microsoft.com/office/drawing/2014/main" id="{35DF2062-AC53-CC06-3408-F03D9B95BBE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 dirty="0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222620885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3_Dva sadržaj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lika 4" descr="Slika na kojoj se prikazuje ljubičasto, Magenta, Jorgovan, ljubičica&#10;&#10;Opis je automatski generiran">
            <a:extLst>
              <a:ext uri="{FF2B5EF4-FFF2-40B4-BE49-F238E27FC236}">
                <a16:creationId xmlns:a16="http://schemas.microsoft.com/office/drawing/2014/main" id="{9FAA237F-8481-A276-5DC5-A3FC50F5B1A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E69C0126-D498-D7EF-F08C-471CA839C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E0915537-B2D1-B872-5BC6-E6A6498B82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</a:lstStyle>
          <a:p>
            <a:pPr lvl="0"/>
            <a:r>
              <a:rPr lang="hr-HR" dirty="0"/>
              <a:t>Kliknite da biste uredili matrice</a:t>
            </a:r>
          </a:p>
        </p:txBody>
      </p:sp>
      <p:sp>
        <p:nvSpPr>
          <p:cNvPr id="4" name="Rezervirano mjesto sadržaja 3">
            <a:extLst>
              <a:ext uri="{FF2B5EF4-FFF2-40B4-BE49-F238E27FC236}">
                <a16:creationId xmlns:a16="http://schemas.microsoft.com/office/drawing/2014/main" id="{6E429AF7-3B52-7B21-C5E7-7BA86CDA8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8835754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Slika 3">
            <a:extLst>
              <a:ext uri="{FF2B5EF4-FFF2-40B4-BE49-F238E27FC236}">
                <a16:creationId xmlns:a16="http://schemas.microsoft.com/office/drawing/2014/main" id="{ACF3BB00-7BB7-10A7-AF1C-C068963059F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428"/>
            <a:ext cx="12192000" cy="6857142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00F290A5-665D-F2E4-352E-051E267BCC1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455653" y="3382477"/>
            <a:ext cx="9144000" cy="2387600"/>
          </a:xfrm>
        </p:spPr>
        <p:txBody>
          <a:bodyPr anchor="b"/>
          <a:lstStyle>
            <a:lvl1pPr algn="r">
              <a:defRPr sz="4800">
                <a:latin typeface="Bahnschrift" panose="020B0502040204020203" pitchFamily="34" charset="0"/>
              </a:defRPr>
            </a:lvl1pPr>
          </a:lstStyle>
          <a:p>
            <a:r>
              <a:rPr lang="hr-HR" dirty="0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val="51135098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lika 4" descr="Slika na kojoj se prikazuje crta, dizajn&#10;&#10;Opis je automatski generiran">
            <a:extLst>
              <a:ext uri="{FF2B5EF4-FFF2-40B4-BE49-F238E27FC236}">
                <a16:creationId xmlns:a16="http://schemas.microsoft.com/office/drawing/2014/main" id="{B7D62D7D-7D80-2656-0C29-220AC7C0C07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 dirty="0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391137131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4_Dva sadržaj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Slika 5">
            <a:extLst>
              <a:ext uri="{FF2B5EF4-FFF2-40B4-BE49-F238E27FC236}">
                <a16:creationId xmlns:a16="http://schemas.microsoft.com/office/drawing/2014/main" id="{1FCDBB5E-C312-9CA7-3D6E-5B05ED0C9D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E69C0126-D498-D7EF-F08C-471CA839C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E0915537-B2D1-B872-5BC6-E6A6498B82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</a:lstStyle>
          <a:p>
            <a:pPr lvl="0"/>
            <a:r>
              <a:rPr lang="hr-HR" dirty="0"/>
              <a:t>Kliknite da biste uredili matrice</a:t>
            </a:r>
          </a:p>
        </p:txBody>
      </p:sp>
      <p:sp>
        <p:nvSpPr>
          <p:cNvPr id="4" name="Rezervirano mjesto sadržaja 3">
            <a:extLst>
              <a:ext uri="{FF2B5EF4-FFF2-40B4-BE49-F238E27FC236}">
                <a16:creationId xmlns:a16="http://schemas.microsoft.com/office/drawing/2014/main" id="{6E429AF7-3B52-7B21-C5E7-7BA86CDA8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346747075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Završ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lika 8">
            <a:extLst>
              <a:ext uri="{FF2B5EF4-FFF2-40B4-BE49-F238E27FC236}">
                <a16:creationId xmlns:a16="http://schemas.microsoft.com/office/drawing/2014/main" id="{1E9C26A1-6687-A87D-1AE0-CDCFC63DA5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428"/>
            <a:ext cx="12191998" cy="6857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982704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Prilagođeni izg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 descr="Slika na kojoj se prikazuje crta, snimka zaslona, dijagram, dizajn">
            <a:extLst>
              <a:ext uri="{FF2B5EF4-FFF2-40B4-BE49-F238E27FC236}">
                <a16:creationId xmlns:a16="http://schemas.microsoft.com/office/drawing/2014/main" id="{3A63C51E-BBBB-22E4-3216-33F3A8DECE4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AE0E3769-885C-635A-42E6-2DFD4C0884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hr-HR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116964662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Slika 13">
            <a:extLst>
              <a:ext uri="{FF2B5EF4-FFF2-40B4-BE49-F238E27FC236}">
                <a16:creationId xmlns:a16="http://schemas.microsoft.com/office/drawing/2014/main" id="{8FBD081C-E6C2-807B-F622-45A52F57D62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428"/>
            <a:ext cx="12192000" cy="6857142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00F290A5-665D-F2E4-352E-051E267BCC1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455653" y="2468084"/>
            <a:ext cx="9144000" cy="2387600"/>
          </a:xfrm>
        </p:spPr>
        <p:txBody>
          <a:bodyPr anchor="b"/>
          <a:lstStyle>
            <a:lvl1pPr algn="r">
              <a:defRPr sz="6000">
                <a:latin typeface="Montserrat" panose="00000500000000000000" pitchFamily="2" charset="-18"/>
              </a:defRPr>
            </a:lvl1pPr>
          </a:lstStyle>
          <a:p>
            <a:r>
              <a:rPr lang="hr-HR" dirty="0"/>
              <a:t>DOCUMENT TITLE</a:t>
            </a:r>
          </a:p>
        </p:txBody>
      </p:sp>
      <p:sp>
        <p:nvSpPr>
          <p:cNvPr id="3" name="Podnaslov 2">
            <a:extLst>
              <a:ext uri="{FF2B5EF4-FFF2-40B4-BE49-F238E27FC236}">
                <a16:creationId xmlns:a16="http://schemas.microsoft.com/office/drawing/2014/main" id="{7A61E420-EBAD-A9E6-F448-076E17D0F2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455653" y="4947759"/>
            <a:ext cx="9144000" cy="1655762"/>
          </a:xfrm>
        </p:spPr>
        <p:txBody>
          <a:bodyPr/>
          <a:lstStyle>
            <a:lvl1pPr marL="0" indent="0" algn="r">
              <a:buNone/>
              <a:defRPr sz="2400">
                <a:latin typeface="Montserrat" panose="00000500000000000000" pitchFamily="2" charset="-1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r-HR" dirty="0"/>
              <a:t>SUBHEADING</a:t>
            </a:r>
          </a:p>
        </p:txBody>
      </p:sp>
    </p:spTree>
    <p:extLst>
      <p:ext uri="{BB962C8B-B14F-4D97-AF65-F5344CB8AC3E}">
        <p14:creationId xmlns:p14="http://schemas.microsoft.com/office/powerpoint/2010/main" val="87880011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lika 8">
            <a:extLst>
              <a:ext uri="{FF2B5EF4-FFF2-40B4-BE49-F238E27FC236}">
                <a16:creationId xmlns:a16="http://schemas.microsoft.com/office/drawing/2014/main" id="{1E9C26A1-6687-A87D-1AE0-CDCFC63DA5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428"/>
            <a:ext cx="12192000" cy="6857142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00F290A5-665D-F2E4-352E-051E267BCC1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455653" y="3382477"/>
            <a:ext cx="9144000" cy="2387600"/>
          </a:xfrm>
        </p:spPr>
        <p:txBody>
          <a:bodyPr anchor="b"/>
          <a:lstStyle>
            <a:lvl1pPr algn="r">
              <a:defRPr sz="4800">
                <a:latin typeface="Bahnschrift" panose="020B0502040204020203" pitchFamily="34" charset="0"/>
              </a:defRPr>
            </a:lvl1pPr>
          </a:lstStyle>
          <a:p>
            <a:r>
              <a:rPr lang="hr-HR" dirty="0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val="382605362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Slika 9" descr="Slika na kojoj se prikazuje crta, snimka zaslona, šarenilo, dizajn&#10;&#10;Opis je automatski generiran">
            <a:extLst>
              <a:ext uri="{FF2B5EF4-FFF2-40B4-BE49-F238E27FC236}">
                <a16:creationId xmlns:a16="http://schemas.microsoft.com/office/drawing/2014/main" id="{7D3E6235-77BD-81C2-1C4B-460BFF2AC5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 dirty="0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315157280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sadržaj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Slika 7" descr="Slika na kojoj se prikazuje crta, snimka zaslona, šarenilo, dizajn">
            <a:extLst>
              <a:ext uri="{FF2B5EF4-FFF2-40B4-BE49-F238E27FC236}">
                <a16:creationId xmlns:a16="http://schemas.microsoft.com/office/drawing/2014/main" id="{813DD7BB-6C45-D079-40C8-D9AAFA33515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E69C0126-D498-D7EF-F08C-471CA839C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E0915537-B2D1-B872-5BC6-E6A6498B82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</a:lstStyle>
          <a:p>
            <a:pPr lvl="0"/>
            <a:r>
              <a:rPr lang="hr-HR" dirty="0"/>
              <a:t>Kliknite da biste uredili matrice</a:t>
            </a:r>
          </a:p>
        </p:txBody>
      </p:sp>
      <p:sp>
        <p:nvSpPr>
          <p:cNvPr id="4" name="Rezervirano mjesto sadržaja 3">
            <a:extLst>
              <a:ext uri="{FF2B5EF4-FFF2-40B4-BE49-F238E27FC236}">
                <a16:creationId xmlns:a16="http://schemas.microsoft.com/office/drawing/2014/main" id="{6E429AF7-3B52-7B21-C5E7-7BA86CDA8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334063277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Slika 3">
            <a:extLst>
              <a:ext uri="{FF2B5EF4-FFF2-40B4-BE49-F238E27FC236}">
                <a16:creationId xmlns:a16="http://schemas.microsoft.com/office/drawing/2014/main" id="{ACF3BB00-7BB7-10A7-AF1C-C068963059F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428"/>
            <a:ext cx="12192000" cy="6857142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00F290A5-665D-F2E4-352E-051E267BCC1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455653" y="3382477"/>
            <a:ext cx="9144000" cy="2387600"/>
          </a:xfrm>
        </p:spPr>
        <p:txBody>
          <a:bodyPr anchor="b"/>
          <a:lstStyle>
            <a:lvl1pPr algn="r">
              <a:defRPr sz="4800">
                <a:latin typeface="Bahnschrift" panose="020B0502040204020203" pitchFamily="34" charset="0"/>
              </a:defRPr>
            </a:lvl1pPr>
          </a:lstStyle>
          <a:p>
            <a:r>
              <a:rPr lang="hr-HR" dirty="0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val="210662880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ilagođeni izg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 descr="Slika na kojoj se prikazuje crta, snimka zaslona, dijagram, dizajn">
            <a:extLst>
              <a:ext uri="{FF2B5EF4-FFF2-40B4-BE49-F238E27FC236}">
                <a16:creationId xmlns:a16="http://schemas.microsoft.com/office/drawing/2014/main" id="{3A63C51E-BBBB-22E4-3216-33F3A8DECE4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AE0E3769-885C-635A-42E6-2DFD4C0884B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hr-HR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25702897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lika 4" descr="Slika na kojoj se prikazuje crta, dizajn&#10;&#10;Opis je automatski generiran">
            <a:extLst>
              <a:ext uri="{FF2B5EF4-FFF2-40B4-BE49-F238E27FC236}">
                <a16:creationId xmlns:a16="http://schemas.microsoft.com/office/drawing/2014/main" id="{B7D62D7D-7D80-2656-0C29-220AC7C0C07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 dirty="0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324716927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4_Dva sadržaj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Slika 5">
            <a:extLst>
              <a:ext uri="{FF2B5EF4-FFF2-40B4-BE49-F238E27FC236}">
                <a16:creationId xmlns:a16="http://schemas.microsoft.com/office/drawing/2014/main" id="{1FCDBB5E-C312-9CA7-3D6E-5B05ED0C9D0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E69C0126-D498-D7EF-F08C-471CA839C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Kliknite da biste uredili stil naslova matrice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E0915537-B2D1-B872-5BC6-E6A6498B82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</a:lstStyle>
          <a:p>
            <a:pPr lvl="0"/>
            <a:r>
              <a:rPr lang="hr-HR" dirty="0"/>
              <a:t>Kliknite da biste uredili matrice</a:t>
            </a:r>
          </a:p>
        </p:txBody>
      </p:sp>
      <p:sp>
        <p:nvSpPr>
          <p:cNvPr id="4" name="Rezervirano mjesto sadržaja 3">
            <a:extLst>
              <a:ext uri="{FF2B5EF4-FFF2-40B4-BE49-F238E27FC236}">
                <a16:creationId xmlns:a16="http://schemas.microsoft.com/office/drawing/2014/main" id="{6E429AF7-3B52-7B21-C5E7-7BA86CDA8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414251390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3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>
            <a:extLst>
              <a:ext uri="{FF2B5EF4-FFF2-40B4-BE49-F238E27FC236}">
                <a16:creationId xmlns:a16="http://schemas.microsoft.com/office/drawing/2014/main" id="{E1102532-B18A-F116-ED3D-C3E4F6576C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" y="428"/>
            <a:ext cx="12191996" cy="6857141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DISCUSSION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 dirty="0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390583863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4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>
            <a:extLst>
              <a:ext uri="{FF2B5EF4-FFF2-40B4-BE49-F238E27FC236}">
                <a16:creationId xmlns:a16="http://schemas.microsoft.com/office/drawing/2014/main" id="{E1102532-B18A-F116-ED3D-C3E4F6576C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" y="428"/>
            <a:ext cx="12191996" cy="6857140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EXERCISE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 dirty="0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3883999641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5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>
            <a:extLst>
              <a:ext uri="{FF2B5EF4-FFF2-40B4-BE49-F238E27FC236}">
                <a16:creationId xmlns:a16="http://schemas.microsoft.com/office/drawing/2014/main" id="{E1102532-B18A-F116-ED3D-C3E4F6576C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" y="428"/>
            <a:ext cx="12191994" cy="6857140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HOMEWORK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 dirty="0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234902385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6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>
            <a:extLst>
              <a:ext uri="{FF2B5EF4-FFF2-40B4-BE49-F238E27FC236}">
                <a16:creationId xmlns:a16="http://schemas.microsoft.com/office/drawing/2014/main" id="{E1102532-B18A-F116-ED3D-C3E4F6576C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" y="428"/>
            <a:ext cx="12191994" cy="6857139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ASSESSMENTS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 dirty="0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2753077035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7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>
            <a:extLst>
              <a:ext uri="{FF2B5EF4-FFF2-40B4-BE49-F238E27FC236}">
                <a16:creationId xmlns:a16="http://schemas.microsoft.com/office/drawing/2014/main" id="{E1102532-B18A-F116-ED3D-C3E4F6576C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" y="428"/>
            <a:ext cx="12191993" cy="6857139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ADDITIONAL READING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 dirty="0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20896654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8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>
            <a:extLst>
              <a:ext uri="{FF2B5EF4-FFF2-40B4-BE49-F238E27FC236}">
                <a16:creationId xmlns:a16="http://schemas.microsoft.com/office/drawing/2014/main" id="{E1102532-B18A-F116-ED3D-C3E4F6576C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" y="428"/>
            <a:ext cx="12191993" cy="6857138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RESOURCES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 dirty="0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111269831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Završ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lika 8">
            <a:extLst>
              <a:ext uri="{FF2B5EF4-FFF2-40B4-BE49-F238E27FC236}">
                <a16:creationId xmlns:a16="http://schemas.microsoft.com/office/drawing/2014/main" id="{1E9C26A1-6687-A87D-1AE0-CDCFC63DA5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428"/>
            <a:ext cx="12191998" cy="6857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254369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Slika 13">
            <a:extLst>
              <a:ext uri="{FF2B5EF4-FFF2-40B4-BE49-F238E27FC236}">
                <a16:creationId xmlns:a16="http://schemas.microsoft.com/office/drawing/2014/main" id="{8FBD081C-E6C2-807B-F622-45A52F57D6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428"/>
            <a:ext cx="12192000" cy="6857142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00F290A5-665D-F2E4-352E-051E267BCC1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455653" y="2468084"/>
            <a:ext cx="9144000" cy="2387600"/>
          </a:xfrm>
        </p:spPr>
        <p:txBody>
          <a:bodyPr anchor="b"/>
          <a:lstStyle>
            <a:lvl1pPr algn="r">
              <a:defRPr sz="6000">
                <a:latin typeface="Montserrat" panose="00000500000000000000" pitchFamily="2" charset="-18"/>
              </a:defRPr>
            </a:lvl1pPr>
          </a:lstStyle>
          <a:p>
            <a:r>
              <a:rPr lang="hr-HR" dirty="0"/>
              <a:t>DOCUMENT TITLE</a:t>
            </a:r>
          </a:p>
        </p:txBody>
      </p:sp>
      <p:sp>
        <p:nvSpPr>
          <p:cNvPr id="3" name="Podnaslov 2">
            <a:extLst>
              <a:ext uri="{FF2B5EF4-FFF2-40B4-BE49-F238E27FC236}">
                <a16:creationId xmlns:a16="http://schemas.microsoft.com/office/drawing/2014/main" id="{7A61E420-EBAD-A9E6-F448-076E17D0F2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455653" y="4947759"/>
            <a:ext cx="9144000" cy="1655762"/>
          </a:xfrm>
        </p:spPr>
        <p:txBody>
          <a:bodyPr/>
          <a:lstStyle>
            <a:lvl1pPr marL="0" indent="0" algn="r">
              <a:buNone/>
              <a:defRPr sz="2400">
                <a:latin typeface="Montserrat" panose="00000500000000000000" pitchFamily="2" charset="-1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r-HR" dirty="0"/>
              <a:t>SUBHEADING</a:t>
            </a:r>
          </a:p>
        </p:txBody>
      </p:sp>
    </p:spTree>
    <p:extLst>
      <p:ext uri="{BB962C8B-B14F-4D97-AF65-F5344CB8AC3E}">
        <p14:creationId xmlns:p14="http://schemas.microsoft.com/office/powerpoint/2010/main" val="2457428947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lika 8">
            <a:extLst>
              <a:ext uri="{FF2B5EF4-FFF2-40B4-BE49-F238E27FC236}">
                <a16:creationId xmlns:a16="http://schemas.microsoft.com/office/drawing/2014/main" id="{1E9C26A1-6687-A87D-1AE0-CDCFC63DA5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428"/>
            <a:ext cx="12192000" cy="6857142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00F290A5-665D-F2E4-352E-051E267BCC1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455653" y="3382477"/>
            <a:ext cx="9144000" cy="2387600"/>
          </a:xfrm>
        </p:spPr>
        <p:txBody>
          <a:bodyPr anchor="b"/>
          <a:lstStyle>
            <a:lvl1pPr algn="r">
              <a:defRPr sz="4800">
                <a:latin typeface="Bahnschrift" panose="020B0502040204020203" pitchFamily="34" charset="0"/>
              </a:defRPr>
            </a:lvl1pPr>
          </a:lstStyle>
          <a:p>
            <a:r>
              <a:rPr lang="hr-HR" dirty="0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val="34176070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Slika 9" descr="Slika na kojoj se prikazuje crta, snimka zaslona, šarenilo, dizajn&#10;&#10;Opis je automatski generiran">
            <a:extLst>
              <a:ext uri="{FF2B5EF4-FFF2-40B4-BE49-F238E27FC236}">
                <a16:creationId xmlns:a16="http://schemas.microsoft.com/office/drawing/2014/main" id="{7D3E6235-77BD-81C2-1C4B-460BFF2AC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/>
              <a:t>Kliknite da biste uredili stil naslova matrice</a:t>
            </a:r>
            <a:endParaRPr lang="hr-HR" dirty="0"/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257785816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va sadržaj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Slika 7" descr="Slika na kojoj se prikazuje crta, snimka zaslona, šarenilo, dizajn">
            <a:extLst>
              <a:ext uri="{FF2B5EF4-FFF2-40B4-BE49-F238E27FC236}">
                <a16:creationId xmlns:a16="http://schemas.microsoft.com/office/drawing/2014/main" id="{813DD7BB-6C45-D079-40C8-D9AAFA3351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E69C0126-D498-D7EF-F08C-471CA839C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/>
              <a:t>Kliknite da biste uredili stil naslova matrice</a:t>
            </a:r>
            <a:endParaRPr lang="hr-HR" dirty="0"/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E0915537-B2D1-B872-5BC6-E6A6498B82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</a:lstStyle>
          <a:p>
            <a:pPr lvl="0"/>
            <a:r>
              <a:rPr lang="hr-HR"/>
              <a:t>Kliknite da biste uredili matrice</a:t>
            </a:r>
          </a:p>
        </p:txBody>
      </p:sp>
      <p:sp>
        <p:nvSpPr>
          <p:cNvPr id="4" name="Rezervirano mjesto sadržaja 3">
            <a:extLst>
              <a:ext uri="{FF2B5EF4-FFF2-40B4-BE49-F238E27FC236}">
                <a16:creationId xmlns:a16="http://schemas.microsoft.com/office/drawing/2014/main" id="{6E429AF7-3B52-7B21-C5E7-7BA86CDA8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hr-HR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129784434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Naslov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Slika 3">
            <a:extLst>
              <a:ext uri="{FF2B5EF4-FFF2-40B4-BE49-F238E27FC236}">
                <a16:creationId xmlns:a16="http://schemas.microsoft.com/office/drawing/2014/main" id="{4911BAC4-6BC8-78C9-C3A0-3B8193B50B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428"/>
            <a:ext cx="12192000" cy="6857142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00F290A5-665D-F2E4-352E-051E267BCC1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2455653" y="3382477"/>
            <a:ext cx="9144000" cy="2387600"/>
          </a:xfrm>
        </p:spPr>
        <p:txBody>
          <a:bodyPr anchor="b"/>
          <a:lstStyle>
            <a:lvl1pPr algn="r">
              <a:defRPr sz="4800">
                <a:latin typeface="Bahnschrift" panose="020B0502040204020203" pitchFamily="34" charset="0"/>
              </a:defRPr>
            </a:lvl1pPr>
          </a:lstStyle>
          <a:p>
            <a:r>
              <a:rPr lang="hr-HR" dirty="0"/>
              <a:t>HEADING</a:t>
            </a:r>
          </a:p>
        </p:txBody>
      </p:sp>
    </p:spTree>
    <p:extLst>
      <p:ext uri="{BB962C8B-B14F-4D97-AF65-F5344CB8AC3E}">
        <p14:creationId xmlns:p14="http://schemas.microsoft.com/office/powerpoint/2010/main" val="123392352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ilagođeni izg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 descr="Slika na kojoj se prikazuje crta, snimka zaslona, dijagram, dizajn&#10;&#10;Sadržaj generiran umjetnom inteligencijom može biti netočan.">
            <a:extLst>
              <a:ext uri="{FF2B5EF4-FFF2-40B4-BE49-F238E27FC236}">
                <a16:creationId xmlns:a16="http://schemas.microsoft.com/office/drawing/2014/main" id="{C0FCACAC-BB9E-0632-BD17-545E78065C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9737123B-701A-537A-EC45-AA46D9298AF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8495581" cy="1325563"/>
          </a:xfrm>
        </p:spPr>
        <p:txBody>
          <a:bodyPr/>
          <a:lstStyle>
            <a:lvl1pPr>
              <a:defRPr/>
            </a:lvl1pPr>
          </a:lstStyle>
          <a:p>
            <a:r>
              <a:rPr lang="hr-HR" dirty="0"/>
              <a:t>SUMMARY</a:t>
            </a:r>
          </a:p>
        </p:txBody>
      </p:sp>
    </p:spTree>
    <p:extLst>
      <p:ext uri="{BB962C8B-B14F-4D97-AF65-F5344CB8AC3E}">
        <p14:creationId xmlns:p14="http://schemas.microsoft.com/office/powerpoint/2010/main" val="1263879563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 descr="Slika na kojoj se prikazuje crta, snimka zaslona, dizajn&#10;&#10;Opis je automatski generiran">
            <a:extLst>
              <a:ext uri="{FF2B5EF4-FFF2-40B4-BE49-F238E27FC236}">
                <a16:creationId xmlns:a16="http://schemas.microsoft.com/office/drawing/2014/main" id="{E1102532-B18A-F116-ED3D-C3E4F6576C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/>
              <a:t>Kliknite da biste uredili stil naslova matrice</a:t>
            </a:r>
            <a:endParaRPr lang="hr-HR" dirty="0"/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2818586882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1_Dva sadržaj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Slika 4" descr="Slika na kojoj se prikazuje crta, snimka zaslona, dizajn&#10;&#10;Opis je automatski generiran">
            <a:extLst>
              <a:ext uri="{FF2B5EF4-FFF2-40B4-BE49-F238E27FC236}">
                <a16:creationId xmlns:a16="http://schemas.microsoft.com/office/drawing/2014/main" id="{5FF10651-A88B-132B-AE77-005E725B182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8"/>
            <a:ext cx="12192000" cy="6857143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E69C0126-D498-D7EF-F08C-471CA839C9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r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/>
              <a:t>Kliknite da biste uredili stil naslova matrice</a:t>
            </a:r>
            <a:endParaRPr lang="hr-HR" dirty="0"/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E0915537-B2D1-B872-5BC6-E6A6498B82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</a:lstStyle>
          <a:p>
            <a:pPr lvl="0"/>
            <a:r>
              <a:rPr lang="hr-HR"/>
              <a:t>Kliknite da biste uredili matrice</a:t>
            </a:r>
          </a:p>
        </p:txBody>
      </p:sp>
      <p:sp>
        <p:nvSpPr>
          <p:cNvPr id="4" name="Rezervirano mjesto sadržaja 3">
            <a:extLst>
              <a:ext uri="{FF2B5EF4-FFF2-40B4-BE49-F238E27FC236}">
                <a16:creationId xmlns:a16="http://schemas.microsoft.com/office/drawing/2014/main" id="{6E429AF7-3B52-7B21-C5E7-7BA86CDA81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hr-HR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1762535080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5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>
            <a:extLst>
              <a:ext uri="{FF2B5EF4-FFF2-40B4-BE49-F238E27FC236}">
                <a16:creationId xmlns:a16="http://schemas.microsoft.com/office/drawing/2014/main" id="{E1102532-B18A-F116-ED3D-C3E4F6576C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428"/>
            <a:ext cx="12192000" cy="6857142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DISCUSSION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3523454612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6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>
            <a:extLst>
              <a:ext uri="{FF2B5EF4-FFF2-40B4-BE49-F238E27FC236}">
                <a16:creationId xmlns:a16="http://schemas.microsoft.com/office/drawing/2014/main" id="{E1102532-B18A-F116-ED3D-C3E4F6576C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428"/>
            <a:ext cx="12191998" cy="6857142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EXERCISE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2682462180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7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>
            <a:extLst>
              <a:ext uri="{FF2B5EF4-FFF2-40B4-BE49-F238E27FC236}">
                <a16:creationId xmlns:a16="http://schemas.microsoft.com/office/drawing/2014/main" id="{E1102532-B18A-F116-ED3D-C3E4F6576C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428"/>
            <a:ext cx="12191998" cy="6857141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HOMEWORK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219545066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8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>
            <a:extLst>
              <a:ext uri="{FF2B5EF4-FFF2-40B4-BE49-F238E27FC236}">
                <a16:creationId xmlns:a16="http://schemas.microsoft.com/office/drawing/2014/main" id="{E1102532-B18A-F116-ED3D-C3E4F6576C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" y="428"/>
            <a:ext cx="12191996" cy="6857141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ASSESSMENTS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23369787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9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>
            <a:extLst>
              <a:ext uri="{FF2B5EF4-FFF2-40B4-BE49-F238E27FC236}">
                <a16:creationId xmlns:a16="http://schemas.microsoft.com/office/drawing/2014/main" id="{E1102532-B18A-F116-ED3D-C3E4F6576C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" y="428"/>
            <a:ext cx="12191996" cy="6857140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ADDITIONAL READING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3066143006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0_Naslov i sadržaj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lika 6">
            <a:extLst>
              <a:ext uri="{FF2B5EF4-FFF2-40B4-BE49-F238E27FC236}">
                <a16:creationId xmlns:a16="http://schemas.microsoft.com/office/drawing/2014/main" id="{E1102532-B18A-F116-ED3D-C3E4F6576C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" y="428"/>
            <a:ext cx="12191994" cy="6857140"/>
          </a:xfrm>
          <a:prstGeom prst="rect">
            <a:avLst/>
          </a:prstGeom>
        </p:spPr>
      </p:pic>
      <p:sp>
        <p:nvSpPr>
          <p:cNvPr id="2" name="Naslov 1">
            <a:extLst>
              <a:ext uri="{FF2B5EF4-FFF2-40B4-BE49-F238E27FC236}">
                <a16:creationId xmlns:a16="http://schemas.microsoft.com/office/drawing/2014/main" id="{3476ACE7-458A-DB79-D9F2-688CE21D2D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>
            <a:normAutofit/>
          </a:bodyPr>
          <a:lstStyle>
            <a:lvl1pPr algn="l">
              <a:defRPr sz="3600">
                <a:latin typeface="Bahnschrift SemiBold" panose="020B0502040204020203" pitchFamily="34" charset="0"/>
              </a:defRPr>
            </a:lvl1pPr>
          </a:lstStyle>
          <a:p>
            <a:r>
              <a:rPr lang="hr-HR" dirty="0"/>
              <a:t>RESOURCES</a:t>
            </a:r>
          </a:p>
        </p:txBody>
      </p:sp>
      <p:sp>
        <p:nvSpPr>
          <p:cNvPr id="3" name="Rezervirano mjesto sadržaja 2">
            <a:extLst>
              <a:ext uri="{FF2B5EF4-FFF2-40B4-BE49-F238E27FC236}">
                <a16:creationId xmlns:a16="http://schemas.microsoft.com/office/drawing/2014/main" id="{48EC462E-02D9-044A-298B-A009977EE7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 SemiLight" panose="020B0502040204020203" pitchFamily="34" charset="0"/>
              </a:defRPr>
            </a:lvl1pPr>
            <a:lvl2pPr>
              <a:defRPr>
                <a:latin typeface="Bahnschrift SemiLight" panose="020B0502040204020203" pitchFamily="34" charset="0"/>
              </a:defRPr>
            </a:lvl2pPr>
            <a:lvl3pPr>
              <a:defRPr>
                <a:latin typeface="Bahnschrift SemiLight" panose="020B0502040204020203" pitchFamily="34" charset="0"/>
              </a:defRPr>
            </a:lvl3pPr>
            <a:lvl4pPr>
              <a:defRPr>
                <a:latin typeface="Bahnschrift SemiLight" panose="020B0502040204020203" pitchFamily="34" charset="0"/>
              </a:defRPr>
            </a:lvl4pPr>
            <a:lvl5pPr>
              <a:defRPr>
                <a:latin typeface="Bahnschrift SemiLight" panose="020B0502040204020203" pitchFamily="34" charset="0"/>
              </a:defRPr>
            </a:lvl5pPr>
          </a:lstStyle>
          <a:p>
            <a:pPr lvl="0"/>
            <a:r>
              <a:rPr lang="hr-HR"/>
              <a:t>Kliknite da biste uredili matrice</a:t>
            </a:r>
          </a:p>
        </p:txBody>
      </p:sp>
    </p:spTree>
    <p:extLst>
      <p:ext uri="{BB962C8B-B14F-4D97-AF65-F5344CB8AC3E}">
        <p14:creationId xmlns:p14="http://schemas.microsoft.com/office/powerpoint/2010/main" val="2261613037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6_Završni slaj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Slika 8">
            <a:extLst>
              <a:ext uri="{FF2B5EF4-FFF2-40B4-BE49-F238E27FC236}">
                <a16:creationId xmlns:a16="http://schemas.microsoft.com/office/drawing/2014/main" id="{1E9C26A1-6687-A87D-1AE0-CDCFC63DA5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" y="428"/>
            <a:ext cx="12191998" cy="6857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28451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13" Type="http://schemas.openxmlformats.org/officeDocument/2006/relationships/slideLayout" Target="../slideLayouts/slideLayout31.xml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slideLayout" Target="../slideLayouts/slideLayout30.xml"/><Relationship Id="rId2" Type="http://schemas.openxmlformats.org/officeDocument/2006/relationships/slideLayout" Target="../slideLayouts/slideLayout20.xml"/><Relationship Id="rId16" Type="http://schemas.openxmlformats.org/officeDocument/2006/relationships/theme" Target="../theme/theme2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5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Relationship Id="rId14" Type="http://schemas.openxmlformats.org/officeDocument/2006/relationships/slideLayout" Target="../slideLayouts/slideLayout3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1.xml"/><Relationship Id="rId13" Type="http://schemas.openxmlformats.org/officeDocument/2006/relationships/slideLayout" Target="../slideLayouts/slideLayout46.xml"/><Relationship Id="rId3" Type="http://schemas.openxmlformats.org/officeDocument/2006/relationships/slideLayout" Target="../slideLayouts/slideLayout36.xml"/><Relationship Id="rId7" Type="http://schemas.openxmlformats.org/officeDocument/2006/relationships/slideLayout" Target="../slideLayouts/slideLayout40.xml"/><Relationship Id="rId12" Type="http://schemas.openxmlformats.org/officeDocument/2006/relationships/slideLayout" Target="../slideLayouts/slideLayout45.xml"/><Relationship Id="rId2" Type="http://schemas.openxmlformats.org/officeDocument/2006/relationships/slideLayout" Target="../slideLayouts/slideLayout35.xml"/><Relationship Id="rId16" Type="http://schemas.openxmlformats.org/officeDocument/2006/relationships/theme" Target="../theme/theme3.xml"/><Relationship Id="rId1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4.xml"/><Relationship Id="rId5" Type="http://schemas.openxmlformats.org/officeDocument/2006/relationships/slideLayout" Target="../slideLayouts/slideLayout38.xml"/><Relationship Id="rId15" Type="http://schemas.openxmlformats.org/officeDocument/2006/relationships/slideLayout" Target="../slideLayouts/slideLayout48.xml"/><Relationship Id="rId10" Type="http://schemas.openxmlformats.org/officeDocument/2006/relationships/slideLayout" Target="../slideLayouts/slideLayout43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14" Type="http://schemas.openxmlformats.org/officeDocument/2006/relationships/slideLayout" Target="../slideLayouts/slideLayout4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naslova 1">
            <a:extLst>
              <a:ext uri="{FF2B5EF4-FFF2-40B4-BE49-F238E27FC236}">
                <a16:creationId xmlns:a16="http://schemas.microsoft.com/office/drawing/2014/main" id="{1B650DF9-2458-1434-6EFF-3D965EDC4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r-HR" dirty="0"/>
              <a:t>Kliknite da biste uredili stil naslova matrice</a:t>
            </a:r>
          </a:p>
        </p:txBody>
      </p:sp>
      <p:sp>
        <p:nvSpPr>
          <p:cNvPr id="3" name="Rezervirano mjesto teksta 2">
            <a:extLst>
              <a:ext uri="{FF2B5EF4-FFF2-40B4-BE49-F238E27FC236}">
                <a16:creationId xmlns:a16="http://schemas.microsoft.com/office/drawing/2014/main" id="{76C6E5EE-2B8F-9019-690C-3AF0A69B8C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r-HR"/>
              <a:t>Kliknite da biste uredili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 stilove teksta</a:t>
            </a:r>
          </a:p>
        </p:txBody>
      </p:sp>
      <p:sp>
        <p:nvSpPr>
          <p:cNvPr id="4" name="Rezervirano mjesto datuma 3">
            <a:extLst>
              <a:ext uri="{FF2B5EF4-FFF2-40B4-BE49-F238E27FC236}">
                <a16:creationId xmlns:a16="http://schemas.microsoft.com/office/drawing/2014/main" id="{470CF1CA-F427-A5AF-96AA-671002CD74C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63B997-549E-41F4-A1E4-B0CF42B49EF1}" type="datetimeFigureOut">
              <a:rPr lang="hr-HR" smtClean="0"/>
              <a:t>27.4.2026.</a:t>
            </a:fld>
            <a:endParaRPr lang="hr-HR"/>
          </a:p>
        </p:txBody>
      </p:sp>
      <p:sp>
        <p:nvSpPr>
          <p:cNvPr id="5" name="Rezervirano mjesto podnožja 4">
            <a:extLst>
              <a:ext uri="{FF2B5EF4-FFF2-40B4-BE49-F238E27FC236}">
                <a16:creationId xmlns:a16="http://schemas.microsoft.com/office/drawing/2014/main" id="{8D829544-1FE5-4ED0-6A51-373B245680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r-HR"/>
          </a:p>
        </p:txBody>
      </p:sp>
      <p:sp>
        <p:nvSpPr>
          <p:cNvPr id="6" name="Rezervirano mjesto broja slajda 5">
            <a:extLst>
              <a:ext uri="{FF2B5EF4-FFF2-40B4-BE49-F238E27FC236}">
                <a16:creationId xmlns:a16="http://schemas.microsoft.com/office/drawing/2014/main" id="{33A67201-5F88-A086-59F5-4A06FA6BE0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CDD723-16A0-42C8-A963-6C8D73A0AD4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897513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4" r:id="rId2"/>
    <p:sldLayoutId id="2147483650" r:id="rId3"/>
    <p:sldLayoutId id="2147483659" r:id="rId4"/>
    <p:sldLayoutId id="2147483665" r:id="rId5"/>
    <p:sldLayoutId id="2147483651" r:id="rId6"/>
    <p:sldLayoutId id="2147483660" r:id="rId7"/>
    <p:sldLayoutId id="2147483666" r:id="rId8"/>
    <p:sldLayoutId id="2147483652" r:id="rId9"/>
    <p:sldLayoutId id="2147483661" r:id="rId10"/>
    <p:sldLayoutId id="2147483667" r:id="rId11"/>
    <p:sldLayoutId id="2147483653" r:id="rId12"/>
    <p:sldLayoutId id="2147483662" r:id="rId13"/>
    <p:sldLayoutId id="2147483668" r:id="rId14"/>
    <p:sldLayoutId id="2147483654" r:id="rId15"/>
    <p:sldLayoutId id="2147483663" r:id="rId16"/>
    <p:sldLayoutId id="2147483669" r:id="rId17"/>
    <p:sldLayoutId id="2147483670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r-Latn-R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naslova 1">
            <a:extLst>
              <a:ext uri="{FF2B5EF4-FFF2-40B4-BE49-F238E27FC236}">
                <a16:creationId xmlns:a16="http://schemas.microsoft.com/office/drawing/2014/main" id="{1B650DF9-2458-1434-6EFF-3D965EDC4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r-HR" dirty="0"/>
              <a:t>Kliknite da biste uredili stil naslova matrice</a:t>
            </a:r>
          </a:p>
        </p:txBody>
      </p:sp>
      <p:sp>
        <p:nvSpPr>
          <p:cNvPr id="3" name="Rezervirano mjesto teksta 2">
            <a:extLst>
              <a:ext uri="{FF2B5EF4-FFF2-40B4-BE49-F238E27FC236}">
                <a16:creationId xmlns:a16="http://schemas.microsoft.com/office/drawing/2014/main" id="{76C6E5EE-2B8F-9019-690C-3AF0A69B8C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r-HR"/>
              <a:t>Kliknite da biste uredili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 stilove teksta</a:t>
            </a:r>
          </a:p>
        </p:txBody>
      </p:sp>
      <p:sp>
        <p:nvSpPr>
          <p:cNvPr id="4" name="Rezervirano mjesto datuma 3">
            <a:extLst>
              <a:ext uri="{FF2B5EF4-FFF2-40B4-BE49-F238E27FC236}">
                <a16:creationId xmlns:a16="http://schemas.microsoft.com/office/drawing/2014/main" id="{470CF1CA-F427-A5AF-96AA-671002CD74C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63B997-549E-41F4-A1E4-B0CF42B49EF1}" type="datetimeFigureOut">
              <a:rPr lang="hr-HR" smtClean="0"/>
              <a:t>27.4.2026.</a:t>
            </a:fld>
            <a:endParaRPr lang="hr-HR"/>
          </a:p>
        </p:txBody>
      </p:sp>
      <p:sp>
        <p:nvSpPr>
          <p:cNvPr id="5" name="Rezervirano mjesto podnožja 4">
            <a:extLst>
              <a:ext uri="{FF2B5EF4-FFF2-40B4-BE49-F238E27FC236}">
                <a16:creationId xmlns:a16="http://schemas.microsoft.com/office/drawing/2014/main" id="{8D829544-1FE5-4ED0-6A51-373B245680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r-HR"/>
          </a:p>
        </p:txBody>
      </p:sp>
      <p:sp>
        <p:nvSpPr>
          <p:cNvPr id="6" name="Rezervirano mjesto broja slajda 5">
            <a:extLst>
              <a:ext uri="{FF2B5EF4-FFF2-40B4-BE49-F238E27FC236}">
                <a16:creationId xmlns:a16="http://schemas.microsoft.com/office/drawing/2014/main" id="{33A67201-5F88-A086-59F5-4A06FA6BE0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CDD723-16A0-42C8-A963-6C8D73A0AD48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10888275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r-Latn-R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zervirano mjesto naslova 1">
            <a:extLst>
              <a:ext uri="{FF2B5EF4-FFF2-40B4-BE49-F238E27FC236}">
                <a16:creationId xmlns:a16="http://schemas.microsoft.com/office/drawing/2014/main" id="{1B650DF9-2458-1434-6EFF-3D965EDC4A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r-HR" dirty="0"/>
              <a:t>Kliknite da biste uredili stil naslova matrice</a:t>
            </a:r>
          </a:p>
        </p:txBody>
      </p:sp>
      <p:sp>
        <p:nvSpPr>
          <p:cNvPr id="3" name="Rezervirano mjesto teksta 2">
            <a:extLst>
              <a:ext uri="{FF2B5EF4-FFF2-40B4-BE49-F238E27FC236}">
                <a16:creationId xmlns:a16="http://schemas.microsoft.com/office/drawing/2014/main" id="{76C6E5EE-2B8F-9019-690C-3AF0A69B8C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r-HR"/>
              <a:t>Kliknite da biste uredili matrice</a:t>
            </a:r>
          </a:p>
          <a:p>
            <a:pPr lvl="1"/>
            <a:r>
              <a:rPr lang="hr-HR"/>
              <a:t>Druga razina</a:t>
            </a:r>
          </a:p>
          <a:p>
            <a:pPr lvl="2"/>
            <a:r>
              <a:rPr lang="hr-HR"/>
              <a:t>Treća razina</a:t>
            </a:r>
          </a:p>
          <a:p>
            <a:pPr lvl="3"/>
            <a:r>
              <a:rPr lang="hr-HR"/>
              <a:t>Četvrta razina</a:t>
            </a:r>
          </a:p>
          <a:p>
            <a:pPr lvl="4"/>
            <a:r>
              <a:rPr lang="hr-HR"/>
              <a:t>Peta razina stilove teksta</a:t>
            </a:r>
          </a:p>
        </p:txBody>
      </p:sp>
      <p:sp>
        <p:nvSpPr>
          <p:cNvPr id="4" name="Rezervirano mjesto datuma 3">
            <a:extLst>
              <a:ext uri="{FF2B5EF4-FFF2-40B4-BE49-F238E27FC236}">
                <a16:creationId xmlns:a16="http://schemas.microsoft.com/office/drawing/2014/main" id="{470CF1CA-F427-A5AF-96AA-671002CD74C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214BC6-5124-4F98-9787-DC21F168941F}" type="datetimeFigureOut">
              <a:rPr lang="hr-HR" smtClean="0"/>
              <a:t>27.4.2026.</a:t>
            </a:fld>
            <a:endParaRPr lang="hr-HR"/>
          </a:p>
        </p:txBody>
      </p:sp>
      <p:sp>
        <p:nvSpPr>
          <p:cNvPr id="5" name="Rezervirano mjesto podnožja 4">
            <a:extLst>
              <a:ext uri="{FF2B5EF4-FFF2-40B4-BE49-F238E27FC236}">
                <a16:creationId xmlns:a16="http://schemas.microsoft.com/office/drawing/2014/main" id="{8D829544-1FE5-4ED0-6A51-373B245680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r-HR"/>
          </a:p>
        </p:txBody>
      </p:sp>
      <p:sp>
        <p:nvSpPr>
          <p:cNvPr id="6" name="Rezervirano mjesto broja slajda 5">
            <a:extLst>
              <a:ext uri="{FF2B5EF4-FFF2-40B4-BE49-F238E27FC236}">
                <a16:creationId xmlns:a16="http://schemas.microsoft.com/office/drawing/2014/main" id="{33A67201-5F88-A086-59F5-4A06FA6BE0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E9144E-F003-4576-A945-982E90F0F2A9}" type="slidenum">
              <a:rPr lang="hr-HR" smtClean="0"/>
              <a:t>‹#›</a:t>
            </a:fld>
            <a:endParaRPr lang="hr-HR"/>
          </a:p>
        </p:txBody>
      </p:sp>
    </p:spTree>
    <p:extLst>
      <p:ext uri="{BB962C8B-B14F-4D97-AF65-F5344CB8AC3E}">
        <p14:creationId xmlns:p14="http://schemas.microsoft.com/office/powerpoint/2010/main" val="34720718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  <p:sldLayoutId id="2147483700" r:id="rId13"/>
    <p:sldLayoutId id="2147483701" r:id="rId14"/>
    <p:sldLayoutId id="2147483702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r-Latn-R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jpg"/><Relationship Id="rId7" Type="http://schemas.openxmlformats.org/officeDocument/2006/relationships/image" Target="../media/image33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32.jpg"/><Relationship Id="rId5" Type="http://schemas.openxmlformats.org/officeDocument/2006/relationships/image" Target="../media/image31.jpg"/><Relationship Id="rId4" Type="http://schemas.openxmlformats.org/officeDocument/2006/relationships/image" Target="../media/image30.jp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0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0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8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8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8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8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16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7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7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mi.org/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3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journals.sagepub.com/home/pmx" TargetMode="External"/><Relationship Id="rId2" Type="http://schemas.openxmlformats.org/officeDocument/2006/relationships/hyperlink" Target="https://www.pmi.org/pmbok-guide-standards/foundational/pmbok" TargetMode="External"/><Relationship Id="rId1" Type="http://schemas.openxmlformats.org/officeDocument/2006/relationships/slideLayout" Target="../slideLayouts/slideLayout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32CB60DA-D540-9401-635F-A45F01BADE8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r-HR" dirty="0"/>
              <a:t>SHIFT4IT</a:t>
            </a:r>
          </a:p>
        </p:txBody>
      </p:sp>
      <p:sp>
        <p:nvSpPr>
          <p:cNvPr id="3" name="Podnaslov 2">
            <a:extLst>
              <a:ext uri="{FF2B5EF4-FFF2-40B4-BE49-F238E27FC236}">
                <a16:creationId xmlns:a16="http://schemas.microsoft.com/office/drawing/2014/main" id="{63E0B6ED-D750-5275-50F0-366067E1B8B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>
                <a:latin typeface="Nunito" pitchFamily="2" charset="0"/>
              </a:rPr>
              <a:t>Shifting the paradigm for women in IT sector</a:t>
            </a:r>
            <a:endParaRPr lang="hr-HR" dirty="0"/>
          </a:p>
        </p:txBody>
      </p:sp>
    </p:spTree>
    <p:extLst>
      <p:ext uri="{BB962C8B-B14F-4D97-AF65-F5344CB8AC3E}">
        <p14:creationId xmlns:p14="http://schemas.microsoft.com/office/powerpoint/2010/main" val="14348700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slov 1">
            <a:extLst>
              <a:ext uri="{FF2B5EF4-FFF2-40B4-BE49-F238E27FC236}">
                <a16:creationId xmlns:a16="http://schemas.microsoft.com/office/drawing/2014/main" id="{13DF1749-1A1D-3164-354A-8D2A8109F7D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34043" y="3382477"/>
            <a:ext cx="8265610" cy="2387600"/>
          </a:xfrm>
        </p:spPr>
        <p:txBody>
          <a:bodyPr>
            <a:normAutofit fontScale="90000"/>
          </a:bodyPr>
          <a:lstStyle/>
          <a:p>
            <a:br>
              <a:rPr lang="ro-RO" dirty="0"/>
            </a:br>
            <a:br>
              <a:rPr lang="ro-RO" dirty="0"/>
            </a:br>
            <a:r>
              <a:rPr lang="en-US" sz="5300" dirty="0"/>
              <a:t>Osnove </a:t>
            </a:r>
            <a:r>
              <a:rPr lang="en-US" sz="5300" dirty="0" err="1"/>
              <a:t>upravljanja</a:t>
            </a:r>
            <a:r>
              <a:rPr lang="en-US" sz="5300" dirty="0"/>
              <a:t> </a:t>
            </a:r>
            <a:r>
              <a:rPr lang="en-US" sz="5300" dirty="0" err="1"/>
              <a:t>projektima</a:t>
            </a:r>
            <a:br>
              <a:rPr lang="en-US" sz="5300" dirty="0"/>
            </a:br>
            <a:endParaRPr lang="hr-HR" sz="5300" dirty="0"/>
          </a:p>
        </p:txBody>
      </p:sp>
    </p:spTree>
    <p:extLst>
      <p:ext uri="{BB962C8B-B14F-4D97-AF65-F5344CB8AC3E}">
        <p14:creationId xmlns:p14="http://schemas.microsoft.com/office/powerpoint/2010/main" val="2623230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>
            <a:extLst>
              <a:ext uri="{FF2B5EF4-FFF2-40B4-BE49-F238E27FC236}">
                <a16:creationId xmlns:a16="http://schemas.microsoft.com/office/drawing/2014/main" id="{B25DB994-20D2-9EF1-A081-C76AA523F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3600" dirty="0" err="1">
                <a:latin typeface="Bahnschrift SemiBold" panose="020B0502040204020203" pitchFamily="34" charset="0"/>
              </a:rPr>
              <a:t>Sažetak</a:t>
            </a:r>
            <a:r>
              <a:rPr lang="en-US" sz="3600" dirty="0"/>
              <a:t> 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CC353DD-410E-0D01-85CF-C64EC687F80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3453" y="1627001"/>
            <a:ext cx="9692837" cy="5083451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vert="horz" wrap="square" lIns="0" tIns="-12696" rIns="0" bIns="-12696" numCol="1" rtlCol="0" anchor="ctr" anchorCtr="0" compatLnSpc="1">
            <a:prstTxWarp prst="textNoShape">
              <a:avLst/>
            </a:prstTxWarp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br>
              <a:rPr lang="en-US" altLang="en-US" sz="24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</a:br>
            <a:br>
              <a:rPr lang="en-US" altLang="en-US" sz="24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</a:br>
            <a:r>
              <a:rPr lang="en-US" altLang="en-US" sz="26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1. </a:t>
            </a:r>
            <a:r>
              <a:rPr lang="en-US" altLang="en-US" sz="2600" dirty="0" err="1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Definirati</a:t>
            </a:r>
            <a:r>
              <a:rPr lang="en-US" altLang="en-US" sz="26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altLang="en-US" sz="2600" dirty="0" err="1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životni</a:t>
            </a:r>
            <a:r>
              <a:rPr lang="en-US" altLang="en-US" sz="26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altLang="en-US" sz="2600" dirty="0" err="1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ciklus</a:t>
            </a:r>
            <a:r>
              <a:rPr lang="en-US" altLang="en-US" sz="26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altLang="en-US" sz="2600" dirty="0" err="1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projekta</a:t>
            </a:r>
            <a:r>
              <a:rPr lang="en-US" altLang="en-US" sz="26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 (1 h)</a:t>
            </a:r>
          </a:p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endParaRPr lang="en-US" altLang="en-US" sz="2600" dirty="0">
              <a:solidFill>
                <a:srgbClr val="1F1F1F"/>
              </a:solidFill>
              <a:latin typeface="Bahnschrift SemiLight" panose="020B0502040204020203" pitchFamily="34" charset="0"/>
              <a:cs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en-US" altLang="en-US" sz="26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2. </a:t>
            </a:r>
            <a:r>
              <a:rPr lang="en-US" altLang="en-US" sz="2600" dirty="0" err="1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Metodologije</a:t>
            </a:r>
            <a:r>
              <a:rPr lang="en-US" altLang="en-US" sz="26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altLang="en-US" sz="2600" dirty="0" err="1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upravljanja</a:t>
            </a:r>
            <a:r>
              <a:rPr lang="en-US" altLang="en-US" sz="26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altLang="en-US" sz="2600" dirty="0" err="1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projektima</a:t>
            </a:r>
            <a:r>
              <a:rPr lang="en-US" altLang="en-US" sz="26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: </a:t>
            </a:r>
            <a:r>
              <a:rPr lang="en-US" altLang="en-US" sz="2600" dirty="0" err="1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prediktivni</a:t>
            </a:r>
            <a:r>
              <a:rPr lang="en-US" altLang="en-US" sz="26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, </a:t>
            </a:r>
            <a:r>
              <a:rPr lang="en-US" altLang="en-US" sz="2600" dirty="0" err="1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adaptivni</a:t>
            </a:r>
            <a:r>
              <a:rPr lang="en-US" altLang="en-US" sz="26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 i </a:t>
            </a:r>
            <a:r>
              <a:rPr lang="en-US" altLang="en-US" sz="2600" dirty="0" err="1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hibridni</a:t>
            </a:r>
            <a:r>
              <a:rPr lang="en-US" altLang="en-US" sz="26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altLang="en-US" sz="2600" dirty="0" err="1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pristupi</a:t>
            </a:r>
            <a:r>
              <a:rPr lang="en-US" altLang="en-US" sz="26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 (1 h)</a:t>
            </a:r>
          </a:p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endParaRPr lang="en-US" altLang="en-US" sz="2600" dirty="0">
              <a:solidFill>
                <a:srgbClr val="1F1F1F"/>
              </a:solidFill>
              <a:latin typeface="Bahnschrift SemiLight" panose="020B0502040204020203" pitchFamily="34" charset="0"/>
              <a:cs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en-US" altLang="en-US" sz="26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3. </a:t>
            </a:r>
            <a:r>
              <a:rPr lang="en-US" altLang="en-US" sz="2600" dirty="0" err="1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Važnost</a:t>
            </a:r>
            <a:r>
              <a:rPr lang="en-US" altLang="en-US" sz="26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altLang="en-US" sz="2600" dirty="0" err="1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etike</a:t>
            </a:r>
            <a:r>
              <a:rPr lang="en-US" altLang="en-US" sz="26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 u </a:t>
            </a:r>
            <a:r>
              <a:rPr lang="en-US" altLang="en-US" sz="2600" dirty="0" err="1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upravljanju</a:t>
            </a:r>
            <a:r>
              <a:rPr lang="en-US" altLang="en-US" sz="26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altLang="en-US" sz="2600" dirty="0" err="1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projektima</a:t>
            </a:r>
            <a:r>
              <a:rPr lang="en-US" altLang="en-US" sz="26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 (1 h)</a:t>
            </a:r>
          </a:p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endParaRPr lang="en-US" altLang="en-US" sz="2600" dirty="0">
              <a:solidFill>
                <a:srgbClr val="1F1F1F"/>
              </a:solidFill>
              <a:latin typeface="Bahnschrift SemiLight" panose="020B0502040204020203" pitchFamily="34" charset="0"/>
              <a:cs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en-US" altLang="en-US" sz="26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4. Liderske </a:t>
            </a:r>
            <a:r>
              <a:rPr lang="en-US" altLang="en-US" sz="2600" dirty="0" err="1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vještine</a:t>
            </a:r>
            <a:r>
              <a:rPr lang="en-US" altLang="en-US" sz="26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 u </a:t>
            </a:r>
            <a:r>
              <a:rPr lang="en-US" altLang="en-US" sz="2600" dirty="0" err="1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projektnom</a:t>
            </a:r>
            <a:r>
              <a:rPr lang="en-US" altLang="en-US" sz="26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altLang="en-US" sz="2600" dirty="0" err="1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okruženju</a:t>
            </a:r>
            <a:r>
              <a:rPr lang="en-US" altLang="en-US" sz="26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 (2 h)</a:t>
            </a:r>
          </a:p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endParaRPr lang="en-US" altLang="en-US" sz="2600" dirty="0">
              <a:solidFill>
                <a:srgbClr val="1F1F1F"/>
              </a:solidFill>
              <a:latin typeface="Bahnschrift SemiLight" panose="020B0502040204020203" pitchFamily="34" charset="0"/>
              <a:cs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r>
              <a:rPr lang="en-US" altLang="en-US" sz="26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5. </a:t>
            </a:r>
            <a:r>
              <a:rPr lang="en-US" altLang="en-US" sz="2600" dirty="0" err="1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Učinkovita</a:t>
            </a:r>
            <a:r>
              <a:rPr lang="en-US" altLang="en-US" sz="26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US" altLang="en-US" sz="2600" dirty="0" err="1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komunikacija</a:t>
            </a:r>
            <a:r>
              <a:rPr lang="en-US" altLang="en-US" sz="26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 u </a:t>
            </a:r>
            <a:r>
              <a:rPr lang="en-US" altLang="en-US" sz="2600" dirty="0" err="1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projektima</a:t>
            </a:r>
            <a:r>
              <a:rPr lang="en-US" altLang="en-US" sz="2600" dirty="0">
                <a:solidFill>
                  <a:srgbClr val="1F1F1F"/>
                </a:solidFill>
                <a:latin typeface="Bahnschrift SemiLight" panose="020B0502040204020203" pitchFamily="34" charset="0"/>
                <a:cs typeface="Arial" panose="020B0604020202020204" pitchFamily="34" charset="0"/>
              </a:rPr>
              <a:t> (2 h)</a:t>
            </a:r>
          </a:p>
          <a:p>
            <a:pPr eaLnBrk="0" fontAlgn="base" hangingPunct="0">
              <a:lnSpc>
                <a:spcPct val="100000"/>
              </a:lnSpc>
              <a:spcAft>
                <a:spcPct val="0"/>
              </a:spcAft>
            </a:pPr>
            <a:endParaRPr lang="en-US" altLang="en-US" sz="2400" dirty="0">
              <a:latin typeface="Bahnschrift SemiLight" panose="020B0502040204020203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247843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5B2607-83C3-7BE3-DEB0-6FE351DFF2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4732" y="2782827"/>
            <a:ext cx="780715" cy="780715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08CB107-46F3-1B3E-820E-255E6F9CC2E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27068" y="2511079"/>
            <a:ext cx="2191519" cy="132420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515C5B2-6334-526A-E327-DE57C3F7B3A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6288" y="2906471"/>
            <a:ext cx="775236" cy="53341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22492FFD-570E-03DA-22D8-86EFE2B16C7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9227" y="2133008"/>
            <a:ext cx="2498916" cy="208034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4356F89-538B-CB36-2166-B16A394987D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8547" y="2373082"/>
            <a:ext cx="1371600" cy="1600200"/>
          </a:xfrm>
          <a:prstGeom prst="rect">
            <a:avLst/>
          </a:prstGeom>
        </p:spPr>
      </p:pic>
      <p:sp>
        <p:nvSpPr>
          <p:cNvPr id="8" name="Rectangle 1">
            <a:extLst>
              <a:ext uri="{FF2B5EF4-FFF2-40B4-BE49-F238E27FC236}">
                <a16:creationId xmlns:a16="http://schemas.microsoft.com/office/drawing/2014/main" id="{28053DAD-72B6-3860-D882-2954EF08B267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417501" y="4726536"/>
            <a:ext cx="10150642" cy="959245"/>
          </a:xfrm>
          <a:prstGeom prst="rect">
            <a:avLst/>
          </a:prstGeom>
          <a:solidFill>
            <a:srgbClr val="F8F9FA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0" tIns="-12696" rIns="0" bIns="-12696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pl-PL" altLang="en-US" sz="32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Bahnschrift SemiLight" panose="020B0502040204020203" pitchFamily="34" charset="0"/>
              </a:rPr>
              <a:t>San bez plana je samo želja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Bahnschrift SemiLight" panose="020B0502040204020203" pitchFamily="34" charset="0"/>
              </a:rPr>
              <a:t>! </a:t>
            </a:r>
            <a:b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Bahnschrift SemiLight" panose="020B0502040204020203" pitchFamily="34" charset="0"/>
              </a:rPr>
            </a:b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F1F1F"/>
                </a:solidFill>
                <a:effectLst/>
                <a:latin typeface="Bahnschrift SemiLight" panose="020B0502040204020203" pitchFamily="34" charset="0"/>
              </a:rPr>
              <a:t>- Antoine de Saint-Exupéry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Bahnschrift SemiLight" panose="020B0502040204020203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496813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5E38E1-172C-57C5-61B2-539BBE832A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dirty="0"/>
              <a:t>Što je specifično za projekt</a:t>
            </a:r>
            <a:r>
              <a:rPr lang="en-US" b="1" dirty="0">
                <a:latin typeface="Bahnschrift SemiLight" panose="020B0502040204020203" pitchFamily="34" charset="0"/>
              </a:rPr>
              <a:t>?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E8FD6B2A-4DB2-1EF9-D254-AA4674C03D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22299" y="2028301"/>
            <a:ext cx="9569885" cy="3500262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vert="horz" wrap="square" lIns="0" tIns="-12696" rIns="0" bIns="-12696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  <a:cs typeface="Arial" panose="020B0604020202020204" pitchFamily="34" charset="0"/>
              </a:rPr>
              <a:t>SLOŽENE AKTIVNOSTI KOJE STVARAJU PROMJENE</a:t>
            </a:r>
          </a:p>
          <a:p>
            <a:pPr marL="0" marR="0" lvl="0" indent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Bahnschrift SemiLight" panose="020B0502040204020203" pitchFamily="34" charset="0"/>
                <a:cs typeface="Arial" panose="020B0604020202020204" pitchFamily="34" charset="0"/>
              </a:rPr>
              <a:t>Mješoviti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Bahnschrift SemiLight" panose="020B0502040204020203" pitchFamily="34" charset="0"/>
                <a:cs typeface="Arial" panose="020B0604020202020204" pitchFamily="34" charset="0"/>
              </a:rPr>
              <a:t>ciljevi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  <a:cs typeface="Arial" panose="020B0604020202020204" pitchFamily="34" charset="0"/>
              </a:rPr>
              <a:t> i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Bahnschrift SemiLight" panose="020B0502040204020203" pitchFamily="34" charset="0"/>
                <a:cs typeface="Arial" panose="020B0604020202020204" pitchFamily="34" charset="0"/>
              </a:rPr>
              <a:t>ograničenja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Bahnschrift SemiLight" panose="020B0502040204020203" pitchFamily="34" charset="0"/>
                <a:cs typeface="Arial" panose="020B0604020202020204" pitchFamily="34" charset="0"/>
              </a:rPr>
              <a:t>vezani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Bahnschrift SemiLight" panose="020B0502040204020203" pitchFamily="34" charset="0"/>
                <a:cs typeface="Arial" panose="020B0604020202020204" pitchFamily="34" charset="0"/>
              </a:rPr>
              <a:t>uz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  <a:cs typeface="Arial" panose="020B0604020202020204" pitchFamily="34" charset="0"/>
              </a:rPr>
              <a:t>: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Bahnschrift SemiLight" panose="020B0502040204020203" pitchFamily="34" charset="0"/>
                <a:cs typeface="Arial" panose="020B0604020202020204" pitchFamily="34" charset="0"/>
              </a:rPr>
              <a:t>kvalitetu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  <a:cs typeface="Arial" panose="020B0604020202020204" pitchFamily="34" charset="0"/>
              </a:rPr>
              <a:t> /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Bahnschrift SemiLight" panose="020B0502040204020203" pitchFamily="34" charset="0"/>
                <a:cs typeface="Arial" panose="020B0604020202020204" pitchFamily="34" charset="0"/>
              </a:rPr>
              <a:t>trošak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  <a:cs typeface="Arial" panose="020B0604020202020204" pitchFamily="34" charset="0"/>
              </a:rPr>
              <a:t> /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Bahnschrift SemiLight" panose="020B0502040204020203" pitchFamily="34" charset="0"/>
                <a:cs typeface="Arial" panose="020B0604020202020204" pitchFamily="34" charset="0"/>
              </a:rPr>
              <a:t>vrijeme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Bahnschrift SemiLight" panose="020B0502040204020203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Bahnschrift SemiLight" panose="020B0502040204020203" pitchFamily="34" charset="0"/>
                <a:cs typeface="Arial" panose="020B0604020202020204" pitchFamily="34" charset="0"/>
              </a:rPr>
              <a:t>Ljudi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Bahnschrift SemiLight" panose="020B0502040204020203" pitchFamily="34" charset="0"/>
                <a:cs typeface="Arial" panose="020B0604020202020204" pitchFamily="34" charset="0"/>
              </a:rPr>
              <a:t>iz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Bahnschrift SemiLight" panose="020B0502040204020203" pitchFamily="34" charset="0"/>
                <a:cs typeface="Arial" panose="020B0604020202020204" pitchFamily="34" charset="0"/>
              </a:rPr>
              <a:t>različitih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Bahnschrift SemiLight" panose="020B0502040204020203" pitchFamily="34" charset="0"/>
                <a:cs typeface="Arial" panose="020B0604020202020204" pitchFamily="34" charset="0"/>
              </a:rPr>
              <a:t>područja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Bahnschrift SemiLight" panose="020B0502040204020203" pitchFamily="34" charset="0"/>
                <a:cs typeface="Arial" panose="020B0604020202020204" pitchFamily="34" charset="0"/>
              </a:rPr>
              <a:t>ili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Bahnschrift SemiLight" panose="020B0502040204020203" pitchFamily="34" charset="0"/>
                <a:cs typeface="Arial" panose="020B0604020202020204" pitchFamily="34" charset="0"/>
              </a:rPr>
              <a:t>funkcionalnih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Bahnschrift SemiLight" panose="020B0502040204020203" pitchFamily="34" charset="0"/>
                <a:cs typeface="Arial" panose="020B0604020202020204" pitchFamily="34" charset="0"/>
              </a:rPr>
              <a:t>dijelova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Bahnschrift SemiLight" panose="020B0502040204020203" pitchFamily="34" charset="0"/>
                <a:cs typeface="Arial" panose="020B0604020202020204" pitchFamily="34" charset="0"/>
              </a:rPr>
              <a:t>organizacije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Bahnschrift SemiLight" panose="020B0502040204020203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2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Bahnschrift SemiLight" panose="020B0502040204020203" pitchFamily="34" charset="0"/>
                <a:cs typeface="Arial" panose="020B0604020202020204" pitchFamily="34" charset="0"/>
              </a:rPr>
              <a:t>Podrazumijeva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Bahnschrift SemiLight" panose="020B0502040204020203" pitchFamily="34" charset="0"/>
                <a:cs typeface="Arial" panose="020B0604020202020204" pitchFamily="34" charset="0"/>
              </a:rPr>
              <a:t>jedinstvenost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effectLst/>
                <a:latin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kumimoji="0" lang="en-US" altLang="en-US" sz="2400" b="0" i="0" u="none" strike="noStrike" cap="none" normalizeH="0" baseline="0" dirty="0" err="1">
                <a:ln>
                  <a:noFill/>
                </a:ln>
                <a:effectLst/>
                <a:latin typeface="Bahnschrift SemiLight" panose="020B0502040204020203" pitchFamily="34" charset="0"/>
                <a:cs typeface="Arial" panose="020B0604020202020204" pitchFamily="34" charset="0"/>
              </a:rPr>
              <a:t>aktivnosti</a:t>
            </a:r>
            <a:endParaRPr kumimoji="0" lang="en-US" altLang="en-US" sz="2400" b="0" i="0" u="none" strike="noStrike" cap="none" normalizeH="0" baseline="0" dirty="0">
              <a:ln>
                <a:noFill/>
              </a:ln>
              <a:effectLst/>
              <a:latin typeface="Bahnschrift SemiLight" panose="020B0502040204020203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17986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C44AD0-140A-0F94-3F33-EE08AD2346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B193E8-6A38-7B17-B29F-5D6C19B0FA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ctr">
            <a:normAutofit/>
          </a:bodyPr>
          <a:lstStyle/>
          <a:p>
            <a:r>
              <a:rPr lang="pl-PL" dirty="0"/>
              <a:t>Što je specifično za projekt</a:t>
            </a:r>
            <a:r>
              <a:rPr lang="en-US" b="1" dirty="0">
                <a:latin typeface="Bahnschrift SemiLight" panose="020B0502040204020203" pitchFamily="34" charset="0"/>
              </a:rPr>
              <a:t>?</a:t>
            </a:r>
            <a:endParaRPr lang="hr-HR" b="1" kern="1200" dirty="0">
              <a:latin typeface="Bahnschrift Semi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4DB5B4-E7CB-AEF3-A685-BA85433B332C}"/>
              </a:ext>
            </a:extLst>
          </p:cNvPr>
          <p:cNvSpPr txBox="1"/>
          <p:nvPr/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hr-HR" sz="2800" b="1" dirty="0">
                <a:solidFill>
                  <a:srgbClr val="0ADBBC"/>
                </a:solidFill>
                <a:latin typeface="Bahnschrift SemiLight" panose="020B0502040204020203" pitchFamily="34" charset="0"/>
              </a:rPr>
              <a:t>OPERACIJE</a:t>
            </a:r>
          </a:p>
          <a:p>
            <a:pPr>
              <a:lnSpc>
                <a:spcPct val="90000"/>
              </a:lnSpc>
              <a:spcBef>
                <a:spcPts val="1000"/>
              </a:spcBef>
            </a:pPr>
            <a:endParaRPr lang="hr-HR" sz="2800" kern="1200" dirty="0">
              <a:latin typeface="Bahnschrift SemiLight" panose="020B0502040204020203" pitchFamily="34" charset="0"/>
            </a:endParaRP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hr-HR" sz="2800" kern="1200" dirty="0">
                <a:latin typeface="Bahnschrift SemiLight" panose="020B0502040204020203" pitchFamily="34" charset="0"/>
              </a:rPr>
              <a:t>PONAVLJAJUĆE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hr-HR" sz="2800" kern="1200" dirty="0">
                <a:latin typeface="Bahnschrift SemiLight" panose="020B0502040204020203" pitchFamily="34" charset="0"/>
              </a:rPr>
              <a:t>TRAJNE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hr-HR" sz="2800" kern="1200" dirty="0">
                <a:latin typeface="Bahnschrift SemiLight" panose="020B0502040204020203" pitchFamily="34" charset="0"/>
              </a:rPr>
              <a:t>„EVOLUCIJSKE“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hr-HR" sz="2800" kern="1200" dirty="0">
                <a:latin typeface="Bahnschrift SemiLight" panose="020B0502040204020203" pitchFamily="34" charset="0"/>
              </a:rPr>
              <a:t>PROMJENA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hr-HR" sz="2800" kern="1200" dirty="0">
                <a:latin typeface="Bahnschrift SemiLight" panose="020B0502040204020203" pitchFamily="34" charset="0"/>
              </a:rPr>
              <a:t>URAVNOTEŽENI CILJEVI</a:t>
            </a:r>
          </a:p>
          <a:p>
            <a:pPr marL="228600" indent="-2286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hr-HR" sz="2800" kern="1200" dirty="0">
                <a:latin typeface="Bahnschrift SemiLight" panose="020B0502040204020203" pitchFamily="34" charset="0"/>
              </a:rPr>
              <a:t>STABILNI RESURSI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D066BBF-83D9-2694-DD06-4ACBA4E0841F}"/>
              </a:ext>
            </a:extLst>
          </p:cNvPr>
          <p:cNvSpPr txBox="1"/>
          <p:nvPr/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hr-HR" sz="2800" b="1" dirty="0">
                <a:solidFill>
                  <a:srgbClr val="0ADBBC"/>
                </a:solidFill>
                <a:latin typeface="Bahnschrift SemiLight" panose="020B0502040204020203" pitchFamily="34" charset="0"/>
              </a:rPr>
              <a:t>PROJEKTI</a:t>
            </a:r>
          </a:p>
          <a:p>
            <a:pPr>
              <a:lnSpc>
                <a:spcPct val="90000"/>
              </a:lnSpc>
              <a:spcBef>
                <a:spcPts val="1000"/>
              </a:spcBef>
            </a:pPr>
            <a:endParaRPr lang="hr-HR" sz="2800" b="1" dirty="0">
              <a:solidFill>
                <a:srgbClr val="0ADBBC"/>
              </a:solidFill>
              <a:latin typeface="Bahnschrift SemiLight" panose="020B0502040204020203" pitchFamily="34" charset="0"/>
            </a:endParaRP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hr-HR" sz="2800" dirty="0">
                <a:latin typeface="Bahnschrift SemiLight" panose="020B0502040204020203" pitchFamily="34" charset="0"/>
              </a:rPr>
              <a:t>JEDINSTVENOST</a:t>
            </a: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hr-HR" sz="2800" dirty="0">
                <a:latin typeface="Bahnschrift SemiLight" panose="020B0502040204020203" pitchFamily="34" charset="0"/>
              </a:rPr>
              <a:t>VREMENSKI OGRANIČENI</a:t>
            </a: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hr-HR" sz="2800" dirty="0">
                <a:latin typeface="Bahnschrift SemiLight" panose="020B0502040204020203" pitchFamily="34" charset="0"/>
              </a:rPr>
              <a:t>„REVOLUCIONARNA“ PROMJENA</a:t>
            </a: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hr-HR" sz="2800" dirty="0">
                <a:latin typeface="Bahnschrift SemiLight" panose="020B0502040204020203" pitchFamily="34" charset="0"/>
              </a:rPr>
              <a:t>DONOSE NERAVNOTEŽU</a:t>
            </a: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hr-HR" sz="2800" dirty="0">
                <a:latin typeface="Bahnschrift SemiLight" panose="020B0502040204020203" pitchFamily="34" charset="0"/>
              </a:rPr>
              <a:t>OGRANIČENI RESURSI</a:t>
            </a: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hr-HR" sz="2800" dirty="0">
                <a:latin typeface="Bahnschrift SemiLight" panose="020B0502040204020203" pitchFamily="34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5346856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A82B3324-56EC-8332-4E4A-6E7623D0C2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6"/>
            <a:ext cx="10676021" cy="119898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 err="1"/>
              <a:t>Upravljanje</a:t>
            </a:r>
            <a:r>
              <a:rPr lang="en-US" dirty="0"/>
              <a:t> </a:t>
            </a:r>
            <a:r>
              <a:rPr lang="en-US" dirty="0" err="1"/>
              <a:t>projektima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172DC7C-0674-78E7-C222-9AB22EEC5921}"/>
              </a:ext>
            </a:extLst>
          </p:cNvPr>
          <p:cNvSpPr txBox="1"/>
          <p:nvPr/>
        </p:nvSpPr>
        <p:spPr>
          <a:xfrm>
            <a:off x="838199" y="1845433"/>
            <a:ext cx="10363200" cy="516731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marL="342900" indent="-34290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hr-HR" sz="2000" b="1" kern="1200" dirty="0">
                <a:latin typeface="Bahnschrift SemiLight" panose="020B0502040204020203" pitchFamily="34" charset="0"/>
              </a:rPr>
              <a:t>CILJ PROJEKTA </a:t>
            </a:r>
            <a:r>
              <a:rPr lang="hr-HR" sz="2000" kern="1200" dirty="0">
                <a:latin typeface="Bahnschrift SemiLight" panose="020B0502040204020203" pitchFamily="34" charset="0"/>
              </a:rPr>
              <a:t>predstavlja namjeravanu svrhu projekta</a:t>
            </a:r>
          </a:p>
          <a:p>
            <a:pPr marL="342900" indent="-342900"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hr-HR" sz="2000" kern="1200" dirty="0">
              <a:latin typeface="Bahnschrift SemiLight" panose="020B0502040204020203" pitchFamily="34" charset="0"/>
            </a:endParaRPr>
          </a:p>
          <a:p>
            <a:pPr marL="342900" indent="-34290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hr-HR" sz="2000" b="1" kern="1200" dirty="0">
                <a:latin typeface="Bahnschrift SemiLight" panose="020B0502040204020203" pitchFamily="34" charset="0"/>
              </a:rPr>
              <a:t>OPĆI CILJ PROJEKTA </a:t>
            </a:r>
            <a:r>
              <a:rPr lang="hr-HR" sz="2000" kern="1200" dirty="0">
                <a:latin typeface="Bahnschrift SemiLight" panose="020B0502040204020203" pitchFamily="34" charset="0"/>
              </a:rPr>
              <a:t>uzima u obzir širu usmjerenost kojoj projekt treba doprinijeti</a:t>
            </a:r>
          </a:p>
          <a:p>
            <a:pPr marL="342900" indent="-342900"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hr-HR" sz="2000" kern="1200" dirty="0">
              <a:latin typeface="Bahnschrift SemiLight" panose="020B0502040204020203" pitchFamily="34" charset="0"/>
            </a:endParaRPr>
          </a:p>
          <a:p>
            <a:pPr marL="342900" indent="-34290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hr-HR" sz="2000" b="1" kern="1200" dirty="0">
                <a:latin typeface="Bahnschrift SemiLight" panose="020B0502040204020203" pitchFamily="34" charset="0"/>
              </a:rPr>
              <a:t>NEPOSREDNI (SPECIFIČNI) CILJ </a:t>
            </a:r>
            <a:r>
              <a:rPr lang="hr-HR" sz="2000" kern="1200" dirty="0">
                <a:latin typeface="Bahnschrift SemiLight" panose="020B0502040204020203" pitchFamily="34" charset="0"/>
              </a:rPr>
              <a:t>odnosi se na pozitivan utjecaj projekta na korisnika</a:t>
            </a:r>
          </a:p>
          <a:p>
            <a:pPr marL="342900" indent="-342900"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hr-HR" sz="2000" kern="1200" dirty="0">
              <a:latin typeface="Bahnschrift SemiLight" panose="020B0502040204020203" pitchFamily="34" charset="0"/>
            </a:endParaRPr>
          </a:p>
          <a:p>
            <a:pPr marL="342900" indent="-34290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hr-HR" sz="2000" kern="1200" dirty="0">
                <a:latin typeface="Bahnschrift SemiLight" panose="020B0502040204020203" pitchFamily="34" charset="0"/>
              </a:rPr>
              <a:t>Ciljevi se definiraju u fazi pokretanja projekta, ali se mogu naknadno mijenjati u fazi planiranja</a:t>
            </a:r>
          </a:p>
          <a:p>
            <a:pPr marL="342900" indent="-342900">
              <a:spcBef>
                <a:spcPts val="1000"/>
              </a:spcBef>
              <a:buFont typeface="Arial" panose="020B0604020202020204" pitchFamily="34" charset="0"/>
              <a:buChar char="•"/>
            </a:pPr>
            <a:endParaRPr lang="hr-HR" sz="2000" kern="1200" dirty="0">
              <a:latin typeface="Bahnschrift SemiLight" panose="020B0502040204020203" pitchFamily="34" charset="0"/>
            </a:endParaRPr>
          </a:p>
          <a:p>
            <a:pPr marL="342900" indent="-34290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hr-HR" sz="2000" kern="1200" dirty="0">
                <a:latin typeface="Bahnschrift SemiLight" panose="020B0502040204020203" pitchFamily="34" charset="0"/>
              </a:rPr>
              <a:t>Projekt se smatra završenim kada su ciljevi ostvareni ili se zaustavlja kada se ciljevi ne mogu postići</a:t>
            </a:r>
          </a:p>
        </p:txBody>
      </p:sp>
    </p:spTree>
    <p:extLst>
      <p:ext uri="{BB962C8B-B14F-4D97-AF65-F5344CB8AC3E}">
        <p14:creationId xmlns:p14="http://schemas.microsoft.com/office/powerpoint/2010/main" val="11555744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0D937988-CB55-CE43-2758-A0FD4FED59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Ra</a:t>
            </a:r>
            <a:r>
              <a:rPr lang="hr-HR" dirty="0"/>
              <a:t>sprava</a:t>
            </a:r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3B1AFE36-0324-EAFA-C788-C1EF540207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41537"/>
            <a:ext cx="10515600" cy="4351338"/>
          </a:xfrm>
        </p:spPr>
        <p:txBody>
          <a:bodyPr/>
          <a:lstStyle/>
          <a:p>
            <a:endParaRPr lang="en-US" dirty="0">
              <a:latin typeface="Montserrat" panose="00000500000000000000" pitchFamily="2" charset="0"/>
            </a:endParaRPr>
          </a:p>
          <a:p>
            <a:r>
              <a:rPr lang="en-US" sz="3200" dirty="0"/>
              <a:t>Kao primjer </a:t>
            </a:r>
            <a:r>
              <a:rPr lang="en-US" sz="3200" dirty="0" err="1"/>
              <a:t>projekta</a:t>
            </a:r>
            <a:r>
              <a:rPr lang="en-US" sz="3200" dirty="0"/>
              <a:t> </a:t>
            </a:r>
            <a:r>
              <a:rPr lang="en-US" sz="3200" dirty="0" err="1"/>
              <a:t>koristit</a:t>
            </a:r>
            <a:r>
              <a:rPr lang="en-US" sz="3200" dirty="0"/>
              <a:t> </a:t>
            </a:r>
            <a:r>
              <a:rPr lang="en-US" sz="3200" dirty="0" err="1"/>
              <a:t>ćemo</a:t>
            </a:r>
            <a:r>
              <a:rPr lang="en-US" sz="3200" dirty="0"/>
              <a:t> SHIFT4IT.</a:t>
            </a:r>
          </a:p>
          <a:p>
            <a:r>
              <a:rPr lang="en-US" sz="3200" dirty="0" err="1"/>
              <a:t>Sudionici</a:t>
            </a:r>
            <a:r>
              <a:rPr lang="en-US" sz="3200" dirty="0"/>
              <a:t> </a:t>
            </a:r>
            <a:r>
              <a:rPr lang="en-US" sz="3200" dirty="0" err="1"/>
              <a:t>će</a:t>
            </a:r>
            <a:r>
              <a:rPr lang="en-US" sz="3200" dirty="0"/>
              <a:t> </a:t>
            </a:r>
            <a:r>
              <a:rPr lang="en-US" sz="3200" dirty="0" err="1"/>
              <a:t>identificirati</a:t>
            </a:r>
            <a:r>
              <a:rPr lang="en-US" sz="3200" dirty="0"/>
              <a:t> </a:t>
            </a:r>
            <a:r>
              <a:rPr lang="en-US" sz="3200" dirty="0" err="1"/>
              <a:t>svaku</a:t>
            </a:r>
            <a:r>
              <a:rPr lang="en-US" sz="3200" dirty="0"/>
              <a:t> </a:t>
            </a:r>
            <a:r>
              <a:rPr lang="en-US" sz="3200" dirty="0" err="1"/>
              <a:t>fazu</a:t>
            </a:r>
            <a:r>
              <a:rPr lang="en-US" sz="3200" dirty="0"/>
              <a:t> </a:t>
            </a:r>
            <a:r>
              <a:rPr lang="en-US" sz="3200" dirty="0" err="1"/>
              <a:t>projekta</a:t>
            </a:r>
            <a:r>
              <a:rPr lang="en-US" sz="3200" dirty="0"/>
              <a:t> i </a:t>
            </a:r>
            <a:r>
              <a:rPr lang="en-US" sz="3200" dirty="0" err="1"/>
              <a:t>njezine</a:t>
            </a:r>
            <a:r>
              <a:rPr lang="en-US" sz="3200" dirty="0"/>
              <a:t> </a:t>
            </a:r>
            <a:r>
              <a:rPr lang="en-US" sz="3200" dirty="0" err="1"/>
              <a:t>isporuke</a:t>
            </a:r>
            <a:endParaRPr lang="en-US" sz="32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64951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201273-F65E-B249-59FA-1F5188B10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2D0CAD23-0EB5-82C9-FE32-E4DAC21BA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b="1" dirty="0" err="1"/>
              <a:t>Životni</a:t>
            </a:r>
            <a:r>
              <a:rPr lang="en-US" b="1" dirty="0"/>
              <a:t> </a:t>
            </a:r>
            <a:r>
              <a:rPr lang="en-US" b="1" dirty="0" err="1"/>
              <a:t>ciklus</a:t>
            </a:r>
            <a:r>
              <a:rPr lang="en-US" b="1" dirty="0"/>
              <a:t> </a:t>
            </a:r>
            <a:r>
              <a:rPr lang="en-US" b="1" dirty="0" err="1"/>
              <a:t>proizvoda</a:t>
            </a:r>
            <a:endParaRPr lang="en-US" b="1" dirty="0"/>
          </a:p>
        </p:txBody>
      </p:sp>
      <p:pic>
        <p:nvPicPr>
          <p:cNvPr id="3" name="Picture 2" descr="A diagram of a growth curve&#10;&#10;Description automatically generated">
            <a:extLst>
              <a:ext uri="{FF2B5EF4-FFF2-40B4-BE49-F238E27FC236}">
                <a16:creationId xmlns:a16="http://schemas.microsoft.com/office/drawing/2014/main" id="{234E77C0-C80A-0CAD-93AB-93E98FEF2C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039" y="1775044"/>
            <a:ext cx="7587507" cy="4267976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28034144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5D0431-E033-AED9-51D1-A637FFD38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DEB7925F-2B60-E95B-FE24-DBAFF5C3D2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/>
              <a:t>GRUPNA RASPRAVA</a:t>
            </a:r>
            <a:r>
              <a:rPr lang="hr-HR" dirty="0"/>
              <a:t>_ </a:t>
            </a:r>
            <a:r>
              <a:rPr lang="en-US" dirty="0" err="1"/>
              <a:t>Životni</a:t>
            </a:r>
            <a:r>
              <a:rPr lang="en-US" dirty="0"/>
              <a:t> </a:t>
            </a:r>
            <a:r>
              <a:rPr lang="en-US" dirty="0" err="1"/>
              <a:t>ciklus</a:t>
            </a:r>
            <a:r>
              <a:rPr lang="en-US" dirty="0"/>
              <a:t> </a:t>
            </a:r>
            <a:r>
              <a:rPr lang="en-US" dirty="0" err="1"/>
              <a:t>proizvoda</a:t>
            </a:r>
            <a:endParaRPr lang="en-US" dirty="0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D69743E-0D01-0F17-6C05-4FB26B35A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41537"/>
            <a:ext cx="10515600" cy="3921060"/>
          </a:xfrm>
        </p:spPr>
        <p:txBody>
          <a:bodyPr/>
          <a:lstStyle/>
          <a:p>
            <a:endParaRPr lang="en-US" dirty="0"/>
          </a:p>
          <a:p>
            <a:r>
              <a:rPr lang="en-US" dirty="0" err="1"/>
              <a:t>Identificirat</a:t>
            </a:r>
            <a:r>
              <a:rPr lang="en-US" dirty="0"/>
              <a:t> </a:t>
            </a:r>
            <a:r>
              <a:rPr lang="en-US" dirty="0" err="1"/>
              <a:t>ćemo</a:t>
            </a:r>
            <a:r>
              <a:rPr lang="en-US" dirty="0"/>
              <a:t> 2–3 </a:t>
            </a:r>
            <a:r>
              <a:rPr lang="en-US" dirty="0" err="1"/>
              <a:t>proizvoda</a:t>
            </a:r>
            <a:r>
              <a:rPr lang="en-US" dirty="0"/>
              <a:t> / </a:t>
            </a:r>
            <a:r>
              <a:rPr lang="en-US" dirty="0" err="1"/>
              <a:t>brenda</a:t>
            </a:r>
            <a:r>
              <a:rPr lang="en-US" dirty="0"/>
              <a:t> i </a:t>
            </a:r>
            <a:r>
              <a:rPr lang="en-US" dirty="0" err="1"/>
              <a:t>njihov</a:t>
            </a:r>
            <a:r>
              <a:rPr lang="en-US" dirty="0"/>
              <a:t> </a:t>
            </a:r>
            <a:r>
              <a:rPr lang="en-US" dirty="0" err="1"/>
              <a:t>životni</a:t>
            </a:r>
            <a:r>
              <a:rPr lang="en-US" dirty="0"/>
              <a:t> </a:t>
            </a:r>
            <a:r>
              <a:rPr lang="en-US" dirty="0" err="1"/>
              <a:t>ciklus</a:t>
            </a:r>
            <a:r>
              <a:rPr lang="en-US" dirty="0"/>
              <a:t> </a:t>
            </a:r>
            <a:r>
              <a:rPr lang="en-US" dirty="0" err="1"/>
              <a:t>proizvoda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648837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55BA62-CF77-09B4-D7FC-1B59356EA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Naslov 3">
            <a:extLst>
              <a:ext uri="{FF2B5EF4-FFF2-40B4-BE49-F238E27FC236}">
                <a16:creationId xmlns:a16="http://schemas.microsoft.com/office/drawing/2014/main" id="{DC7C75E3-11B2-9B0D-7D3E-0535816B17A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800" b="1" dirty="0"/>
              <a:t>PROJECT MANAGEMENT FUNDAMENTALS</a:t>
            </a:r>
            <a:endParaRPr lang="hr-HR" sz="4800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347F65C-31E3-EB4A-E9AC-7FE40C80D725}"/>
              </a:ext>
            </a:extLst>
          </p:cNvPr>
          <p:cNvSpPr txBox="1">
            <a:spLocks/>
          </p:cNvSpPr>
          <p:nvPr/>
        </p:nvSpPr>
        <p:spPr>
          <a:xfrm>
            <a:off x="3032927" y="4146115"/>
            <a:ext cx="8753338" cy="1600817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b">
            <a:normAutofit/>
          </a:bodyPr>
          <a:lstStyle>
            <a:lvl1pPr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Montserrat" panose="00000500000000000000" pitchFamily="2" charset="-18"/>
                <a:ea typeface="+mj-ea"/>
                <a:cs typeface="+mj-cs"/>
              </a:defRPr>
            </a:lvl1pPr>
          </a:lstStyle>
          <a:p>
            <a:r>
              <a:rPr lang="en-US" sz="4000" dirty="0" err="1">
                <a:latin typeface="Bahnschrift" panose="020B0502040204020203" pitchFamily="34" charset="0"/>
              </a:rPr>
              <a:t>Metodologije</a:t>
            </a:r>
            <a:r>
              <a:rPr lang="en-US" sz="4000" dirty="0">
                <a:latin typeface="Bahnschrift" panose="020B0502040204020203" pitchFamily="34" charset="0"/>
              </a:rPr>
              <a:t> </a:t>
            </a:r>
            <a:endParaRPr lang="hr-HR" sz="4000" dirty="0">
              <a:latin typeface="Bahnschrift" panose="020B0502040204020203" pitchFamily="34" charset="0"/>
            </a:endParaRPr>
          </a:p>
          <a:p>
            <a:r>
              <a:rPr lang="en-US" sz="4000" dirty="0" err="1">
                <a:latin typeface="Bahnschrift" panose="020B0502040204020203" pitchFamily="34" charset="0"/>
              </a:rPr>
              <a:t>upravljanja</a:t>
            </a:r>
            <a:r>
              <a:rPr lang="en-US" sz="4000" dirty="0">
                <a:latin typeface="Bahnschrift" panose="020B0502040204020203" pitchFamily="34" charset="0"/>
              </a:rPr>
              <a:t> </a:t>
            </a:r>
            <a:r>
              <a:rPr lang="en-US" sz="4000" dirty="0" err="1">
                <a:latin typeface="Bahnschrift" panose="020B0502040204020203" pitchFamily="34" charset="0"/>
              </a:rPr>
              <a:t>projektima</a:t>
            </a:r>
            <a:endParaRPr lang="en-US" sz="4000" dirty="0">
              <a:latin typeface="Bahnschrift" panose="020B0502040204020203" pitchFamily="34" charset="0"/>
            </a:endParaRPr>
          </a:p>
        </p:txBody>
      </p:sp>
      <p:sp>
        <p:nvSpPr>
          <p:cNvPr id="2" name="Naslov 3">
            <a:extLst>
              <a:ext uri="{FF2B5EF4-FFF2-40B4-BE49-F238E27FC236}">
                <a16:creationId xmlns:a16="http://schemas.microsoft.com/office/drawing/2014/main" id="{97144630-2766-50FA-ABD6-B0E330BA072A}"/>
              </a:ext>
            </a:extLst>
          </p:cNvPr>
          <p:cNvSpPr txBox="1">
            <a:spLocks/>
          </p:cNvSpPr>
          <p:nvPr/>
        </p:nvSpPr>
        <p:spPr>
          <a:xfrm>
            <a:off x="2632935" y="1523993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Bahnschrift" panose="020B0502040204020203" pitchFamily="34" charset="0"/>
                <a:ea typeface="+mj-ea"/>
                <a:cs typeface="+mj-cs"/>
              </a:defRPr>
            </a:lvl1pPr>
          </a:lstStyle>
          <a:p>
            <a:r>
              <a:rPr lang="en-US" dirty="0"/>
              <a:t>OSNOVE UPRAVLJANJA PROJEKTIMA</a:t>
            </a:r>
          </a:p>
        </p:txBody>
      </p:sp>
    </p:spTree>
    <p:extLst>
      <p:ext uri="{BB962C8B-B14F-4D97-AF65-F5344CB8AC3E}">
        <p14:creationId xmlns:p14="http://schemas.microsoft.com/office/powerpoint/2010/main" val="40565214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3A6FB7-737C-19A9-9C50-3719033BFC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9FEAA8A7-E593-368C-DA4B-A8879FFA6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800" b="1" dirty="0"/>
              <a:t>Prediktivni </a:t>
            </a:r>
            <a:r>
              <a:rPr lang="en-US" sz="3800" b="1" dirty="0" err="1"/>
              <a:t>pristup</a:t>
            </a:r>
            <a:r>
              <a:rPr lang="en-US" sz="3800" b="1" dirty="0"/>
              <a:t> (Waterfall)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AA780CC-102D-EF4A-9BBD-441BD67BE2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8874" y="1494131"/>
            <a:ext cx="11692618" cy="52322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2600" b="1" dirty="0" err="1">
                <a:solidFill>
                  <a:srgbClr val="0ADBBC"/>
                </a:solidFill>
                <a:latin typeface="Bahnschrift SemiLight" panose="020B0502040204020203" pitchFamily="34" charset="0"/>
              </a:rPr>
              <a:t>Definicija</a:t>
            </a:r>
            <a:r>
              <a:rPr lang="en-US" altLang="en-US" sz="2600" b="1" dirty="0">
                <a:solidFill>
                  <a:srgbClr val="0ADBBC"/>
                </a:solidFill>
                <a:latin typeface="Bahnschrift SemiLight" panose="020B0502040204020203" pitchFamily="34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2400" dirty="0" err="1">
                <a:latin typeface="Bahnschrift SemiLight" panose="020B0502040204020203" pitchFamily="34" charset="0"/>
              </a:rPr>
              <a:t>Strukturirana</a:t>
            </a:r>
            <a:r>
              <a:rPr lang="en-US" altLang="en-US" sz="2400" dirty="0">
                <a:latin typeface="Bahnschrift SemiLight" panose="020B0502040204020203" pitchFamily="34" charset="0"/>
              </a:rPr>
              <a:t> i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linearna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metodologija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upravljanja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projektima</a:t>
            </a:r>
            <a:r>
              <a:rPr lang="en-US" altLang="en-US" sz="2400" dirty="0">
                <a:latin typeface="Bahnschrift SemiLight" panose="020B0502040204020203" pitchFamily="34" charset="0"/>
              </a:rPr>
              <a:t> u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kojoj</a:t>
            </a:r>
            <a:r>
              <a:rPr lang="en-US" altLang="en-US" sz="2400" dirty="0">
                <a:latin typeface="Bahnschrift SemiLight" panose="020B0502040204020203" pitchFamily="34" charset="0"/>
              </a:rPr>
              <a:t> se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cijeli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projekt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planira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unaprijed</a:t>
            </a:r>
            <a:r>
              <a:rPr lang="en-US" altLang="en-US" sz="2400" dirty="0">
                <a:latin typeface="Bahnschrift SemiLight" panose="020B0502040204020203" pitchFamily="34" charset="0"/>
              </a:rPr>
              <a:t>, a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opseg</a:t>
            </a:r>
            <a:r>
              <a:rPr lang="en-US" altLang="en-US" sz="2400" dirty="0">
                <a:latin typeface="Bahnschrift SemiLight" panose="020B0502040204020203" pitchFamily="34" charset="0"/>
              </a:rPr>
              <a:t>,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trošak</a:t>
            </a:r>
            <a:r>
              <a:rPr lang="en-US" altLang="en-US" sz="2400" dirty="0">
                <a:latin typeface="Bahnschrift SemiLight" panose="020B0502040204020203" pitchFamily="34" charset="0"/>
              </a:rPr>
              <a:t> i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raspored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jasno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su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definirani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na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početku</a:t>
            </a:r>
            <a:r>
              <a:rPr lang="en-US" altLang="en-US" sz="2400" dirty="0">
                <a:latin typeface="Bahnschrift SemiLight" panose="020B0502040204020203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sz="2600" b="1" dirty="0">
              <a:solidFill>
                <a:srgbClr val="0ADBBC"/>
              </a:solidFill>
              <a:latin typeface="Bahnschrift SemiLight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2600" b="1" dirty="0">
                <a:solidFill>
                  <a:srgbClr val="0ADBBC"/>
                </a:solidFill>
                <a:latin typeface="Bahnschrift SemiLight" panose="020B0502040204020203" pitchFamily="34" charset="0"/>
              </a:rPr>
              <a:t>Ključne </a:t>
            </a:r>
            <a:r>
              <a:rPr lang="en-US" altLang="en-US" sz="2600" b="1" dirty="0" err="1">
                <a:solidFill>
                  <a:srgbClr val="0ADBBC"/>
                </a:solidFill>
                <a:latin typeface="Bahnschrift SemiLight" panose="020B0502040204020203" pitchFamily="34" charset="0"/>
              </a:rPr>
              <a:t>značajke</a:t>
            </a:r>
            <a:r>
              <a:rPr lang="en-US" altLang="en-US" sz="2600" b="1" dirty="0">
                <a:solidFill>
                  <a:srgbClr val="0ADBBC"/>
                </a:solidFill>
                <a:latin typeface="Bahnschrift SemiLight" panose="020B0502040204020203" pitchFamily="34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hr-HR" altLang="en-US" sz="2400" dirty="0">
                <a:latin typeface="Bahnschrift SemiLight" panose="020B0502040204020203" pitchFamily="34" charset="0"/>
              </a:rPr>
              <a:t>-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Slijedi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sekvencijalni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proces</a:t>
            </a:r>
            <a:r>
              <a:rPr lang="en-US" altLang="en-US" sz="2400" dirty="0">
                <a:latin typeface="Bahnschrift SemiLight" panose="020B0502040204020203" pitchFamily="34" charset="0"/>
              </a:rPr>
              <a:t> (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npr</a:t>
            </a:r>
            <a:r>
              <a:rPr lang="en-US" altLang="en-US" sz="2400" dirty="0">
                <a:latin typeface="Bahnschrift SemiLight" panose="020B0502040204020203" pitchFamily="34" charset="0"/>
              </a:rPr>
              <a:t>.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pokretanje</a:t>
            </a:r>
            <a:r>
              <a:rPr lang="en-US" altLang="en-US" sz="2400" dirty="0">
                <a:latin typeface="Bahnschrift SemiLight" panose="020B0502040204020203" pitchFamily="34" charset="0"/>
              </a:rPr>
              <a:t> →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planiranje</a:t>
            </a:r>
            <a:r>
              <a:rPr lang="en-US" altLang="en-US" sz="2400" dirty="0">
                <a:latin typeface="Bahnschrift SemiLight" panose="020B0502040204020203" pitchFamily="34" charset="0"/>
              </a:rPr>
              <a:t> →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provedba</a:t>
            </a:r>
            <a:r>
              <a:rPr lang="en-US" altLang="en-US" sz="2400" dirty="0">
                <a:latin typeface="Bahnschrift SemiLight" panose="020B0502040204020203" pitchFamily="34" charset="0"/>
              </a:rPr>
              <a:t> →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praćenje</a:t>
            </a:r>
            <a:r>
              <a:rPr lang="en-US" altLang="en-US" sz="2400" dirty="0">
                <a:latin typeface="Bahnschrift SemiLight" panose="020B0502040204020203" pitchFamily="34" charset="0"/>
              </a:rPr>
              <a:t> →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zatvaranje</a:t>
            </a:r>
            <a:r>
              <a:rPr lang="en-US" altLang="en-US" sz="2400" dirty="0">
                <a:latin typeface="Bahnschrift SemiLight" panose="020B0502040204020203" pitchFamily="34" charset="0"/>
              </a:rPr>
              <a:t>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hr-HR" altLang="en-US" sz="2400" dirty="0">
                <a:latin typeface="Bahnschrift SemiLight" panose="020B0502040204020203" pitchFamily="34" charset="0"/>
              </a:rPr>
              <a:t>- </a:t>
            </a:r>
            <a:r>
              <a:rPr lang="en-US" altLang="en-US" sz="2400" dirty="0">
                <a:latin typeface="Bahnschrift SemiLight" panose="020B0502040204020203" pitchFamily="34" charset="0"/>
              </a:rPr>
              <a:t>Prikladna za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projekte</a:t>
            </a:r>
            <a:r>
              <a:rPr lang="en-US" altLang="en-US" sz="2400" dirty="0">
                <a:latin typeface="Bahnschrift SemiLight" panose="020B0502040204020203" pitchFamily="34" charset="0"/>
              </a:rPr>
              <a:t> s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jasno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definiranim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zahtjevima</a:t>
            </a:r>
            <a:r>
              <a:rPr lang="en-US" altLang="en-US" sz="2400" dirty="0">
                <a:latin typeface="Bahnschrift SemiLight" panose="020B0502040204020203" pitchFamily="34" charset="0"/>
              </a:rPr>
              <a:t> i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minimalnim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očekivanim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promjenama</a:t>
            </a:r>
            <a:r>
              <a:rPr lang="en-US" altLang="en-US" sz="2400" dirty="0">
                <a:latin typeface="Bahnschrift SemiLight" panose="020B0502040204020203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hr-HR" altLang="en-US" sz="2400" dirty="0">
                <a:latin typeface="Bahnschrift SemiLight" panose="020B0502040204020203" pitchFamily="34" charset="0"/>
              </a:rPr>
              <a:t>-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Naglašava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dokumentaciju</a:t>
            </a:r>
            <a:r>
              <a:rPr lang="en-US" altLang="en-US" sz="2400" dirty="0">
                <a:latin typeface="Bahnschrift SemiLight" panose="020B0502040204020203" pitchFamily="34" charset="0"/>
              </a:rPr>
              <a:t> i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kontrolu</a:t>
            </a:r>
            <a:r>
              <a:rPr lang="en-US" altLang="en-US" sz="2400" dirty="0">
                <a:latin typeface="Bahnschrift SemiLight" panose="020B0502040204020203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sz="2600" b="1" dirty="0">
              <a:solidFill>
                <a:srgbClr val="0ADBBC"/>
              </a:solidFill>
              <a:latin typeface="Bahnschrift SemiLight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2600" b="1" dirty="0" err="1">
                <a:solidFill>
                  <a:srgbClr val="0ADBBC"/>
                </a:solidFill>
                <a:latin typeface="Bahnschrift SemiLight" panose="020B0502040204020203" pitchFamily="34" charset="0"/>
              </a:rPr>
              <a:t>Najprikladnije</a:t>
            </a:r>
            <a:r>
              <a:rPr lang="en-US" altLang="en-US" sz="2600" b="1" dirty="0">
                <a:solidFill>
                  <a:srgbClr val="0ADBBC"/>
                </a:solidFill>
                <a:latin typeface="Bahnschrift SemiLight" panose="020B0502040204020203" pitchFamily="34" charset="0"/>
              </a:rPr>
              <a:t> za: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2400" dirty="0">
                <a:latin typeface="Bahnschrift SemiLight" panose="020B0502040204020203" pitchFamily="34" charset="0"/>
              </a:rPr>
              <a:t>Projekte u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stabilnim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okruženjima</a:t>
            </a:r>
            <a:r>
              <a:rPr lang="en-US" altLang="en-US" sz="2400" dirty="0">
                <a:latin typeface="Bahnschrift SemiLight" panose="020B0502040204020203" pitchFamily="34" charset="0"/>
              </a:rPr>
              <a:t>,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poput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građevinarstva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ili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proizvodnje</a:t>
            </a:r>
            <a:r>
              <a:rPr lang="en-US" altLang="en-US" sz="2400" dirty="0">
                <a:latin typeface="Bahnschrift SemiLight" panose="020B0502040204020203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1960936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9106B3-FD80-99EF-DE8E-40684A835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800" b="1" dirty="0"/>
              <a:t>Prediktivni </a:t>
            </a:r>
            <a:r>
              <a:rPr lang="en-US" sz="3800" b="1" dirty="0" err="1"/>
              <a:t>pristup</a:t>
            </a:r>
            <a:r>
              <a:rPr lang="en-US" sz="3800" b="1" dirty="0"/>
              <a:t> _ </a:t>
            </a:r>
            <a:r>
              <a:rPr lang="hr-HR" sz="3800" b="1" dirty="0"/>
              <a:t>rasprava</a:t>
            </a:r>
            <a:endParaRPr lang="en-US" sz="38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56E906-F905-94FA-26DD-515EA1EA11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51510"/>
            <a:ext cx="10515600" cy="4351338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US" b="1" dirty="0">
                <a:solidFill>
                  <a:srgbClr val="0ADBBC"/>
                </a:solidFill>
              </a:rPr>
              <a:t>Projekt: </a:t>
            </a:r>
            <a:r>
              <a:rPr lang="en-US" b="1" dirty="0" err="1">
                <a:solidFill>
                  <a:srgbClr val="0ADBBC"/>
                </a:solidFill>
              </a:rPr>
              <a:t>Izgradnja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b="1" dirty="0" err="1">
                <a:solidFill>
                  <a:srgbClr val="0ADBBC"/>
                </a:solidFill>
              </a:rPr>
              <a:t>nove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b="1" dirty="0" err="1">
                <a:solidFill>
                  <a:srgbClr val="0ADBBC"/>
                </a:solidFill>
              </a:rPr>
              <a:t>poslovne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b="1" dirty="0" err="1">
                <a:solidFill>
                  <a:srgbClr val="0ADBBC"/>
                </a:solidFill>
              </a:rPr>
              <a:t>zgrade</a:t>
            </a:r>
            <a:r>
              <a:rPr lang="en-US" b="1" dirty="0">
                <a:solidFill>
                  <a:srgbClr val="0ADBBC"/>
                </a:solidFill>
              </a:rPr>
              <a:t>    </a:t>
            </a:r>
          </a:p>
          <a:p>
            <a:pPr>
              <a:buNone/>
            </a:pPr>
            <a:endParaRPr lang="en-US" b="1" dirty="0"/>
          </a:p>
          <a:p>
            <a:r>
              <a:rPr lang="en-US" dirty="0" err="1"/>
              <a:t>Građevinska</a:t>
            </a:r>
            <a:r>
              <a:rPr lang="en-US" dirty="0"/>
              <a:t> </a:t>
            </a:r>
            <a:r>
              <a:rPr lang="en-US" dirty="0" err="1"/>
              <a:t>tvrtka</a:t>
            </a:r>
            <a:r>
              <a:rPr lang="en-US" dirty="0"/>
              <a:t> </a:t>
            </a:r>
            <a:r>
              <a:rPr lang="en-US" dirty="0" err="1"/>
              <a:t>angažirana</a:t>
            </a:r>
            <a:r>
              <a:rPr lang="en-US" dirty="0"/>
              <a:t> je za </a:t>
            </a:r>
            <a:r>
              <a:rPr lang="en-US" dirty="0" err="1"/>
              <a:t>izgradnju</a:t>
            </a:r>
            <a:r>
              <a:rPr lang="en-US" dirty="0"/>
              <a:t> </a:t>
            </a:r>
            <a:r>
              <a:rPr lang="en-US" dirty="0" err="1"/>
              <a:t>nove</a:t>
            </a:r>
            <a:r>
              <a:rPr lang="en-US" dirty="0"/>
              <a:t> </a:t>
            </a:r>
            <a:r>
              <a:rPr lang="en-US" dirty="0" err="1"/>
              <a:t>poslovne</a:t>
            </a:r>
            <a:r>
              <a:rPr lang="en-US" dirty="0"/>
              <a:t> </a:t>
            </a:r>
            <a:r>
              <a:rPr lang="en-US" dirty="0" err="1"/>
              <a:t>zgrade</a:t>
            </a:r>
            <a:r>
              <a:rPr lang="en-US" dirty="0"/>
              <a:t> za </a:t>
            </a:r>
            <a:r>
              <a:rPr lang="en-US" dirty="0" err="1"/>
              <a:t>klijenta</a:t>
            </a:r>
            <a:r>
              <a:rPr lang="en-US" dirty="0"/>
              <a:t>. S </a:t>
            </a:r>
            <a:r>
              <a:rPr lang="en-US" dirty="0" err="1"/>
              <a:t>obzirom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složenost</a:t>
            </a:r>
            <a:r>
              <a:rPr lang="en-US" dirty="0"/>
              <a:t>, </a:t>
            </a:r>
            <a:r>
              <a:rPr lang="en-US" dirty="0" err="1"/>
              <a:t>ograničenja</a:t>
            </a:r>
            <a:r>
              <a:rPr lang="en-US" dirty="0"/>
              <a:t> </a:t>
            </a:r>
            <a:r>
              <a:rPr lang="en-US" dirty="0" err="1"/>
              <a:t>budžeta</a:t>
            </a:r>
            <a:r>
              <a:rPr lang="en-US" dirty="0"/>
              <a:t> i </a:t>
            </a:r>
            <a:r>
              <a:rPr lang="en-US" dirty="0" err="1"/>
              <a:t>stroge</a:t>
            </a:r>
            <a:r>
              <a:rPr lang="en-US" dirty="0"/>
              <a:t> </a:t>
            </a:r>
            <a:r>
              <a:rPr lang="en-US" dirty="0" err="1"/>
              <a:t>regulatorne</a:t>
            </a:r>
            <a:r>
              <a:rPr lang="en-US" dirty="0"/>
              <a:t> </a:t>
            </a:r>
            <a:r>
              <a:rPr lang="en-US" dirty="0" err="1"/>
              <a:t>zahtjeve</a:t>
            </a:r>
            <a:r>
              <a:rPr lang="en-US" dirty="0"/>
              <a:t>, </a:t>
            </a:r>
            <a:r>
              <a:rPr lang="en-US" dirty="0" err="1"/>
              <a:t>tvrtka</a:t>
            </a:r>
            <a:r>
              <a:rPr lang="en-US" dirty="0"/>
              <a:t> </a:t>
            </a:r>
            <a:r>
              <a:rPr lang="en-US" dirty="0" err="1"/>
              <a:t>primjenjuje</a:t>
            </a:r>
            <a:r>
              <a:rPr lang="en-US" dirty="0"/>
              <a:t> </a:t>
            </a:r>
            <a:r>
              <a:rPr lang="en-US" b="1" dirty="0" err="1"/>
              <a:t>prediktivni</a:t>
            </a:r>
            <a:r>
              <a:rPr lang="en-US" b="1" dirty="0"/>
              <a:t> (Waterfall) </a:t>
            </a:r>
            <a:r>
              <a:rPr lang="en-US" b="1" dirty="0" err="1"/>
              <a:t>pristup</a:t>
            </a:r>
            <a:r>
              <a:rPr lang="en-US" b="1" dirty="0"/>
              <a:t> </a:t>
            </a:r>
            <a:r>
              <a:rPr lang="en-US" b="1" dirty="0" err="1"/>
              <a:t>upravljanju</a:t>
            </a:r>
            <a:r>
              <a:rPr lang="en-US" b="1" dirty="0"/>
              <a:t> </a:t>
            </a:r>
            <a:r>
              <a:rPr lang="en-US" b="1" dirty="0" err="1"/>
              <a:t>projektom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Rasprava</a:t>
            </a:r>
            <a:r>
              <a:rPr lang="en-US" dirty="0"/>
              <a:t>: </a:t>
            </a:r>
            <a:r>
              <a:rPr lang="en-US" dirty="0" err="1"/>
              <a:t>koje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ključne</a:t>
            </a:r>
            <a:r>
              <a:rPr lang="en-US" dirty="0"/>
              <a:t> </a:t>
            </a:r>
            <a:r>
              <a:rPr lang="en-US" dirty="0" err="1"/>
              <a:t>karakteristike</a:t>
            </a:r>
            <a:r>
              <a:rPr lang="en-US" dirty="0"/>
              <a:t> </a:t>
            </a:r>
            <a:r>
              <a:rPr lang="en-US" dirty="0" err="1"/>
              <a:t>prediktivnog</a:t>
            </a:r>
            <a:r>
              <a:rPr lang="en-US" dirty="0"/>
              <a:t> </a:t>
            </a:r>
            <a:r>
              <a:rPr lang="en-US" dirty="0" err="1"/>
              <a:t>pristupa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83856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F9B605-4848-DF91-D477-2D03F5201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93EC586B-FFA1-B9BC-6F7D-D2A0C599C4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800" b="1" dirty="0"/>
              <a:t>Adaptivni </a:t>
            </a:r>
            <a:r>
              <a:rPr lang="en-US" sz="3800" b="1" dirty="0" err="1"/>
              <a:t>pristup</a:t>
            </a:r>
            <a:r>
              <a:rPr lang="en-US" sz="3800" b="1" dirty="0"/>
              <a:t> (Agile)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8AC1749-AC45-5D36-A6D2-2C5AD8F9F9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8694" y="1536799"/>
            <a:ext cx="10854611" cy="52014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2600" b="1" dirty="0" err="1">
                <a:solidFill>
                  <a:srgbClr val="0ADBBC"/>
                </a:solidFill>
                <a:latin typeface="Bahnschrift SemiLight" panose="020B0502040204020203" pitchFamily="34" charset="0"/>
              </a:rPr>
              <a:t>Definicija</a:t>
            </a:r>
            <a:r>
              <a:rPr lang="en-US" altLang="en-US" sz="2600" b="1" dirty="0">
                <a:solidFill>
                  <a:srgbClr val="0ADBBC"/>
                </a:solidFill>
                <a:latin typeface="Bahnschrift SemiLight" panose="020B0502040204020203" pitchFamily="34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2400" dirty="0" err="1">
                <a:latin typeface="Bahnschrift SemiLight" panose="020B0502040204020203" pitchFamily="34" charset="0"/>
              </a:rPr>
              <a:t>Fleksibilna</a:t>
            </a:r>
            <a:r>
              <a:rPr lang="en-US" altLang="en-US" sz="2400" dirty="0">
                <a:latin typeface="Bahnschrift SemiLight" panose="020B0502040204020203" pitchFamily="34" charset="0"/>
              </a:rPr>
              <a:t> i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iterativna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metodologija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koja</a:t>
            </a:r>
            <a:r>
              <a:rPr lang="en-US" altLang="en-US" sz="2400" dirty="0">
                <a:latin typeface="Bahnschrift SemiLight" panose="020B0502040204020203" pitchFamily="34" charset="0"/>
              </a:rPr>
              <a:t> se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fokusira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na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kontinuirano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unapređenje</a:t>
            </a:r>
            <a:r>
              <a:rPr lang="en-US" altLang="en-US" sz="2400" dirty="0">
                <a:latin typeface="Bahnschrift SemiLight" panose="020B0502040204020203" pitchFamily="34" charset="0"/>
              </a:rPr>
              <a:t>,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suradnju</a:t>
            </a:r>
            <a:r>
              <a:rPr lang="en-US" altLang="en-US" sz="2400" dirty="0">
                <a:latin typeface="Bahnschrift SemiLight" panose="020B0502040204020203" pitchFamily="34" charset="0"/>
              </a:rPr>
              <a:t> i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prilagodbu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promjenjivim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zahtjevima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tijekom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životnog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ciklusa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projekta</a:t>
            </a:r>
            <a:r>
              <a:rPr lang="en-US" altLang="en-US" sz="2400" dirty="0">
                <a:latin typeface="Bahnschrift SemiLight" panose="020B0502040204020203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sz="2600" b="1" dirty="0">
              <a:solidFill>
                <a:srgbClr val="0ADBBC"/>
              </a:solidFill>
              <a:latin typeface="Bahnschrift SemiLight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2600" b="1" dirty="0">
                <a:solidFill>
                  <a:srgbClr val="0ADBBC"/>
                </a:solidFill>
                <a:latin typeface="Bahnschrift SemiLight" panose="020B0502040204020203" pitchFamily="34" charset="0"/>
              </a:rPr>
              <a:t>Ključne </a:t>
            </a:r>
            <a:r>
              <a:rPr lang="en-US" altLang="en-US" sz="2600" b="1" dirty="0" err="1">
                <a:solidFill>
                  <a:srgbClr val="0ADBBC"/>
                </a:solidFill>
                <a:latin typeface="Bahnschrift SemiLight" panose="020B0502040204020203" pitchFamily="34" charset="0"/>
              </a:rPr>
              <a:t>značajke</a:t>
            </a:r>
            <a:r>
              <a:rPr lang="en-US" altLang="en-US" sz="2600" b="1" dirty="0">
                <a:solidFill>
                  <a:srgbClr val="0ADBBC"/>
                </a:solidFill>
                <a:latin typeface="Bahnschrift SemiLight" panose="020B0502040204020203" pitchFamily="34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hr-HR" altLang="en-US" sz="2400" dirty="0">
                <a:latin typeface="Bahnschrift SemiLight" panose="020B0502040204020203" pitchFamily="34" charset="0"/>
              </a:rPr>
              <a:t>-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Dijeli</a:t>
            </a:r>
            <a:r>
              <a:rPr lang="en-US" altLang="en-US" sz="2400" dirty="0">
                <a:latin typeface="Bahnschrift SemiLight" panose="020B0502040204020203" pitchFamily="34" charset="0"/>
              </a:rPr>
              <a:t> rad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na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manje</a:t>
            </a:r>
            <a:r>
              <a:rPr lang="en-US" altLang="en-US" sz="2400" dirty="0">
                <a:latin typeface="Bahnschrift SemiLight" panose="020B0502040204020203" pitchFamily="34" charset="0"/>
              </a:rPr>
              <a:t>,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upravljive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cjeline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ili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sprintove</a:t>
            </a:r>
            <a:r>
              <a:rPr lang="en-US" altLang="en-US" sz="2400" dirty="0">
                <a:latin typeface="Bahnschrift SemiLight" panose="020B0502040204020203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hr-HR" altLang="en-US" sz="2400" dirty="0">
                <a:latin typeface="Bahnschrift SemiLight" panose="020B0502040204020203" pitchFamily="34" charset="0"/>
              </a:rPr>
              <a:t>-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Naglašava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suradnju</a:t>
            </a:r>
            <a:r>
              <a:rPr lang="en-US" altLang="en-US" sz="2400" dirty="0">
                <a:latin typeface="Bahnschrift SemiLight" panose="020B0502040204020203" pitchFamily="34" charset="0"/>
              </a:rPr>
              <a:t>,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čestu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povratnu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informaciju</a:t>
            </a:r>
            <a:r>
              <a:rPr lang="en-US" altLang="en-US" sz="2400" dirty="0">
                <a:latin typeface="Bahnschrift SemiLight" panose="020B0502040204020203" pitchFamily="34" charset="0"/>
              </a:rPr>
              <a:t> i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uključivanje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korisnika</a:t>
            </a:r>
            <a:r>
              <a:rPr lang="en-US" altLang="en-US" sz="2400" dirty="0">
                <a:latin typeface="Bahnschrift SemiLight" panose="020B0502040204020203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hr-HR" altLang="en-US" sz="2400" dirty="0">
                <a:latin typeface="Bahnschrift SemiLight" panose="020B0502040204020203" pitchFamily="34" charset="0"/>
              </a:rPr>
              <a:t>- </a:t>
            </a:r>
            <a:r>
              <a:rPr lang="en-US" altLang="en-US" sz="2400" dirty="0">
                <a:latin typeface="Bahnschrift SemiLight" panose="020B0502040204020203" pitchFamily="34" charset="0"/>
              </a:rPr>
              <a:t>Lako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prihvaća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promjene</a:t>
            </a:r>
            <a:r>
              <a:rPr lang="en-US" altLang="en-US" sz="2400" dirty="0">
                <a:latin typeface="Bahnschrift SemiLight" panose="020B0502040204020203" pitchFamily="34" charset="0"/>
              </a:rPr>
              <a:t> i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potiče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brzu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isporuku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vrijednosti</a:t>
            </a:r>
            <a:r>
              <a:rPr lang="en-US" altLang="en-US" sz="2400" dirty="0">
                <a:latin typeface="Bahnschrift SemiLight" panose="020B0502040204020203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sz="2600" b="1" dirty="0">
              <a:solidFill>
                <a:srgbClr val="0ADBBC"/>
              </a:solidFill>
              <a:latin typeface="Bahnschrift SemiLight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2600" b="1" dirty="0" err="1">
                <a:solidFill>
                  <a:srgbClr val="0ADBBC"/>
                </a:solidFill>
                <a:latin typeface="Bahnschrift SemiLight" panose="020B0502040204020203" pitchFamily="34" charset="0"/>
              </a:rPr>
              <a:t>Najprikladnije</a:t>
            </a:r>
            <a:r>
              <a:rPr lang="en-US" altLang="en-US" sz="2600" b="1" dirty="0">
                <a:solidFill>
                  <a:srgbClr val="0ADBBC"/>
                </a:solidFill>
                <a:latin typeface="Bahnschrift SemiLight" panose="020B0502040204020203" pitchFamily="34" charset="0"/>
              </a:rPr>
              <a:t> za: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2400" dirty="0" err="1">
                <a:latin typeface="Bahnschrift SemiLight" panose="020B0502040204020203" pitchFamily="34" charset="0"/>
              </a:rPr>
              <a:t>Dinamične</a:t>
            </a:r>
            <a:r>
              <a:rPr lang="en-US" altLang="en-US" sz="2400" dirty="0">
                <a:latin typeface="Bahnschrift SemiLight" panose="020B0502040204020203" pitchFamily="34" charset="0"/>
              </a:rPr>
              <a:t> i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složene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projekte</a:t>
            </a:r>
            <a:r>
              <a:rPr lang="en-US" altLang="en-US" sz="2400" dirty="0">
                <a:latin typeface="Bahnschrift SemiLight" panose="020B0502040204020203" pitchFamily="34" charset="0"/>
              </a:rPr>
              <a:t>,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poput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razvoja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softvera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ili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inicijativa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vođenih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inovacijama</a:t>
            </a:r>
            <a:r>
              <a:rPr lang="en-US" altLang="en-US" sz="2400" dirty="0">
                <a:latin typeface="Bahnschrift SemiLight" panose="020B0502040204020203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7100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AFBCB-7724-2F25-83F1-CA9A1A212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7B8306-1926-86FA-8812-A8CC10A915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800" b="1" dirty="0"/>
              <a:t>Adaptivni </a:t>
            </a:r>
            <a:r>
              <a:rPr lang="en-US" sz="3800" b="1" dirty="0" err="1"/>
              <a:t>pristup</a:t>
            </a:r>
            <a:r>
              <a:rPr lang="en-US" sz="3800" b="1" dirty="0"/>
              <a:t> _ </a:t>
            </a:r>
            <a:r>
              <a:rPr lang="hr-HR" sz="3800" b="1" dirty="0"/>
              <a:t>rasprava</a:t>
            </a:r>
            <a:endParaRPr lang="en-US" sz="38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200FD4-7651-3F94-20B3-FCE4B21913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731" y="1925833"/>
            <a:ext cx="10515600" cy="4351338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pl-PL" b="1" dirty="0">
                <a:solidFill>
                  <a:srgbClr val="0ADBBC"/>
                </a:solidFill>
              </a:rPr>
              <a:t>Projekt: Razvoj mobilne bankarske aplikacije</a:t>
            </a:r>
          </a:p>
          <a:p>
            <a:pPr>
              <a:buNone/>
            </a:pPr>
            <a:endParaRPr lang="en-US" b="1" dirty="0"/>
          </a:p>
          <a:p>
            <a:r>
              <a:rPr lang="en-US" dirty="0" err="1"/>
              <a:t>Financijsko-tehnološka</a:t>
            </a:r>
            <a:r>
              <a:rPr lang="en-US" dirty="0"/>
              <a:t> </a:t>
            </a:r>
            <a:r>
              <a:rPr lang="en-US" dirty="0" err="1"/>
              <a:t>tvrtka</a:t>
            </a:r>
            <a:r>
              <a:rPr lang="en-US" dirty="0"/>
              <a:t> </a:t>
            </a:r>
            <a:r>
              <a:rPr lang="en-US" dirty="0" err="1"/>
              <a:t>razvija</a:t>
            </a:r>
            <a:r>
              <a:rPr lang="en-US" dirty="0"/>
              <a:t> </a:t>
            </a:r>
            <a:r>
              <a:rPr lang="en-US" dirty="0" err="1"/>
              <a:t>novu</a:t>
            </a:r>
            <a:r>
              <a:rPr lang="en-US" dirty="0"/>
              <a:t> </a:t>
            </a:r>
            <a:r>
              <a:rPr lang="en-US" dirty="0" err="1"/>
              <a:t>mobilnu</a:t>
            </a:r>
            <a:r>
              <a:rPr lang="en-US" dirty="0"/>
              <a:t> </a:t>
            </a:r>
            <a:r>
              <a:rPr lang="en-US" dirty="0" err="1"/>
              <a:t>bankarsku</a:t>
            </a:r>
            <a:r>
              <a:rPr lang="en-US" dirty="0"/>
              <a:t> </a:t>
            </a:r>
            <a:r>
              <a:rPr lang="en-US" dirty="0" err="1"/>
              <a:t>aplikaciju</a:t>
            </a:r>
            <a:r>
              <a:rPr lang="en-US" dirty="0"/>
              <a:t>. S </a:t>
            </a:r>
            <a:r>
              <a:rPr lang="en-US" dirty="0" err="1"/>
              <a:t>obzirom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promjenjive</a:t>
            </a:r>
            <a:r>
              <a:rPr lang="en-US" dirty="0"/>
              <a:t> </a:t>
            </a:r>
            <a:r>
              <a:rPr lang="en-US" dirty="0" err="1"/>
              <a:t>potrebe</a:t>
            </a:r>
            <a:r>
              <a:rPr lang="en-US" dirty="0"/>
              <a:t> </a:t>
            </a:r>
            <a:r>
              <a:rPr lang="en-US" dirty="0" err="1"/>
              <a:t>korisnika</a:t>
            </a:r>
            <a:r>
              <a:rPr lang="en-US" dirty="0"/>
              <a:t>, </a:t>
            </a:r>
            <a:r>
              <a:rPr lang="en-US" dirty="0" err="1"/>
              <a:t>regulatorne</a:t>
            </a:r>
            <a:r>
              <a:rPr lang="en-US" dirty="0"/>
              <a:t> </a:t>
            </a:r>
            <a:r>
              <a:rPr lang="en-US" dirty="0" err="1"/>
              <a:t>izmjene</a:t>
            </a:r>
            <a:r>
              <a:rPr lang="en-US" dirty="0"/>
              <a:t> i </a:t>
            </a:r>
            <a:r>
              <a:rPr lang="en-US" dirty="0" err="1"/>
              <a:t>tehnološki</a:t>
            </a:r>
            <a:r>
              <a:rPr lang="en-US" dirty="0"/>
              <a:t> </a:t>
            </a:r>
            <a:r>
              <a:rPr lang="en-US" dirty="0" err="1"/>
              <a:t>napredak</a:t>
            </a:r>
            <a:r>
              <a:rPr lang="en-US" dirty="0"/>
              <a:t>, </a:t>
            </a:r>
            <a:r>
              <a:rPr lang="en-US" dirty="0" err="1"/>
              <a:t>tim</a:t>
            </a:r>
            <a:r>
              <a:rPr lang="en-US" dirty="0"/>
              <a:t> </a:t>
            </a:r>
            <a:r>
              <a:rPr lang="en-US" dirty="0" err="1"/>
              <a:t>primjenjuje</a:t>
            </a:r>
            <a:r>
              <a:rPr lang="en-US" dirty="0"/>
              <a:t> </a:t>
            </a:r>
            <a:r>
              <a:rPr lang="en-US" b="1" dirty="0" err="1"/>
              <a:t>adaptivni</a:t>
            </a:r>
            <a:r>
              <a:rPr lang="en-US" b="1" dirty="0"/>
              <a:t> (Agile) </a:t>
            </a:r>
            <a:r>
              <a:rPr lang="en-US" b="1" dirty="0" err="1"/>
              <a:t>pristup</a:t>
            </a:r>
            <a:r>
              <a:rPr lang="en-US" b="1" dirty="0"/>
              <a:t> </a:t>
            </a:r>
            <a:r>
              <a:rPr lang="en-US" b="1" dirty="0" err="1"/>
              <a:t>upravljanju</a:t>
            </a:r>
            <a:r>
              <a:rPr lang="en-US" b="1" dirty="0"/>
              <a:t> </a:t>
            </a:r>
            <a:r>
              <a:rPr lang="en-US" b="1" dirty="0" err="1"/>
              <a:t>projektom</a:t>
            </a:r>
            <a:r>
              <a:rPr lang="en-US" b="1" dirty="0"/>
              <a:t> </a:t>
            </a:r>
            <a:r>
              <a:rPr lang="en-US" dirty="0" err="1"/>
              <a:t>kako</a:t>
            </a:r>
            <a:r>
              <a:rPr lang="en-US" dirty="0"/>
              <a:t> bi </a:t>
            </a:r>
            <a:r>
              <a:rPr lang="en-US" dirty="0" err="1"/>
              <a:t>osigurao</a:t>
            </a:r>
            <a:r>
              <a:rPr lang="en-US" dirty="0"/>
              <a:t> </a:t>
            </a:r>
            <a:r>
              <a:rPr lang="en-US" dirty="0" err="1"/>
              <a:t>fleksibilnost</a:t>
            </a:r>
            <a:r>
              <a:rPr lang="en-US" dirty="0"/>
              <a:t> i </a:t>
            </a:r>
            <a:r>
              <a:rPr lang="en-US" dirty="0" err="1"/>
              <a:t>kontinuirano</a:t>
            </a:r>
            <a:r>
              <a:rPr lang="en-US" dirty="0"/>
              <a:t> </a:t>
            </a:r>
            <a:r>
              <a:rPr lang="en-US" dirty="0" err="1"/>
              <a:t>unapređenje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Rasprava</a:t>
            </a:r>
            <a:r>
              <a:rPr lang="en-US" dirty="0"/>
              <a:t>: </a:t>
            </a:r>
            <a:r>
              <a:rPr lang="en-US" dirty="0" err="1"/>
              <a:t>koje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ključne</a:t>
            </a:r>
            <a:r>
              <a:rPr lang="en-US" dirty="0"/>
              <a:t> </a:t>
            </a:r>
            <a:r>
              <a:rPr lang="en-US" dirty="0" err="1"/>
              <a:t>karakteristike</a:t>
            </a:r>
            <a:r>
              <a:rPr lang="en-US" dirty="0"/>
              <a:t> </a:t>
            </a:r>
            <a:r>
              <a:rPr lang="en-US" dirty="0" err="1"/>
              <a:t>adaptivnog</a:t>
            </a:r>
            <a:r>
              <a:rPr lang="en-US" dirty="0"/>
              <a:t> </a:t>
            </a:r>
            <a:r>
              <a:rPr lang="en-US" dirty="0" err="1"/>
              <a:t>pristupa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60792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D22415-4146-CC95-009F-1DB711F22F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9D2E2747-9E5C-0B3D-BD11-54657D8840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9915" y="365125"/>
            <a:ext cx="10515600" cy="1325563"/>
          </a:xfrm>
        </p:spPr>
        <p:txBody>
          <a:bodyPr>
            <a:normAutofit/>
          </a:bodyPr>
          <a:lstStyle/>
          <a:p>
            <a:pPr algn="l"/>
            <a:r>
              <a:rPr lang="en-US" sz="3800" b="1" dirty="0"/>
              <a:t>Hibridni </a:t>
            </a:r>
            <a:r>
              <a:rPr lang="en-US" sz="3800" b="1" dirty="0" err="1"/>
              <a:t>pristup</a:t>
            </a:r>
            <a:endParaRPr lang="en-US" sz="3800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5B48D51-5917-8CEC-1FFE-23CFE63DBD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2025" y="1366202"/>
            <a:ext cx="11271380" cy="56323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2600" b="1" dirty="0" err="1">
                <a:solidFill>
                  <a:srgbClr val="0ADBBC"/>
                </a:solidFill>
                <a:latin typeface="Bahnschrift SemiLight" panose="020B0502040204020203" pitchFamily="34" charset="0"/>
              </a:rPr>
              <a:t>Definicija</a:t>
            </a:r>
            <a:r>
              <a:rPr lang="en-US" altLang="en-US" sz="2600" b="1" dirty="0">
                <a:solidFill>
                  <a:srgbClr val="0ADBBC"/>
                </a:solidFill>
                <a:latin typeface="Bahnschrift SemiLight" panose="020B0502040204020203" pitchFamily="34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2400" dirty="0">
                <a:latin typeface="Bahnschrift SemiLight" panose="020B0502040204020203" pitchFamily="34" charset="0"/>
              </a:rPr>
              <a:t>Kombinacija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prediktivnog</a:t>
            </a:r>
            <a:r>
              <a:rPr lang="en-US" altLang="en-US" sz="2400" dirty="0">
                <a:latin typeface="Bahnschrift SemiLight" panose="020B0502040204020203" pitchFamily="34" charset="0"/>
              </a:rPr>
              <a:t> i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adaptivnog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pristupa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koja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koristi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prednosti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obje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metodologije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kako</a:t>
            </a:r>
            <a:r>
              <a:rPr lang="en-US" altLang="en-US" sz="2400" dirty="0">
                <a:latin typeface="Bahnschrift SemiLight" panose="020B0502040204020203" pitchFamily="34" charset="0"/>
              </a:rPr>
              <a:t> bi se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prilagodila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specifičnim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potrebama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projekta</a:t>
            </a:r>
            <a:r>
              <a:rPr lang="en-US" altLang="en-US" sz="2400" dirty="0">
                <a:latin typeface="Bahnschrift SemiLight" panose="020B0502040204020203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sz="2600" b="1" dirty="0">
              <a:solidFill>
                <a:srgbClr val="0ADBBC"/>
              </a:solidFill>
              <a:latin typeface="Bahnschrift SemiLight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2600" b="1" dirty="0">
                <a:solidFill>
                  <a:srgbClr val="0ADBBC"/>
                </a:solidFill>
                <a:latin typeface="Bahnschrift SemiLight" panose="020B0502040204020203" pitchFamily="34" charset="0"/>
              </a:rPr>
              <a:t>Ključne </a:t>
            </a:r>
            <a:r>
              <a:rPr lang="en-US" altLang="en-US" sz="2600" b="1" dirty="0" err="1">
                <a:solidFill>
                  <a:srgbClr val="0ADBBC"/>
                </a:solidFill>
                <a:latin typeface="Bahnschrift SemiLight" panose="020B0502040204020203" pitchFamily="34" charset="0"/>
              </a:rPr>
              <a:t>značajke</a:t>
            </a:r>
            <a:r>
              <a:rPr lang="en-US" altLang="en-US" sz="2600" b="1" dirty="0">
                <a:solidFill>
                  <a:srgbClr val="0ADBBC"/>
                </a:solidFill>
                <a:latin typeface="Bahnschrift SemiLight" panose="020B0502040204020203" pitchFamily="34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hr-HR" altLang="en-US" sz="2400" dirty="0">
                <a:latin typeface="Bahnschrift SemiLight" panose="020B0502040204020203" pitchFamily="34" charset="0"/>
              </a:rPr>
              <a:t>-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Koristi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strukturirani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prediktivni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pristup</a:t>
            </a:r>
            <a:r>
              <a:rPr lang="en-US" altLang="en-US" sz="2400" dirty="0">
                <a:latin typeface="Bahnschrift SemiLight" panose="020B0502040204020203" pitchFamily="34" charset="0"/>
              </a:rPr>
              <a:t> za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dijelove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projekta</a:t>
            </a:r>
            <a:r>
              <a:rPr lang="en-US" altLang="en-US" sz="2400" dirty="0">
                <a:latin typeface="Bahnschrift SemiLight" panose="020B0502040204020203" pitchFamily="34" charset="0"/>
              </a:rPr>
              <a:t> koji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su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jasno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definirani</a:t>
            </a:r>
            <a:r>
              <a:rPr lang="en-US" altLang="en-US" sz="2400" dirty="0">
                <a:latin typeface="Bahnschrift SemiLight" panose="020B0502040204020203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hr-HR" altLang="en-US" sz="2400" dirty="0">
                <a:latin typeface="Bahnschrift SemiLight" panose="020B0502040204020203" pitchFamily="34" charset="0"/>
              </a:rPr>
              <a:t>-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Primjenjuje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adaptivni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pristup</a:t>
            </a:r>
            <a:r>
              <a:rPr lang="en-US" altLang="en-US" sz="2400" dirty="0">
                <a:latin typeface="Bahnschrift SemiLight" panose="020B0502040204020203" pitchFamily="34" charset="0"/>
              </a:rPr>
              <a:t> za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dijelove</a:t>
            </a:r>
            <a:r>
              <a:rPr lang="en-US" altLang="en-US" sz="2400" dirty="0">
                <a:latin typeface="Bahnschrift SemiLight" panose="020B0502040204020203" pitchFamily="34" charset="0"/>
              </a:rPr>
              <a:t> koji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zahtijevaju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fleksibilnost</a:t>
            </a:r>
            <a:r>
              <a:rPr lang="en-US" altLang="en-US" sz="2400" dirty="0">
                <a:latin typeface="Bahnschrift SemiLight" panose="020B0502040204020203" pitchFamily="34" charset="0"/>
              </a:rPr>
              <a:t> i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iterativni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razvoj</a:t>
            </a:r>
            <a:r>
              <a:rPr lang="en-US" altLang="en-US" sz="2400" dirty="0">
                <a:latin typeface="Bahnschrift SemiLight" panose="020B0502040204020203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hr-HR" altLang="en-US" sz="2400" dirty="0">
                <a:latin typeface="Bahnschrift SemiLight" panose="020B0502040204020203" pitchFamily="34" charset="0"/>
              </a:rPr>
              <a:t>-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Uravnotežuje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planiranje</a:t>
            </a:r>
            <a:r>
              <a:rPr lang="en-US" altLang="en-US" sz="2400" dirty="0">
                <a:latin typeface="Bahnschrift SemiLight" panose="020B0502040204020203" pitchFamily="34" charset="0"/>
              </a:rPr>
              <a:t> i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prilagodljivost</a:t>
            </a:r>
            <a:r>
              <a:rPr lang="en-US" altLang="en-US" sz="2400" dirty="0">
                <a:latin typeface="Bahnschrift SemiLight" panose="020B0502040204020203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sz="2600" b="1" dirty="0">
              <a:solidFill>
                <a:srgbClr val="0ADBBC"/>
              </a:solidFill>
              <a:latin typeface="Bahnschrift SemiLight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2600" b="1" dirty="0" err="1">
                <a:solidFill>
                  <a:srgbClr val="0ADBBC"/>
                </a:solidFill>
                <a:latin typeface="Bahnschrift SemiLight" panose="020B0502040204020203" pitchFamily="34" charset="0"/>
              </a:rPr>
              <a:t>Najprikladnije</a:t>
            </a:r>
            <a:r>
              <a:rPr lang="en-US" altLang="en-US" sz="2600" b="1" dirty="0">
                <a:solidFill>
                  <a:srgbClr val="0ADBBC"/>
                </a:solidFill>
                <a:latin typeface="Bahnschrift SemiLight" panose="020B0502040204020203" pitchFamily="34" charset="0"/>
              </a:rPr>
              <a:t> za: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en-US" sz="2400" dirty="0">
                <a:latin typeface="Bahnschrift SemiLight" panose="020B0502040204020203" pitchFamily="34" charset="0"/>
              </a:rPr>
              <a:t>Projekte koji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imaju</a:t>
            </a:r>
            <a:r>
              <a:rPr lang="en-US" altLang="en-US" sz="2400" dirty="0">
                <a:latin typeface="Bahnschrift SemiLight" panose="020B0502040204020203" pitchFamily="34" charset="0"/>
              </a:rPr>
              <a:t> i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predvidljive</a:t>
            </a:r>
            <a:r>
              <a:rPr lang="en-US" altLang="en-US" sz="2400" dirty="0">
                <a:latin typeface="Bahnschrift SemiLight" panose="020B0502040204020203" pitchFamily="34" charset="0"/>
              </a:rPr>
              <a:t> i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neizvjesne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elemente</a:t>
            </a:r>
            <a:r>
              <a:rPr lang="en-US" altLang="en-US" sz="2400" dirty="0">
                <a:latin typeface="Bahnschrift SemiLight" panose="020B0502040204020203" pitchFamily="34" charset="0"/>
              </a:rPr>
              <a:t>,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gdje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su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neki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dijelovi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jasno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definirani</a:t>
            </a:r>
            <a:r>
              <a:rPr lang="en-US" altLang="en-US" sz="2400" dirty="0">
                <a:latin typeface="Bahnschrift SemiLight" panose="020B0502040204020203" pitchFamily="34" charset="0"/>
              </a:rPr>
              <a:t>,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dok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drugi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zahtijevaju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iterativno</a:t>
            </a:r>
            <a:r>
              <a:rPr lang="en-US" altLang="en-US" sz="2400" dirty="0">
                <a:latin typeface="Bahnschrift SemiLight" panose="020B0502040204020203" pitchFamily="34" charset="0"/>
              </a:rPr>
              <a:t> </a:t>
            </a:r>
            <a:r>
              <a:rPr lang="en-US" altLang="en-US" sz="2400" dirty="0" err="1">
                <a:latin typeface="Bahnschrift SemiLight" panose="020B0502040204020203" pitchFamily="34" charset="0"/>
              </a:rPr>
              <a:t>istraživanje</a:t>
            </a:r>
            <a:r>
              <a:rPr lang="en-US" altLang="en-US" sz="2400" dirty="0">
                <a:latin typeface="Bahnschrift SemiLight" panose="020B0502040204020203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010750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5F391-35D8-BA4D-4252-FF671F076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78F21C-9EA2-4897-81AC-77506A141E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800" b="1" dirty="0"/>
              <a:t>Hibridni </a:t>
            </a:r>
            <a:r>
              <a:rPr lang="en-US" sz="3800" b="1" dirty="0" err="1"/>
              <a:t>pristup</a:t>
            </a:r>
            <a:r>
              <a:rPr lang="hr-HR" sz="3800" b="1" dirty="0"/>
              <a:t> </a:t>
            </a:r>
            <a:r>
              <a:rPr lang="en-US" sz="3800" b="1" dirty="0"/>
              <a:t>_ </a:t>
            </a:r>
            <a:r>
              <a:rPr lang="hr-HR" sz="3800" b="1" dirty="0"/>
              <a:t>rasprava</a:t>
            </a:r>
            <a:r>
              <a:rPr lang="en-US" sz="3800" b="1" dirty="0"/>
              <a:t> 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34C4A6-271A-5E1C-D634-55C4AA61BC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8531" y="2141536"/>
            <a:ext cx="11442415" cy="4548021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US" b="1" dirty="0">
                <a:solidFill>
                  <a:srgbClr val="0ADBBC"/>
                </a:solidFill>
              </a:rPr>
              <a:t>Projekt: </a:t>
            </a:r>
            <a:r>
              <a:rPr lang="en-US" b="1" dirty="0" err="1">
                <a:solidFill>
                  <a:srgbClr val="0ADBBC"/>
                </a:solidFill>
              </a:rPr>
              <a:t>Razvoj</a:t>
            </a:r>
            <a:r>
              <a:rPr lang="en-US" b="1" dirty="0">
                <a:solidFill>
                  <a:srgbClr val="0ADBBC"/>
                </a:solidFill>
              </a:rPr>
              <a:t> i </a:t>
            </a:r>
            <a:r>
              <a:rPr lang="en-US" b="1" dirty="0" err="1">
                <a:solidFill>
                  <a:srgbClr val="0ADBBC"/>
                </a:solidFill>
              </a:rPr>
              <a:t>implementacija</a:t>
            </a:r>
            <a:r>
              <a:rPr lang="en-US" b="1" dirty="0">
                <a:solidFill>
                  <a:srgbClr val="0ADBBC"/>
                </a:solidFill>
              </a:rPr>
              <a:t> e-</a:t>
            </a:r>
            <a:r>
              <a:rPr lang="en-US" b="1" dirty="0" err="1">
                <a:solidFill>
                  <a:srgbClr val="0ADBBC"/>
                </a:solidFill>
              </a:rPr>
              <a:t>trgovinske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b="1" dirty="0" err="1">
                <a:solidFill>
                  <a:srgbClr val="0ADBBC"/>
                </a:solidFill>
              </a:rPr>
              <a:t>platforme</a:t>
            </a:r>
            <a:endParaRPr lang="en-US" b="1" dirty="0">
              <a:solidFill>
                <a:srgbClr val="0ADBBC"/>
              </a:solidFill>
            </a:endParaRPr>
          </a:p>
          <a:p>
            <a:pPr>
              <a:buNone/>
            </a:pPr>
            <a:endParaRPr lang="en-US" sz="2400" b="1" dirty="0"/>
          </a:p>
          <a:p>
            <a:r>
              <a:rPr lang="en-US" sz="2400" dirty="0"/>
              <a:t>Maloprodajna </a:t>
            </a:r>
            <a:r>
              <a:rPr lang="en-US" sz="2400" dirty="0" err="1"/>
              <a:t>tvrtka</a:t>
            </a:r>
            <a:r>
              <a:rPr lang="en-US" sz="2400" dirty="0"/>
              <a:t> </a:t>
            </a:r>
            <a:r>
              <a:rPr lang="en-US" sz="2400" dirty="0" err="1"/>
              <a:t>želi</a:t>
            </a:r>
            <a:r>
              <a:rPr lang="en-US" sz="2400" dirty="0"/>
              <a:t> </a:t>
            </a:r>
            <a:r>
              <a:rPr lang="en-US" sz="2400" dirty="0" err="1"/>
              <a:t>pokrenuti</a:t>
            </a:r>
            <a:r>
              <a:rPr lang="en-US" sz="2400" dirty="0"/>
              <a:t> </a:t>
            </a:r>
            <a:r>
              <a:rPr lang="en-US" sz="2400" dirty="0" err="1"/>
              <a:t>novu</a:t>
            </a:r>
            <a:r>
              <a:rPr lang="en-US" sz="2400" dirty="0"/>
              <a:t> e-</a:t>
            </a:r>
            <a:r>
              <a:rPr lang="en-US" sz="2400" dirty="0" err="1"/>
              <a:t>trgovinsku</a:t>
            </a:r>
            <a:r>
              <a:rPr lang="en-US" sz="2400" dirty="0"/>
              <a:t> </a:t>
            </a:r>
            <a:r>
              <a:rPr lang="en-US" sz="2400" dirty="0" err="1"/>
              <a:t>platformu</a:t>
            </a:r>
            <a:r>
              <a:rPr lang="en-US" sz="2400" dirty="0"/>
              <a:t>. Projekt </a:t>
            </a:r>
            <a:r>
              <a:rPr lang="en-US" sz="2400" dirty="0" err="1"/>
              <a:t>zahtijeva</a:t>
            </a:r>
            <a:r>
              <a:rPr lang="en-US" sz="2400" dirty="0"/>
              <a:t> </a:t>
            </a:r>
            <a:r>
              <a:rPr lang="en-US" sz="2400" b="1" dirty="0" err="1"/>
              <a:t>strukturirani</a:t>
            </a:r>
            <a:r>
              <a:rPr lang="en-US" sz="2400" b="1" dirty="0"/>
              <a:t> plan za </a:t>
            </a:r>
            <a:r>
              <a:rPr lang="en-US" sz="2400" b="1" dirty="0" err="1"/>
              <a:t>postavljanje</a:t>
            </a:r>
            <a:r>
              <a:rPr lang="en-US" sz="2400" b="1" dirty="0"/>
              <a:t> </a:t>
            </a:r>
            <a:r>
              <a:rPr lang="en-US" sz="2400" b="1" dirty="0" err="1"/>
              <a:t>infrastrukture</a:t>
            </a:r>
            <a:r>
              <a:rPr lang="en-US" sz="2400" b="1" dirty="0"/>
              <a:t> </a:t>
            </a:r>
            <a:r>
              <a:rPr lang="en-US" sz="2400" dirty="0" err="1"/>
              <a:t>uz</a:t>
            </a:r>
            <a:r>
              <a:rPr lang="en-US" sz="2400" dirty="0"/>
              <a:t> </a:t>
            </a:r>
            <a:r>
              <a:rPr lang="en-US" sz="2400" dirty="0" err="1"/>
              <a:t>zadržavanje</a:t>
            </a:r>
            <a:r>
              <a:rPr lang="en-US" sz="2400" dirty="0"/>
              <a:t> </a:t>
            </a:r>
            <a:r>
              <a:rPr lang="en-US" sz="2400" b="1" dirty="0" err="1"/>
              <a:t>fleksibilnosti</a:t>
            </a:r>
            <a:r>
              <a:rPr lang="en-US" sz="2400" b="1" dirty="0"/>
              <a:t> za </a:t>
            </a:r>
            <a:r>
              <a:rPr lang="en-US" sz="2400" b="1" dirty="0" err="1"/>
              <a:t>razvoj</a:t>
            </a:r>
            <a:r>
              <a:rPr lang="en-US" sz="2400" b="1" dirty="0"/>
              <a:t> </a:t>
            </a:r>
            <a:r>
              <a:rPr lang="en-US" sz="2400" b="1" dirty="0" err="1"/>
              <a:t>funkcionalnosti</a:t>
            </a:r>
            <a:r>
              <a:rPr lang="en-US" sz="2400" b="1" dirty="0"/>
              <a:t> </a:t>
            </a:r>
            <a:r>
              <a:rPr lang="en-US" sz="2400" dirty="0" err="1"/>
              <a:t>na</a:t>
            </a:r>
            <a:r>
              <a:rPr lang="en-US" sz="2400" dirty="0"/>
              <a:t> </a:t>
            </a:r>
            <a:r>
              <a:rPr lang="en-US" sz="2400" dirty="0" err="1"/>
              <a:t>temelju</a:t>
            </a:r>
            <a:r>
              <a:rPr lang="en-US" sz="2400" dirty="0"/>
              <a:t> </a:t>
            </a:r>
            <a:r>
              <a:rPr lang="en-US" sz="2400" dirty="0" err="1"/>
              <a:t>povratnih</a:t>
            </a:r>
            <a:r>
              <a:rPr lang="en-US" sz="2400" dirty="0"/>
              <a:t> </a:t>
            </a:r>
            <a:r>
              <a:rPr lang="en-US" sz="2400" dirty="0" err="1"/>
              <a:t>informacija</a:t>
            </a:r>
            <a:r>
              <a:rPr lang="en-US" sz="2400" dirty="0"/>
              <a:t> </a:t>
            </a:r>
            <a:r>
              <a:rPr lang="en-US" sz="2400" dirty="0" err="1"/>
              <a:t>korisnika</a:t>
            </a:r>
            <a:r>
              <a:rPr lang="en-US" sz="2400" dirty="0"/>
              <a:t>. Tim </a:t>
            </a:r>
            <a:r>
              <a:rPr lang="en-US" sz="2400" dirty="0" err="1"/>
              <a:t>primjenjuje</a:t>
            </a:r>
            <a:r>
              <a:rPr lang="en-US" sz="2400" dirty="0"/>
              <a:t> </a:t>
            </a:r>
            <a:r>
              <a:rPr lang="en-US" sz="2400" b="1" dirty="0" err="1"/>
              <a:t>hibridni</a:t>
            </a:r>
            <a:r>
              <a:rPr lang="en-US" sz="2400" b="1" dirty="0"/>
              <a:t> </a:t>
            </a:r>
            <a:r>
              <a:rPr lang="en-US" sz="2400" b="1" dirty="0" err="1"/>
              <a:t>pristup</a:t>
            </a:r>
            <a:r>
              <a:rPr lang="en-US" sz="2400" b="1" dirty="0"/>
              <a:t> </a:t>
            </a:r>
            <a:r>
              <a:rPr lang="en-US" sz="2400" b="1" dirty="0" err="1"/>
              <a:t>upravljanju</a:t>
            </a:r>
            <a:r>
              <a:rPr lang="en-US" sz="2400" b="1" dirty="0"/>
              <a:t> </a:t>
            </a:r>
            <a:r>
              <a:rPr lang="en-US" sz="2400" b="1" dirty="0" err="1"/>
              <a:t>projektom</a:t>
            </a:r>
            <a:r>
              <a:rPr lang="en-US" sz="2400" dirty="0"/>
              <a:t>, </a:t>
            </a:r>
            <a:r>
              <a:rPr lang="en-US" sz="2400" dirty="0" err="1"/>
              <a:t>kombinirajući</a:t>
            </a:r>
            <a:r>
              <a:rPr lang="en-US" sz="2400" dirty="0"/>
              <a:t> </a:t>
            </a:r>
            <a:r>
              <a:rPr lang="en-US" sz="2400" dirty="0" err="1"/>
              <a:t>elemente</a:t>
            </a:r>
            <a:r>
              <a:rPr lang="en-US" sz="2400" dirty="0"/>
              <a:t> </a:t>
            </a:r>
            <a:r>
              <a:rPr lang="en-US" sz="2400" b="1" dirty="0" err="1"/>
              <a:t>prediktivnih</a:t>
            </a:r>
            <a:r>
              <a:rPr lang="en-US" sz="2400" b="1" dirty="0"/>
              <a:t> (Waterfall) i </a:t>
            </a:r>
            <a:r>
              <a:rPr lang="en-US" sz="2400" b="1" dirty="0" err="1"/>
              <a:t>adaptivnih</a:t>
            </a:r>
            <a:r>
              <a:rPr lang="en-US" sz="2400" b="1" dirty="0"/>
              <a:t> (Agile) </a:t>
            </a:r>
            <a:r>
              <a:rPr lang="en-US" sz="2400" b="1" dirty="0" err="1"/>
              <a:t>metodologija</a:t>
            </a:r>
            <a:r>
              <a:rPr lang="en-US" sz="2400" dirty="0"/>
              <a:t>.</a:t>
            </a:r>
          </a:p>
          <a:p>
            <a:r>
              <a:rPr lang="en-US" sz="2400" dirty="0" err="1"/>
              <a:t>Rasprava</a:t>
            </a:r>
            <a:r>
              <a:rPr lang="en-US" sz="2400" dirty="0"/>
              <a:t>: </a:t>
            </a:r>
            <a:r>
              <a:rPr lang="en-US" sz="2400" dirty="0" err="1"/>
              <a:t>koje</a:t>
            </a:r>
            <a:r>
              <a:rPr lang="en-US" sz="2400" dirty="0"/>
              <a:t> </a:t>
            </a:r>
            <a:r>
              <a:rPr lang="en-US" sz="2400" dirty="0" err="1"/>
              <a:t>su</a:t>
            </a:r>
            <a:r>
              <a:rPr lang="en-US" sz="2400" dirty="0"/>
              <a:t> </a:t>
            </a:r>
            <a:r>
              <a:rPr lang="en-US" sz="2400" dirty="0" err="1"/>
              <a:t>ključne</a:t>
            </a:r>
            <a:r>
              <a:rPr lang="en-US" sz="2400" dirty="0"/>
              <a:t> </a:t>
            </a:r>
            <a:r>
              <a:rPr lang="en-US" sz="2400" dirty="0" err="1"/>
              <a:t>karakteristike</a:t>
            </a:r>
            <a:r>
              <a:rPr lang="en-US" sz="2400" dirty="0"/>
              <a:t> </a:t>
            </a:r>
            <a:r>
              <a:rPr lang="en-US" sz="2400" dirty="0" err="1"/>
              <a:t>hibridnog</a:t>
            </a:r>
            <a:r>
              <a:rPr lang="en-US" sz="2400" dirty="0"/>
              <a:t> </a:t>
            </a:r>
            <a:r>
              <a:rPr lang="en-US" sz="2400" dirty="0" err="1"/>
              <a:t>pristupa</a:t>
            </a:r>
            <a:endParaRPr lang="en-US" sz="2400" dirty="0"/>
          </a:p>
          <a:p>
            <a:endParaRPr lang="en-US" sz="2400" dirty="0"/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0579357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97540-2A62-5FC6-F43F-00A2B5FB29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800" b="1" dirty="0" err="1"/>
              <a:t>Vježbe</a:t>
            </a:r>
            <a:endParaRPr lang="en-US" sz="3800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F6C2B2-C66D-9552-E556-940F8DE6BD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466" y="2506662"/>
            <a:ext cx="10515600" cy="2603957"/>
          </a:xfrm>
        </p:spPr>
        <p:txBody>
          <a:bodyPr>
            <a:normAutofit/>
          </a:bodyPr>
          <a:lstStyle/>
          <a:p>
            <a:r>
              <a:rPr lang="en-GB" dirty="0">
                <a:effectLst/>
                <a:ea typeface="Bahnschrift SemiLight" panose="020B0502040204020203" pitchFamily="34" charset="0"/>
                <a:cs typeface="Arial" panose="020B0604020202020204" pitchFamily="34" charset="0"/>
              </a:rPr>
              <a:t>Na </a:t>
            </a:r>
            <a:r>
              <a:rPr lang="en-GB" dirty="0" err="1">
                <a:effectLst/>
                <a:ea typeface="Bahnschrift SemiLight" panose="020B0502040204020203" pitchFamily="34" charset="0"/>
                <a:cs typeface="Arial" panose="020B0604020202020204" pitchFamily="34" charset="0"/>
              </a:rPr>
              <a:t>temelju</a:t>
            </a:r>
            <a:r>
              <a:rPr lang="en-GB" dirty="0">
                <a:effectLst/>
                <a:ea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GB" dirty="0" err="1">
                <a:effectLst/>
                <a:ea typeface="Bahnschrift SemiLight" panose="020B0502040204020203" pitchFamily="34" charset="0"/>
                <a:cs typeface="Arial" panose="020B0604020202020204" pitchFamily="34" charset="0"/>
              </a:rPr>
              <a:t>prethodno</a:t>
            </a:r>
            <a:r>
              <a:rPr lang="en-GB" dirty="0">
                <a:effectLst/>
                <a:ea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GB" dirty="0" err="1">
                <a:effectLst/>
                <a:ea typeface="Bahnschrift SemiLight" panose="020B0502040204020203" pitchFamily="34" charset="0"/>
                <a:cs typeface="Arial" panose="020B0604020202020204" pitchFamily="34" charset="0"/>
              </a:rPr>
              <a:t>opisanog</a:t>
            </a:r>
            <a:r>
              <a:rPr lang="en-GB" dirty="0">
                <a:effectLst/>
                <a:ea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GB" dirty="0" err="1">
                <a:effectLst/>
                <a:ea typeface="Bahnschrift SemiLight" panose="020B0502040204020203" pitchFamily="34" charset="0"/>
                <a:cs typeface="Arial" panose="020B0604020202020204" pitchFamily="34" charset="0"/>
              </a:rPr>
              <a:t>studijskog</a:t>
            </a:r>
            <a:r>
              <a:rPr lang="en-GB" dirty="0">
                <a:effectLst/>
                <a:ea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GB" dirty="0" err="1">
                <a:effectLst/>
                <a:ea typeface="Bahnschrift SemiLight" panose="020B0502040204020203" pitchFamily="34" charset="0"/>
                <a:cs typeface="Arial" panose="020B0604020202020204" pitchFamily="34" charset="0"/>
              </a:rPr>
              <a:t>primjera</a:t>
            </a:r>
            <a:r>
              <a:rPr lang="en-GB" dirty="0">
                <a:effectLst/>
                <a:ea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GB" dirty="0" err="1">
                <a:effectLst/>
                <a:ea typeface="Bahnschrift SemiLight" panose="020B0502040204020203" pitchFamily="34" charset="0"/>
                <a:cs typeface="Arial" panose="020B0604020202020204" pitchFamily="34" charset="0"/>
              </a:rPr>
              <a:t>identificirat</a:t>
            </a:r>
            <a:r>
              <a:rPr lang="en-GB" dirty="0">
                <a:effectLst/>
                <a:ea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GB" dirty="0" err="1">
                <a:effectLst/>
                <a:ea typeface="Bahnschrift SemiLight" panose="020B0502040204020203" pitchFamily="34" charset="0"/>
                <a:cs typeface="Arial" panose="020B0604020202020204" pitchFamily="34" charset="0"/>
              </a:rPr>
              <a:t>ćemo</a:t>
            </a:r>
            <a:r>
              <a:rPr lang="en-GB" dirty="0">
                <a:effectLst/>
                <a:ea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GB" dirty="0" err="1">
                <a:effectLst/>
                <a:ea typeface="Bahnschrift SemiLight" panose="020B0502040204020203" pitchFamily="34" charset="0"/>
                <a:cs typeface="Arial" panose="020B0604020202020204" pitchFamily="34" charset="0"/>
              </a:rPr>
              <a:t>prednosti</a:t>
            </a:r>
            <a:r>
              <a:rPr lang="en-GB" dirty="0">
                <a:effectLst/>
                <a:ea typeface="Bahnschrift SemiLight" panose="020B0502040204020203" pitchFamily="34" charset="0"/>
                <a:cs typeface="Arial" panose="020B0604020202020204" pitchFamily="34" charset="0"/>
              </a:rPr>
              <a:t> i </a:t>
            </a:r>
            <a:r>
              <a:rPr lang="en-GB" dirty="0" err="1">
                <a:effectLst/>
                <a:ea typeface="Bahnschrift SemiLight" panose="020B0502040204020203" pitchFamily="34" charset="0"/>
                <a:cs typeface="Arial" panose="020B0604020202020204" pitchFamily="34" charset="0"/>
              </a:rPr>
              <a:t>nedostatke</a:t>
            </a:r>
            <a:r>
              <a:rPr lang="en-GB" dirty="0">
                <a:effectLst/>
                <a:ea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GB" dirty="0" err="1">
                <a:effectLst/>
                <a:ea typeface="Bahnschrift SemiLight" panose="020B0502040204020203" pitchFamily="34" charset="0"/>
                <a:cs typeface="Arial" panose="020B0604020202020204" pitchFamily="34" charset="0"/>
              </a:rPr>
              <a:t>korištenja</a:t>
            </a:r>
            <a:r>
              <a:rPr lang="en-GB" dirty="0">
                <a:effectLst/>
                <a:ea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GB" dirty="0" err="1">
                <a:effectLst/>
                <a:ea typeface="Bahnschrift SemiLight" panose="020B0502040204020203" pitchFamily="34" charset="0"/>
                <a:cs typeface="Arial" panose="020B0604020202020204" pitchFamily="34" charset="0"/>
              </a:rPr>
              <a:t>prediktivnog</a:t>
            </a:r>
            <a:r>
              <a:rPr lang="en-GB" dirty="0">
                <a:effectLst/>
                <a:ea typeface="Bahnschrift SemiLight" panose="020B0502040204020203" pitchFamily="34" charset="0"/>
                <a:cs typeface="Arial" panose="020B0604020202020204" pitchFamily="34" charset="0"/>
              </a:rPr>
              <a:t>, </a:t>
            </a:r>
            <a:r>
              <a:rPr lang="en-GB" dirty="0" err="1">
                <a:effectLst/>
                <a:ea typeface="Bahnschrift SemiLight" panose="020B0502040204020203" pitchFamily="34" charset="0"/>
                <a:cs typeface="Arial" panose="020B0604020202020204" pitchFamily="34" charset="0"/>
              </a:rPr>
              <a:t>adaptivnog</a:t>
            </a:r>
            <a:r>
              <a:rPr lang="en-GB" dirty="0">
                <a:effectLst/>
                <a:ea typeface="Bahnschrift SemiLight" panose="020B0502040204020203" pitchFamily="34" charset="0"/>
                <a:cs typeface="Arial" panose="020B0604020202020204" pitchFamily="34" charset="0"/>
              </a:rPr>
              <a:t> i </a:t>
            </a:r>
            <a:r>
              <a:rPr lang="en-GB" dirty="0" err="1">
                <a:effectLst/>
                <a:ea typeface="Bahnschrift SemiLight" panose="020B0502040204020203" pitchFamily="34" charset="0"/>
                <a:cs typeface="Arial" panose="020B0604020202020204" pitchFamily="34" charset="0"/>
              </a:rPr>
              <a:t>hibridnog</a:t>
            </a:r>
            <a:r>
              <a:rPr lang="en-GB" dirty="0">
                <a:effectLst/>
                <a:ea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GB" dirty="0" err="1">
                <a:effectLst/>
                <a:ea typeface="Bahnschrift SemiLight" panose="020B0502040204020203" pitchFamily="34" charset="0"/>
                <a:cs typeface="Arial" panose="020B0604020202020204" pitchFamily="34" charset="0"/>
              </a:rPr>
              <a:t>pristupa</a:t>
            </a:r>
            <a:r>
              <a:rPr lang="en-GB" dirty="0">
                <a:effectLst/>
                <a:ea typeface="Bahnschrift SemiLight" panose="020B0502040204020203" pitchFamily="34" charset="0"/>
                <a:cs typeface="Arial" panose="020B0604020202020204" pitchFamily="34" charset="0"/>
              </a:rPr>
              <a:t> u </a:t>
            </a:r>
            <a:r>
              <a:rPr lang="en-GB" dirty="0" err="1">
                <a:effectLst/>
                <a:ea typeface="Bahnschrift SemiLight" panose="020B0502040204020203" pitchFamily="34" charset="0"/>
                <a:cs typeface="Arial" panose="020B0604020202020204" pitchFamily="34" charset="0"/>
              </a:rPr>
              <a:t>različitim</a:t>
            </a:r>
            <a:r>
              <a:rPr lang="en-GB" dirty="0">
                <a:effectLst/>
                <a:ea typeface="Bahnschrift SemiLight" panose="020B0502040204020203" pitchFamily="34" charset="0"/>
                <a:cs typeface="Arial" panose="020B0604020202020204" pitchFamily="34" charset="0"/>
              </a:rPr>
              <a:t> </a:t>
            </a:r>
            <a:r>
              <a:rPr lang="en-GB" dirty="0" err="1">
                <a:effectLst/>
                <a:ea typeface="Bahnschrift SemiLight" panose="020B0502040204020203" pitchFamily="34" charset="0"/>
                <a:cs typeface="Arial" panose="020B0604020202020204" pitchFamily="34" charset="0"/>
              </a:rPr>
              <a:t>projektima</a:t>
            </a:r>
            <a:r>
              <a:rPr lang="en-GB" dirty="0">
                <a:effectLst/>
                <a:ea typeface="Bahnschrift SemiLight" panose="020B0502040204020203" pitchFamily="34" charset="0"/>
                <a:cs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9659508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E6EEB1-D83D-A942-01D5-CB7940DB8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5BE3066D-FEE6-AA89-9DC2-78F65904D9C3}"/>
              </a:ext>
            </a:extLst>
          </p:cNvPr>
          <p:cNvSpPr txBox="1">
            <a:spLocks/>
          </p:cNvSpPr>
          <p:nvPr/>
        </p:nvSpPr>
        <p:spPr>
          <a:xfrm>
            <a:off x="6096000" y="3406627"/>
            <a:ext cx="5646643" cy="2363621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b">
            <a:normAutofit/>
          </a:bodyPr>
          <a:lstStyle>
            <a:lvl1pPr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Montserrat" panose="00000500000000000000" pitchFamily="2" charset="-18"/>
                <a:ea typeface="+mj-ea"/>
                <a:cs typeface="+mj-cs"/>
              </a:defRPr>
            </a:lvl1pPr>
          </a:lstStyle>
          <a:p>
            <a:r>
              <a:rPr lang="en-US" sz="4000" dirty="0" err="1">
                <a:latin typeface="Bahnschrift" panose="020B0502040204020203" pitchFamily="34" charset="0"/>
              </a:rPr>
              <a:t>Važnost</a:t>
            </a:r>
            <a:r>
              <a:rPr lang="en-US" sz="4000" dirty="0">
                <a:latin typeface="Bahnschrift" panose="020B0502040204020203" pitchFamily="34" charset="0"/>
              </a:rPr>
              <a:t> </a:t>
            </a:r>
            <a:r>
              <a:rPr lang="en-US" sz="4000" dirty="0" err="1">
                <a:latin typeface="Bahnschrift" panose="020B0502040204020203" pitchFamily="34" charset="0"/>
              </a:rPr>
              <a:t>etike</a:t>
            </a:r>
            <a:r>
              <a:rPr lang="en-US" sz="4000" dirty="0">
                <a:latin typeface="Bahnschrift" panose="020B0502040204020203" pitchFamily="34" charset="0"/>
              </a:rPr>
              <a:t> u </a:t>
            </a:r>
            <a:r>
              <a:rPr lang="en-US" sz="4000" dirty="0" err="1">
                <a:latin typeface="Bahnschrift" panose="020B0502040204020203" pitchFamily="34" charset="0"/>
              </a:rPr>
              <a:t>upravljanju</a:t>
            </a:r>
            <a:r>
              <a:rPr lang="en-US" sz="4000" dirty="0">
                <a:latin typeface="Bahnschrift" panose="020B0502040204020203" pitchFamily="34" charset="0"/>
              </a:rPr>
              <a:t> </a:t>
            </a:r>
            <a:r>
              <a:rPr lang="en-US" sz="4000" dirty="0" err="1">
                <a:latin typeface="Bahnschrift" panose="020B0502040204020203" pitchFamily="34" charset="0"/>
              </a:rPr>
              <a:t>projektima</a:t>
            </a:r>
            <a:endParaRPr lang="en-US" sz="4000" dirty="0">
              <a:latin typeface="Bahnschrift" panose="020B0502040204020203" pitchFamily="34" charset="0"/>
            </a:endParaRPr>
          </a:p>
        </p:txBody>
      </p:sp>
      <p:sp>
        <p:nvSpPr>
          <p:cNvPr id="2" name="Naslov 3">
            <a:extLst>
              <a:ext uri="{FF2B5EF4-FFF2-40B4-BE49-F238E27FC236}">
                <a16:creationId xmlns:a16="http://schemas.microsoft.com/office/drawing/2014/main" id="{2F148496-CAD0-1DD2-03AE-EB106DAF9ED1}"/>
              </a:ext>
            </a:extLst>
          </p:cNvPr>
          <p:cNvSpPr txBox="1">
            <a:spLocks/>
          </p:cNvSpPr>
          <p:nvPr/>
        </p:nvSpPr>
        <p:spPr>
          <a:xfrm>
            <a:off x="2572468" y="1041400"/>
            <a:ext cx="9144000" cy="23876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kern="1200">
                <a:solidFill>
                  <a:schemeClr val="tx1"/>
                </a:solidFill>
                <a:latin typeface="Bahnschrift" panose="020B0502040204020203" pitchFamily="34" charset="0"/>
                <a:ea typeface="+mj-ea"/>
                <a:cs typeface="+mj-cs"/>
              </a:defRPr>
            </a:lvl1pPr>
          </a:lstStyle>
          <a:p>
            <a:r>
              <a:rPr lang="en-US" dirty="0"/>
              <a:t>OSNOVE UPRAVLJANJA PROJEKTIMA</a:t>
            </a:r>
          </a:p>
        </p:txBody>
      </p:sp>
    </p:spTree>
    <p:extLst>
      <p:ext uri="{BB962C8B-B14F-4D97-AF65-F5344CB8AC3E}">
        <p14:creationId xmlns:p14="http://schemas.microsoft.com/office/powerpoint/2010/main" val="10758105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5" name="Title 1">
            <a:extLst>
              <a:ext uri="{FF2B5EF4-FFF2-40B4-BE49-F238E27FC236}">
                <a16:creationId xmlns:a16="http://schemas.microsoft.com/office/drawing/2014/main" id="{3D1F31F6-15A6-2871-D22E-783EB3B88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>
            <a:normAutofit/>
          </a:bodyPr>
          <a:lstStyle/>
          <a:p>
            <a:r>
              <a:rPr lang="en-US" dirty="0"/>
              <a:t>4 </a:t>
            </a:r>
            <a:r>
              <a:rPr lang="en-US" dirty="0" err="1"/>
              <a:t>načela</a:t>
            </a:r>
            <a:endParaRPr lang="en-US" dirty="0"/>
          </a:p>
        </p:txBody>
      </p:sp>
      <p:pic>
        <p:nvPicPr>
          <p:cNvPr id="1030" name="Picture 6" descr="01_PMP_Introduction.pdf - Speaker Deck">
            <a:extLst>
              <a:ext uri="{FF2B5EF4-FFF2-40B4-BE49-F238E27FC236}">
                <a16:creationId xmlns:a16="http://schemas.microsoft.com/office/drawing/2014/main" id="{021ABB45-58F9-3CA8-6454-2B07AD0109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010" b="7426"/>
          <a:stretch/>
        </p:blipFill>
        <p:spPr bwMode="auto">
          <a:xfrm>
            <a:off x="1245132" y="1797317"/>
            <a:ext cx="8957647" cy="4397285"/>
          </a:xfrm>
          <a:prstGeom prst="rect">
            <a:avLst/>
          </a:prstGeom>
          <a:noFill/>
        </p:spPr>
      </p:pic>
      <p:sp>
        <p:nvSpPr>
          <p:cNvPr id="2" name="CasetăText 1">
            <a:extLst>
              <a:ext uri="{FF2B5EF4-FFF2-40B4-BE49-F238E27FC236}">
                <a16:creationId xmlns:a16="http://schemas.microsoft.com/office/drawing/2014/main" id="{CCF0E458-757C-09CF-99EF-BD77A23A6FED}"/>
              </a:ext>
            </a:extLst>
          </p:cNvPr>
          <p:cNvSpPr txBox="1"/>
          <p:nvPr/>
        </p:nvSpPr>
        <p:spPr>
          <a:xfrm>
            <a:off x="3618428" y="6308209"/>
            <a:ext cx="44276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r-HR" dirty="0"/>
              <a:t>Izvor</a:t>
            </a:r>
            <a:r>
              <a:rPr lang="en-US" dirty="0"/>
              <a:t>: PMI – Project Management Institute  </a:t>
            </a:r>
            <a:endParaRPr lang="ro-RO" dirty="0"/>
          </a:p>
        </p:txBody>
      </p:sp>
    </p:spTree>
    <p:extLst>
      <p:ext uri="{BB962C8B-B14F-4D97-AF65-F5344CB8AC3E}">
        <p14:creationId xmlns:p14="http://schemas.microsoft.com/office/powerpoint/2010/main" val="12577486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A11934-A3E1-4B11-77F6-0DBE03BDA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18239F-A8A5-D241-4A8F-705E363DCC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6568" y="280904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4 </a:t>
            </a:r>
            <a:r>
              <a:rPr lang="en-US" dirty="0" err="1"/>
              <a:t>načela</a:t>
            </a:r>
            <a:r>
              <a:rPr lang="en-US" dirty="0"/>
              <a:t> _ </a:t>
            </a:r>
            <a:r>
              <a:rPr lang="en-US" dirty="0" err="1"/>
              <a:t>definicije</a:t>
            </a:r>
            <a:endParaRPr lang="en-US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639D4301-23EA-F54A-E533-2AA362CD62C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38234142"/>
              </p:ext>
            </p:extLst>
          </p:nvPr>
        </p:nvGraphicFramePr>
        <p:xfrm>
          <a:off x="419686" y="1606467"/>
          <a:ext cx="11352628" cy="522966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69413">
                  <a:extLst>
                    <a:ext uri="{9D8B030D-6E8A-4147-A177-3AD203B41FA5}">
                      <a16:colId xmlns:a16="http://schemas.microsoft.com/office/drawing/2014/main" val="2639601998"/>
                    </a:ext>
                  </a:extLst>
                </a:gridCol>
                <a:gridCol w="5883215">
                  <a:extLst>
                    <a:ext uri="{9D8B030D-6E8A-4147-A177-3AD203B41FA5}">
                      <a16:colId xmlns:a16="http://schemas.microsoft.com/office/drawing/2014/main" val="3350106672"/>
                    </a:ext>
                  </a:extLst>
                </a:gridCol>
              </a:tblGrid>
              <a:tr h="2577905">
                <a:tc>
                  <a:txBody>
                    <a:bodyPr/>
                    <a:lstStyle/>
                    <a:p>
                      <a:r>
                        <a:rPr lang="en-US" sz="2400" b="1" u="sng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ISKRENOST</a:t>
                      </a:r>
                      <a:r>
                        <a:rPr lang="hr-HR" sz="2400" b="1" u="sng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(HONESTY)</a:t>
                      </a:r>
                      <a:endParaRPr lang="en-US" sz="2400" b="1" u="sng" dirty="0">
                        <a:solidFill>
                          <a:schemeClr val="tx1"/>
                        </a:solidFill>
                        <a:latin typeface="Bahnschrift SemiLight" panose="020B0502040204020203" pitchFamily="34" charset="0"/>
                      </a:endParaRPr>
                    </a:p>
                    <a:p>
                      <a:r>
                        <a:rPr lang="en-US" sz="2400" b="1" u="none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Budite</a:t>
                      </a:r>
                      <a:r>
                        <a:rPr lang="en-US" sz="2400" b="1" u="none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2400" b="1" u="none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iskreni</a:t>
                      </a:r>
                      <a:r>
                        <a:rPr lang="en-US" sz="2400" b="1" u="none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2400" b="1" u="none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prema</a:t>
                      </a:r>
                      <a:r>
                        <a:rPr lang="en-US" sz="2400" b="1" u="none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2400" b="1" u="none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članovima</a:t>
                      </a:r>
                      <a:r>
                        <a:rPr lang="en-US" sz="2400" b="1" u="none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2400" b="1" u="none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tima</a:t>
                      </a:r>
                      <a:r>
                        <a:rPr lang="en-US" sz="2400" b="1" u="none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, </a:t>
                      </a:r>
                      <a:r>
                        <a:rPr lang="en-US" sz="2400" b="1" u="none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poslovnim</a:t>
                      </a:r>
                      <a:r>
                        <a:rPr lang="en-US" sz="2400" b="1" u="none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2400" b="1" u="none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sponzorima</a:t>
                      </a:r>
                      <a:r>
                        <a:rPr lang="en-US" sz="2400" b="1" u="none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i </a:t>
                      </a:r>
                      <a:r>
                        <a:rPr lang="en-US" sz="2400" b="1" u="none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klijentima</a:t>
                      </a:r>
                      <a:r>
                        <a:rPr lang="en-US" sz="2400" b="1" u="none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;</a:t>
                      </a:r>
                    </a:p>
                    <a:p>
                      <a:r>
                        <a:rPr lang="en-US" sz="2400" b="1" u="none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Pogrešno</a:t>
                      </a:r>
                      <a:r>
                        <a:rPr lang="en-US" sz="2400" b="1" u="none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2400" b="1" u="none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prikazivanje</a:t>
                      </a:r>
                      <a:r>
                        <a:rPr lang="en-US" sz="2400" b="1" u="none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2400" b="1" u="none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ili</a:t>
                      </a:r>
                      <a:r>
                        <a:rPr lang="en-US" sz="2400" b="1" u="none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2400" b="1" u="none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laganje</a:t>
                      </a:r>
                      <a:r>
                        <a:rPr lang="en-US" sz="2400" b="1" u="none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o </a:t>
                      </a:r>
                      <a:r>
                        <a:rPr lang="en-US" sz="2400" b="1" u="none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bilo</a:t>
                      </a:r>
                      <a:r>
                        <a:rPr lang="en-US" sz="2400" b="1" u="none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2400" b="1" u="none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kojem</a:t>
                      </a:r>
                      <a:r>
                        <a:rPr lang="en-US" sz="2400" b="1" u="none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2400" b="1" u="none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dijelu</a:t>
                      </a:r>
                      <a:r>
                        <a:rPr lang="en-US" sz="2400" b="1" u="none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2400" b="1" u="none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projekta</a:t>
                      </a:r>
                      <a:r>
                        <a:rPr lang="en-US" sz="2400" b="1" u="none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2400" b="1" u="none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narušava</a:t>
                      </a:r>
                      <a:r>
                        <a:rPr lang="en-US" sz="2400" b="1" u="none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2400" b="1" u="none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povjerenje</a:t>
                      </a:r>
                      <a:r>
                        <a:rPr lang="en-US" sz="2400" b="1" u="none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 flip="none" rotWithShape="1">
                      <a:gsLst>
                        <a:gs pos="0">
                          <a:srgbClr val="0ADBBC">
                            <a:tint val="66000"/>
                            <a:satMod val="160000"/>
                          </a:srgbClr>
                        </a:gs>
                        <a:gs pos="50000">
                          <a:srgbClr val="0ADBBC">
                            <a:tint val="44500"/>
                            <a:satMod val="160000"/>
                          </a:srgbClr>
                        </a:gs>
                        <a:gs pos="100000">
                          <a:srgbClr val="0ADBBC">
                            <a:tint val="23500"/>
                            <a:satMod val="160000"/>
                          </a:srgbClr>
                        </a:gs>
                      </a:gsLst>
                      <a:lin ang="2700000" scaled="1"/>
                      <a:tileRect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u="sng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ODGOVORNOST</a:t>
                      </a:r>
                      <a:r>
                        <a:rPr lang="hr-HR" sz="2400" u="sng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(RESPONSIBILITY)</a:t>
                      </a:r>
                      <a:endParaRPr lang="en-US" sz="2400" u="sng" dirty="0">
                        <a:solidFill>
                          <a:schemeClr val="tx1"/>
                        </a:solidFill>
                        <a:latin typeface="Bahnschrift SemiLight" panose="020B0502040204020203" pitchFamily="34" charset="0"/>
                      </a:endParaRPr>
                    </a:p>
                    <a:p>
                      <a:r>
                        <a:rPr lang="en-US" sz="2400" u="none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Budite</a:t>
                      </a:r>
                      <a:r>
                        <a:rPr lang="en-US" sz="2400" u="none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2400" u="none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organizirani</a:t>
                      </a:r>
                      <a:r>
                        <a:rPr lang="en-US" sz="2400" u="none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, </a:t>
                      </a:r>
                      <a:r>
                        <a:rPr lang="en-US" sz="2400" u="none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točni</a:t>
                      </a:r>
                      <a:r>
                        <a:rPr lang="en-US" sz="2400" u="none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i </a:t>
                      </a:r>
                      <a:r>
                        <a:rPr lang="en-US" sz="2400" u="none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dajte</a:t>
                      </a:r>
                      <a:r>
                        <a:rPr lang="en-US" sz="2400" u="none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2400" u="none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svoj</a:t>
                      </a:r>
                      <a:r>
                        <a:rPr lang="en-US" sz="2400" u="none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2400" u="none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maksimum</a:t>
                      </a:r>
                      <a:r>
                        <a:rPr lang="en-US" sz="2400" u="none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u </a:t>
                      </a:r>
                      <a:r>
                        <a:rPr lang="en-US" sz="2400" u="none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projektu</a:t>
                      </a:r>
                      <a:r>
                        <a:rPr lang="en-US" sz="2400" u="none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;</a:t>
                      </a:r>
                    </a:p>
                    <a:p>
                      <a:r>
                        <a:rPr lang="en-US" sz="2400" u="none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Odgovorni</a:t>
                      </a:r>
                      <a:r>
                        <a:rPr lang="en-US" sz="2400" u="none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2400" u="none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ste</a:t>
                      </a:r>
                      <a:r>
                        <a:rPr lang="en-US" sz="2400" u="none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za </a:t>
                      </a:r>
                      <a:r>
                        <a:rPr lang="en-US" sz="2400" u="none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uspjeh</a:t>
                      </a:r>
                      <a:r>
                        <a:rPr lang="en-US" sz="2400" u="none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2400" u="none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ili</a:t>
                      </a:r>
                      <a:r>
                        <a:rPr lang="en-US" sz="2400" u="none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2400" u="none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neuspjeh</a:t>
                      </a:r>
                      <a:r>
                        <a:rPr lang="en-US" sz="2400" u="none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2400" u="none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svog</a:t>
                      </a:r>
                      <a:r>
                        <a:rPr lang="en-US" sz="2400" u="none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2400" u="none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projekta</a:t>
                      </a:r>
                      <a:r>
                        <a:rPr lang="en-US" sz="2400" u="none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 flip="none" rotWithShape="1">
                      <a:gsLst>
                        <a:gs pos="0">
                          <a:srgbClr val="0ADBBC">
                            <a:tint val="66000"/>
                            <a:satMod val="160000"/>
                          </a:srgbClr>
                        </a:gs>
                        <a:gs pos="50000">
                          <a:srgbClr val="0ADBBC">
                            <a:tint val="44500"/>
                            <a:satMod val="160000"/>
                          </a:srgbClr>
                        </a:gs>
                        <a:gs pos="100000">
                          <a:srgbClr val="0ADBBC">
                            <a:tint val="23500"/>
                            <a:satMod val="160000"/>
                          </a:srgbClr>
                        </a:gs>
                      </a:gsLst>
                      <a:lin ang="8100000" scaled="1"/>
                      <a:tileRect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2536913854"/>
                  </a:ext>
                </a:extLst>
              </a:tr>
              <a:tr h="2577905">
                <a:tc>
                  <a:txBody>
                    <a:bodyPr/>
                    <a:lstStyle/>
                    <a:p>
                      <a:r>
                        <a:rPr lang="en-US" sz="2400" b="1" u="sng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POŠTOVANJE</a:t>
                      </a:r>
                      <a:r>
                        <a:rPr lang="hr-HR" sz="2400" b="1" u="sng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(RESPECT)</a:t>
                      </a:r>
                      <a:endParaRPr lang="en-US" sz="2400" b="1" u="sng" dirty="0">
                        <a:solidFill>
                          <a:schemeClr val="tx1"/>
                        </a:solidFill>
                        <a:latin typeface="Bahnschrift SemiLight" panose="020B0502040204020203" pitchFamily="34" charset="0"/>
                      </a:endParaRPr>
                    </a:p>
                    <a:p>
                      <a:r>
                        <a:rPr lang="en-US" sz="2400" b="1" u="sng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Budite</a:t>
                      </a:r>
                      <a:r>
                        <a:rPr lang="en-US" sz="2400" b="1" u="sng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2400" b="1" u="sng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puni</a:t>
                      </a:r>
                      <a:r>
                        <a:rPr lang="en-US" sz="2400" b="1" u="sng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2400" b="1" u="sng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poštovanja</a:t>
                      </a:r>
                      <a:r>
                        <a:rPr lang="en-US" sz="2400" b="1" u="sng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2400" b="1" u="sng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prema</a:t>
                      </a:r>
                      <a:r>
                        <a:rPr lang="en-US" sz="2400" b="1" u="sng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2400" b="1" u="sng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članovima</a:t>
                      </a:r>
                      <a:r>
                        <a:rPr lang="en-US" sz="2400" b="1" u="sng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2400" b="1" u="sng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tima</a:t>
                      </a:r>
                      <a:r>
                        <a:rPr lang="en-US" sz="2400" b="1" u="sng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i </a:t>
                      </a:r>
                      <a:r>
                        <a:rPr lang="en-US" sz="2400" b="1" u="sng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očekujte</a:t>
                      </a:r>
                      <a:r>
                        <a:rPr lang="en-US" sz="2400" b="1" u="sng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2400" b="1" u="sng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poštovanje</a:t>
                      </a:r>
                      <a:r>
                        <a:rPr lang="en-US" sz="2400" b="1" u="sng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2400" b="1" u="sng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zauzvrat</a:t>
                      </a:r>
                      <a:r>
                        <a:rPr lang="en-US" sz="2400" b="1" u="sng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;</a:t>
                      </a:r>
                    </a:p>
                    <a:p>
                      <a:r>
                        <a:rPr lang="en-US" sz="2400" b="1" u="sng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Međusobno</a:t>
                      </a:r>
                      <a:r>
                        <a:rPr lang="en-US" sz="2400" b="1" u="sng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2400" b="1" u="sng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poštovanje</a:t>
                      </a:r>
                      <a:r>
                        <a:rPr lang="en-US" sz="2400" b="1" u="sng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2400" b="1" u="sng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pomaže</a:t>
                      </a:r>
                      <a:r>
                        <a:rPr lang="en-US" sz="2400" b="1" u="sng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2400" b="1" u="sng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timu</a:t>
                      </a:r>
                      <a:r>
                        <a:rPr lang="en-US" sz="2400" b="1" u="sng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da </a:t>
                      </a:r>
                      <a:r>
                        <a:rPr lang="en-US" sz="2400" b="1" u="sng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funkcionira</a:t>
                      </a:r>
                      <a:r>
                        <a:rPr lang="en-US" sz="2400" b="1" u="sng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2400" b="1" u="sng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na</a:t>
                      </a:r>
                      <a:r>
                        <a:rPr lang="en-US" sz="2400" b="1" u="sng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2400" b="1" u="sng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najbolji</a:t>
                      </a:r>
                      <a:r>
                        <a:rPr lang="en-US" sz="2400" b="1" u="sng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2400" b="1" u="sng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mogući</a:t>
                      </a:r>
                      <a:r>
                        <a:rPr lang="en-US" sz="2400" b="1" u="sng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2400" b="1" u="sng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način</a:t>
                      </a:r>
                      <a:r>
                        <a:rPr lang="en-US" sz="2400" b="1" u="sng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 flip="none" rotWithShape="1">
                      <a:gsLst>
                        <a:gs pos="0">
                          <a:srgbClr val="0ADBBC">
                            <a:tint val="66000"/>
                            <a:satMod val="160000"/>
                          </a:srgbClr>
                        </a:gs>
                        <a:gs pos="50000">
                          <a:srgbClr val="0ADBBC">
                            <a:tint val="44500"/>
                            <a:satMod val="160000"/>
                          </a:srgbClr>
                        </a:gs>
                        <a:gs pos="100000">
                          <a:srgbClr val="0ADBBC">
                            <a:tint val="23500"/>
                            <a:satMod val="160000"/>
                          </a:srgbClr>
                        </a:gs>
                      </a:gsLst>
                      <a:path path="circle">
                        <a:fillToRect l="50000" t="50000" r="50000" b="50000"/>
                      </a:path>
                      <a:tileRect/>
                    </a:gradFill>
                  </a:tcPr>
                </a:tc>
                <a:tc>
                  <a:txBody>
                    <a:bodyPr/>
                    <a:lstStyle/>
                    <a:p>
                      <a:r>
                        <a:rPr lang="en-US" sz="2400" b="1" u="sng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PRAVEDNOST</a:t>
                      </a:r>
                      <a:r>
                        <a:rPr lang="hr-HR" sz="2400" b="1" u="sng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(FAIRNESS)</a:t>
                      </a:r>
                      <a:endParaRPr lang="en-US" sz="2400" b="1" u="sng" dirty="0">
                        <a:solidFill>
                          <a:schemeClr val="tx1"/>
                        </a:solidFill>
                        <a:latin typeface="Bahnschrift SemiLight" panose="020B0502040204020203" pitchFamily="34" charset="0"/>
                      </a:endParaRPr>
                    </a:p>
                    <a:p>
                      <a:r>
                        <a:rPr lang="en-US" sz="2400" b="1" u="sng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Nikada</a:t>
                      </a:r>
                      <a:r>
                        <a:rPr lang="en-US" sz="2400" b="1" u="sng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2400" b="1" u="sng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nemojte</a:t>
                      </a:r>
                      <a:r>
                        <a:rPr lang="en-US" sz="2400" b="1" u="sng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2400" b="1" u="sng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favorizirati</a:t>
                      </a:r>
                      <a:r>
                        <a:rPr lang="en-US" sz="2400" b="1" u="sng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2400" b="1" u="sng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pojedine</a:t>
                      </a:r>
                      <a:r>
                        <a:rPr lang="en-US" sz="2400" b="1" u="sng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2400" b="1" u="sng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članove</a:t>
                      </a:r>
                      <a:r>
                        <a:rPr lang="en-US" sz="2400" b="1" u="sng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2400" b="1" u="sng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tima</a:t>
                      </a:r>
                      <a:r>
                        <a:rPr lang="en-US" sz="2400" b="1" u="sng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2400" b="1" u="sng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niti</a:t>
                      </a:r>
                      <a:r>
                        <a:rPr lang="en-US" sz="2400" b="1" u="sng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2400" b="1" u="sng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ciljati</a:t>
                      </a:r>
                      <a:r>
                        <a:rPr lang="en-US" sz="2400" b="1" u="sng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2400" b="1" u="sng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člana</a:t>
                      </a:r>
                      <a:r>
                        <a:rPr lang="en-US" sz="2400" b="1" u="sng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2400" b="1" u="sng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tima</a:t>
                      </a:r>
                      <a:r>
                        <a:rPr lang="en-US" sz="2400" b="1" u="sng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koji </a:t>
                      </a:r>
                      <a:r>
                        <a:rPr lang="en-US" sz="2400" b="1" u="sng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vam</a:t>
                      </a:r>
                      <a:r>
                        <a:rPr lang="en-US" sz="2400" b="1" u="sng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se ne </a:t>
                      </a:r>
                      <a:r>
                        <a:rPr lang="en-US" sz="2400" b="1" u="sng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sviđa</a:t>
                      </a:r>
                      <a:r>
                        <a:rPr lang="en-US" sz="2400" b="1" u="sng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;</a:t>
                      </a:r>
                    </a:p>
                    <a:p>
                      <a:r>
                        <a:rPr lang="en-US" sz="2400" b="1" u="sng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To </a:t>
                      </a:r>
                      <a:r>
                        <a:rPr lang="en-US" sz="2400" b="1" u="sng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narušava</a:t>
                      </a:r>
                      <a:r>
                        <a:rPr lang="en-US" sz="2400" b="1" u="sng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2400" b="1" u="sng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povjerenje</a:t>
                      </a:r>
                      <a:r>
                        <a:rPr lang="en-US" sz="2400" b="1" u="sng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2400" b="1" u="sng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unutar</a:t>
                      </a:r>
                      <a:r>
                        <a:rPr lang="en-US" sz="2400" b="1" u="sng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2400" b="1" u="sng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tima</a:t>
                      </a:r>
                      <a:r>
                        <a:rPr lang="en-US" sz="2400" b="1" u="sng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i </a:t>
                      </a:r>
                      <a:r>
                        <a:rPr lang="en-US" sz="2400" b="1" u="sng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negativno</a:t>
                      </a:r>
                      <a:r>
                        <a:rPr lang="en-US" sz="2400" b="1" u="sng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2400" b="1" u="sng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utječe</a:t>
                      </a:r>
                      <a:r>
                        <a:rPr lang="en-US" sz="2400" b="1" u="sng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2400" b="1" u="sng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na</a:t>
                      </a:r>
                      <a:r>
                        <a:rPr lang="en-US" sz="2400" b="1" u="sng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2400" b="1" u="sng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uspjeh</a:t>
                      </a:r>
                      <a:r>
                        <a:rPr lang="en-US" sz="2400" b="1" u="sng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 </a:t>
                      </a:r>
                      <a:r>
                        <a:rPr lang="en-US" sz="2400" b="1" u="sng" dirty="0" err="1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projekta</a:t>
                      </a:r>
                      <a:r>
                        <a:rPr lang="en-US" sz="2400" b="1" u="sng" dirty="0">
                          <a:solidFill>
                            <a:schemeClr val="tx1"/>
                          </a:solidFill>
                          <a:latin typeface="Bahnschrift SemiLight" panose="020B0502040204020203" pitchFamily="34" charset="0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ADBB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gradFill flip="none" rotWithShape="1">
                      <a:gsLst>
                        <a:gs pos="0">
                          <a:srgbClr val="0ADBBC">
                            <a:tint val="66000"/>
                            <a:satMod val="160000"/>
                          </a:srgbClr>
                        </a:gs>
                        <a:gs pos="50000">
                          <a:srgbClr val="0ADBBC">
                            <a:tint val="44500"/>
                            <a:satMod val="160000"/>
                          </a:srgbClr>
                        </a:gs>
                        <a:gs pos="100000">
                          <a:srgbClr val="0ADBBC">
                            <a:tint val="23500"/>
                            <a:satMod val="160000"/>
                          </a:srgbClr>
                        </a:gs>
                      </a:gsLst>
                      <a:lin ang="10800000" scaled="1"/>
                      <a:tileRect/>
                    </a:gradFill>
                  </a:tcPr>
                </a:tc>
                <a:extLst>
                  <a:ext uri="{0D108BD9-81ED-4DB2-BD59-A6C34878D82A}">
                    <a16:rowId xmlns:a16="http://schemas.microsoft.com/office/drawing/2014/main" val="7237715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6369090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8B33C53-8276-3C10-34AC-1F36DC8DEC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Rasprava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6FE5886-13C8-F90E-E948-D10F1E9489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1. Trener </a:t>
            </a:r>
            <a:r>
              <a:rPr lang="en-US" dirty="0" err="1"/>
              <a:t>će</a:t>
            </a:r>
            <a:r>
              <a:rPr lang="en-US" dirty="0"/>
              <a:t> </a:t>
            </a:r>
            <a:r>
              <a:rPr lang="en-US" dirty="0" err="1"/>
              <a:t>dati</a:t>
            </a:r>
            <a:r>
              <a:rPr lang="en-US" dirty="0"/>
              <a:t> </a:t>
            </a:r>
            <a:r>
              <a:rPr lang="en-US" dirty="0" err="1"/>
              <a:t>osobni</a:t>
            </a:r>
            <a:r>
              <a:rPr lang="en-US" dirty="0"/>
              <a:t> primjer za </a:t>
            </a:r>
            <a:r>
              <a:rPr lang="en-US" dirty="0" err="1"/>
              <a:t>svako</a:t>
            </a:r>
            <a:r>
              <a:rPr lang="en-US" dirty="0"/>
              <a:t> od </a:t>
            </a:r>
            <a:r>
              <a:rPr lang="en-US" dirty="0" err="1"/>
              <a:t>ključnih</a:t>
            </a:r>
            <a:r>
              <a:rPr lang="en-US" dirty="0"/>
              <a:t> </a:t>
            </a:r>
            <a:r>
              <a:rPr lang="en-US" dirty="0" err="1"/>
              <a:t>načela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   </a:t>
            </a:r>
            <a:r>
              <a:rPr lang="en-US" dirty="0" err="1"/>
              <a:t>npr</a:t>
            </a:r>
            <a:r>
              <a:rPr lang="en-US" dirty="0"/>
              <a:t>. </a:t>
            </a:r>
            <a:r>
              <a:rPr lang="en-US" dirty="0" err="1"/>
              <a:t>Iskrenost</a:t>
            </a:r>
            <a:r>
              <a:rPr lang="en-US" dirty="0"/>
              <a:t> –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negativan</a:t>
            </a:r>
            <a:r>
              <a:rPr lang="en-US" dirty="0"/>
              <a:t> primjer: </a:t>
            </a:r>
            <a:r>
              <a:rPr lang="en-US" dirty="0" err="1"/>
              <a:t>nepotizam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2. Trener </a:t>
            </a:r>
            <a:r>
              <a:rPr lang="en-US" dirty="0" err="1"/>
              <a:t>će</a:t>
            </a:r>
            <a:r>
              <a:rPr lang="en-US" dirty="0"/>
              <a:t> </a:t>
            </a:r>
            <a:r>
              <a:rPr lang="en-US" dirty="0" err="1"/>
              <a:t>također</a:t>
            </a:r>
            <a:r>
              <a:rPr lang="en-US" dirty="0"/>
              <a:t> </a:t>
            </a:r>
            <a:r>
              <a:rPr lang="en-US" dirty="0" err="1"/>
              <a:t>govoriti</a:t>
            </a:r>
            <a:r>
              <a:rPr lang="en-US" dirty="0"/>
              <a:t> o </a:t>
            </a:r>
            <a:r>
              <a:rPr lang="en-US" dirty="0" err="1"/>
              <a:t>povjerljivosti</a:t>
            </a:r>
            <a:r>
              <a:rPr lang="en-US" dirty="0"/>
              <a:t> i NDA-u (</a:t>
            </a:r>
            <a:r>
              <a:rPr lang="en-US" dirty="0" err="1"/>
              <a:t>ugovoru</a:t>
            </a:r>
            <a:r>
              <a:rPr lang="en-US" dirty="0"/>
              <a:t> o </a:t>
            </a:r>
            <a:r>
              <a:rPr lang="en-US" dirty="0" err="1"/>
              <a:t>povjerljivosti</a:t>
            </a:r>
            <a:r>
              <a:rPr lang="en-US" dirty="0"/>
              <a:t>)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3. Koji je </a:t>
            </a:r>
            <a:r>
              <a:rPr lang="en-US" dirty="0" err="1"/>
              <a:t>utjecaj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projekt</a:t>
            </a:r>
            <a:r>
              <a:rPr lang="en-US" dirty="0"/>
              <a:t> </a:t>
            </a:r>
            <a:r>
              <a:rPr lang="en-US" dirty="0" err="1"/>
              <a:t>ako</a:t>
            </a:r>
            <a:r>
              <a:rPr lang="en-US" dirty="0"/>
              <a:t> se ne </a:t>
            </a:r>
            <a:r>
              <a:rPr lang="en-US" dirty="0" err="1"/>
              <a:t>poštuje</a:t>
            </a:r>
            <a:r>
              <a:rPr lang="en-US" dirty="0"/>
              <a:t> </a:t>
            </a:r>
            <a:r>
              <a:rPr lang="en-US" dirty="0" err="1"/>
              <a:t>bilo</a:t>
            </a:r>
            <a:r>
              <a:rPr lang="en-US" dirty="0"/>
              <a:t> </a:t>
            </a:r>
            <a:r>
              <a:rPr lang="en-US" dirty="0" err="1"/>
              <a:t>koje</a:t>
            </a:r>
            <a:r>
              <a:rPr lang="en-US" dirty="0"/>
              <a:t> od ova 4 </a:t>
            </a:r>
            <a:r>
              <a:rPr lang="en-US" dirty="0" err="1"/>
              <a:t>načela</a:t>
            </a:r>
            <a:r>
              <a:rPr lang="en-US" dirty="0"/>
              <a:t>?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37940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452E1F-5870-41F7-7416-2130D55D3B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A1131-1DAB-1CF2-10A4-9A3F7F3AAC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Procjena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D0B9FC-D2B9-8F61-14D2-851B36CA44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0632" y="2195369"/>
            <a:ext cx="11244719" cy="4927325"/>
          </a:xfrm>
        </p:spPr>
        <p:txBody>
          <a:bodyPr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en-US" dirty="0" err="1">
                <a:cs typeface="Arial" panose="020B0604020202020204" pitchFamily="34" charset="0"/>
              </a:rPr>
              <a:t>Voditeljica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projekta</a:t>
            </a:r>
            <a:r>
              <a:rPr lang="en-US" dirty="0">
                <a:cs typeface="Arial" panose="020B0604020202020204" pitchFamily="34" charset="0"/>
              </a:rPr>
              <a:t>, Sarah, </a:t>
            </a:r>
            <a:r>
              <a:rPr lang="en-US" dirty="0" err="1">
                <a:cs typeface="Arial" panose="020B0604020202020204" pitchFamily="34" charset="0"/>
              </a:rPr>
              <a:t>vodi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projekt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razvoja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softvera</a:t>
            </a:r>
            <a:r>
              <a:rPr lang="en-US" dirty="0">
                <a:cs typeface="Arial" panose="020B0604020202020204" pitchFamily="34" charset="0"/>
              </a:rPr>
              <a:t> za </a:t>
            </a:r>
            <a:r>
              <a:rPr lang="en-US" dirty="0" err="1">
                <a:cs typeface="Arial" panose="020B0604020202020204" pitchFamily="34" charset="0"/>
              </a:rPr>
              <a:t>klijenta</a:t>
            </a:r>
            <a:r>
              <a:rPr lang="en-US" dirty="0">
                <a:cs typeface="Arial" panose="020B0604020202020204" pitchFamily="34" charset="0"/>
              </a:rPr>
              <a:t> s </a:t>
            </a:r>
            <a:r>
              <a:rPr lang="en-US" dirty="0" err="1">
                <a:cs typeface="Arial" panose="020B0604020202020204" pitchFamily="34" charset="0"/>
              </a:rPr>
              <a:t>vrlo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strogim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rokom</a:t>
            </a:r>
            <a:r>
              <a:rPr lang="en-US" dirty="0">
                <a:cs typeface="Arial" panose="020B0604020202020204" pitchFamily="34" charset="0"/>
              </a:rPr>
              <a:t>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dirty="0">
              <a:cs typeface="Arial" panose="020B0604020202020204" pitchFamily="34" charset="0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cs typeface="Arial" panose="020B0604020202020204" pitchFamily="34" charset="0"/>
              </a:rPr>
              <a:t>Sarah je </a:t>
            </a:r>
            <a:r>
              <a:rPr lang="en-US" dirty="0" err="1">
                <a:cs typeface="Arial" panose="020B0604020202020204" pitchFamily="34" charset="0"/>
              </a:rPr>
              <a:t>svjesna</a:t>
            </a:r>
            <a:r>
              <a:rPr lang="en-US" dirty="0">
                <a:cs typeface="Arial" panose="020B0604020202020204" pitchFamily="34" charset="0"/>
              </a:rPr>
              <a:t> da je </a:t>
            </a:r>
            <a:r>
              <a:rPr lang="en-US" dirty="0" err="1">
                <a:cs typeface="Arial" panose="020B0604020202020204" pitchFamily="34" charset="0"/>
              </a:rPr>
              <a:t>jedan</a:t>
            </a:r>
            <a:r>
              <a:rPr lang="en-US" dirty="0">
                <a:cs typeface="Arial" panose="020B0604020202020204" pitchFamily="34" charset="0"/>
              </a:rPr>
              <a:t> od </a:t>
            </a:r>
            <a:r>
              <a:rPr lang="en-US" dirty="0" err="1">
                <a:cs typeface="Arial" panose="020B0604020202020204" pitchFamily="34" charset="0"/>
              </a:rPr>
              <a:t>ključnih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projektnih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prekretnica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ugrožen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zbog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ograničenih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resursa</a:t>
            </a:r>
            <a:r>
              <a:rPr lang="en-US" dirty="0">
                <a:cs typeface="Arial" panose="020B0604020202020204" pitchFamily="34" charset="0"/>
              </a:rPr>
              <a:t>, </a:t>
            </a:r>
            <a:r>
              <a:rPr lang="en-US" dirty="0" err="1">
                <a:cs typeface="Arial" panose="020B0604020202020204" pitchFamily="34" charset="0"/>
              </a:rPr>
              <a:t>ali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umjesto</a:t>
            </a:r>
            <a:r>
              <a:rPr lang="en-US" dirty="0">
                <a:cs typeface="Arial" panose="020B0604020202020204" pitchFamily="34" charset="0"/>
              </a:rPr>
              <a:t> da se </a:t>
            </a:r>
            <a:r>
              <a:rPr lang="en-US" dirty="0" err="1">
                <a:cs typeface="Arial" panose="020B0604020202020204" pitchFamily="34" charset="0"/>
              </a:rPr>
              <a:t>suoči</a:t>
            </a:r>
            <a:r>
              <a:rPr lang="en-US" dirty="0">
                <a:cs typeface="Arial" panose="020B0604020202020204" pitchFamily="34" charset="0"/>
              </a:rPr>
              <a:t> s </a:t>
            </a:r>
            <a:r>
              <a:rPr lang="en-US" dirty="0" err="1">
                <a:cs typeface="Arial" panose="020B0604020202020204" pitchFamily="34" charset="0"/>
              </a:rPr>
              <a:t>problemom</a:t>
            </a:r>
            <a:r>
              <a:rPr lang="en-US" dirty="0">
                <a:cs typeface="Arial" panose="020B0604020202020204" pitchFamily="34" charset="0"/>
              </a:rPr>
              <a:t>, </a:t>
            </a:r>
            <a:r>
              <a:rPr lang="en-US" dirty="0" err="1">
                <a:cs typeface="Arial" panose="020B0604020202020204" pitchFamily="34" charset="0"/>
              </a:rPr>
              <a:t>odlučuje</a:t>
            </a:r>
            <a:r>
              <a:rPr lang="en-US" dirty="0">
                <a:cs typeface="Arial" panose="020B0604020202020204" pitchFamily="34" charset="0"/>
              </a:rPr>
              <a:t> ga </a:t>
            </a:r>
            <a:r>
              <a:rPr lang="en-US" dirty="0" err="1">
                <a:cs typeface="Arial" panose="020B0604020202020204" pitchFamily="34" charset="0"/>
              </a:rPr>
              <a:t>ignorirati</a:t>
            </a:r>
            <a:r>
              <a:rPr lang="en-US" dirty="0">
                <a:cs typeface="Arial" panose="020B0604020202020204" pitchFamily="34" charset="0"/>
              </a:rPr>
              <a:t> i ne </a:t>
            </a:r>
            <a:r>
              <a:rPr lang="en-US" dirty="0" err="1">
                <a:cs typeface="Arial" panose="020B0604020202020204" pitchFamily="34" charset="0"/>
              </a:rPr>
              <a:t>obavještava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dionike</a:t>
            </a:r>
            <a:r>
              <a:rPr lang="en-US" dirty="0">
                <a:cs typeface="Arial" panose="020B0604020202020204" pitchFamily="34" charset="0"/>
              </a:rPr>
              <a:t>. </a:t>
            </a:r>
            <a:r>
              <a:rPr lang="en-US" dirty="0" err="1">
                <a:cs typeface="Arial" panose="020B0604020202020204" pitchFamily="34" charset="0"/>
              </a:rPr>
              <a:t>Pretpostavlja</a:t>
            </a:r>
            <a:r>
              <a:rPr lang="en-US" dirty="0">
                <a:cs typeface="Arial" panose="020B0604020202020204" pitchFamily="34" charset="0"/>
              </a:rPr>
              <a:t> da </a:t>
            </a:r>
            <a:r>
              <a:rPr lang="en-US" dirty="0" err="1">
                <a:cs typeface="Arial" panose="020B0604020202020204" pitchFamily="34" charset="0"/>
              </a:rPr>
              <a:t>će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tim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nekako</a:t>
            </a:r>
            <a:r>
              <a:rPr lang="en-US" dirty="0">
                <a:cs typeface="Arial" panose="020B0604020202020204" pitchFamily="34" charset="0"/>
              </a:rPr>
              <a:t> „</a:t>
            </a:r>
            <a:r>
              <a:rPr lang="en-US" dirty="0" err="1">
                <a:cs typeface="Arial" panose="020B0604020202020204" pitchFamily="34" charset="0"/>
              </a:rPr>
              <a:t>riješiti</a:t>
            </a:r>
            <a:r>
              <a:rPr lang="en-US" dirty="0">
                <a:cs typeface="Arial" panose="020B0604020202020204" pitchFamily="34" charset="0"/>
              </a:rPr>
              <a:t> problem“ u </a:t>
            </a:r>
            <a:r>
              <a:rPr lang="en-US" dirty="0" err="1">
                <a:cs typeface="Arial" panose="020B0604020202020204" pitchFamily="34" charset="0"/>
              </a:rPr>
              <a:t>zadnji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trenutak</a:t>
            </a:r>
            <a:r>
              <a:rPr lang="en-US" dirty="0">
                <a:cs typeface="Arial" panose="020B0604020202020204" pitchFamily="34" charset="0"/>
              </a:rPr>
              <a:t>. Kao </a:t>
            </a:r>
            <a:r>
              <a:rPr lang="en-US" dirty="0" err="1">
                <a:cs typeface="Arial" panose="020B0604020202020204" pitchFamily="34" charset="0"/>
              </a:rPr>
              <a:t>rezultat</a:t>
            </a:r>
            <a:r>
              <a:rPr lang="en-US" dirty="0">
                <a:cs typeface="Arial" panose="020B0604020202020204" pitchFamily="34" charset="0"/>
              </a:rPr>
              <a:t> toga, </a:t>
            </a:r>
            <a:r>
              <a:rPr lang="en-US" dirty="0" err="1">
                <a:cs typeface="Arial" panose="020B0604020202020204" pitchFamily="34" charset="0"/>
              </a:rPr>
              <a:t>projekt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kasni</a:t>
            </a:r>
            <a:r>
              <a:rPr lang="en-US" dirty="0">
                <a:cs typeface="Arial" panose="020B0604020202020204" pitchFamily="34" charset="0"/>
              </a:rPr>
              <a:t>, </a:t>
            </a:r>
            <a:r>
              <a:rPr lang="en-US" dirty="0" err="1">
                <a:cs typeface="Arial" panose="020B0604020202020204" pitchFamily="34" charset="0"/>
              </a:rPr>
              <a:t>što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narušava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reputaciju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tvrtke</a:t>
            </a:r>
            <a:r>
              <a:rPr lang="en-US" dirty="0">
                <a:cs typeface="Arial" panose="020B0604020202020204" pitchFamily="34" charset="0"/>
              </a:rPr>
              <a:t> i </a:t>
            </a:r>
            <a:r>
              <a:rPr lang="en-US" dirty="0" err="1">
                <a:cs typeface="Arial" panose="020B0604020202020204" pitchFamily="34" charset="0"/>
              </a:rPr>
              <a:t>uzrokuje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nezadovoljstvo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među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dionicima</a:t>
            </a:r>
            <a:r>
              <a:rPr lang="en-US" dirty="0">
                <a:cs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9C18AF5-13A7-E997-B92E-63519D0CFE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21690" y="5725972"/>
            <a:ext cx="970310" cy="1132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61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A44B7-1E53-8BC7-3D7F-9273E61F8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323EB1-24A4-A824-8D18-64121B482B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Procjena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44930B-56AB-9D99-6E29-BF65569BBA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3640" y="2171306"/>
            <a:ext cx="11244719" cy="4927325"/>
          </a:xfrm>
        </p:spPr>
        <p:txBody>
          <a:bodyPr>
            <a:noAutofit/>
          </a:bodyPr>
          <a:lstStyle/>
          <a:p>
            <a:r>
              <a:rPr lang="en-US" dirty="0">
                <a:cs typeface="Arial" panose="020B0604020202020204" pitchFamily="34" charset="0"/>
              </a:rPr>
              <a:t>Sarah </a:t>
            </a:r>
            <a:r>
              <a:rPr lang="en-US" dirty="0" err="1">
                <a:cs typeface="Arial" panose="020B0604020202020204" pitchFamily="34" charset="0"/>
              </a:rPr>
              <a:t>dodjeljuje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najkritičnije</a:t>
            </a:r>
            <a:r>
              <a:rPr lang="en-US" dirty="0">
                <a:cs typeface="Arial" panose="020B0604020202020204" pitchFamily="34" charset="0"/>
              </a:rPr>
              <a:t> i </a:t>
            </a:r>
            <a:r>
              <a:rPr lang="en-US" dirty="0" err="1">
                <a:cs typeface="Arial" panose="020B0604020202020204" pitchFamily="34" charset="0"/>
              </a:rPr>
              <a:t>najzahtjevnije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zadatke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nekolicini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iskusnijih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developera</a:t>
            </a:r>
            <a:r>
              <a:rPr lang="en-US" dirty="0">
                <a:cs typeface="Arial" panose="020B0604020202020204" pitchFamily="34" charset="0"/>
              </a:rPr>
              <a:t> bez </a:t>
            </a:r>
            <a:r>
              <a:rPr lang="en-US" dirty="0" err="1">
                <a:cs typeface="Arial" panose="020B0604020202020204" pitchFamily="34" charset="0"/>
              </a:rPr>
              <a:t>uzimanja</a:t>
            </a:r>
            <a:r>
              <a:rPr lang="en-US" dirty="0">
                <a:cs typeface="Arial" panose="020B0604020202020204" pitchFamily="34" charset="0"/>
              </a:rPr>
              <a:t> u </a:t>
            </a:r>
            <a:r>
              <a:rPr lang="en-US" dirty="0" err="1">
                <a:cs typeface="Arial" panose="020B0604020202020204" pitchFamily="34" charset="0"/>
              </a:rPr>
              <a:t>obzir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raspodjele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opterećenja</a:t>
            </a:r>
            <a:r>
              <a:rPr lang="en-US" dirty="0">
                <a:cs typeface="Arial" panose="020B0604020202020204" pitchFamily="34" charset="0"/>
              </a:rPr>
              <a:t>. U </a:t>
            </a:r>
            <a:r>
              <a:rPr lang="en-US" dirty="0" err="1">
                <a:cs typeface="Arial" panose="020B0604020202020204" pitchFamily="34" charset="0"/>
              </a:rPr>
              <a:t>međuvremenu</a:t>
            </a:r>
            <a:r>
              <a:rPr lang="en-US" dirty="0">
                <a:cs typeface="Arial" panose="020B0604020202020204" pitchFamily="34" charset="0"/>
              </a:rPr>
              <a:t>, </a:t>
            </a:r>
            <a:r>
              <a:rPr lang="en-US" dirty="0" err="1">
                <a:cs typeface="Arial" panose="020B0604020202020204" pitchFamily="34" charset="0"/>
              </a:rPr>
              <a:t>drugi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članovi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tima</a:t>
            </a:r>
            <a:r>
              <a:rPr lang="en-US" dirty="0">
                <a:cs typeface="Arial" panose="020B0604020202020204" pitchFamily="34" charset="0"/>
              </a:rPr>
              <a:t> s </a:t>
            </a:r>
            <a:r>
              <a:rPr lang="en-US" dirty="0" err="1">
                <a:cs typeface="Arial" panose="020B0604020202020204" pitchFamily="34" charset="0"/>
              </a:rPr>
              <a:t>manje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obveza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imaju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više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vremena</a:t>
            </a:r>
            <a:r>
              <a:rPr lang="en-US" dirty="0">
                <a:cs typeface="Arial" panose="020B0604020202020204" pitchFamily="34" charset="0"/>
              </a:rPr>
              <a:t>, </a:t>
            </a:r>
            <a:r>
              <a:rPr lang="en-US" dirty="0" err="1">
                <a:cs typeface="Arial" panose="020B0604020202020204" pitchFamily="34" charset="0"/>
              </a:rPr>
              <a:t>ali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im</a:t>
            </a:r>
            <a:r>
              <a:rPr lang="en-US" dirty="0">
                <a:cs typeface="Arial" panose="020B0604020202020204" pitchFamily="34" charset="0"/>
              </a:rPr>
              <a:t> se ne </a:t>
            </a:r>
            <a:r>
              <a:rPr lang="en-US" dirty="0" err="1">
                <a:cs typeface="Arial" panose="020B0604020202020204" pitchFamily="34" charset="0"/>
              </a:rPr>
              <a:t>daje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prilika</a:t>
            </a:r>
            <a:r>
              <a:rPr lang="en-US" dirty="0">
                <a:cs typeface="Arial" panose="020B0604020202020204" pitchFamily="34" charset="0"/>
              </a:rPr>
              <a:t> da </a:t>
            </a:r>
            <a:r>
              <a:rPr lang="en-US" dirty="0" err="1">
                <a:cs typeface="Arial" panose="020B0604020202020204" pitchFamily="34" charset="0"/>
              </a:rPr>
              <a:t>smisleno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doprinesu</a:t>
            </a:r>
            <a:r>
              <a:rPr lang="en-US" dirty="0">
                <a:cs typeface="Arial" panose="020B0604020202020204" pitchFamily="34" charset="0"/>
              </a:rPr>
              <a:t>. To </a:t>
            </a:r>
            <a:r>
              <a:rPr lang="en-US" dirty="0" err="1">
                <a:cs typeface="Arial" panose="020B0604020202020204" pitchFamily="34" charset="0"/>
              </a:rPr>
              <a:t>dovodi</a:t>
            </a:r>
            <a:r>
              <a:rPr lang="en-US" dirty="0">
                <a:cs typeface="Arial" panose="020B0604020202020204" pitchFamily="34" charset="0"/>
              </a:rPr>
              <a:t> do </a:t>
            </a:r>
            <a:r>
              <a:rPr lang="en-US" dirty="0" err="1">
                <a:cs typeface="Arial" panose="020B0604020202020204" pitchFamily="34" charset="0"/>
              </a:rPr>
              <a:t>izgaranja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kod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iskusnijih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developera</a:t>
            </a:r>
            <a:r>
              <a:rPr lang="en-US" dirty="0">
                <a:cs typeface="Arial" panose="020B0604020202020204" pitchFamily="34" charset="0"/>
              </a:rPr>
              <a:t> i </a:t>
            </a:r>
            <a:r>
              <a:rPr lang="en-US" dirty="0" err="1">
                <a:cs typeface="Arial" panose="020B0604020202020204" pitchFamily="34" charset="0"/>
              </a:rPr>
              <a:t>nezadovoljstva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unutar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tima</a:t>
            </a:r>
            <a:r>
              <a:rPr lang="en-US" dirty="0">
                <a:cs typeface="Arial" panose="020B0604020202020204" pitchFamily="34" charset="0"/>
              </a:rPr>
              <a:t>, </a:t>
            </a:r>
            <a:r>
              <a:rPr lang="en-US" dirty="0" err="1">
                <a:cs typeface="Arial" panose="020B0604020202020204" pitchFamily="34" charset="0"/>
              </a:rPr>
              <a:t>jer</a:t>
            </a:r>
            <a:r>
              <a:rPr lang="en-US" dirty="0">
                <a:cs typeface="Arial" panose="020B0604020202020204" pitchFamily="34" charset="0"/>
              </a:rPr>
              <a:t> se </a:t>
            </a:r>
            <a:r>
              <a:rPr lang="en-US" dirty="0" err="1">
                <a:cs typeface="Arial" panose="020B0604020202020204" pitchFamily="34" charset="0"/>
              </a:rPr>
              <a:t>neki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zaposlenici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osjećaju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preopterećeno</a:t>
            </a:r>
            <a:r>
              <a:rPr lang="en-US" dirty="0">
                <a:cs typeface="Arial" panose="020B0604020202020204" pitchFamily="34" charset="0"/>
              </a:rPr>
              <a:t>, </a:t>
            </a:r>
            <a:r>
              <a:rPr lang="en-US" dirty="0" err="1">
                <a:cs typeface="Arial" panose="020B0604020202020204" pitchFamily="34" charset="0"/>
              </a:rPr>
              <a:t>dok</a:t>
            </a:r>
            <a:r>
              <a:rPr lang="en-US" dirty="0">
                <a:cs typeface="Arial" panose="020B0604020202020204" pitchFamily="34" charset="0"/>
              </a:rPr>
              <a:t> se </a:t>
            </a:r>
            <a:r>
              <a:rPr lang="en-US" dirty="0" err="1">
                <a:cs typeface="Arial" panose="020B0604020202020204" pitchFamily="34" charset="0"/>
              </a:rPr>
              <a:t>drugi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osjećaju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podcijenjeno</a:t>
            </a:r>
            <a:r>
              <a:rPr lang="en-US" dirty="0">
                <a:cs typeface="Arial" panose="020B0604020202020204" pitchFamily="34" charset="0"/>
              </a:rPr>
              <a:t>.</a:t>
            </a:r>
          </a:p>
          <a:p>
            <a:endParaRPr lang="en-US" dirty="0"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b="1" dirty="0">
                <a:cs typeface="Arial" panose="020B0604020202020204" pitchFamily="34" charset="0"/>
              </a:rPr>
              <a:t>P 1: Koja </a:t>
            </a:r>
            <a:r>
              <a:rPr lang="en-US" b="1" dirty="0" err="1">
                <a:cs typeface="Arial" panose="020B0604020202020204" pitchFamily="34" charset="0"/>
              </a:rPr>
              <a:t>su</a:t>
            </a:r>
            <a:r>
              <a:rPr lang="en-US" b="1" dirty="0">
                <a:cs typeface="Arial" panose="020B0604020202020204" pitchFamily="34" charset="0"/>
              </a:rPr>
              <a:t> </a:t>
            </a:r>
            <a:r>
              <a:rPr lang="en-US" b="1" dirty="0" err="1">
                <a:cs typeface="Arial" panose="020B0604020202020204" pitchFamily="34" charset="0"/>
              </a:rPr>
              <a:t>načela</a:t>
            </a:r>
            <a:r>
              <a:rPr lang="en-US" b="1" dirty="0">
                <a:cs typeface="Arial" panose="020B0604020202020204" pitchFamily="34" charset="0"/>
              </a:rPr>
              <a:t> </a:t>
            </a:r>
            <a:r>
              <a:rPr lang="en-US" b="1" dirty="0" err="1">
                <a:cs typeface="Arial" panose="020B0604020202020204" pitchFamily="34" charset="0"/>
              </a:rPr>
              <a:t>koja</a:t>
            </a:r>
            <a:r>
              <a:rPr lang="en-US" b="1" dirty="0">
                <a:cs typeface="Arial" panose="020B0604020202020204" pitchFamily="34" charset="0"/>
              </a:rPr>
              <a:t> je </a:t>
            </a:r>
            <a:r>
              <a:rPr lang="en-US" b="1" dirty="0" err="1">
                <a:cs typeface="Arial" panose="020B0604020202020204" pitchFamily="34" charset="0"/>
              </a:rPr>
              <a:t>voditeljica</a:t>
            </a:r>
            <a:r>
              <a:rPr lang="en-US" b="1" dirty="0">
                <a:cs typeface="Arial" panose="020B0604020202020204" pitchFamily="34" charset="0"/>
              </a:rPr>
              <a:t> </a:t>
            </a:r>
            <a:r>
              <a:rPr lang="en-US" b="1" dirty="0" err="1">
                <a:cs typeface="Arial" panose="020B0604020202020204" pitchFamily="34" charset="0"/>
              </a:rPr>
              <a:t>projekta</a:t>
            </a:r>
            <a:r>
              <a:rPr lang="en-US" b="1" dirty="0">
                <a:cs typeface="Arial" panose="020B0604020202020204" pitchFamily="34" charset="0"/>
              </a:rPr>
              <a:t> </a:t>
            </a:r>
            <a:r>
              <a:rPr lang="en-US" b="1" dirty="0" err="1">
                <a:cs typeface="Arial" panose="020B0604020202020204" pitchFamily="34" charset="0"/>
              </a:rPr>
              <a:t>prekršila</a:t>
            </a:r>
            <a:r>
              <a:rPr lang="en-US" b="1" dirty="0">
                <a:cs typeface="Arial" panose="020B0604020202020204" pitchFamily="34" charset="0"/>
              </a:rPr>
              <a:t>?</a:t>
            </a:r>
          </a:p>
          <a:p>
            <a:pPr marL="0" indent="0">
              <a:buNone/>
            </a:pPr>
            <a:r>
              <a:rPr lang="en-US" b="1" dirty="0">
                <a:cs typeface="Arial" panose="020B0604020202020204" pitchFamily="34" charset="0"/>
              </a:rPr>
              <a:t>P 2: Kako bi </a:t>
            </a:r>
            <a:r>
              <a:rPr lang="en-US" b="1" dirty="0" err="1">
                <a:cs typeface="Arial" panose="020B0604020202020204" pitchFamily="34" charset="0"/>
              </a:rPr>
              <a:t>trebala</a:t>
            </a:r>
            <a:r>
              <a:rPr lang="en-US" b="1" dirty="0">
                <a:cs typeface="Arial" panose="020B0604020202020204" pitchFamily="34" charset="0"/>
              </a:rPr>
              <a:t> </a:t>
            </a:r>
            <a:r>
              <a:rPr lang="en-US" b="1" dirty="0" err="1">
                <a:cs typeface="Arial" panose="020B0604020202020204" pitchFamily="34" charset="0"/>
              </a:rPr>
              <a:t>postupiti</a:t>
            </a:r>
            <a:r>
              <a:rPr lang="en-US" b="1" dirty="0">
                <a:cs typeface="Arial" panose="020B0604020202020204" pitchFamily="34" charset="0"/>
              </a:rPr>
              <a:t> u </a:t>
            </a:r>
            <a:r>
              <a:rPr lang="en-US" b="1" dirty="0" err="1">
                <a:cs typeface="Arial" panose="020B0604020202020204" pitchFamily="34" charset="0"/>
              </a:rPr>
              <a:t>tim</a:t>
            </a:r>
            <a:r>
              <a:rPr lang="en-US" b="1" dirty="0">
                <a:cs typeface="Arial" panose="020B0604020202020204" pitchFamily="34" charset="0"/>
              </a:rPr>
              <a:t> </a:t>
            </a:r>
            <a:r>
              <a:rPr lang="en-US" b="1" dirty="0" err="1">
                <a:cs typeface="Arial" panose="020B0604020202020204" pitchFamily="34" charset="0"/>
              </a:rPr>
              <a:t>situacijama</a:t>
            </a:r>
            <a:r>
              <a:rPr lang="en-US" b="1" dirty="0">
                <a:cs typeface="Arial" panose="020B0604020202020204" pitchFamily="34" charset="0"/>
              </a:rPr>
              <a:t>?</a:t>
            </a:r>
          </a:p>
          <a:p>
            <a:pPr marL="0" indent="0">
              <a:buNone/>
            </a:pPr>
            <a:endParaRPr lang="en-US" sz="2200" dirty="0">
              <a:cs typeface="Arial" panose="020B0604020202020204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AFA66C1-7034-DC3B-C0C8-2DF8ECD4CF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21690" y="5725972"/>
            <a:ext cx="970310" cy="11320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40396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335A3E-CEE0-04D4-CD07-51462A214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Naslov 3">
            <a:extLst>
              <a:ext uri="{FF2B5EF4-FFF2-40B4-BE49-F238E27FC236}">
                <a16:creationId xmlns:a16="http://schemas.microsoft.com/office/drawing/2014/main" id="{1B74B525-7003-DAF8-C6AE-B23CD290DD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533700" y="1208604"/>
            <a:ext cx="9144000" cy="2387600"/>
          </a:xfrm>
        </p:spPr>
        <p:txBody>
          <a:bodyPr>
            <a:normAutofit/>
          </a:bodyPr>
          <a:lstStyle/>
          <a:p>
            <a:r>
              <a:rPr lang="en-US" dirty="0"/>
              <a:t>OSNOVE UPRAVLJANJA PROJEKTIMA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A60EDC78-3F6D-4AB7-52C0-67A3686983F8}"/>
              </a:ext>
            </a:extLst>
          </p:cNvPr>
          <p:cNvSpPr txBox="1">
            <a:spLocks/>
          </p:cNvSpPr>
          <p:nvPr/>
        </p:nvSpPr>
        <p:spPr>
          <a:xfrm>
            <a:off x="4127822" y="3811989"/>
            <a:ext cx="7639063" cy="1837407"/>
          </a:xfrm>
          <a:prstGeom prst="rect">
            <a:avLst/>
          </a:prstGeom>
          <a:noFill/>
        </p:spPr>
        <p:txBody>
          <a:bodyPr vert="horz" lIns="91440" tIns="45720" rIns="91440" bIns="45720" rtlCol="0" anchor="b">
            <a:normAutofit/>
          </a:bodyPr>
          <a:lstStyle>
            <a:lvl1pPr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Montserrat" panose="00000500000000000000" pitchFamily="2" charset="-18"/>
                <a:ea typeface="+mj-ea"/>
                <a:cs typeface="+mj-cs"/>
              </a:defRPr>
            </a:lvl1pPr>
          </a:lstStyle>
          <a:p>
            <a:pPr marL="0" marR="0" lvl="0" indent="0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Bahnschrift" panose="020B0502040204020203" pitchFamily="34" charset="0"/>
              </a:rPr>
              <a:t>Liderske </a:t>
            </a:r>
            <a:r>
              <a:rPr kumimoji="0" lang="en-US" sz="44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Bahnschrift" panose="020B0502040204020203" pitchFamily="34" charset="0"/>
              </a:rPr>
              <a:t>vještine</a:t>
            </a: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Bahnschrift" panose="020B0502040204020203" pitchFamily="34" charset="0"/>
              </a:rPr>
              <a:t> u </a:t>
            </a:r>
            <a:r>
              <a:rPr kumimoji="0" lang="en-US" sz="44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Bahnschrift" panose="020B0502040204020203" pitchFamily="34" charset="0"/>
              </a:rPr>
              <a:t>projektnom</a:t>
            </a:r>
            <a:r>
              <a:rPr kumimoji="0" lang="en-US" sz="4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Bahnschrift" panose="020B0502040204020203" pitchFamily="34" charset="0"/>
              </a:rPr>
              <a:t> </a:t>
            </a:r>
            <a:r>
              <a:rPr kumimoji="0" lang="en-US" sz="44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latin typeface="Bahnschrift" panose="020B0502040204020203" pitchFamily="34" charset="0"/>
              </a:rPr>
              <a:t>okruženju</a:t>
            </a:r>
            <a:endParaRPr kumimoji="0" lang="en-US" sz="4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628326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A25ECDD-C982-0335-DDFC-8C878882CC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64" y="164708"/>
            <a:ext cx="10440499" cy="1339239"/>
          </a:xfrm>
        </p:spPr>
        <p:txBody>
          <a:bodyPr anchor="ctr">
            <a:normAutofit/>
          </a:bodyPr>
          <a:lstStyle/>
          <a:p>
            <a:r>
              <a:rPr lang="pl-PL" dirty="0"/>
              <a:t>ČINJENICE o liderskim vještinama potrebnima za voditelja projekta: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507517-92C0-7697-0B69-47E4D406B7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263" y="1725416"/>
            <a:ext cx="11430989" cy="4967875"/>
          </a:xfrm>
        </p:spPr>
        <p:txBody>
          <a:bodyPr>
            <a:no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sz="3200" dirty="0" err="1"/>
              <a:t>Projektni</a:t>
            </a:r>
            <a:r>
              <a:rPr lang="en-US" sz="3200" dirty="0"/>
              <a:t> </a:t>
            </a:r>
            <a:r>
              <a:rPr lang="en-US" sz="3200" dirty="0" err="1"/>
              <a:t>tim</a:t>
            </a:r>
            <a:r>
              <a:rPr lang="en-US" sz="3200" dirty="0"/>
              <a:t> </a:t>
            </a:r>
            <a:r>
              <a:rPr lang="en-US" sz="3200" dirty="0" err="1"/>
              <a:t>sastoji</a:t>
            </a:r>
            <a:r>
              <a:rPr lang="en-US" sz="3200" dirty="0"/>
              <a:t> se od </a:t>
            </a:r>
            <a:r>
              <a:rPr lang="en-US" sz="3200" dirty="0" err="1"/>
              <a:t>skupine</a:t>
            </a:r>
            <a:r>
              <a:rPr lang="en-US" sz="3200" dirty="0"/>
              <a:t> </a:t>
            </a:r>
            <a:r>
              <a:rPr lang="en-US" sz="3200" dirty="0" err="1"/>
              <a:t>ljudi</a:t>
            </a:r>
            <a:r>
              <a:rPr lang="en-US" sz="3200" dirty="0"/>
              <a:t>, </a:t>
            </a:r>
            <a:r>
              <a:rPr lang="en-US" sz="3200" dirty="0" err="1"/>
              <a:t>predvođenih</a:t>
            </a:r>
            <a:r>
              <a:rPr lang="en-US" sz="3200" dirty="0"/>
              <a:t> </a:t>
            </a:r>
            <a:r>
              <a:rPr lang="en-US" sz="3200" dirty="0" err="1"/>
              <a:t>voditeljem</a:t>
            </a:r>
            <a:r>
              <a:rPr lang="en-US" sz="3200" dirty="0"/>
              <a:t> </a:t>
            </a:r>
            <a:r>
              <a:rPr lang="en-US" sz="3200" dirty="0" err="1"/>
              <a:t>projekta</a:t>
            </a:r>
            <a:r>
              <a:rPr lang="en-US" sz="3200" dirty="0"/>
              <a:t>, koji </a:t>
            </a:r>
            <a:r>
              <a:rPr lang="en-US" sz="3200" dirty="0" err="1"/>
              <a:t>zajedno</a:t>
            </a:r>
            <a:r>
              <a:rPr lang="en-US" sz="3200" dirty="0"/>
              <a:t> </a:t>
            </a:r>
            <a:r>
              <a:rPr lang="en-US" sz="3200" dirty="0" err="1"/>
              <a:t>rade</a:t>
            </a:r>
            <a:r>
              <a:rPr lang="en-US" sz="3200" dirty="0"/>
              <a:t> </a:t>
            </a:r>
            <a:r>
              <a:rPr lang="en-US" sz="3200" dirty="0" err="1"/>
              <a:t>na</a:t>
            </a:r>
            <a:r>
              <a:rPr lang="en-US" sz="3200" dirty="0"/>
              <a:t> </a:t>
            </a:r>
            <a:r>
              <a:rPr lang="en-US" sz="3200" dirty="0" err="1"/>
              <a:t>realizaciji</a:t>
            </a:r>
            <a:r>
              <a:rPr lang="en-US" sz="3200" dirty="0"/>
              <a:t> </a:t>
            </a:r>
            <a:r>
              <a:rPr lang="en-US" sz="3200" dirty="0" err="1"/>
              <a:t>projekta</a:t>
            </a:r>
            <a:r>
              <a:rPr lang="en-US" sz="3200" dirty="0"/>
              <a:t>.</a:t>
            </a:r>
          </a:p>
          <a:p>
            <a:pPr marL="514350" indent="-514350">
              <a:buFont typeface="+mj-lt"/>
              <a:buAutoNum type="arabicPeriod"/>
            </a:pPr>
            <a:endParaRPr lang="en-US" sz="3200" dirty="0"/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Zadatak </a:t>
            </a:r>
            <a:r>
              <a:rPr lang="en-US" sz="3200" dirty="0" err="1"/>
              <a:t>voditelja</a:t>
            </a:r>
            <a:r>
              <a:rPr lang="en-US" sz="3200" dirty="0"/>
              <a:t> </a:t>
            </a:r>
            <a:r>
              <a:rPr lang="en-US" sz="3200" dirty="0" err="1"/>
              <a:t>projekta</a:t>
            </a:r>
            <a:r>
              <a:rPr lang="en-US" sz="3200" dirty="0"/>
              <a:t> je </a:t>
            </a:r>
            <a:r>
              <a:rPr lang="en-US" sz="3200" dirty="0" err="1"/>
              <a:t>organizirati</a:t>
            </a:r>
            <a:r>
              <a:rPr lang="en-US" sz="3200" dirty="0"/>
              <a:t> i </a:t>
            </a:r>
            <a:r>
              <a:rPr lang="en-US" sz="3200" dirty="0" err="1"/>
              <a:t>sam</a:t>
            </a:r>
            <a:r>
              <a:rPr lang="en-US" sz="3200" dirty="0"/>
              <a:t> </a:t>
            </a:r>
            <a:r>
              <a:rPr lang="en-US" sz="3200" dirty="0" err="1"/>
              <a:t>projekt</a:t>
            </a:r>
            <a:r>
              <a:rPr lang="en-US" sz="3200" dirty="0"/>
              <a:t> i </a:t>
            </a:r>
            <a:r>
              <a:rPr lang="en-US" sz="3200" dirty="0" err="1"/>
              <a:t>članove</a:t>
            </a:r>
            <a:r>
              <a:rPr lang="en-US" sz="3200" dirty="0"/>
              <a:t> </a:t>
            </a:r>
            <a:r>
              <a:rPr lang="en-US" sz="3200" dirty="0" err="1"/>
              <a:t>tima</a:t>
            </a:r>
            <a:r>
              <a:rPr lang="en-US" sz="3200" dirty="0"/>
              <a:t> koji </a:t>
            </a:r>
            <a:r>
              <a:rPr lang="en-US" sz="3200" dirty="0" err="1"/>
              <a:t>na</a:t>
            </a:r>
            <a:r>
              <a:rPr lang="en-US" sz="3200" dirty="0"/>
              <a:t> </a:t>
            </a:r>
            <a:r>
              <a:rPr lang="en-US" sz="3200" dirty="0" err="1"/>
              <a:t>njemu</a:t>
            </a:r>
            <a:r>
              <a:rPr lang="en-US" sz="3200" dirty="0"/>
              <a:t> </a:t>
            </a:r>
            <a:r>
              <a:rPr lang="en-US" sz="3200" dirty="0" err="1"/>
              <a:t>rade</a:t>
            </a:r>
            <a:r>
              <a:rPr lang="en-US" sz="3200" dirty="0"/>
              <a:t>.</a:t>
            </a:r>
          </a:p>
          <a:p>
            <a:pPr marL="514350" indent="-514350">
              <a:buFont typeface="+mj-lt"/>
              <a:buAutoNum type="arabicPeriod"/>
            </a:pPr>
            <a:endParaRPr lang="en-US" sz="3200" dirty="0"/>
          </a:p>
          <a:p>
            <a:pPr marL="514350" indent="-514350">
              <a:buFont typeface="+mj-lt"/>
              <a:buAutoNum type="arabicPeriod"/>
            </a:pPr>
            <a:r>
              <a:rPr lang="en-US" sz="3200" dirty="0" err="1"/>
              <a:t>Voditelj</a:t>
            </a:r>
            <a:r>
              <a:rPr lang="en-US" sz="3200" dirty="0"/>
              <a:t> </a:t>
            </a:r>
            <a:r>
              <a:rPr lang="en-US" sz="3200" dirty="0" err="1"/>
              <a:t>projekta</a:t>
            </a:r>
            <a:r>
              <a:rPr lang="en-US" sz="3200" dirty="0"/>
              <a:t> </a:t>
            </a:r>
            <a:r>
              <a:rPr lang="en-US" sz="3200" dirty="0" err="1"/>
              <a:t>zapravo</a:t>
            </a:r>
            <a:r>
              <a:rPr lang="en-US" sz="3200" dirty="0"/>
              <a:t> je </a:t>
            </a:r>
            <a:r>
              <a:rPr lang="en-US" sz="3200" dirty="0" err="1"/>
              <a:t>lider</a:t>
            </a:r>
            <a:r>
              <a:rPr lang="en-US" sz="3200" dirty="0"/>
              <a:t> </a:t>
            </a:r>
            <a:r>
              <a:rPr lang="en-US" sz="3200" dirty="0" err="1"/>
              <a:t>projekta</a:t>
            </a:r>
            <a:r>
              <a:rPr lang="en-US" sz="3200" dirty="0"/>
              <a:t>, a ne </a:t>
            </a:r>
            <a:r>
              <a:rPr lang="en-US" sz="3200" dirty="0" err="1"/>
              <a:t>samo</a:t>
            </a:r>
            <a:r>
              <a:rPr lang="en-US" sz="3200" dirty="0"/>
              <a:t> </a:t>
            </a:r>
            <a:r>
              <a:rPr lang="en-US" sz="3200" dirty="0" err="1"/>
              <a:t>menadžer</a:t>
            </a:r>
            <a:r>
              <a:rPr lang="en-US" sz="3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811162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257C4-B979-99AB-443C-7E0E51665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79FE011-2670-A49A-F01D-6C72C3C81E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3564" y="164708"/>
            <a:ext cx="10440499" cy="1339239"/>
          </a:xfrm>
        </p:spPr>
        <p:txBody>
          <a:bodyPr anchor="ctr">
            <a:normAutofit/>
          </a:bodyPr>
          <a:lstStyle/>
          <a:p>
            <a:r>
              <a:rPr lang="pl-PL" dirty="0"/>
              <a:t>ČINJENICE o liderskim vještinama potrebnima za voditelja projekta: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E3C3B3C-DC8A-726B-A4DA-688552FDCB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263" y="1725416"/>
            <a:ext cx="11430989" cy="4967875"/>
          </a:xfrm>
        </p:spPr>
        <p:txBody>
          <a:bodyPr>
            <a:noAutofit/>
          </a:bodyPr>
          <a:lstStyle/>
          <a:p>
            <a:pPr marL="514350" indent="-514350">
              <a:buFont typeface="+mj-lt"/>
              <a:buAutoNum type="arabicPeriod" startAt="4"/>
            </a:pPr>
            <a:r>
              <a:rPr lang="en-US" sz="3200" dirty="0" err="1"/>
              <a:t>Vodstvo</a:t>
            </a:r>
            <a:r>
              <a:rPr lang="en-US" sz="3200" dirty="0"/>
              <a:t> u </a:t>
            </a:r>
            <a:r>
              <a:rPr lang="en-US" sz="3200" dirty="0" err="1"/>
              <a:t>projektu</a:t>
            </a:r>
            <a:r>
              <a:rPr lang="en-US" sz="3200" dirty="0"/>
              <a:t> </a:t>
            </a:r>
            <a:r>
              <a:rPr lang="en-US" sz="3200" dirty="0" err="1"/>
              <a:t>podrazumijeva</a:t>
            </a:r>
            <a:r>
              <a:rPr lang="en-US" sz="3200" dirty="0"/>
              <a:t>: </a:t>
            </a:r>
            <a:r>
              <a:rPr lang="en-US" sz="3200" dirty="0" err="1"/>
              <a:t>uspostavljanje</a:t>
            </a:r>
            <a:r>
              <a:rPr lang="en-US" sz="3200" dirty="0"/>
              <a:t> </a:t>
            </a:r>
            <a:r>
              <a:rPr lang="en-US" sz="3200" dirty="0" err="1"/>
              <a:t>komunikacijskih</a:t>
            </a:r>
            <a:r>
              <a:rPr lang="en-US" sz="3200" dirty="0"/>
              <a:t> </a:t>
            </a:r>
            <a:r>
              <a:rPr lang="en-US" sz="3200" dirty="0" err="1"/>
              <a:t>kanala</a:t>
            </a:r>
            <a:r>
              <a:rPr lang="en-US" sz="3200" dirty="0"/>
              <a:t>, </a:t>
            </a:r>
            <a:r>
              <a:rPr lang="en-US" sz="3200" dirty="0" err="1"/>
              <a:t>pomaganje</a:t>
            </a:r>
            <a:r>
              <a:rPr lang="en-US" sz="3200" dirty="0"/>
              <a:t> </a:t>
            </a:r>
            <a:r>
              <a:rPr lang="en-US" sz="3200" dirty="0" err="1"/>
              <a:t>drugima</a:t>
            </a:r>
            <a:r>
              <a:rPr lang="en-US" sz="3200" dirty="0"/>
              <a:t> da </a:t>
            </a:r>
            <a:r>
              <a:rPr lang="en-US" sz="3200" dirty="0" err="1"/>
              <a:t>dijele</a:t>
            </a:r>
            <a:r>
              <a:rPr lang="en-US" sz="3200" dirty="0"/>
              <a:t> </a:t>
            </a:r>
            <a:r>
              <a:rPr lang="en-US" sz="3200" dirty="0" err="1"/>
              <a:t>ideje</a:t>
            </a:r>
            <a:r>
              <a:rPr lang="en-US" sz="3200" dirty="0"/>
              <a:t>, </a:t>
            </a:r>
            <a:r>
              <a:rPr lang="en-US" sz="3200" dirty="0" err="1"/>
              <a:t>postavljanje</a:t>
            </a:r>
            <a:r>
              <a:rPr lang="en-US" sz="3200" dirty="0"/>
              <a:t> </a:t>
            </a:r>
            <a:r>
              <a:rPr lang="en-US" sz="3200" dirty="0" err="1"/>
              <a:t>rasporeda</a:t>
            </a:r>
            <a:r>
              <a:rPr lang="en-US" sz="3200" dirty="0"/>
              <a:t>, </a:t>
            </a:r>
            <a:r>
              <a:rPr lang="en-US" sz="3200" dirty="0" err="1"/>
              <a:t>evaluaciju</a:t>
            </a:r>
            <a:r>
              <a:rPr lang="en-US" sz="3200" dirty="0"/>
              <a:t> </a:t>
            </a:r>
            <a:r>
              <a:rPr lang="en-US" sz="3200" dirty="0" err="1"/>
              <a:t>napretka</a:t>
            </a:r>
            <a:r>
              <a:rPr lang="en-US" sz="3200" dirty="0"/>
              <a:t> </a:t>
            </a:r>
            <a:r>
              <a:rPr lang="en-US" sz="3200" dirty="0" err="1"/>
              <a:t>prema</a:t>
            </a:r>
            <a:r>
              <a:rPr lang="en-US" sz="3200" dirty="0"/>
              <a:t> </a:t>
            </a:r>
            <a:r>
              <a:rPr lang="en-US" sz="3200" dirty="0" err="1"/>
              <a:t>viziji</a:t>
            </a:r>
            <a:r>
              <a:rPr lang="en-US" sz="3200" dirty="0"/>
              <a:t> i </a:t>
            </a:r>
            <a:r>
              <a:rPr lang="en-US" sz="3200" dirty="0" err="1"/>
              <a:t>ciljevima</a:t>
            </a:r>
            <a:r>
              <a:rPr lang="en-US" sz="3200" dirty="0"/>
              <a:t> </a:t>
            </a:r>
            <a:r>
              <a:rPr lang="en-US" sz="3200" dirty="0" err="1"/>
              <a:t>projekta</a:t>
            </a:r>
            <a:r>
              <a:rPr lang="en-US" sz="3200" dirty="0"/>
              <a:t> </a:t>
            </a:r>
            <a:r>
              <a:rPr lang="en-US" sz="3200" dirty="0" err="1"/>
              <a:t>te</a:t>
            </a:r>
            <a:r>
              <a:rPr lang="en-US" sz="3200" dirty="0"/>
              <a:t> </a:t>
            </a:r>
            <a:r>
              <a:rPr lang="en-US" sz="3200" dirty="0" err="1"/>
              <a:t>povjerenje</a:t>
            </a:r>
            <a:r>
              <a:rPr lang="en-US" sz="3200" dirty="0"/>
              <a:t> u </a:t>
            </a:r>
            <a:r>
              <a:rPr lang="en-US" sz="3200" dirty="0" err="1"/>
              <a:t>članove</a:t>
            </a:r>
            <a:r>
              <a:rPr lang="en-US" sz="3200" dirty="0"/>
              <a:t> </a:t>
            </a:r>
            <a:r>
              <a:rPr lang="en-US" sz="3200" dirty="0" err="1"/>
              <a:t>tima</a:t>
            </a:r>
            <a:r>
              <a:rPr lang="en-US" sz="3200" dirty="0"/>
              <a:t> da </a:t>
            </a:r>
            <a:r>
              <a:rPr lang="en-US" sz="3200" dirty="0" err="1"/>
              <a:t>daju</a:t>
            </a:r>
            <a:r>
              <a:rPr lang="en-US" sz="3200" dirty="0"/>
              <a:t> </a:t>
            </a:r>
            <a:r>
              <a:rPr lang="en-US" sz="3200" dirty="0" err="1"/>
              <a:t>svoj</a:t>
            </a:r>
            <a:r>
              <a:rPr lang="en-US" sz="3200" dirty="0"/>
              <a:t> </a:t>
            </a:r>
            <a:r>
              <a:rPr lang="en-US" sz="3200" dirty="0" err="1"/>
              <a:t>maksimum</a:t>
            </a:r>
            <a:r>
              <a:rPr lang="en-US" sz="3200" dirty="0"/>
              <a:t>.</a:t>
            </a:r>
          </a:p>
          <a:p>
            <a:pPr marL="514350" indent="-514350">
              <a:buFont typeface="+mj-lt"/>
              <a:buAutoNum type="arabicPeriod" startAt="4"/>
            </a:pPr>
            <a:endParaRPr lang="en-US" sz="3200" dirty="0"/>
          </a:p>
          <a:p>
            <a:pPr marL="514350" indent="-514350">
              <a:buFont typeface="+mj-lt"/>
              <a:buAutoNum type="arabicPeriod" startAt="4"/>
            </a:pPr>
            <a:r>
              <a:rPr lang="en-US" sz="3200" dirty="0"/>
              <a:t>Dobar </a:t>
            </a:r>
            <a:r>
              <a:rPr lang="en-US" sz="3200" dirty="0" err="1"/>
              <a:t>voditelj</a:t>
            </a:r>
            <a:r>
              <a:rPr lang="en-US" sz="3200" dirty="0"/>
              <a:t> </a:t>
            </a:r>
            <a:r>
              <a:rPr lang="en-US" sz="3200" dirty="0" err="1"/>
              <a:t>projekta</a:t>
            </a:r>
            <a:r>
              <a:rPr lang="en-US" sz="3200" dirty="0"/>
              <a:t> </a:t>
            </a:r>
            <a:r>
              <a:rPr lang="en-US" sz="3200" dirty="0" err="1"/>
              <a:t>ima</a:t>
            </a:r>
            <a:r>
              <a:rPr lang="en-US" sz="3200" dirty="0"/>
              <a:t> </a:t>
            </a:r>
            <a:r>
              <a:rPr lang="en-US" sz="3200" dirty="0" err="1"/>
              <a:t>barem</a:t>
            </a:r>
            <a:r>
              <a:rPr lang="en-US" sz="3200" dirty="0"/>
              <a:t> tri </a:t>
            </a:r>
            <a:r>
              <a:rPr lang="en-US" sz="3200" dirty="0" err="1"/>
              <a:t>liderske</a:t>
            </a:r>
            <a:r>
              <a:rPr lang="en-US" sz="3200" dirty="0"/>
              <a:t> </a:t>
            </a:r>
            <a:r>
              <a:rPr lang="en-US" sz="3200" dirty="0" err="1"/>
              <a:t>vještine</a:t>
            </a:r>
            <a:r>
              <a:rPr lang="en-US" sz="3200" dirty="0"/>
              <a:t>: </a:t>
            </a:r>
            <a:r>
              <a:rPr lang="en-US" sz="3200" dirty="0" err="1"/>
              <a:t>vještine</a:t>
            </a:r>
            <a:r>
              <a:rPr lang="en-US" sz="3200" dirty="0"/>
              <a:t> </a:t>
            </a:r>
            <a:r>
              <a:rPr lang="en-US" sz="3200" dirty="0" err="1"/>
              <a:t>slušanja</a:t>
            </a:r>
            <a:r>
              <a:rPr lang="en-US" sz="3200" dirty="0"/>
              <a:t>, </a:t>
            </a:r>
            <a:r>
              <a:rPr lang="en-US" sz="3200" dirty="0" err="1"/>
              <a:t>učinkovite</a:t>
            </a:r>
            <a:r>
              <a:rPr lang="en-US" sz="3200" dirty="0"/>
              <a:t> </a:t>
            </a:r>
            <a:r>
              <a:rPr lang="en-US" sz="3200" dirty="0" err="1"/>
              <a:t>komunikacijske</a:t>
            </a:r>
            <a:r>
              <a:rPr lang="en-US" sz="3200" dirty="0"/>
              <a:t> </a:t>
            </a:r>
            <a:r>
              <a:rPr lang="en-US" sz="3200" dirty="0" err="1"/>
              <a:t>vještine</a:t>
            </a:r>
            <a:r>
              <a:rPr lang="en-US" sz="3200" dirty="0"/>
              <a:t> i </a:t>
            </a:r>
            <a:r>
              <a:rPr lang="en-US" sz="3200" dirty="0" err="1"/>
              <a:t>motivacijske</a:t>
            </a:r>
            <a:r>
              <a:rPr lang="en-US" sz="3200" dirty="0"/>
              <a:t> </a:t>
            </a:r>
            <a:r>
              <a:rPr lang="en-US" sz="3200" dirty="0" err="1"/>
              <a:t>vještine</a:t>
            </a:r>
            <a:r>
              <a:rPr lang="en-US" sz="32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79130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DEAADE-0467-FDE1-352C-C45467D4E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EB169B-0F36-1F31-0EEC-D99C94E6B3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en-US" sz="3800" dirty="0"/>
              <a:t>Maslowljeva </a:t>
            </a:r>
            <a:r>
              <a:rPr lang="en-US" altLang="en-US" sz="3800" dirty="0" err="1"/>
              <a:t>teorija</a:t>
            </a:r>
            <a:r>
              <a:rPr lang="en-US" altLang="en-US" sz="3800" dirty="0"/>
              <a:t> </a:t>
            </a:r>
            <a:r>
              <a:rPr lang="en-US" altLang="en-US" sz="3800" dirty="0" err="1"/>
              <a:t>motivacije</a:t>
            </a:r>
            <a:endParaRPr lang="en-US" altLang="en-US" sz="38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3767DD8-1983-43C6-7107-D80BA076513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327242" y="1595021"/>
            <a:ext cx="11537515" cy="52629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2400" b="1" dirty="0">
                <a:solidFill>
                  <a:srgbClr val="0ADBBC"/>
                </a:solidFill>
              </a:rPr>
              <a:t>1. </a:t>
            </a:r>
            <a:r>
              <a:rPr lang="en-US" altLang="en-US" sz="2400" b="1" dirty="0" err="1">
                <a:solidFill>
                  <a:srgbClr val="0ADBBC"/>
                </a:solidFill>
              </a:rPr>
              <a:t>Fiziološke</a:t>
            </a:r>
            <a:r>
              <a:rPr lang="en-US" altLang="en-US" sz="2400" b="1" dirty="0">
                <a:solidFill>
                  <a:srgbClr val="0ADBBC"/>
                </a:solidFill>
              </a:rPr>
              <a:t> </a:t>
            </a:r>
            <a:r>
              <a:rPr lang="en-US" altLang="en-US" sz="2400" b="1" dirty="0" err="1">
                <a:solidFill>
                  <a:srgbClr val="0ADBBC"/>
                </a:solidFill>
              </a:rPr>
              <a:t>potrebe</a:t>
            </a:r>
            <a:r>
              <a:rPr lang="en-US" altLang="en-US" sz="2400" b="1" dirty="0">
                <a:solidFill>
                  <a:srgbClr val="0ADBBC"/>
                </a:solidFill>
              </a:rPr>
              <a:t> (</a:t>
            </a:r>
            <a:r>
              <a:rPr lang="en-US" altLang="en-US" sz="2400" b="1" dirty="0" err="1">
                <a:solidFill>
                  <a:srgbClr val="0ADBBC"/>
                </a:solidFill>
              </a:rPr>
              <a:t>osnovne</a:t>
            </a:r>
            <a:r>
              <a:rPr lang="en-US" altLang="en-US" sz="2400" b="1" dirty="0">
                <a:solidFill>
                  <a:srgbClr val="0ADBBC"/>
                </a:solidFill>
              </a:rPr>
              <a:t> </a:t>
            </a:r>
            <a:r>
              <a:rPr lang="en-US" altLang="en-US" sz="2400" b="1" dirty="0" err="1">
                <a:solidFill>
                  <a:srgbClr val="0ADBBC"/>
                </a:solidFill>
              </a:rPr>
              <a:t>potrebe</a:t>
            </a:r>
            <a:r>
              <a:rPr lang="en-US" altLang="en-US" sz="2400" b="1" dirty="0">
                <a:solidFill>
                  <a:srgbClr val="0ADBBC"/>
                </a:solidFill>
              </a:rPr>
              <a:t>): </a:t>
            </a:r>
            <a:r>
              <a:rPr lang="en-US" altLang="en-US" sz="2400" dirty="0"/>
              <a:t>To </a:t>
            </a:r>
            <a:r>
              <a:rPr lang="en-US" altLang="en-US" sz="2400" dirty="0" err="1"/>
              <a:t>su</a:t>
            </a:r>
            <a:r>
              <a:rPr lang="en-US" altLang="en-US" sz="2400" dirty="0"/>
              <a:t> </a:t>
            </a:r>
            <a:r>
              <a:rPr lang="en-US" altLang="en-US" sz="2400" dirty="0" err="1"/>
              <a:t>najosnovnije</a:t>
            </a:r>
            <a:r>
              <a:rPr lang="en-US" altLang="en-US" sz="2400" dirty="0"/>
              <a:t> </a:t>
            </a:r>
            <a:r>
              <a:rPr lang="en-US" altLang="en-US" sz="2400" dirty="0" err="1"/>
              <a:t>potrebe</a:t>
            </a:r>
            <a:r>
              <a:rPr lang="en-US" altLang="en-US" sz="2400" dirty="0"/>
              <a:t> </a:t>
            </a:r>
            <a:r>
              <a:rPr lang="en-US" altLang="en-US" sz="2400" dirty="0" err="1"/>
              <a:t>nužne</a:t>
            </a:r>
            <a:r>
              <a:rPr lang="en-US" altLang="en-US" sz="2400" dirty="0"/>
              <a:t> za </a:t>
            </a:r>
            <a:r>
              <a:rPr lang="en-US" altLang="en-US" sz="2400" dirty="0" err="1"/>
              <a:t>preživljavanje</a:t>
            </a:r>
            <a:r>
              <a:rPr lang="en-US" altLang="en-US" sz="2400" dirty="0"/>
              <a:t>, </a:t>
            </a:r>
            <a:r>
              <a:rPr lang="en-US" altLang="en-US" sz="2400" dirty="0" err="1"/>
              <a:t>poput</a:t>
            </a:r>
            <a:r>
              <a:rPr lang="en-US" altLang="en-US" sz="2400" dirty="0"/>
              <a:t> </a:t>
            </a:r>
            <a:r>
              <a:rPr lang="en-US" altLang="en-US" sz="2400" dirty="0" err="1"/>
              <a:t>hrane</a:t>
            </a:r>
            <a:r>
              <a:rPr lang="en-US" altLang="en-US" sz="2400" dirty="0"/>
              <a:t>, </a:t>
            </a:r>
            <a:r>
              <a:rPr lang="en-US" altLang="en-US" sz="2400" dirty="0" err="1"/>
              <a:t>vode</a:t>
            </a:r>
            <a:r>
              <a:rPr lang="en-US" altLang="en-US" sz="2400" dirty="0"/>
              <a:t>, </a:t>
            </a:r>
            <a:r>
              <a:rPr lang="en-US" altLang="en-US" sz="2400" dirty="0" err="1"/>
              <a:t>skloništa</a:t>
            </a:r>
            <a:r>
              <a:rPr lang="en-US" altLang="en-US" sz="2400" dirty="0"/>
              <a:t>, </a:t>
            </a:r>
            <a:r>
              <a:rPr lang="en-US" altLang="en-US" sz="2400" dirty="0" err="1"/>
              <a:t>sna</a:t>
            </a:r>
            <a:r>
              <a:rPr lang="en-US" altLang="en-US" sz="2400" dirty="0"/>
              <a:t> i </a:t>
            </a:r>
            <a:r>
              <a:rPr lang="en-US" altLang="en-US" sz="2400" dirty="0" err="1"/>
              <a:t>zraka</a:t>
            </a:r>
            <a:r>
              <a:rPr lang="en-US" altLang="en-US" sz="2400" dirty="0"/>
              <a:t>.</a:t>
            </a:r>
            <a:endParaRPr lang="en-US" altLang="en-US" sz="2400" b="1" dirty="0">
              <a:solidFill>
                <a:srgbClr val="0ADBBC"/>
              </a:solidFill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2400" b="1" dirty="0">
                <a:solidFill>
                  <a:srgbClr val="0ADBBC"/>
                </a:solidFill>
              </a:rPr>
              <a:t>2. </a:t>
            </a:r>
            <a:r>
              <a:rPr lang="en-US" altLang="en-US" sz="2400" b="1" dirty="0" err="1">
                <a:solidFill>
                  <a:srgbClr val="0ADBBC"/>
                </a:solidFill>
              </a:rPr>
              <a:t>Potrebe</a:t>
            </a:r>
            <a:r>
              <a:rPr lang="en-US" altLang="en-US" sz="2400" b="1" dirty="0">
                <a:solidFill>
                  <a:srgbClr val="0ADBBC"/>
                </a:solidFill>
              </a:rPr>
              <a:t> za </a:t>
            </a:r>
            <a:r>
              <a:rPr lang="en-US" altLang="en-US" sz="2400" b="1" dirty="0" err="1">
                <a:solidFill>
                  <a:srgbClr val="0ADBBC"/>
                </a:solidFill>
              </a:rPr>
              <a:t>sigurnošću</a:t>
            </a:r>
            <a:r>
              <a:rPr lang="en-US" altLang="en-US" sz="2400" b="1" dirty="0">
                <a:solidFill>
                  <a:srgbClr val="0ADBBC"/>
                </a:solidFill>
              </a:rPr>
              <a:t> (</a:t>
            </a:r>
            <a:r>
              <a:rPr lang="en-US" altLang="en-US" sz="2400" b="1" dirty="0" err="1">
                <a:solidFill>
                  <a:srgbClr val="0ADBBC"/>
                </a:solidFill>
              </a:rPr>
              <a:t>sigurnost</a:t>
            </a:r>
            <a:r>
              <a:rPr lang="en-US" altLang="en-US" sz="2400" b="1" dirty="0">
                <a:solidFill>
                  <a:srgbClr val="0ADBBC"/>
                </a:solidFill>
              </a:rPr>
              <a:t> i </a:t>
            </a:r>
            <a:r>
              <a:rPr lang="en-US" altLang="en-US" sz="2400" b="1" dirty="0" err="1">
                <a:solidFill>
                  <a:srgbClr val="0ADBBC"/>
                </a:solidFill>
              </a:rPr>
              <a:t>stabilnost</a:t>
            </a:r>
            <a:r>
              <a:rPr lang="en-US" altLang="en-US" sz="2400" b="1" dirty="0">
                <a:solidFill>
                  <a:srgbClr val="0ADBBC"/>
                </a:solidFill>
              </a:rPr>
              <a:t>): </a:t>
            </a:r>
            <a:r>
              <a:rPr lang="en-US" altLang="en-US" sz="2400" dirty="0" err="1"/>
              <a:t>Nakon</a:t>
            </a:r>
            <a:r>
              <a:rPr lang="en-US" altLang="en-US" sz="2400" dirty="0"/>
              <a:t> </a:t>
            </a:r>
            <a:r>
              <a:rPr lang="en-US" altLang="en-US" sz="2400" dirty="0" err="1"/>
              <a:t>zadovoljenja</a:t>
            </a:r>
            <a:r>
              <a:rPr lang="en-US" altLang="en-US" sz="2400" dirty="0"/>
              <a:t> </a:t>
            </a:r>
            <a:r>
              <a:rPr lang="en-US" altLang="en-US" sz="2400" dirty="0" err="1"/>
              <a:t>osnovnih</a:t>
            </a:r>
            <a:r>
              <a:rPr lang="en-US" altLang="en-US" sz="2400" dirty="0"/>
              <a:t> </a:t>
            </a:r>
            <a:r>
              <a:rPr lang="en-US" altLang="en-US" sz="2400" dirty="0" err="1"/>
              <a:t>potreba</a:t>
            </a:r>
            <a:r>
              <a:rPr lang="en-US" altLang="en-US" sz="2400" dirty="0"/>
              <a:t>, </a:t>
            </a:r>
            <a:r>
              <a:rPr lang="en-US" altLang="en-US" sz="2400" dirty="0" err="1"/>
              <a:t>pojedinci</a:t>
            </a:r>
            <a:r>
              <a:rPr lang="en-US" altLang="en-US" sz="2400" dirty="0"/>
              <a:t> </a:t>
            </a:r>
            <a:r>
              <a:rPr lang="en-US" altLang="en-US" sz="2400" dirty="0" err="1"/>
              <a:t>traže</a:t>
            </a:r>
            <a:r>
              <a:rPr lang="en-US" altLang="en-US" sz="2400" dirty="0"/>
              <a:t> </a:t>
            </a:r>
            <a:r>
              <a:rPr lang="en-US" altLang="en-US" sz="2400" dirty="0" err="1"/>
              <a:t>sigurnost</a:t>
            </a:r>
            <a:r>
              <a:rPr lang="en-US" altLang="en-US" sz="2400" dirty="0"/>
              <a:t> i </a:t>
            </a:r>
            <a:r>
              <a:rPr lang="en-US" altLang="en-US" sz="2400" dirty="0" err="1"/>
              <a:t>stabilnost</a:t>
            </a:r>
            <a:r>
              <a:rPr lang="en-US" altLang="en-US" sz="2400" dirty="0"/>
              <a:t>, </a:t>
            </a:r>
            <a:r>
              <a:rPr lang="en-US" altLang="en-US" sz="2400" dirty="0" err="1"/>
              <a:t>uključujući</a:t>
            </a:r>
            <a:r>
              <a:rPr lang="en-US" altLang="en-US" sz="2400" dirty="0"/>
              <a:t> </a:t>
            </a:r>
            <a:r>
              <a:rPr lang="en-US" altLang="en-US" sz="2400" dirty="0" err="1"/>
              <a:t>financijsku</a:t>
            </a:r>
            <a:r>
              <a:rPr lang="en-US" altLang="en-US" sz="2400" dirty="0"/>
              <a:t> </a:t>
            </a:r>
            <a:r>
              <a:rPr lang="en-US" altLang="en-US" sz="2400" dirty="0" err="1"/>
              <a:t>sigurnost</a:t>
            </a:r>
            <a:r>
              <a:rPr lang="en-US" altLang="en-US" sz="2400" dirty="0"/>
              <a:t>, </a:t>
            </a:r>
            <a:r>
              <a:rPr lang="en-US" altLang="en-US" sz="2400" dirty="0" err="1"/>
              <a:t>zdravlje</a:t>
            </a:r>
            <a:r>
              <a:rPr lang="en-US" altLang="en-US" sz="2400" dirty="0"/>
              <a:t>, </a:t>
            </a:r>
            <a:r>
              <a:rPr lang="en-US" altLang="en-US" sz="2400" dirty="0" err="1"/>
              <a:t>sigurnost</a:t>
            </a:r>
            <a:r>
              <a:rPr lang="en-US" altLang="en-US" sz="2400" dirty="0"/>
              <a:t> </a:t>
            </a:r>
            <a:r>
              <a:rPr lang="en-US" altLang="en-US" sz="2400" dirty="0" err="1"/>
              <a:t>posla</a:t>
            </a:r>
            <a:r>
              <a:rPr lang="en-US" altLang="en-US" sz="2400" dirty="0"/>
              <a:t> i </a:t>
            </a:r>
            <a:r>
              <a:rPr lang="en-US" altLang="en-US" sz="2400" dirty="0" err="1"/>
              <a:t>zaštitu</a:t>
            </a:r>
            <a:r>
              <a:rPr lang="en-US" altLang="en-US" sz="2400" dirty="0"/>
              <a:t> od </a:t>
            </a:r>
            <a:r>
              <a:rPr lang="en-US" altLang="en-US" sz="2400" dirty="0" err="1"/>
              <a:t>opasnosti</a:t>
            </a:r>
            <a:r>
              <a:rPr lang="en-US" altLang="en-US" sz="2400" dirty="0"/>
              <a:t>.</a:t>
            </a:r>
            <a:endParaRPr lang="en-US" altLang="en-US" sz="2400" b="1" dirty="0">
              <a:solidFill>
                <a:srgbClr val="0ADBBC"/>
              </a:solidFill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2400" b="1" dirty="0">
                <a:solidFill>
                  <a:srgbClr val="0ADBBC"/>
                </a:solidFill>
              </a:rPr>
              <a:t>3. </a:t>
            </a:r>
            <a:r>
              <a:rPr lang="en-US" altLang="en-US" sz="2400" b="1" dirty="0" err="1">
                <a:solidFill>
                  <a:srgbClr val="0ADBBC"/>
                </a:solidFill>
              </a:rPr>
              <a:t>Potrebe</a:t>
            </a:r>
            <a:r>
              <a:rPr lang="en-US" altLang="en-US" sz="2400" b="1" dirty="0">
                <a:solidFill>
                  <a:srgbClr val="0ADBBC"/>
                </a:solidFill>
              </a:rPr>
              <a:t> za </a:t>
            </a:r>
            <a:r>
              <a:rPr lang="en-US" altLang="en-US" sz="2400" b="1" dirty="0" err="1">
                <a:solidFill>
                  <a:srgbClr val="0ADBBC"/>
                </a:solidFill>
              </a:rPr>
              <a:t>ljubavlju</a:t>
            </a:r>
            <a:r>
              <a:rPr lang="en-US" altLang="en-US" sz="2400" b="1" dirty="0">
                <a:solidFill>
                  <a:srgbClr val="0ADBBC"/>
                </a:solidFill>
              </a:rPr>
              <a:t> i </a:t>
            </a:r>
            <a:r>
              <a:rPr lang="en-US" altLang="en-US" sz="2400" b="1" dirty="0" err="1">
                <a:solidFill>
                  <a:srgbClr val="0ADBBC"/>
                </a:solidFill>
              </a:rPr>
              <a:t>pripadanjem</a:t>
            </a:r>
            <a:r>
              <a:rPr lang="en-US" altLang="en-US" sz="2400" b="1" dirty="0">
                <a:solidFill>
                  <a:srgbClr val="0ADBBC"/>
                </a:solidFill>
              </a:rPr>
              <a:t> (</a:t>
            </a:r>
            <a:r>
              <a:rPr lang="en-US" altLang="en-US" sz="2400" b="1" dirty="0" err="1">
                <a:solidFill>
                  <a:srgbClr val="0ADBBC"/>
                </a:solidFill>
              </a:rPr>
              <a:t>socijalne</a:t>
            </a:r>
            <a:r>
              <a:rPr lang="en-US" altLang="en-US" sz="2400" b="1" dirty="0">
                <a:solidFill>
                  <a:srgbClr val="0ADBBC"/>
                </a:solidFill>
              </a:rPr>
              <a:t> </a:t>
            </a:r>
            <a:r>
              <a:rPr lang="en-US" altLang="en-US" sz="2400" b="1" dirty="0" err="1">
                <a:solidFill>
                  <a:srgbClr val="0ADBBC"/>
                </a:solidFill>
              </a:rPr>
              <a:t>potrebe</a:t>
            </a:r>
            <a:r>
              <a:rPr lang="en-US" altLang="en-US" sz="2400" b="1" dirty="0">
                <a:solidFill>
                  <a:srgbClr val="0ADBBC"/>
                </a:solidFill>
              </a:rPr>
              <a:t>): </a:t>
            </a:r>
            <a:r>
              <a:rPr lang="en-US" altLang="en-US" sz="2400" dirty="0" err="1"/>
              <a:t>Ljudi</a:t>
            </a:r>
            <a:r>
              <a:rPr lang="en-US" altLang="en-US" sz="2400" dirty="0"/>
              <a:t> </a:t>
            </a:r>
            <a:r>
              <a:rPr lang="en-US" altLang="en-US" sz="2400" dirty="0" err="1"/>
              <a:t>imaju</a:t>
            </a:r>
            <a:r>
              <a:rPr lang="en-US" altLang="en-US" sz="2400" dirty="0"/>
              <a:t> </a:t>
            </a:r>
            <a:r>
              <a:rPr lang="en-US" altLang="en-US" sz="2400" dirty="0" err="1"/>
              <a:t>potrebu</a:t>
            </a:r>
            <a:r>
              <a:rPr lang="en-US" altLang="en-US" sz="2400" dirty="0"/>
              <a:t> za </a:t>
            </a:r>
            <a:r>
              <a:rPr lang="en-US" altLang="en-US" sz="2400" dirty="0" err="1"/>
              <a:t>povezanošću</a:t>
            </a:r>
            <a:r>
              <a:rPr lang="en-US" altLang="en-US" sz="2400" dirty="0"/>
              <a:t>, </a:t>
            </a:r>
            <a:r>
              <a:rPr lang="en-US" altLang="en-US" sz="2400" dirty="0" err="1"/>
              <a:t>ljubavlju</a:t>
            </a:r>
            <a:r>
              <a:rPr lang="en-US" altLang="en-US" sz="2400" dirty="0"/>
              <a:t> i </a:t>
            </a:r>
            <a:r>
              <a:rPr lang="en-US" altLang="en-US" sz="2400" dirty="0" err="1"/>
              <a:t>osjećajem</a:t>
            </a:r>
            <a:r>
              <a:rPr lang="en-US" altLang="en-US" sz="2400" dirty="0"/>
              <a:t> </a:t>
            </a:r>
            <a:r>
              <a:rPr lang="en-US" altLang="en-US" sz="2400" dirty="0" err="1"/>
              <a:t>pripadnosti</a:t>
            </a:r>
            <a:r>
              <a:rPr lang="en-US" altLang="en-US" sz="2400" dirty="0"/>
              <a:t>, </a:t>
            </a:r>
            <a:r>
              <a:rPr lang="en-US" altLang="en-US" sz="2400" dirty="0" err="1"/>
              <a:t>što</a:t>
            </a:r>
            <a:r>
              <a:rPr lang="en-US" altLang="en-US" sz="2400" dirty="0"/>
              <a:t> </a:t>
            </a:r>
            <a:r>
              <a:rPr lang="en-US" altLang="en-US" sz="2400" dirty="0" err="1"/>
              <a:t>dolazi</a:t>
            </a:r>
            <a:r>
              <a:rPr lang="en-US" altLang="en-US" sz="2400" dirty="0"/>
              <a:t> </a:t>
            </a:r>
            <a:r>
              <a:rPr lang="en-US" altLang="en-US" sz="2400" dirty="0" err="1"/>
              <a:t>iz</a:t>
            </a:r>
            <a:r>
              <a:rPr lang="en-US" altLang="en-US" sz="2400" dirty="0"/>
              <a:t> </a:t>
            </a:r>
            <a:r>
              <a:rPr lang="en-US" altLang="en-US" sz="2400" dirty="0" err="1"/>
              <a:t>odnosa</a:t>
            </a:r>
            <a:r>
              <a:rPr lang="en-US" altLang="en-US" sz="2400" dirty="0"/>
              <a:t> s </a:t>
            </a:r>
            <a:r>
              <a:rPr lang="en-US" altLang="en-US" sz="2400" dirty="0" err="1"/>
              <a:t>obitelji</a:t>
            </a:r>
            <a:r>
              <a:rPr lang="en-US" altLang="en-US" sz="2400" dirty="0"/>
              <a:t>, </a:t>
            </a:r>
            <a:r>
              <a:rPr lang="en-US" altLang="en-US" sz="2400" dirty="0" err="1"/>
              <a:t>prijateljima</a:t>
            </a:r>
            <a:r>
              <a:rPr lang="en-US" altLang="en-US" sz="2400" dirty="0"/>
              <a:t> i </a:t>
            </a:r>
            <a:r>
              <a:rPr lang="en-US" altLang="en-US" sz="2400" dirty="0" err="1"/>
              <a:t>društvenim</a:t>
            </a:r>
            <a:r>
              <a:rPr lang="en-US" altLang="en-US" sz="2400" dirty="0"/>
              <a:t> </a:t>
            </a:r>
            <a:r>
              <a:rPr lang="en-US" altLang="en-US" sz="2400" dirty="0" err="1"/>
              <a:t>skupinama</a:t>
            </a:r>
            <a:r>
              <a:rPr lang="en-US" altLang="en-US" sz="2400" dirty="0"/>
              <a:t>.</a:t>
            </a:r>
            <a:endParaRPr lang="en-US" altLang="en-US" sz="2400" b="1" dirty="0">
              <a:solidFill>
                <a:srgbClr val="0ADBBC"/>
              </a:solidFill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2400" b="1" dirty="0">
                <a:solidFill>
                  <a:srgbClr val="0ADBBC"/>
                </a:solidFill>
              </a:rPr>
              <a:t>4. </a:t>
            </a:r>
            <a:r>
              <a:rPr lang="en-US" altLang="en-US" sz="2400" b="1" dirty="0" err="1">
                <a:solidFill>
                  <a:srgbClr val="0ADBBC"/>
                </a:solidFill>
              </a:rPr>
              <a:t>Potrebe</a:t>
            </a:r>
            <a:r>
              <a:rPr lang="en-US" altLang="en-US" sz="2400" b="1" dirty="0">
                <a:solidFill>
                  <a:srgbClr val="0ADBBC"/>
                </a:solidFill>
              </a:rPr>
              <a:t> za </a:t>
            </a:r>
            <a:r>
              <a:rPr lang="en-US" altLang="en-US" sz="2400" b="1" dirty="0" err="1">
                <a:solidFill>
                  <a:srgbClr val="0ADBBC"/>
                </a:solidFill>
              </a:rPr>
              <a:t>poštovanjem</a:t>
            </a:r>
            <a:r>
              <a:rPr lang="en-US" altLang="en-US" sz="2400" b="1" dirty="0">
                <a:solidFill>
                  <a:srgbClr val="0ADBBC"/>
                </a:solidFill>
              </a:rPr>
              <a:t> (</a:t>
            </a:r>
            <a:r>
              <a:rPr lang="en-US" altLang="en-US" sz="2400" b="1" dirty="0" err="1">
                <a:solidFill>
                  <a:srgbClr val="0ADBBC"/>
                </a:solidFill>
              </a:rPr>
              <a:t>priznanje</a:t>
            </a:r>
            <a:r>
              <a:rPr lang="en-US" altLang="en-US" sz="2400" b="1" dirty="0">
                <a:solidFill>
                  <a:srgbClr val="0ADBBC"/>
                </a:solidFill>
              </a:rPr>
              <a:t> i </a:t>
            </a:r>
            <a:r>
              <a:rPr lang="en-US" altLang="en-US" sz="2400" b="1" dirty="0" err="1">
                <a:solidFill>
                  <a:srgbClr val="0ADBBC"/>
                </a:solidFill>
              </a:rPr>
              <a:t>uvažavanje</a:t>
            </a:r>
            <a:r>
              <a:rPr lang="en-US" altLang="en-US" sz="2400" b="1" dirty="0">
                <a:solidFill>
                  <a:srgbClr val="0ADBBC"/>
                </a:solidFill>
              </a:rPr>
              <a:t>): </a:t>
            </a:r>
            <a:r>
              <a:rPr lang="en-US" altLang="en-US" sz="2400" dirty="0"/>
              <a:t>To </a:t>
            </a:r>
            <a:r>
              <a:rPr lang="en-US" altLang="en-US" sz="2400" dirty="0" err="1"/>
              <a:t>uključuje</a:t>
            </a:r>
            <a:r>
              <a:rPr lang="en-US" altLang="en-US" sz="2400" dirty="0"/>
              <a:t> </a:t>
            </a:r>
            <a:r>
              <a:rPr lang="en-US" altLang="en-US" sz="2400" dirty="0" err="1"/>
              <a:t>samopoštovanje</a:t>
            </a:r>
            <a:r>
              <a:rPr lang="en-US" altLang="en-US" sz="2400" dirty="0"/>
              <a:t> (</a:t>
            </a:r>
            <a:r>
              <a:rPr lang="en-US" altLang="en-US" sz="2400" dirty="0" err="1"/>
              <a:t>samopouzdanje</a:t>
            </a:r>
            <a:r>
              <a:rPr lang="en-US" altLang="en-US" sz="2400" dirty="0"/>
              <a:t>, </a:t>
            </a:r>
            <a:r>
              <a:rPr lang="en-US" altLang="en-US" sz="2400" dirty="0" err="1"/>
              <a:t>postignuća</a:t>
            </a:r>
            <a:r>
              <a:rPr lang="en-US" altLang="en-US" sz="2400" dirty="0"/>
              <a:t>) i </a:t>
            </a:r>
            <a:r>
              <a:rPr lang="en-US" altLang="en-US" sz="2400" dirty="0" err="1"/>
              <a:t>poštovanje</a:t>
            </a:r>
            <a:r>
              <a:rPr lang="en-US" altLang="en-US" sz="2400" dirty="0"/>
              <a:t> od </a:t>
            </a:r>
            <a:r>
              <a:rPr lang="en-US" altLang="en-US" sz="2400" dirty="0" err="1"/>
              <a:t>strane</a:t>
            </a:r>
            <a:r>
              <a:rPr lang="en-US" altLang="en-US" sz="2400" dirty="0"/>
              <a:t> </a:t>
            </a:r>
            <a:r>
              <a:rPr lang="en-US" altLang="en-US" sz="2400" dirty="0" err="1"/>
              <a:t>drugih</a:t>
            </a:r>
            <a:r>
              <a:rPr lang="en-US" altLang="en-US" sz="2400" dirty="0"/>
              <a:t> (</a:t>
            </a:r>
            <a:r>
              <a:rPr lang="en-US" altLang="en-US" sz="2400" dirty="0" err="1"/>
              <a:t>priznanje</a:t>
            </a:r>
            <a:r>
              <a:rPr lang="en-US" altLang="en-US" sz="2400" dirty="0"/>
              <a:t>, status, </a:t>
            </a:r>
            <a:r>
              <a:rPr lang="en-US" altLang="en-US" sz="2400" dirty="0" err="1"/>
              <a:t>respekt</a:t>
            </a:r>
            <a:r>
              <a:rPr lang="en-US" altLang="en-US" sz="2400" dirty="0"/>
              <a:t>). </a:t>
            </a:r>
            <a:r>
              <a:rPr lang="en-US" altLang="en-US" sz="2400" dirty="0" err="1"/>
              <a:t>Zadovoljenje</a:t>
            </a:r>
            <a:r>
              <a:rPr lang="en-US" altLang="en-US" sz="2400" dirty="0"/>
              <a:t> </a:t>
            </a:r>
            <a:r>
              <a:rPr lang="en-US" altLang="en-US" sz="2400" dirty="0" err="1"/>
              <a:t>ovih</a:t>
            </a:r>
            <a:r>
              <a:rPr lang="en-US" altLang="en-US" sz="2400" dirty="0"/>
              <a:t> </a:t>
            </a:r>
            <a:r>
              <a:rPr lang="en-US" altLang="en-US" sz="2400" dirty="0" err="1"/>
              <a:t>potreba</a:t>
            </a:r>
            <a:r>
              <a:rPr lang="en-US" altLang="en-US" sz="2400" dirty="0"/>
              <a:t> </a:t>
            </a:r>
            <a:r>
              <a:rPr lang="en-US" altLang="en-US" sz="2400" dirty="0" err="1"/>
              <a:t>vodi</a:t>
            </a:r>
            <a:r>
              <a:rPr lang="en-US" altLang="en-US" sz="2400" dirty="0"/>
              <a:t> </a:t>
            </a:r>
            <a:r>
              <a:rPr lang="en-US" altLang="en-US" sz="2400" dirty="0" err="1"/>
              <a:t>osjećaju</a:t>
            </a:r>
            <a:r>
              <a:rPr lang="en-US" altLang="en-US" sz="2400" dirty="0"/>
              <a:t> </a:t>
            </a:r>
            <a:r>
              <a:rPr lang="en-US" altLang="en-US" sz="2400" dirty="0" err="1"/>
              <a:t>vrijednosti</a:t>
            </a:r>
            <a:r>
              <a:rPr lang="en-US" altLang="en-US" sz="2400" dirty="0"/>
              <a:t> i </a:t>
            </a:r>
            <a:r>
              <a:rPr lang="en-US" altLang="en-US" sz="2400" dirty="0" err="1"/>
              <a:t>uspjeha</a:t>
            </a:r>
            <a:r>
              <a:rPr lang="en-US" altLang="en-US" sz="2400" dirty="0"/>
              <a:t>.</a:t>
            </a:r>
            <a:endParaRPr lang="en-US" altLang="en-US" sz="2400" b="1" dirty="0">
              <a:solidFill>
                <a:srgbClr val="0ADBBC"/>
              </a:solidFill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2400" b="1" dirty="0">
                <a:solidFill>
                  <a:srgbClr val="0ADBBC"/>
                </a:solidFill>
              </a:rPr>
              <a:t>5. </a:t>
            </a:r>
            <a:r>
              <a:rPr lang="en-US" altLang="en-US" sz="2400" b="1" dirty="0" err="1">
                <a:solidFill>
                  <a:srgbClr val="0ADBBC"/>
                </a:solidFill>
              </a:rPr>
              <a:t>Samoaktualizacija</a:t>
            </a:r>
            <a:r>
              <a:rPr lang="en-US" altLang="en-US" sz="2400" b="1" dirty="0">
                <a:solidFill>
                  <a:srgbClr val="0ADBBC"/>
                </a:solidFill>
              </a:rPr>
              <a:t> (</a:t>
            </a:r>
            <a:r>
              <a:rPr lang="en-US" altLang="en-US" sz="2400" b="1" dirty="0" err="1">
                <a:solidFill>
                  <a:srgbClr val="0ADBBC"/>
                </a:solidFill>
              </a:rPr>
              <a:t>osobni</a:t>
            </a:r>
            <a:r>
              <a:rPr lang="en-US" altLang="en-US" sz="2400" b="1" dirty="0">
                <a:solidFill>
                  <a:srgbClr val="0ADBBC"/>
                </a:solidFill>
              </a:rPr>
              <a:t> </a:t>
            </a:r>
            <a:r>
              <a:rPr lang="en-US" altLang="en-US" sz="2400" b="1" dirty="0" err="1">
                <a:solidFill>
                  <a:srgbClr val="0ADBBC"/>
                </a:solidFill>
              </a:rPr>
              <a:t>razvoj</a:t>
            </a:r>
            <a:r>
              <a:rPr lang="en-US" altLang="en-US" sz="2400" b="1" dirty="0">
                <a:solidFill>
                  <a:srgbClr val="0ADBBC"/>
                </a:solidFill>
              </a:rPr>
              <a:t> i </a:t>
            </a:r>
            <a:r>
              <a:rPr lang="en-US" altLang="en-US" sz="2400" b="1" dirty="0" err="1">
                <a:solidFill>
                  <a:srgbClr val="0ADBBC"/>
                </a:solidFill>
              </a:rPr>
              <a:t>ispunjenje</a:t>
            </a:r>
            <a:r>
              <a:rPr lang="en-US" altLang="en-US" sz="2400" b="1" dirty="0">
                <a:solidFill>
                  <a:srgbClr val="0ADBBC"/>
                </a:solidFill>
              </a:rPr>
              <a:t>): </a:t>
            </a:r>
            <a:r>
              <a:rPr lang="en-US" altLang="en-US" sz="2400" dirty="0" err="1"/>
              <a:t>Najviša</a:t>
            </a:r>
            <a:r>
              <a:rPr lang="en-US" altLang="en-US" sz="2400" dirty="0"/>
              <a:t> </a:t>
            </a:r>
            <a:r>
              <a:rPr lang="en-US" altLang="en-US" sz="2400" dirty="0" err="1"/>
              <a:t>razina</a:t>
            </a:r>
            <a:r>
              <a:rPr lang="en-US" altLang="en-US" sz="2400" dirty="0"/>
              <a:t>, </a:t>
            </a:r>
            <a:r>
              <a:rPr lang="en-US" altLang="en-US" sz="2400" dirty="0" err="1"/>
              <a:t>na</a:t>
            </a:r>
            <a:r>
              <a:rPr lang="en-US" altLang="en-US" sz="2400" dirty="0"/>
              <a:t> </a:t>
            </a:r>
            <a:r>
              <a:rPr lang="en-US" altLang="en-US" sz="2400" dirty="0" err="1"/>
              <a:t>kojoj</a:t>
            </a:r>
            <a:r>
              <a:rPr lang="en-US" altLang="en-US" sz="2400" dirty="0"/>
              <a:t> </a:t>
            </a:r>
            <a:r>
              <a:rPr lang="en-US" altLang="en-US" sz="2400" dirty="0" err="1"/>
              <a:t>pojedinci</a:t>
            </a:r>
            <a:r>
              <a:rPr lang="en-US" altLang="en-US" sz="2400" dirty="0"/>
              <a:t> </a:t>
            </a:r>
            <a:r>
              <a:rPr lang="en-US" altLang="en-US" sz="2400" dirty="0" err="1"/>
              <a:t>nastoje</a:t>
            </a:r>
            <a:r>
              <a:rPr lang="en-US" altLang="en-US" sz="2400" dirty="0"/>
              <a:t> </a:t>
            </a:r>
            <a:r>
              <a:rPr lang="en-US" altLang="en-US" sz="2400" dirty="0" err="1"/>
              <a:t>ostvariti</a:t>
            </a:r>
            <a:r>
              <a:rPr lang="en-US" altLang="en-US" sz="2400" dirty="0"/>
              <a:t> </a:t>
            </a:r>
            <a:r>
              <a:rPr lang="en-US" altLang="en-US" sz="2400" dirty="0" err="1"/>
              <a:t>svoj</a:t>
            </a:r>
            <a:r>
              <a:rPr lang="en-US" altLang="en-US" sz="2400" dirty="0"/>
              <a:t> </a:t>
            </a:r>
            <a:r>
              <a:rPr lang="en-US" altLang="en-US" sz="2400" dirty="0" err="1"/>
              <a:t>puni</a:t>
            </a:r>
            <a:r>
              <a:rPr lang="en-US" altLang="en-US" sz="2400" dirty="0"/>
              <a:t> </a:t>
            </a:r>
            <a:r>
              <a:rPr lang="en-US" altLang="en-US" sz="2400" dirty="0" err="1"/>
              <a:t>potencijal</a:t>
            </a:r>
            <a:r>
              <a:rPr lang="en-US" altLang="en-US" sz="2400" dirty="0"/>
              <a:t>, </a:t>
            </a:r>
            <a:r>
              <a:rPr lang="en-US" altLang="en-US" sz="2400" dirty="0" err="1"/>
              <a:t>razvijati</a:t>
            </a:r>
            <a:r>
              <a:rPr lang="en-US" altLang="en-US" sz="2400" dirty="0"/>
              <a:t> </a:t>
            </a:r>
            <a:r>
              <a:rPr lang="en-US" altLang="en-US" sz="2400" dirty="0" err="1"/>
              <a:t>kreativnost</a:t>
            </a:r>
            <a:r>
              <a:rPr lang="en-US" altLang="en-US" sz="2400" dirty="0"/>
              <a:t>, </a:t>
            </a:r>
            <a:r>
              <a:rPr lang="en-US" altLang="en-US" sz="2400" dirty="0" err="1"/>
              <a:t>osobni</a:t>
            </a:r>
            <a:r>
              <a:rPr lang="en-US" altLang="en-US" sz="2400" dirty="0"/>
              <a:t> </a:t>
            </a:r>
            <a:r>
              <a:rPr lang="en-US" altLang="en-US" sz="2400" dirty="0" err="1"/>
              <a:t>rast</a:t>
            </a:r>
            <a:r>
              <a:rPr lang="en-US" altLang="en-US" sz="2400" dirty="0"/>
              <a:t> i </a:t>
            </a:r>
            <a:r>
              <a:rPr lang="en-US" altLang="en-US" sz="2400" dirty="0" err="1"/>
              <a:t>ostvarivati</a:t>
            </a:r>
            <a:r>
              <a:rPr lang="en-US" altLang="en-US" sz="2400" dirty="0"/>
              <a:t> </a:t>
            </a:r>
            <a:r>
              <a:rPr lang="en-US" altLang="en-US" sz="2400" dirty="0" err="1"/>
              <a:t>smisleno</a:t>
            </a:r>
            <a:r>
              <a:rPr lang="en-US" altLang="en-US" sz="2400" dirty="0"/>
              <a:t> </a:t>
            </a:r>
            <a:r>
              <a:rPr lang="en-US" altLang="en-US" sz="2400" dirty="0" err="1"/>
              <a:t>postavljene</a:t>
            </a:r>
            <a:r>
              <a:rPr lang="en-US" altLang="en-US" sz="2400" dirty="0"/>
              <a:t> </a:t>
            </a:r>
            <a:r>
              <a:rPr lang="en-US" altLang="en-US" sz="2400" dirty="0" err="1"/>
              <a:t>ciljeve</a:t>
            </a:r>
            <a:r>
              <a:rPr lang="en-US" altLang="en-US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23286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4603C-46AE-3689-C15D-3A7389BEC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5AF7BE-2321-781C-05B7-1B9317A3F5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en-US" sz="3800" dirty="0"/>
              <a:t>Maslowljeva </a:t>
            </a:r>
            <a:r>
              <a:rPr lang="en-US" altLang="en-US" sz="3800" dirty="0" err="1"/>
              <a:t>teorija</a:t>
            </a:r>
            <a:r>
              <a:rPr lang="en-US" altLang="en-US" sz="3800" dirty="0"/>
              <a:t> </a:t>
            </a:r>
            <a:r>
              <a:rPr lang="en-US" altLang="en-US" sz="3800" dirty="0" err="1"/>
              <a:t>motivacije</a:t>
            </a:r>
            <a:endParaRPr lang="en-US" sz="3800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E70DAFB-218C-8BC2-AF92-5BC58DF4F26F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37784" y="1690688"/>
            <a:ext cx="11086578" cy="5175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b="1" dirty="0">
                <a:solidFill>
                  <a:srgbClr val="0ADBBC"/>
                </a:solidFill>
              </a:rPr>
              <a:t>KLJUČNE PORUKE: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Ljudi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su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motivirani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prvo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zadovoljiti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potrebe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niže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razine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prije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nego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što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se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usmjere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više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razine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Kada je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neka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potreba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zadovoljena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ona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više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ne 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djeluje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kao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snažan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motivator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se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osoba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usmjerava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na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sljedeću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razinu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457200" marR="0" lvl="0" indent="-4572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+mj-lt"/>
              <a:buAutoNum type="arabicPeriod"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Ova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teorija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se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široko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primjenjuje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u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područjima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poput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poslovanja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obrazovanja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i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osobnog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razvoja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za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razumijevanje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motivacije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416517318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6F0849-2327-907C-5CE3-B2F5EE405D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7757"/>
            <a:ext cx="10515600" cy="1325563"/>
          </a:xfrm>
        </p:spPr>
        <p:txBody>
          <a:bodyPr>
            <a:normAutofit/>
          </a:bodyPr>
          <a:lstStyle/>
          <a:p>
            <a:r>
              <a:rPr lang="en-US" sz="3800" dirty="0" err="1"/>
              <a:t>Studija</a:t>
            </a:r>
            <a:r>
              <a:rPr lang="en-US" sz="3800" dirty="0"/>
              <a:t> </a:t>
            </a:r>
            <a:r>
              <a:rPr lang="en-US" sz="3800" dirty="0" err="1"/>
              <a:t>slučaja</a:t>
            </a:r>
            <a:r>
              <a:rPr lang="en-US" sz="3800" dirty="0"/>
              <a:t>: </a:t>
            </a:r>
            <a:r>
              <a:rPr lang="en-US" sz="3800" dirty="0" err="1"/>
              <a:t>Motiviranje</a:t>
            </a:r>
            <a:r>
              <a:rPr lang="en-US" sz="3800" dirty="0"/>
              <a:t> </a:t>
            </a:r>
            <a:r>
              <a:rPr lang="en-US" sz="3800" dirty="0" err="1"/>
              <a:t>člana</a:t>
            </a:r>
            <a:r>
              <a:rPr lang="en-US" sz="3800" dirty="0"/>
              <a:t> </a:t>
            </a:r>
            <a:r>
              <a:rPr lang="en-US" sz="3800" dirty="0" err="1"/>
              <a:t>tima</a:t>
            </a:r>
            <a:r>
              <a:rPr lang="en-US" sz="3800" dirty="0"/>
              <a:t> s </a:t>
            </a:r>
            <a:r>
              <a:rPr lang="en-US" sz="3800" dirty="0" err="1"/>
              <a:t>niskom</a:t>
            </a:r>
            <a:r>
              <a:rPr lang="en-US" sz="3800" dirty="0"/>
              <a:t> </a:t>
            </a:r>
            <a:r>
              <a:rPr lang="en-US" sz="3800" dirty="0" err="1"/>
              <a:t>razinom</a:t>
            </a:r>
            <a:r>
              <a:rPr lang="en-US" sz="3800" dirty="0"/>
              <a:t> </a:t>
            </a:r>
            <a:r>
              <a:rPr lang="en-US" sz="3800" dirty="0" err="1"/>
              <a:t>učinka</a:t>
            </a:r>
            <a:r>
              <a:rPr lang="en-US" sz="3800" dirty="0"/>
              <a:t> </a:t>
            </a:r>
            <a:r>
              <a:rPr lang="en-US" sz="3800" dirty="0" err="1"/>
              <a:t>primjenom</a:t>
            </a:r>
            <a:r>
              <a:rPr lang="en-US" sz="3800" dirty="0"/>
              <a:t> </a:t>
            </a:r>
            <a:r>
              <a:rPr lang="en-US" sz="3800" dirty="0" err="1"/>
              <a:t>Maslowljeve</a:t>
            </a:r>
            <a:r>
              <a:rPr lang="en-US" sz="3800" dirty="0"/>
              <a:t> </a:t>
            </a:r>
            <a:r>
              <a:rPr lang="en-US" sz="3800" dirty="0" err="1"/>
              <a:t>teorije</a:t>
            </a:r>
            <a:endParaRPr lang="en-US" sz="3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0E64D-6F90-8A04-03B2-F851990773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7680" y="2278905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600" dirty="0">
                <a:cs typeface="Arial" panose="020B0604020202020204" pitchFamily="34" charset="0"/>
              </a:rPr>
              <a:t>John je </a:t>
            </a:r>
            <a:r>
              <a:rPr lang="en-US" sz="2600" dirty="0" err="1">
                <a:cs typeface="Arial" panose="020B0604020202020204" pitchFamily="34" charset="0"/>
              </a:rPr>
              <a:t>softverski</a:t>
            </a:r>
            <a:r>
              <a:rPr lang="en-US" sz="2600" dirty="0">
                <a:cs typeface="Arial" panose="020B0604020202020204" pitchFamily="34" charset="0"/>
              </a:rPr>
              <a:t> developer koji </a:t>
            </a:r>
            <a:r>
              <a:rPr lang="en-US" sz="2600" dirty="0" err="1">
                <a:cs typeface="Arial" panose="020B0604020202020204" pitchFamily="34" charset="0"/>
              </a:rPr>
              <a:t>radi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dirty="0" err="1">
                <a:cs typeface="Arial" panose="020B0604020202020204" pitchFamily="34" charset="0"/>
              </a:rPr>
              <a:t>na</a:t>
            </a:r>
            <a:r>
              <a:rPr lang="en-US" sz="2600" dirty="0">
                <a:cs typeface="Arial" panose="020B0604020202020204" pitchFamily="34" charset="0"/>
              </a:rPr>
              <a:t> Agile </a:t>
            </a:r>
            <a:r>
              <a:rPr lang="en-US" sz="2600" dirty="0" err="1">
                <a:cs typeface="Arial" panose="020B0604020202020204" pitchFamily="34" charset="0"/>
              </a:rPr>
              <a:t>projektu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dirty="0" err="1">
                <a:cs typeface="Arial" panose="020B0604020202020204" pitchFamily="34" charset="0"/>
              </a:rPr>
              <a:t>razvoja</a:t>
            </a:r>
            <a:r>
              <a:rPr lang="en-US" sz="2600" dirty="0">
                <a:cs typeface="Arial" panose="020B0604020202020204" pitchFamily="34" charset="0"/>
              </a:rPr>
              <a:t> za fintech </a:t>
            </a:r>
            <a:r>
              <a:rPr lang="en-US" sz="2600" dirty="0" err="1">
                <a:cs typeface="Arial" panose="020B0604020202020204" pitchFamily="34" charset="0"/>
              </a:rPr>
              <a:t>tvrtku</a:t>
            </a:r>
            <a:r>
              <a:rPr lang="en-US" sz="2600" dirty="0">
                <a:cs typeface="Arial" panose="020B0604020202020204" pitchFamily="34" charset="0"/>
              </a:rPr>
              <a:t>.</a:t>
            </a:r>
          </a:p>
          <a:p>
            <a:pPr marL="0" indent="0">
              <a:buNone/>
            </a:pPr>
            <a:r>
              <a:rPr lang="en-US" sz="2600" dirty="0">
                <a:cs typeface="Arial" panose="020B0604020202020204" pitchFamily="34" charset="0"/>
              </a:rPr>
              <a:t>U </a:t>
            </a:r>
            <a:r>
              <a:rPr lang="en-US" sz="2600" dirty="0" err="1">
                <a:cs typeface="Arial" panose="020B0604020202020204" pitchFamily="34" charset="0"/>
              </a:rPr>
              <a:t>posljednje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dirty="0" err="1">
                <a:cs typeface="Arial" panose="020B0604020202020204" pitchFamily="34" charset="0"/>
              </a:rPr>
              <a:t>vrijeme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dirty="0" err="1">
                <a:cs typeface="Arial" panose="020B0604020202020204" pitchFamily="34" charset="0"/>
              </a:rPr>
              <a:t>njegova</a:t>
            </a:r>
            <a:r>
              <a:rPr lang="en-US" sz="2600" dirty="0">
                <a:cs typeface="Arial" panose="020B0604020202020204" pitchFamily="34" charset="0"/>
              </a:rPr>
              <a:t> je </a:t>
            </a:r>
            <a:r>
              <a:rPr lang="en-US" sz="2600" dirty="0" err="1">
                <a:cs typeface="Arial" panose="020B0604020202020204" pitchFamily="34" charset="0"/>
              </a:rPr>
              <a:t>učinkovitost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dirty="0" err="1">
                <a:cs typeface="Arial" panose="020B0604020202020204" pitchFamily="34" charset="0"/>
              </a:rPr>
              <a:t>opala</a:t>
            </a:r>
            <a:r>
              <a:rPr lang="en-US" sz="2600" dirty="0">
                <a:cs typeface="Arial" panose="020B0604020202020204" pitchFamily="34" charset="0"/>
              </a:rPr>
              <a:t> — </a:t>
            </a:r>
            <a:r>
              <a:rPr lang="en-US" sz="2600" dirty="0" err="1">
                <a:cs typeface="Arial" panose="020B0604020202020204" pitchFamily="34" charset="0"/>
              </a:rPr>
              <a:t>propušta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dirty="0" err="1">
                <a:cs typeface="Arial" panose="020B0604020202020204" pitchFamily="34" charset="0"/>
              </a:rPr>
              <a:t>rokove</a:t>
            </a:r>
            <a:r>
              <a:rPr lang="en-US" sz="2600" dirty="0">
                <a:cs typeface="Arial" panose="020B0604020202020204" pitchFamily="34" charset="0"/>
              </a:rPr>
              <a:t>, </a:t>
            </a:r>
            <a:r>
              <a:rPr lang="en-US" sz="2600" dirty="0" err="1">
                <a:cs typeface="Arial" panose="020B0604020202020204" pitchFamily="34" charset="0"/>
              </a:rPr>
              <a:t>izbjegava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dirty="0" err="1">
                <a:cs typeface="Arial" panose="020B0604020202020204" pitchFamily="34" charset="0"/>
              </a:rPr>
              <a:t>timske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dirty="0" err="1">
                <a:cs typeface="Arial" panose="020B0604020202020204" pitchFamily="34" charset="0"/>
              </a:rPr>
              <a:t>rasprave</a:t>
            </a:r>
            <a:r>
              <a:rPr lang="en-US" sz="2600" dirty="0">
                <a:cs typeface="Arial" panose="020B0604020202020204" pitchFamily="34" charset="0"/>
              </a:rPr>
              <a:t> i </a:t>
            </a:r>
            <a:r>
              <a:rPr lang="en-US" sz="2600" dirty="0" err="1">
                <a:cs typeface="Arial" panose="020B0604020202020204" pitchFamily="34" charset="0"/>
              </a:rPr>
              <a:t>isporučuje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dirty="0" err="1">
                <a:cs typeface="Arial" panose="020B0604020202020204" pitchFamily="34" charset="0"/>
              </a:rPr>
              <a:t>nepotpun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dirty="0" err="1">
                <a:cs typeface="Arial" panose="020B0604020202020204" pitchFamily="34" charset="0"/>
              </a:rPr>
              <a:t>kod</a:t>
            </a:r>
            <a:r>
              <a:rPr lang="en-US" sz="2600" dirty="0">
                <a:cs typeface="Arial" panose="020B0604020202020204" pitchFamily="34" charset="0"/>
              </a:rPr>
              <a:t>.</a:t>
            </a:r>
          </a:p>
          <a:p>
            <a:pPr marL="0" indent="0">
              <a:buNone/>
            </a:pPr>
            <a:r>
              <a:rPr lang="en-US" sz="2600" dirty="0">
                <a:cs typeface="Arial" panose="020B0604020202020204" pitchFamily="34" charset="0"/>
              </a:rPr>
              <a:t>Kao </a:t>
            </a:r>
            <a:r>
              <a:rPr lang="en-US" sz="2600" dirty="0" err="1">
                <a:cs typeface="Arial" panose="020B0604020202020204" pitchFamily="34" charset="0"/>
              </a:rPr>
              <a:t>voditeljica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dirty="0" err="1">
                <a:cs typeface="Arial" panose="020B0604020202020204" pitchFamily="34" charset="0"/>
              </a:rPr>
              <a:t>projekta</a:t>
            </a:r>
            <a:r>
              <a:rPr lang="en-US" sz="2600" dirty="0">
                <a:cs typeface="Arial" panose="020B0604020202020204" pitchFamily="34" charset="0"/>
              </a:rPr>
              <a:t>, Sarah mora </a:t>
            </a:r>
            <a:r>
              <a:rPr lang="en-US" sz="2600" dirty="0" err="1">
                <a:cs typeface="Arial" panose="020B0604020202020204" pitchFamily="34" charset="0"/>
              </a:rPr>
              <a:t>pronaći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dirty="0" err="1">
                <a:cs typeface="Arial" panose="020B0604020202020204" pitchFamily="34" charset="0"/>
              </a:rPr>
              <a:t>način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dirty="0" err="1">
                <a:cs typeface="Arial" panose="020B0604020202020204" pitchFamily="34" charset="0"/>
              </a:rPr>
              <a:t>kako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dirty="0" err="1">
                <a:cs typeface="Arial" panose="020B0604020202020204" pitchFamily="34" charset="0"/>
              </a:rPr>
              <a:t>motivirati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dirty="0" err="1">
                <a:cs typeface="Arial" panose="020B0604020202020204" pitchFamily="34" charset="0"/>
              </a:rPr>
              <a:t>Johna</a:t>
            </a:r>
            <a:r>
              <a:rPr lang="en-US" sz="2600" dirty="0">
                <a:cs typeface="Arial" panose="020B0604020202020204" pitchFamily="34" charset="0"/>
              </a:rPr>
              <a:t> i </a:t>
            </a:r>
            <a:r>
              <a:rPr lang="en-US" sz="2600" dirty="0" err="1">
                <a:cs typeface="Arial" panose="020B0604020202020204" pitchFamily="34" charset="0"/>
              </a:rPr>
              <a:t>pomoći</a:t>
            </a:r>
            <a:r>
              <a:rPr lang="en-US" sz="2600" dirty="0">
                <a:cs typeface="Arial" panose="020B0604020202020204" pitchFamily="34" charset="0"/>
              </a:rPr>
              <a:t> mu da </a:t>
            </a:r>
            <a:r>
              <a:rPr lang="en-US" sz="2600" dirty="0" err="1">
                <a:cs typeface="Arial" panose="020B0604020202020204" pitchFamily="34" charset="0"/>
              </a:rPr>
              <a:t>ponovno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dirty="0" err="1">
                <a:cs typeface="Arial" panose="020B0604020202020204" pitchFamily="34" charset="0"/>
              </a:rPr>
              <a:t>postigne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dirty="0" err="1">
                <a:cs typeface="Arial" panose="020B0604020202020204" pitchFamily="34" charset="0"/>
              </a:rPr>
              <a:t>produktivnost</a:t>
            </a:r>
            <a:r>
              <a:rPr lang="en-US" sz="2600" dirty="0">
                <a:cs typeface="Arial" panose="020B0604020202020204" pitchFamily="34" charset="0"/>
              </a:rPr>
              <a:t>.</a:t>
            </a:r>
          </a:p>
          <a:p>
            <a:pPr marL="0" indent="0">
              <a:buNone/>
            </a:pPr>
            <a:endParaRPr lang="en-US" sz="2600" dirty="0"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2600" dirty="0" err="1">
                <a:cs typeface="Arial" panose="020B0604020202020204" pitchFamily="34" charset="0"/>
              </a:rPr>
              <a:t>Primijenite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b="1" dirty="0" err="1">
                <a:cs typeface="Arial" panose="020B0604020202020204" pitchFamily="34" charset="0"/>
              </a:rPr>
              <a:t>Maslowljevu</a:t>
            </a:r>
            <a:r>
              <a:rPr lang="en-US" sz="2600" b="1" dirty="0">
                <a:cs typeface="Arial" panose="020B0604020202020204" pitchFamily="34" charset="0"/>
              </a:rPr>
              <a:t> </a:t>
            </a:r>
            <a:r>
              <a:rPr lang="en-US" sz="2600" b="1" dirty="0" err="1">
                <a:cs typeface="Arial" panose="020B0604020202020204" pitchFamily="34" charset="0"/>
              </a:rPr>
              <a:t>hijerarhiju</a:t>
            </a:r>
            <a:r>
              <a:rPr lang="en-US" sz="2600" b="1" dirty="0">
                <a:cs typeface="Arial" panose="020B0604020202020204" pitchFamily="34" charset="0"/>
              </a:rPr>
              <a:t> </a:t>
            </a:r>
            <a:r>
              <a:rPr lang="en-US" sz="2600" b="1" dirty="0" err="1">
                <a:cs typeface="Arial" panose="020B0604020202020204" pitchFamily="34" charset="0"/>
              </a:rPr>
              <a:t>potreba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dirty="0" err="1">
                <a:cs typeface="Arial" panose="020B0604020202020204" pitchFamily="34" charset="0"/>
              </a:rPr>
              <a:t>tako</a:t>
            </a:r>
            <a:r>
              <a:rPr lang="en-US" sz="2600" dirty="0">
                <a:cs typeface="Arial" panose="020B0604020202020204" pitchFamily="34" charset="0"/>
              </a:rPr>
              <a:t> da </a:t>
            </a:r>
            <a:r>
              <a:rPr lang="en-US" sz="2600" dirty="0" err="1">
                <a:cs typeface="Arial" panose="020B0604020202020204" pitchFamily="34" charset="0"/>
              </a:rPr>
              <a:t>razvijete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dirty="0" err="1">
                <a:cs typeface="Arial" panose="020B0604020202020204" pitchFamily="34" charset="0"/>
              </a:rPr>
              <a:t>motivacijski</a:t>
            </a:r>
            <a:r>
              <a:rPr lang="en-US" sz="2600" dirty="0">
                <a:cs typeface="Arial" panose="020B0604020202020204" pitchFamily="34" charset="0"/>
              </a:rPr>
              <a:t> plan za </a:t>
            </a:r>
            <a:r>
              <a:rPr lang="en-US" sz="2600" dirty="0" err="1">
                <a:cs typeface="Arial" panose="020B0604020202020204" pitchFamily="34" charset="0"/>
              </a:rPr>
              <a:t>Johna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dirty="0" err="1">
                <a:cs typeface="Arial" panose="020B0604020202020204" pitchFamily="34" charset="0"/>
              </a:rPr>
              <a:t>kako</a:t>
            </a:r>
            <a:r>
              <a:rPr lang="en-US" sz="2600" dirty="0">
                <a:cs typeface="Arial" panose="020B0604020202020204" pitchFamily="34" charset="0"/>
              </a:rPr>
              <a:t> bi </a:t>
            </a:r>
            <a:r>
              <a:rPr lang="en-US" sz="2600" dirty="0" err="1">
                <a:cs typeface="Arial" panose="020B0604020202020204" pitchFamily="34" charset="0"/>
              </a:rPr>
              <a:t>ostao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dirty="0" err="1">
                <a:cs typeface="Arial" panose="020B0604020202020204" pitchFamily="34" charset="0"/>
              </a:rPr>
              <a:t>motiviran</a:t>
            </a:r>
            <a:r>
              <a:rPr lang="en-US" sz="2600" dirty="0">
                <a:cs typeface="Arial" panose="020B0604020202020204" pitchFamily="34" charset="0"/>
              </a:rPr>
              <a:t>, </a:t>
            </a:r>
            <a:r>
              <a:rPr lang="en-US" sz="2600" dirty="0" err="1">
                <a:cs typeface="Arial" panose="020B0604020202020204" pitchFamily="34" charset="0"/>
              </a:rPr>
              <a:t>produktivan</a:t>
            </a:r>
            <a:r>
              <a:rPr lang="en-US" sz="2600" dirty="0">
                <a:cs typeface="Arial" panose="020B0604020202020204" pitchFamily="34" charset="0"/>
              </a:rPr>
              <a:t> i </a:t>
            </a:r>
            <a:r>
              <a:rPr lang="en-US" sz="2600" dirty="0" err="1">
                <a:cs typeface="Arial" panose="020B0604020202020204" pitchFamily="34" charset="0"/>
              </a:rPr>
              <a:t>angažiran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dirty="0" err="1">
                <a:cs typeface="Arial" panose="020B0604020202020204" pitchFamily="34" charset="0"/>
              </a:rPr>
              <a:t>tijekom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dirty="0" err="1">
                <a:cs typeface="Arial" panose="020B0604020202020204" pitchFamily="34" charset="0"/>
              </a:rPr>
              <a:t>cijelog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dirty="0" err="1">
                <a:cs typeface="Arial" panose="020B0604020202020204" pitchFamily="34" charset="0"/>
              </a:rPr>
              <a:t>životnog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dirty="0" err="1">
                <a:cs typeface="Arial" panose="020B0604020202020204" pitchFamily="34" charset="0"/>
              </a:rPr>
              <a:t>ciklusa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dirty="0" err="1">
                <a:cs typeface="Arial" panose="020B0604020202020204" pitchFamily="34" charset="0"/>
              </a:rPr>
              <a:t>projekta</a:t>
            </a:r>
            <a:r>
              <a:rPr lang="en-US" sz="2600" dirty="0">
                <a:cs typeface="Arial" panose="020B0604020202020204" pitchFamily="34" charset="0"/>
              </a:rPr>
              <a:t>.</a:t>
            </a:r>
          </a:p>
          <a:p>
            <a:pPr marL="0" indent="0">
              <a:buNone/>
            </a:pPr>
            <a:endParaRPr lang="en-US" sz="2600" dirty="0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528818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39D823-74C2-6D8C-1B66-C946F3167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8E4434-0573-52D4-2B73-31AFE9C3E9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800" dirty="0" err="1"/>
              <a:t>Coveyjev</a:t>
            </a:r>
            <a:r>
              <a:rPr lang="en-US" sz="3800" dirty="0"/>
              <a:t> </a:t>
            </a:r>
            <a:r>
              <a:rPr lang="en-US" sz="3800" dirty="0" err="1"/>
              <a:t>pristup</a:t>
            </a:r>
            <a:r>
              <a:rPr lang="en-US" sz="3800" dirty="0"/>
              <a:t> </a:t>
            </a:r>
            <a:r>
              <a:rPr lang="en-US" sz="3800" dirty="0" err="1"/>
              <a:t>slušanju</a:t>
            </a:r>
            <a:r>
              <a:rPr lang="en-US" sz="3800" dirty="0"/>
              <a:t>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EB34EE-11E1-0A80-F5EB-42AF423378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80064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600" b="1" dirty="0" err="1">
                <a:cs typeface="Arial" panose="020B0604020202020204" pitchFamily="34" charset="0"/>
              </a:rPr>
              <a:t>Četiri</a:t>
            </a:r>
            <a:r>
              <a:rPr lang="en-US" sz="2600" b="1" dirty="0">
                <a:cs typeface="Arial" panose="020B0604020202020204" pitchFamily="34" charset="0"/>
              </a:rPr>
              <a:t> </a:t>
            </a:r>
            <a:r>
              <a:rPr lang="en-US" sz="2600" b="1" dirty="0" err="1">
                <a:cs typeface="Arial" panose="020B0604020202020204" pitchFamily="34" charset="0"/>
              </a:rPr>
              <a:t>razine</a:t>
            </a:r>
            <a:r>
              <a:rPr lang="en-US" sz="2600" b="1" dirty="0">
                <a:cs typeface="Arial" panose="020B0604020202020204" pitchFamily="34" charset="0"/>
              </a:rPr>
              <a:t> </a:t>
            </a:r>
            <a:r>
              <a:rPr lang="en-US" sz="2600" b="1" dirty="0" err="1">
                <a:cs typeface="Arial" panose="020B0604020202020204" pitchFamily="34" charset="0"/>
              </a:rPr>
              <a:t>slušanja</a:t>
            </a:r>
            <a:r>
              <a:rPr lang="en-US" sz="2600" b="1" dirty="0">
                <a:cs typeface="Arial" panose="020B0604020202020204" pitchFamily="34" charset="0"/>
              </a:rPr>
              <a:t> </a:t>
            </a:r>
            <a:r>
              <a:rPr lang="en-US" sz="2600" dirty="0">
                <a:cs typeface="Arial" panose="020B0604020202020204" pitchFamily="34" charset="0"/>
              </a:rPr>
              <a:t>(</a:t>
            </a:r>
            <a:r>
              <a:rPr lang="en-US" sz="2600" dirty="0" err="1">
                <a:cs typeface="Arial" panose="020B0604020202020204" pitchFamily="34" charset="0"/>
              </a:rPr>
              <a:t>kako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dirty="0" err="1">
                <a:cs typeface="Arial" panose="020B0604020202020204" pitchFamily="34" charset="0"/>
              </a:rPr>
              <a:t>većina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dirty="0" err="1">
                <a:cs typeface="Arial" panose="020B0604020202020204" pitchFamily="34" charset="0"/>
              </a:rPr>
              <a:t>ljudi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dirty="0" err="1">
                <a:cs typeface="Arial" panose="020B0604020202020204" pitchFamily="34" charset="0"/>
              </a:rPr>
              <a:t>sluša</a:t>
            </a:r>
            <a:r>
              <a:rPr lang="en-US" sz="2600" dirty="0">
                <a:cs typeface="Arial" panose="020B0604020202020204" pitchFamily="34" charset="0"/>
              </a:rPr>
              <a:t>)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600" b="1" dirty="0" err="1">
                <a:solidFill>
                  <a:srgbClr val="0ADBBC"/>
                </a:solidFill>
              </a:rPr>
              <a:t>Ignoriranje</a:t>
            </a:r>
            <a:r>
              <a:rPr lang="en-US" sz="2600" b="1" dirty="0">
                <a:solidFill>
                  <a:srgbClr val="0ADBBC"/>
                </a:solidFill>
              </a:rPr>
              <a:t> </a:t>
            </a:r>
            <a:r>
              <a:rPr lang="en-US" sz="2600" dirty="0"/>
              <a:t>– </a:t>
            </a:r>
            <a:r>
              <a:rPr lang="en-US" sz="2600" dirty="0" err="1"/>
              <a:t>uopće</a:t>
            </a:r>
            <a:r>
              <a:rPr lang="en-US" sz="2600" dirty="0"/>
              <a:t> ne </a:t>
            </a:r>
            <a:r>
              <a:rPr lang="en-US" sz="2600" dirty="0" err="1"/>
              <a:t>obraćati</a:t>
            </a:r>
            <a:r>
              <a:rPr lang="en-US" sz="2600" dirty="0"/>
              <a:t> </a:t>
            </a:r>
            <a:r>
              <a:rPr lang="en-US" sz="2600" dirty="0" err="1"/>
              <a:t>pažnju</a:t>
            </a:r>
            <a:r>
              <a:rPr lang="en-US" sz="2600" dirty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600" b="1" dirty="0" err="1">
                <a:solidFill>
                  <a:srgbClr val="0ADBBC"/>
                </a:solidFill>
              </a:rPr>
              <a:t>Pretvaranje</a:t>
            </a:r>
            <a:r>
              <a:rPr lang="en-US" sz="2600" b="1" dirty="0">
                <a:solidFill>
                  <a:srgbClr val="0ADBBC"/>
                </a:solidFill>
              </a:rPr>
              <a:t> </a:t>
            </a:r>
            <a:r>
              <a:rPr lang="en-US" sz="2600" dirty="0"/>
              <a:t>– </a:t>
            </a:r>
            <a:r>
              <a:rPr lang="en-US" sz="2600" dirty="0" err="1"/>
              <a:t>davanje</a:t>
            </a:r>
            <a:r>
              <a:rPr lang="en-US" sz="2600" dirty="0"/>
              <a:t> </a:t>
            </a:r>
            <a:r>
              <a:rPr lang="en-US" sz="2600" dirty="0" err="1"/>
              <a:t>površnih</a:t>
            </a:r>
            <a:r>
              <a:rPr lang="en-US" sz="2600" dirty="0"/>
              <a:t> </a:t>
            </a:r>
            <a:r>
              <a:rPr lang="en-US" sz="2600" dirty="0" err="1"/>
              <a:t>odgovora</a:t>
            </a:r>
            <a:r>
              <a:rPr lang="en-US" sz="2600" dirty="0"/>
              <a:t> </a:t>
            </a:r>
            <a:r>
              <a:rPr lang="en-US" sz="2600" dirty="0" err="1"/>
              <a:t>poput</a:t>
            </a:r>
            <a:r>
              <a:rPr lang="en-US" sz="2600" dirty="0"/>
              <a:t> „aha“ bez </a:t>
            </a:r>
            <a:r>
              <a:rPr lang="en-US" sz="2600" dirty="0" err="1"/>
              <a:t>stvarne</a:t>
            </a:r>
            <a:r>
              <a:rPr lang="en-US" sz="2600" dirty="0"/>
              <a:t> </a:t>
            </a:r>
            <a:r>
              <a:rPr lang="en-US" sz="2600" dirty="0" err="1"/>
              <a:t>uključenosti</a:t>
            </a:r>
            <a:r>
              <a:rPr lang="en-US" sz="2600" dirty="0"/>
              <a:t>.</a:t>
            </a:r>
            <a:endParaRPr lang="en-US" sz="2600" b="1" dirty="0">
              <a:solidFill>
                <a:srgbClr val="0ADBBC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sz="2600" b="1" dirty="0" err="1">
                <a:solidFill>
                  <a:srgbClr val="0ADBBC"/>
                </a:solidFill>
              </a:rPr>
              <a:t>Selektivno</a:t>
            </a:r>
            <a:r>
              <a:rPr lang="en-US" sz="2600" b="1" dirty="0">
                <a:solidFill>
                  <a:srgbClr val="0ADBBC"/>
                </a:solidFill>
              </a:rPr>
              <a:t> </a:t>
            </a:r>
            <a:r>
              <a:rPr lang="en-US" sz="2600" b="1" dirty="0" err="1">
                <a:solidFill>
                  <a:srgbClr val="0ADBBC"/>
                </a:solidFill>
              </a:rPr>
              <a:t>slušanje</a:t>
            </a:r>
            <a:r>
              <a:rPr lang="en-US" sz="2600" b="1" dirty="0">
                <a:solidFill>
                  <a:srgbClr val="0ADBBC"/>
                </a:solidFill>
              </a:rPr>
              <a:t> </a:t>
            </a:r>
            <a:r>
              <a:rPr lang="en-US" sz="2600" dirty="0"/>
              <a:t>– </a:t>
            </a:r>
            <a:r>
              <a:rPr lang="en-US" sz="2600" dirty="0" err="1"/>
              <a:t>slušanje</a:t>
            </a:r>
            <a:r>
              <a:rPr lang="en-US" sz="2600" dirty="0"/>
              <a:t> </a:t>
            </a:r>
            <a:r>
              <a:rPr lang="en-US" sz="2600" dirty="0" err="1"/>
              <a:t>samo</a:t>
            </a:r>
            <a:r>
              <a:rPr lang="en-US" sz="2600" dirty="0"/>
              <a:t> </a:t>
            </a:r>
            <a:r>
              <a:rPr lang="en-US" sz="2600" dirty="0" err="1"/>
              <a:t>onoga</a:t>
            </a:r>
            <a:r>
              <a:rPr lang="en-US" sz="2600" dirty="0"/>
              <a:t> </a:t>
            </a:r>
            <a:r>
              <a:rPr lang="en-US" sz="2600" dirty="0" err="1"/>
              <a:t>što</a:t>
            </a:r>
            <a:r>
              <a:rPr lang="en-US" sz="2600" dirty="0"/>
              <a:t> se </a:t>
            </a:r>
            <a:r>
              <a:rPr lang="en-US" sz="2600" dirty="0" err="1"/>
              <a:t>čini</a:t>
            </a:r>
            <a:r>
              <a:rPr lang="en-US" sz="2600" dirty="0"/>
              <a:t> </a:t>
            </a:r>
            <a:r>
              <a:rPr lang="en-US" sz="2600" dirty="0" err="1"/>
              <a:t>važnim</a:t>
            </a:r>
            <a:r>
              <a:rPr lang="en-US" sz="2600" dirty="0"/>
              <a:t> za </a:t>
            </a:r>
            <a:r>
              <a:rPr lang="en-US" sz="2600" dirty="0" err="1"/>
              <a:t>sebe</a:t>
            </a:r>
            <a:r>
              <a:rPr lang="en-US" sz="2600" dirty="0"/>
              <a:t>.</a:t>
            </a:r>
            <a:endParaRPr lang="en-US" sz="2600" b="1" dirty="0">
              <a:solidFill>
                <a:srgbClr val="0ADBBC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sz="2600" b="1" dirty="0" err="1">
                <a:solidFill>
                  <a:srgbClr val="0ADBBC"/>
                </a:solidFill>
              </a:rPr>
              <a:t>Pažljivo</a:t>
            </a:r>
            <a:r>
              <a:rPr lang="en-US" sz="2600" b="1" dirty="0">
                <a:solidFill>
                  <a:srgbClr val="0ADBBC"/>
                </a:solidFill>
              </a:rPr>
              <a:t> </a:t>
            </a:r>
            <a:r>
              <a:rPr lang="en-US" sz="2600" b="1" dirty="0" err="1">
                <a:solidFill>
                  <a:srgbClr val="0ADBBC"/>
                </a:solidFill>
              </a:rPr>
              <a:t>slušanje</a:t>
            </a:r>
            <a:r>
              <a:rPr lang="en-US" sz="2600" b="1" dirty="0">
                <a:solidFill>
                  <a:srgbClr val="0ADBBC"/>
                </a:solidFill>
              </a:rPr>
              <a:t> </a:t>
            </a:r>
            <a:r>
              <a:rPr lang="en-US" sz="2600" dirty="0"/>
              <a:t>– </a:t>
            </a:r>
            <a:r>
              <a:rPr lang="en-US" sz="2600" dirty="0" err="1"/>
              <a:t>fokusiranje</a:t>
            </a:r>
            <a:r>
              <a:rPr lang="en-US" sz="2600" dirty="0"/>
              <a:t> </a:t>
            </a:r>
            <a:r>
              <a:rPr lang="en-US" sz="2600" dirty="0" err="1"/>
              <a:t>na</a:t>
            </a:r>
            <a:r>
              <a:rPr lang="en-US" sz="2600" dirty="0"/>
              <a:t> </a:t>
            </a:r>
            <a:r>
              <a:rPr lang="en-US" sz="2600" dirty="0" err="1"/>
              <a:t>riječi</a:t>
            </a:r>
            <a:r>
              <a:rPr lang="en-US" sz="2600" dirty="0"/>
              <a:t>, </a:t>
            </a:r>
            <a:r>
              <a:rPr lang="en-US" sz="2600" dirty="0" err="1"/>
              <a:t>ali</a:t>
            </a:r>
            <a:r>
              <a:rPr lang="en-US" sz="2600" dirty="0"/>
              <a:t> ne i </a:t>
            </a:r>
            <a:r>
              <a:rPr lang="en-US" sz="2600" dirty="0" err="1"/>
              <a:t>na</a:t>
            </a:r>
            <a:r>
              <a:rPr lang="en-US" sz="2600" dirty="0"/>
              <a:t> </a:t>
            </a:r>
            <a:r>
              <a:rPr lang="en-US" sz="2600" dirty="0" err="1"/>
              <a:t>emocije</a:t>
            </a:r>
            <a:r>
              <a:rPr lang="en-US" sz="2600" dirty="0"/>
              <a:t>.</a:t>
            </a:r>
            <a:endParaRPr lang="en-US" sz="2600" b="1" dirty="0">
              <a:solidFill>
                <a:srgbClr val="0ADBBC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sz="2600" b="1" dirty="0" err="1">
                <a:solidFill>
                  <a:srgbClr val="0ADBBC"/>
                </a:solidFill>
              </a:rPr>
              <a:t>Empatijsko</a:t>
            </a:r>
            <a:r>
              <a:rPr lang="en-US" sz="2600" b="1" dirty="0">
                <a:solidFill>
                  <a:srgbClr val="0ADBBC"/>
                </a:solidFill>
              </a:rPr>
              <a:t> </a:t>
            </a:r>
            <a:r>
              <a:rPr lang="en-US" sz="2600" b="1" dirty="0" err="1">
                <a:solidFill>
                  <a:srgbClr val="0ADBBC"/>
                </a:solidFill>
              </a:rPr>
              <a:t>slušanje</a:t>
            </a:r>
            <a:r>
              <a:rPr lang="en-US" sz="2600" b="1" dirty="0">
                <a:solidFill>
                  <a:srgbClr val="0ADBBC"/>
                </a:solidFill>
              </a:rPr>
              <a:t> </a:t>
            </a:r>
            <a:r>
              <a:rPr lang="en-US" sz="2600" dirty="0"/>
              <a:t>– </a:t>
            </a:r>
            <a:r>
              <a:rPr lang="en-US" sz="2600" dirty="0" err="1"/>
              <a:t>slušanje</a:t>
            </a:r>
            <a:r>
              <a:rPr lang="en-US" sz="2600" dirty="0"/>
              <a:t> s </a:t>
            </a:r>
            <a:r>
              <a:rPr lang="en-US" sz="2600" dirty="0" err="1"/>
              <a:t>namjerom</a:t>
            </a:r>
            <a:r>
              <a:rPr lang="en-US" sz="2600" dirty="0"/>
              <a:t> </a:t>
            </a:r>
            <a:r>
              <a:rPr lang="en-US" sz="2600" b="1" dirty="0" err="1"/>
              <a:t>razumijevanja</a:t>
            </a:r>
            <a:r>
              <a:rPr lang="en-US" sz="2600" dirty="0"/>
              <a:t> (a ne </a:t>
            </a:r>
            <a:r>
              <a:rPr lang="en-US" sz="2600" dirty="0" err="1"/>
              <a:t>odgovaranja</a:t>
            </a:r>
            <a:r>
              <a:rPr lang="en-US" sz="2600" dirty="0"/>
              <a:t>) </a:t>
            </a:r>
            <a:r>
              <a:rPr lang="en-US" sz="2600" dirty="0" err="1"/>
              <a:t>emocija</a:t>
            </a:r>
            <a:r>
              <a:rPr lang="en-US" sz="2600" dirty="0"/>
              <a:t>, </a:t>
            </a:r>
            <a:r>
              <a:rPr lang="en-US" sz="2600" dirty="0" err="1"/>
              <a:t>perspektiva</a:t>
            </a:r>
            <a:r>
              <a:rPr lang="en-US" sz="2600" dirty="0"/>
              <a:t> i </a:t>
            </a:r>
            <a:r>
              <a:rPr lang="en-US" sz="2600" dirty="0" err="1"/>
              <a:t>neizrečenih</a:t>
            </a:r>
            <a:r>
              <a:rPr lang="en-US" sz="2600" dirty="0"/>
              <a:t> </a:t>
            </a:r>
            <a:r>
              <a:rPr lang="en-US" sz="2600" dirty="0" err="1"/>
              <a:t>briga</a:t>
            </a:r>
            <a:r>
              <a:rPr lang="en-US" sz="2600" dirty="0"/>
              <a:t>.</a:t>
            </a:r>
          </a:p>
          <a:p>
            <a:pPr marL="0" indent="0">
              <a:buNone/>
            </a:pPr>
            <a:r>
              <a:rPr lang="en-US" sz="2600" dirty="0">
                <a:cs typeface="Arial" panose="020B0604020202020204" pitchFamily="34" charset="0"/>
              </a:rPr>
              <a:t>	</a:t>
            </a:r>
          </a:p>
          <a:p>
            <a:pPr marL="0" indent="0">
              <a:buNone/>
            </a:pPr>
            <a:r>
              <a:rPr lang="en-US" sz="2600" dirty="0">
                <a:cs typeface="Arial" panose="020B0604020202020204" pitchFamily="34" charset="0"/>
              </a:rPr>
              <a:t>		Stephen Covey, </a:t>
            </a:r>
            <a:r>
              <a:rPr lang="hr-HR" sz="2600" dirty="0">
                <a:cs typeface="Arial" panose="020B0604020202020204" pitchFamily="34" charset="0"/>
              </a:rPr>
              <a:t>u </a:t>
            </a:r>
            <a:r>
              <a:rPr lang="en-US" sz="2600" i="1" dirty="0">
                <a:cs typeface="Arial" panose="020B0604020202020204" pitchFamily="34" charset="0"/>
              </a:rPr>
              <a:t>The 7 Habits of Highly Effective People</a:t>
            </a:r>
            <a:endParaRPr lang="en-US" sz="2600" dirty="0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689888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82188-BCA1-9F92-2FF1-B804126BAB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800" dirty="0"/>
              <a:t>Primjer </a:t>
            </a:r>
            <a:r>
              <a:rPr lang="en-US" sz="3800" dirty="0" err="1"/>
              <a:t>empatijskog</a:t>
            </a:r>
            <a:r>
              <a:rPr lang="en-US" sz="3800" dirty="0"/>
              <a:t> </a:t>
            </a:r>
            <a:r>
              <a:rPr lang="en-US" sz="3800" dirty="0" err="1"/>
              <a:t>slušanja</a:t>
            </a:r>
            <a:r>
              <a:rPr lang="en-US" sz="3800" dirty="0"/>
              <a:t>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2CCE20-8FBD-DCA2-BBE6-9046E26F08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419" y="1825625"/>
            <a:ext cx="10515600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dirty="0" err="1">
                <a:cs typeface="Arial" panose="020B0604020202020204" pitchFamily="34" charset="0"/>
              </a:rPr>
              <a:t>Voditelj</a:t>
            </a:r>
            <a:r>
              <a:rPr lang="en-US" sz="2400" dirty="0">
                <a:cs typeface="Arial" panose="020B0604020202020204" pitchFamily="34" charset="0"/>
              </a:rPr>
              <a:t> </a:t>
            </a:r>
            <a:r>
              <a:rPr lang="en-US" sz="2400" dirty="0" err="1">
                <a:cs typeface="Arial" panose="020B0604020202020204" pitchFamily="34" charset="0"/>
              </a:rPr>
              <a:t>projekta</a:t>
            </a:r>
            <a:r>
              <a:rPr lang="en-US" sz="2400" dirty="0">
                <a:cs typeface="Arial" panose="020B0604020202020204" pitchFamily="34" charset="0"/>
              </a:rPr>
              <a:t> </a:t>
            </a:r>
            <a:r>
              <a:rPr lang="en-US" sz="2400" dirty="0" err="1">
                <a:cs typeface="Arial" panose="020B0604020202020204" pitchFamily="34" charset="0"/>
              </a:rPr>
              <a:t>primjećuje</a:t>
            </a:r>
            <a:r>
              <a:rPr lang="en-US" sz="2400" dirty="0">
                <a:cs typeface="Arial" panose="020B0604020202020204" pitchFamily="34" charset="0"/>
              </a:rPr>
              <a:t> da </a:t>
            </a:r>
            <a:r>
              <a:rPr lang="en-US" sz="2400" dirty="0" err="1">
                <a:cs typeface="Arial" panose="020B0604020202020204" pitchFamily="34" charset="0"/>
              </a:rPr>
              <a:t>član</a:t>
            </a:r>
            <a:r>
              <a:rPr lang="en-US" sz="2400" dirty="0">
                <a:cs typeface="Arial" panose="020B0604020202020204" pitchFamily="34" charset="0"/>
              </a:rPr>
              <a:t> </a:t>
            </a:r>
            <a:r>
              <a:rPr lang="en-US" sz="2400" dirty="0" err="1">
                <a:cs typeface="Arial" panose="020B0604020202020204" pitchFamily="34" charset="0"/>
              </a:rPr>
              <a:t>tima</a:t>
            </a:r>
            <a:r>
              <a:rPr lang="en-US" sz="2400" dirty="0">
                <a:cs typeface="Arial" panose="020B0604020202020204" pitchFamily="34" charset="0"/>
              </a:rPr>
              <a:t>, Alex, </a:t>
            </a:r>
            <a:r>
              <a:rPr lang="en-US" sz="2400" dirty="0" err="1">
                <a:cs typeface="Arial" panose="020B0604020202020204" pitchFamily="34" charset="0"/>
              </a:rPr>
              <a:t>propušta</a:t>
            </a:r>
            <a:r>
              <a:rPr lang="en-US" sz="2400" dirty="0">
                <a:cs typeface="Arial" panose="020B0604020202020204" pitchFamily="34" charset="0"/>
              </a:rPr>
              <a:t> </a:t>
            </a:r>
            <a:r>
              <a:rPr lang="en-US" sz="2400" dirty="0" err="1">
                <a:cs typeface="Arial" panose="020B0604020202020204" pitchFamily="34" charset="0"/>
              </a:rPr>
              <a:t>rokove</a:t>
            </a:r>
            <a:r>
              <a:rPr lang="en-US" sz="2400" dirty="0">
                <a:cs typeface="Arial" panose="020B0604020202020204" pitchFamily="34" charset="0"/>
              </a:rPr>
              <a:t> i </a:t>
            </a:r>
            <a:r>
              <a:rPr lang="en-US" sz="2400" dirty="0" err="1">
                <a:cs typeface="Arial" panose="020B0604020202020204" pitchFamily="34" charset="0"/>
              </a:rPr>
              <a:t>djeluje</a:t>
            </a:r>
            <a:r>
              <a:rPr lang="en-US" sz="2400" dirty="0">
                <a:cs typeface="Arial" panose="020B0604020202020204" pitchFamily="34" charset="0"/>
              </a:rPr>
              <a:t> </a:t>
            </a:r>
            <a:r>
              <a:rPr lang="en-US" sz="2400" dirty="0" err="1">
                <a:cs typeface="Arial" panose="020B0604020202020204" pitchFamily="34" charset="0"/>
              </a:rPr>
              <a:t>nezainteresirano</a:t>
            </a:r>
            <a:r>
              <a:rPr lang="en-US" sz="2400" dirty="0">
                <a:cs typeface="Arial" panose="020B0604020202020204" pitchFamily="34" charset="0"/>
              </a:rPr>
              <a:t>.</a:t>
            </a:r>
          </a:p>
          <a:p>
            <a:pPr marL="0" indent="0">
              <a:buNone/>
            </a:pPr>
            <a:r>
              <a:rPr lang="en-US" sz="2400" dirty="0" err="1">
                <a:cs typeface="Arial" panose="020B0604020202020204" pitchFamily="34" charset="0"/>
              </a:rPr>
              <a:t>Umjesto</a:t>
            </a:r>
            <a:r>
              <a:rPr lang="en-US" sz="2400" dirty="0">
                <a:cs typeface="Arial" panose="020B0604020202020204" pitchFamily="34" charset="0"/>
              </a:rPr>
              <a:t> da </a:t>
            </a:r>
            <a:r>
              <a:rPr lang="en-US" sz="2400" dirty="0" err="1">
                <a:cs typeface="Arial" panose="020B0604020202020204" pitchFamily="34" charset="0"/>
              </a:rPr>
              <a:t>donosi</a:t>
            </a:r>
            <a:r>
              <a:rPr lang="en-US" sz="2400" dirty="0">
                <a:cs typeface="Arial" panose="020B0604020202020204" pitchFamily="34" charset="0"/>
              </a:rPr>
              <a:t> </a:t>
            </a:r>
            <a:r>
              <a:rPr lang="en-US" sz="2400" dirty="0" err="1">
                <a:cs typeface="Arial" panose="020B0604020202020204" pitchFamily="34" charset="0"/>
              </a:rPr>
              <a:t>preuranjene</a:t>
            </a:r>
            <a:r>
              <a:rPr lang="en-US" sz="2400" dirty="0">
                <a:cs typeface="Arial" panose="020B0604020202020204" pitchFamily="34" charset="0"/>
              </a:rPr>
              <a:t> </a:t>
            </a:r>
            <a:r>
              <a:rPr lang="en-US" sz="2400" dirty="0" err="1">
                <a:cs typeface="Arial" panose="020B0604020202020204" pitchFamily="34" charset="0"/>
              </a:rPr>
              <a:t>zaključke</a:t>
            </a:r>
            <a:r>
              <a:rPr lang="en-US" sz="2400" dirty="0">
                <a:cs typeface="Arial" panose="020B0604020202020204" pitchFamily="34" charset="0"/>
              </a:rPr>
              <a:t>, </a:t>
            </a:r>
            <a:r>
              <a:rPr lang="en-US" sz="2400" dirty="0" err="1">
                <a:cs typeface="Arial" panose="020B0604020202020204" pitchFamily="34" charset="0"/>
              </a:rPr>
              <a:t>voditelj</a:t>
            </a:r>
            <a:r>
              <a:rPr lang="en-US" sz="2400" dirty="0">
                <a:cs typeface="Arial" panose="020B0604020202020204" pitchFamily="34" charset="0"/>
              </a:rPr>
              <a:t> </a:t>
            </a:r>
            <a:r>
              <a:rPr lang="en-US" sz="2400" dirty="0" err="1">
                <a:cs typeface="Arial" panose="020B0604020202020204" pitchFamily="34" charset="0"/>
              </a:rPr>
              <a:t>primjenjuje</a:t>
            </a:r>
            <a:r>
              <a:rPr lang="en-US" sz="2400" dirty="0">
                <a:cs typeface="Arial" panose="020B0604020202020204" pitchFamily="34" charset="0"/>
              </a:rPr>
              <a:t> </a:t>
            </a:r>
            <a:r>
              <a:rPr lang="en-US" sz="2400" dirty="0" err="1">
                <a:cs typeface="Arial" panose="020B0604020202020204" pitchFamily="34" charset="0"/>
              </a:rPr>
              <a:t>Coveyjev</a:t>
            </a:r>
            <a:r>
              <a:rPr lang="en-US" sz="2400" dirty="0">
                <a:cs typeface="Arial" panose="020B0604020202020204" pitchFamily="34" charset="0"/>
              </a:rPr>
              <a:t> </a:t>
            </a:r>
            <a:r>
              <a:rPr lang="en-US" sz="2400" dirty="0" err="1">
                <a:cs typeface="Arial" panose="020B0604020202020204" pitchFamily="34" charset="0"/>
              </a:rPr>
              <a:t>pristup</a:t>
            </a:r>
            <a:r>
              <a:rPr lang="en-US" sz="2400" dirty="0">
                <a:cs typeface="Arial" panose="020B0604020202020204" pitchFamily="34" charset="0"/>
              </a:rPr>
              <a:t> </a:t>
            </a:r>
            <a:r>
              <a:rPr lang="en-US" sz="2400" dirty="0" err="1">
                <a:cs typeface="Arial" panose="020B0604020202020204" pitchFamily="34" charset="0"/>
              </a:rPr>
              <a:t>empatijskog</a:t>
            </a:r>
            <a:r>
              <a:rPr lang="en-US" sz="2400" dirty="0">
                <a:cs typeface="Arial" panose="020B0604020202020204" pitchFamily="34" charset="0"/>
              </a:rPr>
              <a:t> </a:t>
            </a:r>
            <a:r>
              <a:rPr lang="en-US" sz="2400" dirty="0" err="1">
                <a:cs typeface="Arial" panose="020B0604020202020204" pitchFamily="34" charset="0"/>
              </a:rPr>
              <a:t>slušanja</a:t>
            </a:r>
            <a:r>
              <a:rPr lang="en-US" sz="2400" dirty="0">
                <a:cs typeface="Arial" panose="020B0604020202020204" pitchFamily="34" charset="0"/>
              </a:rPr>
              <a:t>:</a:t>
            </a:r>
          </a:p>
          <a:p>
            <a:pPr marL="0" indent="0">
              <a:buNone/>
            </a:pPr>
            <a:r>
              <a:rPr lang="en-US" sz="2600" b="1" dirty="0" err="1">
                <a:solidFill>
                  <a:srgbClr val="0ADBBC"/>
                </a:solidFill>
              </a:rPr>
              <a:t>Postavlja</a:t>
            </a:r>
            <a:r>
              <a:rPr lang="en-US" sz="2600" b="1" dirty="0">
                <a:solidFill>
                  <a:srgbClr val="0ADBBC"/>
                </a:solidFill>
              </a:rPr>
              <a:t> </a:t>
            </a:r>
            <a:r>
              <a:rPr lang="en-US" sz="2600" b="1" dirty="0" err="1">
                <a:solidFill>
                  <a:srgbClr val="0ADBBC"/>
                </a:solidFill>
              </a:rPr>
              <a:t>otvorena</a:t>
            </a:r>
            <a:r>
              <a:rPr lang="en-US" sz="2600" b="1" dirty="0">
                <a:solidFill>
                  <a:srgbClr val="0ADBBC"/>
                </a:solidFill>
              </a:rPr>
              <a:t> </a:t>
            </a:r>
            <a:r>
              <a:rPr lang="en-US" sz="2600" b="1" dirty="0" err="1">
                <a:solidFill>
                  <a:srgbClr val="0ADBBC"/>
                </a:solidFill>
              </a:rPr>
              <a:t>pitanja</a:t>
            </a:r>
            <a:r>
              <a:rPr lang="en-US" sz="2600" b="1" dirty="0">
                <a:solidFill>
                  <a:srgbClr val="0ADBBC"/>
                </a:solidFill>
              </a:rPr>
              <a:t>: </a:t>
            </a:r>
            <a:r>
              <a:rPr lang="en-US" sz="2400" dirty="0"/>
              <a:t>„</a:t>
            </a:r>
            <a:r>
              <a:rPr lang="en-US" sz="2400" dirty="0" err="1"/>
              <a:t>Primijetio</a:t>
            </a:r>
            <a:r>
              <a:rPr lang="en-US" sz="2400" dirty="0"/>
              <a:t>/la </a:t>
            </a:r>
            <a:r>
              <a:rPr lang="en-US" sz="2400" dirty="0" err="1"/>
              <a:t>sam</a:t>
            </a:r>
            <a:r>
              <a:rPr lang="en-US" sz="2400" dirty="0"/>
              <a:t> da </a:t>
            </a:r>
            <a:r>
              <a:rPr lang="en-US" sz="2400" dirty="0" err="1"/>
              <a:t>si</a:t>
            </a:r>
            <a:r>
              <a:rPr lang="en-US" sz="2400" dirty="0"/>
              <a:t> </a:t>
            </a:r>
            <a:r>
              <a:rPr lang="en-US" sz="2400" dirty="0" err="1"/>
              <a:t>tiši</a:t>
            </a:r>
            <a:r>
              <a:rPr lang="en-US" sz="2400" dirty="0"/>
              <a:t> </a:t>
            </a:r>
            <a:r>
              <a:rPr lang="en-US" sz="2400" dirty="0" err="1"/>
              <a:t>na</a:t>
            </a:r>
            <a:r>
              <a:rPr lang="en-US" sz="2400" dirty="0"/>
              <a:t> </a:t>
            </a:r>
            <a:r>
              <a:rPr lang="en-US" sz="2400" dirty="0" err="1"/>
              <a:t>sastancima</a:t>
            </a:r>
            <a:r>
              <a:rPr lang="en-US" sz="2400" dirty="0"/>
              <a:t>. Ima li </a:t>
            </a:r>
            <a:r>
              <a:rPr lang="en-US" sz="2400" dirty="0" err="1"/>
              <a:t>nešto</a:t>
            </a:r>
            <a:r>
              <a:rPr lang="en-US" sz="2400" dirty="0"/>
              <a:t> </a:t>
            </a:r>
            <a:r>
              <a:rPr lang="en-US" sz="2400" dirty="0" err="1"/>
              <a:t>što</a:t>
            </a:r>
            <a:r>
              <a:rPr lang="en-US" sz="2400" dirty="0"/>
              <a:t> </a:t>
            </a:r>
            <a:r>
              <a:rPr lang="en-US" sz="2400" dirty="0" err="1"/>
              <a:t>te</a:t>
            </a:r>
            <a:r>
              <a:rPr lang="en-US" sz="2400" dirty="0"/>
              <a:t> </a:t>
            </a:r>
            <a:r>
              <a:rPr lang="en-US" sz="2400" dirty="0" err="1"/>
              <a:t>muči</a:t>
            </a:r>
            <a:r>
              <a:rPr lang="en-US" sz="2400" dirty="0"/>
              <a:t>?“</a:t>
            </a:r>
          </a:p>
          <a:p>
            <a:pPr marL="0" indent="0">
              <a:buNone/>
            </a:pPr>
            <a:r>
              <a:rPr lang="en-US" sz="2600" b="1" dirty="0">
                <a:solidFill>
                  <a:srgbClr val="0ADBBC"/>
                </a:solidFill>
              </a:rPr>
              <a:t>Sluša bez </a:t>
            </a:r>
            <a:r>
              <a:rPr lang="en-US" sz="2600" b="1" dirty="0" err="1">
                <a:solidFill>
                  <a:srgbClr val="0ADBBC"/>
                </a:solidFill>
              </a:rPr>
              <a:t>prekidanja</a:t>
            </a:r>
            <a:r>
              <a:rPr lang="en-US" sz="2600" b="1" dirty="0">
                <a:solidFill>
                  <a:srgbClr val="0ADBBC"/>
                </a:solidFill>
              </a:rPr>
              <a:t>, </a:t>
            </a:r>
            <a:r>
              <a:rPr lang="en-US" sz="2400" dirty="0" err="1"/>
              <a:t>obraćajući</a:t>
            </a:r>
            <a:r>
              <a:rPr lang="en-US" sz="2400" dirty="0"/>
              <a:t> </a:t>
            </a:r>
            <a:r>
              <a:rPr lang="en-US" sz="2400" dirty="0" err="1"/>
              <a:t>pažnju</a:t>
            </a:r>
            <a:r>
              <a:rPr lang="en-US" sz="2400" dirty="0"/>
              <a:t> </a:t>
            </a:r>
            <a:r>
              <a:rPr lang="en-US" sz="2400" dirty="0" err="1"/>
              <a:t>na</a:t>
            </a:r>
            <a:r>
              <a:rPr lang="en-US" sz="2400" dirty="0"/>
              <a:t> </a:t>
            </a:r>
            <a:r>
              <a:rPr lang="en-US" sz="2400" dirty="0" err="1"/>
              <a:t>emocije</a:t>
            </a:r>
            <a:r>
              <a:rPr lang="en-US" sz="2400" dirty="0"/>
              <a:t> </a:t>
            </a:r>
            <a:r>
              <a:rPr lang="en-US" sz="2400" dirty="0" err="1"/>
              <a:t>iza</a:t>
            </a:r>
            <a:r>
              <a:rPr lang="en-US" sz="2400" dirty="0"/>
              <a:t> </a:t>
            </a:r>
            <a:r>
              <a:rPr lang="en-US" sz="2400" dirty="0" err="1"/>
              <a:t>izgovorenih</a:t>
            </a:r>
            <a:r>
              <a:rPr lang="en-US" sz="2400" dirty="0"/>
              <a:t> </a:t>
            </a:r>
            <a:r>
              <a:rPr lang="en-US" sz="2400" dirty="0" err="1"/>
              <a:t>riječi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r>
              <a:rPr lang="en-US" sz="2600" b="1" dirty="0" err="1">
                <a:solidFill>
                  <a:srgbClr val="0ADBBC"/>
                </a:solidFill>
              </a:rPr>
              <a:t>Reflektira</a:t>
            </a:r>
            <a:r>
              <a:rPr lang="en-US" sz="2600" b="1" dirty="0">
                <a:solidFill>
                  <a:srgbClr val="0ADBBC"/>
                </a:solidFill>
              </a:rPr>
              <a:t> </a:t>
            </a:r>
            <a:r>
              <a:rPr lang="en-US" sz="2600" b="1" dirty="0" err="1">
                <a:solidFill>
                  <a:srgbClr val="0ADBBC"/>
                </a:solidFill>
              </a:rPr>
              <a:t>osjećaje</a:t>
            </a:r>
            <a:r>
              <a:rPr lang="en-US" sz="2600" b="1" dirty="0">
                <a:solidFill>
                  <a:srgbClr val="0ADBBC"/>
                </a:solidFill>
              </a:rPr>
              <a:t>: </a:t>
            </a:r>
            <a:r>
              <a:rPr lang="en-US" sz="2400" dirty="0"/>
              <a:t>„</a:t>
            </a:r>
            <a:r>
              <a:rPr lang="en-US" sz="2400" dirty="0" err="1"/>
              <a:t>Zvuči</a:t>
            </a:r>
            <a:r>
              <a:rPr lang="en-US" sz="2400" dirty="0"/>
              <a:t> </a:t>
            </a:r>
            <a:r>
              <a:rPr lang="en-US" sz="2400" dirty="0" err="1"/>
              <a:t>kao</a:t>
            </a:r>
            <a:r>
              <a:rPr lang="en-US" sz="2400" dirty="0"/>
              <a:t> da se </a:t>
            </a:r>
            <a:r>
              <a:rPr lang="en-US" sz="2400" dirty="0" err="1"/>
              <a:t>osjećaš</a:t>
            </a:r>
            <a:r>
              <a:rPr lang="en-US" sz="2400" dirty="0"/>
              <a:t> </a:t>
            </a:r>
            <a:r>
              <a:rPr lang="en-US" sz="2400" dirty="0" err="1"/>
              <a:t>preopterećeno</a:t>
            </a:r>
            <a:r>
              <a:rPr lang="en-US" sz="2400" dirty="0"/>
              <a:t> </a:t>
            </a:r>
            <a:r>
              <a:rPr lang="en-US" sz="2400" dirty="0" err="1"/>
              <a:t>količinom</a:t>
            </a:r>
            <a:r>
              <a:rPr lang="en-US" sz="2400" dirty="0"/>
              <a:t> </a:t>
            </a:r>
            <a:r>
              <a:rPr lang="en-US" sz="2400" dirty="0" err="1"/>
              <a:t>posla</a:t>
            </a:r>
            <a:r>
              <a:rPr lang="en-US" sz="2400" dirty="0"/>
              <a:t>.“</a:t>
            </a:r>
          </a:p>
          <a:p>
            <a:pPr marL="0" indent="0">
              <a:buNone/>
            </a:pPr>
            <a:r>
              <a:rPr lang="en-US" sz="2600" b="1" dirty="0" err="1">
                <a:solidFill>
                  <a:srgbClr val="0ADBBC"/>
                </a:solidFill>
              </a:rPr>
              <a:t>Potvrđuje</a:t>
            </a:r>
            <a:r>
              <a:rPr lang="en-US" sz="2600" b="1" dirty="0">
                <a:solidFill>
                  <a:srgbClr val="0ADBBC"/>
                </a:solidFill>
              </a:rPr>
              <a:t> </a:t>
            </a:r>
            <a:r>
              <a:rPr lang="en-US" sz="2600" b="1" dirty="0" err="1">
                <a:solidFill>
                  <a:srgbClr val="0ADBBC"/>
                </a:solidFill>
              </a:rPr>
              <a:t>razumijevanje</a:t>
            </a:r>
            <a:r>
              <a:rPr lang="en-US" sz="2600" b="1" dirty="0">
                <a:solidFill>
                  <a:srgbClr val="0ADBBC"/>
                </a:solidFill>
              </a:rPr>
              <a:t> </a:t>
            </a:r>
            <a:r>
              <a:rPr lang="en-US" sz="2400" dirty="0" err="1"/>
              <a:t>prije</a:t>
            </a:r>
            <a:r>
              <a:rPr lang="en-US" sz="2400" dirty="0"/>
              <a:t> </a:t>
            </a:r>
            <a:r>
              <a:rPr lang="en-US" sz="2400" dirty="0" err="1"/>
              <a:t>nego</a:t>
            </a:r>
            <a:r>
              <a:rPr lang="en-US" sz="2400" dirty="0"/>
              <a:t> </a:t>
            </a:r>
            <a:r>
              <a:rPr lang="en-US" sz="2400" dirty="0" err="1"/>
              <a:t>što</a:t>
            </a:r>
            <a:r>
              <a:rPr lang="en-US" sz="2400" dirty="0"/>
              <a:t> </a:t>
            </a:r>
            <a:r>
              <a:rPr lang="en-US" sz="2400" dirty="0" err="1"/>
              <a:t>ponudi</a:t>
            </a:r>
            <a:r>
              <a:rPr lang="en-US" sz="2400" dirty="0"/>
              <a:t> </a:t>
            </a:r>
            <a:r>
              <a:rPr lang="en-US" sz="2400" dirty="0" err="1"/>
              <a:t>rješenja</a:t>
            </a:r>
            <a:r>
              <a:rPr lang="en-US" sz="2400" dirty="0"/>
              <a:t>: „</a:t>
            </a:r>
            <a:r>
              <a:rPr lang="en-US" sz="2400" dirty="0" err="1"/>
              <a:t>Cijenim</a:t>
            </a:r>
            <a:r>
              <a:rPr lang="en-US" sz="2400" dirty="0"/>
              <a:t> </a:t>
            </a:r>
            <a:r>
              <a:rPr lang="en-US" sz="2400" dirty="0" err="1"/>
              <a:t>što</a:t>
            </a:r>
            <a:r>
              <a:rPr lang="en-US" sz="2400" dirty="0"/>
              <a:t> </a:t>
            </a:r>
            <a:r>
              <a:rPr lang="en-US" sz="2400" dirty="0" err="1"/>
              <a:t>si</a:t>
            </a:r>
            <a:r>
              <a:rPr lang="en-US" sz="2400" dirty="0"/>
              <a:t> to </a:t>
            </a:r>
            <a:r>
              <a:rPr lang="en-US" sz="2400" dirty="0" err="1"/>
              <a:t>podijelio</a:t>
            </a:r>
            <a:r>
              <a:rPr lang="en-US" sz="2400" dirty="0"/>
              <a:t>/la. </a:t>
            </a:r>
            <a:r>
              <a:rPr lang="en-US" sz="2400" dirty="0" err="1"/>
              <a:t>Hajdemo</a:t>
            </a:r>
            <a:r>
              <a:rPr lang="en-US" sz="2400" dirty="0"/>
              <a:t> </a:t>
            </a:r>
            <a:r>
              <a:rPr lang="en-US" sz="2400" dirty="0" err="1"/>
              <a:t>zajedno</a:t>
            </a:r>
            <a:r>
              <a:rPr lang="en-US" sz="2400" dirty="0"/>
              <a:t> </a:t>
            </a:r>
            <a:r>
              <a:rPr lang="en-US" sz="2400" dirty="0" err="1"/>
              <a:t>prilagoditi</a:t>
            </a:r>
            <a:r>
              <a:rPr lang="en-US" sz="2400" dirty="0"/>
              <a:t> </a:t>
            </a:r>
            <a:r>
              <a:rPr lang="en-US" sz="2400" dirty="0" err="1"/>
              <a:t>tvoje</a:t>
            </a:r>
            <a:r>
              <a:rPr lang="en-US" sz="2400" dirty="0"/>
              <a:t> </a:t>
            </a:r>
            <a:r>
              <a:rPr lang="en-US" sz="2400" dirty="0" err="1"/>
              <a:t>zadatke</a:t>
            </a:r>
            <a:r>
              <a:rPr lang="en-US" sz="2400" dirty="0"/>
              <a:t>.“</a:t>
            </a:r>
          </a:p>
        </p:txBody>
      </p:sp>
    </p:spTree>
    <p:extLst>
      <p:ext uri="{BB962C8B-B14F-4D97-AF65-F5344CB8AC3E}">
        <p14:creationId xmlns:p14="http://schemas.microsoft.com/office/powerpoint/2010/main" val="6228247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2F48A5-C540-37AB-0DD9-83988F0557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0588"/>
            <a:ext cx="10515600" cy="1325563"/>
          </a:xfrm>
        </p:spPr>
        <p:txBody>
          <a:bodyPr>
            <a:normAutofit/>
          </a:bodyPr>
          <a:lstStyle/>
          <a:p>
            <a:r>
              <a:rPr lang="pl-PL" sz="3800" dirty="0"/>
              <a:t>Važnost povratne informacije u projektnim okruženjima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5CC23A-BC48-1435-B32C-D53E48381D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3347" y="1950885"/>
            <a:ext cx="10515600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dirty="0" err="1">
                <a:cs typeface="Arial" panose="020B0604020202020204" pitchFamily="34" charset="0"/>
              </a:rPr>
              <a:t>Povratna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informacija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ključna</a:t>
            </a:r>
            <a:r>
              <a:rPr lang="en-US" dirty="0">
                <a:cs typeface="Arial" panose="020B0604020202020204" pitchFamily="34" charset="0"/>
              </a:rPr>
              <a:t> je u </a:t>
            </a:r>
            <a:r>
              <a:rPr lang="en-US" dirty="0" err="1">
                <a:cs typeface="Arial" panose="020B0604020202020204" pitchFamily="34" charset="0"/>
              </a:rPr>
              <a:t>projektnom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okruženju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jer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b="1" dirty="0" err="1">
                <a:cs typeface="Arial" panose="020B0604020202020204" pitchFamily="34" charset="0"/>
              </a:rPr>
              <a:t>potiče</a:t>
            </a:r>
            <a:r>
              <a:rPr lang="en-US" b="1" dirty="0">
                <a:cs typeface="Arial" panose="020B0604020202020204" pitchFamily="34" charset="0"/>
              </a:rPr>
              <a:t> </a:t>
            </a:r>
            <a:r>
              <a:rPr lang="en-US" b="1" dirty="0" err="1">
                <a:cs typeface="Arial" panose="020B0604020202020204" pitchFamily="34" charset="0"/>
              </a:rPr>
              <a:t>unapređenje</a:t>
            </a:r>
            <a:r>
              <a:rPr lang="en-US" b="1" dirty="0">
                <a:cs typeface="Arial" panose="020B0604020202020204" pitchFamily="34" charset="0"/>
              </a:rPr>
              <a:t>, </a:t>
            </a:r>
            <a:r>
              <a:rPr lang="en-US" b="1" dirty="0" err="1">
                <a:cs typeface="Arial" panose="020B0604020202020204" pitchFamily="34" charset="0"/>
              </a:rPr>
              <a:t>jača</a:t>
            </a:r>
            <a:r>
              <a:rPr lang="en-US" b="1" dirty="0">
                <a:cs typeface="Arial" panose="020B0604020202020204" pitchFamily="34" charset="0"/>
              </a:rPr>
              <a:t> </a:t>
            </a:r>
            <a:r>
              <a:rPr lang="en-US" b="1" dirty="0" err="1">
                <a:cs typeface="Arial" panose="020B0604020202020204" pitchFamily="34" charset="0"/>
              </a:rPr>
              <a:t>timski</a:t>
            </a:r>
            <a:r>
              <a:rPr lang="en-US" b="1" dirty="0">
                <a:cs typeface="Arial" panose="020B0604020202020204" pitchFamily="34" charset="0"/>
              </a:rPr>
              <a:t> rad i </a:t>
            </a:r>
            <a:r>
              <a:rPr lang="en-US" b="1" dirty="0" err="1">
                <a:cs typeface="Arial" panose="020B0604020202020204" pitchFamily="34" charset="0"/>
              </a:rPr>
              <a:t>osigurava</a:t>
            </a:r>
            <a:r>
              <a:rPr lang="en-US" b="1" dirty="0">
                <a:cs typeface="Arial" panose="020B0604020202020204" pitchFamily="34" charset="0"/>
              </a:rPr>
              <a:t> </a:t>
            </a:r>
            <a:r>
              <a:rPr lang="en-US" b="1" dirty="0" err="1">
                <a:cs typeface="Arial" panose="020B0604020202020204" pitchFamily="34" charset="0"/>
              </a:rPr>
              <a:t>uspjeh</a:t>
            </a:r>
            <a:r>
              <a:rPr lang="en-US" b="1" dirty="0">
                <a:cs typeface="Arial" panose="020B0604020202020204" pitchFamily="34" charset="0"/>
              </a:rPr>
              <a:t> </a:t>
            </a:r>
            <a:r>
              <a:rPr lang="en-US" b="1" dirty="0" err="1">
                <a:cs typeface="Arial" panose="020B0604020202020204" pitchFamily="34" charset="0"/>
              </a:rPr>
              <a:t>projekta</a:t>
            </a:r>
            <a:r>
              <a:rPr lang="en-US" dirty="0">
                <a:cs typeface="Arial" panose="020B0604020202020204" pitchFamily="34" charset="0"/>
              </a:rPr>
              <a:t>.</a:t>
            </a:r>
          </a:p>
          <a:p>
            <a:pPr marL="0" indent="0">
              <a:buNone/>
            </a:pPr>
            <a:endParaRPr lang="en-US" dirty="0"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dirty="0" err="1">
                <a:cs typeface="Arial" panose="020B0604020202020204" pitchFamily="34" charset="0"/>
              </a:rPr>
              <a:t>Snažna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kultura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povratne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informacije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dovodi</a:t>
            </a:r>
            <a:r>
              <a:rPr lang="en-US" dirty="0">
                <a:cs typeface="Arial" panose="020B0604020202020204" pitchFamily="34" charset="0"/>
              </a:rPr>
              <a:t> do:</a:t>
            </a:r>
          </a:p>
          <a:p>
            <a:pPr marL="0" indent="0">
              <a:buNone/>
            </a:pPr>
            <a:r>
              <a:rPr lang="hr-HR" b="1" dirty="0">
                <a:cs typeface="Arial" panose="020B0604020202020204" pitchFamily="34" charset="0"/>
              </a:rPr>
              <a:t>- </a:t>
            </a:r>
            <a:r>
              <a:rPr lang="en-US" b="1" dirty="0" err="1">
                <a:cs typeface="Arial" panose="020B0604020202020204" pitchFamily="34" charset="0"/>
              </a:rPr>
              <a:t>veće</a:t>
            </a:r>
            <a:r>
              <a:rPr lang="en-US" b="1" dirty="0">
                <a:cs typeface="Arial" panose="020B0604020202020204" pitchFamily="34" charset="0"/>
              </a:rPr>
              <a:t> </a:t>
            </a:r>
            <a:r>
              <a:rPr lang="en-US" b="1" dirty="0" err="1">
                <a:cs typeface="Arial" panose="020B0604020202020204" pitchFamily="34" charset="0"/>
              </a:rPr>
              <a:t>učinkovitosti</a:t>
            </a:r>
            <a:r>
              <a:rPr lang="en-US" b="1" dirty="0">
                <a:cs typeface="Arial" panose="020B0604020202020204" pitchFamily="34" charset="0"/>
              </a:rPr>
              <a:t>,</a:t>
            </a:r>
          </a:p>
          <a:p>
            <a:pPr marL="0" indent="0">
              <a:buNone/>
            </a:pPr>
            <a:r>
              <a:rPr lang="hr-HR" b="1" dirty="0">
                <a:cs typeface="Arial" panose="020B0604020202020204" pitchFamily="34" charset="0"/>
              </a:rPr>
              <a:t>- </a:t>
            </a:r>
            <a:r>
              <a:rPr lang="en-US" b="1" dirty="0" err="1">
                <a:cs typeface="Arial" panose="020B0604020202020204" pitchFamily="34" charset="0"/>
              </a:rPr>
              <a:t>inovacija</a:t>
            </a:r>
            <a:r>
              <a:rPr lang="en-US" b="1" dirty="0">
                <a:cs typeface="Arial" panose="020B0604020202020204" pitchFamily="34" charset="0"/>
              </a:rPr>
              <a:t> i</a:t>
            </a:r>
          </a:p>
          <a:p>
            <a:pPr marL="0" indent="0">
              <a:buNone/>
            </a:pPr>
            <a:r>
              <a:rPr lang="hr-HR" b="1" dirty="0">
                <a:cs typeface="Arial" panose="020B0604020202020204" pitchFamily="34" charset="0"/>
              </a:rPr>
              <a:t>- </a:t>
            </a:r>
            <a:r>
              <a:rPr lang="en-US" b="1" dirty="0" err="1">
                <a:cs typeface="Arial" panose="020B0604020202020204" pitchFamily="34" charset="0"/>
              </a:rPr>
              <a:t>zadovoljstva</a:t>
            </a:r>
            <a:r>
              <a:rPr lang="en-US" b="1" dirty="0">
                <a:cs typeface="Arial" panose="020B0604020202020204" pitchFamily="34" charset="0"/>
              </a:rPr>
              <a:t> </a:t>
            </a:r>
            <a:r>
              <a:rPr lang="en-US" b="1" dirty="0" err="1">
                <a:cs typeface="Arial" panose="020B0604020202020204" pitchFamily="34" charset="0"/>
              </a:rPr>
              <a:t>tima</a:t>
            </a:r>
            <a:r>
              <a:rPr lang="en-US" dirty="0">
                <a:cs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52026050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9D61F-5061-69A3-4234-C931E13AA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06FC5C-43EE-EA43-C688-1DC66D4E6A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6377" y="115614"/>
            <a:ext cx="10515600" cy="1325563"/>
          </a:xfrm>
        </p:spPr>
        <p:txBody>
          <a:bodyPr>
            <a:normAutofit/>
          </a:bodyPr>
          <a:lstStyle/>
          <a:p>
            <a:r>
              <a:rPr lang="pl-PL" sz="3800" dirty="0"/>
              <a:t>Važnost povratne informacije u projektnim okruženjima</a:t>
            </a:r>
            <a:endParaRPr lang="en-US" sz="3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1B33E0-9FF5-ED67-821E-E402AB972D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8974" y="1728266"/>
            <a:ext cx="11074051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600" b="1" dirty="0">
                <a:cs typeface="Arial" panose="020B0604020202020204" pitchFamily="34" charset="0"/>
              </a:rPr>
              <a:t>1. </a:t>
            </a:r>
            <a:r>
              <a:rPr lang="en-US" sz="2600" b="1" dirty="0" err="1">
                <a:solidFill>
                  <a:srgbClr val="0ADBBC"/>
                </a:solidFill>
                <a:cs typeface="Arial" panose="020B0604020202020204" pitchFamily="34" charset="0"/>
              </a:rPr>
              <a:t>Poboljšava</a:t>
            </a:r>
            <a:r>
              <a:rPr lang="en-US" sz="2600" b="1" dirty="0">
                <a:solidFill>
                  <a:srgbClr val="0ADBBC"/>
                </a:solidFill>
                <a:cs typeface="Arial" panose="020B0604020202020204" pitchFamily="34" charset="0"/>
              </a:rPr>
              <a:t> </a:t>
            </a:r>
            <a:r>
              <a:rPr lang="en-US" sz="2600" b="1" dirty="0" err="1">
                <a:solidFill>
                  <a:srgbClr val="0ADBBC"/>
                </a:solidFill>
                <a:cs typeface="Arial" panose="020B0604020202020204" pitchFamily="34" charset="0"/>
              </a:rPr>
              <a:t>učinkovitost</a:t>
            </a:r>
            <a:r>
              <a:rPr lang="en-US" sz="2600" b="1" dirty="0">
                <a:solidFill>
                  <a:srgbClr val="0ADBBC"/>
                </a:solidFill>
                <a:cs typeface="Arial" panose="020B0604020202020204" pitchFamily="34" charset="0"/>
              </a:rPr>
              <a:t> i </a:t>
            </a:r>
            <a:r>
              <a:rPr lang="en-US" sz="2600" b="1" dirty="0" err="1">
                <a:solidFill>
                  <a:srgbClr val="0ADBBC"/>
                </a:solidFill>
                <a:cs typeface="Arial" panose="020B0604020202020204" pitchFamily="34" charset="0"/>
              </a:rPr>
              <a:t>produktivnost</a:t>
            </a:r>
            <a:endParaRPr lang="en-US" sz="2600" b="1" dirty="0">
              <a:solidFill>
                <a:srgbClr val="0ADBBC"/>
              </a:solidFill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hr-HR" sz="2600" dirty="0">
                <a:cs typeface="Arial" panose="020B0604020202020204" pitchFamily="34" charset="0"/>
              </a:rPr>
              <a:t>- </a:t>
            </a:r>
            <a:r>
              <a:rPr lang="en-US" sz="2600" dirty="0" err="1">
                <a:cs typeface="Arial" panose="020B0604020202020204" pitchFamily="34" charset="0"/>
              </a:rPr>
              <a:t>Pomaže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dirty="0" err="1">
                <a:cs typeface="Arial" panose="020B0604020202020204" pitchFamily="34" charset="0"/>
              </a:rPr>
              <a:t>članovima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dirty="0" err="1">
                <a:cs typeface="Arial" panose="020B0604020202020204" pitchFamily="34" charset="0"/>
              </a:rPr>
              <a:t>tima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dirty="0" err="1">
                <a:cs typeface="Arial" panose="020B0604020202020204" pitchFamily="34" charset="0"/>
              </a:rPr>
              <a:t>prepoznati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dirty="0" err="1">
                <a:cs typeface="Arial" panose="020B0604020202020204" pitchFamily="34" charset="0"/>
              </a:rPr>
              <a:t>snage</a:t>
            </a:r>
            <a:r>
              <a:rPr lang="en-US" sz="2600" dirty="0">
                <a:cs typeface="Arial" panose="020B0604020202020204" pitchFamily="34" charset="0"/>
              </a:rPr>
              <a:t> i </a:t>
            </a:r>
            <a:r>
              <a:rPr lang="en-US" sz="2600" dirty="0" err="1">
                <a:cs typeface="Arial" panose="020B0604020202020204" pitchFamily="34" charset="0"/>
              </a:rPr>
              <a:t>područja</a:t>
            </a:r>
            <a:r>
              <a:rPr lang="en-US" sz="2600" dirty="0">
                <a:cs typeface="Arial" panose="020B0604020202020204" pitchFamily="34" charset="0"/>
              </a:rPr>
              <a:t> za </a:t>
            </a:r>
            <a:r>
              <a:rPr lang="en-US" sz="2600" dirty="0" err="1">
                <a:cs typeface="Arial" panose="020B0604020202020204" pitchFamily="34" charset="0"/>
              </a:rPr>
              <a:t>poboljšanje</a:t>
            </a:r>
            <a:r>
              <a:rPr lang="en-US" sz="2600" dirty="0">
                <a:cs typeface="Arial" panose="020B0604020202020204" pitchFamily="34" charset="0"/>
              </a:rPr>
              <a:t>.</a:t>
            </a:r>
          </a:p>
          <a:p>
            <a:pPr marL="0" indent="0">
              <a:buNone/>
            </a:pPr>
            <a:r>
              <a:rPr lang="hr-HR" sz="2600" dirty="0">
                <a:cs typeface="Arial" panose="020B0604020202020204" pitchFamily="34" charset="0"/>
              </a:rPr>
              <a:t>- </a:t>
            </a:r>
            <a:r>
              <a:rPr lang="en-US" sz="2600" dirty="0" err="1">
                <a:cs typeface="Arial" panose="020B0604020202020204" pitchFamily="34" charset="0"/>
              </a:rPr>
              <a:t>Potiče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dirty="0" err="1">
                <a:cs typeface="Arial" panose="020B0604020202020204" pitchFamily="34" charset="0"/>
              </a:rPr>
              <a:t>odgovornost</a:t>
            </a:r>
            <a:r>
              <a:rPr lang="en-US" sz="2600" dirty="0">
                <a:cs typeface="Arial" panose="020B0604020202020204" pitchFamily="34" charset="0"/>
              </a:rPr>
              <a:t> i </a:t>
            </a:r>
            <a:r>
              <a:rPr lang="en-US" sz="2600" dirty="0" err="1">
                <a:cs typeface="Arial" panose="020B0604020202020204" pitchFamily="34" charset="0"/>
              </a:rPr>
              <a:t>motivaciju</a:t>
            </a:r>
            <a:r>
              <a:rPr lang="en-US" sz="2600" dirty="0">
                <a:cs typeface="Arial" panose="020B0604020202020204" pitchFamily="34" charset="0"/>
              </a:rPr>
              <a:t> za </a:t>
            </a:r>
            <a:r>
              <a:rPr lang="en-US" sz="2600" dirty="0" err="1">
                <a:cs typeface="Arial" panose="020B0604020202020204" pitchFamily="34" charset="0"/>
              </a:rPr>
              <a:t>isporuku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dirty="0" err="1">
                <a:cs typeface="Arial" panose="020B0604020202020204" pitchFamily="34" charset="0"/>
              </a:rPr>
              <a:t>kvalitetnog</a:t>
            </a:r>
            <a:r>
              <a:rPr lang="en-US" sz="2600" dirty="0">
                <a:cs typeface="Arial" panose="020B0604020202020204" pitchFamily="34" charset="0"/>
              </a:rPr>
              <a:t> rada.</a:t>
            </a:r>
          </a:p>
          <a:p>
            <a:pPr marL="0" indent="0">
              <a:buNone/>
            </a:pPr>
            <a:r>
              <a:rPr lang="en-US" sz="2600" b="1" dirty="0">
                <a:cs typeface="Arial" panose="020B0604020202020204" pitchFamily="34" charset="0"/>
              </a:rPr>
              <a:t>2. </a:t>
            </a:r>
            <a:r>
              <a:rPr lang="en-US" sz="2600" b="1" dirty="0" err="1">
                <a:solidFill>
                  <a:srgbClr val="0ADBBC"/>
                </a:solidFill>
                <a:cs typeface="Arial" panose="020B0604020202020204" pitchFamily="34" charset="0"/>
              </a:rPr>
              <a:t>Unapređuje</a:t>
            </a:r>
            <a:r>
              <a:rPr lang="en-US" sz="2600" b="1" dirty="0">
                <a:solidFill>
                  <a:srgbClr val="0ADBBC"/>
                </a:solidFill>
                <a:cs typeface="Arial" panose="020B0604020202020204" pitchFamily="34" charset="0"/>
              </a:rPr>
              <a:t> </a:t>
            </a:r>
            <a:r>
              <a:rPr lang="en-US" sz="2600" b="1" dirty="0" err="1">
                <a:solidFill>
                  <a:srgbClr val="0ADBBC"/>
                </a:solidFill>
                <a:cs typeface="Arial" panose="020B0604020202020204" pitchFamily="34" charset="0"/>
              </a:rPr>
              <a:t>komunikaciju</a:t>
            </a:r>
            <a:r>
              <a:rPr lang="en-US" sz="2600" b="1" dirty="0">
                <a:solidFill>
                  <a:srgbClr val="0ADBBC"/>
                </a:solidFill>
                <a:cs typeface="Arial" panose="020B0604020202020204" pitchFamily="34" charset="0"/>
              </a:rPr>
              <a:t> i </a:t>
            </a:r>
            <a:r>
              <a:rPr lang="en-US" sz="2600" b="1" dirty="0" err="1">
                <a:solidFill>
                  <a:srgbClr val="0ADBBC"/>
                </a:solidFill>
                <a:cs typeface="Arial" panose="020B0604020202020204" pitchFamily="34" charset="0"/>
              </a:rPr>
              <a:t>suradnju</a:t>
            </a:r>
            <a:endParaRPr lang="en-US" sz="2600" b="1" dirty="0">
              <a:solidFill>
                <a:srgbClr val="0ADBBC"/>
              </a:solidFill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hr-HR" sz="2600" dirty="0">
                <a:cs typeface="Arial" panose="020B0604020202020204" pitchFamily="34" charset="0"/>
              </a:rPr>
              <a:t>- </a:t>
            </a:r>
            <a:r>
              <a:rPr lang="en-US" sz="2600" dirty="0" err="1">
                <a:cs typeface="Arial" panose="020B0604020202020204" pitchFamily="34" charset="0"/>
              </a:rPr>
              <a:t>Potiče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dirty="0" err="1">
                <a:cs typeface="Arial" panose="020B0604020202020204" pitchFamily="34" charset="0"/>
              </a:rPr>
              <a:t>otvoren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dirty="0" err="1">
                <a:cs typeface="Arial" panose="020B0604020202020204" pitchFamily="34" charset="0"/>
              </a:rPr>
              <a:t>dijalog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dirty="0" err="1">
                <a:cs typeface="Arial" panose="020B0604020202020204" pitchFamily="34" charset="0"/>
              </a:rPr>
              <a:t>između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dirty="0" err="1">
                <a:cs typeface="Arial" panose="020B0604020202020204" pitchFamily="34" charset="0"/>
              </a:rPr>
              <a:t>članova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dirty="0" err="1">
                <a:cs typeface="Arial" panose="020B0604020202020204" pitchFamily="34" charset="0"/>
              </a:rPr>
              <a:t>tima</a:t>
            </a:r>
            <a:r>
              <a:rPr lang="en-US" sz="2600" dirty="0">
                <a:cs typeface="Arial" panose="020B0604020202020204" pitchFamily="34" charset="0"/>
              </a:rPr>
              <a:t> i </a:t>
            </a:r>
            <a:r>
              <a:rPr lang="en-US" sz="2600" dirty="0" err="1">
                <a:cs typeface="Arial" panose="020B0604020202020204" pitchFamily="34" charset="0"/>
              </a:rPr>
              <a:t>dionika</a:t>
            </a:r>
            <a:r>
              <a:rPr lang="en-US" sz="2600" dirty="0">
                <a:cs typeface="Arial" panose="020B0604020202020204" pitchFamily="34" charset="0"/>
              </a:rPr>
              <a:t>.</a:t>
            </a:r>
          </a:p>
          <a:p>
            <a:pPr marL="0" indent="0">
              <a:buNone/>
            </a:pPr>
            <a:r>
              <a:rPr lang="hr-HR" sz="2600" dirty="0">
                <a:cs typeface="Arial" panose="020B0604020202020204" pitchFamily="34" charset="0"/>
              </a:rPr>
              <a:t>- </a:t>
            </a:r>
            <a:r>
              <a:rPr lang="en-US" sz="2600" dirty="0" err="1">
                <a:cs typeface="Arial" panose="020B0604020202020204" pitchFamily="34" charset="0"/>
              </a:rPr>
              <a:t>Sprječava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dirty="0" err="1">
                <a:cs typeface="Arial" panose="020B0604020202020204" pitchFamily="34" charset="0"/>
              </a:rPr>
              <a:t>nesporazume</a:t>
            </a:r>
            <a:r>
              <a:rPr lang="en-US" sz="2600" dirty="0">
                <a:cs typeface="Arial" panose="020B0604020202020204" pitchFamily="34" charset="0"/>
              </a:rPr>
              <a:t> i </a:t>
            </a:r>
            <a:r>
              <a:rPr lang="en-US" sz="2600" dirty="0" err="1">
                <a:cs typeface="Arial" panose="020B0604020202020204" pitchFamily="34" charset="0"/>
              </a:rPr>
              <a:t>osigurava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dirty="0" err="1">
                <a:cs typeface="Arial" panose="020B0604020202020204" pitchFamily="34" charset="0"/>
              </a:rPr>
              <a:t>usklađenost</a:t>
            </a:r>
            <a:r>
              <a:rPr lang="en-US" sz="2600" dirty="0">
                <a:cs typeface="Arial" panose="020B0604020202020204" pitchFamily="34" charset="0"/>
              </a:rPr>
              <a:t> s </a:t>
            </a:r>
            <a:r>
              <a:rPr lang="en-US" sz="2600" dirty="0" err="1">
                <a:cs typeface="Arial" panose="020B0604020202020204" pitchFamily="34" charset="0"/>
              </a:rPr>
              <a:t>ciljevima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dirty="0" err="1">
                <a:cs typeface="Arial" panose="020B0604020202020204" pitchFamily="34" charset="0"/>
              </a:rPr>
              <a:t>projekta</a:t>
            </a:r>
            <a:r>
              <a:rPr lang="en-US" sz="2600" dirty="0">
                <a:cs typeface="Arial" panose="020B0604020202020204" pitchFamily="34" charset="0"/>
              </a:rPr>
              <a:t>.</a:t>
            </a:r>
          </a:p>
          <a:p>
            <a:pPr marL="0" indent="0">
              <a:buNone/>
            </a:pPr>
            <a:r>
              <a:rPr lang="en-US" sz="2600" b="1" dirty="0">
                <a:cs typeface="Arial" panose="020B0604020202020204" pitchFamily="34" charset="0"/>
              </a:rPr>
              <a:t>3. </a:t>
            </a:r>
            <a:r>
              <a:rPr lang="en-US" sz="2600" b="1" dirty="0" err="1">
                <a:solidFill>
                  <a:srgbClr val="0ADBBC"/>
                </a:solidFill>
                <a:cs typeface="Arial" panose="020B0604020202020204" pitchFamily="34" charset="0"/>
              </a:rPr>
              <a:t>Podržava</a:t>
            </a:r>
            <a:r>
              <a:rPr lang="en-US" sz="2600" b="1" dirty="0">
                <a:solidFill>
                  <a:srgbClr val="0ADBBC"/>
                </a:solidFill>
                <a:cs typeface="Arial" panose="020B0604020202020204" pitchFamily="34" charset="0"/>
              </a:rPr>
              <a:t> </a:t>
            </a:r>
            <a:r>
              <a:rPr lang="en-US" sz="2600" b="1" dirty="0" err="1">
                <a:solidFill>
                  <a:srgbClr val="0ADBBC"/>
                </a:solidFill>
                <a:cs typeface="Arial" panose="020B0604020202020204" pitchFamily="34" charset="0"/>
              </a:rPr>
              <a:t>kontinuirano</a:t>
            </a:r>
            <a:r>
              <a:rPr lang="en-US" sz="2600" b="1" dirty="0">
                <a:solidFill>
                  <a:srgbClr val="0ADBBC"/>
                </a:solidFill>
                <a:cs typeface="Arial" panose="020B0604020202020204" pitchFamily="34" charset="0"/>
              </a:rPr>
              <a:t> </a:t>
            </a:r>
            <a:r>
              <a:rPr lang="en-US" sz="2600" b="1" dirty="0" err="1">
                <a:solidFill>
                  <a:srgbClr val="0ADBBC"/>
                </a:solidFill>
                <a:cs typeface="Arial" panose="020B0604020202020204" pitchFamily="34" charset="0"/>
              </a:rPr>
              <a:t>unapređenje</a:t>
            </a:r>
            <a:r>
              <a:rPr lang="en-US" sz="2600" b="1" dirty="0">
                <a:solidFill>
                  <a:srgbClr val="0ADBBC"/>
                </a:solidFill>
                <a:cs typeface="Arial" panose="020B0604020202020204" pitchFamily="34" charset="0"/>
              </a:rPr>
              <a:t> i </a:t>
            </a:r>
            <a:r>
              <a:rPr lang="en-US" sz="2600" b="1" dirty="0" err="1">
                <a:solidFill>
                  <a:srgbClr val="0ADBBC"/>
                </a:solidFill>
                <a:cs typeface="Arial" panose="020B0604020202020204" pitchFamily="34" charset="0"/>
              </a:rPr>
              <a:t>inovacije</a:t>
            </a:r>
            <a:endParaRPr lang="en-US" sz="2600" b="1" dirty="0">
              <a:solidFill>
                <a:srgbClr val="0ADBBC"/>
              </a:solidFill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hr-HR" sz="2600" dirty="0">
                <a:cs typeface="Arial" panose="020B0604020202020204" pitchFamily="34" charset="0"/>
              </a:rPr>
              <a:t>- </a:t>
            </a:r>
            <a:r>
              <a:rPr lang="en-US" sz="2600" dirty="0" err="1">
                <a:cs typeface="Arial" panose="020B0604020202020204" pitchFamily="34" charset="0"/>
              </a:rPr>
              <a:t>Pomaže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dirty="0" err="1">
                <a:cs typeface="Arial" panose="020B0604020202020204" pitchFamily="34" charset="0"/>
              </a:rPr>
              <a:t>timovima</a:t>
            </a:r>
            <a:r>
              <a:rPr lang="en-US" sz="2600" dirty="0">
                <a:cs typeface="Arial" panose="020B0604020202020204" pitchFamily="34" charset="0"/>
              </a:rPr>
              <a:t> da se </a:t>
            </a:r>
            <a:r>
              <a:rPr lang="en-US" sz="2600" dirty="0" err="1">
                <a:cs typeface="Arial" panose="020B0604020202020204" pitchFamily="34" charset="0"/>
              </a:rPr>
              <a:t>prilagode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dirty="0" err="1">
                <a:cs typeface="Arial" panose="020B0604020202020204" pitchFamily="34" charset="0"/>
              </a:rPr>
              <a:t>izazovima</a:t>
            </a:r>
            <a:r>
              <a:rPr lang="en-US" sz="2600" dirty="0">
                <a:cs typeface="Arial" panose="020B0604020202020204" pitchFamily="34" charset="0"/>
              </a:rPr>
              <a:t> i </a:t>
            </a:r>
            <a:r>
              <a:rPr lang="en-US" sz="2600" dirty="0" err="1">
                <a:cs typeface="Arial" panose="020B0604020202020204" pitchFamily="34" charset="0"/>
              </a:rPr>
              <a:t>unaprijede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dirty="0" err="1">
                <a:cs typeface="Arial" panose="020B0604020202020204" pitchFamily="34" charset="0"/>
              </a:rPr>
              <a:t>procese</a:t>
            </a:r>
            <a:r>
              <a:rPr lang="en-US" sz="2600" dirty="0">
                <a:cs typeface="Arial" panose="020B0604020202020204" pitchFamily="34" charset="0"/>
              </a:rPr>
              <a:t>.</a:t>
            </a:r>
          </a:p>
          <a:p>
            <a:pPr marL="0" indent="0">
              <a:buNone/>
            </a:pPr>
            <a:r>
              <a:rPr lang="hr-HR" sz="2600" dirty="0">
                <a:cs typeface="Arial" panose="020B0604020202020204" pitchFamily="34" charset="0"/>
              </a:rPr>
              <a:t>- </a:t>
            </a:r>
            <a:r>
              <a:rPr lang="en-US" sz="2600" dirty="0" err="1">
                <a:cs typeface="Arial" panose="020B0604020202020204" pitchFamily="34" charset="0"/>
              </a:rPr>
              <a:t>Potiče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dirty="0" err="1">
                <a:cs typeface="Arial" panose="020B0604020202020204" pitchFamily="34" charset="0"/>
              </a:rPr>
              <a:t>eksperimentiranje</a:t>
            </a:r>
            <a:r>
              <a:rPr lang="en-US" sz="2600" dirty="0">
                <a:cs typeface="Arial" panose="020B0604020202020204" pitchFamily="34" charset="0"/>
              </a:rPr>
              <a:t> i </a:t>
            </a:r>
            <a:r>
              <a:rPr lang="en-US" sz="2600" dirty="0" err="1">
                <a:cs typeface="Arial" panose="020B0604020202020204" pitchFamily="34" charset="0"/>
              </a:rPr>
              <a:t>učenje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dirty="0" err="1">
                <a:cs typeface="Arial" panose="020B0604020202020204" pitchFamily="34" charset="0"/>
              </a:rPr>
              <a:t>iz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dirty="0" err="1">
                <a:cs typeface="Arial" panose="020B0604020202020204" pitchFamily="34" charset="0"/>
              </a:rPr>
              <a:t>pogrešaka</a:t>
            </a:r>
            <a:r>
              <a:rPr lang="en-US" sz="2600" dirty="0">
                <a:cs typeface="Arial" panose="020B0604020202020204" pitchFamily="34" charset="0"/>
              </a:rPr>
              <a:t>.</a:t>
            </a:r>
          </a:p>
          <a:p>
            <a:pPr marL="0" indent="0">
              <a:buNone/>
            </a:pPr>
            <a:endParaRPr lang="en-US" sz="2600" dirty="0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3699811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35DC89-692C-B831-9F20-3337C7498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67C4E-5A07-D6AA-2BBC-3011264120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1247" y="202286"/>
            <a:ext cx="10515600" cy="1325563"/>
          </a:xfrm>
        </p:spPr>
        <p:txBody>
          <a:bodyPr>
            <a:normAutofit/>
          </a:bodyPr>
          <a:lstStyle/>
          <a:p>
            <a:r>
              <a:rPr lang="pl-PL" sz="3800" dirty="0"/>
              <a:t>Važnost povratne informacije u projektnim okruženjima</a:t>
            </a:r>
            <a:endParaRPr lang="en-US" sz="3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223A7-ED80-BD3A-5A17-F7857616FC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627" y="1863203"/>
            <a:ext cx="11149209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b="1" dirty="0">
                <a:cs typeface="Arial" panose="020B0604020202020204" pitchFamily="34" charset="0"/>
              </a:rPr>
              <a:t>4. </a:t>
            </a:r>
            <a:r>
              <a:rPr lang="en-US" b="1" dirty="0">
                <a:solidFill>
                  <a:srgbClr val="0ADBBC"/>
                </a:solidFill>
                <a:cs typeface="Arial" panose="020B0604020202020204" pitchFamily="34" charset="0"/>
              </a:rPr>
              <a:t>Gradi </a:t>
            </a:r>
            <a:r>
              <a:rPr lang="en-US" b="1" dirty="0" err="1">
                <a:solidFill>
                  <a:srgbClr val="0ADBBC"/>
                </a:solidFill>
                <a:cs typeface="Arial" panose="020B0604020202020204" pitchFamily="34" charset="0"/>
              </a:rPr>
              <a:t>povjerenje</a:t>
            </a:r>
            <a:r>
              <a:rPr lang="en-US" b="1" dirty="0">
                <a:solidFill>
                  <a:srgbClr val="0ADBBC"/>
                </a:solidFill>
                <a:cs typeface="Arial" panose="020B0604020202020204" pitchFamily="34" charset="0"/>
              </a:rPr>
              <a:t> i </a:t>
            </a:r>
            <a:r>
              <a:rPr lang="en-US" b="1" dirty="0" err="1">
                <a:solidFill>
                  <a:srgbClr val="0ADBBC"/>
                </a:solidFill>
                <a:cs typeface="Arial" panose="020B0604020202020204" pitchFamily="34" charset="0"/>
              </a:rPr>
              <a:t>angažman</a:t>
            </a:r>
            <a:endParaRPr lang="hr-HR" b="1" dirty="0">
              <a:solidFill>
                <a:srgbClr val="0ADBBC"/>
              </a:solidFill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hr-HR" dirty="0">
                <a:cs typeface="Arial" panose="020B0604020202020204" pitchFamily="34" charset="0"/>
              </a:rPr>
              <a:t>- </a:t>
            </a:r>
            <a:r>
              <a:rPr lang="en-US" dirty="0" err="1">
                <a:cs typeface="Arial" panose="020B0604020202020204" pitchFamily="34" charset="0"/>
              </a:rPr>
              <a:t>Redovita</a:t>
            </a:r>
            <a:r>
              <a:rPr lang="en-US" dirty="0">
                <a:cs typeface="Arial" panose="020B0604020202020204" pitchFamily="34" charset="0"/>
              </a:rPr>
              <a:t> i </a:t>
            </a:r>
            <a:r>
              <a:rPr lang="en-US" dirty="0" err="1">
                <a:cs typeface="Arial" panose="020B0604020202020204" pitchFamily="34" charset="0"/>
              </a:rPr>
              <a:t>pravedna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povratna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informacija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stvara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kulturu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transparentnosti</a:t>
            </a:r>
            <a:r>
              <a:rPr lang="en-US" dirty="0">
                <a:cs typeface="Arial" panose="020B0604020202020204" pitchFamily="34" charset="0"/>
              </a:rPr>
              <a:t> i </a:t>
            </a:r>
            <a:r>
              <a:rPr lang="en-US" dirty="0" err="1">
                <a:cs typeface="Arial" panose="020B0604020202020204" pitchFamily="34" charset="0"/>
              </a:rPr>
              <a:t>međusobnog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poštovanja</a:t>
            </a:r>
            <a:r>
              <a:rPr lang="en-US" dirty="0">
                <a:cs typeface="Arial" panose="020B0604020202020204" pitchFamily="34" charset="0"/>
              </a:rPr>
              <a:t>.</a:t>
            </a:r>
          </a:p>
          <a:p>
            <a:pPr marL="0" indent="0">
              <a:buNone/>
            </a:pPr>
            <a:r>
              <a:rPr lang="hr-HR" dirty="0">
                <a:cs typeface="Arial" panose="020B0604020202020204" pitchFamily="34" charset="0"/>
              </a:rPr>
              <a:t>- </a:t>
            </a:r>
            <a:r>
              <a:rPr lang="en-US" dirty="0" err="1">
                <a:cs typeface="Arial" panose="020B0604020202020204" pitchFamily="34" charset="0"/>
              </a:rPr>
              <a:t>Zaposlenici</a:t>
            </a:r>
            <a:r>
              <a:rPr lang="en-US" dirty="0">
                <a:cs typeface="Arial" panose="020B0604020202020204" pitchFamily="34" charset="0"/>
              </a:rPr>
              <a:t> se </a:t>
            </a:r>
            <a:r>
              <a:rPr lang="en-US" dirty="0" err="1">
                <a:cs typeface="Arial" panose="020B0604020202020204" pitchFamily="34" charset="0"/>
              </a:rPr>
              <a:t>osjećaju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cijenjeno</a:t>
            </a:r>
            <a:r>
              <a:rPr lang="en-US" dirty="0">
                <a:cs typeface="Arial" panose="020B0604020202020204" pitchFamily="34" charset="0"/>
              </a:rPr>
              <a:t> i </a:t>
            </a:r>
            <a:r>
              <a:rPr lang="en-US" dirty="0" err="1">
                <a:cs typeface="Arial" panose="020B0604020202020204" pitchFamily="34" charset="0"/>
              </a:rPr>
              <a:t>angažirano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kada</a:t>
            </a:r>
            <a:r>
              <a:rPr lang="en-US" dirty="0">
                <a:cs typeface="Arial" panose="020B0604020202020204" pitchFamily="34" charset="0"/>
              </a:rPr>
              <a:t> se </a:t>
            </a:r>
            <a:r>
              <a:rPr lang="en-US" dirty="0" err="1">
                <a:cs typeface="Arial" panose="020B0604020202020204" pitchFamily="34" charset="0"/>
              </a:rPr>
              <a:t>njihov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doprinos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prepoznaje</a:t>
            </a:r>
            <a:r>
              <a:rPr lang="en-US" dirty="0">
                <a:cs typeface="Arial" panose="020B0604020202020204" pitchFamily="34" charset="0"/>
              </a:rPr>
              <a:t>.</a:t>
            </a:r>
          </a:p>
          <a:p>
            <a:pPr marL="0" indent="0">
              <a:buNone/>
            </a:pPr>
            <a:r>
              <a:rPr lang="en-US" b="1" dirty="0">
                <a:cs typeface="Arial" panose="020B0604020202020204" pitchFamily="34" charset="0"/>
              </a:rPr>
              <a:t>5. </a:t>
            </a:r>
            <a:r>
              <a:rPr lang="en-US" b="1" dirty="0" err="1">
                <a:solidFill>
                  <a:srgbClr val="0ADBBC"/>
                </a:solidFill>
                <a:cs typeface="Arial" panose="020B0604020202020204" pitchFamily="34" charset="0"/>
              </a:rPr>
              <a:t>Smanjuje</a:t>
            </a:r>
            <a:r>
              <a:rPr lang="en-US" b="1" dirty="0">
                <a:solidFill>
                  <a:srgbClr val="0ADBBC"/>
                </a:solidFill>
                <a:cs typeface="Arial" panose="020B0604020202020204" pitchFamily="34" charset="0"/>
              </a:rPr>
              <a:t> </a:t>
            </a:r>
            <a:r>
              <a:rPr lang="en-US" b="1" dirty="0" err="1">
                <a:solidFill>
                  <a:srgbClr val="0ADBBC"/>
                </a:solidFill>
                <a:cs typeface="Arial" panose="020B0604020202020204" pitchFamily="34" charset="0"/>
              </a:rPr>
              <a:t>rizike</a:t>
            </a:r>
            <a:r>
              <a:rPr lang="en-US" b="1" dirty="0">
                <a:solidFill>
                  <a:srgbClr val="0ADBBC"/>
                </a:solidFill>
                <a:cs typeface="Arial" panose="020B0604020202020204" pitchFamily="34" charset="0"/>
              </a:rPr>
              <a:t> i </a:t>
            </a:r>
            <a:r>
              <a:rPr lang="en-US" b="1" dirty="0" err="1">
                <a:solidFill>
                  <a:srgbClr val="0ADBBC"/>
                </a:solidFill>
                <a:cs typeface="Arial" panose="020B0604020202020204" pitchFamily="34" charset="0"/>
              </a:rPr>
              <a:t>sprječava</a:t>
            </a:r>
            <a:r>
              <a:rPr lang="en-US" b="1" dirty="0">
                <a:solidFill>
                  <a:srgbClr val="0ADBBC"/>
                </a:solidFill>
                <a:cs typeface="Arial" panose="020B0604020202020204" pitchFamily="34" charset="0"/>
              </a:rPr>
              <a:t> </a:t>
            </a:r>
            <a:r>
              <a:rPr lang="en-US" b="1" dirty="0" err="1">
                <a:solidFill>
                  <a:srgbClr val="0ADBBC"/>
                </a:solidFill>
                <a:cs typeface="Arial" panose="020B0604020202020204" pitchFamily="34" charset="0"/>
              </a:rPr>
              <a:t>neuspjeh</a:t>
            </a:r>
            <a:r>
              <a:rPr lang="en-US" b="1" dirty="0">
                <a:solidFill>
                  <a:srgbClr val="0ADBBC"/>
                </a:solidFill>
                <a:cs typeface="Arial" panose="020B0604020202020204" pitchFamily="34" charset="0"/>
              </a:rPr>
              <a:t> </a:t>
            </a:r>
            <a:r>
              <a:rPr lang="en-US" b="1" dirty="0" err="1">
                <a:solidFill>
                  <a:srgbClr val="0ADBBC"/>
                </a:solidFill>
                <a:cs typeface="Arial" panose="020B0604020202020204" pitchFamily="34" charset="0"/>
              </a:rPr>
              <a:t>projekta</a:t>
            </a:r>
            <a:endParaRPr lang="en-US" b="1" dirty="0">
              <a:solidFill>
                <a:srgbClr val="0ADBBC"/>
              </a:solidFill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hr-HR" dirty="0">
                <a:cs typeface="Arial" panose="020B0604020202020204" pitchFamily="34" charset="0"/>
              </a:rPr>
              <a:t>- </a:t>
            </a:r>
            <a:r>
              <a:rPr lang="en-US" dirty="0">
                <a:cs typeface="Arial" panose="020B0604020202020204" pitchFamily="34" charset="0"/>
              </a:rPr>
              <a:t>Rana </a:t>
            </a:r>
            <a:r>
              <a:rPr lang="en-US" dirty="0" err="1">
                <a:cs typeface="Arial" panose="020B0604020202020204" pitchFamily="34" charset="0"/>
              </a:rPr>
              <a:t>povratna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informacija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pomaže</a:t>
            </a:r>
            <a:r>
              <a:rPr lang="en-US" dirty="0">
                <a:cs typeface="Arial" panose="020B0604020202020204" pitchFamily="34" charset="0"/>
              </a:rPr>
              <a:t> u </a:t>
            </a:r>
            <a:r>
              <a:rPr lang="en-US" dirty="0" err="1">
                <a:cs typeface="Arial" panose="020B0604020202020204" pitchFamily="34" charset="0"/>
              </a:rPr>
              <a:t>prepoznavanju</a:t>
            </a:r>
            <a:r>
              <a:rPr lang="en-US" dirty="0">
                <a:cs typeface="Arial" panose="020B0604020202020204" pitchFamily="34" charset="0"/>
              </a:rPr>
              <a:t> i </a:t>
            </a:r>
            <a:r>
              <a:rPr lang="en-US" dirty="0" err="1">
                <a:cs typeface="Arial" panose="020B0604020202020204" pitchFamily="34" charset="0"/>
              </a:rPr>
              <a:t>rješavanju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problema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prije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nego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što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eskaliraju</a:t>
            </a:r>
            <a:r>
              <a:rPr lang="en-US" dirty="0">
                <a:cs typeface="Arial" panose="020B0604020202020204" pitchFamily="34" charset="0"/>
              </a:rPr>
              <a:t>.</a:t>
            </a:r>
          </a:p>
          <a:p>
            <a:pPr marL="0" indent="0">
              <a:buNone/>
            </a:pPr>
            <a:r>
              <a:rPr lang="hr-HR" dirty="0">
                <a:cs typeface="Arial" panose="020B0604020202020204" pitchFamily="34" charset="0"/>
              </a:rPr>
              <a:t>- </a:t>
            </a:r>
            <a:r>
              <a:rPr lang="en-US" dirty="0" err="1">
                <a:cs typeface="Arial" panose="020B0604020202020204" pitchFamily="34" charset="0"/>
              </a:rPr>
              <a:t>Osigurava</a:t>
            </a:r>
            <a:r>
              <a:rPr lang="en-US" dirty="0">
                <a:cs typeface="Arial" panose="020B0604020202020204" pitchFamily="34" charset="0"/>
              </a:rPr>
              <a:t> da </a:t>
            </a:r>
            <a:r>
              <a:rPr lang="en-US" dirty="0" err="1">
                <a:cs typeface="Arial" panose="020B0604020202020204" pitchFamily="34" charset="0"/>
              </a:rPr>
              <a:t>projekt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ostane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usklađen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sa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standardima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kvalitete</a:t>
            </a:r>
            <a:r>
              <a:rPr lang="en-US" dirty="0">
                <a:cs typeface="Arial" panose="020B0604020202020204" pitchFamily="34" charset="0"/>
              </a:rPr>
              <a:t> i </a:t>
            </a:r>
            <a:r>
              <a:rPr lang="en-US" dirty="0" err="1">
                <a:cs typeface="Arial" panose="020B0604020202020204" pitchFamily="34" charset="0"/>
              </a:rPr>
              <a:t>rokovima</a:t>
            </a:r>
            <a:r>
              <a:rPr lang="en-US" dirty="0">
                <a:cs typeface="Arial" panose="020B0604020202020204" pitchFamily="34" charset="0"/>
              </a:rPr>
              <a:t>.</a:t>
            </a:r>
          </a:p>
          <a:p>
            <a:pPr marL="0" indent="0">
              <a:buNone/>
            </a:pPr>
            <a:endParaRPr lang="en-US" dirty="0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4672153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E177A4-0193-4BFE-73E0-0074A398D6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2391"/>
            <a:ext cx="10515600" cy="1325563"/>
          </a:xfrm>
        </p:spPr>
        <p:txBody>
          <a:bodyPr>
            <a:normAutofit/>
          </a:bodyPr>
          <a:lstStyle/>
          <a:p>
            <a:r>
              <a:rPr lang="en-US" sz="3800" dirty="0"/>
              <a:t>Kako </a:t>
            </a:r>
            <a:r>
              <a:rPr lang="en-US" sz="3800" dirty="0" err="1"/>
              <a:t>dati</a:t>
            </a:r>
            <a:r>
              <a:rPr lang="en-US" sz="3800" dirty="0"/>
              <a:t> </a:t>
            </a:r>
            <a:r>
              <a:rPr lang="en-US" sz="3800" dirty="0" err="1"/>
              <a:t>učinkovitu</a:t>
            </a:r>
            <a:r>
              <a:rPr lang="en-US" sz="3800" dirty="0"/>
              <a:t> </a:t>
            </a:r>
            <a:r>
              <a:rPr lang="en-US" sz="3800" dirty="0" err="1"/>
              <a:t>povratnu</a:t>
            </a:r>
            <a:r>
              <a:rPr lang="en-US" sz="3800" dirty="0"/>
              <a:t> </a:t>
            </a:r>
            <a:r>
              <a:rPr lang="en-US" sz="3800" dirty="0" err="1"/>
              <a:t>informaciju</a:t>
            </a:r>
            <a:r>
              <a:rPr lang="en-US" sz="3800" dirty="0"/>
              <a:t> </a:t>
            </a:r>
            <a:r>
              <a:rPr lang="en-US" sz="3800" dirty="0" err="1"/>
              <a:t>kao</a:t>
            </a:r>
            <a:r>
              <a:rPr lang="en-US" sz="3800" dirty="0"/>
              <a:t> </a:t>
            </a:r>
            <a:r>
              <a:rPr lang="en-US" sz="3800" dirty="0" err="1"/>
              <a:t>voditelj</a:t>
            </a:r>
            <a:r>
              <a:rPr lang="en-US" sz="3800" dirty="0"/>
              <a:t> </a:t>
            </a:r>
            <a:r>
              <a:rPr lang="en-US" sz="3800" dirty="0" err="1"/>
              <a:t>projekta</a:t>
            </a:r>
            <a:endParaRPr lang="en-US" sz="3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3CC0C8-E937-506D-0820-7060E5A888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8974" y="1900781"/>
            <a:ext cx="11074052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>
                <a:solidFill>
                  <a:srgbClr val="0ADBBC"/>
                </a:solidFill>
              </a:rPr>
              <a:t>"SBI" model </a:t>
            </a:r>
            <a:r>
              <a:rPr lang="en-US" b="1" dirty="0" err="1">
                <a:solidFill>
                  <a:srgbClr val="0ADBBC"/>
                </a:solidFill>
              </a:rPr>
              <a:t>povratne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b="1" dirty="0" err="1">
                <a:solidFill>
                  <a:srgbClr val="0ADBBC"/>
                </a:solidFill>
              </a:rPr>
              <a:t>informacije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b="1" dirty="0"/>
              <a:t>(</a:t>
            </a:r>
            <a:r>
              <a:rPr lang="en-US" b="1" dirty="0" err="1"/>
              <a:t>Situacija</a:t>
            </a:r>
            <a:r>
              <a:rPr lang="en-US" b="1" dirty="0"/>
              <a:t> – </a:t>
            </a:r>
            <a:r>
              <a:rPr lang="en-US" b="1" dirty="0" err="1"/>
              <a:t>Ponašanje</a:t>
            </a:r>
            <a:r>
              <a:rPr lang="en-US" b="1" dirty="0"/>
              <a:t> – Utjecaj)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 err="1">
                <a:solidFill>
                  <a:srgbClr val="0ADBBC"/>
                </a:solidFill>
              </a:rPr>
              <a:t>Situacija</a:t>
            </a:r>
            <a:r>
              <a:rPr lang="en-US" b="1" dirty="0">
                <a:solidFill>
                  <a:srgbClr val="0ADBBC"/>
                </a:solidFill>
              </a:rPr>
              <a:t>: </a:t>
            </a:r>
            <a:r>
              <a:rPr lang="en-US" dirty="0" err="1"/>
              <a:t>Opišite</a:t>
            </a:r>
            <a:r>
              <a:rPr lang="en-US" dirty="0"/>
              <a:t> </a:t>
            </a:r>
            <a:r>
              <a:rPr lang="en-US" dirty="0" err="1"/>
              <a:t>kontekst</a:t>
            </a:r>
            <a:r>
              <a:rPr lang="en-US" dirty="0"/>
              <a:t>. (</a:t>
            </a:r>
            <a:r>
              <a:rPr lang="en-US" i="1" dirty="0"/>
              <a:t>„</a:t>
            </a:r>
            <a:r>
              <a:rPr lang="en-US" i="1" dirty="0" err="1"/>
              <a:t>Tijekom</a:t>
            </a:r>
            <a:r>
              <a:rPr lang="en-US" i="1" dirty="0"/>
              <a:t> </a:t>
            </a:r>
            <a:r>
              <a:rPr lang="en-US" i="1" dirty="0" err="1"/>
              <a:t>jučerašnjeg</a:t>
            </a:r>
            <a:r>
              <a:rPr lang="en-US" i="1" dirty="0"/>
              <a:t> sprint </a:t>
            </a:r>
            <a:r>
              <a:rPr lang="en-US" i="1" dirty="0" err="1"/>
              <a:t>reviewa</a:t>
            </a:r>
            <a:r>
              <a:rPr lang="en-US" i="1" dirty="0"/>
              <a:t>…“</a:t>
            </a:r>
            <a:r>
              <a:rPr lang="en-US" dirty="0"/>
              <a:t>)</a:t>
            </a:r>
          </a:p>
          <a:p>
            <a:pPr marL="0" indent="0">
              <a:buNone/>
            </a:pPr>
            <a:endParaRPr lang="en-US" b="1" dirty="0">
              <a:solidFill>
                <a:srgbClr val="0ADBBC"/>
              </a:solidFill>
            </a:endParaRPr>
          </a:p>
          <a:p>
            <a:pPr marL="0" indent="0">
              <a:buNone/>
            </a:pPr>
            <a:r>
              <a:rPr lang="en-US" b="1" dirty="0" err="1">
                <a:solidFill>
                  <a:srgbClr val="0ADBBC"/>
                </a:solidFill>
              </a:rPr>
              <a:t>Ponašanje</a:t>
            </a:r>
            <a:r>
              <a:rPr lang="en-US" b="1" dirty="0">
                <a:solidFill>
                  <a:srgbClr val="0ADBBC"/>
                </a:solidFill>
              </a:rPr>
              <a:t>: </a:t>
            </a:r>
            <a:r>
              <a:rPr lang="en-US" dirty="0" err="1"/>
              <a:t>Precizno</a:t>
            </a:r>
            <a:r>
              <a:rPr lang="en-US" dirty="0"/>
              <a:t> </a:t>
            </a:r>
            <a:r>
              <a:rPr lang="en-US" dirty="0" err="1"/>
              <a:t>opišite</a:t>
            </a:r>
            <a:r>
              <a:rPr lang="en-US" dirty="0"/>
              <a:t> </a:t>
            </a:r>
            <a:r>
              <a:rPr lang="en-US" dirty="0" err="1"/>
              <a:t>što</a:t>
            </a:r>
            <a:r>
              <a:rPr lang="en-US" dirty="0"/>
              <a:t> je </a:t>
            </a:r>
            <a:r>
              <a:rPr lang="en-US" dirty="0" err="1"/>
              <a:t>uočeno</a:t>
            </a:r>
            <a:r>
              <a:rPr lang="en-US" dirty="0"/>
              <a:t>. (</a:t>
            </a:r>
            <a:r>
              <a:rPr lang="en-US" i="1" dirty="0"/>
              <a:t>„</a:t>
            </a:r>
            <a:r>
              <a:rPr lang="en-US" i="1" dirty="0" err="1"/>
              <a:t>Tvoje</a:t>
            </a:r>
            <a:r>
              <a:rPr lang="en-US" i="1" dirty="0"/>
              <a:t> </a:t>
            </a:r>
            <a:r>
              <a:rPr lang="en-US" i="1" dirty="0" err="1"/>
              <a:t>izvješće</a:t>
            </a:r>
            <a:r>
              <a:rPr lang="en-US" i="1" dirty="0"/>
              <a:t> </a:t>
            </a:r>
            <a:r>
              <a:rPr lang="en-US" i="1" dirty="0" err="1"/>
              <a:t>nije</a:t>
            </a:r>
            <a:r>
              <a:rPr lang="en-US" i="1" dirty="0"/>
              <a:t> </a:t>
            </a:r>
            <a:r>
              <a:rPr lang="en-US" i="1" dirty="0" err="1"/>
              <a:t>sadržavalo</a:t>
            </a:r>
            <a:r>
              <a:rPr lang="en-US" i="1" dirty="0"/>
              <a:t> </a:t>
            </a:r>
            <a:r>
              <a:rPr lang="en-US" i="1" dirty="0" err="1"/>
              <a:t>ključne</a:t>
            </a:r>
            <a:r>
              <a:rPr lang="en-US" i="1" dirty="0"/>
              <a:t> </a:t>
            </a:r>
            <a:r>
              <a:rPr lang="en-US" i="1" dirty="0" err="1"/>
              <a:t>metrike</a:t>
            </a:r>
            <a:r>
              <a:rPr lang="en-US" i="1" dirty="0"/>
              <a:t> </a:t>
            </a:r>
            <a:r>
              <a:rPr lang="en-US" i="1" dirty="0" err="1"/>
              <a:t>uspješnosti</a:t>
            </a:r>
            <a:r>
              <a:rPr lang="en-US" i="1" dirty="0"/>
              <a:t>…“</a:t>
            </a:r>
            <a:r>
              <a:rPr lang="en-US" dirty="0"/>
              <a:t>)</a:t>
            </a:r>
          </a:p>
          <a:p>
            <a:pPr marL="0" indent="0">
              <a:buNone/>
            </a:pPr>
            <a:endParaRPr lang="en-US" b="1" dirty="0">
              <a:solidFill>
                <a:srgbClr val="0ADBBC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0ADBBC"/>
                </a:solidFill>
              </a:rPr>
              <a:t>Utjecaj: </a:t>
            </a:r>
            <a:r>
              <a:rPr lang="en-US" dirty="0" err="1"/>
              <a:t>Objasnite</a:t>
            </a:r>
            <a:r>
              <a:rPr lang="en-US" dirty="0"/>
              <a:t> </a:t>
            </a:r>
            <a:r>
              <a:rPr lang="en-US" dirty="0" err="1"/>
              <a:t>učinak</a:t>
            </a:r>
            <a:r>
              <a:rPr lang="en-US" dirty="0"/>
              <a:t>. (</a:t>
            </a:r>
            <a:r>
              <a:rPr lang="en-US" i="1" dirty="0"/>
              <a:t>„To je </a:t>
            </a:r>
            <a:r>
              <a:rPr lang="en-US" i="1" dirty="0" err="1"/>
              <a:t>otežalo</a:t>
            </a:r>
            <a:r>
              <a:rPr lang="en-US" i="1" dirty="0"/>
              <a:t> </a:t>
            </a:r>
            <a:r>
              <a:rPr lang="en-US" i="1" dirty="0" err="1"/>
              <a:t>timu</a:t>
            </a:r>
            <a:r>
              <a:rPr lang="en-US" i="1" dirty="0"/>
              <a:t> </a:t>
            </a:r>
            <a:r>
              <a:rPr lang="en-US" i="1" dirty="0" err="1"/>
              <a:t>praćenje</a:t>
            </a:r>
            <a:r>
              <a:rPr lang="en-US" i="1" dirty="0"/>
              <a:t> </a:t>
            </a:r>
            <a:r>
              <a:rPr lang="en-US" i="1" dirty="0" err="1"/>
              <a:t>napretka</a:t>
            </a:r>
            <a:r>
              <a:rPr lang="en-US" i="1" dirty="0"/>
              <a:t>.“</a:t>
            </a:r>
            <a:r>
              <a:rPr lang="en-US" dirty="0"/>
              <a:t>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345784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49A66-4435-C95E-7F02-3AB2061E3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16D1A7-08B6-C686-0D98-F6E09A1A6A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6684"/>
            <a:ext cx="10515600" cy="1325563"/>
          </a:xfrm>
        </p:spPr>
        <p:txBody>
          <a:bodyPr>
            <a:normAutofit/>
          </a:bodyPr>
          <a:lstStyle/>
          <a:p>
            <a:r>
              <a:rPr lang="en-US" sz="3800" dirty="0"/>
              <a:t>Kako </a:t>
            </a:r>
            <a:r>
              <a:rPr lang="en-US" sz="3800" dirty="0" err="1"/>
              <a:t>dati</a:t>
            </a:r>
            <a:r>
              <a:rPr lang="en-US" sz="3800" dirty="0"/>
              <a:t> </a:t>
            </a:r>
            <a:r>
              <a:rPr lang="en-US" sz="3800" dirty="0" err="1"/>
              <a:t>učinkovitu</a:t>
            </a:r>
            <a:r>
              <a:rPr lang="en-US" sz="3800" dirty="0"/>
              <a:t> </a:t>
            </a:r>
            <a:r>
              <a:rPr lang="en-US" sz="3800" dirty="0" err="1"/>
              <a:t>povratnu</a:t>
            </a:r>
            <a:r>
              <a:rPr lang="en-US" sz="3800" dirty="0"/>
              <a:t> </a:t>
            </a:r>
            <a:r>
              <a:rPr lang="en-US" sz="3800" dirty="0" err="1"/>
              <a:t>informaciju</a:t>
            </a:r>
            <a:r>
              <a:rPr lang="en-US" sz="3800" dirty="0"/>
              <a:t> </a:t>
            </a:r>
            <a:r>
              <a:rPr lang="en-US" sz="3800" dirty="0" err="1"/>
              <a:t>kao</a:t>
            </a:r>
            <a:r>
              <a:rPr lang="en-US" sz="3800" dirty="0"/>
              <a:t> </a:t>
            </a:r>
            <a:r>
              <a:rPr lang="en-US" sz="3800" dirty="0" err="1"/>
              <a:t>voditelj</a:t>
            </a:r>
            <a:r>
              <a:rPr lang="en-US" sz="3800" dirty="0"/>
              <a:t> </a:t>
            </a:r>
            <a:r>
              <a:rPr lang="en-US" sz="3800" dirty="0" err="1"/>
              <a:t>projekta</a:t>
            </a:r>
            <a:endParaRPr lang="en-US" sz="3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AC3607-122A-B397-E4CB-7C3A60AC3F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sz="2600" b="1" dirty="0" err="1">
                <a:cs typeface="Arial" panose="020B0604020202020204" pitchFamily="34" charset="0"/>
              </a:rPr>
              <a:t>Povratna</a:t>
            </a:r>
            <a:r>
              <a:rPr lang="en-US" sz="2600" b="1" dirty="0">
                <a:cs typeface="Arial" panose="020B0604020202020204" pitchFamily="34" charset="0"/>
              </a:rPr>
              <a:t> </a:t>
            </a:r>
            <a:r>
              <a:rPr lang="en-US" sz="2600" b="1" dirty="0" err="1">
                <a:cs typeface="Arial" panose="020B0604020202020204" pitchFamily="34" charset="0"/>
              </a:rPr>
              <a:t>informacija</a:t>
            </a:r>
            <a:r>
              <a:rPr lang="en-US" sz="2600" b="1" dirty="0">
                <a:cs typeface="Arial" panose="020B0604020202020204" pitchFamily="34" charset="0"/>
              </a:rPr>
              <a:t> </a:t>
            </a:r>
            <a:r>
              <a:rPr lang="en-US" sz="2600" b="1" dirty="0" err="1">
                <a:cs typeface="Arial" panose="020B0604020202020204" pitchFamily="34" charset="0"/>
              </a:rPr>
              <a:t>treba</a:t>
            </a:r>
            <a:r>
              <a:rPr lang="en-US" sz="2600" b="1" dirty="0">
                <a:cs typeface="Arial" panose="020B0604020202020204" pitchFamily="34" charset="0"/>
              </a:rPr>
              <a:t> </a:t>
            </a:r>
            <a:r>
              <a:rPr lang="en-US" sz="2600" b="1" dirty="0" err="1">
                <a:cs typeface="Arial" panose="020B0604020202020204" pitchFamily="34" charset="0"/>
              </a:rPr>
              <a:t>biti</a:t>
            </a:r>
            <a:r>
              <a:rPr lang="en-US" sz="2600" b="1" dirty="0">
                <a:cs typeface="Arial" panose="020B0604020202020204" pitchFamily="34" charset="0"/>
              </a:rPr>
              <a:t> </a:t>
            </a:r>
            <a:r>
              <a:rPr lang="en-US" sz="2600" b="1" dirty="0" err="1">
                <a:cs typeface="Arial" panose="020B0604020202020204" pitchFamily="34" charset="0"/>
              </a:rPr>
              <a:t>konstruktivna</a:t>
            </a:r>
            <a:r>
              <a:rPr lang="en-US" sz="2600" b="1" dirty="0">
                <a:cs typeface="Arial" panose="020B0604020202020204" pitchFamily="34" charset="0"/>
              </a:rPr>
              <a:t> i </a:t>
            </a:r>
            <a:r>
              <a:rPr lang="en-US" sz="2600" b="1" dirty="0" err="1">
                <a:cs typeface="Arial" panose="020B0604020202020204" pitchFamily="34" charset="0"/>
              </a:rPr>
              <a:t>uravnotežena</a:t>
            </a:r>
            <a:endParaRPr lang="en-US" sz="2600" b="1" dirty="0"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sz="2600" b="1" dirty="0"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2600" dirty="0" err="1">
                <a:cs typeface="Arial" panose="020B0604020202020204" pitchFamily="34" charset="0"/>
              </a:rPr>
              <a:t>Usmjerite</a:t>
            </a:r>
            <a:r>
              <a:rPr lang="en-US" sz="2600" dirty="0">
                <a:cs typeface="Arial" panose="020B0604020202020204" pitchFamily="34" charset="0"/>
              </a:rPr>
              <a:t> se </a:t>
            </a:r>
            <a:r>
              <a:rPr lang="en-US" sz="2600" dirty="0" err="1">
                <a:cs typeface="Arial" panose="020B0604020202020204" pitchFamily="34" charset="0"/>
              </a:rPr>
              <a:t>na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b="1" dirty="0">
                <a:cs typeface="Arial" panose="020B0604020202020204" pitchFamily="34" charset="0"/>
              </a:rPr>
              <a:t>rad</a:t>
            </a:r>
            <a:r>
              <a:rPr lang="en-US" sz="2600" dirty="0">
                <a:cs typeface="Arial" panose="020B0604020202020204" pitchFamily="34" charset="0"/>
              </a:rPr>
              <a:t>, a ne </a:t>
            </a:r>
            <a:r>
              <a:rPr lang="en-US" sz="2600" dirty="0" err="1">
                <a:cs typeface="Arial" panose="020B0604020202020204" pitchFamily="34" charset="0"/>
              </a:rPr>
              <a:t>na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dirty="0" err="1">
                <a:cs typeface="Arial" panose="020B0604020202020204" pitchFamily="34" charset="0"/>
              </a:rPr>
              <a:t>osobu</a:t>
            </a:r>
            <a:r>
              <a:rPr lang="en-US" sz="2600" dirty="0">
                <a:cs typeface="Arial" panose="020B0604020202020204" pitchFamily="34" charset="0"/>
              </a:rPr>
              <a:t>. (</a:t>
            </a:r>
            <a:r>
              <a:rPr lang="en-US" sz="2600" i="1" dirty="0" err="1">
                <a:cs typeface="Arial" panose="020B0604020202020204" pitchFamily="34" charset="0"/>
              </a:rPr>
              <a:t>Izbjegavajte</a:t>
            </a:r>
            <a:r>
              <a:rPr lang="en-US" sz="2600" i="1" dirty="0">
                <a:cs typeface="Arial" panose="020B0604020202020204" pitchFamily="34" charset="0"/>
              </a:rPr>
              <a:t>: „</a:t>
            </a:r>
            <a:r>
              <a:rPr lang="en-US" sz="2600" i="1" dirty="0" err="1">
                <a:cs typeface="Arial" panose="020B0604020202020204" pitchFamily="34" charset="0"/>
              </a:rPr>
              <a:t>Loš</a:t>
            </a:r>
            <a:r>
              <a:rPr lang="en-US" sz="2600" i="1" dirty="0">
                <a:cs typeface="Arial" panose="020B0604020202020204" pitchFamily="34" charset="0"/>
              </a:rPr>
              <a:t>/a </a:t>
            </a:r>
            <a:r>
              <a:rPr lang="en-US" sz="2600" i="1" dirty="0" err="1">
                <a:cs typeface="Arial" panose="020B0604020202020204" pitchFamily="34" charset="0"/>
              </a:rPr>
              <a:t>si</a:t>
            </a:r>
            <a:r>
              <a:rPr lang="en-US" sz="2600" i="1" dirty="0">
                <a:cs typeface="Arial" panose="020B0604020202020204" pitchFamily="34" charset="0"/>
              </a:rPr>
              <a:t> u </a:t>
            </a:r>
            <a:r>
              <a:rPr lang="en-US" sz="2600" i="1" dirty="0" err="1">
                <a:cs typeface="Arial" panose="020B0604020202020204" pitchFamily="34" charset="0"/>
              </a:rPr>
              <a:t>prezentiranju</a:t>
            </a:r>
            <a:r>
              <a:rPr lang="en-US" sz="2600" i="1" dirty="0">
                <a:cs typeface="Arial" panose="020B0604020202020204" pitchFamily="34" charset="0"/>
              </a:rPr>
              <a:t>.“ </a:t>
            </a:r>
            <a:r>
              <a:rPr lang="en-US" sz="2600" i="1" dirty="0" err="1">
                <a:cs typeface="Arial" panose="020B0604020202020204" pitchFamily="34" charset="0"/>
              </a:rPr>
              <a:t>Umjesto</a:t>
            </a:r>
            <a:r>
              <a:rPr lang="en-US" sz="2600" i="1" dirty="0">
                <a:cs typeface="Arial" panose="020B0604020202020204" pitchFamily="34" charset="0"/>
              </a:rPr>
              <a:t> toga: „</a:t>
            </a:r>
            <a:r>
              <a:rPr lang="en-US" sz="2600" i="1" dirty="0" err="1">
                <a:cs typeface="Arial" panose="020B0604020202020204" pitchFamily="34" charset="0"/>
              </a:rPr>
              <a:t>Tvoji</a:t>
            </a:r>
            <a:r>
              <a:rPr lang="en-US" sz="2600" i="1" dirty="0">
                <a:cs typeface="Arial" panose="020B0604020202020204" pitchFamily="34" charset="0"/>
              </a:rPr>
              <a:t> </a:t>
            </a:r>
            <a:r>
              <a:rPr lang="en-US" sz="2600" i="1" dirty="0" err="1">
                <a:cs typeface="Arial" panose="020B0604020202020204" pitchFamily="34" charset="0"/>
              </a:rPr>
              <a:t>slajdovi</a:t>
            </a:r>
            <a:r>
              <a:rPr lang="en-US" sz="2600" i="1" dirty="0">
                <a:cs typeface="Arial" panose="020B0604020202020204" pitchFamily="34" charset="0"/>
              </a:rPr>
              <a:t> </a:t>
            </a:r>
            <a:r>
              <a:rPr lang="en-US" sz="2600" i="1" dirty="0" err="1">
                <a:cs typeface="Arial" panose="020B0604020202020204" pitchFamily="34" charset="0"/>
              </a:rPr>
              <a:t>nisu</a:t>
            </a:r>
            <a:r>
              <a:rPr lang="en-US" sz="2600" i="1" dirty="0">
                <a:cs typeface="Arial" panose="020B0604020202020204" pitchFamily="34" charset="0"/>
              </a:rPr>
              <a:t> </a:t>
            </a:r>
            <a:r>
              <a:rPr lang="en-US" sz="2600" i="1" dirty="0" err="1">
                <a:cs typeface="Arial" panose="020B0604020202020204" pitchFamily="34" charset="0"/>
              </a:rPr>
              <a:t>bili</a:t>
            </a:r>
            <a:r>
              <a:rPr lang="en-US" sz="2600" i="1" dirty="0">
                <a:cs typeface="Arial" panose="020B0604020202020204" pitchFamily="34" charset="0"/>
              </a:rPr>
              <a:t> </a:t>
            </a:r>
            <a:r>
              <a:rPr lang="en-US" sz="2600" i="1" dirty="0" err="1">
                <a:cs typeface="Arial" panose="020B0604020202020204" pitchFamily="34" charset="0"/>
              </a:rPr>
              <a:t>dovoljno</a:t>
            </a:r>
            <a:r>
              <a:rPr lang="en-US" sz="2600" i="1" dirty="0">
                <a:cs typeface="Arial" panose="020B0604020202020204" pitchFamily="34" charset="0"/>
              </a:rPr>
              <a:t> </a:t>
            </a:r>
            <a:r>
              <a:rPr lang="en-US" sz="2600" i="1" dirty="0" err="1">
                <a:cs typeface="Arial" panose="020B0604020202020204" pitchFamily="34" charset="0"/>
              </a:rPr>
              <a:t>jasni</a:t>
            </a:r>
            <a:r>
              <a:rPr lang="en-US" sz="2600" i="1" dirty="0">
                <a:cs typeface="Arial" panose="020B0604020202020204" pitchFamily="34" charset="0"/>
              </a:rPr>
              <a:t>, </a:t>
            </a:r>
            <a:r>
              <a:rPr lang="en-US" sz="2600" i="1" dirty="0" err="1">
                <a:cs typeface="Arial" panose="020B0604020202020204" pitchFamily="34" charset="0"/>
              </a:rPr>
              <a:t>što</a:t>
            </a:r>
            <a:r>
              <a:rPr lang="en-US" sz="2600" i="1" dirty="0">
                <a:cs typeface="Arial" panose="020B0604020202020204" pitchFamily="34" charset="0"/>
              </a:rPr>
              <a:t> je </a:t>
            </a:r>
            <a:r>
              <a:rPr lang="en-US" sz="2600" i="1" dirty="0" err="1">
                <a:cs typeface="Arial" panose="020B0604020202020204" pitchFamily="34" charset="0"/>
              </a:rPr>
              <a:t>otežalo</a:t>
            </a:r>
            <a:r>
              <a:rPr lang="en-US" sz="2600" i="1" dirty="0">
                <a:cs typeface="Arial" panose="020B0604020202020204" pitchFamily="34" charset="0"/>
              </a:rPr>
              <a:t> </a:t>
            </a:r>
            <a:r>
              <a:rPr lang="en-US" sz="2600" i="1" dirty="0" err="1">
                <a:cs typeface="Arial" panose="020B0604020202020204" pitchFamily="34" charset="0"/>
              </a:rPr>
              <a:t>praćenje</a:t>
            </a:r>
            <a:r>
              <a:rPr lang="en-US" sz="2600" i="1" dirty="0">
                <a:cs typeface="Arial" panose="020B0604020202020204" pitchFamily="34" charset="0"/>
              </a:rPr>
              <a:t>.“</a:t>
            </a:r>
            <a:r>
              <a:rPr lang="en-US" sz="2600" dirty="0">
                <a:cs typeface="Arial" panose="020B0604020202020204" pitchFamily="34" charset="0"/>
              </a:rPr>
              <a:t>)</a:t>
            </a:r>
          </a:p>
          <a:p>
            <a:pPr marL="0" indent="0">
              <a:buNone/>
            </a:pPr>
            <a:endParaRPr lang="en-US" sz="2600" dirty="0"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2600" dirty="0" err="1">
                <a:cs typeface="Arial" panose="020B0604020202020204" pitchFamily="34" charset="0"/>
              </a:rPr>
              <a:t>Uravnotežite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b="1" dirty="0" err="1">
                <a:cs typeface="Arial" panose="020B0604020202020204" pitchFamily="34" charset="0"/>
              </a:rPr>
              <a:t>pozitivnu</a:t>
            </a:r>
            <a:r>
              <a:rPr lang="en-US" sz="2600" b="1" dirty="0">
                <a:cs typeface="Arial" panose="020B0604020202020204" pitchFamily="34" charset="0"/>
              </a:rPr>
              <a:t> i </a:t>
            </a:r>
            <a:r>
              <a:rPr lang="en-US" sz="2600" b="1" dirty="0" err="1">
                <a:cs typeface="Arial" panose="020B0604020202020204" pitchFamily="34" charset="0"/>
              </a:rPr>
              <a:t>konstruktivnu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dirty="0" err="1">
                <a:cs typeface="Arial" panose="020B0604020202020204" pitchFamily="34" charset="0"/>
              </a:rPr>
              <a:t>povratnu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dirty="0" err="1">
                <a:cs typeface="Arial" panose="020B0604020202020204" pitchFamily="34" charset="0"/>
              </a:rPr>
              <a:t>informaciju</a:t>
            </a:r>
            <a:r>
              <a:rPr lang="en-US" sz="2600" dirty="0">
                <a:cs typeface="Arial" panose="020B0604020202020204" pitchFamily="34" charset="0"/>
              </a:rPr>
              <a:t>. </a:t>
            </a:r>
            <a:r>
              <a:rPr lang="en-US" sz="2600" i="1" dirty="0">
                <a:cs typeface="Arial" panose="020B0604020202020204" pitchFamily="34" charset="0"/>
              </a:rPr>
              <a:t>(„</a:t>
            </a:r>
            <a:r>
              <a:rPr lang="en-US" sz="2600" i="1" dirty="0" err="1">
                <a:cs typeface="Arial" panose="020B0604020202020204" pitchFamily="34" charset="0"/>
              </a:rPr>
              <a:t>Tvoj</a:t>
            </a:r>
            <a:r>
              <a:rPr lang="en-US" sz="2600" i="1" dirty="0">
                <a:cs typeface="Arial" panose="020B0604020202020204" pitchFamily="34" charset="0"/>
              </a:rPr>
              <a:t> </a:t>
            </a:r>
            <a:r>
              <a:rPr lang="en-US" sz="2600" i="1" dirty="0" err="1">
                <a:cs typeface="Arial" panose="020B0604020202020204" pitchFamily="34" charset="0"/>
              </a:rPr>
              <a:t>dizajn</a:t>
            </a:r>
            <a:r>
              <a:rPr lang="en-US" sz="2600" i="1" dirty="0">
                <a:cs typeface="Arial" panose="020B0604020202020204" pitchFamily="34" charset="0"/>
              </a:rPr>
              <a:t> je </a:t>
            </a:r>
            <a:r>
              <a:rPr lang="en-US" sz="2600" i="1" dirty="0" err="1">
                <a:cs typeface="Arial" panose="020B0604020202020204" pitchFamily="34" charset="0"/>
              </a:rPr>
              <a:t>vizualno</a:t>
            </a:r>
            <a:r>
              <a:rPr lang="en-US" sz="2600" i="1" dirty="0">
                <a:cs typeface="Arial" panose="020B0604020202020204" pitchFamily="34" charset="0"/>
              </a:rPr>
              <a:t> </a:t>
            </a:r>
            <a:r>
              <a:rPr lang="en-US" sz="2600" i="1" dirty="0" err="1">
                <a:cs typeface="Arial" panose="020B0604020202020204" pitchFamily="34" charset="0"/>
              </a:rPr>
              <a:t>privlačan</a:t>
            </a:r>
            <a:r>
              <a:rPr lang="en-US" sz="2600" i="1" dirty="0">
                <a:cs typeface="Arial" panose="020B0604020202020204" pitchFamily="34" charset="0"/>
              </a:rPr>
              <a:t>, </a:t>
            </a:r>
            <a:r>
              <a:rPr lang="en-US" sz="2600" i="1" dirty="0" err="1">
                <a:cs typeface="Arial" panose="020B0604020202020204" pitchFamily="34" charset="0"/>
              </a:rPr>
              <a:t>ali</a:t>
            </a:r>
            <a:r>
              <a:rPr lang="en-US" sz="2600" i="1" dirty="0">
                <a:cs typeface="Arial" panose="020B0604020202020204" pitchFamily="34" charset="0"/>
              </a:rPr>
              <a:t> bi </a:t>
            </a:r>
            <a:r>
              <a:rPr lang="en-US" sz="2600" i="1" dirty="0" err="1">
                <a:cs typeface="Arial" panose="020B0604020202020204" pitchFamily="34" charset="0"/>
              </a:rPr>
              <a:t>dodavanje</a:t>
            </a:r>
            <a:r>
              <a:rPr lang="en-US" sz="2600" i="1" dirty="0">
                <a:cs typeface="Arial" panose="020B0604020202020204" pitchFamily="34" charset="0"/>
              </a:rPr>
              <a:t> </a:t>
            </a:r>
            <a:r>
              <a:rPr lang="en-US" sz="2600" i="1" dirty="0" err="1">
                <a:cs typeface="Arial" panose="020B0604020202020204" pitchFamily="34" charset="0"/>
              </a:rPr>
              <a:t>navigacijske</a:t>
            </a:r>
            <a:r>
              <a:rPr lang="en-US" sz="2600" i="1" dirty="0">
                <a:cs typeface="Arial" panose="020B0604020202020204" pitchFamily="34" charset="0"/>
              </a:rPr>
              <a:t> </a:t>
            </a:r>
            <a:r>
              <a:rPr lang="en-US" sz="2600" i="1" dirty="0" err="1">
                <a:cs typeface="Arial" panose="020B0604020202020204" pitchFamily="34" charset="0"/>
              </a:rPr>
              <a:t>trake</a:t>
            </a:r>
            <a:r>
              <a:rPr lang="en-US" sz="2600" i="1" dirty="0">
                <a:cs typeface="Arial" panose="020B0604020202020204" pitchFamily="34" charset="0"/>
              </a:rPr>
              <a:t> </a:t>
            </a:r>
            <a:r>
              <a:rPr lang="en-US" sz="2600" i="1" dirty="0" err="1">
                <a:cs typeface="Arial" panose="020B0604020202020204" pitchFamily="34" charset="0"/>
              </a:rPr>
              <a:t>poboljšalo</a:t>
            </a:r>
            <a:r>
              <a:rPr lang="en-US" sz="2600" i="1" dirty="0">
                <a:cs typeface="Arial" panose="020B0604020202020204" pitchFamily="34" charset="0"/>
              </a:rPr>
              <a:t> </a:t>
            </a:r>
            <a:r>
              <a:rPr lang="en-US" sz="2600" i="1" dirty="0" err="1">
                <a:cs typeface="Arial" panose="020B0604020202020204" pitchFamily="34" charset="0"/>
              </a:rPr>
              <a:t>upotrebljivost</a:t>
            </a:r>
            <a:r>
              <a:rPr lang="en-US" sz="2600" i="1" dirty="0">
                <a:cs typeface="Arial" panose="020B0604020202020204" pitchFamily="34" charset="0"/>
              </a:rPr>
              <a:t>.“</a:t>
            </a:r>
            <a:r>
              <a:rPr lang="en-US" sz="2600" dirty="0">
                <a:cs typeface="Arial" panose="020B0604020202020204" pitchFamily="34" charset="0"/>
              </a:rPr>
              <a:t>)</a:t>
            </a:r>
          </a:p>
          <a:p>
            <a:pPr marL="0" indent="0">
              <a:buNone/>
            </a:pPr>
            <a:endParaRPr lang="en-US" sz="2600" dirty="0"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sz="2600" dirty="0" err="1">
                <a:cs typeface="Arial" panose="020B0604020202020204" pitchFamily="34" charset="0"/>
              </a:rPr>
              <a:t>Budite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b="1" dirty="0" err="1">
                <a:cs typeface="Arial" panose="020B0604020202020204" pitchFamily="34" charset="0"/>
              </a:rPr>
              <a:t>konkretni</a:t>
            </a:r>
            <a:r>
              <a:rPr lang="en-US" sz="2600" b="1" dirty="0">
                <a:cs typeface="Arial" panose="020B0604020202020204" pitchFamily="34" charset="0"/>
              </a:rPr>
              <a:t> i </a:t>
            </a:r>
            <a:r>
              <a:rPr lang="en-US" sz="2600" b="1" dirty="0" err="1">
                <a:cs typeface="Arial" panose="020B0604020202020204" pitchFamily="34" charset="0"/>
              </a:rPr>
              <a:t>usmjereni</a:t>
            </a:r>
            <a:r>
              <a:rPr lang="en-US" sz="2600" b="1" dirty="0">
                <a:cs typeface="Arial" panose="020B0604020202020204" pitchFamily="34" charset="0"/>
              </a:rPr>
              <a:t> </a:t>
            </a:r>
            <a:r>
              <a:rPr lang="en-US" sz="2600" b="1" dirty="0" err="1">
                <a:cs typeface="Arial" panose="020B0604020202020204" pitchFamily="34" charset="0"/>
              </a:rPr>
              <a:t>na</a:t>
            </a:r>
            <a:r>
              <a:rPr lang="en-US" sz="2600" b="1" dirty="0">
                <a:cs typeface="Arial" panose="020B0604020202020204" pitchFamily="34" charset="0"/>
              </a:rPr>
              <a:t> </a:t>
            </a:r>
            <a:r>
              <a:rPr lang="en-US" sz="2600" b="1" dirty="0" err="1">
                <a:cs typeface="Arial" panose="020B0604020202020204" pitchFamily="34" charset="0"/>
              </a:rPr>
              <a:t>djelovanje</a:t>
            </a:r>
            <a:r>
              <a:rPr lang="en-US" sz="2600" b="1" dirty="0">
                <a:cs typeface="Arial" panose="020B0604020202020204" pitchFamily="34" charset="0"/>
              </a:rPr>
              <a:t> </a:t>
            </a:r>
            <a:r>
              <a:rPr lang="en-US" sz="2600" dirty="0" err="1">
                <a:cs typeface="Arial" panose="020B0604020202020204" pitchFamily="34" charset="0"/>
              </a:rPr>
              <a:t>kako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dirty="0" err="1">
                <a:cs typeface="Arial" panose="020B0604020202020204" pitchFamily="34" charset="0"/>
              </a:rPr>
              <a:t>biste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dirty="0" err="1">
                <a:cs typeface="Arial" panose="020B0604020202020204" pitchFamily="34" charset="0"/>
              </a:rPr>
              <a:t>potaknuli</a:t>
            </a:r>
            <a:r>
              <a:rPr lang="en-US" sz="2600" dirty="0">
                <a:cs typeface="Arial" panose="020B0604020202020204" pitchFamily="34" charset="0"/>
              </a:rPr>
              <a:t> </a:t>
            </a:r>
            <a:r>
              <a:rPr lang="en-US" sz="2600" dirty="0" err="1">
                <a:cs typeface="Arial" panose="020B0604020202020204" pitchFamily="34" charset="0"/>
              </a:rPr>
              <a:t>unapređenje</a:t>
            </a:r>
            <a:r>
              <a:rPr lang="en-US" sz="2600" dirty="0">
                <a:cs typeface="Arial" panose="020B0604020202020204" pitchFamily="34" charset="0"/>
              </a:rPr>
              <a:t>.</a:t>
            </a:r>
          </a:p>
          <a:p>
            <a:pPr marL="0" indent="0">
              <a:buNone/>
            </a:pPr>
            <a:endParaRPr lang="en-US" sz="2600" dirty="0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880938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F70235-5B80-5EDD-FB52-4C49F2BDCD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710C7F-B477-607D-E320-E3200DBA69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1058162" y="277016"/>
            <a:ext cx="10515600" cy="1325563"/>
          </a:xfrm>
        </p:spPr>
        <p:txBody>
          <a:bodyPr>
            <a:normAutofit/>
          </a:bodyPr>
          <a:lstStyle/>
          <a:p>
            <a:pPr algn="r"/>
            <a:r>
              <a:rPr lang="pl-PL" sz="3800" dirty="0"/>
              <a:t>Dobra razmjena povratnih informacija u projektu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F30AAA-1693-ED76-D58D-F2DDE70C65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5986" y="1938359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600" dirty="0">
                <a:cs typeface="Arial" panose="020B0604020202020204" pitchFamily="34" charset="0"/>
              </a:rPr>
              <a:t>🗣 </a:t>
            </a:r>
            <a:r>
              <a:rPr lang="en-US" b="1" dirty="0" err="1">
                <a:solidFill>
                  <a:srgbClr val="0ADBBC"/>
                </a:solidFill>
              </a:rPr>
              <a:t>Voditelj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b="1" dirty="0" err="1">
                <a:solidFill>
                  <a:srgbClr val="0ADBBC"/>
                </a:solidFill>
              </a:rPr>
              <a:t>projekta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b="1" dirty="0" err="1">
                <a:solidFill>
                  <a:srgbClr val="0ADBBC"/>
                </a:solidFill>
              </a:rPr>
              <a:t>prema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b="1" dirty="0" err="1">
                <a:solidFill>
                  <a:srgbClr val="0ADBBC"/>
                </a:solidFill>
              </a:rPr>
              <a:t>developeru</a:t>
            </a:r>
            <a:r>
              <a:rPr lang="en-US" b="1" dirty="0">
                <a:solidFill>
                  <a:srgbClr val="0ADBBC"/>
                </a:solidFill>
              </a:rPr>
              <a:t>:</a:t>
            </a:r>
          </a:p>
          <a:p>
            <a:pPr marL="0" indent="0">
              <a:buNone/>
            </a:pPr>
            <a:r>
              <a:rPr lang="en-US" sz="2600" i="1" dirty="0">
                <a:cs typeface="Arial" panose="020B0604020202020204" pitchFamily="34" charset="0"/>
              </a:rPr>
              <a:t>„</a:t>
            </a:r>
            <a:r>
              <a:rPr lang="en-US" sz="2600" i="1" dirty="0" err="1">
                <a:cs typeface="Arial" panose="020B0604020202020204" pitchFamily="34" charset="0"/>
              </a:rPr>
              <a:t>Primijetio</a:t>
            </a:r>
            <a:r>
              <a:rPr lang="en-US" sz="2600" i="1" dirty="0">
                <a:cs typeface="Arial" panose="020B0604020202020204" pitchFamily="34" charset="0"/>
              </a:rPr>
              <a:t>/la </a:t>
            </a:r>
            <a:r>
              <a:rPr lang="en-US" sz="2600" i="1" dirty="0" err="1">
                <a:cs typeface="Arial" panose="020B0604020202020204" pitchFamily="34" charset="0"/>
              </a:rPr>
              <a:t>sam</a:t>
            </a:r>
            <a:r>
              <a:rPr lang="en-US" sz="2600" i="1" dirty="0">
                <a:cs typeface="Arial" panose="020B0604020202020204" pitchFamily="34" charset="0"/>
              </a:rPr>
              <a:t> da </a:t>
            </a:r>
            <a:r>
              <a:rPr lang="en-US" sz="2600" i="1" dirty="0" err="1">
                <a:cs typeface="Arial" panose="020B0604020202020204" pitchFamily="34" charset="0"/>
              </a:rPr>
              <a:t>su</a:t>
            </a:r>
            <a:r>
              <a:rPr lang="en-US" sz="2600" i="1" dirty="0">
                <a:cs typeface="Arial" panose="020B0604020202020204" pitchFamily="34" charset="0"/>
              </a:rPr>
              <a:t> u </a:t>
            </a:r>
            <a:r>
              <a:rPr lang="en-US" sz="2600" i="1" dirty="0" err="1">
                <a:cs typeface="Arial" panose="020B0604020202020204" pitchFamily="34" charset="0"/>
              </a:rPr>
              <a:t>prošlom</a:t>
            </a:r>
            <a:r>
              <a:rPr lang="en-US" sz="2600" i="1" dirty="0">
                <a:cs typeface="Arial" panose="020B0604020202020204" pitchFamily="34" charset="0"/>
              </a:rPr>
              <a:t> </a:t>
            </a:r>
            <a:r>
              <a:rPr lang="en-US" sz="2600" i="1" dirty="0" err="1">
                <a:cs typeface="Arial" panose="020B0604020202020204" pitchFamily="34" charset="0"/>
              </a:rPr>
              <a:t>sprintu</a:t>
            </a:r>
            <a:r>
              <a:rPr lang="en-US" sz="2600" i="1" dirty="0">
                <a:cs typeface="Arial" panose="020B0604020202020204" pitchFamily="34" charset="0"/>
              </a:rPr>
              <a:t> </a:t>
            </a:r>
            <a:r>
              <a:rPr lang="en-US" sz="2600" i="1" dirty="0" err="1">
                <a:cs typeface="Arial" panose="020B0604020202020204" pitchFamily="34" charset="0"/>
              </a:rPr>
              <a:t>neki</a:t>
            </a:r>
            <a:r>
              <a:rPr lang="en-US" sz="2600" i="1" dirty="0">
                <a:cs typeface="Arial" panose="020B0604020202020204" pitchFamily="34" charset="0"/>
              </a:rPr>
              <a:t> code </a:t>
            </a:r>
            <a:r>
              <a:rPr lang="en-US" sz="2600" i="1" dirty="0" err="1">
                <a:cs typeface="Arial" panose="020B0604020202020204" pitchFamily="34" charset="0"/>
              </a:rPr>
              <a:t>reviewi</a:t>
            </a:r>
            <a:r>
              <a:rPr lang="en-US" sz="2600" i="1" dirty="0">
                <a:cs typeface="Arial" panose="020B0604020202020204" pitchFamily="34" charset="0"/>
              </a:rPr>
              <a:t> </a:t>
            </a:r>
            <a:r>
              <a:rPr lang="en-US" sz="2600" i="1" dirty="0" err="1">
                <a:cs typeface="Arial" panose="020B0604020202020204" pitchFamily="34" charset="0"/>
              </a:rPr>
              <a:t>kasnili</a:t>
            </a:r>
            <a:r>
              <a:rPr lang="en-US" sz="2600" i="1" dirty="0">
                <a:cs typeface="Arial" panose="020B0604020202020204" pitchFamily="34" charset="0"/>
              </a:rPr>
              <a:t>, </a:t>
            </a:r>
            <a:r>
              <a:rPr lang="en-US" sz="2600" i="1" dirty="0" err="1">
                <a:cs typeface="Arial" panose="020B0604020202020204" pitchFamily="34" charset="0"/>
              </a:rPr>
              <a:t>što</a:t>
            </a:r>
            <a:r>
              <a:rPr lang="en-US" sz="2600" i="1" dirty="0">
                <a:cs typeface="Arial" panose="020B0604020202020204" pitchFamily="34" charset="0"/>
              </a:rPr>
              <a:t> je </a:t>
            </a:r>
            <a:r>
              <a:rPr lang="en-US" sz="2600" i="1" dirty="0" err="1">
                <a:cs typeface="Arial" panose="020B0604020202020204" pitchFamily="34" charset="0"/>
              </a:rPr>
              <a:t>usporilo</a:t>
            </a:r>
            <a:r>
              <a:rPr lang="en-US" sz="2600" i="1" dirty="0">
                <a:cs typeface="Arial" panose="020B0604020202020204" pitchFamily="34" charset="0"/>
              </a:rPr>
              <a:t> </a:t>
            </a:r>
            <a:r>
              <a:rPr lang="en-US" sz="2600" i="1" dirty="0" err="1">
                <a:cs typeface="Arial" panose="020B0604020202020204" pitchFamily="34" charset="0"/>
              </a:rPr>
              <a:t>implementaciju</a:t>
            </a:r>
            <a:r>
              <a:rPr lang="en-US" sz="2600" i="1" dirty="0">
                <a:cs typeface="Arial" panose="020B0604020202020204" pitchFamily="34" charset="0"/>
              </a:rPr>
              <a:t>. Kako </a:t>
            </a:r>
            <a:r>
              <a:rPr lang="en-US" sz="2600" i="1" dirty="0" err="1">
                <a:cs typeface="Arial" panose="020B0604020202020204" pitchFamily="34" charset="0"/>
              </a:rPr>
              <a:t>bismo</a:t>
            </a:r>
            <a:r>
              <a:rPr lang="en-US" sz="2600" i="1" dirty="0">
                <a:cs typeface="Arial" panose="020B0604020202020204" pitchFamily="34" charset="0"/>
              </a:rPr>
              <a:t> </a:t>
            </a:r>
            <a:r>
              <a:rPr lang="en-US" sz="2600" i="1" dirty="0" err="1">
                <a:cs typeface="Arial" panose="020B0604020202020204" pitchFamily="34" charset="0"/>
              </a:rPr>
              <a:t>održali</a:t>
            </a:r>
            <a:r>
              <a:rPr lang="en-US" sz="2600" i="1" dirty="0">
                <a:cs typeface="Arial" panose="020B0604020202020204" pitchFamily="34" charset="0"/>
              </a:rPr>
              <a:t> tempo, možemo li </a:t>
            </a:r>
            <a:r>
              <a:rPr lang="en-US" sz="2600" i="1" dirty="0" err="1">
                <a:cs typeface="Arial" panose="020B0604020202020204" pitchFamily="34" charset="0"/>
              </a:rPr>
              <a:t>postaviti</a:t>
            </a:r>
            <a:r>
              <a:rPr lang="en-US" sz="2600" i="1" dirty="0">
                <a:cs typeface="Arial" panose="020B0604020202020204" pitchFamily="34" charset="0"/>
              </a:rPr>
              <a:t> </a:t>
            </a:r>
            <a:r>
              <a:rPr lang="en-US" sz="2600" i="1" dirty="0" err="1">
                <a:cs typeface="Arial" panose="020B0604020202020204" pitchFamily="34" charset="0"/>
              </a:rPr>
              <a:t>ranije</a:t>
            </a:r>
            <a:r>
              <a:rPr lang="en-US" sz="2600" i="1" dirty="0">
                <a:cs typeface="Arial" panose="020B0604020202020204" pitchFamily="34" charset="0"/>
              </a:rPr>
              <a:t> </a:t>
            </a:r>
            <a:r>
              <a:rPr lang="en-US" sz="2600" i="1" dirty="0" err="1">
                <a:cs typeface="Arial" panose="020B0604020202020204" pitchFamily="34" charset="0"/>
              </a:rPr>
              <a:t>rokove</a:t>
            </a:r>
            <a:r>
              <a:rPr lang="en-US" sz="2600" i="1" dirty="0">
                <a:cs typeface="Arial" panose="020B0604020202020204" pitchFamily="34" charset="0"/>
              </a:rPr>
              <a:t> za </a:t>
            </a:r>
            <a:r>
              <a:rPr lang="en-US" sz="2600" i="1" dirty="0" err="1">
                <a:cs typeface="Arial" panose="020B0604020202020204" pitchFamily="34" charset="0"/>
              </a:rPr>
              <a:t>pregled</a:t>
            </a:r>
            <a:r>
              <a:rPr lang="en-US" sz="2600" i="1" dirty="0">
                <a:cs typeface="Arial" panose="020B0604020202020204" pitchFamily="34" charset="0"/>
              </a:rPr>
              <a:t>? </a:t>
            </a:r>
            <a:r>
              <a:rPr lang="en-US" sz="2600" i="1" dirty="0" err="1">
                <a:cs typeface="Arial" panose="020B0604020202020204" pitchFamily="34" charset="0"/>
              </a:rPr>
              <a:t>Kvaliteta</a:t>
            </a:r>
            <a:r>
              <a:rPr lang="en-US" sz="2600" i="1" dirty="0">
                <a:cs typeface="Arial" panose="020B0604020202020204" pitchFamily="34" charset="0"/>
              </a:rPr>
              <a:t> </a:t>
            </a:r>
            <a:r>
              <a:rPr lang="en-US" sz="2600" i="1" dirty="0" err="1">
                <a:cs typeface="Arial" panose="020B0604020202020204" pitchFamily="34" charset="0"/>
              </a:rPr>
              <a:t>tvog</a:t>
            </a:r>
            <a:r>
              <a:rPr lang="en-US" sz="2600" i="1" dirty="0">
                <a:cs typeface="Arial" panose="020B0604020202020204" pitchFamily="34" charset="0"/>
              </a:rPr>
              <a:t> </a:t>
            </a:r>
            <a:r>
              <a:rPr lang="en-US" sz="2600" i="1" dirty="0" err="1">
                <a:cs typeface="Arial" panose="020B0604020202020204" pitchFamily="34" charset="0"/>
              </a:rPr>
              <a:t>koda</a:t>
            </a:r>
            <a:r>
              <a:rPr lang="en-US" sz="2600" i="1" dirty="0">
                <a:cs typeface="Arial" panose="020B0604020202020204" pitchFamily="34" charset="0"/>
              </a:rPr>
              <a:t> je </a:t>
            </a:r>
            <a:r>
              <a:rPr lang="en-US" sz="2600" i="1" dirty="0" err="1">
                <a:cs typeface="Arial" panose="020B0604020202020204" pitchFamily="34" charset="0"/>
              </a:rPr>
              <a:t>odlična</a:t>
            </a:r>
            <a:r>
              <a:rPr lang="en-US" sz="2600" i="1" dirty="0">
                <a:cs typeface="Arial" panose="020B0604020202020204" pitchFamily="34" charset="0"/>
              </a:rPr>
              <a:t>, a </a:t>
            </a:r>
            <a:r>
              <a:rPr lang="en-US" sz="2600" i="1" dirty="0" err="1">
                <a:cs typeface="Arial" panose="020B0604020202020204" pitchFamily="34" charset="0"/>
              </a:rPr>
              <a:t>poboljšanje</a:t>
            </a:r>
            <a:r>
              <a:rPr lang="en-US" sz="2600" i="1" dirty="0">
                <a:cs typeface="Arial" panose="020B0604020202020204" pitchFamily="34" charset="0"/>
              </a:rPr>
              <a:t> u </a:t>
            </a:r>
            <a:r>
              <a:rPr lang="en-US" sz="2600" i="1" dirty="0" err="1">
                <a:cs typeface="Arial" panose="020B0604020202020204" pitchFamily="34" charset="0"/>
              </a:rPr>
              <a:t>vremenskom</a:t>
            </a:r>
            <a:r>
              <a:rPr lang="en-US" sz="2600" i="1" dirty="0">
                <a:cs typeface="Arial" panose="020B0604020202020204" pitchFamily="34" charset="0"/>
              </a:rPr>
              <a:t> </a:t>
            </a:r>
            <a:r>
              <a:rPr lang="en-US" sz="2600" i="1" dirty="0" err="1">
                <a:cs typeface="Arial" panose="020B0604020202020204" pitchFamily="34" charset="0"/>
              </a:rPr>
              <a:t>okviru</a:t>
            </a:r>
            <a:r>
              <a:rPr lang="en-US" sz="2600" i="1" dirty="0">
                <a:cs typeface="Arial" panose="020B0604020202020204" pitchFamily="34" charset="0"/>
              </a:rPr>
              <a:t> </a:t>
            </a:r>
            <a:r>
              <a:rPr lang="en-US" sz="2600" i="1" dirty="0" err="1">
                <a:cs typeface="Arial" panose="020B0604020202020204" pitchFamily="34" charset="0"/>
              </a:rPr>
              <a:t>dodatno</a:t>
            </a:r>
            <a:r>
              <a:rPr lang="en-US" sz="2600" i="1" dirty="0">
                <a:cs typeface="Arial" panose="020B0604020202020204" pitchFamily="34" charset="0"/>
              </a:rPr>
              <a:t> </a:t>
            </a:r>
            <a:r>
              <a:rPr lang="en-US" sz="2600" i="1" dirty="0" err="1">
                <a:cs typeface="Arial" panose="020B0604020202020204" pitchFamily="34" charset="0"/>
              </a:rPr>
              <a:t>će</a:t>
            </a:r>
            <a:r>
              <a:rPr lang="en-US" sz="2600" i="1" dirty="0">
                <a:cs typeface="Arial" panose="020B0604020202020204" pitchFamily="34" charset="0"/>
              </a:rPr>
              <a:t> </a:t>
            </a:r>
            <a:r>
              <a:rPr lang="en-US" sz="2600" i="1" dirty="0" err="1">
                <a:cs typeface="Arial" panose="020B0604020202020204" pitchFamily="34" charset="0"/>
              </a:rPr>
              <a:t>unaprijediti</a:t>
            </a:r>
            <a:r>
              <a:rPr lang="en-US" sz="2600" i="1" dirty="0">
                <a:cs typeface="Arial" panose="020B0604020202020204" pitchFamily="34" charset="0"/>
              </a:rPr>
              <a:t> </a:t>
            </a:r>
            <a:r>
              <a:rPr lang="en-US" sz="2600" i="1" dirty="0" err="1">
                <a:cs typeface="Arial" panose="020B0604020202020204" pitchFamily="34" charset="0"/>
              </a:rPr>
              <a:t>naš</a:t>
            </a:r>
            <a:r>
              <a:rPr lang="en-US" sz="2600" i="1" dirty="0">
                <a:cs typeface="Arial" panose="020B0604020202020204" pitchFamily="34" charset="0"/>
              </a:rPr>
              <a:t> </a:t>
            </a:r>
            <a:r>
              <a:rPr lang="en-US" sz="2600" i="1" dirty="0" err="1">
                <a:cs typeface="Arial" panose="020B0604020202020204" pitchFamily="34" charset="0"/>
              </a:rPr>
              <a:t>proces</a:t>
            </a:r>
            <a:r>
              <a:rPr lang="en-US" sz="2600" i="1" dirty="0">
                <a:cs typeface="Arial" panose="020B0604020202020204" pitchFamily="34" charset="0"/>
              </a:rPr>
              <a:t>.“</a:t>
            </a:r>
            <a:endParaRPr lang="hr-HR" sz="2600" i="1" dirty="0"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US" sz="2600" dirty="0">
              <a:cs typeface="Arial" panose="020B0604020202020204" pitchFamily="34" charset="0"/>
            </a:endParaRPr>
          </a:p>
          <a:p>
            <a:pPr marL="0" indent="0">
              <a:buNone/>
            </a:pPr>
            <a:r>
              <a:rPr lang="en-US" b="1" dirty="0" err="1">
                <a:solidFill>
                  <a:srgbClr val="0ADBBC"/>
                </a:solidFill>
              </a:rPr>
              <a:t>Odgovor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b="1" dirty="0" err="1">
                <a:solidFill>
                  <a:srgbClr val="0ADBBC"/>
                </a:solidFill>
              </a:rPr>
              <a:t>developera</a:t>
            </a:r>
            <a:r>
              <a:rPr lang="en-US" b="1" dirty="0">
                <a:solidFill>
                  <a:srgbClr val="0ADBBC"/>
                </a:solidFill>
              </a:rPr>
              <a:t>:</a:t>
            </a:r>
          </a:p>
          <a:p>
            <a:pPr marL="0" indent="0">
              <a:buNone/>
            </a:pPr>
            <a:r>
              <a:rPr lang="en-US" sz="2600" i="1" dirty="0">
                <a:cs typeface="Arial" panose="020B0604020202020204" pitchFamily="34" charset="0"/>
              </a:rPr>
              <a:t>„Hvala </a:t>
            </a:r>
            <a:r>
              <a:rPr lang="en-US" sz="2600" i="1" dirty="0" err="1">
                <a:cs typeface="Arial" panose="020B0604020202020204" pitchFamily="34" charset="0"/>
              </a:rPr>
              <a:t>na</a:t>
            </a:r>
            <a:r>
              <a:rPr lang="en-US" sz="2600" i="1" dirty="0">
                <a:cs typeface="Arial" panose="020B0604020202020204" pitchFamily="34" charset="0"/>
              </a:rPr>
              <a:t> </a:t>
            </a:r>
            <a:r>
              <a:rPr lang="en-US" sz="2600" i="1" dirty="0" err="1">
                <a:cs typeface="Arial" panose="020B0604020202020204" pitchFamily="34" charset="0"/>
              </a:rPr>
              <a:t>uvidu</a:t>
            </a:r>
            <a:r>
              <a:rPr lang="en-US" sz="2600" i="1" dirty="0">
                <a:cs typeface="Arial" panose="020B0604020202020204" pitchFamily="34" charset="0"/>
              </a:rPr>
              <a:t>! </a:t>
            </a:r>
            <a:r>
              <a:rPr lang="en-US" sz="2600" i="1" dirty="0" err="1">
                <a:cs typeface="Arial" panose="020B0604020202020204" pitchFamily="34" charset="0"/>
              </a:rPr>
              <a:t>Planirat</a:t>
            </a:r>
            <a:r>
              <a:rPr lang="en-US" sz="2600" i="1" dirty="0">
                <a:cs typeface="Arial" panose="020B0604020202020204" pitchFamily="34" charset="0"/>
              </a:rPr>
              <a:t> </a:t>
            </a:r>
            <a:r>
              <a:rPr lang="en-US" sz="2600" i="1" dirty="0" err="1">
                <a:cs typeface="Arial" panose="020B0604020202020204" pitchFamily="34" charset="0"/>
              </a:rPr>
              <a:t>ću</a:t>
            </a:r>
            <a:r>
              <a:rPr lang="en-US" sz="2600" i="1" dirty="0">
                <a:cs typeface="Arial" panose="020B0604020202020204" pitchFamily="34" charset="0"/>
              </a:rPr>
              <a:t> </a:t>
            </a:r>
            <a:r>
              <a:rPr lang="en-US" sz="2600" i="1" dirty="0" err="1">
                <a:cs typeface="Arial" panose="020B0604020202020204" pitchFamily="34" charset="0"/>
              </a:rPr>
              <a:t>ranije</a:t>
            </a:r>
            <a:r>
              <a:rPr lang="en-US" sz="2600" i="1" dirty="0">
                <a:cs typeface="Arial" panose="020B0604020202020204" pitchFamily="34" charset="0"/>
              </a:rPr>
              <a:t> </a:t>
            </a:r>
            <a:r>
              <a:rPr lang="en-US" sz="2600" i="1" dirty="0" err="1">
                <a:cs typeface="Arial" panose="020B0604020202020204" pitchFamily="34" charset="0"/>
              </a:rPr>
              <a:t>preglede</a:t>
            </a:r>
            <a:r>
              <a:rPr lang="en-US" sz="2600" i="1" dirty="0">
                <a:cs typeface="Arial" panose="020B0604020202020204" pitchFamily="34" charset="0"/>
              </a:rPr>
              <a:t> i </a:t>
            </a:r>
            <a:r>
              <a:rPr lang="en-US" sz="2600" i="1" dirty="0" err="1">
                <a:cs typeface="Arial" panose="020B0604020202020204" pitchFamily="34" charset="0"/>
              </a:rPr>
              <a:t>surađivati</a:t>
            </a:r>
            <a:r>
              <a:rPr lang="en-US" sz="2600" i="1" dirty="0">
                <a:cs typeface="Arial" panose="020B0604020202020204" pitchFamily="34" charset="0"/>
              </a:rPr>
              <a:t> s </a:t>
            </a:r>
            <a:r>
              <a:rPr lang="en-US" sz="2600" i="1" dirty="0" err="1">
                <a:cs typeface="Arial" panose="020B0604020202020204" pitchFamily="34" charset="0"/>
              </a:rPr>
              <a:t>timom</a:t>
            </a:r>
            <a:r>
              <a:rPr lang="en-US" sz="2600" i="1" dirty="0">
                <a:cs typeface="Arial" panose="020B0604020202020204" pitchFamily="34" charset="0"/>
              </a:rPr>
              <a:t> </a:t>
            </a:r>
            <a:r>
              <a:rPr lang="en-US" sz="2600" i="1" dirty="0" err="1">
                <a:cs typeface="Arial" panose="020B0604020202020204" pitchFamily="34" charset="0"/>
              </a:rPr>
              <a:t>kako</a:t>
            </a:r>
            <a:r>
              <a:rPr lang="en-US" sz="2600" i="1" dirty="0">
                <a:cs typeface="Arial" panose="020B0604020202020204" pitchFamily="34" charset="0"/>
              </a:rPr>
              <a:t> </a:t>
            </a:r>
            <a:r>
              <a:rPr lang="en-US" sz="2600" i="1" dirty="0" err="1">
                <a:cs typeface="Arial" panose="020B0604020202020204" pitchFamily="34" charset="0"/>
              </a:rPr>
              <a:t>bismo</a:t>
            </a:r>
            <a:r>
              <a:rPr lang="en-US" sz="2600" i="1" dirty="0">
                <a:cs typeface="Arial" panose="020B0604020202020204" pitchFamily="34" charset="0"/>
              </a:rPr>
              <a:t> </a:t>
            </a:r>
            <a:r>
              <a:rPr lang="en-US" sz="2600" i="1" dirty="0" err="1">
                <a:cs typeface="Arial" panose="020B0604020202020204" pitchFamily="34" charset="0"/>
              </a:rPr>
              <a:t>unaprijedili</a:t>
            </a:r>
            <a:r>
              <a:rPr lang="en-US" sz="2600" i="1" dirty="0">
                <a:cs typeface="Arial" panose="020B0604020202020204" pitchFamily="34" charset="0"/>
              </a:rPr>
              <a:t> </a:t>
            </a:r>
            <a:r>
              <a:rPr lang="en-US" sz="2600" i="1" dirty="0" err="1">
                <a:cs typeface="Arial" panose="020B0604020202020204" pitchFamily="34" charset="0"/>
              </a:rPr>
              <a:t>proces</a:t>
            </a:r>
            <a:r>
              <a:rPr lang="en-US" sz="2600" i="1" dirty="0">
                <a:cs typeface="Arial" panose="020B0604020202020204" pitchFamily="34" charset="0"/>
              </a:rPr>
              <a:t>.“</a:t>
            </a:r>
          </a:p>
          <a:p>
            <a:pPr marL="0" indent="0">
              <a:buNone/>
            </a:pPr>
            <a:endParaRPr lang="en-US" sz="2600" dirty="0"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06520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CD9B36-8090-9F48-03F2-8E6550A5D1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F0122C-AF20-7212-8380-F33F16716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2940" y="365125"/>
            <a:ext cx="10640860" cy="1325563"/>
          </a:xfrm>
        </p:spPr>
        <p:txBody>
          <a:bodyPr>
            <a:normAutofit/>
          </a:bodyPr>
          <a:lstStyle/>
          <a:p>
            <a:r>
              <a:rPr lang="en-US" sz="3800" dirty="0" err="1"/>
              <a:t>Igre</a:t>
            </a:r>
            <a:r>
              <a:rPr lang="en-US" sz="3800" dirty="0"/>
              <a:t> </a:t>
            </a:r>
            <a:r>
              <a:rPr lang="en-US" sz="3800" dirty="0" err="1"/>
              <a:t>uloga</a:t>
            </a:r>
            <a:endParaRPr lang="en-US" sz="3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AAC131-1116-E898-A8FC-74060854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2940" y="2506662"/>
            <a:ext cx="10515600" cy="309247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cs typeface="Arial" panose="020B0604020202020204" pitchFamily="34" charset="0"/>
              </a:rPr>
              <a:t>Trener </a:t>
            </a:r>
            <a:r>
              <a:rPr lang="en-US" dirty="0" err="1">
                <a:cs typeface="Arial" panose="020B0604020202020204" pitchFamily="34" charset="0"/>
              </a:rPr>
              <a:t>će</a:t>
            </a:r>
            <a:r>
              <a:rPr lang="en-US" dirty="0">
                <a:cs typeface="Arial" panose="020B0604020202020204" pitchFamily="34" charset="0"/>
              </a:rPr>
              <a:t> od </a:t>
            </a:r>
            <a:r>
              <a:rPr lang="en-US" dirty="0" err="1">
                <a:cs typeface="Arial" panose="020B0604020202020204" pitchFamily="34" charset="0"/>
              </a:rPr>
              <a:t>sudionika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prikupiti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situacije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iz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projekata</a:t>
            </a:r>
            <a:r>
              <a:rPr lang="en-US" dirty="0">
                <a:cs typeface="Arial" panose="020B0604020202020204" pitchFamily="34" charset="0"/>
              </a:rPr>
              <a:t> u </a:t>
            </a:r>
            <a:r>
              <a:rPr lang="en-US" dirty="0" err="1">
                <a:cs typeface="Arial" panose="020B0604020202020204" pitchFamily="34" charset="0"/>
              </a:rPr>
              <a:t>kojima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su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ranije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sudjelovali</a:t>
            </a:r>
            <a:r>
              <a:rPr lang="en-US" dirty="0">
                <a:cs typeface="Arial" panose="020B0604020202020204" pitchFamily="34" charset="0"/>
              </a:rPr>
              <a:t>.</a:t>
            </a:r>
          </a:p>
          <a:p>
            <a:pPr marL="0" indent="0">
              <a:buNone/>
            </a:pPr>
            <a:r>
              <a:rPr lang="en-US" dirty="0">
                <a:cs typeface="Arial" panose="020B0604020202020204" pitchFamily="34" charset="0"/>
              </a:rPr>
              <a:t>U </a:t>
            </a:r>
            <a:r>
              <a:rPr lang="en-US" dirty="0" err="1">
                <a:cs typeface="Arial" panose="020B0604020202020204" pitchFamily="34" charset="0"/>
              </a:rPr>
              <a:t>parovima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će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međusobno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davati</a:t>
            </a:r>
            <a:r>
              <a:rPr lang="en-US" dirty="0">
                <a:cs typeface="Arial" panose="020B0604020202020204" pitchFamily="34" charset="0"/>
              </a:rPr>
              <a:t> i </a:t>
            </a:r>
            <a:r>
              <a:rPr lang="en-US" dirty="0" err="1">
                <a:cs typeface="Arial" panose="020B0604020202020204" pitchFamily="34" charset="0"/>
              </a:rPr>
              <a:t>primati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povratne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informacije</a:t>
            </a:r>
            <a:r>
              <a:rPr lang="en-US" dirty="0">
                <a:cs typeface="Arial" panose="020B0604020202020204" pitchFamily="34" charset="0"/>
              </a:rPr>
              <a:t> u </a:t>
            </a:r>
            <a:r>
              <a:rPr lang="en-US" dirty="0" err="1">
                <a:cs typeface="Arial" panose="020B0604020202020204" pitchFamily="34" charset="0"/>
              </a:rPr>
              <a:t>skladu</a:t>
            </a:r>
            <a:r>
              <a:rPr lang="en-US" dirty="0">
                <a:cs typeface="Arial" panose="020B0604020202020204" pitchFamily="34" charset="0"/>
              </a:rPr>
              <a:t> s </a:t>
            </a:r>
            <a:r>
              <a:rPr lang="en-US" dirty="0" err="1">
                <a:cs typeface="Arial" panose="020B0604020202020204" pitchFamily="34" charset="0"/>
              </a:rPr>
              <a:t>naučenim</a:t>
            </a:r>
            <a:r>
              <a:rPr lang="en-US" dirty="0">
                <a:cs typeface="Arial" panose="020B0604020202020204" pitchFamily="34" charset="0"/>
              </a:rPr>
              <a:t> </a:t>
            </a:r>
            <a:r>
              <a:rPr lang="en-US" dirty="0" err="1">
                <a:cs typeface="Arial" panose="020B0604020202020204" pitchFamily="34" charset="0"/>
              </a:rPr>
              <a:t>načelima</a:t>
            </a:r>
            <a:r>
              <a:rPr lang="en-US" dirty="0">
                <a:cs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1832490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EB6D6-3270-9D54-4D45-0698314876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800" dirty="0"/>
              <a:t>STRATEGIJE UPRAVLJANJA KONFLIKTIMA I.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772DD5-FEA1-1955-193E-D911F6AFA6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3023" y="1564079"/>
            <a:ext cx="10785954" cy="4351338"/>
          </a:xfrm>
        </p:spPr>
        <p:txBody>
          <a:bodyPr>
            <a:noAutofit/>
          </a:bodyPr>
          <a:lstStyle/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1. </a:t>
            </a:r>
            <a:r>
              <a:rPr lang="en-US" sz="2400" b="1" dirty="0" err="1">
                <a:solidFill>
                  <a:srgbClr val="0ADBBC"/>
                </a:solidFill>
              </a:rPr>
              <a:t>Povlačenje</a:t>
            </a:r>
            <a:r>
              <a:rPr lang="en-US" sz="2400" b="1" dirty="0">
                <a:solidFill>
                  <a:srgbClr val="0ADBBC"/>
                </a:solidFill>
              </a:rPr>
              <a:t>/</a:t>
            </a:r>
            <a:r>
              <a:rPr lang="en-US" sz="2400" b="1" dirty="0" err="1">
                <a:solidFill>
                  <a:srgbClr val="0ADBBC"/>
                </a:solidFill>
              </a:rPr>
              <a:t>Izbjegavanje</a:t>
            </a:r>
            <a:r>
              <a:rPr lang="en-US" sz="2400" dirty="0"/>
              <a:t> – </a:t>
            </a:r>
            <a:r>
              <a:rPr lang="en-US" sz="2400" dirty="0" err="1"/>
              <a:t>Podrazumijeva</a:t>
            </a:r>
            <a:r>
              <a:rPr lang="en-US" sz="2400" dirty="0"/>
              <a:t> </a:t>
            </a:r>
            <a:r>
              <a:rPr lang="en-US" sz="2400" dirty="0" err="1"/>
              <a:t>ignoriranje</a:t>
            </a:r>
            <a:r>
              <a:rPr lang="en-US" sz="2400" dirty="0"/>
              <a:t> </a:t>
            </a:r>
            <a:r>
              <a:rPr lang="en-US" sz="2400" dirty="0" err="1"/>
              <a:t>ili</a:t>
            </a:r>
            <a:r>
              <a:rPr lang="en-US" sz="2400" dirty="0"/>
              <a:t> </a:t>
            </a:r>
            <a:r>
              <a:rPr lang="en-US" sz="2400" dirty="0" err="1"/>
              <a:t>odgađanje</a:t>
            </a:r>
            <a:r>
              <a:rPr lang="en-US" sz="2400" dirty="0"/>
              <a:t> </a:t>
            </a:r>
            <a:r>
              <a:rPr lang="en-US" sz="2400" dirty="0" err="1"/>
              <a:t>konflikta</a:t>
            </a:r>
            <a:r>
              <a:rPr lang="en-US" sz="2400" dirty="0"/>
              <a:t> bez </a:t>
            </a:r>
            <a:r>
              <a:rPr lang="en-US" sz="2400" dirty="0" err="1"/>
              <a:t>izravnog</a:t>
            </a:r>
            <a:r>
              <a:rPr lang="en-US" sz="2400" dirty="0"/>
              <a:t> </a:t>
            </a:r>
            <a:r>
              <a:rPr lang="en-US" sz="2400" dirty="0" err="1"/>
              <a:t>suočavanja</a:t>
            </a:r>
            <a:r>
              <a:rPr lang="en-US" sz="2400" dirty="0"/>
              <a:t> s </a:t>
            </a:r>
            <a:r>
              <a:rPr lang="en-US" sz="2400" dirty="0" err="1"/>
              <a:t>njim</a:t>
            </a:r>
            <a:r>
              <a:rPr lang="en-US" sz="2400" dirty="0"/>
              <a:t>. </a:t>
            </a:r>
            <a:r>
              <a:rPr lang="en-US" sz="2400" dirty="0" err="1"/>
              <a:t>Korisno</a:t>
            </a:r>
            <a:r>
              <a:rPr lang="en-US" sz="2400" dirty="0"/>
              <a:t> za </a:t>
            </a:r>
            <a:r>
              <a:rPr lang="en-US" sz="2400" dirty="0" err="1"/>
              <a:t>manje</a:t>
            </a:r>
            <a:r>
              <a:rPr lang="en-US" sz="2400" dirty="0"/>
              <a:t> </a:t>
            </a:r>
            <a:r>
              <a:rPr lang="en-US" sz="2400" dirty="0" err="1"/>
              <a:t>probleme</a:t>
            </a:r>
            <a:r>
              <a:rPr lang="en-US" sz="2400" dirty="0"/>
              <a:t> </a:t>
            </a:r>
            <a:r>
              <a:rPr lang="en-US" sz="2400" dirty="0" err="1"/>
              <a:t>ili</a:t>
            </a:r>
            <a:r>
              <a:rPr lang="en-US" sz="2400" dirty="0"/>
              <a:t> </a:t>
            </a:r>
            <a:r>
              <a:rPr lang="en-US" sz="2400" dirty="0" err="1"/>
              <a:t>kada</a:t>
            </a:r>
            <a:r>
              <a:rPr lang="en-US" sz="2400" dirty="0"/>
              <a:t> je </a:t>
            </a:r>
            <a:r>
              <a:rPr lang="en-US" sz="2400" dirty="0" err="1"/>
              <a:t>potrebno</a:t>
            </a:r>
            <a:r>
              <a:rPr lang="en-US" sz="2400" dirty="0"/>
              <a:t> </a:t>
            </a:r>
            <a:r>
              <a:rPr lang="en-US" sz="2400" dirty="0" err="1"/>
              <a:t>više</a:t>
            </a:r>
            <a:r>
              <a:rPr lang="en-US" sz="2400" dirty="0"/>
              <a:t> </a:t>
            </a:r>
            <a:r>
              <a:rPr lang="en-US" sz="2400" dirty="0" err="1"/>
              <a:t>vremena</a:t>
            </a:r>
            <a:r>
              <a:rPr lang="en-US" sz="2400" dirty="0"/>
              <a:t> za </a:t>
            </a:r>
            <a:r>
              <a:rPr lang="en-US" sz="2400" dirty="0" err="1"/>
              <a:t>analizu</a:t>
            </a:r>
            <a:r>
              <a:rPr lang="en-US" sz="2400" dirty="0"/>
              <a:t>, </a:t>
            </a:r>
            <a:r>
              <a:rPr lang="en-US" sz="2400" dirty="0" err="1"/>
              <a:t>ali</a:t>
            </a:r>
            <a:r>
              <a:rPr lang="en-US" sz="2400" dirty="0"/>
              <a:t> </a:t>
            </a:r>
            <a:r>
              <a:rPr lang="en-US" sz="2400" dirty="0" err="1"/>
              <a:t>dugoročno</a:t>
            </a:r>
            <a:r>
              <a:rPr lang="en-US" sz="2400" dirty="0"/>
              <a:t> </a:t>
            </a:r>
            <a:r>
              <a:rPr lang="en-US" sz="2400" dirty="0" err="1"/>
              <a:t>može</a:t>
            </a:r>
            <a:r>
              <a:rPr lang="en-US" sz="2400" dirty="0"/>
              <a:t> </a:t>
            </a:r>
            <a:r>
              <a:rPr lang="en-US" sz="2400" dirty="0" err="1"/>
              <a:t>dovesti</a:t>
            </a:r>
            <a:r>
              <a:rPr lang="en-US" sz="2400" dirty="0"/>
              <a:t> do </a:t>
            </a:r>
            <a:r>
              <a:rPr lang="en-US" sz="2400" dirty="0" err="1"/>
              <a:t>eskalacije</a:t>
            </a:r>
            <a:r>
              <a:rPr lang="en-US" sz="2400" dirty="0"/>
              <a:t> </a:t>
            </a:r>
            <a:r>
              <a:rPr lang="en-US" sz="2400" dirty="0" err="1"/>
              <a:t>konflikta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2. </a:t>
            </a:r>
            <a:r>
              <a:rPr lang="en-US" sz="2400" b="1" dirty="0" err="1">
                <a:solidFill>
                  <a:srgbClr val="0ADBBC"/>
                </a:solidFill>
              </a:rPr>
              <a:t>Prilagođavanje</a:t>
            </a:r>
            <a:r>
              <a:rPr lang="en-US" sz="2400" b="1" dirty="0">
                <a:solidFill>
                  <a:srgbClr val="0ADBBC"/>
                </a:solidFill>
              </a:rPr>
              <a:t>/</a:t>
            </a:r>
            <a:r>
              <a:rPr lang="en-US" sz="2400" b="1" dirty="0" err="1">
                <a:solidFill>
                  <a:srgbClr val="0ADBBC"/>
                </a:solidFill>
              </a:rPr>
              <a:t>Popuštanje</a:t>
            </a:r>
            <a:r>
              <a:rPr lang="en-US" sz="2400" dirty="0"/>
              <a:t> – </a:t>
            </a:r>
            <a:r>
              <a:rPr lang="en-US" sz="2400" dirty="0" err="1"/>
              <a:t>Fokusira</a:t>
            </a:r>
            <a:r>
              <a:rPr lang="en-US" sz="2400" dirty="0"/>
              <a:t> se </a:t>
            </a:r>
            <a:r>
              <a:rPr lang="en-US" sz="2400" dirty="0" err="1"/>
              <a:t>na</a:t>
            </a:r>
            <a:r>
              <a:rPr lang="en-US" sz="2400" dirty="0"/>
              <a:t> </a:t>
            </a:r>
            <a:r>
              <a:rPr lang="en-US" sz="2400" dirty="0" err="1"/>
              <a:t>održavanje</a:t>
            </a:r>
            <a:r>
              <a:rPr lang="en-US" sz="2400" dirty="0"/>
              <a:t> </a:t>
            </a:r>
            <a:r>
              <a:rPr lang="en-US" sz="2400" dirty="0" err="1"/>
              <a:t>harmonije</a:t>
            </a:r>
            <a:r>
              <a:rPr lang="en-US" sz="2400" dirty="0"/>
              <a:t> </a:t>
            </a:r>
            <a:r>
              <a:rPr lang="en-US" sz="2400" dirty="0" err="1"/>
              <a:t>popuštanjem</a:t>
            </a:r>
            <a:r>
              <a:rPr lang="en-US" sz="2400" dirty="0"/>
              <a:t> </a:t>
            </a:r>
            <a:r>
              <a:rPr lang="en-US" sz="2400" dirty="0" err="1"/>
              <a:t>drugoj</a:t>
            </a:r>
            <a:r>
              <a:rPr lang="en-US" sz="2400" dirty="0"/>
              <a:t> </a:t>
            </a:r>
            <a:r>
              <a:rPr lang="en-US" sz="2400" dirty="0" err="1"/>
              <a:t>strani</a:t>
            </a:r>
            <a:r>
              <a:rPr lang="en-US" sz="2400" dirty="0"/>
              <a:t>. </a:t>
            </a:r>
            <a:r>
              <a:rPr lang="en-US" sz="2400" dirty="0" err="1"/>
              <a:t>Učinkovito</a:t>
            </a:r>
            <a:r>
              <a:rPr lang="en-US" sz="2400" dirty="0"/>
              <a:t> za </a:t>
            </a:r>
            <a:r>
              <a:rPr lang="en-US" sz="2400" dirty="0" err="1"/>
              <a:t>dugoročne</a:t>
            </a:r>
            <a:r>
              <a:rPr lang="en-US" sz="2400" dirty="0"/>
              <a:t> </a:t>
            </a:r>
            <a:r>
              <a:rPr lang="en-US" sz="2400" dirty="0" err="1"/>
              <a:t>odnose</a:t>
            </a:r>
            <a:r>
              <a:rPr lang="en-US" sz="2400" dirty="0"/>
              <a:t>, </a:t>
            </a:r>
            <a:r>
              <a:rPr lang="en-US" sz="2400" dirty="0" err="1"/>
              <a:t>ali</a:t>
            </a:r>
            <a:r>
              <a:rPr lang="en-US" sz="2400" dirty="0"/>
              <a:t> </a:t>
            </a:r>
            <a:r>
              <a:rPr lang="en-US" sz="2400" dirty="0" err="1"/>
              <a:t>može</a:t>
            </a:r>
            <a:r>
              <a:rPr lang="en-US" sz="2400" dirty="0"/>
              <a:t> </a:t>
            </a:r>
            <a:r>
              <a:rPr lang="en-US" sz="2400" dirty="0" err="1"/>
              <a:t>uzrokovati</a:t>
            </a:r>
            <a:r>
              <a:rPr lang="en-US" sz="2400" dirty="0"/>
              <a:t> </a:t>
            </a:r>
            <a:r>
              <a:rPr lang="en-US" sz="2400" dirty="0" err="1"/>
              <a:t>frustraciju</a:t>
            </a:r>
            <a:r>
              <a:rPr lang="en-US" sz="2400" dirty="0"/>
              <a:t> </a:t>
            </a:r>
            <a:r>
              <a:rPr lang="en-US" sz="2400" dirty="0" err="1"/>
              <a:t>ako</a:t>
            </a:r>
            <a:r>
              <a:rPr lang="en-US" sz="2400" dirty="0"/>
              <a:t> se </a:t>
            </a:r>
            <a:r>
              <a:rPr lang="en-US" sz="2400" dirty="0" err="1"/>
              <a:t>prečesto</a:t>
            </a:r>
            <a:r>
              <a:rPr lang="en-US" sz="2400" dirty="0"/>
              <a:t> </a:t>
            </a:r>
            <a:r>
              <a:rPr lang="en-US" sz="2400" dirty="0" err="1"/>
              <a:t>koristi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3. </a:t>
            </a:r>
            <a:r>
              <a:rPr lang="en-US" sz="2400" b="1" dirty="0" err="1">
                <a:solidFill>
                  <a:srgbClr val="0ADBBC"/>
                </a:solidFill>
              </a:rPr>
              <a:t>Kompromis</a:t>
            </a:r>
            <a:r>
              <a:rPr lang="en-US" sz="2400" b="1" dirty="0">
                <a:solidFill>
                  <a:srgbClr val="0ADBBC"/>
                </a:solidFill>
              </a:rPr>
              <a:t>/</a:t>
            </a:r>
            <a:r>
              <a:rPr lang="en-US" sz="2400" b="1" dirty="0" err="1">
                <a:solidFill>
                  <a:srgbClr val="0ADBBC"/>
                </a:solidFill>
              </a:rPr>
              <a:t>Pomirenje</a:t>
            </a:r>
            <a:r>
              <a:rPr lang="en-US" sz="2400" dirty="0"/>
              <a:t> – </a:t>
            </a:r>
            <a:r>
              <a:rPr lang="en-US" sz="2400" dirty="0" err="1"/>
              <a:t>Obje</a:t>
            </a:r>
            <a:r>
              <a:rPr lang="en-US" sz="2400" dirty="0"/>
              <a:t> </a:t>
            </a:r>
            <a:r>
              <a:rPr lang="en-US" sz="2400" dirty="0" err="1"/>
              <a:t>strane</a:t>
            </a:r>
            <a:r>
              <a:rPr lang="en-US" sz="2400" dirty="0"/>
              <a:t> </a:t>
            </a:r>
            <a:r>
              <a:rPr lang="en-US" sz="2400" dirty="0" err="1"/>
              <a:t>odustaju</a:t>
            </a:r>
            <a:r>
              <a:rPr lang="en-US" sz="2400" dirty="0"/>
              <a:t> od </a:t>
            </a:r>
            <a:r>
              <a:rPr lang="en-US" sz="2400" dirty="0" err="1"/>
              <a:t>dijela</a:t>
            </a:r>
            <a:r>
              <a:rPr lang="en-US" sz="2400" dirty="0"/>
              <a:t> </a:t>
            </a:r>
            <a:r>
              <a:rPr lang="en-US" sz="2400" dirty="0" err="1"/>
              <a:t>svojih</a:t>
            </a:r>
            <a:r>
              <a:rPr lang="en-US" sz="2400" dirty="0"/>
              <a:t> </a:t>
            </a:r>
            <a:r>
              <a:rPr lang="en-US" sz="2400" dirty="0" err="1"/>
              <a:t>zahtjeva</a:t>
            </a:r>
            <a:r>
              <a:rPr lang="en-US" sz="2400" dirty="0"/>
              <a:t> </a:t>
            </a:r>
            <a:r>
              <a:rPr lang="en-US" sz="2400" dirty="0" err="1"/>
              <a:t>kako</a:t>
            </a:r>
            <a:r>
              <a:rPr lang="en-US" sz="2400" dirty="0"/>
              <a:t> bi se </a:t>
            </a:r>
            <a:r>
              <a:rPr lang="en-US" sz="2400" dirty="0" err="1"/>
              <a:t>postiglo</a:t>
            </a:r>
            <a:r>
              <a:rPr lang="en-US" sz="2400" dirty="0"/>
              <a:t> </a:t>
            </a:r>
            <a:r>
              <a:rPr lang="en-US" sz="2400" dirty="0" err="1"/>
              <a:t>prihvatljivo</a:t>
            </a:r>
            <a:r>
              <a:rPr lang="en-US" sz="2400" dirty="0"/>
              <a:t> </a:t>
            </a:r>
            <a:r>
              <a:rPr lang="en-US" sz="2400" dirty="0" err="1"/>
              <a:t>rješenje</a:t>
            </a:r>
            <a:r>
              <a:rPr lang="en-US" sz="2400" dirty="0"/>
              <a:t>. To je </a:t>
            </a:r>
            <a:r>
              <a:rPr lang="en-US" sz="2400" dirty="0" err="1"/>
              <a:t>brz</a:t>
            </a:r>
            <a:r>
              <a:rPr lang="en-US" sz="2400" dirty="0"/>
              <a:t> i </a:t>
            </a:r>
            <a:r>
              <a:rPr lang="en-US" sz="2400" dirty="0" err="1"/>
              <a:t>uravnotežen</a:t>
            </a:r>
            <a:r>
              <a:rPr lang="en-US" sz="2400" dirty="0"/>
              <a:t> </a:t>
            </a:r>
            <a:r>
              <a:rPr lang="en-US" sz="2400" dirty="0" err="1"/>
              <a:t>pristup</a:t>
            </a:r>
            <a:r>
              <a:rPr lang="en-US" sz="2400" dirty="0"/>
              <a:t>, </a:t>
            </a:r>
            <a:r>
              <a:rPr lang="en-US" sz="2400" dirty="0" err="1"/>
              <a:t>ali</a:t>
            </a:r>
            <a:r>
              <a:rPr lang="en-US" sz="2400" dirty="0"/>
              <a:t> ne mora </a:t>
            </a:r>
            <a:r>
              <a:rPr lang="en-US" sz="2400" dirty="0" err="1"/>
              <a:t>uvijek</a:t>
            </a:r>
            <a:r>
              <a:rPr lang="en-US" sz="2400" dirty="0"/>
              <a:t> </a:t>
            </a:r>
            <a:r>
              <a:rPr lang="en-US" sz="2400" dirty="0" err="1"/>
              <a:t>donijeti</a:t>
            </a:r>
            <a:r>
              <a:rPr lang="en-US" sz="2400" dirty="0"/>
              <a:t> </a:t>
            </a:r>
            <a:r>
              <a:rPr lang="en-US" sz="2400" dirty="0" err="1"/>
              <a:t>najbolje</a:t>
            </a:r>
            <a:r>
              <a:rPr lang="en-US" sz="2400" dirty="0"/>
              <a:t> </a:t>
            </a:r>
            <a:r>
              <a:rPr lang="en-US" sz="2400" dirty="0" err="1"/>
              <a:t>rješenje</a:t>
            </a:r>
            <a:r>
              <a:rPr lang="en-US" sz="2400" dirty="0"/>
              <a:t>.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3231761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6757C6-BD4C-481F-C3B3-9ACACC66CA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4851CA-F1AF-770C-90D3-EF821634C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800" dirty="0"/>
              <a:t>STRATEGIJE UPRAVLJANJA KONFLIKTIMA II.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1A9778-3BBE-5B54-5FD3-158108B54B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endParaRPr lang="en-US" sz="2600" dirty="0"/>
          </a:p>
          <a:p>
            <a:pPr marL="0" indent="0">
              <a:buNone/>
            </a:pPr>
            <a:r>
              <a:rPr lang="en-US" sz="2600" dirty="0"/>
              <a:t>4. </a:t>
            </a:r>
            <a:r>
              <a:rPr lang="en-US" sz="2600" b="1" dirty="0" err="1">
                <a:solidFill>
                  <a:srgbClr val="0ADBBC"/>
                </a:solidFill>
              </a:rPr>
              <a:t>Nametanje</a:t>
            </a:r>
            <a:r>
              <a:rPr lang="en-US" sz="2600" b="1" dirty="0">
                <a:solidFill>
                  <a:srgbClr val="0ADBBC"/>
                </a:solidFill>
              </a:rPr>
              <a:t>/</a:t>
            </a:r>
            <a:r>
              <a:rPr lang="en-US" sz="2600" b="1" dirty="0" err="1">
                <a:solidFill>
                  <a:srgbClr val="0ADBBC"/>
                </a:solidFill>
              </a:rPr>
              <a:t>Direktno</a:t>
            </a:r>
            <a:r>
              <a:rPr lang="en-US" sz="2600" b="1" dirty="0">
                <a:solidFill>
                  <a:srgbClr val="0ADBBC"/>
                </a:solidFill>
              </a:rPr>
              <a:t> </a:t>
            </a:r>
            <a:r>
              <a:rPr lang="en-US" sz="2600" b="1" dirty="0" err="1">
                <a:solidFill>
                  <a:srgbClr val="0ADBBC"/>
                </a:solidFill>
              </a:rPr>
              <a:t>rješavanje</a:t>
            </a:r>
            <a:r>
              <a:rPr lang="en-US" sz="2600" dirty="0"/>
              <a:t> – </a:t>
            </a:r>
            <a:r>
              <a:rPr lang="en-US" sz="2600" dirty="0" err="1"/>
              <a:t>Oslanja</a:t>
            </a:r>
            <a:r>
              <a:rPr lang="en-US" sz="2600" dirty="0"/>
              <a:t> se </a:t>
            </a:r>
            <a:r>
              <a:rPr lang="en-US" sz="2600" dirty="0" err="1"/>
              <a:t>na</a:t>
            </a:r>
            <a:r>
              <a:rPr lang="en-US" sz="2600" dirty="0"/>
              <a:t> </a:t>
            </a:r>
            <a:r>
              <a:rPr lang="en-US" sz="2600" dirty="0" err="1"/>
              <a:t>autoritet</a:t>
            </a:r>
            <a:r>
              <a:rPr lang="en-US" sz="2600" dirty="0"/>
              <a:t> </a:t>
            </a:r>
            <a:r>
              <a:rPr lang="en-US" sz="2600" dirty="0" err="1"/>
              <a:t>ili</a:t>
            </a:r>
            <a:r>
              <a:rPr lang="en-US" sz="2600" dirty="0"/>
              <a:t> </a:t>
            </a:r>
            <a:r>
              <a:rPr lang="en-US" sz="2600" dirty="0" err="1"/>
              <a:t>moć</a:t>
            </a:r>
            <a:r>
              <a:rPr lang="en-US" sz="2600" dirty="0"/>
              <a:t> </a:t>
            </a:r>
            <a:r>
              <a:rPr lang="en-US" sz="2600" dirty="0" err="1"/>
              <a:t>kako</a:t>
            </a:r>
            <a:r>
              <a:rPr lang="en-US" sz="2600" dirty="0"/>
              <a:t> bi se </a:t>
            </a:r>
            <a:r>
              <a:rPr lang="en-US" sz="2600" dirty="0" err="1"/>
              <a:t>konflikt</a:t>
            </a:r>
            <a:r>
              <a:rPr lang="en-US" sz="2600" dirty="0"/>
              <a:t> </a:t>
            </a:r>
            <a:r>
              <a:rPr lang="en-US" sz="2600" dirty="0" err="1"/>
              <a:t>riješio</a:t>
            </a:r>
            <a:r>
              <a:rPr lang="en-US" sz="2600" dirty="0"/>
              <a:t>. </a:t>
            </a:r>
            <a:r>
              <a:rPr lang="en-US" sz="2600" dirty="0" err="1"/>
              <a:t>Djelotvorno</a:t>
            </a:r>
            <a:r>
              <a:rPr lang="en-US" sz="2600" dirty="0"/>
              <a:t> je u </a:t>
            </a:r>
            <a:r>
              <a:rPr lang="en-US" sz="2600" dirty="0" err="1"/>
              <a:t>kritičnim</a:t>
            </a:r>
            <a:r>
              <a:rPr lang="en-US" sz="2600" dirty="0"/>
              <a:t> </a:t>
            </a:r>
            <a:r>
              <a:rPr lang="en-US" sz="2600" dirty="0" err="1"/>
              <a:t>situacijama</a:t>
            </a:r>
            <a:r>
              <a:rPr lang="en-US" sz="2600" dirty="0"/>
              <a:t>, </a:t>
            </a:r>
            <a:r>
              <a:rPr lang="en-US" sz="2600" dirty="0" err="1"/>
              <a:t>ali</a:t>
            </a:r>
            <a:r>
              <a:rPr lang="en-US" sz="2600" dirty="0"/>
              <a:t> </a:t>
            </a:r>
            <a:r>
              <a:rPr lang="en-US" sz="2600" dirty="0" err="1"/>
              <a:t>može</a:t>
            </a:r>
            <a:r>
              <a:rPr lang="en-US" sz="2600" dirty="0"/>
              <a:t> </a:t>
            </a:r>
            <a:r>
              <a:rPr lang="en-US" sz="2600" dirty="0" err="1"/>
              <a:t>izazvati</a:t>
            </a:r>
            <a:r>
              <a:rPr lang="en-US" sz="2600" dirty="0"/>
              <a:t> </a:t>
            </a:r>
            <a:r>
              <a:rPr lang="en-US" sz="2600" dirty="0" err="1"/>
              <a:t>nezadovoljstvo</a:t>
            </a:r>
            <a:r>
              <a:rPr lang="en-US" sz="2600" dirty="0"/>
              <a:t> i </a:t>
            </a:r>
            <a:r>
              <a:rPr lang="en-US" sz="2600" dirty="0" err="1"/>
              <a:t>otpor</a:t>
            </a:r>
            <a:r>
              <a:rPr lang="en-US" sz="2600" dirty="0"/>
              <a:t>.</a:t>
            </a:r>
          </a:p>
          <a:p>
            <a:pPr marL="0" indent="0">
              <a:buNone/>
            </a:pPr>
            <a:endParaRPr lang="en-US" sz="2600" dirty="0"/>
          </a:p>
          <a:p>
            <a:pPr marL="0" indent="0">
              <a:buNone/>
            </a:pPr>
            <a:r>
              <a:rPr lang="en-US" sz="2600" dirty="0"/>
              <a:t>5. </a:t>
            </a:r>
            <a:r>
              <a:rPr lang="en-US" sz="2600" b="1" dirty="0" err="1">
                <a:solidFill>
                  <a:srgbClr val="0ADBBC"/>
                </a:solidFill>
              </a:rPr>
              <a:t>Suradnja</a:t>
            </a:r>
            <a:r>
              <a:rPr lang="en-US" sz="2600" b="1" dirty="0">
                <a:solidFill>
                  <a:srgbClr val="0ADBBC"/>
                </a:solidFill>
              </a:rPr>
              <a:t>/</a:t>
            </a:r>
            <a:r>
              <a:rPr lang="en-US" sz="2600" b="1" dirty="0" err="1">
                <a:solidFill>
                  <a:srgbClr val="0ADBBC"/>
                </a:solidFill>
              </a:rPr>
              <a:t>Rješavanje</a:t>
            </a:r>
            <a:r>
              <a:rPr lang="en-US" sz="2600" b="1" dirty="0">
                <a:solidFill>
                  <a:srgbClr val="0ADBBC"/>
                </a:solidFill>
              </a:rPr>
              <a:t> </a:t>
            </a:r>
            <a:r>
              <a:rPr lang="en-US" sz="2600" b="1" dirty="0" err="1">
                <a:solidFill>
                  <a:srgbClr val="0ADBBC"/>
                </a:solidFill>
              </a:rPr>
              <a:t>problema</a:t>
            </a:r>
            <a:r>
              <a:rPr lang="en-US" sz="2600" dirty="0"/>
              <a:t> – </a:t>
            </a:r>
            <a:r>
              <a:rPr lang="en-US" sz="2600" dirty="0" err="1"/>
              <a:t>Podrazumijeva</a:t>
            </a:r>
            <a:r>
              <a:rPr lang="en-US" sz="2600" dirty="0"/>
              <a:t> </a:t>
            </a:r>
            <a:r>
              <a:rPr lang="en-US" sz="2600" dirty="0" err="1"/>
              <a:t>pronalaženje</a:t>
            </a:r>
            <a:r>
              <a:rPr lang="en-US" sz="2600" dirty="0"/>
              <a:t> </a:t>
            </a:r>
            <a:r>
              <a:rPr lang="en-US" sz="2600" dirty="0" err="1"/>
              <a:t>rješenja</a:t>
            </a:r>
            <a:r>
              <a:rPr lang="en-US" sz="2600" dirty="0"/>
              <a:t> </a:t>
            </a:r>
            <a:r>
              <a:rPr lang="en-US" sz="2600" dirty="0" err="1"/>
              <a:t>koje</a:t>
            </a:r>
            <a:r>
              <a:rPr lang="en-US" sz="2600" dirty="0"/>
              <a:t> </a:t>
            </a:r>
            <a:r>
              <a:rPr lang="en-US" sz="2600" dirty="0" err="1"/>
              <a:t>zadovoljava</a:t>
            </a:r>
            <a:r>
              <a:rPr lang="en-US" sz="2600" dirty="0"/>
              <a:t> </a:t>
            </a:r>
            <a:r>
              <a:rPr lang="en-US" sz="2600" dirty="0" err="1"/>
              <a:t>sve</a:t>
            </a:r>
            <a:r>
              <a:rPr lang="en-US" sz="2600" dirty="0"/>
              <a:t> </a:t>
            </a:r>
            <a:r>
              <a:rPr lang="en-US" sz="2600" dirty="0" err="1"/>
              <a:t>strane</a:t>
            </a:r>
            <a:r>
              <a:rPr lang="en-US" sz="2600" dirty="0"/>
              <a:t>. To je </a:t>
            </a:r>
            <a:r>
              <a:rPr lang="en-US" sz="2600" dirty="0" err="1"/>
              <a:t>najučinkovitija</a:t>
            </a:r>
            <a:r>
              <a:rPr lang="en-US" sz="2600" dirty="0"/>
              <a:t> </a:t>
            </a:r>
            <a:r>
              <a:rPr lang="en-US" sz="2600" dirty="0" err="1"/>
              <a:t>dugoročna</a:t>
            </a:r>
            <a:r>
              <a:rPr lang="en-US" sz="2600" dirty="0"/>
              <a:t> </a:t>
            </a:r>
            <a:r>
              <a:rPr lang="en-US" sz="2600" dirty="0" err="1"/>
              <a:t>strategija</a:t>
            </a:r>
            <a:r>
              <a:rPr lang="en-US" sz="2600" dirty="0"/>
              <a:t>, </a:t>
            </a:r>
            <a:r>
              <a:rPr lang="en-US" sz="2600" dirty="0" err="1"/>
              <a:t>ali</a:t>
            </a:r>
            <a:r>
              <a:rPr lang="en-US" sz="2600" dirty="0"/>
              <a:t> </a:t>
            </a:r>
            <a:r>
              <a:rPr lang="en-US" sz="2600" dirty="0" err="1"/>
              <a:t>zahtijeva</a:t>
            </a:r>
            <a:r>
              <a:rPr lang="en-US" sz="2600" dirty="0"/>
              <a:t> </a:t>
            </a:r>
            <a:r>
              <a:rPr lang="en-US" sz="2600" dirty="0" err="1"/>
              <a:t>vrijeme</a:t>
            </a:r>
            <a:r>
              <a:rPr lang="en-US" sz="2600" dirty="0"/>
              <a:t> i </a:t>
            </a:r>
            <a:r>
              <a:rPr lang="en-US" sz="2600" dirty="0" err="1"/>
              <a:t>trud</a:t>
            </a:r>
            <a:r>
              <a:rPr lang="en-US" sz="2600" dirty="0"/>
              <a:t> za </a:t>
            </a:r>
            <a:r>
              <a:rPr lang="en-US" sz="2600" dirty="0" err="1"/>
              <a:t>komunikaciju</a:t>
            </a:r>
            <a:r>
              <a:rPr lang="en-US" sz="2600" dirty="0"/>
              <a:t> i </a:t>
            </a:r>
            <a:r>
              <a:rPr lang="en-US" sz="2600" dirty="0" err="1"/>
              <a:t>pregovaranje</a:t>
            </a:r>
            <a:r>
              <a:rPr lang="en-US" sz="26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073861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33EC0F-CD10-D540-B17B-2B6A566DF6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5464" y="280904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sz="4200" dirty="0"/>
              <a:t>Utjecaj </a:t>
            </a:r>
            <a:r>
              <a:rPr lang="en-US" sz="4200" dirty="0" err="1"/>
              <a:t>rješavanja</a:t>
            </a:r>
            <a:r>
              <a:rPr lang="en-US" sz="4200" dirty="0"/>
              <a:t> </a:t>
            </a:r>
            <a:r>
              <a:rPr lang="en-US" sz="4200" dirty="0" err="1"/>
              <a:t>konflikata</a:t>
            </a:r>
            <a:r>
              <a:rPr lang="en-US" sz="4200" dirty="0"/>
              <a:t> </a:t>
            </a:r>
            <a:r>
              <a:rPr lang="en-US" sz="4200" dirty="0" err="1"/>
              <a:t>na</a:t>
            </a:r>
            <a:r>
              <a:rPr lang="en-US" sz="4200" dirty="0"/>
              <a:t> </a:t>
            </a:r>
            <a:r>
              <a:rPr lang="en-US" sz="4200" dirty="0" err="1"/>
              <a:t>dinamiku</a:t>
            </a:r>
            <a:r>
              <a:rPr lang="en-US" sz="4200" dirty="0"/>
              <a:t> </a:t>
            </a:r>
            <a:r>
              <a:rPr lang="en-US" sz="4200" dirty="0" err="1"/>
              <a:t>tima</a:t>
            </a:r>
            <a:r>
              <a:rPr lang="en-US" sz="4200" dirty="0"/>
              <a:t> i </a:t>
            </a:r>
            <a:r>
              <a:rPr lang="en-US" sz="4200" dirty="0" err="1"/>
              <a:t>uspjeh</a:t>
            </a:r>
            <a:r>
              <a:rPr lang="en-US" sz="4200" dirty="0"/>
              <a:t> </a:t>
            </a:r>
            <a:r>
              <a:rPr lang="en-US" sz="4200" dirty="0" err="1"/>
              <a:t>projekta</a:t>
            </a:r>
            <a:r>
              <a:rPr lang="en-US" sz="4200" dirty="0"/>
              <a:t> I.  </a:t>
            </a:r>
            <a:br>
              <a:rPr lang="en-US" b="1" dirty="0">
                <a:latin typeface="Bahnschrift SemiLight" panose="020B0502040204020203" pitchFamily="34" charset="0"/>
              </a:rPr>
            </a:br>
            <a:endParaRPr lang="en-US" b="1" dirty="0">
              <a:latin typeface="Bahnschrift SemiLight" panose="020B0502040204020203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00BD20-0808-BD0A-3EDA-2BC2B46258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464" y="1831389"/>
            <a:ext cx="10628335" cy="466148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600" dirty="0" err="1"/>
              <a:t>Učinkovito</a:t>
            </a:r>
            <a:r>
              <a:rPr lang="en-US" sz="2600" dirty="0"/>
              <a:t> </a:t>
            </a:r>
            <a:r>
              <a:rPr lang="en-US" sz="2600" dirty="0" err="1"/>
              <a:t>rješavanje</a:t>
            </a:r>
            <a:r>
              <a:rPr lang="en-US" sz="2600" dirty="0"/>
              <a:t> </a:t>
            </a:r>
            <a:r>
              <a:rPr lang="en-US" sz="2600" dirty="0" err="1"/>
              <a:t>konflikata</a:t>
            </a:r>
            <a:r>
              <a:rPr lang="en-US" sz="2600" dirty="0"/>
              <a:t> </a:t>
            </a:r>
            <a:r>
              <a:rPr lang="en-US" sz="2600" dirty="0" err="1"/>
              <a:t>ima</a:t>
            </a:r>
            <a:r>
              <a:rPr lang="en-US" sz="2600" dirty="0"/>
              <a:t> </a:t>
            </a:r>
            <a:r>
              <a:rPr lang="en-US" sz="2600" dirty="0" err="1"/>
              <a:t>ključnu</a:t>
            </a:r>
            <a:r>
              <a:rPr lang="en-US" sz="2600" dirty="0"/>
              <a:t> </a:t>
            </a:r>
            <a:r>
              <a:rPr lang="en-US" sz="2600" dirty="0" err="1"/>
              <a:t>ulogu</a:t>
            </a:r>
            <a:r>
              <a:rPr lang="en-US" sz="2600" dirty="0"/>
              <a:t> u </a:t>
            </a:r>
            <a:r>
              <a:rPr lang="en-US" sz="2600" dirty="0" err="1"/>
              <a:t>oblikovanju</a:t>
            </a:r>
            <a:r>
              <a:rPr lang="en-US" sz="2600" dirty="0"/>
              <a:t> </a:t>
            </a:r>
            <a:r>
              <a:rPr lang="en-US" sz="2600" dirty="0" err="1"/>
              <a:t>dinamike</a:t>
            </a:r>
            <a:r>
              <a:rPr lang="en-US" sz="2600" dirty="0"/>
              <a:t> </a:t>
            </a:r>
            <a:r>
              <a:rPr lang="en-US" sz="2600" dirty="0" err="1"/>
              <a:t>tima</a:t>
            </a:r>
            <a:r>
              <a:rPr lang="en-US" sz="2600" dirty="0"/>
              <a:t> i </a:t>
            </a:r>
            <a:r>
              <a:rPr lang="en-US" sz="2600" dirty="0" err="1"/>
              <a:t>određivanju</a:t>
            </a:r>
            <a:r>
              <a:rPr lang="en-US" sz="2600" dirty="0"/>
              <a:t> </a:t>
            </a:r>
            <a:r>
              <a:rPr lang="en-US" sz="2600" dirty="0" err="1"/>
              <a:t>uspjeha</a:t>
            </a:r>
            <a:r>
              <a:rPr lang="en-US" sz="2600" dirty="0"/>
              <a:t> </a:t>
            </a:r>
            <a:r>
              <a:rPr lang="en-US" sz="2600" dirty="0" err="1"/>
              <a:t>projekta</a:t>
            </a:r>
            <a:r>
              <a:rPr lang="en-US" sz="2600" dirty="0"/>
              <a:t>. Evo </a:t>
            </a:r>
            <a:r>
              <a:rPr lang="en-US" sz="2600" dirty="0" err="1"/>
              <a:t>kako</a:t>
            </a:r>
            <a:r>
              <a:rPr lang="en-US" sz="2600" dirty="0"/>
              <a:t>:</a:t>
            </a:r>
          </a:p>
          <a:p>
            <a:pPr marL="0" indent="0">
              <a:buNone/>
            </a:pPr>
            <a:endParaRPr lang="en-US" sz="2600" dirty="0"/>
          </a:p>
          <a:p>
            <a:pPr marL="0" indent="0">
              <a:buNone/>
            </a:pPr>
            <a:r>
              <a:rPr lang="en-US" sz="2600" dirty="0"/>
              <a:t>1. </a:t>
            </a:r>
            <a:r>
              <a:rPr lang="en-US" sz="2600" b="1" dirty="0" err="1">
                <a:solidFill>
                  <a:srgbClr val="0ADBBC"/>
                </a:solidFill>
              </a:rPr>
              <a:t>Poboljšana</a:t>
            </a:r>
            <a:r>
              <a:rPr lang="en-US" sz="2600" b="1" dirty="0">
                <a:solidFill>
                  <a:srgbClr val="0ADBBC"/>
                </a:solidFill>
              </a:rPr>
              <a:t> </a:t>
            </a:r>
            <a:r>
              <a:rPr lang="en-US" sz="2600" b="1" dirty="0" err="1">
                <a:solidFill>
                  <a:srgbClr val="0ADBBC"/>
                </a:solidFill>
              </a:rPr>
              <a:t>suradnja</a:t>
            </a:r>
            <a:r>
              <a:rPr lang="en-US" sz="2600" b="1" dirty="0">
                <a:solidFill>
                  <a:srgbClr val="0ADBBC"/>
                </a:solidFill>
              </a:rPr>
              <a:t> u </a:t>
            </a:r>
            <a:r>
              <a:rPr lang="en-US" sz="2600" b="1" dirty="0" err="1">
                <a:solidFill>
                  <a:srgbClr val="0ADBBC"/>
                </a:solidFill>
              </a:rPr>
              <a:t>timu</a:t>
            </a:r>
            <a:r>
              <a:rPr lang="en-US" sz="2600" dirty="0"/>
              <a:t> – </a:t>
            </a:r>
            <a:r>
              <a:rPr lang="en-US" sz="2600" dirty="0" err="1"/>
              <a:t>Konstruktivno</a:t>
            </a:r>
            <a:r>
              <a:rPr lang="en-US" sz="2600" dirty="0"/>
              <a:t> </a:t>
            </a:r>
            <a:r>
              <a:rPr lang="en-US" sz="2600" dirty="0" err="1"/>
              <a:t>rješavanje</a:t>
            </a:r>
            <a:r>
              <a:rPr lang="en-US" sz="2600" dirty="0"/>
              <a:t> </a:t>
            </a:r>
            <a:r>
              <a:rPr lang="en-US" sz="2600" dirty="0" err="1"/>
              <a:t>konflikata</a:t>
            </a:r>
            <a:r>
              <a:rPr lang="en-US" sz="2600" dirty="0"/>
              <a:t> </a:t>
            </a:r>
            <a:r>
              <a:rPr lang="en-US" sz="2600" dirty="0" err="1"/>
              <a:t>potiče</a:t>
            </a:r>
            <a:r>
              <a:rPr lang="en-US" sz="2600" dirty="0"/>
              <a:t> </a:t>
            </a:r>
            <a:r>
              <a:rPr lang="en-US" sz="2600" dirty="0" err="1"/>
              <a:t>kulturu</a:t>
            </a:r>
            <a:r>
              <a:rPr lang="en-US" sz="2600" dirty="0"/>
              <a:t> </a:t>
            </a:r>
            <a:r>
              <a:rPr lang="en-US" sz="2600" dirty="0" err="1"/>
              <a:t>otvorene</a:t>
            </a:r>
            <a:r>
              <a:rPr lang="en-US" sz="2600" dirty="0"/>
              <a:t> </a:t>
            </a:r>
            <a:r>
              <a:rPr lang="en-US" sz="2600" dirty="0" err="1"/>
              <a:t>komunikacije</a:t>
            </a:r>
            <a:r>
              <a:rPr lang="en-US" sz="2600" dirty="0"/>
              <a:t> i </a:t>
            </a:r>
            <a:r>
              <a:rPr lang="en-US" sz="2600" dirty="0" err="1"/>
              <a:t>povjerenja</a:t>
            </a:r>
            <a:r>
              <a:rPr lang="en-US" sz="2600" dirty="0"/>
              <a:t>, </a:t>
            </a:r>
            <a:r>
              <a:rPr lang="en-US" sz="2600" dirty="0" err="1"/>
              <a:t>što</a:t>
            </a:r>
            <a:r>
              <a:rPr lang="en-US" sz="2600" dirty="0"/>
              <a:t> </a:t>
            </a:r>
            <a:r>
              <a:rPr lang="en-US" sz="2600" dirty="0" err="1"/>
              <a:t>omogućuje</a:t>
            </a:r>
            <a:r>
              <a:rPr lang="en-US" sz="2600" dirty="0"/>
              <a:t> </a:t>
            </a:r>
            <a:r>
              <a:rPr lang="en-US" sz="2600" dirty="0" err="1"/>
              <a:t>članovima</a:t>
            </a:r>
            <a:r>
              <a:rPr lang="en-US" sz="2600" dirty="0"/>
              <a:t> </a:t>
            </a:r>
            <a:r>
              <a:rPr lang="en-US" sz="2600" dirty="0" err="1"/>
              <a:t>tima</a:t>
            </a:r>
            <a:r>
              <a:rPr lang="en-US" sz="2600" dirty="0"/>
              <a:t> </a:t>
            </a:r>
            <a:r>
              <a:rPr lang="en-US" sz="2600" dirty="0" err="1"/>
              <a:t>učinkovitiju</a:t>
            </a:r>
            <a:r>
              <a:rPr lang="en-US" sz="2600" dirty="0"/>
              <a:t> </a:t>
            </a:r>
            <a:r>
              <a:rPr lang="en-US" sz="2600" dirty="0" err="1"/>
              <a:t>suradnju</a:t>
            </a:r>
            <a:r>
              <a:rPr lang="en-US" sz="2600" dirty="0"/>
              <a:t>.</a:t>
            </a:r>
          </a:p>
          <a:p>
            <a:pPr marL="0" indent="0">
              <a:buNone/>
            </a:pPr>
            <a:endParaRPr lang="en-US" sz="2600" dirty="0"/>
          </a:p>
          <a:p>
            <a:pPr marL="0" indent="0">
              <a:buNone/>
            </a:pPr>
            <a:r>
              <a:rPr lang="en-US" sz="2600" dirty="0"/>
              <a:t>2. </a:t>
            </a:r>
            <a:r>
              <a:rPr lang="en-US" sz="2600" b="1" dirty="0" err="1">
                <a:solidFill>
                  <a:srgbClr val="0ADBBC"/>
                </a:solidFill>
              </a:rPr>
              <a:t>Unaprijeđeno</a:t>
            </a:r>
            <a:r>
              <a:rPr lang="en-US" sz="2600" b="1" dirty="0">
                <a:solidFill>
                  <a:srgbClr val="0ADBBC"/>
                </a:solidFill>
              </a:rPr>
              <a:t> </a:t>
            </a:r>
            <a:r>
              <a:rPr lang="en-US" sz="2600" b="1" dirty="0" err="1">
                <a:solidFill>
                  <a:srgbClr val="0ADBBC"/>
                </a:solidFill>
              </a:rPr>
              <a:t>donošenje</a:t>
            </a:r>
            <a:r>
              <a:rPr lang="en-US" sz="2600" b="1" dirty="0">
                <a:solidFill>
                  <a:srgbClr val="0ADBBC"/>
                </a:solidFill>
              </a:rPr>
              <a:t> </a:t>
            </a:r>
            <a:r>
              <a:rPr lang="en-US" sz="2600" b="1" dirty="0" err="1">
                <a:solidFill>
                  <a:srgbClr val="0ADBBC"/>
                </a:solidFill>
              </a:rPr>
              <a:t>odluka</a:t>
            </a:r>
            <a:r>
              <a:rPr lang="en-US" sz="2600" dirty="0"/>
              <a:t> – </a:t>
            </a:r>
            <a:r>
              <a:rPr lang="en-US" sz="2600" dirty="0" err="1"/>
              <a:t>Rješavanje</a:t>
            </a:r>
            <a:r>
              <a:rPr lang="en-US" sz="2600" dirty="0"/>
              <a:t> </a:t>
            </a:r>
            <a:r>
              <a:rPr lang="en-US" sz="2600" dirty="0" err="1"/>
              <a:t>konflikata</a:t>
            </a:r>
            <a:r>
              <a:rPr lang="en-US" sz="2600" dirty="0"/>
              <a:t> </a:t>
            </a:r>
            <a:r>
              <a:rPr lang="en-US" sz="2600" dirty="0" err="1"/>
              <a:t>potiče</a:t>
            </a:r>
            <a:r>
              <a:rPr lang="en-US" sz="2600" dirty="0"/>
              <a:t> </a:t>
            </a:r>
            <a:r>
              <a:rPr lang="en-US" sz="2600" dirty="0" err="1"/>
              <a:t>razmjenu</a:t>
            </a:r>
            <a:r>
              <a:rPr lang="en-US" sz="2600" dirty="0"/>
              <a:t> </a:t>
            </a:r>
            <a:r>
              <a:rPr lang="en-US" sz="2600" dirty="0" err="1"/>
              <a:t>različitih</a:t>
            </a:r>
            <a:r>
              <a:rPr lang="en-US" sz="2600" dirty="0"/>
              <a:t> </a:t>
            </a:r>
            <a:r>
              <a:rPr lang="en-US" sz="2600" dirty="0" err="1"/>
              <a:t>perspektiva</a:t>
            </a:r>
            <a:r>
              <a:rPr lang="en-US" sz="2600" dirty="0"/>
              <a:t>, </a:t>
            </a:r>
            <a:r>
              <a:rPr lang="en-US" sz="2600" dirty="0" err="1"/>
              <a:t>što</a:t>
            </a:r>
            <a:r>
              <a:rPr lang="en-US" sz="2600" dirty="0"/>
              <a:t> </a:t>
            </a:r>
            <a:r>
              <a:rPr lang="en-US" sz="2600" dirty="0" err="1"/>
              <a:t>dovodi</a:t>
            </a:r>
            <a:r>
              <a:rPr lang="en-US" sz="2600" dirty="0"/>
              <a:t> do </a:t>
            </a:r>
            <a:r>
              <a:rPr lang="en-US" sz="2600" dirty="0" err="1"/>
              <a:t>kvalitetnijih</a:t>
            </a:r>
            <a:r>
              <a:rPr lang="en-US" sz="2600" dirty="0"/>
              <a:t> i </a:t>
            </a:r>
            <a:r>
              <a:rPr lang="en-US" sz="2600" dirty="0" err="1"/>
              <a:t>inovativnijih</a:t>
            </a:r>
            <a:r>
              <a:rPr lang="en-US" sz="2600" dirty="0"/>
              <a:t> </a:t>
            </a:r>
            <a:r>
              <a:rPr lang="en-US" sz="2600" dirty="0" err="1"/>
              <a:t>rješenja</a:t>
            </a:r>
            <a:r>
              <a:rPr lang="en-US" sz="2600" dirty="0"/>
              <a:t>. </a:t>
            </a:r>
            <a:r>
              <a:rPr lang="en-US" sz="2600" dirty="0" err="1"/>
              <a:t>Timovi</a:t>
            </a:r>
            <a:r>
              <a:rPr lang="en-US" sz="2600" dirty="0"/>
              <a:t> koji dobro </a:t>
            </a:r>
            <a:r>
              <a:rPr lang="en-US" sz="2600" dirty="0" err="1"/>
              <a:t>upravljaju</a:t>
            </a:r>
            <a:r>
              <a:rPr lang="en-US" sz="2600" dirty="0"/>
              <a:t> </a:t>
            </a:r>
            <a:r>
              <a:rPr lang="en-US" sz="2600" dirty="0" err="1"/>
              <a:t>konfliktima</a:t>
            </a:r>
            <a:r>
              <a:rPr lang="en-US" sz="2600" dirty="0"/>
              <a:t> </a:t>
            </a:r>
            <a:r>
              <a:rPr lang="en-US" sz="2600" dirty="0" err="1"/>
              <a:t>donose</a:t>
            </a:r>
            <a:r>
              <a:rPr lang="en-US" sz="2600" dirty="0"/>
              <a:t> </a:t>
            </a:r>
            <a:r>
              <a:rPr lang="en-US" sz="2600" dirty="0" err="1"/>
              <a:t>informiranije</a:t>
            </a:r>
            <a:r>
              <a:rPr lang="en-US" sz="2600" dirty="0"/>
              <a:t> i </a:t>
            </a:r>
            <a:r>
              <a:rPr lang="en-US" sz="2600" dirty="0" err="1"/>
              <a:t>strateški</a:t>
            </a:r>
            <a:r>
              <a:rPr lang="en-US" sz="2600" dirty="0"/>
              <a:t> </a:t>
            </a:r>
            <a:r>
              <a:rPr lang="en-US" sz="2600" dirty="0" err="1"/>
              <a:t>bolje</a:t>
            </a:r>
            <a:r>
              <a:rPr lang="en-US" sz="2600" dirty="0"/>
              <a:t> </a:t>
            </a:r>
            <a:r>
              <a:rPr lang="en-US" sz="2600" dirty="0" err="1"/>
              <a:t>odluke</a:t>
            </a:r>
            <a:r>
              <a:rPr lang="en-US" sz="2600" dirty="0"/>
              <a:t>.</a:t>
            </a:r>
          </a:p>
          <a:p>
            <a:endParaRPr lang="en-US" sz="2600" dirty="0"/>
          </a:p>
          <a:p>
            <a:endParaRPr lang="en-US" sz="2600" dirty="0"/>
          </a:p>
        </p:txBody>
      </p:sp>
    </p:spTree>
    <p:extLst>
      <p:ext uri="{BB962C8B-B14F-4D97-AF65-F5344CB8AC3E}">
        <p14:creationId xmlns:p14="http://schemas.microsoft.com/office/powerpoint/2010/main" val="285434296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4FB545-8542-C56C-688B-D5E7152906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CFF793-1A97-8CC9-E44E-0FA18AF04D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800" dirty="0"/>
              <a:t>Utjecaj </a:t>
            </a:r>
            <a:r>
              <a:rPr lang="en-US" sz="3800" dirty="0" err="1"/>
              <a:t>rješavanja</a:t>
            </a:r>
            <a:r>
              <a:rPr lang="en-US" sz="3800" dirty="0"/>
              <a:t> </a:t>
            </a:r>
            <a:r>
              <a:rPr lang="en-US" sz="3800" dirty="0" err="1"/>
              <a:t>konflikata</a:t>
            </a:r>
            <a:r>
              <a:rPr lang="en-US" sz="3800" dirty="0"/>
              <a:t> </a:t>
            </a:r>
            <a:r>
              <a:rPr lang="en-US" sz="3800" dirty="0" err="1"/>
              <a:t>na</a:t>
            </a:r>
            <a:r>
              <a:rPr lang="en-US" sz="3800" dirty="0"/>
              <a:t> </a:t>
            </a:r>
            <a:r>
              <a:rPr lang="en-US" sz="3800" dirty="0" err="1"/>
              <a:t>dinamiku</a:t>
            </a:r>
            <a:r>
              <a:rPr lang="en-US" sz="3800" dirty="0"/>
              <a:t> </a:t>
            </a:r>
            <a:r>
              <a:rPr lang="en-US" sz="3800" dirty="0" err="1"/>
              <a:t>tima</a:t>
            </a:r>
            <a:r>
              <a:rPr lang="en-US" sz="3800" dirty="0"/>
              <a:t> i </a:t>
            </a:r>
            <a:r>
              <a:rPr lang="en-US" sz="3800" dirty="0" err="1"/>
              <a:t>uspjeh</a:t>
            </a:r>
            <a:r>
              <a:rPr lang="en-US" sz="3800" dirty="0"/>
              <a:t> </a:t>
            </a:r>
            <a:r>
              <a:rPr lang="en-US" sz="3800" dirty="0" err="1"/>
              <a:t>projekta</a:t>
            </a:r>
            <a:r>
              <a:rPr lang="en-US" sz="3800" dirty="0"/>
              <a:t>  II.  </a:t>
            </a:r>
            <a:br>
              <a:rPr lang="en-US" sz="3800" dirty="0"/>
            </a:br>
            <a:endParaRPr lang="en-US" sz="3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91D66A-767B-3BB7-2BB5-0D0E908AC4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309" y="1690687"/>
            <a:ext cx="11080480" cy="4914649"/>
          </a:xfrm>
        </p:spPr>
        <p:txBody>
          <a:bodyPr>
            <a:noAutofit/>
          </a:bodyPr>
          <a:lstStyle/>
          <a:p>
            <a:endParaRPr lang="en-US" sz="2400" dirty="0"/>
          </a:p>
          <a:p>
            <a:pPr marL="0" indent="0">
              <a:buNone/>
            </a:pPr>
            <a:r>
              <a:rPr lang="en-US" sz="2400" dirty="0"/>
              <a:t>3. </a:t>
            </a:r>
            <a:r>
              <a:rPr lang="en-US" sz="2400" b="1" dirty="0" err="1">
                <a:solidFill>
                  <a:srgbClr val="0ADBBC"/>
                </a:solidFill>
              </a:rPr>
              <a:t>Povećana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produktivnost</a:t>
            </a:r>
            <a:r>
              <a:rPr lang="en-US" sz="2400" dirty="0"/>
              <a:t> – </a:t>
            </a:r>
            <a:r>
              <a:rPr lang="en-US" sz="2400" dirty="0" err="1"/>
              <a:t>Neriješeni</a:t>
            </a:r>
            <a:r>
              <a:rPr lang="en-US" sz="2400" dirty="0"/>
              <a:t> </a:t>
            </a:r>
            <a:r>
              <a:rPr lang="en-US" sz="2400" dirty="0" err="1"/>
              <a:t>konflikti</a:t>
            </a:r>
            <a:r>
              <a:rPr lang="en-US" sz="2400" dirty="0"/>
              <a:t> </a:t>
            </a:r>
            <a:r>
              <a:rPr lang="en-US" sz="2400" dirty="0" err="1"/>
              <a:t>mogu</a:t>
            </a:r>
            <a:r>
              <a:rPr lang="en-US" sz="2400" dirty="0"/>
              <a:t> </a:t>
            </a:r>
            <a:r>
              <a:rPr lang="en-US" sz="2400" dirty="0" err="1"/>
              <a:t>trošiti</a:t>
            </a:r>
            <a:r>
              <a:rPr lang="en-US" sz="2400" dirty="0"/>
              <a:t> </a:t>
            </a:r>
            <a:r>
              <a:rPr lang="en-US" sz="2400" dirty="0" err="1"/>
              <a:t>vrijeme</a:t>
            </a:r>
            <a:r>
              <a:rPr lang="en-US" sz="2400" dirty="0"/>
              <a:t> i </a:t>
            </a:r>
            <a:r>
              <a:rPr lang="en-US" sz="2400" dirty="0" err="1"/>
              <a:t>energiju</a:t>
            </a:r>
            <a:r>
              <a:rPr lang="en-US" sz="2400" dirty="0"/>
              <a:t> </a:t>
            </a:r>
            <a:r>
              <a:rPr lang="en-US" sz="2400" dirty="0" err="1"/>
              <a:t>te</a:t>
            </a:r>
            <a:r>
              <a:rPr lang="en-US" sz="2400" dirty="0"/>
              <a:t> </a:t>
            </a:r>
            <a:r>
              <a:rPr lang="en-US" sz="2400" dirty="0" err="1"/>
              <a:t>smanjiti</a:t>
            </a:r>
            <a:r>
              <a:rPr lang="en-US" sz="2400" dirty="0"/>
              <a:t> </a:t>
            </a:r>
            <a:r>
              <a:rPr lang="en-US" sz="2400" dirty="0" err="1"/>
              <a:t>učinkovitost</a:t>
            </a:r>
            <a:r>
              <a:rPr lang="en-US" sz="2400" dirty="0"/>
              <a:t>. </a:t>
            </a:r>
            <a:r>
              <a:rPr lang="en-US" sz="2400" dirty="0" err="1"/>
              <a:t>Učinkovito</a:t>
            </a:r>
            <a:r>
              <a:rPr lang="en-US" sz="2400" dirty="0"/>
              <a:t> </a:t>
            </a:r>
            <a:r>
              <a:rPr lang="en-US" sz="2400" dirty="0" err="1"/>
              <a:t>upravljanje</a:t>
            </a:r>
            <a:r>
              <a:rPr lang="en-US" sz="2400" dirty="0"/>
              <a:t> </a:t>
            </a:r>
            <a:r>
              <a:rPr lang="en-US" sz="2400" dirty="0" err="1"/>
              <a:t>konfliktima</a:t>
            </a:r>
            <a:r>
              <a:rPr lang="en-US" sz="2400" dirty="0"/>
              <a:t> </a:t>
            </a:r>
            <a:r>
              <a:rPr lang="en-US" sz="2400" dirty="0" err="1"/>
              <a:t>osigurava</a:t>
            </a:r>
            <a:r>
              <a:rPr lang="en-US" sz="2400" dirty="0"/>
              <a:t> da </a:t>
            </a:r>
            <a:r>
              <a:rPr lang="en-US" sz="2400" dirty="0" err="1"/>
              <a:t>tim</a:t>
            </a:r>
            <a:r>
              <a:rPr lang="en-US" sz="2400" dirty="0"/>
              <a:t> </a:t>
            </a:r>
            <a:r>
              <a:rPr lang="en-US" sz="2400" dirty="0" err="1"/>
              <a:t>ostane</a:t>
            </a:r>
            <a:r>
              <a:rPr lang="en-US" sz="2400" dirty="0"/>
              <a:t> </a:t>
            </a:r>
            <a:r>
              <a:rPr lang="en-US" sz="2400" dirty="0" err="1"/>
              <a:t>fokusiran</a:t>
            </a:r>
            <a:r>
              <a:rPr lang="en-US" sz="2400" dirty="0"/>
              <a:t> </a:t>
            </a:r>
            <a:r>
              <a:rPr lang="en-US" sz="2400" dirty="0" err="1"/>
              <a:t>na</a:t>
            </a:r>
            <a:r>
              <a:rPr lang="en-US" sz="2400" dirty="0"/>
              <a:t> </a:t>
            </a:r>
            <a:r>
              <a:rPr lang="en-US" sz="2400" dirty="0" err="1"/>
              <a:t>ciljeve</a:t>
            </a:r>
            <a:r>
              <a:rPr lang="en-US" sz="2400" dirty="0"/>
              <a:t> </a:t>
            </a:r>
            <a:r>
              <a:rPr lang="en-US" sz="2400" dirty="0" err="1"/>
              <a:t>projekta</a:t>
            </a:r>
            <a:r>
              <a:rPr lang="en-US" sz="2400" dirty="0"/>
              <a:t>, a ne </a:t>
            </a:r>
            <a:r>
              <a:rPr lang="en-US" sz="2400" dirty="0" err="1"/>
              <a:t>na</a:t>
            </a:r>
            <a:r>
              <a:rPr lang="en-US" sz="2400" dirty="0"/>
              <a:t> </a:t>
            </a:r>
            <a:r>
              <a:rPr lang="en-US" sz="2400" dirty="0" err="1"/>
              <a:t>međuljudske</a:t>
            </a:r>
            <a:r>
              <a:rPr lang="en-US" sz="2400" dirty="0"/>
              <a:t> </a:t>
            </a:r>
            <a:r>
              <a:rPr lang="en-US" sz="2400" dirty="0" err="1"/>
              <a:t>nesuglasice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4. </a:t>
            </a:r>
            <a:r>
              <a:rPr lang="en-US" sz="2400" b="1" dirty="0">
                <a:solidFill>
                  <a:srgbClr val="0ADBBC"/>
                </a:solidFill>
              </a:rPr>
              <a:t>Snažniji </a:t>
            </a:r>
            <a:r>
              <a:rPr lang="en-US" sz="2400" b="1" dirty="0" err="1">
                <a:solidFill>
                  <a:srgbClr val="0ADBBC"/>
                </a:solidFill>
              </a:rPr>
              <a:t>timski</a:t>
            </a:r>
            <a:r>
              <a:rPr lang="en-US" sz="2400" b="1" dirty="0">
                <a:solidFill>
                  <a:srgbClr val="0ADBBC"/>
                </a:solidFill>
              </a:rPr>
              <a:t> moral i </a:t>
            </a:r>
            <a:r>
              <a:rPr lang="en-US" sz="2400" b="1" dirty="0" err="1">
                <a:solidFill>
                  <a:srgbClr val="0ADBBC"/>
                </a:solidFill>
              </a:rPr>
              <a:t>angažman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dirty="0"/>
              <a:t>– Kada se </a:t>
            </a:r>
            <a:r>
              <a:rPr lang="en-US" sz="2400" dirty="0" err="1"/>
              <a:t>konflikti</a:t>
            </a:r>
            <a:r>
              <a:rPr lang="en-US" sz="2400" dirty="0"/>
              <a:t> </a:t>
            </a:r>
            <a:r>
              <a:rPr lang="en-US" sz="2400" dirty="0" err="1"/>
              <a:t>rješavaju</a:t>
            </a:r>
            <a:r>
              <a:rPr lang="en-US" sz="2400" dirty="0"/>
              <a:t> </a:t>
            </a:r>
            <a:r>
              <a:rPr lang="en-US" sz="2400" dirty="0" err="1"/>
              <a:t>pravedno</a:t>
            </a:r>
            <a:r>
              <a:rPr lang="en-US" sz="2400" dirty="0"/>
              <a:t>, </a:t>
            </a:r>
            <a:r>
              <a:rPr lang="en-US" sz="2400" dirty="0" err="1"/>
              <a:t>članovi</a:t>
            </a:r>
            <a:r>
              <a:rPr lang="en-US" sz="2400" dirty="0"/>
              <a:t> </a:t>
            </a:r>
            <a:r>
              <a:rPr lang="en-US" sz="2400" dirty="0" err="1"/>
              <a:t>tima</a:t>
            </a:r>
            <a:r>
              <a:rPr lang="en-US" sz="2400" dirty="0"/>
              <a:t> </a:t>
            </a:r>
            <a:r>
              <a:rPr lang="en-US" sz="2400" dirty="0" err="1"/>
              <a:t>osjećaju</a:t>
            </a:r>
            <a:r>
              <a:rPr lang="en-US" sz="2400" dirty="0"/>
              <a:t> se </a:t>
            </a:r>
            <a:r>
              <a:rPr lang="en-US" sz="2400" dirty="0" err="1"/>
              <a:t>cijenjeno</a:t>
            </a:r>
            <a:r>
              <a:rPr lang="en-US" sz="2400" dirty="0"/>
              <a:t> i </a:t>
            </a:r>
            <a:r>
              <a:rPr lang="en-US" sz="2400" dirty="0" err="1"/>
              <a:t>poštovano</a:t>
            </a:r>
            <a:r>
              <a:rPr lang="en-US" sz="2400" dirty="0"/>
              <a:t>, </a:t>
            </a:r>
            <a:r>
              <a:rPr lang="en-US" sz="2400" dirty="0" err="1"/>
              <a:t>što</a:t>
            </a:r>
            <a:r>
              <a:rPr lang="en-US" sz="2400" dirty="0"/>
              <a:t> </a:t>
            </a:r>
            <a:r>
              <a:rPr lang="en-US" sz="2400" dirty="0" err="1"/>
              <a:t>povećava</a:t>
            </a:r>
            <a:r>
              <a:rPr lang="en-US" sz="2400" dirty="0"/>
              <a:t> moral i </a:t>
            </a:r>
            <a:r>
              <a:rPr lang="en-US" sz="2400" dirty="0" err="1"/>
              <a:t>angažman</a:t>
            </a:r>
            <a:r>
              <a:rPr lang="en-US" sz="2400" dirty="0"/>
              <a:t>. To </a:t>
            </a:r>
            <a:r>
              <a:rPr lang="en-US" sz="2400" dirty="0" err="1"/>
              <a:t>dovodi</a:t>
            </a:r>
            <a:r>
              <a:rPr lang="en-US" sz="2400" dirty="0"/>
              <a:t> do </a:t>
            </a:r>
            <a:r>
              <a:rPr lang="en-US" sz="2400" dirty="0" err="1"/>
              <a:t>motiviranijeg</a:t>
            </a:r>
            <a:r>
              <a:rPr lang="en-US" sz="2400" dirty="0"/>
              <a:t> i </a:t>
            </a:r>
            <a:r>
              <a:rPr lang="en-US" sz="2400" dirty="0" err="1"/>
              <a:t>posvećenijeg</a:t>
            </a:r>
            <a:r>
              <a:rPr lang="en-US" sz="2400" dirty="0"/>
              <a:t> </a:t>
            </a:r>
            <a:r>
              <a:rPr lang="en-US" sz="2400" dirty="0" err="1"/>
              <a:t>tima</a:t>
            </a:r>
            <a:r>
              <a:rPr lang="en-US" sz="2400" dirty="0"/>
              <a:t>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5. </a:t>
            </a:r>
            <a:r>
              <a:rPr lang="en-US" sz="2400" b="1" dirty="0" err="1">
                <a:solidFill>
                  <a:srgbClr val="0ADBBC"/>
                </a:solidFill>
              </a:rPr>
              <a:t>Veća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uspješnost</a:t>
            </a:r>
            <a:r>
              <a:rPr lang="en-US" sz="2400" b="1" dirty="0">
                <a:solidFill>
                  <a:srgbClr val="0ADBBC"/>
                </a:solidFill>
              </a:rPr>
              <a:t> </a:t>
            </a:r>
            <a:r>
              <a:rPr lang="en-US" sz="2400" b="1" dirty="0" err="1">
                <a:solidFill>
                  <a:srgbClr val="0ADBBC"/>
                </a:solidFill>
              </a:rPr>
              <a:t>projekata</a:t>
            </a:r>
            <a:r>
              <a:rPr lang="en-US" sz="2400" dirty="0"/>
              <a:t> – </a:t>
            </a:r>
            <a:r>
              <a:rPr lang="en-US" sz="2400" dirty="0" err="1"/>
              <a:t>Timovi</a:t>
            </a:r>
            <a:r>
              <a:rPr lang="en-US" sz="2400" dirty="0"/>
              <a:t> koji </a:t>
            </a:r>
            <a:r>
              <a:rPr lang="en-US" sz="2400" dirty="0" err="1"/>
              <a:t>uspješno</a:t>
            </a:r>
            <a:r>
              <a:rPr lang="en-US" sz="2400" dirty="0"/>
              <a:t> </a:t>
            </a:r>
            <a:r>
              <a:rPr lang="en-US" sz="2400" dirty="0" err="1"/>
              <a:t>upravljaju</a:t>
            </a:r>
            <a:r>
              <a:rPr lang="en-US" sz="2400" dirty="0"/>
              <a:t> </a:t>
            </a:r>
            <a:r>
              <a:rPr lang="en-US" sz="2400" dirty="0" err="1"/>
              <a:t>konfliktima</a:t>
            </a:r>
            <a:r>
              <a:rPr lang="en-US" sz="2400" dirty="0"/>
              <a:t> </a:t>
            </a:r>
            <a:r>
              <a:rPr lang="en-US" sz="2400" dirty="0" err="1"/>
              <a:t>prilagodljiviji</a:t>
            </a:r>
            <a:r>
              <a:rPr lang="en-US" sz="2400" dirty="0"/>
              <a:t> </a:t>
            </a:r>
            <a:r>
              <a:rPr lang="en-US" sz="2400" dirty="0" err="1"/>
              <a:t>su</a:t>
            </a:r>
            <a:r>
              <a:rPr lang="en-US" sz="2400" dirty="0"/>
              <a:t>, </a:t>
            </a:r>
            <a:r>
              <a:rPr lang="en-US" sz="2400" dirty="0" err="1"/>
              <a:t>otporniji</a:t>
            </a:r>
            <a:r>
              <a:rPr lang="en-US" sz="2400" dirty="0"/>
              <a:t> i </a:t>
            </a:r>
            <a:r>
              <a:rPr lang="en-US" sz="2400" dirty="0" err="1"/>
              <a:t>bolje</a:t>
            </a:r>
            <a:r>
              <a:rPr lang="en-US" sz="2400" dirty="0"/>
              <a:t> </a:t>
            </a:r>
            <a:r>
              <a:rPr lang="en-US" sz="2400" dirty="0" err="1"/>
              <a:t>usklađeni</a:t>
            </a:r>
            <a:r>
              <a:rPr lang="en-US" sz="2400" dirty="0"/>
              <a:t> s </a:t>
            </a:r>
            <a:r>
              <a:rPr lang="en-US" sz="2400" dirty="0" err="1"/>
              <a:t>ciljevima</a:t>
            </a:r>
            <a:r>
              <a:rPr lang="en-US" sz="2400" dirty="0"/>
              <a:t> </a:t>
            </a:r>
            <a:r>
              <a:rPr lang="en-US" sz="2400" dirty="0" err="1"/>
              <a:t>projekta</a:t>
            </a:r>
            <a:r>
              <a:rPr lang="en-US" sz="2400" dirty="0"/>
              <a:t>, </a:t>
            </a:r>
            <a:r>
              <a:rPr lang="en-US" sz="2400" dirty="0" err="1"/>
              <a:t>što</a:t>
            </a:r>
            <a:r>
              <a:rPr lang="en-US" sz="2400" dirty="0"/>
              <a:t> </a:t>
            </a:r>
            <a:r>
              <a:rPr lang="en-US" sz="2400" dirty="0" err="1"/>
              <a:t>rezultira</a:t>
            </a:r>
            <a:r>
              <a:rPr lang="en-US" sz="2400" dirty="0"/>
              <a:t> </a:t>
            </a:r>
            <a:r>
              <a:rPr lang="en-US" sz="2400" dirty="0" err="1"/>
              <a:t>većom</a:t>
            </a:r>
            <a:r>
              <a:rPr lang="en-US" sz="2400" dirty="0"/>
              <a:t> </a:t>
            </a:r>
            <a:r>
              <a:rPr lang="en-US" sz="2400" dirty="0" err="1"/>
              <a:t>uspješnošću</a:t>
            </a:r>
            <a:r>
              <a:rPr lang="en-US" sz="2400" dirty="0"/>
              <a:t> u </a:t>
            </a:r>
            <a:r>
              <a:rPr lang="en-US" sz="2400" dirty="0" err="1"/>
              <a:t>provedbi</a:t>
            </a:r>
            <a:r>
              <a:rPr lang="en-US" sz="2400" dirty="0"/>
              <a:t> i </a:t>
            </a:r>
            <a:r>
              <a:rPr lang="en-US" sz="2400" dirty="0" err="1"/>
              <a:t>isporuci</a:t>
            </a:r>
            <a:r>
              <a:rPr lang="en-US" sz="2400" dirty="0"/>
              <a:t> </a:t>
            </a:r>
            <a:r>
              <a:rPr lang="en-US" sz="2400" dirty="0" err="1"/>
              <a:t>projekata</a:t>
            </a:r>
            <a:r>
              <a:rPr lang="en-US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78725757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7F5A8-1418-BA29-9FF1-700B30D1E5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0742" y="379193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sv-SE" sz="3800" dirty="0"/>
              <a:t>Scenarij konflikta </a:t>
            </a:r>
            <a:br>
              <a:rPr lang="hr-HR" sz="3800" dirty="0"/>
            </a:br>
            <a:r>
              <a:rPr lang="sv-SE" sz="3800" dirty="0"/>
              <a:t>u projektnom timu</a:t>
            </a:r>
            <a:r>
              <a:rPr lang="en-US" sz="3800" dirty="0"/>
              <a:t> </a:t>
            </a:r>
            <a:br>
              <a:rPr lang="en-US" sz="3800" dirty="0"/>
            </a:br>
            <a:endParaRPr lang="en-US" sz="3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846BEA-449F-3408-5622-24A46D90CD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3045" y="2162508"/>
            <a:ext cx="10515600" cy="480377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dirty="0" err="1"/>
              <a:t>Voditeljica</a:t>
            </a:r>
            <a:r>
              <a:rPr lang="en-US" dirty="0"/>
              <a:t> </a:t>
            </a:r>
            <a:r>
              <a:rPr lang="en-US" dirty="0" err="1"/>
              <a:t>projekta</a:t>
            </a:r>
            <a:r>
              <a:rPr lang="en-US" dirty="0"/>
              <a:t>, Sarah, </a:t>
            </a:r>
            <a:r>
              <a:rPr lang="en-US" dirty="0" err="1"/>
              <a:t>postavlja</a:t>
            </a:r>
            <a:r>
              <a:rPr lang="en-US" dirty="0"/>
              <a:t> </a:t>
            </a:r>
            <a:r>
              <a:rPr lang="en-US" dirty="0" err="1"/>
              <a:t>kratak</a:t>
            </a:r>
            <a:r>
              <a:rPr lang="en-US" dirty="0"/>
              <a:t> </a:t>
            </a:r>
            <a:r>
              <a:rPr lang="en-US" dirty="0" err="1"/>
              <a:t>rok</a:t>
            </a:r>
            <a:r>
              <a:rPr lang="en-US" dirty="0"/>
              <a:t> za </a:t>
            </a:r>
            <a:r>
              <a:rPr lang="en-US" dirty="0" err="1"/>
              <a:t>lansiranje</a:t>
            </a:r>
            <a:r>
              <a:rPr lang="en-US" dirty="0"/>
              <a:t> </a:t>
            </a:r>
            <a:r>
              <a:rPr lang="en-US" dirty="0" err="1"/>
              <a:t>novog</a:t>
            </a:r>
            <a:r>
              <a:rPr lang="en-US" dirty="0"/>
              <a:t> </a:t>
            </a:r>
            <a:r>
              <a:rPr lang="en-US" dirty="0" err="1"/>
              <a:t>softvera</a:t>
            </a:r>
            <a:r>
              <a:rPr lang="en-US" dirty="0"/>
              <a:t>.</a:t>
            </a:r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r>
              <a:rPr lang="en-US" dirty="0" err="1"/>
              <a:t>Glavni</a:t>
            </a:r>
            <a:r>
              <a:rPr lang="en-US" dirty="0"/>
              <a:t> developer, James, </a:t>
            </a:r>
            <a:r>
              <a:rPr lang="en-US" dirty="0" err="1"/>
              <a:t>tvrdi</a:t>
            </a:r>
            <a:r>
              <a:rPr lang="en-US" dirty="0"/>
              <a:t> da je </a:t>
            </a:r>
            <a:r>
              <a:rPr lang="en-US" dirty="0" err="1"/>
              <a:t>vremenski</a:t>
            </a:r>
            <a:r>
              <a:rPr lang="en-US" dirty="0"/>
              <a:t> </a:t>
            </a:r>
            <a:r>
              <a:rPr lang="en-US" dirty="0" err="1"/>
              <a:t>okvir</a:t>
            </a:r>
            <a:r>
              <a:rPr lang="en-US" dirty="0"/>
              <a:t> </a:t>
            </a:r>
            <a:r>
              <a:rPr lang="en-US" dirty="0" err="1"/>
              <a:t>nerealan</a:t>
            </a:r>
            <a:r>
              <a:rPr lang="en-US" dirty="0"/>
              <a:t> </a:t>
            </a:r>
            <a:r>
              <a:rPr lang="en-US" dirty="0" err="1"/>
              <a:t>zbog</a:t>
            </a:r>
            <a:r>
              <a:rPr lang="en-US" dirty="0"/>
              <a:t> </a:t>
            </a:r>
            <a:r>
              <a:rPr lang="en-US" dirty="0" err="1"/>
              <a:t>nepredviđenih</a:t>
            </a:r>
            <a:r>
              <a:rPr lang="en-US" dirty="0"/>
              <a:t> </a:t>
            </a:r>
            <a:r>
              <a:rPr lang="en-US" dirty="0" err="1"/>
              <a:t>tehničkih</a:t>
            </a:r>
            <a:r>
              <a:rPr lang="en-US" dirty="0"/>
              <a:t> </a:t>
            </a:r>
            <a:r>
              <a:rPr lang="en-US" dirty="0" err="1"/>
              <a:t>izazova</a:t>
            </a:r>
            <a:r>
              <a:rPr lang="en-US" dirty="0"/>
              <a:t>.</a:t>
            </a:r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r>
              <a:rPr lang="en-US" dirty="0"/>
              <a:t>Sarah </a:t>
            </a:r>
            <a:r>
              <a:rPr lang="en-US" dirty="0" err="1"/>
              <a:t>inzistira</a:t>
            </a:r>
            <a:r>
              <a:rPr lang="en-US" dirty="0"/>
              <a:t> da se </a:t>
            </a:r>
            <a:r>
              <a:rPr lang="en-US" dirty="0" err="1"/>
              <a:t>rok</a:t>
            </a:r>
            <a:r>
              <a:rPr lang="en-US" dirty="0"/>
              <a:t> mora </a:t>
            </a:r>
            <a:r>
              <a:rPr lang="en-US" dirty="0" err="1"/>
              <a:t>ispoštovati</a:t>
            </a:r>
            <a:r>
              <a:rPr lang="en-US" dirty="0"/>
              <a:t> </a:t>
            </a:r>
            <a:r>
              <a:rPr lang="en-US" dirty="0" err="1"/>
              <a:t>kako</a:t>
            </a:r>
            <a:r>
              <a:rPr lang="en-US" dirty="0"/>
              <a:t> bi se </a:t>
            </a:r>
            <a:r>
              <a:rPr lang="en-US" dirty="0" err="1"/>
              <a:t>zadovoljili</a:t>
            </a:r>
            <a:r>
              <a:rPr lang="en-US" dirty="0"/>
              <a:t> </a:t>
            </a:r>
            <a:r>
              <a:rPr lang="en-US" dirty="0" err="1"/>
              <a:t>dionici</a:t>
            </a:r>
            <a:r>
              <a:rPr lang="en-US" dirty="0"/>
              <a:t>, </a:t>
            </a:r>
            <a:r>
              <a:rPr lang="en-US" dirty="0" err="1"/>
              <a:t>dok</a:t>
            </a:r>
            <a:r>
              <a:rPr lang="en-US" dirty="0"/>
              <a:t> James </a:t>
            </a:r>
            <a:r>
              <a:rPr lang="en-US" dirty="0" err="1"/>
              <a:t>upozorava</a:t>
            </a:r>
            <a:r>
              <a:rPr lang="en-US" dirty="0"/>
              <a:t> da bi </a:t>
            </a:r>
            <a:r>
              <a:rPr lang="en-US" dirty="0" err="1"/>
              <a:t>žurba</a:t>
            </a:r>
            <a:r>
              <a:rPr lang="en-US" dirty="0"/>
              <a:t> </a:t>
            </a:r>
            <a:r>
              <a:rPr lang="en-US" dirty="0" err="1"/>
              <a:t>mogla</a:t>
            </a:r>
            <a:r>
              <a:rPr lang="en-US" dirty="0"/>
              <a:t> </a:t>
            </a:r>
            <a:r>
              <a:rPr lang="en-US" dirty="0" err="1"/>
              <a:t>ugroziti</a:t>
            </a:r>
            <a:r>
              <a:rPr lang="en-US" dirty="0"/>
              <a:t> </a:t>
            </a:r>
            <a:r>
              <a:rPr lang="en-US" dirty="0" err="1"/>
              <a:t>kvalitetu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1722113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2B329-CC67-4632-E100-38AF94E8B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F2083C-6AD6-BBA6-8BB1-6B1EA4E7FC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sv-SE" sz="3800" dirty="0"/>
              <a:t>Scenarij konflikta </a:t>
            </a:r>
            <a:br>
              <a:rPr lang="sv-SE" sz="3800" dirty="0"/>
            </a:br>
            <a:r>
              <a:rPr lang="sv-SE" sz="3800" dirty="0"/>
              <a:t>u projektnom timu </a:t>
            </a:r>
            <a:br>
              <a:rPr lang="en-US" sz="3800" dirty="0"/>
            </a:br>
            <a:endParaRPr lang="en-US" sz="3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868E28-61A9-5D1C-DA91-EDD3D3193B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3045" y="2162508"/>
            <a:ext cx="10515600" cy="4803775"/>
          </a:xfrm>
        </p:spPr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dirty="0" err="1"/>
              <a:t>Napetost</a:t>
            </a:r>
            <a:r>
              <a:rPr lang="en-US" dirty="0"/>
              <a:t> </a:t>
            </a:r>
            <a:r>
              <a:rPr lang="en-US" dirty="0" err="1"/>
              <a:t>raste</a:t>
            </a:r>
            <a:r>
              <a:rPr lang="en-US" dirty="0"/>
              <a:t> </a:t>
            </a:r>
            <a:r>
              <a:rPr lang="en-US" dirty="0" err="1"/>
              <a:t>jer</a:t>
            </a:r>
            <a:r>
              <a:rPr lang="en-US" dirty="0"/>
              <a:t> </a:t>
            </a:r>
            <a:r>
              <a:rPr lang="en-US" dirty="0" err="1"/>
              <a:t>marketinški</a:t>
            </a:r>
            <a:r>
              <a:rPr lang="en-US" dirty="0"/>
              <a:t> </a:t>
            </a:r>
            <a:r>
              <a:rPr lang="en-US" dirty="0" err="1"/>
              <a:t>tim</a:t>
            </a:r>
            <a:r>
              <a:rPr lang="en-US" dirty="0"/>
              <a:t> </a:t>
            </a:r>
            <a:r>
              <a:rPr lang="en-US" dirty="0" err="1"/>
              <a:t>također</a:t>
            </a:r>
            <a:r>
              <a:rPr lang="en-US" dirty="0"/>
              <a:t> </a:t>
            </a:r>
            <a:r>
              <a:rPr lang="en-US" dirty="0" err="1"/>
              <a:t>treba</a:t>
            </a:r>
            <a:r>
              <a:rPr lang="en-US" dirty="0"/>
              <a:t> </a:t>
            </a:r>
            <a:r>
              <a:rPr lang="en-US" dirty="0" err="1"/>
              <a:t>vrijeme</a:t>
            </a:r>
            <a:r>
              <a:rPr lang="en-US" dirty="0"/>
              <a:t> za </a:t>
            </a:r>
            <a:r>
              <a:rPr lang="en-US" dirty="0" err="1"/>
              <a:t>promociju</a:t>
            </a:r>
            <a:r>
              <a:rPr lang="en-US" dirty="0"/>
              <a:t>, a </a:t>
            </a:r>
            <a:r>
              <a:rPr lang="en-US" dirty="0" err="1"/>
              <a:t>kašnjenja</a:t>
            </a:r>
            <a:r>
              <a:rPr lang="en-US" dirty="0"/>
              <a:t> bi </a:t>
            </a:r>
            <a:r>
              <a:rPr lang="en-US" dirty="0" err="1"/>
              <a:t>mogla</a:t>
            </a:r>
            <a:r>
              <a:rPr lang="en-US" dirty="0"/>
              <a:t> </a:t>
            </a:r>
            <a:r>
              <a:rPr lang="en-US" dirty="0" err="1"/>
              <a:t>utjecati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cijeli</a:t>
            </a:r>
            <a:r>
              <a:rPr lang="en-US" dirty="0"/>
              <a:t> </a:t>
            </a:r>
            <a:r>
              <a:rPr lang="en-US" dirty="0" err="1"/>
              <a:t>projekt</a:t>
            </a:r>
            <a:r>
              <a:rPr lang="en-US" dirty="0"/>
              <a:t>.</a:t>
            </a:r>
          </a:p>
          <a:p>
            <a:pPr marL="0" indent="0" algn="just">
              <a:buNone/>
            </a:pPr>
            <a:endParaRPr lang="en-US" dirty="0"/>
          </a:p>
          <a:p>
            <a:pPr marL="0" indent="0" algn="just">
              <a:buNone/>
            </a:pPr>
            <a:r>
              <a:rPr lang="en-US" dirty="0"/>
              <a:t>Bez </a:t>
            </a:r>
            <a:r>
              <a:rPr lang="en-US" dirty="0" err="1"/>
              <a:t>rješavanja</a:t>
            </a:r>
            <a:r>
              <a:rPr lang="en-US" dirty="0"/>
              <a:t> </a:t>
            </a:r>
            <a:r>
              <a:rPr lang="en-US" dirty="0" err="1"/>
              <a:t>konflikta</a:t>
            </a:r>
            <a:r>
              <a:rPr lang="en-US" dirty="0"/>
              <a:t>, </a:t>
            </a:r>
            <a:r>
              <a:rPr lang="en-US" dirty="0" err="1"/>
              <a:t>tim</a:t>
            </a:r>
            <a:r>
              <a:rPr lang="en-US" dirty="0"/>
              <a:t> </a:t>
            </a:r>
            <a:r>
              <a:rPr lang="en-US" dirty="0" err="1"/>
              <a:t>riskira</a:t>
            </a:r>
            <a:r>
              <a:rPr lang="en-US" dirty="0"/>
              <a:t> </a:t>
            </a:r>
            <a:r>
              <a:rPr lang="en-US" dirty="0" err="1"/>
              <a:t>izgaranje</a:t>
            </a:r>
            <a:r>
              <a:rPr lang="en-US" dirty="0"/>
              <a:t>, </a:t>
            </a:r>
            <a:r>
              <a:rPr lang="en-US" dirty="0" err="1"/>
              <a:t>neispunjena</a:t>
            </a:r>
            <a:r>
              <a:rPr lang="en-US" dirty="0"/>
              <a:t> </a:t>
            </a:r>
            <a:r>
              <a:rPr lang="en-US" dirty="0" err="1"/>
              <a:t>očekivanja</a:t>
            </a:r>
            <a:r>
              <a:rPr lang="en-US" dirty="0"/>
              <a:t> i </a:t>
            </a:r>
            <a:r>
              <a:rPr lang="en-US" dirty="0" err="1"/>
              <a:t>neuspjeh</a:t>
            </a:r>
            <a:r>
              <a:rPr lang="en-US" dirty="0"/>
              <a:t> </a:t>
            </a:r>
            <a:r>
              <a:rPr lang="en-US" dirty="0" err="1"/>
              <a:t>projekta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6132328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720AF-60CE-96DB-F083-642A37C477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Naslov 3">
            <a:extLst>
              <a:ext uri="{FF2B5EF4-FFF2-40B4-BE49-F238E27FC236}">
                <a16:creationId xmlns:a16="http://schemas.microsoft.com/office/drawing/2014/main" id="{83F19D61-FD25-8C8E-7283-1F5A87871FF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68804" y="1503573"/>
            <a:ext cx="9144000" cy="2387600"/>
          </a:xfrm>
        </p:spPr>
        <p:txBody>
          <a:bodyPr>
            <a:normAutofit/>
          </a:bodyPr>
          <a:lstStyle/>
          <a:p>
            <a:r>
              <a:rPr lang="en-US" dirty="0"/>
              <a:t>OSNOVE UPRAVLJANJA PROJEKTIMA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F9142672-D7AD-F2C4-2704-5116C183AB9A}"/>
              </a:ext>
            </a:extLst>
          </p:cNvPr>
          <p:cNvSpPr txBox="1">
            <a:spLocks/>
          </p:cNvSpPr>
          <p:nvPr/>
        </p:nvSpPr>
        <p:spPr>
          <a:xfrm>
            <a:off x="5661213" y="4275054"/>
            <a:ext cx="6251591" cy="1238982"/>
          </a:xfrm>
          <a:prstGeom prst="rect">
            <a:avLst/>
          </a:prstGeom>
          <a:solidFill>
            <a:schemeClr val="bg1"/>
          </a:solidFill>
        </p:spPr>
        <p:txBody>
          <a:bodyPr vert="horz" lIns="91440" tIns="45720" rIns="91440" bIns="45720" rtlCol="0" anchor="b">
            <a:normAutofit fontScale="92500" lnSpcReduction="10000"/>
          </a:bodyPr>
          <a:lstStyle>
            <a:lvl1pPr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Montserrat" panose="00000500000000000000" pitchFamily="2" charset="-18"/>
                <a:ea typeface="+mj-ea"/>
                <a:cs typeface="+mj-cs"/>
              </a:defRPr>
            </a:lvl1pPr>
          </a:lstStyle>
          <a:p>
            <a:pPr marL="0" marR="0" lvl="0" indent="0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4800" dirty="0" err="1">
                <a:latin typeface="Bahnschrift" panose="020B0502040204020203" pitchFamily="34" charset="0"/>
              </a:rPr>
              <a:t>Učinkovita</a:t>
            </a:r>
            <a:r>
              <a:rPr lang="en-GB" sz="4800" dirty="0">
                <a:latin typeface="Bahnschrift" panose="020B0502040204020203" pitchFamily="34" charset="0"/>
              </a:rPr>
              <a:t> </a:t>
            </a:r>
            <a:endParaRPr lang="hr-HR" sz="4800" dirty="0">
              <a:latin typeface="Bahnschrift" panose="020B0502040204020203" pitchFamily="34" charset="0"/>
            </a:endParaRPr>
          </a:p>
          <a:p>
            <a:pPr marL="0" marR="0" lvl="0" indent="0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4800" dirty="0" err="1">
                <a:latin typeface="Bahnschrift" panose="020B0502040204020203" pitchFamily="34" charset="0"/>
              </a:rPr>
              <a:t>komunikacija</a:t>
            </a:r>
            <a:endParaRPr lang="en-GB" sz="4800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898394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956CF-55E2-4D77-1A27-2B404CB89F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 fontScale="90000"/>
          </a:bodyPr>
          <a:lstStyle/>
          <a:p>
            <a:r>
              <a:rPr lang="en-US" sz="3400" b="1" dirty="0"/>
              <a:t>1. Razumijevanje </a:t>
            </a:r>
            <a:r>
              <a:rPr lang="en-US" sz="3400" b="1" dirty="0" err="1"/>
              <a:t>komponenti</a:t>
            </a:r>
            <a:r>
              <a:rPr lang="en-US" sz="3400" b="1" dirty="0"/>
              <a:t> </a:t>
            </a:r>
            <a:r>
              <a:rPr lang="en-US" sz="3400" b="1" dirty="0" err="1"/>
              <a:t>komunikacijskog</a:t>
            </a:r>
            <a:r>
              <a:rPr lang="en-US" sz="3400" b="1" dirty="0"/>
              <a:t> </a:t>
            </a:r>
            <a:r>
              <a:rPr lang="en-US" sz="3400" b="1" dirty="0" err="1"/>
              <a:t>procesa</a:t>
            </a:r>
            <a:br>
              <a:rPr lang="en-US" sz="3400" dirty="0"/>
            </a:br>
            <a:endParaRPr lang="en-US" sz="34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557DF5-BE67-8274-116A-D7C8C2FA676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4521707" cy="4351338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en-US" dirty="0" err="1"/>
              <a:t>Pošiljatelj</a:t>
            </a:r>
            <a:r>
              <a:rPr lang="en-US" dirty="0"/>
              <a:t>, </a:t>
            </a:r>
            <a:r>
              <a:rPr lang="en-US" dirty="0" err="1"/>
              <a:t>poruka</a:t>
            </a:r>
            <a:r>
              <a:rPr lang="en-US" dirty="0"/>
              <a:t>, </a:t>
            </a:r>
            <a:r>
              <a:rPr lang="en-US" dirty="0" err="1"/>
              <a:t>kanal</a:t>
            </a:r>
            <a:r>
              <a:rPr lang="en-US" dirty="0"/>
              <a:t>, </a:t>
            </a:r>
            <a:r>
              <a:rPr lang="en-US" dirty="0" err="1"/>
              <a:t>primatelj</a:t>
            </a:r>
            <a:r>
              <a:rPr lang="en-US" dirty="0"/>
              <a:t>, </a:t>
            </a:r>
            <a:r>
              <a:rPr lang="en-US" dirty="0" err="1"/>
              <a:t>povratna</a:t>
            </a:r>
            <a:r>
              <a:rPr lang="en-US" dirty="0"/>
              <a:t> </a:t>
            </a:r>
            <a:r>
              <a:rPr lang="en-US" dirty="0" err="1"/>
              <a:t>informacija</a:t>
            </a:r>
            <a:r>
              <a:rPr lang="en-US" dirty="0"/>
              <a:t> i </a:t>
            </a:r>
            <a:r>
              <a:rPr lang="en-US" dirty="0" err="1"/>
              <a:t>šum</a:t>
            </a:r>
            <a:r>
              <a:rPr lang="en-US" dirty="0"/>
              <a:t>.</a:t>
            </a:r>
          </a:p>
          <a:p>
            <a:pPr>
              <a:buFontTx/>
              <a:buChar char="-"/>
            </a:pPr>
            <a:endParaRPr lang="en-US" dirty="0"/>
          </a:p>
          <a:p>
            <a:pPr>
              <a:buFontTx/>
              <a:buChar char="-"/>
            </a:pPr>
            <a:r>
              <a:rPr lang="en-US" dirty="0" err="1"/>
              <a:t>Važnost</a:t>
            </a:r>
            <a:r>
              <a:rPr lang="en-US" dirty="0"/>
              <a:t> </a:t>
            </a:r>
            <a:r>
              <a:rPr lang="en-US" dirty="0" err="1"/>
              <a:t>jasnoće</a:t>
            </a:r>
            <a:r>
              <a:rPr lang="en-US" dirty="0"/>
              <a:t>, </a:t>
            </a:r>
            <a:r>
              <a:rPr lang="en-US" dirty="0" err="1"/>
              <a:t>tona</a:t>
            </a:r>
            <a:r>
              <a:rPr lang="en-US" dirty="0"/>
              <a:t> i </a:t>
            </a:r>
            <a:r>
              <a:rPr lang="en-US" dirty="0" err="1"/>
              <a:t>neverbalnih</a:t>
            </a:r>
            <a:r>
              <a:rPr lang="en-US" dirty="0"/>
              <a:t> </a:t>
            </a:r>
            <a:r>
              <a:rPr lang="en-US" dirty="0" err="1"/>
              <a:t>znakova</a:t>
            </a:r>
            <a:r>
              <a:rPr lang="en-US" dirty="0"/>
              <a:t> u </a:t>
            </a:r>
            <a:r>
              <a:rPr lang="en-US" dirty="0" err="1"/>
              <a:t>komunikaciji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1026" name="Picture 2" descr="body language, voice and words">
            <a:extLst>
              <a:ext uri="{FF2B5EF4-FFF2-40B4-BE49-F238E27FC236}">
                <a16:creationId xmlns:a16="http://schemas.microsoft.com/office/drawing/2014/main" id="{D660D0B1-EC81-8008-2511-B49A136460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832094" y="1825625"/>
            <a:ext cx="3861812" cy="4351338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A0ABF37-7159-B6CF-7184-489F2F9FF5F2}"/>
              </a:ext>
            </a:extLst>
          </p:cNvPr>
          <p:cNvSpPr txBox="1"/>
          <p:nvPr/>
        </p:nvSpPr>
        <p:spPr>
          <a:xfrm>
            <a:off x="6939419" y="5934670"/>
            <a:ext cx="386181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 https://www.revolutionlearning.co.uk/article/body-language-voice-words/</a:t>
            </a:r>
          </a:p>
        </p:txBody>
      </p:sp>
    </p:spTree>
    <p:extLst>
      <p:ext uri="{BB962C8B-B14F-4D97-AF65-F5344CB8AC3E}">
        <p14:creationId xmlns:p14="http://schemas.microsoft.com/office/powerpoint/2010/main" val="265239401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757A57-4AE6-DEFA-A68F-565E48E48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0746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2. </a:t>
            </a:r>
            <a:r>
              <a:rPr lang="en-US" dirty="0" err="1"/>
              <a:t>Prepoznavanje</a:t>
            </a:r>
            <a:r>
              <a:rPr lang="en-US" dirty="0"/>
              <a:t> </a:t>
            </a:r>
            <a:r>
              <a:rPr lang="en-US" dirty="0" err="1"/>
              <a:t>uobičajenih</a:t>
            </a:r>
            <a:r>
              <a:rPr lang="en-US" dirty="0"/>
              <a:t> </a:t>
            </a:r>
            <a:r>
              <a:rPr lang="en-US" dirty="0" err="1"/>
              <a:t>prepreka</a:t>
            </a:r>
            <a:r>
              <a:rPr lang="en-US" dirty="0"/>
              <a:t> </a:t>
            </a:r>
            <a:r>
              <a:rPr lang="en-US" dirty="0" err="1"/>
              <a:t>učinkovitoj</a:t>
            </a:r>
            <a:r>
              <a:rPr lang="en-US" dirty="0"/>
              <a:t> </a:t>
            </a:r>
            <a:r>
              <a:rPr lang="en-US" dirty="0" err="1"/>
              <a:t>komunikaciji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C50FC4-2867-5FD9-EA6A-5E88AB67D3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</a:pPr>
            <a:r>
              <a:rPr lang="en-US" b="1" dirty="0"/>
              <a:t> 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rgbClr val="0ADBBC"/>
                </a:solidFill>
              </a:rPr>
              <a:t>Fizičke </a:t>
            </a:r>
            <a:r>
              <a:rPr lang="en-US" b="1" dirty="0" err="1">
                <a:solidFill>
                  <a:srgbClr val="0ADBBC"/>
                </a:solidFill>
              </a:rPr>
              <a:t>prepreke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dirty="0"/>
              <a:t>(</a:t>
            </a:r>
            <a:r>
              <a:rPr lang="en-US" dirty="0" err="1"/>
              <a:t>udaljeni</a:t>
            </a:r>
            <a:r>
              <a:rPr lang="en-US" dirty="0"/>
              <a:t> </a:t>
            </a:r>
            <a:r>
              <a:rPr lang="en-US" dirty="0" err="1"/>
              <a:t>timovi</a:t>
            </a:r>
            <a:r>
              <a:rPr lang="en-US" dirty="0"/>
              <a:t>, </a:t>
            </a:r>
            <a:r>
              <a:rPr lang="en-US" dirty="0" err="1"/>
              <a:t>loša</a:t>
            </a:r>
            <a:r>
              <a:rPr lang="en-US" dirty="0"/>
              <a:t> </a:t>
            </a:r>
            <a:r>
              <a:rPr lang="en-US" dirty="0" err="1"/>
              <a:t>tehnologija</a:t>
            </a:r>
            <a:r>
              <a:rPr lang="en-US" dirty="0"/>
              <a:t>).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 err="1">
                <a:solidFill>
                  <a:srgbClr val="0ADBBC"/>
                </a:solidFill>
              </a:rPr>
              <a:t>Jezične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b="1" dirty="0" err="1">
                <a:solidFill>
                  <a:srgbClr val="0ADBBC"/>
                </a:solidFill>
              </a:rPr>
              <a:t>prepreke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dirty="0"/>
              <a:t>(</a:t>
            </a:r>
            <a:r>
              <a:rPr lang="en-US" dirty="0" err="1"/>
              <a:t>stručni</a:t>
            </a:r>
            <a:r>
              <a:rPr lang="en-US" dirty="0"/>
              <a:t> </a:t>
            </a:r>
            <a:r>
              <a:rPr lang="en-US" dirty="0" err="1"/>
              <a:t>žargon</a:t>
            </a:r>
            <a:r>
              <a:rPr lang="en-US" dirty="0"/>
              <a:t>, </a:t>
            </a:r>
            <a:r>
              <a:rPr lang="en-US" dirty="0" err="1"/>
              <a:t>kulturne</a:t>
            </a:r>
            <a:r>
              <a:rPr lang="en-US" dirty="0"/>
              <a:t> </a:t>
            </a:r>
            <a:r>
              <a:rPr lang="en-US" dirty="0" err="1"/>
              <a:t>razlike</a:t>
            </a:r>
            <a:r>
              <a:rPr lang="en-US" dirty="0"/>
              <a:t>).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rgbClr val="0ADBBC"/>
                </a:solidFill>
              </a:rPr>
              <a:t>Psihološke </a:t>
            </a:r>
            <a:r>
              <a:rPr lang="en-US" b="1" dirty="0" err="1">
                <a:solidFill>
                  <a:srgbClr val="0ADBBC"/>
                </a:solidFill>
              </a:rPr>
              <a:t>prepreke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dirty="0"/>
              <a:t>(</a:t>
            </a:r>
            <a:r>
              <a:rPr lang="en-US" dirty="0" err="1"/>
              <a:t>stres</a:t>
            </a:r>
            <a:r>
              <a:rPr lang="en-US" dirty="0"/>
              <a:t>, </a:t>
            </a:r>
            <a:r>
              <a:rPr lang="en-US" dirty="0" err="1"/>
              <a:t>pretpostavke</a:t>
            </a:r>
            <a:r>
              <a:rPr lang="en-US" dirty="0"/>
              <a:t>, </a:t>
            </a:r>
            <a:r>
              <a:rPr lang="en-US" dirty="0" err="1"/>
              <a:t>pristranosti</a:t>
            </a:r>
            <a:r>
              <a:rPr lang="en-US" dirty="0"/>
              <a:t>).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 err="1">
                <a:solidFill>
                  <a:srgbClr val="0ADBBC"/>
                </a:solidFill>
              </a:rPr>
              <a:t>Informacijsko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b="1" dirty="0" err="1">
                <a:solidFill>
                  <a:srgbClr val="0ADBBC"/>
                </a:solidFill>
              </a:rPr>
              <a:t>preopterećenje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dirty="0"/>
              <a:t>(</a:t>
            </a:r>
            <a:r>
              <a:rPr lang="en-US" dirty="0" err="1"/>
              <a:t>previše</a:t>
            </a:r>
            <a:r>
              <a:rPr lang="en-US" dirty="0"/>
              <a:t> </a:t>
            </a:r>
            <a:r>
              <a:rPr lang="en-US" dirty="0" err="1"/>
              <a:t>ili</a:t>
            </a:r>
            <a:r>
              <a:rPr lang="en-US" dirty="0"/>
              <a:t> </a:t>
            </a:r>
            <a:r>
              <a:rPr lang="en-US" dirty="0" err="1"/>
              <a:t>premalo</a:t>
            </a:r>
            <a:r>
              <a:rPr lang="en-US" dirty="0"/>
              <a:t> </a:t>
            </a:r>
            <a:r>
              <a:rPr lang="en-US" dirty="0" err="1"/>
              <a:t>informacija</a:t>
            </a:r>
            <a:r>
              <a:rPr lang="en-US" dirty="0"/>
              <a:t>).</a:t>
            </a:r>
          </a:p>
          <a:p>
            <a:endParaRPr lang="en-US" b="1" dirty="0">
              <a:solidFill>
                <a:srgbClr val="0ADBBC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2000767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F572C-B3B2-0CE9-5B59-5EA79F12D7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pl-PL" dirty="0"/>
              <a:t>3. Strategije za unapređenje komunikacije unutar tima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E6064F-016A-61ED-CDB6-7ABFB98657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dirty="0" err="1"/>
              <a:t>Aktivno</a:t>
            </a:r>
            <a:r>
              <a:rPr lang="en-US" dirty="0"/>
              <a:t> </a:t>
            </a:r>
            <a:r>
              <a:rPr lang="en-US" dirty="0" err="1"/>
              <a:t>slušanje</a:t>
            </a:r>
            <a:r>
              <a:rPr lang="en-US" dirty="0"/>
              <a:t> i </a:t>
            </a:r>
            <a:r>
              <a:rPr lang="en-US" dirty="0" err="1"/>
              <a:t>otvoreni</a:t>
            </a:r>
            <a:r>
              <a:rPr lang="en-US" dirty="0"/>
              <a:t> </a:t>
            </a:r>
            <a:r>
              <a:rPr lang="en-US" dirty="0" err="1"/>
              <a:t>krugovi</a:t>
            </a:r>
            <a:r>
              <a:rPr lang="en-US" dirty="0"/>
              <a:t> </a:t>
            </a:r>
            <a:r>
              <a:rPr lang="en-US" dirty="0" err="1"/>
              <a:t>povratne</a:t>
            </a:r>
            <a:r>
              <a:rPr lang="en-US" dirty="0"/>
              <a:t> </a:t>
            </a:r>
            <a:r>
              <a:rPr lang="en-US" dirty="0" err="1"/>
              <a:t>informacije</a:t>
            </a:r>
            <a:r>
              <a:rPr lang="en-US" dirty="0"/>
              <a:t>.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dirty="0"/>
              <a:t>Jasno i </a:t>
            </a:r>
            <a:r>
              <a:rPr lang="en-US" dirty="0" err="1"/>
              <a:t>sažeto</a:t>
            </a:r>
            <a:r>
              <a:rPr lang="en-US" dirty="0"/>
              <a:t> </a:t>
            </a:r>
            <a:r>
              <a:rPr lang="en-US" dirty="0" err="1"/>
              <a:t>komuniciranje</a:t>
            </a:r>
            <a:r>
              <a:rPr lang="en-US" dirty="0"/>
              <a:t>.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dirty="0" err="1"/>
              <a:t>Poticanje</a:t>
            </a:r>
            <a:r>
              <a:rPr lang="en-US" dirty="0"/>
              <a:t> </a:t>
            </a:r>
            <a:r>
              <a:rPr lang="en-US" dirty="0" err="1"/>
              <a:t>transparentnosti</a:t>
            </a:r>
            <a:r>
              <a:rPr lang="en-US" dirty="0"/>
              <a:t> i </a:t>
            </a:r>
            <a:r>
              <a:rPr lang="en-US" dirty="0" err="1"/>
              <a:t>povjerenja</a:t>
            </a:r>
            <a:r>
              <a:rPr lang="en-US" dirty="0"/>
              <a:t>.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dirty="0" err="1"/>
              <a:t>Prilagodba</a:t>
            </a:r>
            <a:r>
              <a:rPr lang="en-US" dirty="0"/>
              <a:t> </a:t>
            </a:r>
            <a:r>
              <a:rPr lang="en-US" dirty="0" err="1"/>
              <a:t>komunikacijskog</a:t>
            </a:r>
            <a:r>
              <a:rPr lang="en-US" dirty="0"/>
              <a:t> </a:t>
            </a:r>
            <a:r>
              <a:rPr lang="en-US" dirty="0" err="1"/>
              <a:t>stila</a:t>
            </a:r>
            <a:r>
              <a:rPr lang="en-US" dirty="0"/>
              <a:t> </a:t>
            </a:r>
            <a:r>
              <a:rPr lang="en-US" dirty="0" err="1"/>
              <a:t>potrebama</a:t>
            </a:r>
            <a:r>
              <a:rPr lang="en-US" dirty="0"/>
              <a:t> </a:t>
            </a:r>
            <a:r>
              <a:rPr lang="en-US" dirty="0" err="1"/>
              <a:t>članova</a:t>
            </a:r>
            <a:r>
              <a:rPr lang="en-US" dirty="0"/>
              <a:t> </a:t>
            </a:r>
            <a:r>
              <a:rPr lang="en-US" dirty="0" err="1"/>
              <a:t>tima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449898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E15B55-A403-BD2E-626B-981C52B51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4. </a:t>
            </a:r>
            <a:r>
              <a:rPr lang="en-US" dirty="0" err="1"/>
              <a:t>Različite</a:t>
            </a:r>
            <a:r>
              <a:rPr lang="en-US" dirty="0"/>
              <a:t> </a:t>
            </a:r>
            <a:r>
              <a:rPr lang="en-US" dirty="0" err="1"/>
              <a:t>metode</a:t>
            </a:r>
            <a:r>
              <a:rPr lang="en-US" dirty="0"/>
              <a:t> </a:t>
            </a:r>
            <a:r>
              <a:rPr lang="en-US" dirty="0" err="1"/>
              <a:t>komunikacije</a:t>
            </a:r>
            <a:br>
              <a:rPr lang="en-US" b="1" dirty="0">
                <a:latin typeface="Bahnschrift SemiLight" panose="020B0502040204020203" pitchFamily="34" charset="0"/>
              </a:rPr>
            </a:br>
            <a:endParaRPr lang="en-US" dirty="0">
              <a:latin typeface="Bahnschrift SemiLight" panose="020B0502040204020203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E0C321-D1D0-9B5B-805D-8009F7FB48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00781"/>
            <a:ext cx="10515600" cy="4351338"/>
          </a:xfrm>
        </p:spPr>
        <p:txBody>
          <a:bodyPr>
            <a:norm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b="1" dirty="0"/>
              <a:t>E-mail </a:t>
            </a:r>
            <a:r>
              <a:rPr lang="en-US" dirty="0"/>
              <a:t>– </a:t>
            </a:r>
            <a:r>
              <a:rPr lang="en-US" dirty="0" err="1"/>
              <a:t>formalna</a:t>
            </a:r>
            <a:r>
              <a:rPr lang="en-US" dirty="0"/>
              <a:t> </a:t>
            </a:r>
            <a:r>
              <a:rPr lang="en-US" dirty="0" err="1"/>
              <a:t>dokumentacija</a:t>
            </a:r>
            <a:r>
              <a:rPr lang="en-US" dirty="0"/>
              <a:t>, </a:t>
            </a:r>
            <a:r>
              <a:rPr lang="en-US" dirty="0" err="1"/>
              <a:t>asinkrone</a:t>
            </a:r>
            <a:r>
              <a:rPr lang="en-US" dirty="0"/>
              <a:t> </a:t>
            </a:r>
            <a:r>
              <a:rPr lang="en-US" dirty="0" err="1"/>
              <a:t>informacije</a:t>
            </a:r>
            <a:r>
              <a:rPr lang="en-US" dirty="0"/>
              <a:t>.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b="1" dirty="0" err="1"/>
              <a:t>Sastanci</a:t>
            </a:r>
            <a:r>
              <a:rPr lang="en-US" b="1" dirty="0"/>
              <a:t> </a:t>
            </a:r>
            <a:r>
              <a:rPr lang="en-US" dirty="0"/>
              <a:t>– </a:t>
            </a:r>
            <a:r>
              <a:rPr lang="en-US" dirty="0" err="1"/>
              <a:t>rasprava</a:t>
            </a:r>
            <a:r>
              <a:rPr lang="en-US" dirty="0"/>
              <a:t> u </a:t>
            </a:r>
            <a:r>
              <a:rPr lang="en-US" dirty="0" err="1"/>
              <a:t>stvarnom</a:t>
            </a:r>
            <a:r>
              <a:rPr lang="en-US" dirty="0"/>
              <a:t> </a:t>
            </a:r>
            <a:r>
              <a:rPr lang="en-US" dirty="0" err="1"/>
              <a:t>vremenu</a:t>
            </a:r>
            <a:r>
              <a:rPr lang="en-US" dirty="0"/>
              <a:t>, brainstorming, </a:t>
            </a:r>
            <a:r>
              <a:rPr lang="en-US" dirty="0" err="1"/>
              <a:t>donošenje</a:t>
            </a:r>
            <a:r>
              <a:rPr lang="en-US" dirty="0"/>
              <a:t> </a:t>
            </a:r>
            <a:r>
              <a:rPr lang="en-US" dirty="0" err="1"/>
              <a:t>odluka</a:t>
            </a:r>
            <a:r>
              <a:rPr lang="en-US" dirty="0"/>
              <a:t>.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b="1" dirty="0" err="1"/>
              <a:t>Izvješća</a:t>
            </a:r>
            <a:r>
              <a:rPr lang="en-US" b="1" dirty="0"/>
              <a:t> </a:t>
            </a:r>
            <a:r>
              <a:rPr lang="en-US" dirty="0"/>
              <a:t>– </a:t>
            </a:r>
            <a:r>
              <a:rPr lang="en-US" dirty="0" err="1"/>
              <a:t>detaljni</a:t>
            </a:r>
            <a:r>
              <a:rPr lang="en-US" dirty="0"/>
              <a:t> </a:t>
            </a:r>
            <a:r>
              <a:rPr lang="en-US" dirty="0" err="1"/>
              <a:t>uvidi</a:t>
            </a:r>
            <a:r>
              <a:rPr lang="en-US" dirty="0"/>
              <a:t>, </a:t>
            </a:r>
            <a:r>
              <a:rPr lang="en-US" dirty="0" err="1"/>
              <a:t>praćenje</a:t>
            </a:r>
            <a:r>
              <a:rPr lang="en-US" dirty="0"/>
              <a:t> </a:t>
            </a:r>
            <a:r>
              <a:rPr lang="en-US" dirty="0" err="1"/>
              <a:t>uspješnosti</a:t>
            </a:r>
            <a:r>
              <a:rPr lang="en-US" dirty="0"/>
              <a:t>.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b="1" dirty="0" err="1"/>
              <a:t>Kontrolne</a:t>
            </a:r>
            <a:r>
              <a:rPr lang="en-US" b="1" dirty="0"/>
              <a:t> </a:t>
            </a:r>
            <a:r>
              <a:rPr lang="en-US" b="1" dirty="0" err="1"/>
              <a:t>ploče</a:t>
            </a:r>
            <a:r>
              <a:rPr lang="en-US" b="1" dirty="0"/>
              <a:t> (</a:t>
            </a:r>
            <a:r>
              <a:rPr lang="en-US" b="1" dirty="0" err="1"/>
              <a:t>dashboardi</a:t>
            </a:r>
            <a:r>
              <a:rPr lang="en-US" b="1" dirty="0"/>
              <a:t>) </a:t>
            </a:r>
            <a:r>
              <a:rPr lang="en-US" dirty="0"/>
              <a:t>– </a:t>
            </a:r>
            <a:r>
              <a:rPr lang="en-US" dirty="0" err="1"/>
              <a:t>vizualni</a:t>
            </a:r>
            <a:r>
              <a:rPr lang="en-US" dirty="0"/>
              <a:t> </a:t>
            </a:r>
            <a:r>
              <a:rPr lang="en-US" dirty="0" err="1"/>
              <a:t>prikaz</a:t>
            </a:r>
            <a:r>
              <a:rPr lang="en-US" dirty="0"/>
              <a:t> </a:t>
            </a:r>
            <a:r>
              <a:rPr lang="en-US" dirty="0" err="1"/>
              <a:t>napretka</a:t>
            </a:r>
            <a:r>
              <a:rPr lang="en-US" dirty="0"/>
              <a:t> </a:t>
            </a:r>
            <a:r>
              <a:rPr lang="en-US" dirty="0" err="1"/>
              <a:t>projekta</a:t>
            </a:r>
            <a:r>
              <a:rPr lang="en-US" dirty="0"/>
              <a:t>.</a:t>
            </a:r>
          </a:p>
          <a:p>
            <a:pPr>
              <a:lnSpc>
                <a:spcPct val="150000"/>
              </a:lnSpc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441533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66677B-C9E8-CB1D-764A-4D40B73EC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4000" dirty="0"/>
              <a:t>5. Odabir </a:t>
            </a:r>
            <a:r>
              <a:rPr lang="en-US" sz="4000" dirty="0" err="1"/>
              <a:t>odgovarajuće</a:t>
            </a:r>
            <a:r>
              <a:rPr lang="en-US" sz="4000" dirty="0"/>
              <a:t> </a:t>
            </a:r>
            <a:r>
              <a:rPr lang="en-US" sz="4000" dirty="0" err="1"/>
              <a:t>metode</a:t>
            </a:r>
            <a:r>
              <a:rPr lang="en-US" sz="4000" dirty="0"/>
              <a:t> </a:t>
            </a:r>
            <a:r>
              <a:rPr lang="en-US" sz="4000" dirty="0" err="1"/>
              <a:t>komunikacije</a:t>
            </a:r>
            <a:r>
              <a:rPr lang="en-US" sz="4000" dirty="0"/>
              <a:t> za </a:t>
            </a:r>
            <a:r>
              <a:rPr lang="en-US" sz="4000" dirty="0" err="1"/>
              <a:t>različite</a:t>
            </a:r>
            <a:r>
              <a:rPr lang="en-US" sz="4000" dirty="0"/>
              <a:t> </a:t>
            </a:r>
            <a:r>
              <a:rPr lang="en-US" sz="4000" dirty="0" err="1"/>
              <a:t>situacije</a:t>
            </a:r>
            <a:br>
              <a:rPr lang="en-US" b="1" dirty="0">
                <a:latin typeface="Montserrat" panose="00000500000000000000" pitchFamily="2" charset="0"/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80A9CE-6AEC-8403-DBA9-2472B1DA7E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5464" y="1800572"/>
            <a:ext cx="10628335" cy="4474967"/>
          </a:xfrm>
        </p:spPr>
        <p:txBody>
          <a:bodyPr/>
          <a:lstStyle/>
          <a:p>
            <a:pPr marL="0" indent="0">
              <a:lnSpc>
                <a:spcPct val="150000"/>
              </a:lnSpc>
              <a:buNone/>
            </a:pPr>
            <a:r>
              <a:rPr lang="en-US" b="1" dirty="0" err="1">
                <a:solidFill>
                  <a:srgbClr val="0ADBBC"/>
                </a:solidFill>
              </a:rPr>
              <a:t>Brze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b="1" dirty="0" err="1">
                <a:solidFill>
                  <a:srgbClr val="0ADBBC"/>
                </a:solidFill>
              </a:rPr>
              <a:t>obavijesti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dirty="0"/>
              <a:t>→ chat </a:t>
            </a:r>
            <a:r>
              <a:rPr lang="en-US" dirty="0" err="1"/>
              <a:t>ili</a:t>
            </a:r>
            <a:r>
              <a:rPr lang="en-US" dirty="0"/>
              <a:t> e-mail.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b="1" dirty="0" err="1">
                <a:solidFill>
                  <a:srgbClr val="0ADBBC"/>
                </a:solidFill>
              </a:rPr>
              <a:t>Važne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b="1" dirty="0" err="1">
                <a:solidFill>
                  <a:srgbClr val="0ADBBC"/>
                </a:solidFill>
              </a:rPr>
              <a:t>odluke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dirty="0"/>
              <a:t>→ </a:t>
            </a:r>
            <a:r>
              <a:rPr lang="en-US" dirty="0" err="1"/>
              <a:t>sastanci</a:t>
            </a:r>
            <a:r>
              <a:rPr lang="en-US" dirty="0"/>
              <a:t> </a:t>
            </a:r>
            <a:r>
              <a:rPr lang="en-US" dirty="0" err="1"/>
              <a:t>ili</a:t>
            </a:r>
            <a:r>
              <a:rPr lang="en-US" dirty="0"/>
              <a:t> </a:t>
            </a:r>
            <a:r>
              <a:rPr lang="en-US" dirty="0" err="1"/>
              <a:t>izvješća</a:t>
            </a:r>
            <a:r>
              <a:rPr lang="en-US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b="1" dirty="0" err="1">
                <a:solidFill>
                  <a:srgbClr val="0ADBBC"/>
                </a:solidFill>
              </a:rPr>
              <a:t>Praćenje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b="1" dirty="0" err="1">
                <a:solidFill>
                  <a:srgbClr val="0ADBBC"/>
                </a:solidFill>
              </a:rPr>
              <a:t>projekta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dirty="0"/>
              <a:t>→ </a:t>
            </a:r>
            <a:r>
              <a:rPr lang="en-US" dirty="0" err="1"/>
              <a:t>dashboardi</a:t>
            </a:r>
            <a:r>
              <a:rPr lang="en-US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b="1" dirty="0" err="1">
                <a:solidFill>
                  <a:srgbClr val="0ADBBC"/>
                </a:solidFill>
              </a:rPr>
              <a:t>Rješavanje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b="1" dirty="0" err="1">
                <a:solidFill>
                  <a:srgbClr val="0ADBBC"/>
                </a:solidFill>
              </a:rPr>
              <a:t>konflikata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dirty="0"/>
              <a:t>→ </a:t>
            </a:r>
            <a:r>
              <a:rPr lang="en-US" dirty="0" err="1"/>
              <a:t>komunikacija</a:t>
            </a:r>
            <a:r>
              <a:rPr lang="en-US" dirty="0"/>
              <a:t> </a:t>
            </a:r>
            <a:r>
              <a:rPr lang="en-US" dirty="0" err="1"/>
              <a:t>uživo</a:t>
            </a:r>
            <a:r>
              <a:rPr lang="en-US" dirty="0"/>
              <a:t> </a:t>
            </a:r>
            <a:r>
              <a:rPr lang="en-US" dirty="0" err="1"/>
              <a:t>ili</a:t>
            </a:r>
            <a:r>
              <a:rPr lang="en-US" dirty="0"/>
              <a:t> video </a:t>
            </a:r>
            <a:r>
              <a:rPr lang="en-US" dirty="0" err="1"/>
              <a:t>pozivi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7554583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A36E7-0D62-C40F-A817-4A27F8D5FD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sz="4000" dirty="0"/>
              <a:t>6. Utjecaj komunikacijskih metoda na uspjeh projekta</a:t>
            </a:r>
            <a:br>
              <a:rPr lang="en-US" b="1" dirty="0">
                <a:latin typeface="Bahnschrift SemiLight" panose="020B0502040204020203" pitchFamily="34" charset="0"/>
              </a:rPr>
            </a:br>
            <a:endParaRPr lang="en-US" dirty="0">
              <a:latin typeface="Bahnschrift SemiLight" panose="020B0502040204020203" pitchFamily="34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9DD6D1-57A6-F1F9-4A53-50D2D23632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dirty="0" err="1"/>
              <a:t>Učinkovita</a:t>
            </a:r>
            <a:r>
              <a:rPr lang="en-US" dirty="0"/>
              <a:t> </a:t>
            </a:r>
            <a:r>
              <a:rPr lang="en-US" dirty="0" err="1"/>
              <a:t>komunikacija</a:t>
            </a:r>
            <a:r>
              <a:rPr lang="en-US" dirty="0"/>
              <a:t> </a:t>
            </a:r>
            <a:r>
              <a:rPr lang="en-US" b="1" dirty="0" err="1">
                <a:solidFill>
                  <a:srgbClr val="0ADBBC"/>
                </a:solidFill>
              </a:rPr>
              <a:t>osigurava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b="1" dirty="0" err="1">
                <a:solidFill>
                  <a:srgbClr val="0ADBBC"/>
                </a:solidFill>
              </a:rPr>
              <a:t>jasnoću</a:t>
            </a:r>
            <a:r>
              <a:rPr lang="en-US" b="1" dirty="0">
                <a:solidFill>
                  <a:srgbClr val="0ADBBC"/>
                </a:solidFill>
              </a:rPr>
              <a:t>, </a:t>
            </a:r>
            <a:r>
              <a:rPr lang="en-US" b="1" dirty="0" err="1">
                <a:solidFill>
                  <a:srgbClr val="0ADBBC"/>
                </a:solidFill>
              </a:rPr>
              <a:t>smanjuje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b="1" dirty="0" err="1">
                <a:solidFill>
                  <a:srgbClr val="0ADBBC"/>
                </a:solidFill>
              </a:rPr>
              <a:t>nesporazume</a:t>
            </a:r>
            <a:r>
              <a:rPr lang="en-US" dirty="0"/>
              <a:t> i </a:t>
            </a:r>
            <a:r>
              <a:rPr lang="en-US" dirty="0" err="1"/>
              <a:t>usklađuje</a:t>
            </a:r>
            <a:r>
              <a:rPr lang="en-US" dirty="0"/>
              <a:t> rad </a:t>
            </a:r>
            <a:r>
              <a:rPr lang="en-US" dirty="0" err="1"/>
              <a:t>tima</a:t>
            </a:r>
            <a:r>
              <a:rPr lang="en-US" dirty="0"/>
              <a:t>.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dirty="0"/>
              <a:t>Odabir </a:t>
            </a:r>
            <a:r>
              <a:rPr lang="en-US" dirty="0" err="1"/>
              <a:t>odgovarajuće</a:t>
            </a:r>
            <a:r>
              <a:rPr lang="en-US" dirty="0"/>
              <a:t> </a:t>
            </a:r>
            <a:r>
              <a:rPr lang="en-US" b="1" dirty="0" err="1">
                <a:solidFill>
                  <a:srgbClr val="0ADBBC"/>
                </a:solidFill>
              </a:rPr>
              <a:t>metode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b="1" dirty="0" err="1">
                <a:solidFill>
                  <a:srgbClr val="0ADBBC"/>
                </a:solidFill>
              </a:rPr>
              <a:t>unapređuje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b="1" dirty="0" err="1">
                <a:solidFill>
                  <a:srgbClr val="0ADBBC"/>
                </a:solidFill>
              </a:rPr>
              <a:t>suradnju</a:t>
            </a:r>
            <a:r>
              <a:rPr lang="en-US" b="1" dirty="0">
                <a:solidFill>
                  <a:srgbClr val="0ADBBC"/>
                </a:solidFill>
              </a:rPr>
              <a:t>, </a:t>
            </a:r>
            <a:r>
              <a:rPr lang="en-US" b="1" dirty="0" err="1">
                <a:solidFill>
                  <a:srgbClr val="0ADBBC"/>
                </a:solidFill>
              </a:rPr>
              <a:t>učinkovitost</a:t>
            </a:r>
            <a:r>
              <a:rPr lang="en-US" b="1" dirty="0">
                <a:solidFill>
                  <a:srgbClr val="0ADBBC"/>
                </a:solidFill>
              </a:rPr>
              <a:t> i </a:t>
            </a:r>
            <a:r>
              <a:rPr lang="en-US" b="1" dirty="0" err="1">
                <a:solidFill>
                  <a:srgbClr val="0ADBBC"/>
                </a:solidFill>
              </a:rPr>
              <a:t>donošenje</a:t>
            </a:r>
            <a:r>
              <a:rPr lang="en-US" b="1" dirty="0">
                <a:solidFill>
                  <a:srgbClr val="0ADBBC"/>
                </a:solidFill>
              </a:rPr>
              <a:t> </a:t>
            </a:r>
            <a:r>
              <a:rPr lang="en-US" b="1" dirty="0" err="1">
                <a:solidFill>
                  <a:srgbClr val="0ADBBC"/>
                </a:solidFill>
              </a:rPr>
              <a:t>odluka</a:t>
            </a:r>
            <a:r>
              <a:rPr lang="en-US" dirty="0"/>
              <a:t>.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/>
            </a:pPr>
            <a:r>
              <a:rPr lang="en-US" dirty="0" err="1"/>
              <a:t>Loša</a:t>
            </a:r>
            <a:r>
              <a:rPr lang="en-US" dirty="0"/>
              <a:t> </a:t>
            </a:r>
            <a:r>
              <a:rPr lang="en-US" dirty="0" err="1"/>
              <a:t>komunikacija</a:t>
            </a:r>
            <a:r>
              <a:rPr lang="en-US" dirty="0"/>
              <a:t> </a:t>
            </a:r>
            <a:r>
              <a:rPr lang="en-US" dirty="0" err="1"/>
              <a:t>dovodi</a:t>
            </a:r>
            <a:r>
              <a:rPr lang="en-US" dirty="0"/>
              <a:t> do </a:t>
            </a:r>
            <a:r>
              <a:rPr lang="en-US" dirty="0" err="1"/>
              <a:t>kašnjenja</a:t>
            </a:r>
            <a:r>
              <a:rPr lang="en-US" dirty="0"/>
              <a:t>, </a:t>
            </a:r>
            <a:r>
              <a:rPr lang="en-US" dirty="0" err="1"/>
              <a:t>niskog</a:t>
            </a:r>
            <a:r>
              <a:rPr lang="en-US" dirty="0"/>
              <a:t> </a:t>
            </a:r>
            <a:r>
              <a:rPr lang="en-US" dirty="0" err="1"/>
              <a:t>morala</a:t>
            </a:r>
            <a:r>
              <a:rPr lang="en-US" dirty="0"/>
              <a:t> i </a:t>
            </a:r>
            <a:r>
              <a:rPr lang="en-US" dirty="0" err="1"/>
              <a:t>projektnih</a:t>
            </a:r>
            <a:r>
              <a:rPr lang="en-US" dirty="0"/>
              <a:t> </a:t>
            </a:r>
            <a:r>
              <a:rPr lang="en-US" dirty="0" err="1"/>
              <a:t>rizika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438987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186D6-6967-AE3A-A351-77CF65F9B7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7470"/>
            <a:ext cx="10515600" cy="1325563"/>
          </a:xfrm>
        </p:spPr>
        <p:txBody>
          <a:bodyPr>
            <a:normAutofit/>
          </a:bodyPr>
          <a:lstStyle/>
          <a:p>
            <a:r>
              <a:rPr lang="pl-PL" dirty="0"/>
              <a:t>Studija slučaja: Komunikacijski slom u projektu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7FC6BB-46C0-0445-2D1C-802C740929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3663" y="2110592"/>
            <a:ext cx="10515600" cy="4351338"/>
          </a:xfrm>
        </p:spPr>
        <p:txBody>
          <a:bodyPr>
            <a:normAutofit/>
          </a:bodyPr>
          <a:lstStyle/>
          <a:p>
            <a:pPr>
              <a:buNone/>
            </a:pPr>
            <a:r>
              <a:rPr lang="en-US" b="1" dirty="0" err="1">
                <a:solidFill>
                  <a:srgbClr val="0ADBBC"/>
                </a:solidFill>
              </a:rPr>
              <a:t>Pozadina</a:t>
            </a:r>
            <a:endParaRPr lang="en-US" b="1" dirty="0">
              <a:solidFill>
                <a:srgbClr val="0ADBBC"/>
              </a:solidFill>
            </a:endParaRPr>
          </a:p>
          <a:p>
            <a:pPr marL="0" indent="0">
              <a:buNone/>
            </a:pPr>
            <a:r>
              <a:rPr lang="en-US" dirty="0"/>
              <a:t>Tim za </a:t>
            </a:r>
            <a:r>
              <a:rPr lang="en-US" dirty="0" err="1"/>
              <a:t>razvoj</a:t>
            </a:r>
            <a:r>
              <a:rPr lang="en-US" dirty="0"/>
              <a:t> </a:t>
            </a:r>
            <a:r>
              <a:rPr lang="en-US" dirty="0" err="1"/>
              <a:t>softvera</a:t>
            </a:r>
            <a:r>
              <a:rPr lang="en-US" dirty="0"/>
              <a:t> </a:t>
            </a:r>
            <a:r>
              <a:rPr lang="en-US" dirty="0" err="1"/>
              <a:t>dobio</a:t>
            </a:r>
            <a:r>
              <a:rPr lang="en-US" dirty="0"/>
              <a:t> je </a:t>
            </a:r>
            <a:r>
              <a:rPr lang="en-US" dirty="0" err="1"/>
              <a:t>zadatak</a:t>
            </a:r>
            <a:r>
              <a:rPr lang="en-US" dirty="0"/>
              <a:t> </a:t>
            </a:r>
            <a:r>
              <a:rPr lang="en-US" dirty="0" err="1"/>
              <a:t>isporučiti</a:t>
            </a:r>
            <a:r>
              <a:rPr lang="en-US" dirty="0"/>
              <a:t> novi </a:t>
            </a:r>
            <a:r>
              <a:rPr lang="en-US" dirty="0" err="1"/>
              <a:t>sustav</a:t>
            </a:r>
            <a:r>
              <a:rPr lang="en-US" dirty="0"/>
              <a:t> za </a:t>
            </a:r>
            <a:r>
              <a:rPr lang="en-US" dirty="0" err="1"/>
              <a:t>upravljanje</a:t>
            </a:r>
            <a:r>
              <a:rPr lang="en-US" dirty="0"/>
              <a:t> </a:t>
            </a:r>
            <a:r>
              <a:rPr lang="en-US" dirty="0" err="1"/>
              <a:t>korisnicima</a:t>
            </a:r>
            <a:r>
              <a:rPr lang="en-US" dirty="0"/>
              <a:t> u </a:t>
            </a:r>
            <a:r>
              <a:rPr lang="en-US" dirty="0" err="1"/>
              <a:t>roku</a:t>
            </a:r>
            <a:r>
              <a:rPr lang="en-US" dirty="0"/>
              <a:t> od </a:t>
            </a:r>
            <a:r>
              <a:rPr lang="en-US" dirty="0" err="1"/>
              <a:t>šest</a:t>
            </a:r>
            <a:r>
              <a:rPr lang="en-US" dirty="0"/>
              <a:t> </a:t>
            </a:r>
            <a:r>
              <a:rPr lang="en-US" dirty="0" err="1"/>
              <a:t>mjeseci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Tim se </a:t>
            </a:r>
            <a:r>
              <a:rPr lang="en-US" dirty="0" err="1"/>
              <a:t>sastojao</a:t>
            </a:r>
            <a:r>
              <a:rPr lang="en-US" dirty="0"/>
              <a:t> od </a:t>
            </a:r>
            <a:r>
              <a:rPr lang="en-US" dirty="0" err="1"/>
              <a:t>developera</a:t>
            </a:r>
            <a:r>
              <a:rPr lang="en-US" dirty="0"/>
              <a:t>, </a:t>
            </a:r>
            <a:r>
              <a:rPr lang="en-US" dirty="0" err="1"/>
              <a:t>dizajnera</a:t>
            </a:r>
            <a:r>
              <a:rPr lang="en-US" dirty="0"/>
              <a:t>, </a:t>
            </a:r>
            <a:r>
              <a:rPr lang="en-US" dirty="0" err="1"/>
              <a:t>marketinških</a:t>
            </a:r>
            <a:r>
              <a:rPr lang="en-US" dirty="0"/>
              <a:t> </a:t>
            </a:r>
            <a:r>
              <a:rPr lang="en-US" dirty="0" err="1"/>
              <a:t>stručnjaka</a:t>
            </a:r>
            <a:r>
              <a:rPr lang="en-US" dirty="0"/>
              <a:t> i </a:t>
            </a:r>
            <a:r>
              <a:rPr lang="en-US" dirty="0" err="1"/>
              <a:t>dionika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 err="1"/>
              <a:t>Unatoč</a:t>
            </a:r>
            <a:r>
              <a:rPr lang="en-US" dirty="0"/>
              <a:t> </a:t>
            </a:r>
            <a:r>
              <a:rPr lang="en-US" dirty="0" err="1"/>
              <a:t>redovitim</a:t>
            </a:r>
            <a:r>
              <a:rPr lang="en-US" dirty="0"/>
              <a:t> </a:t>
            </a:r>
            <a:r>
              <a:rPr lang="en-US" dirty="0" err="1"/>
              <a:t>sastancima</a:t>
            </a:r>
            <a:r>
              <a:rPr lang="en-US" dirty="0"/>
              <a:t> i e-mail </a:t>
            </a:r>
            <a:r>
              <a:rPr lang="en-US" dirty="0" err="1"/>
              <a:t>ažuriranjima</a:t>
            </a:r>
            <a:r>
              <a:rPr lang="en-US" dirty="0"/>
              <a:t>, </a:t>
            </a:r>
            <a:r>
              <a:rPr lang="en-US" dirty="0" err="1"/>
              <a:t>projekt</a:t>
            </a:r>
            <a:r>
              <a:rPr lang="en-US" dirty="0"/>
              <a:t> je </a:t>
            </a:r>
            <a:r>
              <a:rPr lang="en-US" dirty="0" err="1"/>
              <a:t>kasnio</a:t>
            </a:r>
            <a:r>
              <a:rPr lang="en-US" dirty="0"/>
              <a:t>, </a:t>
            </a:r>
            <a:r>
              <a:rPr lang="en-US" dirty="0" err="1"/>
              <a:t>što</a:t>
            </a:r>
            <a:r>
              <a:rPr lang="en-US" dirty="0"/>
              <a:t> je </a:t>
            </a:r>
            <a:r>
              <a:rPr lang="en-US" dirty="0" err="1"/>
              <a:t>dovelo</a:t>
            </a:r>
            <a:r>
              <a:rPr lang="en-US" dirty="0"/>
              <a:t> do </a:t>
            </a:r>
            <a:r>
              <a:rPr lang="en-US" dirty="0" err="1"/>
              <a:t>frustracije</a:t>
            </a:r>
            <a:r>
              <a:rPr lang="en-US" dirty="0"/>
              <a:t> i </a:t>
            </a:r>
            <a:r>
              <a:rPr lang="en-US" dirty="0" err="1"/>
              <a:t>neusklađenosti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9304371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BE99E4-1D82-48A5-FC35-18B812C1D3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BE982B-D646-4EE7-087C-3A41C5DBCE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3192"/>
            <a:ext cx="10515600" cy="1325563"/>
          </a:xfrm>
        </p:spPr>
        <p:txBody>
          <a:bodyPr>
            <a:normAutofit/>
          </a:bodyPr>
          <a:lstStyle/>
          <a:p>
            <a:r>
              <a:rPr lang="pl-PL" dirty="0"/>
              <a:t>Rasprava</a:t>
            </a:r>
            <a:br>
              <a:rPr lang="pl-PL" dirty="0"/>
            </a:br>
            <a:r>
              <a:rPr lang="pl-PL" dirty="0"/>
              <a:t>Komunikacijski slom u projektu I.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8CCF55-D725-961E-726E-B675F95C94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548" y="1570372"/>
            <a:ext cx="10668000" cy="5395912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000" b="1" dirty="0" err="1">
                <a:solidFill>
                  <a:srgbClr val="0ADBBC"/>
                </a:solidFill>
              </a:rPr>
              <a:t>Identificirani</a:t>
            </a:r>
            <a:r>
              <a:rPr lang="en-US" sz="2000" b="1" dirty="0">
                <a:solidFill>
                  <a:srgbClr val="0ADBBC"/>
                </a:solidFill>
              </a:rPr>
              <a:t> </a:t>
            </a:r>
            <a:r>
              <a:rPr lang="en-US" sz="2000" b="1" dirty="0" err="1">
                <a:solidFill>
                  <a:srgbClr val="0ADBBC"/>
                </a:solidFill>
              </a:rPr>
              <a:t>komunikacijski</a:t>
            </a:r>
            <a:r>
              <a:rPr lang="en-US" sz="2000" b="1" dirty="0">
                <a:solidFill>
                  <a:srgbClr val="0ADBBC"/>
                </a:solidFill>
              </a:rPr>
              <a:t> </a:t>
            </a:r>
            <a:r>
              <a:rPr lang="en-US" sz="2000" b="1" dirty="0" err="1">
                <a:solidFill>
                  <a:srgbClr val="0ADBBC"/>
                </a:solidFill>
              </a:rPr>
              <a:t>problemi</a:t>
            </a:r>
            <a:endParaRPr lang="en-US" sz="2000" b="1" dirty="0">
              <a:solidFill>
                <a:srgbClr val="0ADBBC"/>
              </a:solidFill>
            </a:endParaRP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en-US" sz="1800" b="1" dirty="0" err="1"/>
              <a:t>Nedostatak</a:t>
            </a:r>
            <a:r>
              <a:rPr lang="en-US" sz="1800" b="1" dirty="0"/>
              <a:t> </a:t>
            </a:r>
            <a:r>
              <a:rPr lang="en-US" sz="1800" b="1" dirty="0" err="1"/>
              <a:t>jasnoće</a:t>
            </a:r>
            <a:r>
              <a:rPr lang="en-US" sz="1800" b="1" dirty="0"/>
              <a:t> u </a:t>
            </a:r>
            <a:r>
              <a:rPr lang="en-US" sz="1800" b="1" dirty="0" err="1"/>
              <a:t>ulogama</a:t>
            </a:r>
            <a:r>
              <a:rPr lang="en-US" sz="1800" b="1" dirty="0"/>
              <a:t> i </a:t>
            </a:r>
            <a:r>
              <a:rPr lang="en-US" sz="1800" b="1" dirty="0" err="1"/>
              <a:t>odgovornostima</a:t>
            </a:r>
            <a:r>
              <a:rPr lang="en-US" sz="1800" b="1" dirty="0"/>
              <a:t> </a:t>
            </a:r>
            <a:r>
              <a:rPr lang="en-US" sz="1800" dirty="0"/>
              <a:t>– </a:t>
            </a:r>
            <a:r>
              <a:rPr lang="en-US" sz="1800" dirty="0" err="1"/>
              <a:t>članovi</a:t>
            </a:r>
            <a:r>
              <a:rPr lang="en-US" sz="1800" dirty="0"/>
              <a:t> </a:t>
            </a:r>
            <a:r>
              <a:rPr lang="en-US" sz="1800" dirty="0" err="1"/>
              <a:t>tima</a:t>
            </a:r>
            <a:r>
              <a:rPr lang="en-US" sz="1800" dirty="0"/>
              <a:t> </a:t>
            </a:r>
            <a:r>
              <a:rPr lang="en-US" sz="1800" dirty="0" err="1"/>
              <a:t>nisu</a:t>
            </a:r>
            <a:r>
              <a:rPr lang="en-US" sz="1800" dirty="0"/>
              <a:t> </a:t>
            </a:r>
            <a:r>
              <a:rPr lang="en-US" sz="1800" dirty="0" err="1"/>
              <a:t>bili</a:t>
            </a:r>
            <a:r>
              <a:rPr lang="en-US" sz="1800" dirty="0"/>
              <a:t> </a:t>
            </a:r>
            <a:r>
              <a:rPr lang="en-US" sz="1800" dirty="0" err="1"/>
              <a:t>sigurni</a:t>
            </a:r>
            <a:r>
              <a:rPr lang="en-US" sz="1800" dirty="0"/>
              <a:t> u </a:t>
            </a:r>
            <a:r>
              <a:rPr lang="en-US" sz="1800" dirty="0" err="1"/>
              <a:t>svoje</a:t>
            </a:r>
            <a:r>
              <a:rPr lang="en-US" sz="1800" dirty="0"/>
              <a:t> </a:t>
            </a:r>
            <a:r>
              <a:rPr lang="en-US" sz="1800" dirty="0" err="1"/>
              <a:t>zadatke</a:t>
            </a:r>
            <a:r>
              <a:rPr lang="en-US" sz="1800" dirty="0"/>
              <a:t> i </a:t>
            </a:r>
            <a:r>
              <a:rPr lang="en-US" sz="1800" dirty="0" err="1"/>
              <a:t>rokove</a:t>
            </a:r>
            <a:r>
              <a:rPr lang="en-US" sz="1800" dirty="0"/>
              <a:t>.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en-US" sz="1800" b="1" dirty="0" err="1"/>
              <a:t>Preopterećenost</a:t>
            </a:r>
            <a:r>
              <a:rPr lang="en-US" sz="1800" b="1" dirty="0"/>
              <a:t> </a:t>
            </a:r>
            <a:r>
              <a:rPr lang="en-US" sz="1800" b="1" dirty="0" err="1"/>
              <a:t>informacijama</a:t>
            </a:r>
            <a:r>
              <a:rPr lang="en-US" sz="1800" b="1" dirty="0"/>
              <a:t> u e-</a:t>
            </a:r>
            <a:r>
              <a:rPr lang="en-US" sz="1800" b="1" dirty="0" err="1"/>
              <a:t>mailovima</a:t>
            </a:r>
            <a:r>
              <a:rPr lang="en-US" sz="1800" b="1" dirty="0"/>
              <a:t> </a:t>
            </a:r>
            <a:r>
              <a:rPr lang="en-US" sz="1800" dirty="0"/>
              <a:t>– </a:t>
            </a:r>
            <a:r>
              <a:rPr lang="en-US" sz="1800" dirty="0" err="1"/>
              <a:t>ključne</a:t>
            </a:r>
            <a:r>
              <a:rPr lang="en-US" sz="1800" dirty="0"/>
              <a:t> </a:t>
            </a:r>
            <a:r>
              <a:rPr lang="en-US" sz="1800" dirty="0" err="1"/>
              <a:t>informacije</a:t>
            </a:r>
            <a:r>
              <a:rPr lang="en-US" sz="1800" dirty="0"/>
              <a:t> bile </a:t>
            </a:r>
            <a:r>
              <a:rPr lang="en-US" sz="1800" dirty="0" err="1"/>
              <a:t>su</a:t>
            </a:r>
            <a:r>
              <a:rPr lang="en-US" sz="1800" dirty="0"/>
              <a:t> „</a:t>
            </a:r>
            <a:r>
              <a:rPr lang="en-US" sz="1800" dirty="0" err="1"/>
              <a:t>zakopane</a:t>
            </a:r>
            <a:r>
              <a:rPr lang="en-US" sz="1800" dirty="0"/>
              <a:t>” u </a:t>
            </a:r>
            <a:r>
              <a:rPr lang="en-US" sz="1800" dirty="0" err="1"/>
              <a:t>dugim</a:t>
            </a:r>
            <a:r>
              <a:rPr lang="en-US" sz="1800" dirty="0"/>
              <a:t> </a:t>
            </a:r>
            <a:r>
              <a:rPr lang="en-US" sz="1800" dirty="0" err="1"/>
              <a:t>nizovima</a:t>
            </a:r>
            <a:r>
              <a:rPr lang="en-US" sz="1800" dirty="0"/>
              <a:t> </a:t>
            </a:r>
            <a:r>
              <a:rPr lang="en-US" sz="1800" dirty="0" err="1"/>
              <a:t>poruka</a:t>
            </a:r>
            <a:r>
              <a:rPr lang="en-US" sz="1800" dirty="0"/>
              <a:t>, </a:t>
            </a:r>
            <a:r>
              <a:rPr lang="en-US" sz="1800" dirty="0" err="1"/>
              <a:t>što</a:t>
            </a:r>
            <a:r>
              <a:rPr lang="en-US" sz="1800" dirty="0"/>
              <a:t> je </a:t>
            </a:r>
            <a:r>
              <a:rPr lang="en-US" sz="1800" dirty="0" err="1"/>
              <a:t>otežavalo</a:t>
            </a:r>
            <a:r>
              <a:rPr lang="en-US" sz="1800" dirty="0"/>
              <a:t> </a:t>
            </a:r>
            <a:r>
              <a:rPr lang="en-US" sz="1800" dirty="0" err="1"/>
              <a:t>praćenje</a:t>
            </a:r>
            <a:r>
              <a:rPr lang="en-US" sz="1800" dirty="0"/>
              <a:t> </a:t>
            </a:r>
            <a:r>
              <a:rPr lang="en-US" sz="1800" dirty="0" err="1"/>
              <a:t>napretka</a:t>
            </a:r>
            <a:r>
              <a:rPr lang="en-US" sz="1800" dirty="0"/>
              <a:t>.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en-US" sz="1800" b="1" dirty="0"/>
              <a:t>Rijetki </a:t>
            </a:r>
            <a:r>
              <a:rPr lang="en-US" sz="1800" b="1" dirty="0" err="1"/>
              <a:t>statusni</a:t>
            </a:r>
            <a:r>
              <a:rPr lang="en-US" sz="1800" b="1" dirty="0"/>
              <a:t> </a:t>
            </a:r>
            <a:r>
              <a:rPr lang="en-US" sz="1800" b="1" dirty="0" err="1"/>
              <a:t>sastanci</a:t>
            </a:r>
            <a:r>
              <a:rPr lang="en-US" sz="1800" b="1" dirty="0"/>
              <a:t> </a:t>
            </a:r>
            <a:r>
              <a:rPr lang="en-US" sz="1800" dirty="0"/>
              <a:t>– </a:t>
            </a:r>
            <a:r>
              <a:rPr lang="en-US" sz="1800" dirty="0" err="1"/>
              <a:t>tjedni</a:t>
            </a:r>
            <a:r>
              <a:rPr lang="en-US" sz="1800" dirty="0"/>
              <a:t> </a:t>
            </a:r>
            <a:r>
              <a:rPr lang="en-US" sz="1800" dirty="0" err="1"/>
              <a:t>sastanci</a:t>
            </a:r>
            <a:r>
              <a:rPr lang="en-US" sz="1800" dirty="0"/>
              <a:t> </a:t>
            </a:r>
            <a:r>
              <a:rPr lang="en-US" sz="1800" dirty="0" err="1"/>
              <a:t>nisu</a:t>
            </a:r>
            <a:r>
              <a:rPr lang="en-US" sz="1800" dirty="0"/>
              <a:t> </a:t>
            </a:r>
            <a:r>
              <a:rPr lang="en-US" sz="1800" dirty="0" err="1"/>
              <a:t>pružali</a:t>
            </a:r>
            <a:r>
              <a:rPr lang="en-US" sz="1800" dirty="0"/>
              <a:t> </a:t>
            </a:r>
            <a:r>
              <a:rPr lang="en-US" sz="1800" dirty="0" err="1"/>
              <a:t>pravovremene</a:t>
            </a:r>
            <a:r>
              <a:rPr lang="en-US" sz="1800" dirty="0"/>
              <a:t> </a:t>
            </a:r>
            <a:r>
              <a:rPr lang="en-US" sz="1800" dirty="0" err="1"/>
              <a:t>informacije</a:t>
            </a:r>
            <a:r>
              <a:rPr lang="en-US" sz="1800" dirty="0"/>
              <a:t>, </a:t>
            </a:r>
            <a:r>
              <a:rPr lang="en-US" sz="1800" dirty="0" err="1"/>
              <a:t>što</a:t>
            </a:r>
            <a:r>
              <a:rPr lang="en-US" sz="1800" dirty="0"/>
              <a:t> je </a:t>
            </a:r>
            <a:r>
              <a:rPr lang="en-US" sz="1800" dirty="0" err="1"/>
              <a:t>dovodilo</a:t>
            </a:r>
            <a:r>
              <a:rPr lang="en-US" sz="1800" dirty="0"/>
              <a:t> do </a:t>
            </a:r>
            <a:r>
              <a:rPr lang="en-US" sz="1800" dirty="0" err="1"/>
              <a:t>kašnjenja</a:t>
            </a:r>
            <a:r>
              <a:rPr lang="en-US" sz="1800" dirty="0"/>
              <a:t> u </a:t>
            </a:r>
            <a:r>
              <a:rPr lang="en-US" sz="1800" dirty="0" err="1"/>
              <a:t>rješavanju</a:t>
            </a:r>
            <a:r>
              <a:rPr lang="en-US" sz="1800" dirty="0"/>
              <a:t> </a:t>
            </a:r>
            <a:r>
              <a:rPr lang="en-US" sz="1800" dirty="0" err="1"/>
              <a:t>problema</a:t>
            </a:r>
            <a:r>
              <a:rPr lang="en-US" sz="1800" dirty="0"/>
              <a:t>.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en-US" sz="1800" b="1" dirty="0" err="1"/>
              <a:t>Nedostatak</a:t>
            </a:r>
            <a:r>
              <a:rPr lang="en-US" sz="1800" b="1" dirty="0"/>
              <a:t> </a:t>
            </a:r>
            <a:r>
              <a:rPr lang="en-US" sz="1800" b="1" dirty="0" err="1"/>
              <a:t>centraliziranog</a:t>
            </a:r>
            <a:r>
              <a:rPr lang="en-US" sz="1800" b="1" dirty="0"/>
              <a:t> </a:t>
            </a:r>
            <a:r>
              <a:rPr lang="en-US" sz="1800" b="1" dirty="0" err="1"/>
              <a:t>komunikacijskog</a:t>
            </a:r>
            <a:r>
              <a:rPr lang="en-US" sz="1800" b="1" dirty="0"/>
              <a:t> alata </a:t>
            </a:r>
            <a:r>
              <a:rPr lang="en-US" sz="1800" dirty="0"/>
              <a:t>– </a:t>
            </a:r>
            <a:r>
              <a:rPr lang="en-US" sz="1800" dirty="0" err="1"/>
              <a:t>timovi</a:t>
            </a:r>
            <a:r>
              <a:rPr lang="en-US" sz="1800" dirty="0"/>
              <a:t> </a:t>
            </a:r>
            <a:r>
              <a:rPr lang="en-US" sz="1800" dirty="0" err="1"/>
              <a:t>su</a:t>
            </a:r>
            <a:r>
              <a:rPr lang="en-US" sz="1800" dirty="0"/>
              <a:t> </a:t>
            </a:r>
            <a:r>
              <a:rPr lang="en-US" sz="1800" dirty="0" err="1"/>
              <a:t>koristili</a:t>
            </a:r>
            <a:r>
              <a:rPr lang="en-US" sz="1800" dirty="0"/>
              <a:t> </a:t>
            </a:r>
            <a:r>
              <a:rPr lang="en-US" sz="1800" dirty="0" err="1"/>
              <a:t>različite</a:t>
            </a:r>
            <a:r>
              <a:rPr lang="en-US" sz="1800" dirty="0"/>
              <a:t> </a:t>
            </a:r>
            <a:r>
              <a:rPr lang="en-US" sz="1800" dirty="0" err="1"/>
              <a:t>platforme</a:t>
            </a:r>
            <a:r>
              <a:rPr lang="en-US" sz="1800" dirty="0"/>
              <a:t> (e-mail, Slack, </a:t>
            </a:r>
            <a:r>
              <a:rPr lang="en-US" sz="1800" dirty="0" err="1"/>
              <a:t>proračunske</a:t>
            </a:r>
            <a:r>
              <a:rPr lang="en-US" sz="1800" dirty="0"/>
              <a:t> </a:t>
            </a:r>
            <a:r>
              <a:rPr lang="en-US" sz="1800" dirty="0" err="1"/>
              <a:t>tablice</a:t>
            </a:r>
            <a:r>
              <a:rPr lang="en-US" sz="1800" dirty="0"/>
              <a:t>) bez </a:t>
            </a:r>
            <a:r>
              <a:rPr lang="en-US" sz="1800" dirty="0" err="1"/>
              <a:t>jedinstvenog</a:t>
            </a:r>
            <a:r>
              <a:rPr lang="en-US" sz="1800" dirty="0"/>
              <a:t> </a:t>
            </a:r>
            <a:r>
              <a:rPr lang="en-US" sz="1800" dirty="0" err="1"/>
              <a:t>sustava</a:t>
            </a:r>
            <a:r>
              <a:rPr lang="en-US" sz="1800" dirty="0"/>
              <a:t>.</a:t>
            </a:r>
          </a:p>
          <a:p>
            <a:pPr>
              <a:lnSpc>
                <a:spcPct val="150000"/>
              </a:lnSpc>
              <a:buFont typeface="+mj-lt"/>
              <a:buAutoNum type="arabicPeriod"/>
            </a:pPr>
            <a:r>
              <a:rPr lang="en-US" sz="1800" b="1" dirty="0" err="1"/>
              <a:t>Ograničeno</a:t>
            </a:r>
            <a:r>
              <a:rPr lang="en-US" sz="1800" b="1" dirty="0"/>
              <a:t> </a:t>
            </a:r>
            <a:r>
              <a:rPr lang="en-US" sz="1800" b="1" dirty="0" err="1"/>
              <a:t>uključivanje</a:t>
            </a:r>
            <a:r>
              <a:rPr lang="en-US" sz="1800" b="1" dirty="0"/>
              <a:t> </a:t>
            </a:r>
            <a:r>
              <a:rPr lang="en-US" sz="1800" b="1" dirty="0" err="1"/>
              <a:t>dionika</a:t>
            </a:r>
            <a:r>
              <a:rPr lang="en-US" sz="1800" b="1" dirty="0"/>
              <a:t> </a:t>
            </a:r>
            <a:r>
              <a:rPr lang="en-US" sz="1800" dirty="0"/>
              <a:t>– </a:t>
            </a:r>
            <a:r>
              <a:rPr lang="en-US" sz="1800" dirty="0" err="1"/>
              <a:t>dionici</a:t>
            </a:r>
            <a:r>
              <a:rPr lang="en-US" sz="1800" dirty="0"/>
              <a:t> </a:t>
            </a:r>
            <a:r>
              <a:rPr lang="en-US" sz="1800" dirty="0" err="1"/>
              <a:t>su</a:t>
            </a:r>
            <a:r>
              <a:rPr lang="en-US" sz="1800" dirty="0"/>
              <a:t> </a:t>
            </a:r>
            <a:r>
              <a:rPr lang="en-US" sz="1800" dirty="0" err="1"/>
              <a:t>bili</a:t>
            </a:r>
            <a:r>
              <a:rPr lang="en-US" sz="1800" dirty="0"/>
              <a:t> </a:t>
            </a:r>
            <a:r>
              <a:rPr lang="en-US" sz="1800" dirty="0" err="1"/>
              <a:t>informirani</a:t>
            </a:r>
            <a:r>
              <a:rPr lang="en-US" sz="1800" dirty="0"/>
              <a:t> </a:t>
            </a:r>
            <a:r>
              <a:rPr lang="en-US" sz="1800" dirty="0" err="1"/>
              <a:t>samo</a:t>
            </a:r>
            <a:r>
              <a:rPr lang="en-US" sz="1800" dirty="0"/>
              <a:t> u </a:t>
            </a:r>
            <a:r>
              <a:rPr lang="en-US" sz="1800" dirty="0" err="1"/>
              <a:t>ključnim</a:t>
            </a:r>
            <a:r>
              <a:rPr lang="en-US" sz="1800" dirty="0"/>
              <a:t> </a:t>
            </a:r>
            <a:r>
              <a:rPr lang="en-US" sz="1800" dirty="0" err="1"/>
              <a:t>fazama</a:t>
            </a:r>
            <a:r>
              <a:rPr lang="en-US" sz="1800" dirty="0"/>
              <a:t>, </a:t>
            </a:r>
            <a:r>
              <a:rPr lang="en-US" sz="1800" dirty="0" err="1"/>
              <a:t>što</a:t>
            </a:r>
            <a:r>
              <a:rPr lang="en-US" sz="1800" dirty="0"/>
              <a:t> je </a:t>
            </a:r>
            <a:r>
              <a:rPr lang="en-US" sz="1800" dirty="0" err="1"/>
              <a:t>dovelo</a:t>
            </a:r>
            <a:r>
              <a:rPr lang="en-US" sz="1800" dirty="0"/>
              <a:t> do </a:t>
            </a:r>
            <a:r>
              <a:rPr lang="en-US" sz="1800" dirty="0" err="1"/>
              <a:t>kasnih</a:t>
            </a:r>
            <a:r>
              <a:rPr lang="en-US" sz="1800" dirty="0"/>
              <a:t> </a:t>
            </a:r>
            <a:r>
              <a:rPr lang="en-US" sz="1800" dirty="0" err="1"/>
              <a:t>povratnih</a:t>
            </a:r>
            <a:r>
              <a:rPr lang="en-US" sz="1800" dirty="0"/>
              <a:t> </a:t>
            </a:r>
            <a:r>
              <a:rPr lang="en-US" sz="1800" dirty="0" err="1"/>
              <a:t>informacija</a:t>
            </a:r>
            <a:r>
              <a:rPr lang="en-US" sz="1800" dirty="0"/>
              <a:t> i </a:t>
            </a:r>
            <a:r>
              <a:rPr lang="en-US" sz="1800" dirty="0" err="1"/>
              <a:t>promjena</a:t>
            </a:r>
            <a:r>
              <a:rPr lang="en-US" sz="1800" dirty="0"/>
              <a:t> </a:t>
            </a:r>
            <a:r>
              <a:rPr lang="en-US" sz="1800" dirty="0" err="1"/>
              <a:t>opsega</a:t>
            </a:r>
            <a:r>
              <a:rPr lang="en-US" sz="1800" dirty="0"/>
              <a:t> </a:t>
            </a:r>
            <a:r>
              <a:rPr lang="en-US" sz="1800" dirty="0" err="1"/>
              <a:t>projekta</a:t>
            </a:r>
            <a:r>
              <a:rPr lang="en-US" sz="18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405720268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CEEE6-75CA-3EAE-0B0B-91F352FA8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CFE53B-6EBF-BBB3-0FC1-E35EBA76B1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1663" y="153192"/>
            <a:ext cx="10515600" cy="1325563"/>
          </a:xfrm>
        </p:spPr>
        <p:txBody>
          <a:bodyPr>
            <a:normAutofit/>
          </a:bodyPr>
          <a:lstStyle/>
          <a:p>
            <a:r>
              <a:rPr lang="pl-PL" dirty="0"/>
              <a:t>Rasprava</a:t>
            </a:r>
            <a:br>
              <a:rPr lang="pl-PL" dirty="0"/>
            </a:br>
            <a:r>
              <a:rPr lang="pl-PL" dirty="0"/>
              <a:t>Komunikacijski slom u projektu </a:t>
            </a:r>
            <a:r>
              <a:rPr lang="en-US" dirty="0"/>
              <a:t>II.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26A4C1-13B3-E627-568C-E281D41789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9450" y="1478755"/>
            <a:ext cx="11121651" cy="4351338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600" b="1" dirty="0">
                <a:solidFill>
                  <a:srgbClr val="0ADBBC"/>
                </a:solidFill>
              </a:rPr>
              <a:t>Preporučena </a:t>
            </a:r>
            <a:r>
              <a:rPr lang="en-US" sz="2600" b="1" dirty="0" err="1">
                <a:solidFill>
                  <a:srgbClr val="0ADBBC"/>
                </a:solidFill>
              </a:rPr>
              <a:t>poboljšanja</a:t>
            </a:r>
            <a:endParaRPr lang="en-US" sz="2600" b="1" dirty="0">
              <a:solidFill>
                <a:srgbClr val="0ADBBC"/>
              </a:solidFill>
            </a:endParaRPr>
          </a:p>
          <a:p>
            <a:pPr>
              <a:buFont typeface="+mj-lt"/>
              <a:buAutoNum type="arabicPeriod"/>
            </a:pPr>
            <a:r>
              <a:rPr lang="en-US" sz="2400" b="1" dirty="0" err="1"/>
              <a:t>Definirati</a:t>
            </a:r>
            <a:r>
              <a:rPr lang="en-US" sz="2400" b="1" dirty="0"/>
              <a:t> </a:t>
            </a:r>
            <a:r>
              <a:rPr lang="en-US" sz="2400" b="1" dirty="0" err="1"/>
              <a:t>jasne</a:t>
            </a:r>
            <a:r>
              <a:rPr lang="en-US" sz="2400" b="1" dirty="0"/>
              <a:t> </a:t>
            </a:r>
            <a:r>
              <a:rPr lang="en-US" sz="2400" b="1" dirty="0" err="1"/>
              <a:t>uloge</a:t>
            </a:r>
            <a:r>
              <a:rPr lang="en-US" sz="2400" b="1" dirty="0"/>
              <a:t> i </a:t>
            </a:r>
            <a:r>
              <a:rPr lang="en-US" sz="2400" b="1" dirty="0" err="1"/>
              <a:t>odgovornosti</a:t>
            </a:r>
            <a:endParaRPr lang="en-US" sz="2400" dirty="0"/>
          </a:p>
          <a:p>
            <a:pPr marL="457200" lvl="1" indent="0">
              <a:buNone/>
            </a:pPr>
            <a:r>
              <a:rPr lang="en-US" dirty="0" err="1"/>
              <a:t>Koristiti</a:t>
            </a:r>
            <a:r>
              <a:rPr lang="en-US" dirty="0"/>
              <a:t> RACI </a:t>
            </a:r>
            <a:r>
              <a:rPr lang="en-US" dirty="0" err="1"/>
              <a:t>matricu</a:t>
            </a:r>
            <a:r>
              <a:rPr lang="en-US" dirty="0"/>
              <a:t> (Responsible, Accountable, Consulted, Informed) </a:t>
            </a:r>
            <a:r>
              <a:rPr lang="en-US" dirty="0" err="1"/>
              <a:t>kako</a:t>
            </a:r>
            <a:r>
              <a:rPr lang="en-US" dirty="0"/>
              <a:t> bi se </a:t>
            </a:r>
            <a:r>
              <a:rPr lang="en-US" dirty="0" err="1"/>
              <a:t>osigurala</a:t>
            </a:r>
            <a:r>
              <a:rPr lang="en-US" dirty="0"/>
              <a:t> </a:t>
            </a:r>
            <a:r>
              <a:rPr lang="en-US" dirty="0" err="1"/>
              <a:t>odgovornost</a:t>
            </a:r>
            <a:r>
              <a:rPr lang="en-US" dirty="0"/>
              <a:t>.</a:t>
            </a:r>
          </a:p>
          <a:p>
            <a:pPr>
              <a:buFont typeface="+mj-lt"/>
              <a:buAutoNum type="arabicPeriod"/>
            </a:pPr>
            <a:r>
              <a:rPr lang="ro-RO" sz="2400" b="1" dirty="0"/>
              <a:t> </a:t>
            </a:r>
            <a:r>
              <a:rPr lang="en-US" sz="2400" b="1" dirty="0" err="1"/>
              <a:t>Pojednostaviti</a:t>
            </a:r>
            <a:r>
              <a:rPr lang="en-US" sz="2400" b="1" dirty="0"/>
              <a:t> </a:t>
            </a:r>
            <a:r>
              <a:rPr lang="en-US" sz="2400" b="1" dirty="0" err="1"/>
              <a:t>komunikacijske</a:t>
            </a:r>
            <a:r>
              <a:rPr lang="en-US" sz="2400" b="1" dirty="0"/>
              <a:t> </a:t>
            </a:r>
            <a:r>
              <a:rPr lang="en-US" sz="2400" b="1" dirty="0" err="1"/>
              <a:t>kanale</a:t>
            </a:r>
            <a:endParaRPr lang="en-US" sz="2400" dirty="0"/>
          </a:p>
          <a:p>
            <a:pPr marL="914400" lvl="1" indent="-457200">
              <a:buFont typeface="+mj-lt"/>
              <a:buAutoNum type="alphaLcPeriod"/>
            </a:pPr>
            <a:r>
              <a:rPr lang="pl-PL" dirty="0"/>
              <a:t>Koristiti </a:t>
            </a:r>
            <a:r>
              <a:rPr lang="pl-PL" b="1" dirty="0"/>
              <a:t>alat za upravljanje projektima</a:t>
            </a:r>
            <a:r>
              <a:rPr lang="pl-PL" dirty="0"/>
              <a:t> za praćenje zadataka i ključnih prekretnica</a:t>
            </a:r>
            <a:r>
              <a:rPr lang="en-US" dirty="0"/>
              <a:t>.</a:t>
            </a:r>
          </a:p>
          <a:p>
            <a:pPr marL="914400" lvl="1" indent="-457200">
              <a:buFont typeface="+mj-lt"/>
              <a:buAutoNum type="alphaLcPeriod"/>
            </a:pPr>
            <a:r>
              <a:rPr lang="en-US" dirty="0"/>
              <a:t>Uspostaviti </a:t>
            </a:r>
            <a:r>
              <a:rPr lang="en-US" b="1" dirty="0"/>
              <a:t>Slack </a:t>
            </a:r>
            <a:r>
              <a:rPr lang="en-US" b="1" dirty="0" err="1"/>
              <a:t>ili</a:t>
            </a:r>
            <a:r>
              <a:rPr lang="en-US" b="1" dirty="0"/>
              <a:t> Teams </a:t>
            </a:r>
            <a:r>
              <a:rPr lang="en-US" b="1" dirty="0" err="1"/>
              <a:t>kanale</a:t>
            </a:r>
            <a:r>
              <a:rPr lang="en-US" b="1" dirty="0"/>
              <a:t> </a:t>
            </a:r>
            <a:r>
              <a:rPr lang="en-US" dirty="0"/>
              <a:t>za </a:t>
            </a:r>
            <a:r>
              <a:rPr lang="en-US" dirty="0" err="1"/>
              <a:t>brze</a:t>
            </a:r>
            <a:r>
              <a:rPr lang="en-US" dirty="0"/>
              <a:t> </a:t>
            </a:r>
            <a:r>
              <a:rPr lang="en-US" dirty="0" err="1"/>
              <a:t>obavijesti</a:t>
            </a:r>
            <a:r>
              <a:rPr lang="en-US" dirty="0"/>
              <a:t> i </a:t>
            </a:r>
            <a:r>
              <a:rPr lang="en-US" dirty="0" err="1"/>
              <a:t>rasprave</a:t>
            </a:r>
            <a:r>
              <a:rPr lang="en-US" dirty="0"/>
              <a:t>.</a:t>
            </a:r>
          </a:p>
          <a:p>
            <a:pPr>
              <a:buFont typeface="+mj-lt"/>
              <a:buAutoNum type="arabicPeriod"/>
            </a:pPr>
            <a:r>
              <a:rPr lang="ro-RO" sz="2400" b="1" dirty="0"/>
              <a:t> </a:t>
            </a:r>
            <a:r>
              <a:rPr lang="en-US" sz="2400" b="1" dirty="0" err="1"/>
              <a:t>Uvesti</a:t>
            </a:r>
            <a:r>
              <a:rPr lang="en-US" sz="2400" b="1" dirty="0"/>
              <a:t> </a:t>
            </a:r>
            <a:r>
              <a:rPr lang="en-US" sz="2400" b="1" dirty="0" err="1"/>
              <a:t>strukturirani</a:t>
            </a:r>
            <a:r>
              <a:rPr lang="en-US" sz="2400" b="1" dirty="0"/>
              <a:t> </a:t>
            </a:r>
            <a:r>
              <a:rPr lang="en-US" sz="2400" b="1" dirty="0" err="1"/>
              <a:t>raspored</a:t>
            </a:r>
            <a:r>
              <a:rPr lang="en-US" sz="2400" b="1" dirty="0"/>
              <a:t> </a:t>
            </a:r>
            <a:r>
              <a:rPr lang="en-US" sz="2400" b="1" dirty="0" err="1"/>
              <a:t>sastanaka</a:t>
            </a:r>
            <a:endParaRPr lang="en-US" sz="2400" dirty="0"/>
          </a:p>
          <a:p>
            <a:pPr marL="914400" lvl="1" indent="-457200">
              <a:buFont typeface="+mj-lt"/>
              <a:buAutoNum type="alphaLcPeriod"/>
            </a:pPr>
            <a:r>
              <a:rPr lang="en-US" b="1" dirty="0"/>
              <a:t>Dnevni </a:t>
            </a:r>
            <a:r>
              <a:rPr lang="en-US" b="1" i="1" dirty="0"/>
              <a:t>stand-up</a:t>
            </a:r>
            <a:r>
              <a:rPr lang="en-US" b="1" dirty="0"/>
              <a:t> </a:t>
            </a:r>
            <a:r>
              <a:rPr lang="en-US" b="1" dirty="0" err="1"/>
              <a:t>sastanci</a:t>
            </a:r>
            <a:r>
              <a:rPr lang="en-US" b="1" dirty="0"/>
              <a:t> (15 min) </a:t>
            </a:r>
            <a:r>
              <a:rPr lang="en-US" dirty="0"/>
              <a:t>za </a:t>
            </a:r>
            <a:r>
              <a:rPr lang="en-US" dirty="0" err="1"/>
              <a:t>kratka</a:t>
            </a:r>
            <a:r>
              <a:rPr lang="en-US" dirty="0"/>
              <a:t> </a:t>
            </a:r>
            <a:r>
              <a:rPr lang="en-US" dirty="0" err="1"/>
              <a:t>ažuriranja</a:t>
            </a:r>
            <a:r>
              <a:rPr lang="en-US" dirty="0"/>
              <a:t> </a:t>
            </a:r>
            <a:r>
              <a:rPr lang="en-US" dirty="0" err="1"/>
              <a:t>napretka</a:t>
            </a:r>
            <a:r>
              <a:rPr lang="en-US" dirty="0"/>
              <a:t>.</a:t>
            </a:r>
          </a:p>
          <a:p>
            <a:pPr marL="914400" lvl="1" indent="-457200">
              <a:buFont typeface="+mj-lt"/>
              <a:buAutoNum type="alphaLcPeriod"/>
            </a:pPr>
            <a:r>
              <a:rPr lang="en-US" b="1" dirty="0" err="1"/>
              <a:t>Dvotjedni</a:t>
            </a:r>
            <a:r>
              <a:rPr lang="en-US" b="1" dirty="0"/>
              <a:t> sprint review </a:t>
            </a:r>
            <a:r>
              <a:rPr lang="en-US" b="1" dirty="0" err="1"/>
              <a:t>sastanci</a:t>
            </a:r>
            <a:r>
              <a:rPr lang="en-US" b="1" dirty="0"/>
              <a:t> </a:t>
            </a:r>
            <a:r>
              <a:rPr lang="en-US" dirty="0"/>
              <a:t>za </a:t>
            </a:r>
            <a:r>
              <a:rPr lang="en-US" dirty="0" err="1"/>
              <a:t>procjenu</a:t>
            </a:r>
            <a:r>
              <a:rPr lang="en-US" dirty="0"/>
              <a:t> </a:t>
            </a:r>
            <a:r>
              <a:rPr lang="en-US" dirty="0" err="1"/>
              <a:t>napretka</a:t>
            </a:r>
            <a:r>
              <a:rPr lang="en-US" dirty="0"/>
              <a:t> i </a:t>
            </a:r>
            <a:r>
              <a:rPr lang="en-US" dirty="0" err="1"/>
              <a:t>rješavanje</a:t>
            </a:r>
            <a:r>
              <a:rPr lang="en-US" dirty="0"/>
              <a:t> </a:t>
            </a:r>
            <a:r>
              <a:rPr lang="en-US" dirty="0" err="1"/>
              <a:t>prepreka</a:t>
            </a:r>
            <a:r>
              <a:rPr lang="en-US" dirty="0"/>
              <a:t>.</a:t>
            </a:r>
          </a:p>
          <a:p>
            <a:pPr marL="914400" lvl="1" indent="-457200">
              <a:buFont typeface="+mj-lt"/>
              <a:buAutoNum type="alphaLcPeriod"/>
            </a:pPr>
            <a:r>
              <a:rPr lang="en-US" b="1" dirty="0" err="1"/>
              <a:t>Mjesečni</a:t>
            </a:r>
            <a:r>
              <a:rPr lang="en-US" b="1" dirty="0"/>
              <a:t> </a:t>
            </a:r>
            <a:r>
              <a:rPr lang="en-US" b="1" dirty="0" err="1"/>
              <a:t>sastanci</a:t>
            </a:r>
            <a:r>
              <a:rPr lang="en-US" b="1" dirty="0"/>
              <a:t> s </a:t>
            </a:r>
            <a:r>
              <a:rPr lang="en-US" b="1" dirty="0" err="1"/>
              <a:t>dionicima</a:t>
            </a:r>
            <a:r>
              <a:rPr lang="en-US" b="1" dirty="0"/>
              <a:t> </a:t>
            </a:r>
            <a:r>
              <a:rPr lang="en-US" dirty="0"/>
              <a:t>za </a:t>
            </a:r>
            <a:r>
              <a:rPr lang="en-US" dirty="0" err="1"/>
              <a:t>povratne</a:t>
            </a:r>
            <a:r>
              <a:rPr lang="en-US" dirty="0"/>
              <a:t> </a:t>
            </a:r>
            <a:r>
              <a:rPr lang="en-US" dirty="0" err="1"/>
              <a:t>informacije</a:t>
            </a:r>
            <a:r>
              <a:rPr lang="en-US" dirty="0"/>
              <a:t> i </a:t>
            </a:r>
            <a:r>
              <a:rPr lang="en-US" dirty="0" err="1"/>
              <a:t>usklađivanje</a:t>
            </a:r>
            <a:r>
              <a:rPr lang="en-US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2440013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5038C6-068A-C002-7776-A318485E25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65A9C6-8363-2046-97F5-50BD47ECE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1663" y="153192"/>
            <a:ext cx="10515600" cy="1325563"/>
          </a:xfrm>
        </p:spPr>
        <p:txBody>
          <a:bodyPr>
            <a:normAutofit/>
          </a:bodyPr>
          <a:lstStyle/>
          <a:p>
            <a:r>
              <a:rPr lang="pl-PL" dirty="0"/>
              <a:t>Rasprava</a:t>
            </a:r>
            <a:br>
              <a:rPr lang="pl-PL" dirty="0"/>
            </a:br>
            <a:r>
              <a:rPr lang="pl-PL" dirty="0"/>
              <a:t>Komunikacijski slom u projektu </a:t>
            </a:r>
            <a:r>
              <a:rPr lang="en-US" dirty="0"/>
              <a:t>III.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A213009-33B4-3C4D-F4CD-3AE66FFC6F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3006" y="1478755"/>
            <a:ext cx="11204257" cy="5021818"/>
          </a:xfrm>
        </p:spPr>
        <p:txBody>
          <a:bodyPr>
            <a:no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2400" b="1" dirty="0">
                <a:solidFill>
                  <a:srgbClr val="0ADBBC"/>
                </a:solidFill>
              </a:rPr>
              <a:t>Preporučena </a:t>
            </a:r>
            <a:r>
              <a:rPr lang="en-US" sz="2400" b="1" dirty="0" err="1">
                <a:solidFill>
                  <a:srgbClr val="0ADBBC"/>
                </a:solidFill>
              </a:rPr>
              <a:t>poboljšanja</a:t>
            </a:r>
            <a:endParaRPr lang="en-US" sz="2400" b="1" dirty="0">
              <a:solidFill>
                <a:srgbClr val="0ADBBC"/>
              </a:solidFill>
            </a:endParaRPr>
          </a:p>
          <a:p>
            <a:pPr marL="0" indent="0">
              <a:buNone/>
            </a:pPr>
            <a:r>
              <a:rPr lang="en-US" sz="2200" b="1" dirty="0"/>
              <a:t>4. </a:t>
            </a:r>
            <a:r>
              <a:rPr lang="en-US" sz="2200" b="1" dirty="0" err="1"/>
              <a:t>Centralizirati</a:t>
            </a:r>
            <a:r>
              <a:rPr lang="en-US" sz="2200" b="1" dirty="0"/>
              <a:t> </a:t>
            </a:r>
            <a:r>
              <a:rPr lang="en-US" sz="2200" b="1" dirty="0" err="1"/>
              <a:t>dokumentaciju</a:t>
            </a:r>
            <a:r>
              <a:rPr lang="en-US" sz="2200" b="1" dirty="0"/>
              <a:t> i </a:t>
            </a:r>
            <a:r>
              <a:rPr lang="en-US" sz="2200" b="1" dirty="0" err="1"/>
              <a:t>izvješća</a:t>
            </a:r>
            <a:endParaRPr lang="en-US" sz="2200" b="1" dirty="0"/>
          </a:p>
          <a:p>
            <a:pPr marL="914400" lvl="1" indent="-457200">
              <a:buFont typeface="+mj-lt"/>
              <a:buAutoNum type="arabicPeriod"/>
            </a:pPr>
            <a:r>
              <a:rPr lang="en-US" sz="2200" dirty="0" err="1"/>
              <a:t>Koristiti</a:t>
            </a:r>
            <a:r>
              <a:rPr lang="en-US" sz="2200" dirty="0"/>
              <a:t> </a:t>
            </a:r>
            <a:r>
              <a:rPr lang="en-US" sz="2200" b="1" i="1" dirty="0" err="1"/>
              <a:t>dashboarde</a:t>
            </a:r>
            <a:r>
              <a:rPr lang="en-US" sz="2200" b="1" dirty="0"/>
              <a:t> </a:t>
            </a:r>
            <a:r>
              <a:rPr lang="en-US" sz="2200" dirty="0"/>
              <a:t>za </a:t>
            </a:r>
            <a:r>
              <a:rPr lang="en-US" sz="2200" dirty="0" err="1"/>
              <a:t>praćenje</a:t>
            </a:r>
            <a:r>
              <a:rPr lang="en-US" sz="2200" dirty="0"/>
              <a:t> </a:t>
            </a:r>
            <a:r>
              <a:rPr lang="en-US" sz="2200" dirty="0" err="1"/>
              <a:t>napretka</a:t>
            </a:r>
            <a:r>
              <a:rPr lang="en-US" sz="2200" dirty="0"/>
              <a:t> u </a:t>
            </a:r>
            <a:r>
              <a:rPr lang="en-US" sz="2200" dirty="0" err="1"/>
              <a:t>stvarnom</a:t>
            </a:r>
            <a:r>
              <a:rPr lang="en-US" sz="2200" dirty="0"/>
              <a:t> </a:t>
            </a:r>
            <a:r>
              <a:rPr lang="en-US" sz="2200" dirty="0" err="1"/>
              <a:t>vremenu</a:t>
            </a:r>
            <a:r>
              <a:rPr lang="en-US" sz="2200" dirty="0"/>
              <a:t>.</a:t>
            </a:r>
            <a:endParaRPr lang="hr-HR" sz="2200" dirty="0"/>
          </a:p>
          <a:p>
            <a:pPr marL="914400" lvl="1" indent="-457200">
              <a:buFont typeface="+mj-lt"/>
              <a:buAutoNum type="arabicPeriod"/>
            </a:pPr>
            <a:r>
              <a:rPr lang="en-US" sz="2200" dirty="0" err="1"/>
              <a:t>Održavati</a:t>
            </a:r>
            <a:r>
              <a:rPr lang="en-US" sz="2200" dirty="0"/>
              <a:t> </a:t>
            </a:r>
            <a:r>
              <a:rPr lang="en-US" sz="2200" dirty="0" err="1"/>
              <a:t>zajednički</a:t>
            </a:r>
            <a:r>
              <a:rPr lang="en-US" sz="2200" dirty="0"/>
              <a:t> </a:t>
            </a:r>
            <a:r>
              <a:rPr lang="en-US" sz="2200" dirty="0" err="1"/>
              <a:t>repozitorij</a:t>
            </a:r>
            <a:r>
              <a:rPr lang="en-US" sz="2200" dirty="0"/>
              <a:t> s </a:t>
            </a:r>
            <a:r>
              <a:rPr lang="en-US" sz="2200" dirty="0" err="1"/>
              <a:t>ažuriranim</a:t>
            </a:r>
            <a:r>
              <a:rPr lang="en-US" sz="2200" dirty="0"/>
              <a:t> </a:t>
            </a:r>
            <a:r>
              <a:rPr lang="en-US" sz="2200" dirty="0" err="1"/>
              <a:t>izvješćima</a:t>
            </a:r>
            <a:r>
              <a:rPr lang="en-US" sz="2200" dirty="0"/>
              <a:t>, </a:t>
            </a:r>
            <a:r>
              <a:rPr lang="en-US" sz="2200" dirty="0" err="1"/>
              <a:t>zapisnicima</a:t>
            </a:r>
            <a:r>
              <a:rPr lang="en-US" sz="2200" dirty="0"/>
              <a:t> </a:t>
            </a:r>
            <a:r>
              <a:rPr lang="en-US" sz="2200" dirty="0" err="1"/>
              <a:t>sa</a:t>
            </a:r>
            <a:r>
              <a:rPr lang="en-US" sz="2200" dirty="0"/>
              <a:t> </a:t>
            </a:r>
            <a:r>
              <a:rPr lang="en-US" sz="2200" dirty="0" err="1"/>
              <a:t>sastanaka</a:t>
            </a:r>
            <a:r>
              <a:rPr lang="en-US" sz="2200" dirty="0"/>
              <a:t> i </a:t>
            </a:r>
            <a:r>
              <a:rPr lang="en-US" sz="2200" dirty="0" err="1"/>
              <a:t>ključnim</a:t>
            </a:r>
            <a:r>
              <a:rPr lang="en-US" sz="2200" dirty="0"/>
              <a:t> </a:t>
            </a:r>
            <a:r>
              <a:rPr lang="en-US" sz="2200" dirty="0" err="1"/>
              <a:t>odlukama</a:t>
            </a:r>
            <a:r>
              <a:rPr lang="en-US" sz="2200" dirty="0"/>
              <a:t>.</a:t>
            </a:r>
          </a:p>
          <a:p>
            <a:pPr marL="0" indent="0">
              <a:buNone/>
            </a:pPr>
            <a:endParaRPr lang="en-US" sz="2200" b="1" dirty="0"/>
          </a:p>
          <a:p>
            <a:pPr marL="0" indent="0">
              <a:buNone/>
            </a:pPr>
            <a:r>
              <a:rPr lang="en-US" sz="2200" b="1" dirty="0"/>
              <a:t>5. Povećati </a:t>
            </a:r>
            <a:r>
              <a:rPr lang="en-US" sz="2200" b="1" dirty="0" err="1"/>
              <a:t>uključenost</a:t>
            </a:r>
            <a:r>
              <a:rPr lang="en-US" sz="2200" b="1" dirty="0"/>
              <a:t> </a:t>
            </a:r>
            <a:r>
              <a:rPr lang="en-US" sz="2200" b="1" dirty="0" err="1"/>
              <a:t>dionika</a:t>
            </a:r>
            <a:endParaRPr lang="en-US" sz="2200" b="1" dirty="0"/>
          </a:p>
          <a:p>
            <a:pPr marL="914400" lvl="1" indent="-457200">
              <a:buFont typeface="+mj-lt"/>
              <a:buAutoNum type="arabicPeriod"/>
            </a:pPr>
            <a:r>
              <a:rPr lang="en-US" sz="2200" b="1" dirty="0" err="1"/>
              <a:t>Redovito</a:t>
            </a:r>
            <a:r>
              <a:rPr lang="en-US" sz="2200" b="1" dirty="0"/>
              <a:t> </a:t>
            </a:r>
            <a:r>
              <a:rPr lang="en-US" sz="2200" b="1" dirty="0" err="1"/>
              <a:t>pružati</a:t>
            </a:r>
            <a:r>
              <a:rPr lang="en-US" sz="2200" b="1" dirty="0"/>
              <a:t> </a:t>
            </a:r>
            <a:r>
              <a:rPr lang="en-US" sz="2200" b="1" dirty="0" err="1"/>
              <a:t>sažeta</a:t>
            </a:r>
            <a:r>
              <a:rPr lang="en-US" sz="2200" b="1" dirty="0"/>
              <a:t> </a:t>
            </a:r>
            <a:r>
              <a:rPr lang="en-US" sz="2200" b="1" dirty="0" err="1"/>
              <a:t>izvješća</a:t>
            </a:r>
            <a:r>
              <a:rPr lang="en-US" sz="2200" b="1" dirty="0"/>
              <a:t> </a:t>
            </a:r>
            <a:r>
              <a:rPr lang="en-US" sz="2200" dirty="0" err="1"/>
              <a:t>dionicima</a:t>
            </a:r>
            <a:r>
              <a:rPr lang="en-US" sz="2200" dirty="0"/>
              <a:t> </a:t>
            </a:r>
            <a:r>
              <a:rPr lang="en-US" sz="2200" dirty="0" err="1"/>
              <a:t>umjesto</a:t>
            </a:r>
            <a:r>
              <a:rPr lang="en-US" sz="2200" dirty="0"/>
              <a:t> </a:t>
            </a:r>
            <a:r>
              <a:rPr lang="en-US" sz="2200" dirty="0" err="1"/>
              <a:t>čekanja</a:t>
            </a:r>
            <a:r>
              <a:rPr lang="en-US" sz="2200" dirty="0"/>
              <a:t> </a:t>
            </a:r>
            <a:r>
              <a:rPr lang="en-US" sz="2200" dirty="0" err="1"/>
              <a:t>ključnih</a:t>
            </a:r>
            <a:r>
              <a:rPr lang="en-US" sz="2200" dirty="0"/>
              <a:t> </a:t>
            </a:r>
            <a:r>
              <a:rPr lang="en-US" sz="2200" dirty="0" err="1"/>
              <a:t>prekretnica</a:t>
            </a:r>
            <a:r>
              <a:rPr lang="en-US" sz="2200" dirty="0"/>
              <a:t>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200" dirty="0" err="1"/>
              <a:t>Organizirati</a:t>
            </a:r>
            <a:r>
              <a:rPr lang="en-US" sz="2200" dirty="0"/>
              <a:t> </a:t>
            </a:r>
            <a:r>
              <a:rPr lang="en-US" sz="2200" b="1" dirty="0" err="1"/>
              <a:t>sesije</a:t>
            </a:r>
            <a:r>
              <a:rPr lang="en-US" sz="2200" b="1" dirty="0"/>
              <a:t> za </a:t>
            </a:r>
            <a:r>
              <a:rPr lang="en-US" sz="2200" b="1" dirty="0" err="1"/>
              <a:t>povratne</a:t>
            </a:r>
            <a:r>
              <a:rPr lang="en-US" sz="2200" b="1" dirty="0"/>
              <a:t> </a:t>
            </a:r>
            <a:r>
              <a:rPr lang="en-US" sz="2200" b="1" dirty="0" err="1"/>
              <a:t>informacije</a:t>
            </a:r>
            <a:r>
              <a:rPr lang="en-US" sz="2200" b="1" dirty="0"/>
              <a:t> </a:t>
            </a:r>
            <a:r>
              <a:rPr lang="en-US" sz="2200" dirty="0" err="1"/>
              <a:t>kako</a:t>
            </a:r>
            <a:r>
              <a:rPr lang="en-US" sz="2200" dirty="0"/>
              <a:t> bi se </a:t>
            </a:r>
            <a:r>
              <a:rPr lang="en-US" sz="2200" dirty="0" err="1"/>
              <a:t>osigurala</a:t>
            </a:r>
            <a:r>
              <a:rPr lang="en-US" sz="2200" dirty="0"/>
              <a:t> </a:t>
            </a:r>
            <a:r>
              <a:rPr lang="en-US" sz="2200" dirty="0" err="1"/>
              <a:t>usklađenost</a:t>
            </a:r>
            <a:r>
              <a:rPr lang="en-US" sz="2200" dirty="0"/>
              <a:t> i </a:t>
            </a:r>
            <a:r>
              <a:rPr lang="en-US" sz="2200" dirty="0" err="1"/>
              <a:t>izbjegle</a:t>
            </a:r>
            <a:r>
              <a:rPr lang="en-US" sz="2200" dirty="0"/>
              <a:t> </a:t>
            </a:r>
            <a:r>
              <a:rPr lang="en-US" sz="2200" dirty="0" err="1"/>
              <a:t>promjene</a:t>
            </a:r>
            <a:r>
              <a:rPr lang="en-US" sz="2200" dirty="0"/>
              <a:t> u </a:t>
            </a:r>
            <a:r>
              <a:rPr lang="en-US" sz="2200" dirty="0" err="1"/>
              <a:t>zadnji</a:t>
            </a:r>
            <a:r>
              <a:rPr lang="en-US" sz="2200" dirty="0"/>
              <a:t> </a:t>
            </a:r>
            <a:r>
              <a:rPr lang="en-US" sz="2200" dirty="0" err="1"/>
              <a:t>trenutak</a:t>
            </a:r>
            <a:r>
              <a:rPr lang="en-US" sz="2200" dirty="0"/>
              <a:t>.</a:t>
            </a:r>
          </a:p>
          <a:p>
            <a:pPr marL="457200" lvl="1" indent="0">
              <a:buNone/>
            </a:pPr>
            <a:endParaRPr lang="en-US" sz="2200" dirty="0"/>
          </a:p>
          <a:p>
            <a:pPr>
              <a:buNone/>
            </a:pPr>
            <a:r>
              <a:rPr lang="en-US" sz="2400" b="1" dirty="0">
                <a:solidFill>
                  <a:srgbClr val="0ADBBC"/>
                </a:solidFill>
              </a:rPr>
              <a:t>Očekivani </a:t>
            </a:r>
            <a:r>
              <a:rPr lang="en-US" sz="2400" b="1" dirty="0" err="1">
                <a:solidFill>
                  <a:srgbClr val="0ADBBC"/>
                </a:solidFill>
              </a:rPr>
              <a:t>rezultati</a:t>
            </a:r>
            <a:r>
              <a:rPr lang="en-US" sz="2400" b="1" dirty="0">
                <a:solidFill>
                  <a:srgbClr val="0ADBBC"/>
                </a:solidFill>
              </a:rPr>
              <a:t>: </a:t>
            </a:r>
            <a:r>
              <a:rPr lang="en-US" sz="2200" dirty="0" err="1"/>
              <a:t>Unapređenjem</a:t>
            </a:r>
            <a:r>
              <a:rPr lang="en-US" sz="2200" dirty="0"/>
              <a:t> </a:t>
            </a:r>
            <a:r>
              <a:rPr lang="en-US" sz="2200" dirty="0" err="1"/>
              <a:t>komunikacijskih</a:t>
            </a:r>
            <a:r>
              <a:rPr lang="en-US" sz="2200" dirty="0"/>
              <a:t> </a:t>
            </a:r>
            <a:r>
              <a:rPr lang="en-US" sz="2200" dirty="0" err="1"/>
              <a:t>struktura</a:t>
            </a:r>
            <a:r>
              <a:rPr lang="en-US" sz="2200" dirty="0"/>
              <a:t> </a:t>
            </a:r>
            <a:r>
              <a:rPr lang="en-US" sz="2200" dirty="0" err="1"/>
              <a:t>tim</a:t>
            </a:r>
            <a:r>
              <a:rPr lang="en-US" sz="2200" dirty="0"/>
              <a:t> </a:t>
            </a:r>
            <a:r>
              <a:rPr lang="en-US" sz="2200" dirty="0" err="1"/>
              <a:t>može</a:t>
            </a:r>
            <a:r>
              <a:rPr lang="en-US" sz="2200" dirty="0"/>
              <a:t> </a:t>
            </a:r>
            <a:r>
              <a:rPr lang="en-US" sz="2200" dirty="0" err="1"/>
              <a:t>povećati</a:t>
            </a:r>
            <a:r>
              <a:rPr lang="en-US" sz="2200" dirty="0"/>
              <a:t> </a:t>
            </a:r>
            <a:r>
              <a:rPr lang="en-US" sz="2200" dirty="0" err="1"/>
              <a:t>transparentnost</a:t>
            </a:r>
            <a:r>
              <a:rPr lang="en-US" sz="2200" dirty="0"/>
              <a:t>, </a:t>
            </a:r>
            <a:r>
              <a:rPr lang="en-US" sz="2200" dirty="0" err="1"/>
              <a:t>smanjiti</a:t>
            </a:r>
            <a:r>
              <a:rPr lang="en-US" sz="2200" dirty="0"/>
              <a:t> </a:t>
            </a:r>
            <a:r>
              <a:rPr lang="en-US" sz="2200" dirty="0" err="1"/>
              <a:t>kašnjenja</a:t>
            </a:r>
            <a:r>
              <a:rPr lang="en-US" sz="2200" dirty="0"/>
              <a:t> i </a:t>
            </a:r>
            <a:r>
              <a:rPr lang="en-US" sz="2200" dirty="0" err="1"/>
              <a:t>osigurati</a:t>
            </a:r>
            <a:r>
              <a:rPr lang="en-US" sz="2200" dirty="0"/>
              <a:t> </a:t>
            </a:r>
            <a:r>
              <a:rPr lang="en-US" sz="2200" dirty="0" err="1"/>
              <a:t>bolju</a:t>
            </a:r>
            <a:r>
              <a:rPr lang="en-US" sz="2200" dirty="0"/>
              <a:t> </a:t>
            </a:r>
            <a:r>
              <a:rPr lang="en-US" sz="2200" dirty="0" err="1"/>
              <a:t>usklađenost</a:t>
            </a:r>
            <a:r>
              <a:rPr lang="en-US" sz="2200" dirty="0"/>
              <a:t> </a:t>
            </a:r>
            <a:r>
              <a:rPr lang="en-US" sz="2200" dirty="0" err="1"/>
              <a:t>svih</a:t>
            </a:r>
            <a:r>
              <a:rPr lang="en-US" sz="2200" dirty="0"/>
              <a:t> </a:t>
            </a:r>
            <a:r>
              <a:rPr lang="en-US" sz="2200" dirty="0" err="1"/>
              <a:t>dionika</a:t>
            </a:r>
            <a:r>
              <a:rPr lang="en-US" sz="2200" dirty="0"/>
              <a:t>, </a:t>
            </a:r>
            <a:r>
              <a:rPr lang="en-US" sz="2200" dirty="0" err="1"/>
              <a:t>što</a:t>
            </a:r>
            <a:r>
              <a:rPr lang="en-US" sz="2200" dirty="0"/>
              <a:t> </a:t>
            </a:r>
            <a:r>
              <a:rPr lang="en-US" sz="2200" dirty="0" err="1"/>
              <a:t>dovodi</a:t>
            </a:r>
            <a:r>
              <a:rPr lang="en-US" sz="2200" dirty="0"/>
              <a:t> do </a:t>
            </a:r>
            <a:r>
              <a:rPr lang="en-US" sz="2200" dirty="0" err="1"/>
              <a:t>uspješne</a:t>
            </a:r>
            <a:r>
              <a:rPr lang="en-US" sz="2200" dirty="0"/>
              <a:t> </a:t>
            </a:r>
            <a:r>
              <a:rPr lang="en-US" sz="2200" dirty="0" err="1"/>
              <a:t>provedbe</a:t>
            </a:r>
            <a:r>
              <a:rPr lang="en-US" sz="2200" dirty="0"/>
              <a:t> </a:t>
            </a:r>
            <a:r>
              <a:rPr lang="en-US" sz="2200" dirty="0" err="1"/>
              <a:t>projekta</a:t>
            </a:r>
            <a:r>
              <a:rPr lang="en-US" sz="2200" dirty="0"/>
              <a:t>.</a:t>
            </a:r>
          </a:p>
          <a:p>
            <a:pPr marL="0" indent="0">
              <a:lnSpc>
                <a:spcPct val="150000"/>
              </a:lnSpc>
              <a:buNone/>
            </a:pP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189044937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1FC1248-B769-C1F0-5FFF-C81A22CF92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r-HR" dirty="0"/>
              <a:t>IZVORI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FEA13CC-0ED2-11D6-C76B-35CB139324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8040" y="2805504"/>
            <a:ext cx="10515600" cy="8461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GB" u="sng" dirty="0">
                <a:solidFill>
                  <a:srgbClr val="0563C1"/>
                </a:solidFill>
                <a:effectLst/>
                <a:latin typeface="Bahnschrift SemiLight" panose="020B0502040204020203" pitchFamily="34" charset="0"/>
                <a:ea typeface="Bahnschrift SemiLight" panose="020B0502040204020203" pitchFamily="34" charset="0"/>
                <a:cs typeface="Bahnschrift SemiLight" panose="020B0502040204020203" pitchFamily="34" charset="0"/>
                <a:hlinkClick r:id="rId3"/>
              </a:rPr>
              <a:t>PMI.org</a:t>
            </a:r>
            <a:endParaRPr lang="en-GB" u="sng" dirty="0">
              <a:solidFill>
                <a:srgbClr val="0563C1"/>
              </a:solidFill>
              <a:effectLst/>
              <a:latin typeface="Bahnschrift SemiLight" panose="020B0502040204020203" pitchFamily="34" charset="0"/>
              <a:ea typeface="Bahnschrift SemiLight" panose="020B0502040204020203" pitchFamily="34" charset="0"/>
              <a:cs typeface="Bahnschrift SemiLight" panose="020B0502040204020203" pitchFamily="34" charset="0"/>
            </a:endParaRPr>
          </a:p>
          <a:p>
            <a:pPr marL="0" indent="0">
              <a:buNone/>
            </a:pPr>
            <a:endParaRPr lang="en-GB" u="sng" dirty="0">
              <a:solidFill>
                <a:srgbClr val="0563C1"/>
              </a:solidFill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en-GB" u="sng" dirty="0">
              <a:solidFill>
                <a:srgbClr val="0563C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9437577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setăText 1">
            <a:extLst>
              <a:ext uri="{FF2B5EF4-FFF2-40B4-BE49-F238E27FC236}">
                <a16:creationId xmlns:a16="http://schemas.microsoft.com/office/drawing/2014/main" id="{85A2BCC9-DFAF-A944-3825-DE48AB02071D}"/>
              </a:ext>
            </a:extLst>
          </p:cNvPr>
          <p:cNvSpPr txBox="1"/>
          <p:nvPr/>
        </p:nvSpPr>
        <p:spPr>
          <a:xfrm>
            <a:off x="914400" y="553452"/>
            <a:ext cx="81453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0" lang="hr-HR" sz="36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 SemiBold"/>
                <a:ea typeface="+mj-ea"/>
                <a:cs typeface="+mj-cs"/>
              </a:rPr>
              <a:t>DODATNI MATERIJALI</a:t>
            </a:r>
            <a:endParaRPr lang="ro-RO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CE9E2B-212E-71FB-0191-076CE1CA6939}"/>
              </a:ext>
            </a:extLst>
          </p:cNvPr>
          <p:cNvSpPr txBox="1"/>
          <p:nvPr/>
        </p:nvSpPr>
        <p:spPr>
          <a:xfrm>
            <a:off x="914400" y="2199640"/>
            <a:ext cx="9408160" cy="282128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GB" sz="2800" dirty="0">
                <a:solidFill>
                  <a:srgbClr val="0563C1"/>
                </a:solidFill>
                <a:latin typeface="Bahnschrift SemiLight"/>
                <a:hlinkClick r:id="rId2"/>
              </a:rPr>
              <a:t>PMBOK Guide</a:t>
            </a:r>
            <a:endParaRPr lang="en-GB" sz="2800">
              <a:solidFill>
                <a:srgbClr val="000000"/>
              </a:solidFill>
              <a:latin typeface="Bahnschrift SemiLight"/>
            </a:endParaRPr>
          </a:p>
          <a:p>
            <a:pPr>
              <a:lnSpc>
                <a:spcPct val="90000"/>
              </a:lnSpc>
              <a:spcBef>
                <a:spcPts val="1000"/>
              </a:spcBef>
            </a:pPr>
            <a:endParaRPr lang="en-GB" sz="2800" dirty="0">
              <a:solidFill>
                <a:srgbClr val="000000"/>
              </a:solidFill>
              <a:latin typeface="Bahnschrift SemiLight"/>
            </a:endParaRP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fr-FR" sz="2800" dirty="0">
                <a:solidFill>
                  <a:srgbClr val="000000"/>
                </a:solidFill>
                <a:latin typeface="Bahnschrift SemiLight"/>
                <a:hlinkClick r:id="rId3"/>
              </a:rPr>
              <a:t>Project Management Journal: Sage Journals</a:t>
            </a:r>
            <a:endParaRPr lang="en-US" sz="2800">
              <a:solidFill>
                <a:srgbClr val="000000"/>
              </a:solidFill>
              <a:latin typeface="Bahnschrift SemiLight"/>
            </a:endParaRPr>
          </a:p>
          <a:p>
            <a:pPr>
              <a:lnSpc>
                <a:spcPct val="90000"/>
              </a:lnSpc>
              <a:spcBef>
                <a:spcPts val="1000"/>
              </a:spcBef>
            </a:pPr>
            <a:endParaRPr lang="en-US" sz="2800" dirty="0">
              <a:solidFill>
                <a:srgbClr val="000000"/>
              </a:solidFill>
              <a:latin typeface="Bahnschrift SemiLight"/>
            </a:endParaRPr>
          </a:p>
          <a:p>
            <a:pPr>
              <a:lnSpc>
                <a:spcPct val="90000"/>
              </a:lnSpc>
              <a:spcBef>
                <a:spcPts val="1000"/>
              </a:spcBef>
            </a:pPr>
            <a:r>
              <a:rPr lang="en-US" sz="2800" b="0" i="0" u="none" strike="noStrike" baseline="0">
                <a:solidFill>
                  <a:srgbClr val="000000"/>
                </a:solidFill>
                <a:latin typeface="Bahnschrift SemiLight"/>
              </a:rPr>
              <a:t>Stephen Covey, ``</a:t>
            </a:r>
            <a:r>
              <a:rPr lang="en-US" sz="2800" b="0" i="1" u="none" strike="noStrike" baseline="0">
                <a:solidFill>
                  <a:srgbClr val="000000"/>
                </a:solidFill>
                <a:latin typeface="Bahnschrift SemiLight"/>
              </a:rPr>
              <a:t>The 7 Habits of Highly Effective People``</a:t>
            </a:r>
            <a:endParaRPr lang="en-US"/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551894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sustava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sustava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Shift4IT_Powerpoint_TEMPLATE_Modul1-blu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CC08E76AEB004B8A6B2F235BBAB143" ma:contentTypeVersion="19" ma:contentTypeDescription="Creați un document nou." ma:contentTypeScope="" ma:versionID="cd467c45da60c3e8e3a9f5d4ab2c6457">
  <xsd:schema xmlns:xsd="http://www.w3.org/2001/XMLSchema" xmlns:xs="http://www.w3.org/2001/XMLSchema" xmlns:p="http://schemas.microsoft.com/office/2006/metadata/properties" xmlns:ns2="5e0725af-73e2-4213-b62d-dcea596e5d6d" xmlns:ns3="e6fa96dc-0a02-4bd9-bdcb-2aa22c1a578f" targetNamespace="http://schemas.microsoft.com/office/2006/metadata/properties" ma:root="true" ma:fieldsID="6ff76457272271eb7ef315d9c3011f92" ns2:_="" ns3:_="">
    <xsd:import namespace="5e0725af-73e2-4213-b62d-dcea596e5d6d"/>
    <xsd:import namespace="e6fa96dc-0a02-4bd9-bdcb-2aa22c1a57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e0725af-73e2-4213-b62d-dcea596e5d6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6" nillable="true" ma:displayName="Location" ma:internalName="MediaServiceLocation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Etichete imagine" ma:readOnly="false" ma:fieldId="{5cf76f15-5ced-4ddc-b409-7134ff3c332f}" ma:taxonomyMulti="true" ma:sspId="7051300b-affb-4af5-9054-83ab1355cdd5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6fa96dc-0a02-4bd9-bdcb-2aa22c1a578f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Partajat cu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Partajat cu detalii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2ee04ee1-424f-44c6-b165-f66518ce87aa}" ma:internalName="TaxCatchAll" ma:showField="CatchAllData" ma:web="e6fa96dc-0a02-4bd9-bdcb-2aa22c1a578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 de conținut"/>
        <xsd:element ref="dc:title" minOccurs="0" maxOccurs="1" ma:index="4" ma:displayName="Titlu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e0725af-73e2-4213-b62d-dcea596e5d6d">
      <Terms xmlns="http://schemas.microsoft.com/office/infopath/2007/PartnerControls"/>
    </lcf76f155ced4ddcb4097134ff3c332f>
    <TaxCatchAll xmlns="e6fa96dc-0a02-4bd9-bdcb-2aa22c1a578f" xsi:nil="true"/>
  </documentManagement>
</p:properties>
</file>

<file path=customXml/itemProps1.xml><?xml version="1.0" encoding="utf-8"?>
<ds:datastoreItem xmlns:ds="http://schemas.openxmlformats.org/officeDocument/2006/customXml" ds:itemID="{16C08A36-8A01-4CA4-9737-992EE44495C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e0725af-73e2-4213-b62d-dcea596e5d6d"/>
    <ds:schemaRef ds:uri="e6fa96dc-0a02-4bd9-bdcb-2aa22c1a578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5F167A6-4509-4CDC-872E-B75078D0A47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E8D62CC-B914-477D-B9D0-0F95ABEF2B0F}">
  <ds:schemaRefs>
    <ds:schemaRef ds:uri="http://schemas.microsoft.com/office/2006/metadata/properties"/>
    <ds:schemaRef ds:uri="http://schemas.microsoft.com/office/infopath/2007/PartnerControls"/>
    <ds:schemaRef ds:uri="5ccc8f2e-ac27-4ac8-8955-ea2701adcc78"/>
    <ds:schemaRef ds:uri="178ab0e0-c460-419a-847d-ca81e089ac39"/>
    <ds:schemaRef ds:uri="5e0725af-73e2-4213-b62d-dcea596e5d6d"/>
    <ds:schemaRef ds:uri="e6fa96dc-0a02-4bd9-bdcb-2aa22c1a578f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14539</TotalTime>
  <Words>3950</Words>
  <Application>Microsoft Office PowerPoint</Application>
  <PresentationFormat>Široki zaslon</PresentationFormat>
  <Paragraphs>398</Paragraphs>
  <Slides>58</Slides>
  <Notes>26</Notes>
  <HiddenSlides>0</HiddenSlides>
  <MMClips>0</MMClips>
  <ScaleCrop>false</ScaleCrop>
  <HeadingPairs>
    <vt:vector size="6" baseType="variant">
      <vt:variant>
        <vt:lpstr>Korišteni fontovi</vt:lpstr>
      </vt:variant>
      <vt:variant>
        <vt:i4>9</vt:i4>
      </vt:variant>
      <vt:variant>
        <vt:lpstr>Tema</vt:lpstr>
      </vt:variant>
      <vt:variant>
        <vt:i4>3</vt:i4>
      </vt:variant>
      <vt:variant>
        <vt:lpstr>Naslovi slajdova</vt:lpstr>
      </vt:variant>
      <vt:variant>
        <vt:i4>58</vt:i4>
      </vt:variant>
    </vt:vector>
  </HeadingPairs>
  <TitlesOfParts>
    <vt:vector size="70" baseType="lpstr">
      <vt:lpstr>Aptos</vt:lpstr>
      <vt:lpstr>Arial</vt:lpstr>
      <vt:lpstr>Bahnschrift</vt:lpstr>
      <vt:lpstr>Bahnschrift SemiBold</vt:lpstr>
      <vt:lpstr>Bahnschrift SemiLight</vt:lpstr>
      <vt:lpstr>Calibri</vt:lpstr>
      <vt:lpstr>Calibri Light</vt:lpstr>
      <vt:lpstr>Montserrat</vt:lpstr>
      <vt:lpstr>Nunito</vt:lpstr>
      <vt:lpstr>Tema sustava Office</vt:lpstr>
      <vt:lpstr>1_Tema sustava Office</vt:lpstr>
      <vt:lpstr>Shift4IT_Powerpoint_TEMPLATE_Modul1-blue</vt:lpstr>
      <vt:lpstr>SHIFT4IT</vt:lpstr>
      <vt:lpstr>  Osnove upravljanja projektima </vt:lpstr>
      <vt:lpstr>Sažetak </vt:lpstr>
      <vt:lpstr>San bez plana je samo želja!  - Antoine de Saint-Exupéry </vt:lpstr>
      <vt:lpstr>Što je specifično za projekt?</vt:lpstr>
      <vt:lpstr>Što je specifično za projekt?</vt:lpstr>
      <vt:lpstr>Upravljanje projektima</vt:lpstr>
      <vt:lpstr>Rasprava</vt:lpstr>
      <vt:lpstr>Životni ciklus proizvoda</vt:lpstr>
      <vt:lpstr>GRUPNA RASPRAVA_ Životni ciklus proizvoda</vt:lpstr>
      <vt:lpstr>PROJECT MANAGEMENT FUNDAMENTALS</vt:lpstr>
      <vt:lpstr>Prediktivni pristup (Waterfall)</vt:lpstr>
      <vt:lpstr>Prediktivni pristup _ rasprava</vt:lpstr>
      <vt:lpstr>Adaptivni pristup (Agile)</vt:lpstr>
      <vt:lpstr>Adaptivni pristup _ rasprava</vt:lpstr>
      <vt:lpstr>Hibridni pristup</vt:lpstr>
      <vt:lpstr>Hibridni pristup _ rasprava  </vt:lpstr>
      <vt:lpstr>Vježbe</vt:lpstr>
      <vt:lpstr>PowerPoint prezentacija</vt:lpstr>
      <vt:lpstr>4 načela</vt:lpstr>
      <vt:lpstr>4 načela _ definicije</vt:lpstr>
      <vt:lpstr>Rasprava</vt:lpstr>
      <vt:lpstr>Procjena</vt:lpstr>
      <vt:lpstr>Procjena</vt:lpstr>
      <vt:lpstr>OSNOVE UPRAVLJANJA PROJEKTIMA</vt:lpstr>
      <vt:lpstr>ČINJENICE o liderskim vještinama potrebnima za voditelja projekta:</vt:lpstr>
      <vt:lpstr>ČINJENICE o liderskim vještinama potrebnima za voditelja projekta:</vt:lpstr>
      <vt:lpstr>Maslowljeva teorija motivacije</vt:lpstr>
      <vt:lpstr>Maslowljeva teorija motivacije</vt:lpstr>
      <vt:lpstr>Studija slučaja: Motiviranje člana tima s niskom razinom učinka primjenom Maslowljeve teorije</vt:lpstr>
      <vt:lpstr>Coveyjev pristup slušanju:</vt:lpstr>
      <vt:lpstr>Primjer empatijskog slušanja:</vt:lpstr>
      <vt:lpstr>Važnost povratne informacije u projektnim okruženjima</vt:lpstr>
      <vt:lpstr>Važnost povratne informacije u projektnim okruženjima</vt:lpstr>
      <vt:lpstr>Važnost povratne informacije u projektnim okruženjima</vt:lpstr>
      <vt:lpstr>Kako dati učinkovitu povratnu informaciju kao voditelj projekta</vt:lpstr>
      <vt:lpstr>Kako dati učinkovitu povratnu informaciju kao voditelj projekta</vt:lpstr>
      <vt:lpstr>Dobra razmjena povratnih informacija u projektu</vt:lpstr>
      <vt:lpstr>Igre uloga</vt:lpstr>
      <vt:lpstr>STRATEGIJE UPRAVLJANJA KONFLIKTIMA I.</vt:lpstr>
      <vt:lpstr>STRATEGIJE UPRAVLJANJA KONFLIKTIMA II.</vt:lpstr>
      <vt:lpstr>Utjecaj rješavanja konflikata na dinamiku tima i uspjeh projekta I.   </vt:lpstr>
      <vt:lpstr>Utjecaj rješavanja konflikata na dinamiku tima i uspjeh projekta  II.   </vt:lpstr>
      <vt:lpstr>Scenarij konflikta  u projektnom timu  </vt:lpstr>
      <vt:lpstr>Scenarij konflikta  u projektnom timu  </vt:lpstr>
      <vt:lpstr>OSNOVE UPRAVLJANJA PROJEKTIMA</vt:lpstr>
      <vt:lpstr>1. Razumijevanje komponenti komunikacijskog procesa </vt:lpstr>
      <vt:lpstr>2. Prepoznavanje uobičajenih prepreka učinkovitoj komunikaciji</vt:lpstr>
      <vt:lpstr>3. Strategije za unapređenje komunikacije unutar tima </vt:lpstr>
      <vt:lpstr>4. Različite metode komunikacije </vt:lpstr>
      <vt:lpstr>5. Odabir odgovarajuće metode komunikacije za različite situacije </vt:lpstr>
      <vt:lpstr>6. Utjecaj komunikacijskih metoda na uspjeh projekta </vt:lpstr>
      <vt:lpstr>Studija slučaja: Komunikacijski slom u projektu</vt:lpstr>
      <vt:lpstr>Rasprava Komunikacijski slom u projektu I.</vt:lpstr>
      <vt:lpstr>Rasprava Komunikacijski slom u projektu II.</vt:lpstr>
      <vt:lpstr>Rasprava Komunikacijski slom u projektu III.</vt:lpstr>
      <vt:lpstr>IZVORI</vt:lpstr>
      <vt:lpstr>PowerPoint prezentacija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prezentacija</dc:title>
  <dc:creator>Božica Bajčić</dc:creator>
  <cp:lastModifiedBy>Anita Crnčić</cp:lastModifiedBy>
  <cp:revision>114</cp:revision>
  <dcterms:created xsi:type="dcterms:W3CDTF">2024-02-12T13:35:47Z</dcterms:created>
  <dcterms:modified xsi:type="dcterms:W3CDTF">2026-04-27T09:24:17Z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0x010100AACC08E76AEB004B8A6B2F235BBAB143</vt:lpwstr>
  </property>
  <property fmtid="{D5CDD505-2E9C-101B-9397-08002B2CF9AE}" pid="3" name="MediaServiceImageTags">
    <vt:lpwstr/>
  </property>
</Properties>
</file>
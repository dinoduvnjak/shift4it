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</p:sldMasterIdLst>
  <p:notesMasterIdLst>
    <p:notesMasterId r:id="rId43"/>
  </p:notesMasterIdLst>
  <p:sldIdLst>
    <p:sldId id="345" r:id="rId6"/>
    <p:sldId id="451" r:id="rId7"/>
    <p:sldId id="340" r:id="rId8"/>
    <p:sldId id="278" r:id="rId9"/>
    <p:sldId id="313" r:id="rId10"/>
    <p:sldId id="314" r:id="rId11"/>
    <p:sldId id="315" r:id="rId12"/>
    <p:sldId id="341" r:id="rId13"/>
    <p:sldId id="316" r:id="rId14"/>
    <p:sldId id="317" r:id="rId15"/>
    <p:sldId id="318" r:id="rId16"/>
    <p:sldId id="342" r:id="rId17"/>
    <p:sldId id="343" r:id="rId18"/>
    <p:sldId id="452" r:id="rId19"/>
    <p:sldId id="319" r:id="rId20"/>
    <p:sldId id="453" r:id="rId21"/>
    <p:sldId id="320" r:id="rId22"/>
    <p:sldId id="344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30" r:id="rId32"/>
    <p:sldId id="329" r:id="rId33"/>
    <p:sldId id="331" r:id="rId34"/>
    <p:sldId id="333" r:id="rId35"/>
    <p:sldId id="335" r:id="rId36"/>
    <p:sldId id="334" r:id="rId37"/>
    <p:sldId id="336" r:id="rId38"/>
    <p:sldId id="337" r:id="rId39"/>
    <p:sldId id="338" r:id="rId40"/>
    <p:sldId id="339" r:id="rId41"/>
    <p:sldId id="256" r:id="rId42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DBBC"/>
    <a:srgbClr val="FFFFFF"/>
    <a:srgbClr val="616161"/>
    <a:srgbClr val="3FA798"/>
    <a:srgbClr val="FFE699"/>
    <a:srgbClr val="C6C6C6"/>
    <a:srgbClr val="A9D18E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5DE203-0A64-E04E-E65B-CB4F81AD19F5}" v="17" dt="2026-03-10T08:08:31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Stil tematic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942" autoAdjust="0"/>
  </p:normalViewPr>
  <p:slideViewPr>
    <p:cSldViewPr snapToGrid="0">
      <p:cViewPr varScale="1">
        <p:scale>
          <a:sx n="68" d="100"/>
          <a:sy n="68" d="100"/>
        </p:scale>
        <p:origin x="1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nelia Popescu" userId="444ac7d1-afda-4314-b2c2-4aff562fe857" providerId="ADAL" clId="{3812F0D7-A263-41B2-AC96-1F3B68D731C9}"/>
    <pc:docChg chg="undo custSel addSld delSld modSld sldOrd">
      <pc:chgData name="Cornelia Popescu" userId="444ac7d1-afda-4314-b2c2-4aff562fe857" providerId="ADAL" clId="{3812F0D7-A263-41B2-AC96-1F3B68D731C9}" dt="2026-03-10T15:31:43.701" v="369" actId="1076"/>
      <pc:docMkLst>
        <pc:docMk/>
      </pc:docMkLst>
      <pc:sldChg chg="addSp delSp modSp mod">
        <pc:chgData name="Cornelia Popescu" userId="444ac7d1-afda-4314-b2c2-4aff562fe857" providerId="ADAL" clId="{3812F0D7-A263-41B2-AC96-1F3B68D731C9}" dt="2026-03-10T13:50:43.229" v="195" actId="20577"/>
        <pc:sldMkLst>
          <pc:docMk/>
          <pc:sldMk cId="495518943" sldId="256"/>
        </pc:sldMkLst>
        <pc:spChg chg="add del mod">
          <ac:chgData name="Cornelia Popescu" userId="444ac7d1-afda-4314-b2c2-4aff562fe857" providerId="ADAL" clId="{3812F0D7-A263-41B2-AC96-1F3B68D731C9}" dt="2026-03-10T13:34:42.132" v="158" actId="478"/>
          <ac:spMkLst>
            <pc:docMk/>
            <pc:sldMk cId="495518943" sldId="256"/>
            <ac:spMk id="3" creationId="{0FA7667E-85F7-3213-1436-075E8D6755FF}"/>
          </ac:spMkLst>
        </pc:spChg>
        <pc:spChg chg="add">
          <ac:chgData name="Cornelia Popescu" userId="444ac7d1-afda-4314-b2c2-4aff562fe857" providerId="ADAL" clId="{3812F0D7-A263-41B2-AC96-1F3B68D731C9}" dt="2026-03-10T13:31:56.164" v="157"/>
          <ac:spMkLst>
            <pc:docMk/>
            <pc:sldMk cId="495518943" sldId="256"/>
            <ac:spMk id="4" creationId="{E22EC367-D163-5D03-46DE-2A2289535885}"/>
          </ac:spMkLst>
        </pc:spChg>
        <pc:spChg chg="add">
          <ac:chgData name="Cornelia Popescu" userId="444ac7d1-afda-4314-b2c2-4aff562fe857" providerId="ADAL" clId="{3812F0D7-A263-41B2-AC96-1F3B68D731C9}" dt="2026-03-10T13:31:56.164" v="157"/>
          <ac:spMkLst>
            <pc:docMk/>
            <pc:sldMk cId="495518943" sldId="256"/>
            <ac:spMk id="5" creationId="{455AF458-E93B-B278-39CC-FC47B4851DE0}"/>
          </ac:spMkLst>
        </pc:spChg>
        <pc:spChg chg="add">
          <ac:chgData name="Cornelia Popescu" userId="444ac7d1-afda-4314-b2c2-4aff562fe857" providerId="ADAL" clId="{3812F0D7-A263-41B2-AC96-1F3B68D731C9}" dt="2026-03-10T13:31:56.164" v="157"/>
          <ac:spMkLst>
            <pc:docMk/>
            <pc:sldMk cId="495518943" sldId="256"/>
            <ac:spMk id="6" creationId="{32412EEA-224B-EFCD-1FFA-D2AAAF46325A}"/>
          </ac:spMkLst>
        </pc:spChg>
        <pc:spChg chg="add">
          <ac:chgData name="Cornelia Popescu" userId="444ac7d1-afda-4314-b2c2-4aff562fe857" providerId="ADAL" clId="{3812F0D7-A263-41B2-AC96-1F3B68D731C9}" dt="2026-03-10T13:31:56.164" v="157"/>
          <ac:spMkLst>
            <pc:docMk/>
            <pc:sldMk cId="495518943" sldId="256"/>
            <ac:spMk id="7" creationId="{C8285845-F28D-21BA-CC9F-2AA48DC3B5F0}"/>
          </ac:spMkLst>
        </pc:spChg>
        <pc:spChg chg="add">
          <ac:chgData name="Cornelia Popescu" userId="444ac7d1-afda-4314-b2c2-4aff562fe857" providerId="ADAL" clId="{3812F0D7-A263-41B2-AC96-1F3B68D731C9}" dt="2026-03-10T13:31:56.164" v="157"/>
          <ac:spMkLst>
            <pc:docMk/>
            <pc:sldMk cId="495518943" sldId="256"/>
            <ac:spMk id="8" creationId="{CA7FA0CB-BCDD-4EEB-B81E-8C6896C0C58C}"/>
          </ac:spMkLst>
        </pc:spChg>
        <pc:spChg chg="add">
          <ac:chgData name="Cornelia Popescu" userId="444ac7d1-afda-4314-b2c2-4aff562fe857" providerId="ADAL" clId="{3812F0D7-A263-41B2-AC96-1F3B68D731C9}" dt="2026-03-10T13:31:56.164" v="157"/>
          <ac:spMkLst>
            <pc:docMk/>
            <pc:sldMk cId="495518943" sldId="256"/>
            <ac:spMk id="9" creationId="{28883826-83F0-ECC9-A540-D5C6DD8CBB49}"/>
          </ac:spMkLst>
        </pc:spChg>
        <pc:spChg chg="add">
          <ac:chgData name="Cornelia Popescu" userId="444ac7d1-afda-4314-b2c2-4aff562fe857" providerId="ADAL" clId="{3812F0D7-A263-41B2-AC96-1F3B68D731C9}" dt="2026-03-10T13:31:56.164" v="157"/>
          <ac:spMkLst>
            <pc:docMk/>
            <pc:sldMk cId="495518943" sldId="256"/>
            <ac:spMk id="10" creationId="{89AF730E-E8B9-19DB-2935-C7F43126D380}"/>
          </ac:spMkLst>
        </pc:spChg>
        <pc:spChg chg="add mod">
          <ac:chgData name="Cornelia Popescu" userId="444ac7d1-afda-4314-b2c2-4aff562fe857" providerId="ADAL" clId="{3812F0D7-A263-41B2-AC96-1F3B68D731C9}" dt="2026-03-10T13:41:20.276" v="178" actId="20577"/>
          <ac:spMkLst>
            <pc:docMk/>
            <pc:sldMk cId="495518943" sldId="256"/>
            <ac:spMk id="11" creationId="{566B8B66-D8DF-9BDD-0AD5-997A33A86E00}"/>
          </ac:spMkLst>
        </pc:spChg>
        <pc:spChg chg="add">
          <ac:chgData name="Cornelia Popescu" userId="444ac7d1-afda-4314-b2c2-4aff562fe857" providerId="ADAL" clId="{3812F0D7-A263-41B2-AC96-1F3B68D731C9}" dt="2026-03-10T13:42:02.952" v="179"/>
          <ac:spMkLst>
            <pc:docMk/>
            <pc:sldMk cId="495518943" sldId="256"/>
            <ac:spMk id="12" creationId="{03CA5BA9-CDD9-881A-FA84-B0DB5B08004C}"/>
          </ac:spMkLst>
        </pc:spChg>
        <pc:spChg chg="add mod">
          <ac:chgData name="Cornelia Popescu" userId="444ac7d1-afda-4314-b2c2-4aff562fe857" providerId="ADAL" clId="{3812F0D7-A263-41B2-AC96-1F3B68D731C9}" dt="2026-03-10T13:42:09.791" v="180" actId="767"/>
          <ac:spMkLst>
            <pc:docMk/>
            <pc:sldMk cId="495518943" sldId="256"/>
            <ac:spMk id="13" creationId="{A411B492-8CC6-ABB9-8FA6-E02CD4D8907D}"/>
          </ac:spMkLst>
        </pc:spChg>
        <pc:spChg chg="add">
          <ac:chgData name="Cornelia Popescu" userId="444ac7d1-afda-4314-b2c2-4aff562fe857" providerId="ADAL" clId="{3812F0D7-A263-41B2-AC96-1F3B68D731C9}" dt="2026-03-10T13:42:10.783" v="181"/>
          <ac:spMkLst>
            <pc:docMk/>
            <pc:sldMk cId="495518943" sldId="256"/>
            <ac:spMk id="14" creationId="{A934A973-C4F6-B4E2-FA25-6B34A126B657}"/>
          </ac:spMkLst>
        </pc:spChg>
        <pc:spChg chg="add del mod">
          <ac:chgData name="Cornelia Popescu" userId="444ac7d1-afda-4314-b2c2-4aff562fe857" providerId="ADAL" clId="{3812F0D7-A263-41B2-AC96-1F3B68D731C9}" dt="2026-03-10T13:50:43.229" v="195" actId="20577"/>
          <ac:spMkLst>
            <pc:docMk/>
            <pc:sldMk cId="495518943" sldId="256"/>
            <ac:spMk id="15" creationId="{CCA2F5CC-E586-965A-2FB8-42013F8AE37A}"/>
          </ac:spMkLst>
        </pc:spChg>
        <pc:spChg chg="add">
          <ac:chgData name="Cornelia Popescu" userId="444ac7d1-afda-4314-b2c2-4aff562fe857" providerId="ADAL" clId="{3812F0D7-A263-41B2-AC96-1F3B68D731C9}" dt="2026-03-10T13:42:22.446" v="183"/>
          <ac:spMkLst>
            <pc:docMk/>
            <pc:sldMk cId="495518943" sldId="256"/>
            <ac:spMk id="16" creationId="{514411E3-A2A1-5AA4-7FC0-2274798E68DE}"/>
          </ac:spMkLst>
        </pc:spChg>
        <pc:spChg chg="add">
          <ac:chgData name="Cornelia Popescu" userId="444ac7d1-afda-4314-b2c2-4aff562fe857" providerId="ADAL" clId="{3812F0D7-A263-41B2-AC96-1F3B68D731C9}" dt="2026-03-10T13:42:36.867" v="187"/>
          <ac:spMkLst>
            <pc:docMk/>
            <pc:sldMk cId="495518943" sldId="256"/>
            <ac:spMk id="17" creationId="{8B303FD7-85B4-9E0F-A72F-6AA23779333E}"/>
          </ac:spMkLst>
        </pc:spChg>
      </pc:sldChg>
      <pc:sldChg chg="modSp mod">
        <pc:chgData name="Cornelia Popescu" userId="444ac7d1-afda-4314-b2c2-4aff562fe857" providerId="ADAL" clId="{3812F0D7-A263-41B2-AC96-1F3B68D731C9}" dt="2026-03-09T16:15:58.259" v="13" actId="5793"/>
        <pc:sldMkLst>
          <pc:docMk/>
          <pc:sldMk cId="60367082" sldId="313"/>
        </pc:sldMkLst>
        <pc:spChg chg="mod">
          <ac:chgData name="Cornelia Popescu" userId="444ac7d1-afda-4314-b2c2-4aff562fe857" providerId="ADAL" clId="{3812F0D7-A263-41B2-AC96-1F3B68D731C9}" dt="2026-03-09T16:15:58.259" v="13" actId="5793"/>
          <ac:spMkLst>
            <pc:docMk/>
            <pc:sldMk cId="60367082" sldId="313"/>
            <ac:spMk id="3" creationId="{C2D3A5D0-E7E3-67A2-B12F-D190BDCDF9F9}"/>
          </ac:spMkLst>
        </pc:spChg>
      </pc:sldChg>
      <pc:sldChg chg="modSp mod">
        <pc:chgData name="Cornelia Popescu" userId="444ac7d1-afda-4314-b2c2-4aff562fe857" providerId="ADAL" clId="{3812F0D7-A263-41B2-AC96-1F3B68D731C9}" dt="2026-03-10T12:55:01.925" v="117" actId="255"/>
        <pc:sldMkLst>
          <pc:docMk/>
          <pc:sldMk cId="1467609645" sldId="319"/>
        </pc:sldMkLst>
        <pc:spChg chg="mod">
          <ac:chgData name="Cornelia Popescu" userId="444ac7d1-afda-4314-b2c2-4aff562fe857" providerId="ADAL" clId="{3812F0D7-A263-41B2-AC96-1F3B68D731C9}" dt="2026-03-10T12:55:01.925" v="117" actId="255"/>
          <ac:spMkLst>
            <pc:docMk/>
            <pc:sldMk cId="1467609645" sldId="319"/>
            <ac:spMk id="3" creationId="{87532782-B374-7869-1F30-E2CEF9D3D497}"/>
          </ac:spMkLst>
        </pc:spChg>
      </pc:sldChg>
      <pc:sldChg chg="addSp delSp modSp mod modNotesTx">
        <pc:chgData name="Cornelia Popescu" userId="444ac7d1-afda-4314-b2c2-4aff562fe857" providerId="ADAL" clId="{3812F0D7-A263-41B2-AC96-1F3B68D731C9}" dt="2026-03-10T15:31:43.701" v="369" actId="1076"/>
        <pc:sldMkLst>
          <pc:docMk/>
          <pc:sldMk cId="4109908070" sldId="330"/>
        </pc:sldMkLst>
        <pc:spChg chg="mod">
          <ac:chgData name="Cornelia Popescu" userId="444ac7d1-afda-4314-b2c2-4aff562fe857" providerId="ADAL" clId="{3812F0D7-A263-41B2-AC96-1F3B68D731C9}" dt="2026-03-10T15:31:43.701" v="369" actId="1076"/>
          <ac:spMkLst>
            <pc:docMk/>
            <pc:sldMk cId="4109908070" sldId="330"/>
            <ac:spMk id="4" creationId="{6CEB6840-42DB-BEE1-13C6-49D67009DE71}"/>
          </ac:spMkLst>
        </pc:spChg>
        <pc:spChg chg="mod">
          <ac:chgData name="Cornelia Popescu" userId="444ac7d1-afda-4314-b2c2-4aff562fe857" providerId="ADAL" clId="{3812F0D7-A263-41B2-AC96-1F3B68D731C9}" dt="2026-03-10T13:21:29.982" v="133" actId="1076"/>
          <ac:spMkLst>
            <pc:docMk/>
            <pc:sldMk cId="4109908070" sldId="330"/>
            <ac:spMk id="5" creationId="{1D946944-5732-634A-051D-1D1E083F6162}"/>
          </ac:spMkLst>
        </pc:spChg>
        <pc:picChg chg="add del">
          <ac:chgData name="Cornelia Popescu" userId="444ac7d1-afda-4314-b2c2-4aff562fe857" providerId="ADAL" clId="{3812F0D7-A263-41B2-AC96-1F3B68D731C9}" dt="2026-03-10T15:23:28.856" v="210" actId="22"/>
          <ac:picMkLst>
            <pc:docMk/>
            <pc:sldMk cId="4109908070" sldId="330"/>
            <ac:picMk id="7" creationId="{8007EB9B-E012-C494-CD5F-7232D10ABC65}"/>
          </ac:picMkLst>
        </pc:picChg>
        <pc:picChg chg="add del">
          <ac:chgData name="Cornelia Popescu" userId="444ac7d1-afda-4314-b2c2-4aff562fe857" providerId="ADAL" clId="{3812F0D7-A263-41B2-AC96-1F3B68D731C9}" dt="2026-03-10T15:23:33.596" v="212" actId="22"/>
          <ac:picMkLst>
            <pc:docMk/>
            <pc:sldMk cId="4109908070" sldId="330"/>
            <ac:picMk id="9" creationId="{3BBFAC2A-C798-FAE1-CFE6-CF672BAD3A7E}"/>
          </ac:picMkLst>
        </pc:picChg>
      </pc:sldChg>
      <pc:sldChg chg="modSp mod">
        <pc:chgData name="Cornelia Popescu" userId="444ac7d1-afda-4314-b2c2-4aff562fe857" providerId="ADAL" clId="{3812F0D7-A263-41B2-AC96-1F3B68D731C9}" dt="2026-03-09T15:39:05.851" v="8" actId="20577"/>
        <pc:sldMkLst>
          <pc:docMk/>
          <pc:sldMk cId="78782313" sldId="333"/>
        </pc:sldMkLst>
        <pc:graphicFrameChg chg="mod modGraphic">
          <ac:chgData name="Cornelia Popescu" userId="444ac7d1-afda-4314-b2c2-4aff562fe857" providerId="ADAL" clId="{3812F0D7-A263-41B2-AC96-1F3B68D731C9}" dt="2026-03-09T15:39:05.851" v="8" actId="20577"/>
          <ac:graphicFrameMkLst>
            <pc:docMk/>
            <pc:sldMk cId="78782313" sldId="333"/>
            <ac:graphicFrameMk id="9" creationId="{48BDFB04-DAFC-0A71-99D3-795840CE170E}"/>
          </ac:graphicFrameMkLst>
        </pc:graphicFrameChg>
      </pc:sldChg>
      <pc:sldChg chg="modSp mod">
        <pc:chgData name="Cornelia Popescu" userId="444ac7d1-afda-4314-b2c2-4aff562fe857" providerId="ADAL" clId="{3812F0D7-A263-41B2-AC96-1F3B68D731C9}" dt="2026-03-10T12:51:11.433" v="93" actId="20577"/>
        <pc:sldMkLst>
          <pc:docMk/>
          <pc:sldMk cId="4145726347" sldId="338"/>
        </pc:sldMkLst>
        <pc:spChg chg="mod">
          <ac:chgData name="Cornelia Popescu" userId="444ac7d1-afda-4314-b2c2-4aff562fe857" providerId="ADAL" clId="{3812F0D7-A263-41B2-AC96-1F3B68D731C9}" dt="2026-03-10T12:51:11.433" v="93" actId="20577"/>
          <ac:spMkLst>
            <pc:docMk/>
            <pc:sldMk cId="4145726347" sldId="338"/>
            <ac:spMk id="5" creationId="{ADE0B4F8-9665-EF24-7F9B-215B02CB5003}"/>
          </ac:spMkLst>
        </pc:spChg>
      </pc:sldChg>
      <pc:sldChg chg="modSp mod">
        <pc:chgData name="Cornelia Popescu" userId="444ac7d1-afda-4314-b2c2-4aff562fe857" providerId="ADAL" clId="{3812F0D7-A263-41B2-AC96-1F3B68D731C9}" dt="2026-03-10T12:55:24.598" v="119" actId="255"/>
        <pc:sldMkLst>
          <pc:docMk/>
          <pc:sldMk cId="270753898" sldId="343"/>
        </pc:sldMkLst>
        <pc:spChg chg="mod">
          <ac:chgData name="Cornelia Popescu" userId="444ac7d1-afda-4314-b2c2-4aff562fe857" providerId="ADAL" clId="{3812F0D7-A263-41B2-AC96-1F3B68D731C9}" dt="2026-03-10T12:55:24.598" v="119" actId="255"/>
          <ac:spMkLst>
            <pc:docMk/>
            <pc:sldMk cId="270753898" sldId="343"/>
            <ac:spMk id="2" creationId="{B6D019E0-579D-6C73-746C-DE49F95BE25F}"/>
          </ac:spMkLst>
        </pc:spChg>
      </pc:sldChg>
      <pc:sldChg chg="modSp add mod">
        <pc:chgData name="Cornelia Popescu" userId="444ac7d1-afda-4314-b2c2-4aff562fe857" providerId="ADAL" clId="{3812F0D7-A263-41B2-AC96-1F3B68D731C9}" dt="2026-03-10T12:55:13.781" v="118" actId="255"/>
        <pc:sldMkLst>
          <pc:docMk/>
          <pc:sldMk cId="1374381403" sldId="452"/>
        </pc:sldMkLst>
        <pc:spChg chg="mod">
          <ac:chgData name="Cornelia Popescu" userId="444ac7d1-afda-4314-b2c2-4aff562fe857" providerId="ADAL" clId="{3812F0D7-A263-41B2-AC96-1F3B68D731C9}" dt="2026-03-10T12:55:13.781" v="118" actId="255"/>
          <ac:spMkLst>
            <pc:docMk/>
            <pc:sldMk cId="1374381403" sldId="452"/>
            <ac:spMk id="2" creationId="{BDE0F4B6-3FA9-6984-FFD4-CFE71A886065}"/>
          </ac:spMkLst>
        </pc:spChg>
      </pc:sldChg>
      <pc:sldChg chg="modSp add del mod ord">
        <pc:chgData name="Cornelia Popescu" userId="444ac7d1-afda-4314-b2c2-4aff562fe857" providerId="ADAL" clId="{3812F0D7-A263-41B2-AC96-1F3B68D731C9}" dt="2026-03-10T11:56:07.335" v="60" actId="2890"/>
        <pc:sldMkLst>
          <pc:docMk/>
          <pc:sldMk cId="2346854236" sldId="452"/>
        </pc:sldMkLst>
        <pc:spChg chg="mod">
          <ac:chgData name="Cornelia Popescu" userId="444ac7d1-afda-4314-b2c2-4aff562fe857" providerId="ADAL" clId="{3812F0D7-A263-41B2-AC96-1F3B68D731C9}" dt="2026-03-10T11:56:01.710" v="59" actId="20577"/>
          <ac:spMkLst>
            <pc:docMk/>
            <pc:sldMk cId="2346854236" sldId="452"/>
            <ac:spMk id="2" creationId="{E7933653-367E-2619-4D18-317AEA69498A}"/>
          </ac:spMkLst>
        </pc:spChg>
      </pc:sldChg>
      <pc:sldChg chg="modSp add mod">
        <pc:chgData name="Cornelia Popescu" userId="444ac7d1-afda-4314-b2c2-4aff562fe857" providerId="ADAL" clId="{3812F0D7-A263-41B2-AC96-1F3B68D731C9}" dt="2026-03-10T12:55:48.034" v="120" actId="255"/>
        <pc:sldMkLst>
          <pc:docMk/>
          <pc:sldMk cId="3040567482" sldId="453"/>
        </pc:sldMkLst>
        <pc:spChg chg="mod">
          <ac:chgData name="Cornelia Popescu" userId="444ac7d1-afda-4314-b2c2-4aff562fe857" providerId="ADAL" clId="{3812F0D7-A263-41B2-AC96-1F3B68D731C9}" dt="2026-03-10T12:55:48.034" v="120" actId="255"/>
          <ac:spMkLst>
            <pc:docMk/>
            <pc:sldMk cId="3040567482" sldId="453"/>
            <ac:spMk id="3" creationId="{A96E554C-34C6-2ADA-77A7-F15A117E49FB}"/>
          </ac:spMkLst>
        </pc:spChg>
      </pc:sldChg>
      <pc:sldChg chg="del">
        <pc:chgData name="Cornelia Popescu" userId="444ac7d1-afda-4314-b2c2-4aff562fe857" providerId="ADAL" clId="{3812F0D7-A263-41B2-AC96-1F3B68D731C9}" dt="2026-03-10T11:51:10.009" v="14" actId="47"/>
        <pc:sldMkLst>
          <pc:docMk/>
          <pc:sldMk cId="3059674935" sldId="455"/>
        </pc:sldMkLst>
      </pc:sldChg>
    </pc:docChg>
  </pc:docChgLst>
  <pc:docChgLst>
    <pc:chgData name="Guest User" userId="S::urn:spo:tenantanon#ed2b45ec-3dfc-411c-9ffc-cb053e727a4c::" providerId="AD" clId="Web-{515DE203-0A64-E04E-E65B-CB4F81AD19F5}"/>
    <pc:docChg chg="modSld">
      <pc:chgData name="Guest User" userId="S::urn:spo:tenantanon#ed2b45ec-3dfc-411c-9ffc-cb053e727a4c::" providerId="AD" clId="Web-{515DE203-0A64-E04E-E65B-CB4F81AD19F5}" dt="2026-03-10T08:08:31.108" v="16" actId="20577"/>
      <pc:docMkLst>
        <pc:docMk/>
      </pc:docMkLst>
      <pc:sldChg chg="addSp modSp">
        <pc:chgData name="Guest User" userId="S::urn:spo:tenantanon#ed2b45ec-3dfc-411c-9ffc-cb053e727a4c::" providerId="AD" clId="Web-{515DE203-0A64-E04E-E65B-CB4F81AD19F5}" dt="2026-03-10T08:06:40.294" v="5" actId="14100"/>
        <pc:sldMkLst>
          <pc:docMk/>
          <pc:sldMk cId="4109908070" sldId="330"/>
        </pc:sldMkLst>
        <pc:spChg chg="add mod">
          <ac:chgData name="Guest User" userId="S::urn:spo:tenantanon#ed2b45ec-3dfc-411c-9ffc-cb053e727a4c::" providerId="AD" clId="Web-{515DE203-0A64-E04E-E65B-CB4F81AD19F5}" dt="2026-03-10T08:06:40.294" v="5" actId="14100"/>
          <ac:spMkLst>
            <pc:docMk/>
            <pc:sldMk cId="4109908070" sldId="330"/>
            <ac:spMk id="4" creationId="{6CEB6840-42DB-BEE1-13C6-49D67009DE71}"/>
          </ac:spMkLst>
        </pc:spChg>
        <pc:spChg chg="mod">
          <ac:chgData name="Guest User" userId="S::urn:spo:tenantanon#ed2b45ec-3dfc-411c-9ffc-cb053e727a4c::" providerId="AD" clId="Web-{515DE203-0A64-E04E-E65B-CB4F81AD19F5}" dt="2026-03-10T08:06:18.544" v="2" actId="1076"/>
          <ac:spMkLst>
            <pc:docMk/>
            <pc:sldMk cId="4109908070" sldId="330"/>
            <ac:spMk id="5" creationId="{1D946944-5732-634A-051D-1D1E083F6162}"/>
          </ac:spMkLst>
        </pc:spChg>
      </pc:sldChg>
      <pc:sldChg chg="modSp">
        <pc:chgData name="Guest User" userId="S::urn:spo:tenantanon#ed2b45ec-3dfc-411c-9ffc-cb053e727a4c::" providerId="AD" clId="Web-{515DE203-0A64-E04E-E65B-CB4F81AD19F5}" dt="2026-03-10T08:08:31.108" v="16" actId="20577"/>
        <pc:sldMkLst>
          <pc:docMk/>
          <pc:sldMk cId="4145726347" sldId="338"/>
        </pc:sldMkLst>
        <pc:spChg chg="mod">
          <ac:chgData name="Guest User" userId="S::urn:spo:tenantanon#ed2b45ec-3dfc-411c-9ffc-cb053e727a4c::" providerId="AD" clId="Web-{515DE203-0A64-E04E-E65B-CB4F81AD19F5}" dt="2026-03-10T08:08:31.108" v="16" actId="20577"/>
          <ac:spMkLst>
            <pc:docMk/>
            <pc:sldMk cId="4145726347" sldId="338"/>
            <ac:spMk id="5" creationId="{ADE0B4F8-9665-EF24-7F9B-215B02CB50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1DDD4-3CED-4400-A9AC-F2C4A6E68C5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845E0-60C2-446A-9A7D-97133A17F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16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02D69-66AA-9C2C-94CA-E1839CBA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054FF-9638-63C8-2800-DAD6C852E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AECE3-06E9-E7CC-5720-EE6A7D8F5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E2501-7F91-7745-B02F-29C7573FF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23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3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 err="1"/>
              <a:t>CraftEase</a:t>
            </a:r>
            <a:r>
              <a:rPr lang="hr-HR" dirty="0"/>
              <a:t> je web aplikacijsko rješenje razvijeno za trgovce u području uređenja doma koji žele unaprijediti angažman kupaca izravno putem svoje web stranice.</a:t>
            </a:r>
            <a:br>
              <a:rPr lang="hr-HR" dirty="0"/>
            </a:br>
            <a:r>
              <a:rPr lang="hr-HR" dirty="0"/>
              <a:t>Cilj je vašoj trgovini pružiti integriranu digitalnu uslugu koja pomaže u upravljanju prijavama na DIY radionice, promoviranju projektnih </a:t>
            </a:r>
            <a:r>
              <a:rPr lang="hr-HR" dirty="0" err="1"/>
              <a:t>tutorijala</a:t>
            </a:r>
            <a:r>
              <a:rPr lang="hr-HR" dirty="0"/>
              <a:t> i praćenju dostupnosti alata/materijala u stvarnom vremenu.</a:t>
            </a:r>
          </a:p>
          <a:p>
            <a:endParaRPr lang="hr-HR" dirty="0"/>
          </a:p>
          <a:p>
            <a:r>
              <a:rPr lang="hr-HR" dirty="0"/>
              <a:t>Platforma je osmišljena tako da se besprijekorno integrira u vašu postojeću web stranicu. Jednostavna je za korištenje, sigurna i prilagodljiva vašem brendu i potrebama kupaca. Značajke uključuju personalizirane preporuke projekata, upravljanje rezervacijama, alate za prikupljanje povratnih informacija kupaca te analitiku za timove u trgovini.</a:t>
            </a:r>
          </a:p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41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CB5D1-4E2A-2B91-41A7-1FBC74F0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6B129-F7AC-CE6A-0965-7FD220579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91CE6-0B9B-4B16-530D-9DAEC120D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D1B37-9F0D-4798-D165-40808F032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95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85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16379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62662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60127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3084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4911BAC4-6BC8-78C9-C3A0-3B8193B50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94142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55890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5FF10651-A88B-132B-AE77-005E725B18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5683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8A7D5785-C017-9CDE-887E-053A663A78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811607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alat, dizajn&#10;&#10;Opis je automatski generiran">
            <a:extLst>
              <a:ext uri="{FF2B5EF4-FFF2-40B4-BE49-F238E27FC236}">
                <a16:creationId xmlns:a16="http://schemas.microsoft.com/office/drawing/2014/main" id="{7174B7B0-D794-7A54-5CF6-E0A21E0E58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49893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78154B72-B9D9-7CC8-2522-C7E3F4476C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3897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5F67D23E-A28C-75D8-1345-0AB914675C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25255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35DF2062-AC53-CC06-3408-F03D9B95BB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226208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9FAA237F-8481-A276-5DC5-A3FC50F5B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83575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ACF3BB00-7BB7-10A7-AF1C-C068963059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511350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dizajn&#10;&#10;Opis je automatski generiran">
            <a:extLst>
              <a:ext uri="{FF2B5EF4-FFF2-40B4-BE49-F238E27FC236}">
                <a16:creationId xmlns:a16="http://schemas.microsoft.com/office/drawing/2014/main" id="{B7D62D7D-7D80-2656-0C29-220AC7C0C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911371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1FCDBB5E-C312-9CA7-3D6E-5B05ED0C9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67470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27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jagram, dizajn">
            <a:extLst>
              <a:ext uri="{FF2B5EF4-FFF2-40B4-BE49-F238E27FC236}">
                <a16:creationId xmlns:a16="http://schemas.microsoft.com/office/drawing/2014/main" id="{3A63C51E-BBBB-22E4-3216-33F3A8DECE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AE0E3769-885C-635A-42E6-2DFD4C088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r-HR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0786329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6007436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457705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699162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68937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ACF3BB00-7BB7-10A7-AF1C-C068963059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116680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jagram, dizajn">
            <a:extLst>
              <a:ext uri="{FF2B5EF4-FFF2-40B4-BE49-F238E27FC236}">
                <a16:creationId xmlns:a16="http://schemas.microsoft.com/office/drawing/2014/main" id="{3A63C51E-BBBB-22E4-3216-33F3A8DECE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AE0E3769-885C-635A-42E6-2DFD4C088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r-HR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6328228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dizajn&#10;&#10;Opis je automatski generiran">
            <a:extLst>
              <a:ext uri="{FF2B5EF4-FFF2-40B4-BE49-F238E27FC236}">
                <a16:creationId xmlns:a16="http://schemas.microsoft.com/office/drawing/2014/main" id="{B7D62D7D-7D80-2656-0C29-220AC7C0C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7342307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1FCDBB5E-C312-9CA7-3D6E-5B05ED0C9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09684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DISCUSSION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8874109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EXERCISE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089448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5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HOMEWORK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4091637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6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ASSESSMENTS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42078619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7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3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ADDITIONAL READING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6371496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8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3" cy="6857138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RESOURCES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3266542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4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28.4.2026.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751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9" r:id="rId4"/>
    <p:sldLayoutId id="2147483665" r:id="rId5"/>
    <p:sldLayoutId id="2147483651" r:id="rId6"/>
    <p:sldLayoutId id="2147483660" r:id="rId7"/>
    <p:sldLayoutId id="2147483666" r:id="rId8"/>
    <p:sldLayoutId id="2147483652" r:id="rId9"/>
    <p:sldLayoutId id="2147483661" r:id="rId10"/>
    <p:sldLayoutId id="2147483667" r:id="rId11"/>
    <p:sldLayoutId id="2147483653" r:id="rId12"/>
    <p:sldLayoutId id="2147483662" r:id="rId13"/>
    <p:sldLayoutId id="2147483668" r:id="rId14"/>
    <p:sldLayoutId id="2147483654" r:id="rId15"/>
    <p:sldLayoutId id="2147483663" r:id="rId16"/>
    <p:sldLayoutId id="2147483669" r:id="rId17"/>
    <p:sldLayoutId id="214748368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28.4.2026.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6123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pmbok-guide-standards/foundational/pmbok" TargetMode="External"/><Relationship Id="rId2" Type="http://schemas.openxmlformats.org/officeDocument/2006/relationships/hyperlink" Target="https://www.pmi.org/" TargetMode="External"/><Relationship Id="rId1" Type="http://schemas.openxmlformats.org/officeDocument/2006/relationships/slideLayout" Target="../slideLayouts/slideLayout32.xml"/><Relationship Id="rId4" Type="http://schemas.openxmlformats.org/officeDocument/2006/relationships/hyperlink" Target="https://journals.sagepub.com/home/pmx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work-management/project-management" TargetMode="External"/><Relationship Id="rId2" Type="http://schemas.openxmlformats.org/officeDocument/2006/relationships/hyperlink" Target="https://www.pmi.org/learning/thought-leadership/pulse" TargetMode="External"/><Relationship Id="rId1" Type="http://schemas.openxmlformats.org/officeDocument/2006/relationships/slideLayout" Target="../slideLayouts/slideLayout31.xml"/><Relationship Id="rId4" Type="http://schemas.openxmlformats.org/officeDocument/2006/relationships/hyperlink" Target="https://www.mindtools.com/pages/article/newPPM_07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4022C4E9-1E70-8866-3479-A24FD93D0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SHIFT4IT</a:t>
            </a:r>
            <a:endParaRPr lang="hr-HR"/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2D59F4E1-B531-21D4-1874-34304F7DA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Nunito" pitchFamily="2" charset="0"/>
              </a:rPr>
              <a:t>Shifting the paradigm for women in IT sector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7504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3DF1749-1A1D-3164-354A-8D2A8109F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011" y="2875581"/>
            <a:ext cx="9144000" cy="2387600"/>
          </a:xfrm>
        </p:spPr>
        <p:txBody>
          <a:bodyPr>
            <a:normAutofit/>
          </a:bodyPr>
          <a:lstStyle/>
          <a:p>
            <a:br>
              <a:rPr lang="ro-RO" dirty="0"/>
            </a:br>
            <a:br>
              <a:rPr lang="ro-RO" dirty="0"/>
            </a:br>
            <a:r>
              <a:rPr lang="ro-RO" b="1" dirty="0"/>
              <a:t>Pokretanje projekta</a:t>
            </a:r>
            <a:endParaRPr lang="hr-HR" sz="5300" b="1" dirty="0"/>
          </a:p>
        </p:txBody>
      </p:sp>
    </p:spTree>
    <p:extLst>
      <p:ext uri="{BB962C8B-B14F-4D97-AF65-F5344CB8AC3E}">
        <p14:creationId xmlns:p14="http://schemas.microsoft.com/office/powerpoint/2010/main" val="262323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25DB994-20D2-9EF1-A081-C76AA523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z="3600" dirty="0" err="1">
                <a:latin typeface="Bahnschrift SemiBold"/>
              </a:rPr>
              <a:t>Sažetak</a:t>
            </a:r>
            <a:endParaRPr lang="en-US" sz="3600" dirty="0">
              <a:latin typeface="Bahnschrift SemiBo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C353DD-410E-0D01-85CF-C64EC687F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92" y="2144190"/>
            <a:ext cx="8812696" cy="335990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1. </a:t>
            </a:r>
            <a:r>
              <a:rPr 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Opisati</a:t>
            </a:r>
            <a:r>
              <a:rPr 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svrhu</a:t>
            </a:r>
            <a:r>
              <a:rPr 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hr-HR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Projektne povelje (</a:t>
            </a:r>
            <a:r>
              <a:rPr lang="hr-HR" sz="2800" i="1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Project </a:t>
            </a:r>
            <a:r>
              <a:rPr lang="hr-HR" sz="2800" i="1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charther</a:t>
            </a:r>
            <a:r>
              <a:rPr lang="hr-HR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) </a:t>
            </a:r>
            <a:r>
              <a:rPr lang="en-GB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(1h)</a:t>
            </a:r>
            <a:br>
              <a:rPr lang="en-GB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b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2. </a:t>
            </a:r>
            <a:r>
              <a:rPr lang="hr-HR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Elementi Projektne povelje (</a:t>
            </a:r>
            <a:r>
              <a:rPr lang="hr-HR" altLang="en-US" sz="2800" i="1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</a:t>
            </a:r>
            <a:r>
              <a:rPr lang="en-US" altLang="en-US" sz="2800" i="1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roject</a:t>
            </a:r>
            <a:r>
              <a:rPr lang="en-US" altLang="en-US" sz="2800" i="1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charter</a:t>
            </a:r>
            <a:r>
              <a:rPr lang="hr-HR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)</a:t>
            </a:r>
            <a: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(1h)</a:t>
            </a:r>
            <a:b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b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3. </a:t>
            </a:r>
            <a:r>
              <a:rPr lang="it-IT" alt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Identificirati</a:t>
            </a:r>
            <a:r>
              <a:rPr lang="it-IT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it-IT" alt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uloge</a:t>
            </a:r>
            <a:r>
              <a:rPr lang="it-IT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i </a:t>
            </a:r>
            <a:r>
              <a:rPr lang="it-IT" alt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odgovornosti</a:t>
            </a:r>
            <a:r>
              <a:rPr lang="it-IT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it-IT" alt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dionika</a:t>
            </a:r>
            <a:r>
              <a:rPr lang="hr-HR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(2h)</a:t>
            </a:r>
            <a:b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b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4. </a:t>
            </a:r>
            <a:r>
              <a:rPr lang="en-US" alt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Autoritet</a:t>
            </a:r>
            <a: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, </a:t>
            </a:r>
            <a:r>
              <a:rPr lang="en-US" alt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odgovornosti</a:t>
            </a:r>
            <a: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i </a:t>
            </a:r>
            <a:r>
              <a:rPr lang="en-US" alt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donošenje</a:t>
            </a:r>
            <a: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odluka</a:t>
            </a:r>
            <a:r>
              <a:rPr lang="en-US" altLang="en-US" sz="28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(2h)</a:t>
            </a:r>
            <a:endParaRPr lang="en-US" altLang="en-US" sz="28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784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5BA62-CF77-09B4-D7FC-1B59356E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347F65C-31E3-EB4A-E9AC-7FE40C80D725}"/>
              </a:ext>
            </a:extLst>
          </p:cNvPr>
          <p:cNvSpPr txBox="1">
            <a:spLocks/>
          </p:cNvSpPr>
          <p:nvPr/>
        </p:nvSpPr>
        <p:spPr>
          <a:xfrm>
            <a:off x="1357746" y="3911593"/>
            <a:ext cx="10697486" cy="160081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Montserrat" panose="00000500000000000000" pitchFamily="2" charset="-18"/>
                <a:ea typeface="+mj-ea"/>
                <a:cs typeface="+mj-cs"/>
              </a:defRPr>
            </a:lvl1pPr>
          </a:lstStyle>
          <a:p>
            <a:r>
              <a:rPr lang="sv-SE" sz="4000" dirty="0">
                <a:latin typeface="Bahnschrift" panose="020B0502040204020203" pitchFamily="34" charset="0"/>
              </a:rPr>
              <a:t>Svrha </a:t>
            </a:r>
            <a:r>
              <a:rPr lang="hr-HR" sz="4000" dirty="0">
                <a:latin typeface="Bahnschrift" panose="020B0502040204020203" pitchFamily="34" charset="0"/>
              </a:rPr>
              <a:t>P</a:t>
            </a:r>
            <a:r>
              <a:rPr lang="sv-SE" sz="4000" dirty="0">
                <a:latin typeface="Bahnschrift" panose="020B0502040204020203" pitchFamily="34" charset="0"/>
              </a:rPr>
              <a:t>rojektn</a:t>
            </a:r>
            <a:r>
              <a:rPr lang="hr-HR" sz="4000" dirty="0">
                <a:latin typeface="Bahnschrift" panose="020B0502040204020203" pitchFamily="34" charset="0"/>
              </a:rPr>
              <a:t>e povelje (Project Charter)</a:t>
            </a:r>
            <a:endParaRPr lang="sv-SE" sz="4000" dirty="0">
              <a:latin typeface="Bahnschrift" panose="020B0502040204020203" pitchFamily="34" charset="0"/>
            </a:endParaRPr>
          </a:p>
          <a:p>
            <a:r>
              <a:rPr lang="sv-SE" sz="4000" dirty="0">
                <a:latin typeface="Bahnschrift" panose="020B0502040204020203" pitchFamily="34" charset="0"/>
              </a:rPr>
              <a:t>Elementi Projektne povelje</a:t>
            </a:r>
            <a:r>
              <a:rPr lang="hr-HR" sz="4000" dirty="0">
                <a:latin typeface="Bahnschrift" panose="020B0502040204020203" pitchFamily="34" charset="0"/>
              </a:rPr>
              <a:t> (Project Charter)</a:t>
            </a:r>
          </a:p>
        </p:txBody>
      </p:sp>
      <p:sp>
        <p:nvSpPr>
          <p:cNvPr id="2" name="Naslov 3">
            <a:extLst>
              <a:ext uri="{FF2B5EF4-FFF2-40B4-BE49-F238E27FC236}">
                <a16:creationId xmlns:a16="http://schemas.microsoft.com/office/drawing/2014/main" id="{97144630-2766-50FA-ABD6-B0E330BA072A}"/>
              </a:ext>
            </a:extLst>
          </p:cNvPr>
          <p:cNvSpPr txBox="1">
            <a:spLocks/>
          </p:cNvSpPr>
          <p:nvPr/>
        </p:nvSpPr>
        <p:spPr>
          <a:xfrm>
            <a:off x="2632935" y="152399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prstClr val="black"/>
                </a:solidFill>
              </a:rPr>
              <a:t>Pokretanje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projekta</a:t>
            </a:r>
            <a:endParaRPr kumimoji="0" lang="hr-HR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652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436CE-F4E1-C1C7-D054-047BCAD4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Što je </a:t>
            </a:r>
            <a:r>
              <a:rPr lang="en-US" i="1" dirty="0"/>
              <a:t>Project Charter</a:t>
            </a:r>
            <a:r>
              <a:rPr lang="en-US" dirty="0"/>
              <a:t>?</a:t>
            </a:r>
            <a:br>
              <a:rPr lang="en-US" b="1" dirty="0">
                <a:latin typeface="Bahnschrift SemiLight" panose="020B0502040204020203" pitchFamily="34" charset="0"/>
              </a:rPr>
            </a:br>
            <a:endParaRPr lang="en-US" b="1" dirty="0">
              <a:latin typeface="Bahnschrift Semi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3A5D0-E7E3-67A2-B12F-D190BDCD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76" y="183638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hr-HR" i="1" dirty="0"/>
              <a:t>Project charter</a:t>
            </a:r>
            <a:r>
              <a:rPr lang="en-US" i="1" dirty="0"/>
              <a:t> </a:t>
            </a:r>
            <a:r>
              <a:rPr lang="en-US" dirty="0"/>
              <a:t>je </a:t>
            </a:r>
            <a:r>
              <a:rPr lang="en-US" dirty="0" err="1"/>
              <a:t>formalni</a:t>
            </a:r>
            <a:r>
              <a:rPr lang="en-US" dirty="0"/>
              <a:t> </a:t>
            </a:r>
            <a:r>
              <a:rPr lang="en-US" dirty="0" err="1"/>
              <a:t>dokument</a:t>
            </a:r>
            <a:r>
              <a:rPr lang="en-US" dirty="0"/>
              <a:t> </a:t>
            </a:r>
            <a:r>
              <a:rPr lang="en-US" dirty="0" err="1"/>
              <a:t>kojim</a:t>
            </a:r>
            <a:r>
              <a:rPr lang="en-US" dirty="0"/>
              <a:t> se </a:t>
            </a:r>
            <a:r>
              <a:rPr lang="en-US" dirty="0" err="1"/>
              <a:t>odobrava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 i </a:t>
            </a:r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pregled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visokoj</a:t>
            </a:r>
            <a:r>
              <a:rPr lang="en-US" dirty="0"/>
              <a:t> </a:t>
            </a:r>
            <a:r>
              <a:rPr lang="en-US" dirty="0" err="1"/>
              <a:t>razini</a:t>
            </a:r>
            <a:r>
              <a:rPr lang="en-US" dirty="0"/>
              <a:t> </a:t>
            </a:r>
            <a:r>
              <a:rPr lang="en-US" dirty="0" err="1"/>
              <a:t>njegove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hr-HR" b="1" dirty="0">
                <a:solidFill>
                  <a:srgbClr val="0ADBBC"/>
                </a:solidFill>
              </a:rPr>
              <a:t>- </a:t>
            </a:r>
            <a:r>
              <a:rPr lang="en-US" b="1" dirty="0" err="1">
                <a:solidFill>
                  <a:srgbClr val="0ADBBC"/>
                </a:solidFill>
              </a:rPr>
              <a:t>svrhe</a:t>
            </a:r>
            <a:r>
              <a:rPr lang="en-US" b="1" dirty="0">
                <a:solidFill>
                  <a:srgbClr val="0ADBBC"/>
                </a:solidFill>
              </a:rPr>
              <a:t>,</a:t>
            </a:r>
          </a:p>
          <a:p>
            <a:pPr marL="0" indent="0">
              <a:buNone/>
            </a:pPr>
            <a:r>
              <a:rPr lang="hr-HR" b="1" dirty="0">
                <a:solidFill>
                  <a:srgbClr val="0ADBBC"/>
                </a:solidFill>
              </a:rPr>
              <a:t>- </a:t>
            </a:r>
            <a:r>
              <a:rPr lang="en-US" b="1" dirty="0" err="1">
                <a:solidFill>
                  <a:srgbClr val="0ADBBC"/>
                </a:solidFill>
              </a:rPr>
              <a:t>opsega</a:t>
            </a:r>
            <a:r>
              <a:rPr lang="en-US" b="1" dirty="0">
                <a:solidFill>
                  <a:srgbClr val="0ADBBC"/>
                </a:solidFill>
              </a:rPr>
              <a:t>,</a:t>
            </a:r>
          </a:p>
          <a:p>
            <a:pPr marL="0" indent="0">
              <a:buNone/>
            </a:pPr>
            <a:r>
              <a:rPr lang="hr-HR" b="1" dirty="0">
                <a:solidFill>
                  <a:srgbClr val="0ADBBC"/>
                </a:solidFill>
              </a:rPr>
              <a:t>- </a:t>
            </a:r>
            <a:r>
              <a:rPr lang="en-US" b="1" dirty="0" err="1">
                <a:solidFill>
                  <a:srgbClr val="0ADBBC"/>
                </a:solidFill>
              </a:rPr>
              <a:t>ciljeva</a:t>
            </a:r>
            <a:r>
              <a:rPr lang="en-US" b="1" dirty="0">
                <a:solidFill>
                  <a:srgbClr val="0ADBBC"/>
                </a:solidFill>
              </a:rPr>
              <a:t> i</a:t>
            </a:r>
          </a:p>
          <a:p>
            <a:pPr marL="0" indent="0">
              <a:buNone/>
            </a:pPr>
            <a:r>
              <a:rPr lang="hr-HR" b="1" dirty="0">
                <a:solidFill>
                  <a:srgbClr val="0ADBBC"/>
                </a:solidFill>
              </a:rPr>
              <a:t>- </a:t>
            </a:r>
            <a:r>
              <a:rPr lang="en-US" b="1" dirty="0" err="1">
                <a:solidFill>
                  <a:srgbClr val="0ADBBC"/>
                </a:solidFill>
              </a:rPr>
              <a:t>ključnih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dionika</a:t>
            </a:r>
            <a:r>
              <a:rPr lang="en-US" b="1" dirty="0">
                <a:solidFill>
                  <a:srgbClr val="0ADBBC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služi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temelj</a:t>
            </a:r>
            <a:r>
              <a:rPr lang="en-US" dirty="0"/>
              <a:t> za </a:t>
            </a:r>
            <a:r>
              <a:rPr lang="en-US" dirty="0" err="1"/>
              <a:t>planiranje</a:t>
            </a:r>
            <a:r>
              <a:rPr lang="en-US" dirty="0"/>
              <a:t> i </a:t>
            </a:r>
            <a:r>
              <a:rPr lang="en-US" dirty="0" err="1"/>
              <a:t>provedbu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367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E560-57F4-61D8-3074-9051F96D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Kako </a:t>
            </a:r>
            <a:r>
              <a:rPr lang="en-US" i="1" dirty="0"/>
              <a:t>project charter </a:t>
            </a:r>
            <a:r>
              <a:rPr lang="en-US" dirty="0" err="1"/>
              <a:t>odobrava</a:t>
            </a:r>
            <a:r>
              <a:rPr lang="en-US" dirty="0"/>
              <a:t> i </a:t>
            </a:r>
            <a:r>
              <a:rPr lang="en-US" dirty="0" err="1"/>
              <a:t>definira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FCC39-1703-BF82-0A7C-FEB23A59C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Služi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b="1" dirty="0" err="1">
                <a:solidFill>
                  <a:srgbClr val="0ADBBC"/>
                </a:solidFill>
              </a:rPr>
              <a:t>službeno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odobrenje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 err="1"/>
              <a:t>projekta</a:t>
            </a:r>
            <a:r>
              <a:rPr lang="en-US" dirty="0"/>
              <a:t> od </a:t>
            </a:r>
            <a:r>
              <a:rPr lang="en-US" dirty="0" err="1"/>
              <a:t>strane</a:t>
            </a:r>
            <a:r>
              <a:rPr lang="en-US" dirty="0"/>
              <a:t> </a:t>
            </a:r>
            <a:r>
              <a:rPr lang="en-US" dirty="0" err="1"/>
              <a:t>vodstva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sponzora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>
                <a:solidFill>
                  <a:srgbClr val="0ADBBC"/>
                </a:solidFill>
              </a:rPr>
              <a:t>Pruža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jasnu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definiciju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 err="1"/>
              <a:t>ciljeva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, </a:t>
            </a:r>
            <a:r>
              <a:rPr lang="en-US" dirty="0" err="1"/>
              <a:t>isporuka</a:t>
            </a:r>
            <a:r>
              <a:rPr lang="en-US" dirty="0"/>
              <a:t> i </a:t>
            </a:r>
            <a:r>
              <a:rPr lang="en-US" dirty="0" err="1"/>
              <a:t>ograničenja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>
                <a:solidFill>
                  <a:srgbClr val="0ADBBC"/>
                </a:solidFill>
              </a:rPr>
              <a:t>Uspostavlja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ovlasti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voditelja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projekta</a:t>
            </a:r>
            <a:r>
              <a:rPr lang="en-US" dirty="0"/>
              <a:t> za </a:t>
            </a:r>
            <a:r>
              <a:rPr lang="en-US" dirty="0" err="1"/>
              <a:t>raspodjelu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 i </a:t>
            </a:r>
            <a:r>
              <a:rPr lang="en-US" dirty="0" err="1"/>
              <a:t>donošenje</a:t>
            </a:r>
            <a:r>
              <a:rPr lang="en-US" dirty="0"/>
              <a:t> </a:t>
            </a:r>
            <a:r>
              <a:rPr lang="en-US" dirty="0" err="1"/>
              <a:t>odluka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74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5246F-EBC7-6B9E-0B9E-54D7AFBBB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Uloga </a:t>
            </a:r>
            <a:r>
              <a:rPr lang="en-US" sz="3400" i="1" dirty="0"/>
              <a:t>project </a:t>
            </a:r>
            <a:r>
              <a:rPr lang="en-US" sz="3400" i="1" dirty="0" err="1"/>
              <a:t>chartera</a:t>
            </a:r>
            <a:r>
              <a:rPr lang="en-US" sz="3400" dirty="0"/>
              <a:t> u </a:t>
            </a:r>
            <a:r>
              <a:rPr lang="en-US" sz="3400" dirty="0" err="1"/>
              <a:t>postavljanju</a:t>
            </a:r>
            <a:r>
              <a:rPr lang="en-US" sz="3400" dirty="0"/>
              <a:t> </a:t>
            </a:r>
            <a:r>
              <a:rPr lang="en-US" sz="3400" dirty="0" err="1"/>
              <a:t>ciljeva</a:t>
            </a:r>
            <a:r>
              <a:rPr lang="en-US" sz="3400" dirty="0"/>
              <a:t> i </a:t>
            </a:r>
            <a:r>
              <a:rPr lang="en-US" sz="3400" dirty="0" err="1"/>
              <a:t>opsega</a:t>
            </a:r>
            <a:r>
              <a:rPr lang="en-US" sz="3400" dirty="0"/>
              <a:t> I.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F99DF-B269-1B7C-2167-7D700F622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66" y="1911686"/>
            <a:ext cx="10515600" cy="435133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Definira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ciljeve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Navodi</a:t>
            </a:r>
            <a:r>
              <a:rPr lang="en-US" sz="2400" dirty="0"/>
              <a:t>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projekt</a:t>
            </a:r>
            <a:r>
              <a:rPr lang="en-US" sz="2400" dirty="0"/>
              <a:t> </a:t>
            </a:r>
            <a:r>
              <a:rPr lang="en-US" sz="2400" dirty="0" err="1"/>
              <a:t>želi</a:t>
            </a:r>
            <a:r>
              <a:rPr lang="en-US" sz="2400" dirty="0"/>
              <a:t> </a:t>
            </a:r>
            <a:r>
              <a:rPr lang="en-US" sz="2400" dirty="0" err="1"/>
              <a:t>postići</a:t>
            </a:r>
            <a:r>
              <a:rPr lang="en-US" sz="2400" dirty="0"/>
              <a:t> i </a:t>
            </a:r>
            <a:r>
              <a:rPr lang="en-US" sz="2400" dirty="0" err="1"/>
              <a:t>koju</a:t>
            </a:r>
            <a:r>
              <a:rPr lang="en-US" sz="2400" dirty="0"/>
              <a:t> </a:t>
            </a:r>
            <a:r>
              <a:rPr lang="en-US" sz="2400" dirty="0" err="1"/>
              <a:t>poslovnu</a:t>
            </a:r>
            <a:r>
              <a:rPr lang="en-US" sz="2400" dirty="0"/>
              <a:t> </a:t>
            </a:r>
            <a:r>
              <a:rPr lang="en-US" sz="2400" dirty="0" err="1"/>
              <a:t>vrijednost</a:t>
            </a:r>
            <a:r>
              <a:rPr lang="en-US" sz="2400" dirty="0"/>
              <a:t> </a:t>
            </a:r>
            <a:r>
              <a:rPr lang="en-US" sz="2400" dirty="0" err="1"/>
              <a:t>donosi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2400" b="1" dirty="0">
              <a:solidFill>
                <a:srgbClr val="0ADBBC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Postavlja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opseg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Određuje</a:t>
            </a:r>
            <a:r>
              <a:rPr lang="en-US" sz="2400" dirty="0"/>
              <a:t> </a:t>
            </a:r>
            <a:r>
              <a:rPr lang="en-US" sz="2400" dirty="0" err="1"/>
              <a:t>granice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 </a:t>
            </a:r>
            <a:r>
              <a:rPr lang="en-US" sz="2400" dirty="0" err="1"/>
              <a:t>kako</a:t>
            </a:r>
            <a:r>
              <a:rPr lang="en-US" sz="2400" dirty="0"/>
              <a:t> bi se </a:t>
            </a:r>
            <a:r>
              <a:rPr lang="en-US" sz="2400" dirty="0" err="1"/>
              <a:t>spriječilo</a:t>
            </a:r>
            <a:r>
              <a:rPr lang="en-US" sz="2400" dirty="0"/>
              <a:t> </a:t>
            </a:r>
            <a:r>
              <a:rPr lang="en-US" sz="2400" dirty="0" err="1"/>
              <a:t>nekontrolirano</a:t>
            </a:r>
            <a:r>
              <a:rPr lang="en-US" sz="2400" dirty="0"/>
              <a:t> </a:t>
            </a:r>
            <a:r>
              <a:rPr lang="en-US" sz="2400" dirty="0" err="1"/>
              <a:t>širenje</a:t>
            </a:r>
            <a:r>
              <a:rPr lang="en-US" sz="2400" dirty="0"/>
              <a:t> </a:t>
            </a:r>
            <a:r>
              <a:rPr lang="en-US" sz="2400" dirty="0" err="1"/>
              <a:t>opsega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2400" b="1" dirty="0">
              <a:solidFill>
                <a:srgbClr val="0ADBBC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Identificira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ključne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dionike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Navodi</a:t>
            </a:r>
            <a:r>
              <a:rPr lang="en-US" sz="2400" dirty="0"/>
              <a:t> </a:t>
            </a:r>
            <a:r>
              <a:rPr lang="en-US" sz="2400" dirty="0" err="1"/>
              <a:t>pojedince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skupine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projekt</a:t>
            </a:r>
            <a:r>
              <a:rPr lang="en-US" sz="2400" dirty="0"/>
              <a:t> </a:t>
            </a:r>
            <a:r>
              <a:rPr lang="en-US" sz="2400" dirty="0" err="1"/>
              <a:t>utječe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5099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D7F0-B52F-E0EB-EC4E-268C4751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67C9-ED2C-C756-D153-9FF372FA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308"/>
            <a:ext cx="10515600" cy="1325563"/>
          </a:xfrm>
        </p:spPr>
        <p:txBody>
          <a:bodyPr>
            <a:noAutofit/>
          </a:bodyPr>
          <a:lstStyle/>
          <a:p>
            <a:r>
              <a:rPr lang="en-US" sz="3400" dirty="0"/>
              <a:t>Uloga project </a:t>
            </a:r>
            <a:r>
              <a:rPr lang="en-US" sz="3400" dirty="0" err="1"/>
              <a:t>chartera</a:t>
            </a:r>
            <a:r>
              <a:rPr lang="en-US" sz="3400" dirty="0"/>
              <a:t> u </a:t>
            </a:r>
            <a:r>
              <a:rPr lang="en-US" sz="3400" dirty="0" err="1"/>
              <a:t>postavljanju</a:t>
            </a:r>
            <a:r>
              <a:rPr lang="en-US" sz="3400" dirty="0"/>
              <a:t> </a:t>
            </a:r>
            <a:r>
              <a:rPr lang="en-US" sz="3400" dirty="0" err="1"/>
              <a:t>ciljeva</a:t>
            </a:r>
            <a:r>
              <a:rPr lang="en-US" sz="3400" dirty="0"/>
              <a:t> i </a:t>
            </a:r>
            <a:r>
              <a:rPr lang="en-US" sz="3400" dirty="0" err="1"/>
              <a:t>opsega</a:t>
            </a:r>
            <a:r>
              <a:rPr lang="en-US" sz="3400" dirty="0"/>
              <a:t> 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86E0C-35DA-93D4-C43B-2F57B2026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400" b="1" dirty="0">
                <a:solidFill>
                  <a:srgbClr val="0ADBBC"/>
                </a:solidFill>
              </a:rPr>
              <a:t>Postavlja </a:t>
            </a:r>
            <a:r>
              <a:rPr lang="en-US" sz="2400" b="1" dirty="0" err="1">
                <a:solidFill>
                  <a:srgbClr val="0ADBBC"/>
                </a:solidFill>
              </a:rPr>
              <a:t>okvirni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vremenski</a:t>
            </a:r>
            <a:r>
              <a:rPr lang="en-US" sz="2400" b="1" dirty="0">
                <a:solidFill>
                  <a:srgbClr val="0ADBBC"/>
                </a:solidFill>
              </a:rPr>
              <a:t> plan i </a:t>
            </a:r>
            <a:r>
              <a:rPr lang="en-US" sz="2400" b="1" dirty="0" err="1">
                <a:solidFill>
                  <a:srgbClr val="0ADBBC"/>
                </a:solidFill>
              </a:rPr>
              <a:t>budžet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Pruža</a:t>
            </a:r>
            <a:r>
              <a:rPr lang="en-US" sz="2400" dirty="0"/>
              <a:t> </a:t>
            </a:r>
            <a:r>
              <a:rPr lang="en-US" sz="2400" dirty="0" err="1"/>
              <a:t>početnu</a:t>
            </a:r>
            <a:r>
              <a:rPr lang="en-US" sz="2400" dirty="0"/>
              <a:t> </a:t>
            </a:r>
            <a:r>
              <a:rPr lang="en-US" sz="2400" dirty="0" err="1"/>
              <a:t>procjenu</a:t>
            </a:r>
            <a:r>
              <a:rPr lang="en-US" sz="2400" dirty="0"/>
              <a:t> </a:t>
            </a:r>
            <a:r>
              <a:rPr lang="en-US" sz="2400" dirty="0" err="1"/>
              <a:t>rasporeda</a:t>
            </a:r>
            <a:r>
              <a:rPr lang="en-US" sz="2400" dirty="0"/>
              <a:t> i </a:t>
            </a:r>
            <a:r>
              <a:rPr lang="en-US" sz="2400" dirty="0" err="1"/>
              <a:t>troškova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 startAt="4"/>
            </a:pPr>
            <a:endParaRPr lang="en-US" sz="2400" b="1" dirty="0">
              <a:solidFill>
                <a:srgbClr val="0ADBBC"/>
              </a:solidFill>
            </a:endParaRPr>
          </a:p>
          <a:p>
            <a:pPr marL="514350" indent="-514350">
              <a:buFont typeface="+mj-lt"/>
              <a:buAutoNum type="arabicPeriod" startAt="4"/>
            </a:pPr>
            <a:r>
              <a:rPr lang="en-US" sz="2400" b="1" dirty="0">
                <a:solidFill>
                  <a:srgbClr val="0ADBBC"/>
                </a:solidFill>
              </a:rPr>
              <a:t>Usmjerava </a:t>
            </a:r>
            <a:r>
              <a:rPr lang="en-US" sz="2400" b="1" dirty="0" err="1">
                <a:solidFill>
                  <a:srgbClr val="0ADBBC"/>
                </a:solidFill>
              </a:rPr>
              <a:t>usklađenost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Osigurava</a:t>
            </a:r>
            <a:r>
              <a:rPr lang="en-US" sz="2400" dirty="0"/>
              <a:t> da je </a:t>
            </a:r>
            <a:r>
              <a:rPr lang="en-US" sz="2400" dirty="0" err="1"/>
              <a:t>projekt</a:t>
            </a:r>
            <a:r>
              <a:rPr lang="en-US" sz="2400" dirty="0"/>
              <a:t> </a:t>
            </a:r>
            <a:r>
              <a:rPr lang="en-US" sz="2400" dirty="0" err="1"/>
              <a:t>usklađen</a:t>
            </a:r>
            <a:r>
              <a:rPr lang="en-US" sz="2400" dirty="0"/>
              <a:t> s </a:t>
            </a:r>
            <a:r>
              <a:rPr lang="en-US" sz="2400" dirty="0" err="1"/>
              <a:t>organizacijskim</a:t>
            </a:r>
            <a:r>
              <a:rPr lang="en-US" sz="2400" dirty="0"/>
              <a:t> </a:t>
            </a:r>
            <a:r>
              <a:rPr lang="en-US" sz="2400" dirty="0" err="1"/>
              <a:t>ciljevima</a:t>
            </a:r>
            <a:r>
              <a:rPr lang="en-US" sz="2400" dirty="0"/>
              <a:t> i </a:t>
            </a:r>
            <a:r>
              <a:rPr lang="en-US" sz="2400" dirty="0" err="1"/>
              <a:t>prioritetima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 startAt="4"/>
            </a:pPr>
            <a:endParaRPr lang="en-US" sz="2400" b="1" dirty="0">
              <a:solidFill>
                <a:srgbClr val="0ADBBC"/>
              </a:solidFill>
            </a:endParaRPr>
          </a:p>
          <a:p>
            <a:pPr marL="514350" indent="-514350">
              <a:buFont typeface="+mj-lt"/>
              <a:buAutoNum type="arabicPeriod" startAt="4"/>
            </a:pPr>
            <a:r>
              <a:rPr lang="en-US" sz="2400" dirty="0"/>
              <a:t>Dobro </a:t>
            </a:r>
            <a:r>
              <a:rPr lang="en-US" sz="2400" dirty="0" err="1"/>
              <a:t>strukturiran</a:t>
            </a:r>
            <a:r>
              <a:rPr lang="en-US" sz="2400" dirty="0"/>
              <a:t> </a:t>
            </a:r>
            <a:r>
              <a:rPr lang="en-US" sz="2400" b="1" i="1" dirty="0">
                <a:solidFill>
                  <a:srgbClr val="0ADBBC"/>
                </a:solidFill>
              </a:rPr>
              <a:t>project charter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osigurava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jasnoću</a:t>
            </a:r>
            <a:r>
              <a:rPr lang="en-US" sz="2400" b="1" dirty="0">
                <a:solidFill>
                  <a:srgbClr val="0ADBBC"/>
                </a:solidFill>
              </a:rPr>
              <a:t>, </a:t>
            </a:r>
            <a:r>
              <a:rPr lang="en-US" sz="2400" b="1" dirty="0" err="1">
                <a:solidFill>
                  <a:srgbClr val="0ADBBC"/>
                </a:solidFill>
              </a:rPr>
              <a:t>usklađenost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odgovornost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služi</a:t>
            </a:r>
            <a:r>
              <a:rPr lang="en-US" sz="2400" dirty="0"/>
              <a:t> </a:t>
            </a:r>
            <a:r>
              <a:rPr lang="en-US" sz="2400" dirty="0" err="1"/>
              <a:t>kao</a:t>
            </a:r>
            <a:r>
              <a:rPr lang="en-US" sz="2400" dirty="0"/>
              <a:t> </a:t>
            </a:r>
            <a:r>
              <a:rPr lang="en-US" sz="2400" dirty="0" err="1"/>
              <a:t>ključni</a:t>
            </a:r>
            <a:r>
              <a:rPr lang="en-US" sz="2400" dirty="0"/>
              <a:t> </a:t>
            </a:r>
            <a:r>
              <a:rPr lang="en-US" sz="2400" dirty="0" err="1"/>
              <a:t>referentni</a:t>
            </a:r>
            <a:r>
              <a:rPr lang="en-US" sz="2400" dirty="0"/>
              <a:t> </a:t>
            </a:r>
            <a:r>
              <a:rPr lang="en-US" sz="2400" dirty="0" err="1"/>
              <a:t>dokument</a:t>
            </a:r>
            <a:r>
              <a:rPr lang="en-US" sz="2400" dirty="0"/>
              <a:t> </a:t>
            </a:r>
            <a:r>
              <a:rPr lang="en-US" sz="2400" dirty="0" err="1"/>
              <a:t>tijekom</a:t>
            </a:r>
            <a:r>
              <a:rPr lang="en-US" sz="2400" dirty="0"/>
              <a:t> </a:t>
            </a:r>
            <a:r>
              <a:rPr lang="en-US" sz="2400" dirty="0" err="1"/>
              <a:t>cijelog</a:t>
            </a:r>
            <a:r>
              <a:rPr lang="en-US" sz="2400" dirty="0"/>
              <a:t> </a:t>
            </a:r>
            <a:r>
              <a:rPr lang="en-US" sz="2400" dirty="0" err="1"/>
              <a:t>životnog</a:t>
            </a:r>
            <a:r>
              <a:rPr lang="en-US" sz="2400" dirty="0"/>
              <a:t> </a:t>
            </a:r>
            <a:r>
              <a:rPr lang="en-US" sz="2400" dirty="0" err="1"/>
              <a:t>ciklusa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5671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C798-A6B8-2D60-FC36-5BF9A613B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Ključni </a:t>
            </a:r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i="1" dirty="0"/>
              <a:t>project </a:t>
            </a:r>
            <a:r>
              <a:rPr lang="en-US" i="1" dirty="0" err="1"/>
              <a:t>chartera</a:t>
            </a:r>
            <a:r>
              <a:rPr lang="hr-HR" dirty="0"/>
              <a:t> </a:t>
            </a:r>
            <a:r>
              <a:rPr lang="en-US" dirty="0"/>
              <a:t>I.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6E56F-0195-35F3-E3B7-D0EB56C7D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884651"/>
            <a:ext cx="10683240" cy="480218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dirty="0"/>
              <a:t>Dobro </a:t>
            </a:r>
            <a:r>
              <a:rPr lang="en-US" sz="2400" dirty="0" err="1"/>
              <a:t>strukturiran</a:t>
            </a:r>
            <a:r>
              <a:rPr lang="en-US" sz="2400" dirty="0"/>
              <a:t> </a:t>
            </a:r>
            <a:r>
              <a:rPr lang="en-US" sz="2400" i="1" dirty="0"/>
              <a:t>project charter</a:t>
            </a:r>
            <a:r>
              <a:rPr lang="en-US" sz="2400" dirty="0"/>
              <a:t> </a:t>
            </a:r>
            <a:r>
              <a:rPr lang="en-US" sz="2400" dirty="0" err="1"/>
              <a:t>obično</a:t>
            </a:r>
            <a:r>
              <a:rPr lang="en-US" sz="2400" dirty="0"/>
              <a:t> </a:t>
            </a:r>
            <a:r>
              <a:rPr lang="en-US" sz="2400" dirty="0" err="1"/>
              <a:t>uključuje</a:t>
            </a:r>
            <a:r>
              <a:rPr lang="en-US" sz="2400" dirty="0"/>
              <a:t>:</a:t>
            </a:r>
          </a:p>
          <a:p>
            <a:pPr>
              <a:lnSpc>
                <a:spcPct val="100000"/>
              </a:lnSpc>
              <a:buNone/>
            </a:pPr>
            <a:endParaRPr lang="en-US" sz="1000" dirty="0"/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Naziv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pregled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Sažet</a:t>
            </a:r>
            <a:r>
              <a:rPr lang="en-US" sz="2400" dirty="0"/>
              <a:t> </a:t>
            </a:r>
            <a:r>
              <a:rPr lang="en-US" sz="2400" dirty="0" err="1"/>
              <a:t>naziv</a:t>
            </a:r>
            <a:r>
              <a:rPr lang="en-US" sz="2400" dirty="0"/>
              <a:t> i </a:t>
            </a:r>
            <a:r>
              <a:rPr lang="en-US" sz="2400" dirty="0" err="1"/>
              <a:t>opis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Svrha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poslovni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slučaj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Objašnjenje</a:t>
            </a:r>
            <a:r>
              <a:rPr lang="en-US" sz="2400" dirty="0"/>
              <a:t> </a:t>
            </a:r>
            <a:r>
              <a:rPr lang="en-US" sz="2400" dirty="0" err="1"/>
              <a:t>zašto</a:t>
            </a:r>
            <a:r>
              <a:rPr lang="en-US" sz="2400" dirty="0"/>
              <a:t> se </a:t>
            </a:r>
            <a:r>
              <a:rPr lang="en-US" sz="2400" dirty="0" err="1"/>
              <a:t>projekt</a:t>
            </a:r>
            <a:r>
              <a:rPr lang="en-US" sz="2400" dirty="0"/>
              <a:t> </a:t>
            </a:r>
            <a:r>
              <a:rPr lang="en-US" sz="2400" dirty="0" err="1"/>
              <a:t>pokreće</a:t>
            </a:r>
            <a:r>
              <a:rPr lang="en-US" sz="2400" dirty="0"/>
              <a:t> i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koristi</a:t>
            </a:r>
            <a:r>
              <a:rPr lang="en-US" sz="2400" dirty="0"/>
              <a:t> </a:t>
            </a:r>
            <a:r>
              <a:rPr lang="en-US" sz="2400" dirty="0" err="1"/>
              <a:t>donosi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Ciljevi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Jasni</a:t>
            </a:r>
            <a:r>
              <a:rPr lang="en-US" sz="2400" dirty="0"/>
              <a:t> i </a:t>
            </a:r>
            <a:r>
              <a:rPr lang="en-US" sz="2400" dirty="0" err="1"/>
              <a:t>mjerljivi</a:t>
            </a:r>
            <a:r>
              <a:rPr lang="en-US" sz="2400" dirty="0"/>
              <a:t> </a:t>
            </a:r>
            <a:r>
              <a:rPr lang="en-US" sz="2400" dirty="0" err="1"/>
              <a:t>ciljevi</a:t>
            </a:r>
            <a:r>
              <a:rPr lang="en-US" sz="2400" dirty="0"/>
              <a:t> koji </a:t>
            </a:r>
            <a:r>
              <a:rPr lang="en-US" sz="2400" dirty="0" err="1"/>
              <a:t>definiraju</a:t>
            </a:r>
            <a:r>
              <a:rPr lang="en-US" sz="2400" dirty="0"/>
              <a:t> </a:t>
            </a:r>
            <a:r>
              <a:rPr lang="en-US" sz="2400" dirty="0" err="1"/>
              <a:t>uspjeh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Izjava</a:t>
            </a:r>
            <a:r>
              <a:rPr lang="en-US" sz="2400" b="1" dirty="0">
                <a:solidFill>
                  <a:srgbClr val="0ADBBC"/>
                </a:solidFill>
              </a:rPr>
              <a:t> o </a:t>
            </a:r>
            <a:r>
              <a:rPr lang="en-US" sz="2400" b="1" dirty="0" err="1">
                <a:solidFill>
                  <a:srgbClr val="0ADBBC"/>
                </a:solidFill>
              </a:rPr>
              <a:t>opsegu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Definira </a:t>
            </a:r>
            <a:r>
              <a:rPr lang="en-US" sz="2400" dirty="0" err="1"/>
              <a:t>granice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, </a:t>
            </a:r>
            <a:r>
              <a:rPr lang="en-US" sz="2400" dirty="0" err="1"/>
              <a:t>isporuke</a:t>
            </a:r>
            <a:r>
              <a:rPr lang="en-US" sz="2400" dirty="0"/>
              <a:t> i </a:t>
            </a:r>
            <a:r>
              <a:rPr lang="en-US" sz="2400" dirty="0" err="1"/>
              <a:t>izuzetke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ADBBC"/>
                </a:solidFill>
              </a:rPr>
              <a:t>Ključni </a:t>
            </a:r>
            <a:r>
              <a:rPr lang="en-US" sz="2400" b="1" dirty="0" err="1">
                <a:solidFill>
                  <a:srgbClr val="0ADBBC"/>
                </a:solidFill>
              </a:rPr>
              <a:t>dionici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Identificira</a:t>
            </a:r>
            <a:r>
              <a:rPr lang="en-US" sz="2400" dirty="0"/>
              <a:t> </a:t>
            </a:r>
            <a:r>
              <a:rPr lang="en-US" sz="2400" dirty="0" err="1"/>
              <a:t>sponzore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, </a:t>
            </a:r>
            <a:r>
              <a:rPr lang="en-US" sz="2400" dirty="0" err="1"/>
              <a:t>članove</a:t>
            </a:r>
            <a:r>
              <a:rPr lang="en-US" sz="2400" dirty="0"/>
              <a:t> </a:t>
            </a:r>
            <a:r>
              <a:rPr lang="en-US" sz="2400" dirty="0" err="1"/>
              <a:t>tima</a:t>
            </a:r>
            <a:r>
              <a:rPr lang="en-US" sz="2400" dirty="0"/>
              <a:t> i </a:t>
            </a:r>
            <a:r>
              <a:rPr lang="en-US" sz="2400" dirty="0" err="1"/>
              <a:t>uključene</a:t>
            </a:r>
            <a:r>
              <a:rPr lang="en-US" sz="2400" dirty="0"/>
              <a:t> </a:t>
            </a:r>
            <a:r>
              <a:rPr lang="en-US" sz="2400" dirty="0" err="1"/>
              <a:t>strane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6229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8A1A-063F-0E84-5FA2-01E50928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C271-DFC2-54FE-4F3E-731D0BB7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Ključni </a:t>
            </a:r>
            <a:r>
              <a:rPr lang="en-US" dirty="0" err="1"/>
              <a:t>elementi</a:t>
            </a:r>
            <a:r>
              <a:rPr lang="en-US" dirty="0"/>
              <a:t> </a:t>
            </a:r>
            <a:r>
              <a:rPr lang="en-US" i="1" dirty="0"/>
              <a:t>project </a:t>
            </a:r>
            <a:r>
              <a:rPr lang="en-US" i="1" dirty="0" err="1"/>
              <a:t>chartera</a:t>
            </a:r>
            <a:r>
              <a:rPr lang="en-US" dirty="0"/>
              <a:t> II</a:t>
            </a:r>
            <a:r>
              <a:rPr lang="en-US" b="1" dirty="0">
                <a:latin typeface="Bahnschrift SemiLight" panose="020B0502040204020203" pitchFamily="34" charset="0"/>
              </a:rPr>
              <a:t>.</a:t>
            </a:r>
            <a:br>
              <a:rPr lang="en-US" b="1" dirty="0">
                <a:latin typeface="Bahnschrift SemiLight" panose="020B0502040204020203" pitchFamily="34" charset="0"/>
              </a:rPr>
            </a:br>
            <a:endParaRPr lang="en-US" dirty="0">
              <a:latin typeface="Bahnschrift Semi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6E98F-98A7-9215-101F-2041EFC28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DBBC"/>
                </a:solidFill>
              </a:rPr>
              <a:t>6. Uloge i </a:t>
            </a:r>
            <a:r>
              <a:rPr lang="en-US" sz="2400" b="1" dirty="0" err="1">
                <a:solidFill>
                  <a:srgbClr val="0ADBBC"/>
                </a:solidFill>
              </a:rPr>
              <a:t>odgovornosti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Pojašnjava</a:t>
            </a:r>
            <a:r>
              <a:rPr lang="en-US" sz="2400" dirty="0"/>
              <a:t> </a:t>
            </a:r>
            <a:r>
              <a:rPr lang="en-US" sz="2400" dirty="0" err="1"/>
              <a:t>tko</a:t>
            </a:r>
            <a:r>
              <a:rPr lang="en-US" sz="2400" dirty="0"/>
              <a:t> je </a:t>
            </a:r>
            <a:r>
              <a:rPr lang="en-US" sz="2400" dirty="0" err="1"/>
              <a:t>odgovoran</a:t>
            </a:r>
            <a:r>
              <a:rPr lang="en-US" sz="2400" dirty="0"/>
              <a:t> za </a:t>
            </a:r>
            <a:r>
              <a:rPr lang="en-US" sz="2400" dirty="0" err="1"/>
              <a:t>pojedine</a:t>
            </a:r>
            <a:r>
              <a:rPr lang="en-US" sz="2400" dirty="0"/>
              <a:t> </a:t>
            </a:r>
            <a:r>
              <a:rPr lang="en-US" sz="2400" dirty="0" err="1"/>
              <a:t>aspekte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DBBC"/>
                </a:solidFill>
              </a:rPr>
              <a:t>7. Okvirni </a:t>
            </a:r>
            <a:r>
              <a:rPr lang="en-US" sz="2400" b="1" dirty="0" err="1">
                <a:solidFill>
                  <a:srgbClr val="0ADBBC"/>
                </a:solidFill>
              </a:rPr>
              <a:t>vremenski</a:t>
            </a:r>
            <a:r>
              <a:rPr lang="en-US" sz="2400" b="1" dirty="0">
                <a:solidFill>
                  <a:srgbClr val="0ADBBC"/>
                </a:solidFill>
              </a:rPr>
              <a:t> plan </a:t>
            </a:r>
            <a:r>
              <a:rPr lang="en-US" sz="2400" dirty="0"/>
              <a:t>– Daje </a:t>
            </a:r>
            <a:r>
              <a:rPr lang="en-US" sz="2400" dirty="0" err="1"/>
              <a:t>procijenjeni</a:t>
            </a:r>
            <a:r>
              <a:rPr lang="en-US" sz="2400" dirty="0"/>
              <a:t> </a:t>
            </a:r>
            <a:r>
              <a:rPr lang="en-US" sz="2400" dirty="0" err="1"/>
              <a:t>raspored</a:t>
            </a:r>
            <a:r>
              <a:rPr lang="en-US" sz="2400" dirty="0"/>
              <a:t> s </a:t>
            </a:r>
            <a:r>
              <a:rPr lang="en-US" sz="2400" dirty="0" err="1"/>
              <a:t>glavnim</a:t>
            </a:r>
            <a:r>
              <a:rPr lang="en-US" sz="2400" dirty="0"/>
              <a:t> </a:t>
            </a:r>
            <a:r>
              <a:rPr lang="en-US" sz="2400" dirty="0" err="1"/>
              <a:t>prekretnicama</a:t>
            </a:r>
            <a:r>
              <a:rPr lang="en-US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DBBC"/>
                </a:solidFill>
              </a:rPr>
              <a:t>8. </a:t>
            </a:r>
            <a:r>
              <a:rPr lang="en-US" sz="2400" b="1" dirty="0" err="1">
                <a:solidFill>
                  <a:srgbClr val="0ADBBC"/>
                </a:solidFill>
              </a:rPr>
              <a:t>Budžet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raspodjela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resursa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Navodi</a:t>
            </a:r>
            <a:r>
              <a:rPr lang="en-US" sz="2400" dirty="0"/>
              <a:t> </a:t>
            </a:r>
            <a:r>
              <a:rPr lang="en-US" sz="2400" dirty="0" err="1"/>
              <a:t>početne</a:t>
            </a:r>
            <a:r>
              <a:rPr lang="en-US" sz="2400" dirty="0"/>
              <a:t> </a:t>
            </a:r>
            <a:r>
              <a:rPr lang="en-US" sz="2400" dirty="0" err="1"/>
              <a:t>procjene</a:t>
            </a:r>
            <a:r>
              <a:rPr lang="en-US" sz="2400" dirty="0"/>
              <a:t> </a:t>
            </a:r>
            <a:r>
              <a:rPr lang="en-US" sz="2400" dirty="0" err="1"/>
              <a:t>troškova</a:t>
            </a:r>
            <a:r>
              <a:rPr lang="en-US" sz="2400" dirty="0"/>
              <a:t> i </a:t>
            </a:r>
            <a:r>
              <a:rPr lang="en-US" sz="2400" dirty="0" err="1"/>
              <a:t>potrebne</a:t>
            </a:r>
            <a:r>
              <a:rPr lang="en-US" sz="2400" dirty="0"/>
              <a:t> </a:t>
            </a:r>
            <a:r>
              <a:rPr lang="en-US" sz="2400" dirty="0" err="1"/>
              <a:t>resurse</a:t>
            </a:r>
            <a:r>
              <a:rPr lang="en-US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DBBC"/>
                </a:solidFill>
              </a:rPr>
              <a:t>9. Rizici i </a:t>
            </a:r>
            <a:r>
              <a:rPr lang="en-US" sz="2400" b="1" dirty="0" err="1">
                <a:solidFill>
                  <a:srgbClr val="0ADBBC"/>
                </a:solidFill>
              </a:rPr>
              <a:t>pretpostavke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Identificira</a:t>
            </a:r>
            <a:r>
              <a:rPr lang="en-US" sz="2400" dirty="0"/>
              <a:t> </a:t>
            </a:r>
            <a:r>
              <a:rPr lang="en-US" sz="2400" dirty="0" err="1"/>
              <a:t>potencijalne</a:t>
            </a:r>
            <a:r>
              <a:rPr lang="en-US" sz="2400" dirty="0"/>
              <a:t> </a:t>
            </a:r>
            <a:r>
              <a:rPr lang="en-US" sz="2400" dirty="0" err="1"/>
              <a:t>rizike</a:t>
            </a:r>
            <a:r>
              <a:rPr lang="en-US" sz="2400" dirty="0"/>
              <a:t> i </a:t>
            </a:r>
            <a:r>
              <a:rPr lang="en-US" sz="2400" dirty="0" err="1"/>
              <a:t>ograničenja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ADBBC"/>
                </a:solidFill>
              </a:rPr>
              <a:t>10. </a:t>
            </a:r>
            <a:r>
              <a:rPr lang="en-US" sz="2400" b="1" dirty="0" err="1">
                <a:solidFill>
                  <a:srgbClr val="0ADBBC"/>
                </a:solidFill>
              </a:rPr>
              <a:t>Odobrenje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autorizacija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Potpis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odobrenje</a:t>
            </a:r>
            <a:r>
              <a:rPr lang="en-US" sz="2400" dirty="0"/>
              <a:t> </a:t>
            </a:r>
            <a:r>
              <a:rPr lang="en-US" sz="2400" dirty="0" err="1"/>
              <a:t>sponzora</a:t>
            </a:r>
            <a:r>
              <a:rPr lang="en-US" sz="2400" dirty="0"/>
              <a:t> za </a:t>
            </a:r>
            <a:r>
              <a:rPr lang="en-US" sz="2400" dirty="0" err="1"/>
              <a:t>formalno</a:t>
            </a:r>
            <a:r>
              <a:rPr lang="en-US" sz="2400" dirty="0"/>
              <a:t> </a:t>
            </a:r>
            <a:r>
              <a:rPr lang="en-US" sz="2400" dirty="0" err="1"/>
              <a:t>pokretanje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3939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9D6C-29D5-CD6A-FE1A-A5F38536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Najbolje </a:t>
            </a:r>
            <a:r>
              <a:rPr lang="en-US" dirty="0" err="1"/>
              <a:t>prakse</a:t>
            </a:r>
            <a:r>
              <a:rPr lang="en-US" dirty="0"/>
              <a:t> za </a:t>
            </a:r>
            <a:r>
              <a:rPr lang="en-US" dirty="0" err="1"/>
              <a:t>kvalitetan</a:t>
            </a:r>
            <a:r>
              <a:rPr lang="en-US" dirty="0"/>
              <a:t> </a:t>
            </a:r>
            <a:r>
              <a:rPr lang="en-US" i="1" dirty="0"/>
              <a:t>project charter</a:t>
            </a:r>
            <a:r>
              <a:rPr lang="hr-HR" dirty="0"/>
              <a:t> </a:t>
            </a:r>
            <a:r>
              <a:rPr lang="en-US" dirty="0"/>
              <a:t>I.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4190B-35C1-6AFB-8EEF-6FE937D3F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047" y="1890171"/>
            <a:ext cx="10515600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ADBBC"/>
                </a:solidFill>
              </a:rPr>
              <a:t>Neka </a:t>
            </a:r>
            <a:r>
              <a:rPr lang="en-US" sz="2400" b="1" dirty="0" err="1">
                <a:solidFill>
                  <a:srgbClr val="0ADBBC"/>
                </a:solidFill>
              </a:rPr>
              <a:t>bude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sažet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Dokument</a:t>
            </a:r>
            <a:r>
              <a:rPr lang="en-US" sz="2400" dirty="0"/>
              <a:t> </a:t>
            </a:r>
            <a:r>
              <a:rPr lang="en-US" sz="2400" dirty="0" err="1"/>
              <a:t>treba</a:t>
            </a:r>
            <a:r>
              <a:rPr lang="en-US" sz="2400" dirty="0"/>
              <a:t> </a:t>
            </a:r>
            <a:r>
              <a:rPr lang="en-US" sz="2400" dirty="0" err="1"/>
              <a:t>sadržavati</a:t>
            </a:r>
            <a:r>
              <a:rPr lang="en-US" sz="2400" dirty="0"/>
              <a:t> </a:t>
            </a:r>
            <a:r>
              <a:rPr lang="en-US" sz="2400" dirty="0" err="1"/>
              <a:t>ključne</a:t>
            </a:r>
            <a:r>
              <a:rPr lang="en-US" sz="2400" dirty="0"/>
              <a:t> </a:t>
            </a:r>
            <a:r>
              <a:rPr lang="en-US" sz="2400" dirty="0" err="1"/>
              <a:t>informacije</a:t>
            </a:r>
            <a:r>
              <a:rPr lang="en-US" sz="2400" dirty="0"/>
              <a:t> bez </a:t>
            </a:r>
            <a:r>
              <a:rPr lang="en-US" sz="2400" dirty="0" err="1"/>
              <a:t>nepotrebnih</a:t>
            </a:r>
            <a:r>
              <a:rPr lang="en-US" sz="2400" dirty="0"/>
              <a:t> </a:t>
            </a:r>
            <a:r>
              <a:rPr lang="en-US" sz="2400" dirty="0" err="1"/>
              <a:t>detalja</a:t>
            </a:r>
            <a:r>
              <a:rPr lang="en-US" sz="2400" dirty="0"/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Osigurajte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jasnoću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usklađenost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Koristite</a:t>
            </a:r>
            <a:r>
              <a:rPr lang="en-US" sz="2400" dirty="0"/>
              <a:t> </a:t>
            </a:r>
            <a:r>
              <a:rPr lang="en-US" sz="2400" dirty="0" err="1"/>
              <a:t>jasan</a:t>
            </a:r>
            <a:r>
              <a:rPr lang="en-US" sz="2400" dirty="0"/>
              <a:t> </a:t>
            </a:r>
            <a:r>
              <a:rPr lang="en-US" sz="2400" dirty="0" err="1"/>
              <a:t>jezik</a:t>
            </a:r>
            <a:r>
              <a:rPr lang="en-US" sz="2400" dirty="0"/>
              <a:t> </a:t>
            </a:r>
            <a:r>
              <a:rPr lang="en-US" sz="2400" dirty="0" err="1"/>
              <a:t>kako</a:t>
            </a:r>
            <a:r>
              <a:rPr lang="en-US" sz="2400" dirty="0"/>
              <a:t> bi </a:t>
            </a:r>
            <a:r>
              <a:rPr lang="en-US" sz="2400" dirty="0" err="1"/>
              <a:t>projekt</a:t>
            </a:r>
            <a:r>
              <a:rPr lang="en-US" sz="2400" dirty="0"/>
              <a:t> bio </a:t>
            </a:r>
            <a:r>
              <a:rPr lang="en-US" sz="2400" dirty="0" err="1"/>
              <a:t>usklađen</a:t>
            </a:r>
            <a:r>
              <a:rPr lang="en-US" sz="2400" dirty="0"/>
              <a:t> s </a:t>
            </a:r>
            <a:r>
              <a:rPr lang="en-US" sz="2400" dirty="0" err="1"/>
              <a:t>poslovnim</a:t>
            </a:r>
            <a:r>
              <a:rPr lang="en-US" sz="2400" dirty="0"/>
              <a:t> </a:t>
            </a:r>
            <a:r>
              <a:rPr lang="en-US" sz="2400" dirty="0" err="1"/>
              <a:t>ciljevima</a:t>
            </a:r>
            <a:r>
              <a:rPr lang="en-US" sz="2400" dirty="0"/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Definirajte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mjerljive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ciljeve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Koristite</a:t>
            </a:r>
            <a:r>
              <a:rPr lang="en-US" sz="2400" dirty="0"/>
              <a:t> SMART </a:t>
            </a:r>
            <a:r>
              <a:rPr lang="en-US" sz="2400" dirty="0" err="1"/>
              <a:t>ciljeve</a:t>
            </a:r>
            <a:r>
              <a:rPr lang="en-US" sz="2400" dirty="0"/>
              <a:t> (</a:t>
            </a:r>
            <a:r>
              <a:rPr lang="en-US" sz="2400" dirty="0" err="1"/>
              <a:t>specifične</a:t>
            </a:r>
            <a:r>
              <a:rPr lang="en-US" sz="2400" dirty="0"/>
              <a:t>, </a:t>
            </a:r>
            <a:r>
              <a:rPr lang="en-US" sz="2400" dirty="0" err="1"/>
              <a:t>mjerljive</a:t>
            </a:r>
            <a:r>
              <a:rPr lang="en-US" sz="2400" dirty="0"/>
              <a:t>, </a:t>
            </a:r>
            <a:r>
              <a:rPr lang="en-US" sz="2400" dirty="0" err="1"/>
              <a:t>ostvarive</a:t>
            </a:r>
            <a:r>
              <a:rPr lang="en-US" sz="2400" dirty="0"/>
              <a:t>, </a:t>
            </a:r>
            <a:r>
              <a:rPr lang="en-US" sz="2400" dirty="0" err="1"/>
              <a:t>relevantne</a:t>
            </a:r>
            <a:r>
              <a:rPr lang="en-US" sz="2400" dirty="0"/>
              <a:t> i </a:t>
            </a:r>
            <a:r>
              <a:rPr lang="en-US" sz="2400" dirty="0" err="1"/>
              <a:t>vremenski</a:t>
            </a:r>
            <a:r>
              <a:rPr lang="en-US" sz="2400" dirty="0"/>
              <a:t> </a:t>
            </a:r>
            <a:r>
              <a:rPr lang="en-US" sz="2400" dirty="0" err="1"/>
              <a:t>ograničene</a:t>
            </a:r>
            <a:r>
              <a:rPr lang="en-US" sz="2400" dirty="0"/>
              <a:t>).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 err="1">
                <a:solidFill>
                  <a:srgbClr val="0ADBBC"/>
                </a:solidFill>
              </a:rPr>
              <a:t>Postavite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realan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opseg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ograničenja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Jasno </a:t>
            </a:r>
            <a:r>
              <a:rPr lang="en-US" sz="2400" dirty="0" err="1"/>
              <a:t>definirajte</a:t>
            </a:r>
            <a:r>
              <a:rPr lang="en-US" sz="2400" dirty="0"/>
              <a:t> </a:t>
            </a:r>
            <a:r>
              <a:rPr lang="en-US" sz="2400" dirty="0" err="1"/>
              <a:t>što</a:t>
            </a:r>
            <a:r>
              <a:rPr lang="en-US" sz="2400" dirty="0"/>
              <a:t> je </a:t>
            </a:r>
            <a:r>
              <a:rPr lang="en-US" sz="2400" dirty="0" err="1"/>
              <a:t>uključeno</a:t>
            </a:r>
            <a:r>
              <a:rPr lang="en-US" sz="2400" dirty="0"/>
              <a:t>, a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isključeno</a:t>
            </a:r>
            <a:r>
              <a:rPr lang="en-US" sz="2400" dirty="0"/>
              <a:t> </a:t>
            </a:r>
            <a:r>
              <a:rPr lang="en-US" sz="2400" dirty="0" err="1"/>
              <a:t>kako</a:t>
            </a:r>
            <a:r>
              <a:rPr lang="en-US" sz="2400" dirty="0"/>
              <a:t> </a:t>
            </a:r>
            <a:r>
              <a:rPr lang="en-US" sz="2400" dirty="0" err="1"/>
              <a:t>biste</a:t>
            </a:r>
            <a:r>
              <a:rPr lang="en-US" sz="2400" dirty="0"/>
              <a:t> </a:t>
            </a:r>
            <a:r>
              <a:rPr lang="en-US" sz="2400" dirty="0" err="1"/>
              <a:t>spriječili</a:t>
            </a:r>
            <a:r>
              <a:rPr lang="en-US" sz="2400" dirty="0"/>
              <a:t> </a:t>
            </a:r>
            <a:r>
              <a:rPr lang="en-US" sz="2400" dirty="0" err="1"/>
              <a:t>širenje</a:t>
            </a:r>
            <a:r>
              <a:rPr lang="en-US" sz="2400" dirty="0"/>
              <a:t> </a:t>
            </a:r>
            <a:r>
              <a:rPr lang="en-US" sz="2400" dirty="0" err="1"/>
              <a:t>opsega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53682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EC744-708F-EB42-3939-E28B24E2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4C61-61FF-CD80-4EF3-5230A6AAD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Najbolje </a:t>
            </a:r>
            <a:r>
              <a:rPr lang="en-US" dirty="0" err="1"/>
              <a:t>prakse</a:t>
            </a:r>
            <a:r>
              <a:rPr lang="en-US" dirty="0"/>
              <a:t> za </a:t>
            </a:r>
            <a:r>
              <a:rPr lang="en-US" dirty="0" err="1"/>
              <a:t>kvalitetan</a:t>
            </a:r>
            <a:r>
              <a:rPr lang="en-US" dirty="0"/>
              <a:t> </a:t>
            </a:r>
            <a:r>
              <a:rPr lang="en-US" i="1" dirty="0"/>
              <a:t>project charter</a:t>
            </a:r>
            <a:r>
              <a:rPr lang="en-US" dirty="0"/>
              <a:t> II.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54F58-8FB1-9458-3B5C-4C28CFAA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400" b="1" dirty="0">
                <a:solidFill>
                  <a:srgbClr val="0ADBBC"/>
                </a:solidFill>
              </a:rPr>
              <a:t>Rano </a:t>
            </a:r>
            <a:r>
              <a:rPr lang="en-US" sz="2400" b="1" dirty="0" err="1">
                <a:solidFill>
                  <a:srgbClr val="0ADBBC"/>
                </a:solidFill>
              </a:rPr>
              <a:t>identificirajte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ključne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dionike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Uključivanje</a:t>
            </a:r>
            <a:r>
              <a:rPr lang="en-US" sz="2400" dirty="0"/>
              <a:t> </a:t>
            </a:r>
            <a:r>
              <a:rPr lang="en-US" sz="2400" dirty="0" err="1"/>
              <a:t>pravih</a:t>
            </a:r>
            <a:r>
              <a:rPr lang="en-US" sz="2400" dirty="0"/>
              <a:t> </a:t>
            </a:r>
            <a:r>
              <a:rPr lang="en-US" sz="2400" dirty="0" err="1"/>
              <a:t>ljudi</a:t>
            </a:r>
            <a:r>
              <a:rPr lang="en-US" sz="2400" dirty="0"/>
              <a:t> od </a:t>
            </a:r>
            <a:r>
              <a:rPr lang="en-US" sz="2400" dirty="0" err="1"/>
              <a:t>samog</a:t>
            </a:r>
            <a:r>
              <a:rPr lang="en-US" sz="2400" dirty="0"/>
              <a:t> </a:t>
            </a:r>
            <a:r>
              <a:rPr lang="en-US" sz="2400" dirty="0" err="1"/>
              <a:t>početka</a:t>
            </a:r>
            <a:r>
              <a:rPr lang="en-US" sz="2400" dirty="0"/>
              <a:t> </a:t>
            </a:r>
            <a:r>
              <a:rPr lang="en-US" sz="2400" dirty="0" err="1"/>
              <a:t>osigurava</a:t>
            </a:r>
            <a:r>
              <a:rPr lang="en-US" sz="2400" dirty="0"/>
              <a:t> </a:t>
            </a:r>
            <a:r>
              <a:rPr lang="en-US" sz="2400" dirty="0" err="1"/>
              <a:t>nesmetanu</a:t>
            </a:r>
            <a:r>
              <a:rPr lang="en-US" sz="2400" dirty="0"/>
              <a:t> </a:t>
            </a:r>
            <a:r>
              <a:rPr lang="en-US" sz="2400" dirty="0" err="1"/>
              <a:t>provedbu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2400" b="1" dirty="0" err="1">
                <a:solidFill>
                  <a:srgbClr val="0ADBBC"/>
                </a:solidFill>
              </a:rPr>
              <a:t>Osigurajte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formalno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odobrenje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</a:t>
            </a:r>
            <a:r>
              <a:rPr lang="en-US" sz="2400" dirty="0" err="1"/>
              <a:t>Potpisano</a:t>
            </a:r>
            <a:r>
              <a:rPr lang="en-US" sz="2400" dirty="0"/>
              <a:t> </a:t>
            </a:r>
            <a:r>
              <a:rPr lang="en-US" sz="2400" dirty="0" err="1"/>
              <a:t>odobrenje</a:t>
            </a:r>
            <a:r>
              <a:rPr lang="en-US" sz="2400" dirty="0"/>
              <a:t> </a:t>
            </a:r>
            <a:r>
              <a:rPr lang="en-US" sz="2400" dirty="0" err="1"/>
              <a:t>osigurava</a:t>
            </a:r>
            <a:r>
              <a:rPr lang="en-US" sz="2400" dirty="0"/>
              <a:t> </a:t>
            </a:r>
            <a:r>
              <a:rPr lang="en-US" sz="2400" dirty="0" err="1"/>
              <a:t>predanost</a:t>
            </a:r>
            <a:r>
              <a:rPr lang="en-US" sz="2400" dirty="0"/>
              <a:t> i </a:t>
            </a:r>
            <a:r>
              <a:rPr lang="en-US" sz="2400" dirty="0" err="1"/>
              <a:t>odgovornost</a:t>
            </a:r>
            <a:r>
              <a:rPr lang="en-US" sz="2400" dirty="0"/>
              <a:t>.</a:t>
            </a:r>
          </a:p>
          <a:p>
            <a:pPr marL="514350" indent="-514350">
              <a:buFont typeface="+mj-lt"/>
              <a:buAutoNum type="arabicPeriod" startAt="5"/>
            </a:pPr>
            <a:endParaRPr lang="en-US" sz="2400" dirty="0"/>
          </a:p>
          <a:p>
            <a:pPr marL="0" indent="0">
              <a:buNone/>
            </a:pPr>
            <a:r>
              <a:rPr lang="hr-HR" sz="2400" dirty="0"/>
              <a:t>! </a:t>
            </a:r>
            <a:r>
              <a:rPr lang="en-US" sz="2400" dirty="0" err="1"/>
              <a:t>Analizom</a:t>
            </a:r>
            <a:r>
              <a:rPr lang="en-US" sz="2400" dirty="0"/>
              <a:t> </a:t>
            </a:r>
            <a:r>
              <a:rPr lang="en-US" sz="2400" dirty="0" err="1"/>
              <a:t>primjera</a:t>
            </a:r>
            <a:r>
              <a:rPr lang="en-US" sz="2400" dirty="0"/>
              <a:t> </a:t>
            </a:r>
            <a:r>
              <a:rPr lang="en-US" sz="2400" i="1" dirty="0"/>
              <a:t>project </a:t>
            </a:r>
            <a:r>
              <a:rPr lang="en-US" sz="2400" i="1" dirty="0" err="1"/>
              <a:t>chartera</a:t>
            </a:r>
            <a:r>
              <a:rPr lang="en-US" sz="2400" dirty="0"/>
              <a:t> </a:t>
            </a:r>
            <a:r>
              <a:rPr lang="en-US" sz="2400" dirty="0" err="1"/>
              <a:t>organizacije</a:t>
            </a:r>
            <a:r>
              <a:rPr lang="en-US" sz="2400" dirty="0"/>
              <a:t> </a:t>
            </a:r>
            <a:r>
              <a:rPr lang="en-US" sz="2400" dirty="0" err="1"/>
              <a:t>mogu</a:t>
            </a:r>
            <a:r>
              <a:rPr lang="en-US" sz="2400" dirty="0"/>
              <a:t> </a:t>
            </a:r>
            <a:r>
              <a:rPr lang="en-US" sz="2400" dirty="0" err="1"/>
              <a:t>unaprijediti</a:t>
            </a:r>
            <a:r>
              <a:rPr lang="en-US" sz="2400" dirty="0"/>
              <a:t> </a:t>
            </a:r>
            <a:r>
              <a:rPr lang="en-US" sz="2400" dirty="0" err="1"/>
              <a:t>svoju</a:t>
            </a:r>
            <a:r>
              <a:rPr lang="en-US" sz="2400" dirty="0"/>
              <a:t> </a:t>
            </a:r>
            <a:r>
              <a:rPr lang="en-US" sz="2400" dirty="0" err="1"/>
              <a:t>dokumentaciju</a:t>
            </a:r>
            <a:r>
              <a:rPr lang="en-US" sz="2400" dirty="0"/>
              <a:t> </a:t>
            </a:r>
            <a:r>
              <a:rPr lang="en-US" sz="2400" dirty="0" err="1"/>
              <a:t>kako</a:t>
            </a:r>
            <a:r>
              <a:rPr lang="en-US" sz="2400" dirty="0"/>
              <a:t> bi </a:t>
            </a:r>
            <a:r>
              <a:rPr lang="en-US" sz="2400" b="1" dirty="0" err="1"/>
              <a:t>poboljšale</a:t>
            </a:r>
            <a:r>
              <a:rPr lang="en-US" sz="2400" b="1" dirty="0"/>
              <a:t> </a:t>
            </a:r>
            <a:r>
              <a:rPr lang="en-US" sz="2400" b="1" dirty="0" err="1"/>
              <a:t>usklađenost</a:t>
            </a:r>
            <a:r>
              <a:rPr lang="en-US" sz="2400" b="1" dirty="0"/>
              <a:t> </a:t>
            </a:r>
            <a:r>
              <a:rPr lang="en-US" sz="2400" b="1" dirty="0" err="1"/>
              <a:t>projekta</a:t>
            </a:r>
            <a:r>
              <a:rPr lang="en-US" sz="2400" b="1" dirty="0"/>
              <a:t>, </a:t>
            </a:r>
            <a:r>
              <a:rPr lang="en-US" sz="2400" b="1" dirty="0" err="1"/>
              <a:t>uključenost</a:t>
            </a:r>
            <a:r>
              <a:rPr lang="en-US" sz="2400" b="1" dirty="0"/>
              <a:t> </a:t>
            </a:r>
            <a:r>
              <a:rPr lang="en-US" sz="2400" b="1" dirty="0" err="1"/>
              <a:t>dionika</a:t>
            </a:r>
            <a:r>
              <a:rPr lang="en-US" sz="2400" b="1" dirty="0"/>
              <a:t> i </a:t>
            </a:r>
            <a:r>
              <a:rPr lang="en-US" sz="2400" b="1" dirty="0" err="1"/>
              <a:t>uspješnost</a:t>
            </a:r>
            <a:r>
              <a:rPr lang="en-US" sz="2400" b="1" dirty="0"/>
              <a:t> </a:t>
            </a:r>
            <a:r>
              <a:rPr lang="en-US" sz="2400" b="1" dirty="0" err="1"/>
              <a:t>provedbe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3835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D937988-CB55-CE43-2758-A0FD4FED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Primjer </a:t>
            </a:r>
            <a:r>
              <a:rPr lang="en-US" i="1" dirty="0"/>
              <a:t>project </a:t>
            </a:r>
            <a:r>
              <a:rPr lang="en-US" i="1" dirty="0" err="1"/>
              <a:t>chartera</a:t>
            </a:r>
            <a:r>
              <a:rPr lang="hr-HR" dirty="0"/>
              <a:t> </a:t>
            </a:r>
            <a:r>
              <a:rPr lang="en-US" dirty="0"/>
              <a:t>I.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D019E0-579D-6C73-746C-DE49F95BE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40" y="1690688"/>
            <a:ext cx="10866120" cy="448627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Naziv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b="1" dirty="0" err="1">
                <a:solidFill>
                  <a:srgbClr val="0ADBBC"/>
                </a:solidFill>
              </a:rPr>
              <a:t>Implementacija</a:t>
            </a:r>
            <a:r>
              <a:rPr lang="en-US" sz="2400" b="1" dirty="0">
                <a:solidFill>
                  <a:srgbClr val="0ADBBC"/>
                </a:solidFill>
              </a:rPr>
              <a:t> online chatbot-a za </a:t>
            </a:r>
            <a:r>
              <a:rPr lang="en-US" sz="2400" b="1" dirty="0" err="1">
                <a:solidFill>
                  <a:srgbClr val="0ADBBC"/>
                </a:solidFill>
              </a:rPr>
              <a:t>korisničku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podršku</a:t>
            </a:r>
            <a:endParaRPr lang="en-US" sz="2400" b="1" dirty="0">
              <a:solidFill>
                <a:srgbClr val="0ADBBC"/>
              </a:solidFill>
            </a:endParaRP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Pregled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  <a:endParaRPr lang="hr-HR" sz="2400" b="1" dirty="0">
              <a:solidFill>
                <a:srgbClr val="0ADBBC"/>
              </a:solidFill>
            </a:endParaRP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hr-HR" sz="2400" dirty="0"/>
              <a:t>   </a:t>
            </a:r>
            <a:r>
              <a:rPr lang="en-US" sz="2400" dirty="0" err="1"/>
              <a:t>Cilj</a:t>
            </a:r>
            <a:r>
              <a:rPr lang="en-US" sz="2400" dirty="0"/>
              <a:t> </a:t>
            </a:r>
            <a:r>
              <a:rPr lang="en-US" sz="2400" dirty="0" err="1"/>
              <a:t>ovog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 je </a:t>
            </a:r>
            <a:r>
              <a:rPr lang="en-US" sz="2400" dirty="0" err="1"/>
              <a:t>razviti</a:t>
            </a:r>
            <a:r>
              <a:rPr lang="en-US" sz="2400" dirty="0"/>
              <a:t> i </a:t>
            </a:r>
            <a:r>
              <a:rPr lang="en-US" sz="2400" dirty="0" err="1"/>
              <a:t>implementirati</a:t>
            </a:r>
            <a:r>
              <a:rPr lang="en-US" sz="2400" dirty="0"/>
              <a:t> chatbot </a:t>
            </a:r>
            <a:r>
              <a:rPr lang="en-US" sz="2400" dirty="0" err="1"/>
              <a:t>pokretan</a:t>
            </a:r>
            <a:r>
              <a:rPr lang="en-US" sz="2400" dirty="0"/>
              <a:t> </a:t>
            </a:r>
            <a:r>
              <a:rPr lang="en-US" sz="2400" dirty="0" err="1"/>
              <a:t>umjetnom</a:t>
            </a:r>
            <a:r>
              <a:rPr lang="en-US" sz="2400" dirty="0"/>
              <a:t> </a:t>
            </a:r>
            <a:r>
              <a:rPr lang="en-US" sz="2400" dirty="0" err="1"/>
              <a:t>inteligencijom</a:t>
            </a:r>
            <a:r>
              <a:rPr lang="en-US" sz="2400" dirty="0"/>
              <a:t> </a:t>
            </a:r>
            <a:r>
              <a:rPr lang="en-US" sz="2400" dirty="0" err="1"/>
              <a:t>kako</a:t>
            </a:r>
            <a:r>
              <a:rPr lang="en-US" sz="2400" dirty="0"/>
              <a:t> bi se </a:t>
            </a:r>
            <a:r>
              <a:rPr lang="en-US" sz="2400" dirty="0" err="1"/>
              <a:t>poboljšalo</a:t>
            </a:r>
            <a:r>
              <a:rPr lang="en-US" sz="2400" dirty="0"/>
              <a:t> </a:t>
            </a:r>
            <a:r>
              <a:rPr lang="en-US" sz="2400" dirty="0" err="1"/>
              <a:t>vrijeme</a:t>
            </a:r>
            <a:r>
              <a:rPr lang="en-US" sz="2400" dirty="0"/>
              <a:t> </a:t>
            </a:r>
            <a:r>
              <a:rPr lang="en-US" sz="2400" dirty="0" err="1"/>
              <a:t>odgovora</a:t>
            </a:r>
            <a:r>
              <a:rPr lang="en-US" sz="2400" dirty="0"/>
              <a:t> </a:t>
            </a:r>
            <a:r>
              <a:rPr lang="en-US" sz="2400" dirty="0" err="1"/>
              <a:t>korisničke</a:t>
            </a:r>
            <a:r>
              <a:rPr lang="en-US" sz="2400" dirty="0"/>
              <a:t> </a:t>
            </a:r>
            <a:r>
              <a:rPr lang="en-US" sz="2400" dirty="0" err="1"/>
              <a:t>podrške</a:t>
            </a:r>
            <a:r>
              <a:rPr lang="en-US" sz="2400" dirty="0"/>
              <a:t> i </a:t>
            </a:r>
            <a:r>
              <a:rPr lang="en-US" sz="2400" dirty="0" err="1"/>
              <a:t>unaprijedilo</a:t>
            </a:r>
            <a:r>
              <a:rPr lang="en-US" sz="2400" dirty="0"/>
              <a:t> </a:t>
            </a:r>
            <a:r>
              <a:rPr lang="en-US" sz="2400" dirty="0" err="1"/>
              <a:t>korisničko</a:t>
            </a:r>
            <a:r>
              <a:rPr lang="en-US" sz="2400" dirty="0"/>
              <a:t> </a:t>
            </a:r>
            <a:r>
              <a:rPr lang="en-US" sz="2400" dirty="0" err="1"/>
              <a:t>iskustvo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web </a:t>
            </a:r>
            <a:r>
              <a:rPr lang="en-US" sz="2400" dirty="0" err="1"/>
              <a:t>stranici</a:t>
            </a:r>
            <a:r>
              <a:rPr lang="en-US" sz="2400" dirty="0"/>
              <a:t> </a:t>
            </a:r>
            <a:r>
              <a:rPr lang="en-US" sz="2400" dirty="0" err="1"/>
              <a:t>tvrtke</a:t>
            </a:r>
            <a:r>
              <a:rPr lang="en-US" sz="2400" dirty="0"/>
              <a:t>. Chatbot </a:t>
            </a:r>
            <a:r>
              <a:rPr lang="en-US" sz="2400" dirty="0" err="1"/>
              <a:t>će</a:t>
            </a:r>
            <a:r>
              <a:rPr lang="en-US" sz="2400" dirty="0"/>
              <a:t> </a:t>
            </a:r>
            <a:r>
              <a:rPr lang="en-US" sz="2400" dirty="0" err="1"/>
              <a:t>obrađivati</a:t>
            </a:r>
            <a:r>
              <a:rPr lang="en-US" sz="2400" dirty="0"/>
              <a:t> </a:t>
            </a:r>
            <a:r>
              <a:rPr lang="en-US" sz="2400" dirty="0" err="1"/>
              <a:t>najčešće</a:t>
            </a:r>
            <a:r>
              <a:rPr lang="en-US" sz="2400" dirty="0"/>
              <a:t> </a:t>
            </a:r>
            <a:r>
              <a:rPr lang="en-US" sz="2400" dirty="0" err="1"/>
              <a:t>upite</a:t>
            </a:r>
            <a:r>
              <a:rPr lang="en-US" sz="2400" dirty="0"/>
              <a:t>, </a:t>
            </a:r>
            <a:r>
              <a:rPr lang="en-US" sz="2400" dirty="0" err="1"/>
              <a:t>smanjiti</a:t>
            </a:r>
            <a:r>
              <a:rPr lang="en-US" sz="2400" dirty="0"/>
              <a:t> </a:t>
            </a:r>
            <a:r>
              <a:rPr lang="en-US" sz="2400" dirty="0" err="1"/>
              <a:t>vrijeme</a:t>
            </a:r>
            <a:r>
              <a:rPr lang="en-US" sz="2400" dirty="0"/>
              <a:t> </a:t>
            </a:r>
            <a:r>
              <a:rPr lang="en-US" sz="2400" dirty="0" err="1"/>
              <a:t>čekanja</a:t>
            </a:r>
            <a:r>
              <a:rPr lang="en-US" sz="2400" dirty="0"/>
              <a:t> i </a:t>
            </a:r>
            <a:r>
              <a:rPr lang="en-US" sz="2400" dirty="0" err="1"/>
              <a:t>podržati</a:t>
            </a:r>
            <a:r>
              <a:rPr lang="en-US" sz="2400" dirty="0"/>
              <a:t> </a:t>
            </a:r>
            <a:r>
              <a:rPr lang="en-US" sz="2400" dirty="0" err="1"/>
              <a:t>agente</a:t>
            </a:r>
            <a:r>
              <a:rPr lang="en-US" sz="2400" dirty="0"/>
              <a:t> </a:t>
            </a:r>
            <a:r>
              <a:rPr lang="en-US" sz="2400" dirty="0" err="1"/>
              <a:t>automatizacijom</a:t>
            </a:r>
            <a:r>
              <a:rPr lang="en-US" sz="2400" dirty="0"/>
              <a:t> </a:t>
            </a:r>
            <a:r>
              <a:rPr lang="en-US" sz="2400" dirty="0" err="1"/>
              <a:t>ponavljajućih</a:t>
            </a:r>
            <a:r>
              <a:rPr lang="en-US" sz="2400" dirty="0"/>
              <a:t> </a:t>
            </a:r>
            <a:r>
              <a:rPr lang="en-US" sz="2400" dirty="0" err="1"/>
              <a:t>zadataka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753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335E6-FA23-7B95-503B-BF354050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3282E0B-8163-DFE5-DF37-12A530AB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Primjer 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project </a:t>
            </a:r>
            <a:r>
              <a:rPr kumimoji="0" lang="en-US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chartera</a:t>
            </a:r>
            <a:r>
              <a:rPr kumimoji="0" lang="hr-H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 </a:t>
            </a:r>
            <a:r>
              <a:rPr lang="en-US" dirty="0"/>
              <a:t>I.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E0F4B6-3FA9-6984-FFD4-CFE71A886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40" y="2006600"/>
            <a:ext cx="10866120" cy="448627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Naziv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400" b="1" dirty="0" err="1">
                <a:solidFill>
                  <a:srgbClr val="0ADBBC"/>
                </a:solidFill>
              </a:rPr>
              <a:t>Implementacija</a:t>
            </a:r>
            <a:r>
              <a:rPr lang="en-US" sz="2400" b="1" dirty="0">
                <a:solidFill>
                  <a:srgbClr val="0ADBBC"/>
                </a:solidFill>
              </a:rPr>
              <a:t> online chatbot-a za </a:t>
            </a:r>
            <a:r>
              <a:rPr lang="en-US" sz="2400" b="1" dirty="0" err="1">
                <a:solidFill>
                  <a:srgbClr val="0ADBBC"/>
                </a:solidFill>
              </a:rPr>
              <a:t>korisničku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podršku</a:t>
            </a:r>
            <a:endParaRPr lang="en-US" sz="2400" b="1" dirty="0">
              <a:solidFill>
                <a:srgbClr val="0ADBBC"/>
              </a:solidFill>
            </a:endParaRPr>
          </a:p>
          <a:p>
            <a:pPr>
              <a:buNone/>
            </a:pPr>
            <a:endParaRPr lang="en-US" sz="2200" b="1" dirty="0"/>
          </a:p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Svrha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poslovni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slučaj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Chatbot </a:t>
            </a:r>
            <a:r>
              <a:rPr lang="en-US" sz="2400" dirty="0" err="1"/>
              <a:t>će</a:t>
            </a:r>
            <a:r>
              <a:rPr lang="en-US" sz="2400" dirty="0"/>
              <a:t> </a:t>
            </a:r>
            <a:r>
              <a:rPr lang="en-US" sz="2400" dirty="0" err="1"/>
              <a:t>smanjiti</a:t>
            </a:r>
            <a:r>
              <a:rPr lang="en-US" sz="2400" dirty="0"/>
              <a:t> </a:t>
            </a:r>
            <a:r>
              <a:rPr lang="en-US" sz="2400" dirty="0" err="1"/>
              <a:t>opterećenje</a:t>
            </a:r>
            <a:r>
              <a:rPr lang="en-US" sz="2400" dirty="0"/>
              <a:t> </a:t>
            </a:r>
            <a:r>
              <a:rPr lang="en-US" sz="2400" dirty="0" err="1"/>
              <a:t>korisničke</a:t>
            </a:r>
            <a:r>
              <a:rPr lang="en-US" sz="2400" dirty="0"/>
              <a:t> </a:t>
            </a:r>
            <a:r>
              <a:rPr lang="en-US" sz="2400" dirty="0" err="1"/>
              <a:t>podrške</a:t>
            </a:r>
            <a:r>
              <a:rPr lang="en-US" sz="2400" dirty="0"/>
              <a:t>, </a:t>
            </a:r>
            <a:r>
              <a:rPr lang="en-US" sz="2400" dirty="0" err="1"/>
              <a:t>skratiti</a:t>
            </a:r>
            <a:r>
              <a:rPr lang="en-US" sz="2400" dirty="0"/>
              <a:t> </a:t>
            </a:r>
            <a:r>
              <a:rPr lang="en-US" sz="2400" dirty="0" err="1"/>
              <a:t>vrijeme</a:t>
            </a:r>
            <a:r>
              <a:rPr lang="en-US" sz="2400" dirty="0"/>
              <a:t> </a:t>
            </a:r>
            <a:r>
              <a:rPr lang="en-US" sz="2400" dirty="0" err="1"/>
              <a:t>odgovora</a:t>
            </a:r>
            <a:r>
              <a:rPr lang="en-US" sz="2400" dirty="0"/>
              <a:t> za 40 % i </a:t>
            </a:r>
            <a:r>
              <a:rPr lang="en-US" sz="2400" dirty="0" err="1"/>
              <a:t>poboljšati</a:t>
            </a:r>
            <a:r>
              <a:rPr lang="en-US" sz="2400" dirty="0"/>
              <a:t> </a:t>
            </a:r>
            <a:r>
              <a:rPr lang="en-US" sz="2400" dirty="0" err="1"/>
              <a:t>zadovoljstvo</a:t>
            </a:r>
            <a:r>
              <a:rPr lang="en-US" sz="2400" dirty="0"/>
              <a:t> </a:t>
            </a:r>
            <a:r>
              <a:rPr lang="en-US" sz="2400" dirty="0" err="1"/>
              <a:t>korisnika</a:t>
            </a:r>
            <a:r>
              <a:rPr lang="en-US" sz="2400" dirty="0"/>
              <a:t>. </a:t>
            </a:r>
            <a:r>
              <a:rPr lang="en-US" sz="2400" dirty="0" err="1"/>
              <a:t>Usklađen</a:t>
            </a:r>
            <a:r>
              <a:rPr lang="en-US" sz="2400" dirty="0"/>
              <a:t> je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strategijom</a:t>
            </a:r>
            <a:r>
              <a:rPr lang="en-US" sz="2400" dirty="0"/>
              <a:t> </a:t>
            </a:r>
            <a:r>
              <a:rPr lang="en-US" sz="2400" dirty="0" err="1"/>
              <a:t>digitalne</a:t>
            </a:r>
            <a:r>
              <a:rPr lang="en-US" sz="2400" dirty="0"/>
              <a:t> </a:t>
            </a:r>
            <a:r>
              <a:rPr lang="en-US" sz="2400" dirty="0" err="1"/>
              <a:t>transformacije</a:t>
            </a:r>
            <a:r>
              <a:rPr lang="en-US" sz="2400" dirty="0"/>
              <a:t> </a:t>
            </a:r>
            <a:r>
              <a:rPr lang="en-US" sz="2400" dirty="0" err="1"/>
              <a:t>tvrtke</a:t>
            </a:r>
            <a:r>
              <a:rPr lang="en-US" sz="2400" dirty="0"/>
              <a:t> i </a:t>
            </a:r>
            <a:r>
              <a:rPr lang="en-US" sz="2400" dirty="0" err="1"/>
              <a:t>povećava</a:t>
            </a:r>
            <a:r>
              <a:rPr lang="en-US" sz="2400" dirty="0"/>
              <a:t> </a:t>
            </a:r>
            <a:r>
              <a:rPr lang="en-US" sz="2400" dirty="0" err="1"/>
              <a:t>operativnu</a:t>
            </a:r>
            <a:r>
              <a:rPr lang="en-US" sz="2400" dirty="0"/>
              <a:t> </a:t>
            </a:r>
            <a:r>
              <a:rPr lang="en-US" sz="2400" dirty="0" err="1"/>
              <a:t>učinkovitost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4381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F80C-F2B7-773D-B2DB-59D345B1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3DF7D-CC6C-A49B-80EC-2FE4DAC8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Primjer 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project </a:t>
            </a:r>
            <a:r>
              <a:rPr kumimoji="0" lang="en-US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chartera</a:t>
            </a:r>
            <a:r>
              <a:rPr kumimoji="0" lang="hr-H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 </a:t>
            </a:r>
            <a:r>
              <a:rPr lang="en-US" dirty="0"/>
              <a:t>II.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32782-B374-7869-1F30-E2CEF9D3D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1690688"/>
            <a:ext cx="10310308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Ciljevi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projekta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</a:p>
          <a:p>
            <a:pPr>
              <a:buNone/>
            </a:pPr>
            <a:endParaRPr lang="en-US" sz="2400" b="1" dirty="0">
              <a:solidFill>
                <a:srgbClr val="0ADBBC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 err="1"/>
              <a:t>Razviti</a:t>
            </a:r>
            <a:r>
              <a:rPr lang="en-US" sz="2400" dirty="0"/>
              <a:t> i </a:t>
            </a:r>
            <a:r>
              <a:rPr lang="en-US" sz="2400" dirty="0" err="1"/>
              <a:t>implementirati</a:t>
            </a:r>
            <a:r>
              <a:rPr lang="en-US" sz="2400" dirty="0"/>
              <a:t> AI chatbot u </a:t>
            </a:r>
            <a:r>
              <a:rPr lang="en-US" sz="2400" dirty="0" err="1"/>
              <a:t>roku</a:t>
            </a:r>
            <a:r>
              <a:rPr lang="en-US" sz="2400" dirty="0"/>
              <a:t> od 4 </a:t>
            </a:r>
            <a:r>
              <a:rPr lang="en-US" sz="2400" dirty="0" err="1"/>
              <a:t>mjeseca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 err="1"/>
              <a:t>Automatizirati</a:t>
            </a:r>
            <a:r>
              <a:rPr lang="en-US" sz="2400" dirty="0"/>
              <a:t> </a:t>
            </a:r>
            <a:r>
              <a:rPr lang="en-US" sz="2400" dirty="0" err="1"/>
              <a:t>odgovore</a:t>
            </a:r>
            <a:r>
              <a:rPr lang="en-US" sz="2400" dirty="0"/>
              <a:t> za </a:t>
            </a:r>
            <a:r>
              <a:rPr lang="en-US" sz="2400" dirty="0" err="1"/>
              <a:t>najmanje</a:t>
            </a:r>
            <a:r>
              <a:rPr lang="en-US" sz="2400" dirty="0"/>
              <a:t> 70 % </a:t>
            </a:r>
            <a:r>
              <a:rPr lang="en-US" sz="2400" dirty="0" err="1"/>
              <a:t>najčešćih</a:t>
            </a:r>
            <a:r>
              <a:rPr lang="en-US" sz="2400" dirty="0"/>
              <a:t> </a:t>
            </a:r>
            <a:r>
              <a:rPr lang="en-US" sz="2400" dirty="0" err="1"/>
              <a:t>korisničkih</a:t>
            </a:r>
            <a:r>
              <a:rPr lang="en-US" sz="2400" dirty="0"/>
              <a:t> </a:t>
            </a:r>
            <a:r>
              <a:rPr lang="en-US" sz="2400" dirty="0" err="1"/>
              <a:t>upita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 err="1"/>
              <a:t>Integrirati</a:t>
            </a:r>
            <a:r>
              <a:rPr lang="en-US" sz="2400" dirty="0"/>
              <a:t> chatbot s </a:t>
            </a:r>
            <a:r>
              <a:rPr lang="en-US" sz="2400" dirty="0" err="1"/>
              <a:t>postojećim</a:t>
            </a:r>
            <a:r>
              <a:rPr lang="en-US" sz="2400" dirty="0"/>
              <a:t> CRM-om i </a:t>
            </a:r>
            <a:r>
              <a:rPr lang="en-US" sz="2400" dirty="0" err="1"/>
              <a:t>sustavom</a:t>
            </a:r>
            <a:r>
              <a:rPr lang="en-US" sz="2400" dirty="0"/>
              <a:t> za </a:t>
            </a:r>
            <a:r>
              <a:rPr lang="en-US" sz="2400" dirty="0" err="1"/>
              <a:t>korisničke</a:t>
            </a:r>
            <a:r>
              <a:rPr lang="en-US" sz="2400" dirty="0"/>
              <a:t> </a:t>
            </a:r>
            <a:r>
              <a:rPr lang="en-US" sz="2400" dirty="0" err="1"/>
              <a:t>upite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 err="1"/>
              <a:t>Smanjiti</a:t>
            </a:r>
            <a:r>
              <a:rPr lang="en-US" sz="2400" dirty="0"/>
              <a:t> </a:t>
            </a:r>
            <a:r>
              <a:rPr lang="en-US" sz="2400" dirty="0" err="1"/>
              <a:t>prosječno</a:t>
            </a:r>
            <a:r>
              <a:rPr lang="en-US" sz="2400" dirty="0"/>
              <a:t> </a:t>
            </a:r>
            <a:r>
              <a:rPr lang="en-US" sz="2400" dirty="0" err="1"/>
              <a:t>vrijeme</a:t>
            </a:r>
            <a:r>
              <a:rPr lang="en-US" sz="2400" dirty="0"/>
              <a:t> </a:t>
            </a:r>
            <a:r>
              <a:rPr lang="en-US" sz="2400" dirty="0" err="1"/>
              <a:t>odgovora</a:t>
            </a:r>
            <a:r>
              <a:rPr lang="en-US" sz="2400" dirty="0"/>
              <a:t> s 5 </a:t>
            </a:r>
            <a:r>
              <a:rPr lang="en-US" sz="2400" dirty="0" err="1"/>
              <a:t>minuta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manje</a:t>
            </a:r>
            <a:r>
              <a:rPr lang="en-US" sz="2400" dirty="0"/>
              <a:t> od 1 minute.</a:t>
            </a:r>
          </a:p>
          <a:p>
            <a:pPr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7609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0170-4E32-45E9-ABF6-0637FBAE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5A94-CF04-99D6-FD93-AED8B2F2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Primjer 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project </a:t>
            </a:r>
            <a:r>
              <a:rPr kumimoji="0" lang="en-US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chartera</a:t>
            </a:r>
            <a:r>
              <a:rPr kumimoji="0" lang="hr-H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 </a:t>
            </a:r>
            <a:r>
              <a:rPr lang="en-US" dirty="0"/>
              <a:t>II.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E554C-34C6-2ADA-77A7-F15A117E4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1690688"/>
            <a:ext cx="10310308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Izjava</a:t>
            </a:r>
            <a:r>
              <a:rPr lang="en-US" sz="2400" b="1" dirty="0">
                <a:solidFill>
                  <a:srgbClr val="0ADBBC"/>
                </a:solidFill>
              </a:rPr>
              <a:t> o </a:t>
            </a:r>
            <a:r>
              <a:rPr lang="en-US" sz="2400" b="1" dirty="0" err="1">
                <a:solidFill>
                  <a:srgbClr val="0ADBBC"/>
                </a:solidFill>
              </a:rPr>
              <a:t>opsegu</a:t>
            </a:r>
            <a:r>
              <a:rPr lang="hr-HR" sz="2400" b="1" dirty="0">
                <a:solidFill>
                  <a:srgbClr val="0ADBBC"/>
                </a:solidFill>
              </a:rPr>
              <a:t> projekta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</a:p>
          <a:p>
            <a:pPr>
              <a:buNone/>
            </a:pPr>
            <a:endParaRPr lang="en-US" sz="2400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400" dirty="0"/>
              <a:t>U </a:t>
            </a:r>
            <a:r>
              <a:rPr lang="en-US" sz="2400" dirty="0" err="1"/>
              <a:t>opsegu</a:t>
            </a:r>
            <a:r>
              <a:rPr lang="hr-HR" sz="2400" dirty="0"/>
              <a:t> (</a:t>
            </a:r>
            <a:r>
              <a:rPr lang="hr-HR" sz="2400" dirty="0" err="1"/>
              <a:t>Scope</a:t>
            </a:r>
            <a:r>
              <a:rPr lang="hr-HR" sz="2400" dirty="0"/>
              <a:t>)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Dizajn</a:t>
            </a:r>
            <a:r>
              <a:rPr lang="en-US" sz="2400" dirty="0"/>
              <a:t>, </a:t>
            </a:r>
            <a:r>
              <a:rPr lang="en-US" sz="2400" dirty="0" err="1"/>
              <a:t>razvoj</a:t>
            </a:r>
            <a:r>
              <a:rPr lang="en-US" sz="2400" dirty="0"/>
              <a:t> i </a:t>
            </a:r>
            <a:r>
              <a:rPr lang="en-US" sz="2400" dirty="0" err="1"/>
              <a:t>testiranje</a:t>
            </a:r>
            <a:r>
              <a:rPr lang="en-US" sz="2400" dirty="0"/>
              <a:t> </a:t>
            </a:r>
            <a:r>
              <a:rPr lang="en-US" sz="2400" dirty="0" err="1"/>
              <a:t>chatbota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Integracija</a:t>
            </a:r>
            <a:r>
              <a:rPr lang="en-US" sz="2400" dirty="0"/>
              <a:t> s web </a:t>
            </a:r>
            <a:r>
              <a:rPr lang="en-US" sz="2400" dirty="0" err="1"/>
              <a:t>stranicom</a:t>
            </a:r>
            <a:r>
              <a:rPr lang="en-US" sz="2400" dirty="0"/>
              <a:t> </a:t>
            </a:r>
            <a:r>
              <a:rPr lang="en-US" sz="2400" dirty="0" err="1"/>
              <a:t>tvrtke</a:t>
            </a:r>
            <a:r>
              <a:rPr lang="en-US" sz="2400" dirty="0"/>
              <a:t> i CRM </a:t>
            </a:r>
            <a:r>
              <a:rPr lang="en-US" sz="2400" dirty="0" err="1"/>
              <a:t>sustavom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Treniranje</a:t>
            </a:r>
            <a:r>
              <a:rPr lang="en-US" sz="2400" dirty="0"/>
              <a:t> </a:t>
            </a:r>
            <a:r>
              <a:rPr lang="en-US" sz="2400" dirty="0" err="1"/>
              <a:t>chatbota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temelju</a:t>
            </a:r>
            <a:r>
              <a:rPr lang="en-US" sz="2400" dirty="0"/>
              <a:t> </a:t>
            </a:r>
            <a:r>
              <a:rPr lang="en-US" sz="2400" dirty="0" err="1"/>
              <a:t>povijesnih</a:t>
            </a:r>
            <a:r>
              <a:rPr lang="en-US" sz="2400" dirty="0"/>
              <a:t> </a:t>
            </a:r>
            <a:r>
              <a:rPr lang="en-US" sz="2400" dirty="0" err="1"/>
              <a:t>upita</a:t>
            </a:r>
            <a:r>
              <a:rPr lang="en-US" sz="2400" dirty="0"/>
              <a:t> </a:t>
            </a:r>
            <a:r>
              <a:rPr lang="en-US" sz="2400" dirty="0" err="1"/>
              <a:t>korisnika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Korisničko</a:t>
            </a:r>
            <a:r>
              <a:rPr lang="en-US" sz="2400" dirty="0"/>
              <a:t> </a:t>
            </a:r>
            <a:r>
              <a:rPr lang="en-US" sz="2400" dirty="0" err="1"/>
              <a:t>testiranje</a:t>
            </a:r>
            <a:r>
              <a:rPr lang="en-US" sz="2400" dirty="0"/>
              <a:t> i </a:t>
            </a:r>
            <a:r>
              <a:rPr lang="en-US" sz="2400" dirty="0" err="1"/>
              <a:t>dorada</a:t>
            </a:r>
            <a:r>
              <a:rPr lang="en-US" sz="2400" dirty="0"/>
              <a:t> </a:t>
            </a:r>
            <a:r>
              <a:rPr lang="en-US" sz="2400" dirty="0" err="1"/>
              <a:t>prije</a:t>
            </a:r>
            <a:r>
              <a:rPr lang="en-US" sz="2400" dirty="0"/>
              <a:t> </a:t>
            </a:r>
            <a:r>
              <a:rPr lang="en-US" sz="2400" dirty="0" err="1"/>
              <a:t>lansiranja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0567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490E5-7729-6DFA-8D98-6712750E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673E-17D3-0445-7321-08C5811B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Primjer 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project </a:t>
            </a:r>
            <a:r>
              <a:rPr kumimoji="0" lang="en-US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chartera</a:t>
            </a:r>
            <a:r>
              <a:rPr kumimoji="0" lang="hr-H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 </a:t>
            </a:r>
            <a:r>
              <a:rPr lang="en-US" dirty="0"/>
              <a:t>III.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54185-17D3-5D83-4A78-69ED0880D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18" y="1783290"/>
            <a:ext cx="105156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Izvan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opsega</a:t>
            </a:r>
            <a:r>
              <a:rPr lang="hr-HR" sz="2400" b="1" dirty="0">
                <a:solidFill>
                  <a:srgbClr val="0ADBBC"/>
                </a:solidFill>
              </a:rPr>
              <a:t> (</a:t>
            </a:r>
            <a:r>
              <a:rPr lang="hr-HR" sz="2400" b="1" dirty="0" err="1">
                <a:solidFill>
                  <a:srgbClr val="0ADBBC"/>
                </a:solidFill>
              </a:rPr>
              <a:t>Scope</a:t>
            </a:r>
            <a:r>
              <a:rPr lang="hr-HR" sz="2400" b="1" dirty="0">
                <a:solidFill>
                  <a:srgbClr val="0ADBBC"/>
                </a:solidFill>
              </a:rPr>
              <a:t>)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Podrška</a:t>
            </a:r>
            <a:r>
              <a:rPr lang="en-US" sz="2400" dirty="0"/>
              <a:t> </a:t>
            </a:r>
            <a:r>
              <a:rPr lang="en-US" sz="2400" dirty="0" err="1"/>
              <a:t>chatbota</a:t>
            </a:r>
            <a:r>
              <a:rPr lang="en-US" sz="2400" dirty="0"/>
              <a:t> za </a:t>
            </a:r>
            <a:r>
              <a:rPr lang="en-US" sz="2400" dirty="0" err="1"/>
              <a:t>društvene</a:t>
            </a:r>
            <a:r>
              <a:rPr lang="en-US" sz="2400" dirty="0"/>
              <a:t> </a:t>
            </a:r>
            <a:r>
              <a:rPr lang="en-US" sz="2400" dirty="0" err="1"/>
              <a:t>mreže</a:t>
            </a:r>
            <a:r>
              <a:rPr lang="en-US" sz="2400" dirty="0"/>
              <a:t> (</a:t>
            </a:r>
            <a:r>
              <a:rPr lang="en-US" sz="2400" dirty="0" err="1"/>
              <a:t>razmatra</a:t>
            </a:r>
            <a:r>
              <a:rPr lang="en-US" sz="2400" dirty="0"/>
              <a:t> se za </a:t>
            </a:r>
            <a:r>
              <a:rPr lang="en-US" sz="2400" dirty="0" err="1"/>
              <a:t>buduće</a:t>
            </a:r>
            <a:r>
              <a:rPr lang="en-US" sz="2400" dirty="0"/>
              <a:t> faze).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Integracija</a:t>
            </a:r>
            <a:r>
              <a:rPr lang="en-US" sz="2400" dirty="0"/>
              <a:t> </a:t>
            </a:r>
            <a:r>
              <a:rPr lang="en-US" sz="2400" dirty="0" err="1"/>
              <a:t>glasovnog</a:t>
            </a:r>
            <a:r>
              <a:rPr lang="en-US" sz="2400" dirty="0"/>
              <a:t> AI </a:t>
            </a:r>
            <a:r>
              <a:rPr lang="en-US" sz="2400" dirty="0" err="1"/>
              <a:t>asistenta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rgbClr val="0ADBBC"/>
                </a:solidFill>
              </a:rPr>
              <a:t>Ključni </a:t>
            </a:r>
            <a:r>
              <a:rPr lang="en-US" sz="2400" b="1" dirty="0" err="1">
                <a:solidFill>
                  <a:srgbClr val="0ADBBC"/>
                </a:solidFill>
              </a:rPr>
              <a:t>dionici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Sponzor</a:t>
            </a:r>
            <a:r>
              <a:rPr lang="en-US" sz="2400" b="1" dirty="0"/>
              <a:t> </a:t>
            </a:r>
            <a:r>
              <a:rPr lang="en-US" sz="2400" b="1" dirty="0" err="1"/>
              <a:t>projekta</a:t>
            </a:r>
            <a:r>
              <a:rPr lang="en-US" sz="2400" b="1" dirty="0"/>
              <a:t>: </a:t>
            </a:r>
            <a:r>
              <a:rPr lang="en-US" sz="2400" dirty="0"/>
              <a:t>Direktor </a:t>
            </a:r>
            <a:r>
              <a:rPr lang="en-US" sz="2400" dirty="0" err="1"/>
              <a:t>tehnologije</a:t>
            </a:r>
            <a:r>
              <a:rPr lang="en-US" sz="2400" dirty="0"/>
              <a:t> (Chief Technology Officer</a:t>
            </a:r>
            <a:r>
              <a:rPr lang="hr-HR" sz="2400" dirty="0"/>
              <a:t> - </a:t>
            </a:r>
            <a:r>
              <a:rPr lang="en-US" sz="2400" dirty="0"/>
              <a:t>CTO)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Voditelj</a:t>
            </a:r>
            <a:r>
              <a:rPr lang="en-US" sz="2400" b="1" dirty="0"/>
              <a:t> </a:t>
            </a:r>
            <a:r>
              <a:rPr lang="en-US" sz="2400" b="1" dirty="0" err="1"/>
              <a:t>projekta</a:t>
            </a:r>
            <a:r>
              <a:rPr lang="en-US" sz="2400" b="1" dirty="0"/>
              <a:t>: </a:t>
            </a:r>
            <a:r>
              <a:rPr lang="en-US" sz="2400" dirty="0"/>
              <a:t>John 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Razvojni </a:t>
            </a:r>
            <a:r>
              <a:rPr lang="en-US" sz="2400" b="1" dirty="0" err="1"/>
              <a:t>tim</a:t>
            </a:r>
            <a:r>
              <a:rPr lang="en-US" sz="2400" b="1" dirty="0"/>
              <a:t>: </a:t>
            </a:r>
            <a:r>
              <a:rPr lang="en-US" sz="2400" dirty="0"/>
              <a:t>AI </a:t>
            </a:r>
            <a:r>
              <a:rPr lang="en-US" sz="2400" dirty="0" err="1"/>
              <a:t>inženjeri</a:t>
            </a:r>
            <a:r>
              <a:rPr lang="en-US" sz="2400" dirty="0"/>
              <a:t>, </a:t>
            </a:r>
            <a:r>
              <a:rPr lang="en-US" sz="2400" dirty="0" err="1"/>
              <a:t>softverski</a:t>
            </a:r>
            <a:r>
              <a:rPr lang="en-US" sz="2400" dirty="0"/>
              <a:t> </a:t>
            </a:r>
            <a:r>
              <a:rPr lang="en-US" sz="2400" dirty="0" err="1"/>
              <a:t>developeri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Tim </a:t>
            </a:r>
            <a:r>
              <a:rPr lang="en-US" sz="2400" b="1" dirty="0" err="1"/>
              <a:t>korisničke</a:t>
            </a:r>
            <a:r>
              <a:rPr lang="en-US" sz="2400" b="1" dirty="0"/>
              <a:t> </a:t>
            </a:r>
            <a:r>
              <a:rPr lang="en-US" sz="2400" b="1" dirty="0" err="1"/>
              <a:t>podrške</a:t>
            </a:r>
            <a:r>
              <a:rPr lang="en-US" sz="2400" b="1" dirty="0"/>
              <a:t>: </a:t>
            </a:r>
            <a:r>
              <a:rPr lang="en-US" sz="2400" dirty="0" err="1"/>
              <a:t>Krajnji</a:t>
            </a:r>
            <a:r>
              <a:rPr lang="en-US" sz="2400" dirty="0"/>
              <a:t> </a:t>
            </a:r>
            <a:r>
              <a:rPr lang="en-US" sz="2400" dirty="0" err="1"/>
              <a:t>korisnici</a:t>
            </a:r>
            <a:r>
              <a:rPr lang="en-US" sz="2400" dirty="0"/>
              <a:t> </a:t>
            </a:r>
            <a:r>
              <a:rPr lang="en-US" sz="2400" dirty="0" err="1"/>
              <a:t>chatbota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Marketinški</a:t>
            </a:r>
            <a:r>
              <a:rPr lang="en-US" sz="2400" b="1" dirty="0"/>
              <a:t> </a:t>
            </a:r>
            <a:r>
              <a:rPr lang="en-US" sz="2400" b="1" dirty="0" err="1"/>
              <a:t>tim</a:t>
            </a:r>
            <a:r>
              <a:rPr lang="en-US" sz="2400" b="1" dirty="0"/>
              <a:t>: </a:t>
            </a:r>
            <a:r>
              <a:rPr lang="en-US" sz="2400" dirty="0" err="1"/>
              <a:t>Pruža</a:t>
            </a:r>
            <a:r>
              <a:rPr lang="en-US" sz="2400" dirty="0"/>
              <a:t> </a:t>
            </a:r>
            <a:r>
              <a:rPr lang="en-US" sz="2400" dirty="0" err="1"/>
              <a:t>uvide</a:t>
            </a:r>
            <a:r>
              <a:rPr lang="en-US" sz="2400" dirty="0"/>
              <a:t> o </a:t>
            </a:r>
            <a:r>
              <a:rPr lang="en-US" sz="2400" dirty="0" err="1"/>
              <a:t>korisnicima</a:t>
            </a:r>
            <a:r>
              <a:rPr lang="en-US" sz="2400" dirty="0"/>
              <a:t> i </a:t>
            </a:r>
            <a:r>
              <a:rPr lang="en-US" sz="2400" dirty="0" err="1"/>
              <a:t>brendiranju</a:t>
            </a:r>
            <a:r>
              <a:rPr lang="en-US" sz="2400" dirty="0"/>
              <a:t> </a:t>
            </a:r>
            <a:r>
              <a:rPr lang="en-US" sz="2400" dirty="0" err="1"/>
              <a:t>chatbota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237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29940-BB01-F58E-B551-0075CCAE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AC71-70D5-A291-5D73-AE128581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Primjer 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project </a:t>
            </a:r>
            <a:r>
              <a:rPr kumimoji="0" lang="en-US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chartera</a:t>
            </a:r>
            <a:r>
              <a:rPr kumimoji="0" lang="hr-H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 </a:t>
            </a:r>
            <a:r>
              <a:rPr lang="en-US" dirty="0"/>
              <a:t>IV.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EFEB5-1ED9-1667-2056-E0FDE542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18" y="1908511"/>
            <a:ext cx="105156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2400" b="1" dirty="0">
                <a:solidFill>
                  <a:srgbClr val="0ADBBC"/>
                </a:solidFill>
              </a:rPr>
              <a:t>Okvirni vremenski plan </a:t>
            </a:r>
            <a:r>
              <a:rPr lang="hr-HR" sz="2400" b="1" dirty="0">
                <a:solidFill>
                  <a:srgbClr val="0ADBBC"/>
                </a:solidFill>
              </a:rPr>
              <a:t>i prekretnice (m</a:t>
            </a:r>
            <a:r>
              <a:rPr lang="en-US" sz="2400" b="1" dirty="0" err="1">
                <a:solidFill>
                  <a:srgbClr val="0ADBBC"/>
                </a:solidFill>
              </a:rPr>
              <a:t>ilestones</a:t>
            </a:r>
            <a:r>
              <a:rPr lang="hr-HR" sz="2400" b="1" dirty="0">
                <a:solidFill>
                  <a:srgbClr val="0ADBBC"/>
                </a:solidFill>
              </a:rPr>
              <a:t>)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</a:p>
          <a:p>
            <a:pPr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Mjesec</a:t>
            </a:r>
            <a:r>
              <a:rPr lang="en-US" sz="2400" b="1" dirty="0"/>
              <a:t> 1: </a:t>
            </a:r>
            <a:r>
              <a:rPr lang="en-US" sz="2400" dirty="0" err="1"/>
              <a:t>Prikupljanje</a:t>
            </a:r>
            <a:r>
              <a:rPr lang="en-US" sz="2400" dirty="0"/>
              <a:t> </a:t>
            </a:r>
            <a:r>
              <a:rPr lang="en-US" sz="2400" dirty="0" err="1"/>
              <a:t>zahtjeva</a:t>
            </a:r>
            <a:r>
              <a:rPr lang="en-US" sz="2400" dirty="0"/>
              <a:t> i </a:t>
            </a:r>
            <a:r>
              <a:rPr lang="en-US" sz="2400" dirty="0" err="1"/>
              <a:t>dizajn</a:t>
            </a:r>
            <a:r>
              <a:rPr lang="en-US" sz="2400" dirty="0"/>
              <a:t> </a:t>
            </a:r>
            <a:r>
              <a:rPr lang="en-US" sz="2400" dirty="0" err="1"/>
              <a:t>chatbota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Mjesec</a:t>
            </a:r>
            <a:r>
              <a:rPr lang="en-US" sz="2400" b="1" dirty="0"/>
              <a:t> 2–3: </a:t>
            </a:r>
            <a:r>
              <a:rPr lang="en-US" sz="2400" dirty="0" err="1"/>
              <a:t>Razvoj</a:t>
            </a:r>
            <a:r>
              <a:rPr lang="en-US" sz="2400" dirty="0"/>
              <a:t> i </a:t>
            </a:r>
            <a:r>
              <a:rPr lang="en-US" sz="2400" dirty="0" err="1"/>
              <a:t>interno</a:t>
            </a:r>
            <a:r>
              <a:rPr lang="en-US" sz="2400" dirty="0"/>
              <a:t> </a:t>
            </a:r>
            <a:r>
              <a:rPr lang="en-US" sz="2400" dirty="0" err="1"/>
              <a:t>testiranje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Mjesec</a:t>
            </a:r>
            <a:r>
              <a:rPr lang="en-US" sz="2400" b="1" dirty="0"/>
              <a:t> 4: </a:t>
            </a:r>
            <a:r>
              <a:rPr lang="en-US" sz="2400" dirty="0" err="1"/>
              <a:t>Korisničko</a:t>
            </a:r>
            <a:r>
              <a:rPr lang="en-US" sz="2400" dirty="0"/>
              <a:t> </a:t>
            </a:r>
            <a:r>
              <a:rPr lang="en-US" sz="2400" dirty="0" err="1"/>
              <a:t>testiranje</a:t>
            </a:r>
            <a:r>
              <a:rPr lang="en-US" sz="2400" dirty="0"/>
              <a:t>, </a:t>
            </a:r>
            <a:r>
              <a:rPr lang="en-US" sz="2400" dirty="0" err="1"/>
              <a:t>dorade</a:t>
            </a:r>
            <a:r>
              <a:rPr lang="en-US" sz="2400" dirty="0"/>
              <a:t> i </a:t>
            </a:r>
            <a:r>
              <a:rPr lang="en-US" sz="2400" dirty="0" err="1"/>
              <a:t>implementacija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Budžet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resursi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Procijenjeni</a:t>
            </a:r>
            <a:r>
              <a:rPr lang="en-US" sz="2400" dirty="0"/>
              <a:t> </a:t>
            </a:r>
            <a:r>
              <a:rPr lang="en-US" sz="2400" dirty="0" err="1"/>
              <a:t>budžet</a:t>
            </a:r>
            <a:r>
              <a:rPr lang="en-US" sz="2400" dirty="0"/>
              <a:t>: 100.000 $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Resursi</a:t>
            </a:r>
            <a:r>
              <a:rPr lang="en-US" sz="2400" dirty="0"/>
              <a:t>: AI </a:t>
            </a:r>
            <a:r>
              <a:rPr lang="en-US" sz="2400" dirty="0" err="1"/>
              <a:t>developeri</a:t>
            </a:r>
            <a:r>
              <a:rPr lang="en-US" sz="2400" dirty="0"/>
              <a:t>, </a:t>
            </a:r>
            <a:r>
              <a:rPr lang="en-US" sz="2400" dirty="0" err="1"/>
              <a:t>softverski</a:t>
            </a:r>
            <a:r>
              <a:rPr lang="en-US" sz="2400" dirty="0"/>
              <a:t> </a:t>
            </a:r>
            <a:r>
              <a:rPr lang="en-US" sz="2400" dirty="0" err="1"/>
              <a:t>inženjeri</a:t>
            </a:r>
            <a:r>
              <a:rPr lang="en-US" sz="2400" dirty="0"/>
              <a:t>, </a:t>
            </a:r>
            <a:r>
              <a:rPr lang="en-US" sz="2400" dirty="0" err="1"/>
              <a:t>tim</a:t>
            </a:r>
            <a:r>
              <a:rPr lang="en-US" sz="2400" dirty="0"/>
              <a:t> za </a:t>
            </a:r>
            <a:r>
              <a:rPr lang="en-US" sz="2400" dirty="0" err="1"/>
              <a:t>testiranje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2347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66D3-A79C-D228-E6D5-FAD703603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3E03-AA59-7B21-A7E8-A8FD2012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Primjer </a:t>
            </a:r>
            <a:r>
              <a:rPr lang="en-US" i="1" dirty="0"/>
              <a:t>project </a:t>
            </a:r>
            <a:r>
              <a:rPr lang="en-US" i="1" dirty="0" err="1"/>
              <a:t>chartera</a:t>
            </a:r>
            <a:r>
              <a:rPr lang="en-US" i="1" dirty="0"/>
              <a:t> </a:t>
            </a:r>
            <a:r>
              <a:rPr lang="en-US" dirty="0"/>
              <a:t>V.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E6CE1-A85C-41AD-0357-229FD6C39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014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Rizici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</a:p>
          <a:p>
            <a:r>
              <a:rPr lang="en-US" sz="2400" dirty="0" err="1"/>
              <a:t>Mogući</a:t>
            </a:r>
            <a:r>
              <a:rPr lang="en-US" sz="2400" dirty="0"/>
              <a:t> </a:t>
            </a:r>
            <a:r>
              <a:rPr lang="en-US" sz="2400" dirty="0" err="1"/>
              <a:t>izazovi</a:t>
            </a:r>
            <a:r>
              <a:rPr lang="en-US" sz="2400" dirty="0"/>
              <a:t> </a:t>
            </a:r>
            <a:r>
              <a:rPr lang="en-US" sz="2400" dirty="0" err="1"/>
              <a:t>integracije</a:t>
            </a:r>
            <a:r>
              <a:rPr lang="en-US" sz="2400" dirty="0"/>
              <a:t> s CRM </a:t>
            </a:r>
            <a:r>
              <a:rPr lang="en-US" sz="2400" dirty="0" err="1"/>
              <a:t>sustavom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Kupcima</a:t>
            </a:r>
            <a:r>
              <a:rPr lang="en-US" sz="2400" dirty="0"/>
              <a:t> </a:t>
            </a:r>
            <a:r>
              <a:rPr lang="en-US" sz="2400" dirty="0" err="1"/>
              <a:t>će</a:t>
            </a:r>
            <a:r>
              <a:rPr lang="en-US" sz="2400" dirty="0"/>
              <a:t> </a:t>
            </a:r>
            <a:r>
              <a:rPr lang="en-US" sz="2400" dirty="0" err="1"/>
              <a:t>možda</a:t>
            </a:r>
            <a:r>
              <a:rPr lang="en-US" sz="2400" dirty="0"/>
              <a:t> </a:t>
            </a:r>
            <a:r>
              <a:rPr lang="en-US" sz="2400" dirty="0" err="1"/>
              <a:t>biti</a:t>
            </a:r>
            <a:r>
              <a:rPr lang="en-US" sz="2400" dirty="0"/>
              <a:t> </a:t>
            </a:r>
            <a:r>
              <a:rPr lang="en-US" sz="2400" dirty="0" err="1"/>
              <a:t>potrebna</a:t>
            </a:r>
            <a:r>
              <a:rPr lang="en-US" sz="2400" dirty="0"/>
              <a:t> </a:t>
            </a:r>
            <a:r>
              <a:rPr lang="en-US" sz="2400" dirty="0" err="1"/>
              <a:t>dodatna</a:t>
            </a:r>
            <a:r>
              <a:rPr lang="en-US" sz="2400" dirty="0"/>
              <a:t> </a:t>
            </a:r>
            <a:r>
              <a:rPr lang="en-US" sz="2400" dirty="0" err="1"/>
              <a:t>podrška</a:t>
            </a:r>
            <a:r>
              <a:rPr lang="en-US" sz="2400" dirty="0"/>
              <a:t> </a:t>
            </a:r>
            <a:r>
              <a:rPr lang="en-US" sz="2400" dirty="0" err="1"/>
              <a:t>tijekom</a:t>
            </a:r>
            <a:r>
              <a:rPr lang="en-US" sz="2400" dirty="0"/>
              <a:t> </a:t>
            </a:r>
            <a:r>
              <a:rPr lang="en-US" sz="2400" dirty="0" err="1"/>
              <a:t>prijelaza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Pretpostavke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  <a:endParaRPr lang="hr-HR" sz="2400" b="1" dirty="0">
              <a:solidFill>
                <a:srgbClr val="0ADBBC"/>
              </a:solidFill>
            </a:endParaRPr>
          </a:p>
          <a:p>
            <a:r>
              <a:rPr lang="en-US" sz="2400" dirty="0"/>
              <a:t>AI chatbot </a:t>
            </a:r>
            <a:r>
              <a:rPr lang="en-US" sz="2400" dirty="0" err="1"/>
              <a:t>će</a:t>
            </a:r>
            <a:r>
              <a:rPr lang="en-US" sz="2400" dirty="0"/>
              <a:t> </a:t>
            </a:r>
            <a:r>
              <a:rPr lang="en-US" sz="2400" dirty="0" err="1"/>
              <a:t>kontinuirano</a:t>
            </a:r>
            <a:r>
              <a:rPr lang="en-US" sz="2400" dirty="0"/>
              <a:t> </a:t>
            </a:r>
            <a:r>
              <a:rPr lang="en-US" sz="2400" dirty="0" err="1"/>
              <a:t>učiti</a:t>
            </a:r>
            <a:r>
              <a:rPr lang="en-US" sz="2400" dirty="0"/>
              <a:t> </a:t>
            </a:r>
            <a:r>
              <a:rPr lang="en-US" sz="2400" dirty="0" err="1"/>
              <a:t>iz</a:t>
            </a:r>
            <a:r>
              <a:rPr lang="en-US" sz="2400" dirty="0"/>
              <a:t> </a:t>
            </a:r>
            <a:r>
              <a:rPr lang="en-US" sz="2400" dirty="0" err="1"/>
              <a:t>interakcija</a:t>
            </a:r>
            <a:r>
              <a:rPr lang="en-US" sz="2400" dirty="0"/>
              <a:t> i s </a:t>
            </a:r>
            <a:r>
              <a:rPr lang="en-US" sz="2400" dirty="0" err="1"/>
              <a:t>vremenom</a:t>
            </a:r>
            <a:r>
              <a:rPr lang="en-US" sz="2400" dirty="0"/>
              <a:t> </a:t>
            </a:r>
            <a:r>
              <a:rPr lang="en-US" sz="2400" dirty="0" err="1"/>
              <a:t>poboljšavati</a:t>
            </a:r>
            <a:r>
              <a:rPr lang="hr-HR" sz="2400" dirty="0"/>
              <a:t> </a:t>
            </a:r>
            <a:r>
              <a:rPr lang="en-US" sz="2400" dirty="0" err="1"/>
              <a:t>točnost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sz="2400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400" b="1" dirty="0" err="1">
                <a:solidFill>
                  <a:srgbClr val="0ADBBC"/>
                </a:solidFill>
              </a:rPr>
              <a:t>Odobrenje</a:t>
            </a:r>
            <a:r>
              <a:rPr lang="en-US" sz="2400" b="1" dirty="0">
                <a:solidFill>
                  <a:srgbClr val="0ADBBC"/>
                </a:solidFill>
              </a:rPr>
              <a:t> i </a:t>
            </a:r>
            <a:r>
              <a:rPr lang="en-US" sz="2400" b="1" dirty="0" err="1">
                <a:solidFill>
                  <a:srgbClr val="0ADBBC"/>
                </a:solidFill>
              </a:rPr>
              <a:t>autorizacija</a:t>
            </a:r>
            <a:r>
              <a:rPr lang="en-US" sz="2400" b="1" dirty="0">
                <a:solidFill>
                  <a:srgbClr val="0ADBBC"/>
                </a:solidFill>
              </a:rPr>
              <a:t>:</a:t>
            </a:r>
          </a:p>
          <a:p>
            <a:r>
              <a:rPr lang="en-US" sz="2400" b="1" dirty="0" err="1"/>
              <a:t>Odobrio</a:t>
            </a:r>
            <a:r>
              <a:rPr lang="en-US" sz="2400" b="1" dirty="0"/>
              <a:t>:</a:t>
            </a:r>
            <a:r>
              <a:rPr lang="en-US" sz="2400" dirty="0"/>
              <a:t> CTO, Jane S.</a:t>
            </a:r>
          </a:p>
          <a:p>
            <a:r>
              <a:rPr lang="en-US" sz="2400" b="1" dirty="0"/>
              <a:t>Datum:</a:t>
            </a:r>
            <a:r>
              <a:rPr lang="en-US" sz="2400" dirty="0"/>
              <a:t> 10. </a:t>
            </a:r>
            <a:r>
              <a:rPr lang="en-US" sz="2400" dirty="0" err="1"/>
              <a:t>ožujka</a:t>
            </a:r>
            <a:r>
              <a:rPr lang="en-US" sz="2400" dirty="0"/>
              <a:t> 2025.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7539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19FEC-2137-3CC0-282F-4C36B603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690A9371-5CF0-67B9-4229-5F29DF2ED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8382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POKRETANJE PROJEKTA</a:t>
            </a:r>
            <a:br>
              <a:rPr lang="en-US" sz="4800" b="1" dirty="0">
                <a:latin typeface="Bahnschrift SemiLight" panose="020B0502040204020203" pitchFamily="34" charset="0"/>
              </a:rPr>
            </a:br>
            <a:endParaRPr lang="hr-HR" sz="4800" dirty="0">
              <a:latin typeface="Bahnschrift SemiLight" panose="020B0502040204020203" pitchFamily="34" charset="0"/>
            </a:endParaRPr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380EBD20-1FCA-E637-5E23-8BA498FCF80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174435" y="4263887"/>
            <a:ext cx="7888473" cy="122413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it-IT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Identificirati</a:t>
            </a:r>
            <a:r>
              <a:rPr lang="it-IT" alt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it-IT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uloge</a:t>
            </a:r>
            <a:r>
              <a:rPr lang="it-IT" altLang="en-US" sz="4000" dirty="0">
                <a:latin typeface="Bahnschrift" panose="020B0502040204020203" pitchFamily="34" charset="0"/>
                <a:ea typeface="+mj-ea"/>
                <a:cs typeface="+mj-cs"/>
              </a:rPr>
              <a:t> i </a:t>
            </a:r>
            <a:r>
              <a:rPr lang="it-IT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odgovornosti</a:t>
            </a:r>
            <a:r>
              <a:rPr lang="it-IT" alt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it-IT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dionika</a:t>
            </a:r>
            <a:endParaRPr lang="it-IT" altLang="en-US" sz="4000" dirty="0">
              <a:latin typeface="Bahnschrift" panose="020B050204020402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9312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61D6A0-2B29-7C10-6BE4-534C5946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l-PL" dirty="0"/>
              <a:t>Uloge i odgovornosti dionika u projektu</a:t>
            </a:r>
            <a:br>
              <a:rPr lang="en-US" b="1" dirty="0">
                <a:latin typeface="Bahnschrift SemiLight" panose="020B0502040204020203" pitchFamily="34" charset="0"/>
              </a:rPr>
            </a:br>
            <a:endParaRPr lang="en-US" dirty="0">
              <a:latin typeface="Bahnschrift SemiLight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4344B-024F-DE56-0160-9A30F2A4A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Dionici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pojedinci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skupine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interes</a:t>
            </a:r>
            <a:r>
              <a:rPr lang="en-US" dirty="0"/>
              <a:t> u </a:t>
            </a:r>
            <a:r>
              <a:rPr lang="en-US" dirty="0" err="1"/>
              <a:t>projektu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njime</a:t>
            </a:r>
            <a:r>
              <a:rPr lang="en-US" dirty="0"/>
              <a:t> </a:t>
            </a:r>
            <a:r>
              <a:rPr lang="en-US" dirty="0" err="1"/>
              <a:t>pogođene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Njihove </a:t>
            </a:r>
            <a:r>
              <a:rPr lang="en-US" dirty="0" err="1"/>
              <a:t>uloge</a:t>
            </a:r>
            <a:r>
              <a:rPr lang="en-US" dirty="0"/>
              <a:t> i </a:t>
            </a:r>
            <a:r>
              <a:rPr lang="en-US" dirty="0" err="1"/>
              <a:t>odgovornosti</a:t>
            </a:r>
            <a:r>
              <a:rPr lang="en-US" dirty="0"/>
              <a:t> </a:t>
            </a:r>
            <a:r>
              <a:rPr lang="en-US" dirty="0" err="1"/>
              <a:t>razlikuju</a:t>
            </a:r>
            <a:r>
              <a:rPr lang="en-US" dirty="0"/>
              <a:t> se </a:t>
            </a:r>
            <a:r>
              <a:rPr lang="en-US" dirty="0" err="1"/>
              <a:t>ovisno</a:t>
            </a:r>
            <a:r>
              <a:rPr lang="en-US" dirty="0"/>
              <a:t> o </a:t>
            </a:r>
            <a:r>
              <a:rPr lang="en-US" dirty="0" err="1"/>
              <a:t>razini</a:t>
            </a:r>
            <a:r>
              <a:rPr lang="en-US" dirty="0"/>
              <a:t> </a:t>
            </a:r>
            <a:r>
              <a:rPr lang="en-US" dirty="0" err="1"/>
              <a:t>njihove</a:t>
            </a:r>
            <a:r>
              <a:rPr lang="en-US" dirty="0"/>
              <a:t> </a:t>
            </a:r>
            <a:r>
              <a:rPr lang="en-US" dirty="0" err="1"/>
              <a:t>uključenosti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293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C4D8-D315-A5AA-A2A5-2EA81F39B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Uloge i </a:t>
            </a:r>
            <a:r>
              <a:rPr lang="en-US" dirty="0" err="1"/>
              <a:t>odgovornosti</a:t>
            </a:r>
            <a:r>
              <a:rPr lang="en-US" dirty="0"/>
              <a:t>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dionika</a:t>
            </a:r>
            <a:r>
              <a:rPr lang="hr-HR" dirty="0"/>
              <a:t> </a:t>
            </a:r>
            <a:r>
              <a:rPr lang="en-US" dirty="0"/>
              <a:t>I.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9D8B2-8143-849A-DF6B-9C8DB5DE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153527" cy="4802187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US" sz="3100" b="1" dirty="0">
                <a:solidFill>
                  <a:srgbClr val="0ADBBC"/>
                </a:solidFill>
              </a:rPr>
              <a:t>SPONZOR PROJEKTA</a:t>
            </a:r>
          </a:p>
          <a:p>
            <a:pPr marL="514350" indent="-514350">
              <a:buAutoNum type="arabicPeriod"/>
            </a:pPr>
            <a:endParaRPr lang="en-US" b="1" dirty="0"/>
          </a:p>
          <a:p>
            <a:pPr marL="0" indent="0">
              <a:buNone/>
            </a:pPr>
            <a:r>
              <a:rPr lang="en-US" sz="3100" b="1" dirty="0" err="1"/>
              <a:t>Uloga</a:t>
            </a:r>
            <a:r>
              <a:rPr lang="en-US" sz="3100" b="1" dirty="0"/>
              <a:t>: </a:t>
            </a:r>
            <a:r>
              <a:rPr lang="en-US" sz="3100" dirty="0" err="1"/>
              <a:t>Osigurava</a:t>
            </a:r>
            <a:r>
              <a:rPr lang="en-US" sz="3100" dirty="0"/>
              <a:t> </a:t>
            </a:r>
            <a:r>
              <a:rPr lang="en-US" sz="3100" dirty="0" err="1"/>
              <a:t>financijska</a:t>
            </a:r>
            <a:r>
              <a:rPr lang="en-US" sz="3100" dirty="0"/>
              <a:t> </a:t>
            </a:r>
            <a:r>
              <a:rPr lang="en-US" sz="3100" dirty="0" err="1"/>
              <a:t>sredstva</a:t>
            </a:r>
            <a:r>
              <a:rPr lang="en-US" sz="3100" dirty="0"/>
              <a:t> i </a:t>
            </a:r>
            <a:r>
              <a:rPr lang="en-US" sz="3100" dirty="0" err="1"/>
              <a:t>cjelokupno</a:t>
            </a:r>
            <a:r>
              <a:rPr lang="en-US" sz="3100" dirty="0"/>
              <a:t> </a:t>
            </a:r>
            <a:r>
              <a:rPr lang="en-US" sz="3100" dirty="0" err="1"/>
              <a:t>usmjerenje</a:t>
            </a:r>
            <a:r>
              <a:rPr lang="en-US" sz="3100" dirty="0"/>
              <a:t> </a:t>
            </a:r>
            <a:r>
              <a:rPr lang="en-US" sz="3100" dirty="0" err="1"/>
              <a:t>projekta</a:t>
            </a:r>
            <a:r>
              <a:rPr lang="en-US" sz="3100" dirty="0"/>
              <a:t>.</a:t>
            </a:r>
          </a:p>
          <a:p>
            <a:pPr marL="0" indent="0">
              <a:buNone/>
            </a:pPr>
            <a:endParaRPr lang="en-US" sz="3100" b="1" dirty="0"/>
          </a:p>
          <a:p>
            <a:pPr marL="0" indent="0">
              <a:buNone/>
            </a:pPr>
            <a:r>
              <a:rPr lang="en-US" sz="3100" b="1" dirty="0" err="1"/>
              <a:t>Odgovornosti</a:t>
            </a:r>
            <a:r>
              <a:rPr lang="en-US" sz="3100" b="1" dirty="0"/>
              <a:t>:</a:t>
            </a:r>
          </a:p>
          <a:p>
            <a:pPr marL="0" indent="0">
              <a:buNone/>
            </a:pPr>
            <a:r>
              <a:rPr lang="hr-HR" sz="3100" dirty="0"/>
              <a:t>- </a:t>
            </a:r>
            <a:r>
              <a:rPr lang="en-US" sz="3100" dirty="0" err="1"/>
              <a:t>Odobrava</a:t>
            </a:r>
            <a:r>
              <a:rPr lang="en-US" sz="3100" dirty="0"/>
              <a:t> </a:t>
            </a:r>
            <a:r>
              <a:rPr lang="en-US" sz="3100" dirty="0" err="1"/>
              <a:t>projektni</a:t>
            </a:r>
            <a:r>
              <a:rPr lang="en-US" sz="3100" dirty="0"/>
              <a:t> plan i </a:t>
            </a:r>
            <a:r>
              <a:rPr lang="en-US" sz="3100" dirty="0" err="1"/>
              <a:t>financiranje</a:t>
            </a:r>
            <a:r>
              <a:rPr lang="en-US" sz="3100" dirty="0"/>
              <a:t>.</a:t>
            </a:r>
          </a:p>
          <a:p>
            <a:pPr marL="0" indent="0">
              <a:buNone/>
            </a:pPr>
            <a:r>
              <a:rPr lang="hr-HR" sz="3100" dirty="0"/>
              <a:t>- </a:t>
            </a:r>
            <a:r>
              <a:rPr lang="en-US" sz="3100" dirty="0" err="1"/>
              <a:t>Usklađuje</a:t>
            </a:r>
            <a:r>
              <a:rPr lang="en-US" sz="3100" dirty="0"/>
              <a:t> </a:t>
            </a:r>
            <a:r>
              <a:rPr lang="en-US" sz="3100" dirty="0" err="1"/>
              <a:t>projekt</a:t>
            </a:r>
            <a:r>
              <a:rPr lang="en-US" sz="3100" dirty="0"/>
              <a:t> s </a:t>
            </a:r>
            <a:r>
              <a:rPr lang="en-US" sz="3100" dirty="0" err="1"/>
              <a:t>poslovnim</a:t>
            </a:r>
            <a:r>
              <a:rPr lang="en-US" sz="3100" dirty="0"/>
              <a:t> </a:t>
            </a:r>
            <a:r>
              <a:rPr lang="en-US" sz="3100" dirty="0" err="1"/>
              <a:t>ciljevima</a:t>
            </a:r>
            <a:r>
              <a:rPr lang="en-US" sz="3100" dirty="0"/>
              <a:t>.</a:t>
            </a:r>
          </a:p>
          <a:p>
            <a:pPr marL="0" indent="0">
              <a:buNone/>
            </a:pPr>
            <a:r>
              <a:rPr lang="hr-HR" sz="3100" dirty="0"/>
              <a:t>- </a:t>
            </a:r>
            <a:r>
              <a:rPr lang="en-US" sz="3100" dirty="0" err="1"/>
              <a:t>Uklanja</a:t>
            </a:r>
            <a:r>
              <a:rPr lang="en-US" sz="3100" dirty="0"/>
              <a:t> </a:t>
            </a:r>
            <a:r>
              <a:rPr lang="en-US" sz="3100" dirty="0" err="1"/>
              <a:t>prepreke</a:t>
            </a:r>
            <a:r>
              <a:rPr lang="en-US" sz="3100" dirty="0"/>
              <a:t> </a:t>
            </a:r>
            <a:r>
              <a:rPr lang="en-US" sz="3100" dirty="0" err="1"/>
              <a:t>na</a:t>
            </a:r>
            <a:r>
              <a:rPr lang="en-US" sz="3100" dirty="0"/>
              <a:t> </a:t>
            </a:r>
            <a:r>
              <a:rPr lang="en-US" sz="3100" dirty="0" err="1"/>
              <a:t>visokoj</a:t>
            </a:r>
            <a:r>
              <a:rPr lang="en-US" sz="3100" dirty="0"/>
              <a:t> </a:t>
            </a:r>
            <a:r>
              <a:rPr lang="en-US" sz="3100" dirty="0" err="1"/>
              <a:t>razini</a:t>
            </a:r>
            <a:r>
              <a:rPr lang="en-US" sz="3100" dirty="0"/>
              <a:t>.</a:t>
            </a:r>
          </a:p>
          <a:p>
            <a:pPr marL="0" indent="0">
              <a:buNone/>
            </a:pPr>
            <a:r>
              <a:rPr lang="hr-HR" sz="3100" dirty="0"/>
              <a:t>- </a:t>
            </a:r>
            <a:r>
              <a:rPr lang="en-US" sz="3100" dirty="0" err="1"/>
              <a:t>Pregledava</a:t>
            </a:r>
            <a:r>
              <a:rPr lang="en-US" sz="3100" dirty="0"/>
              <a:t> </a:t>
            </a:r>
            <a:r>
              <a:rPr lang="en-US" sz="3100" dirty="0" err="1"/>
              <a:t>napredak</a:t>
            </a:r>
            <a:r>
              <a:rPr lang="en-US" sz="3100" dirty="0"/>
              <a:t> </a:t>
            </a:r>
            <a:r>
              <a:rPr lang="en-US" sz="3100" dirty="0" err="1"/>
              <a:t>projekta</a:t>
            </a:r>
            <a:r>
              <a:rPr lang="en-US" sz="3100" dirty="0"/>
              <a:t> i </a:t>
            </a:r>
            <a:r>
              <a:rPr lang="en-US" sz="3100" dirty="0" err="1"/>
              <a:t>ključne</a:t>
            </a:r>
            <a:r>
              <a:rPr lang="en-US" sz="3100" dirty="0"/>
              <a:t> </a:t>
            </a:r>
            <a:r>
              <a:rPr lang="en-US" sz="3100" dirty="0" err="1"/>
              <a:t>etape</a:t>
            </a:r>
            <a:r>
              <a:rPr lang="en-US" sz="31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EA0213-2BD2-931E-0076-B813F27619DF}"/>
              </a:ext>
            </a:extLst>
          </p:cNvPr>
          <p:cNvSpPr txBox="1">
            <a:spLocks/>
          </p:cNvSpPr>
          <p:nvPr/>
        </p:nvSpPr>
        <p:spPr>
          <a:xfrm>
            <a:off x="6096000" y="1721541"/>
            <a:ext cx="5362073" cy="477133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ADBBC"/>
                </a:solidFill>
              </a:rPr>
              <a:t>2. VODITELJ PROJEKTA</a:t>
            </a:r>
          </a:p>
          <a:p>
            <a:pPr>
              <a:buNone/>
            </a:pPr>
            <a:endParaRPr lang="en-US" b="1" dirty="0"/>
          </a:p>
          <a:p>
            <a:pPr marL="0" indent="0">
              <a:buNone/>
            </a:pPr>
            <a:r>
              <a:rPr lang="hr-HR" b="1" dirty="0"/>
              <a:t>Uloga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Nadzire</a:t>
            </a:r>
            <a:r>
              <a:rPr lang="en-US" dirty="0"/>
              <a:t> </a:t>
            </a:r>
            <a:r>
              <a:rPr lang="en-US" dirty="0" err="1"/>
              <a:t>planiranje</a:t>
            </a:r>
            <a:r>
              <a:rPr lang="en-US" dirty="0"/>
              <a:t>, </a:t>
            </a:r>
            <a:r>
              <a:rPr lang="en-US" dirty="0" err="1"/>
              <a:t>provedbu</a:t>
            </a:r>
            <a:r>
              <a:rPr lang="en-US" dirty="0"/>
              <a:t> i </a:t>
            </a:r>
            <a:r>
              <a:rPr lang="en-US" dirty="0" err="1"/>
              <a:t>isporuku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hr-HR" b="1" dirty="0"/>
              <a:t>Odgovornosti</a:t>
            </a:r>
            <a:r>
              <a:rPr lang="en-US" b="1" dirty="0"/>
              <a:t>:</a:t>
            </a:r>
            <a:br>
              <a:rPr lang="en-US" dirty="0"/>
            </a:br>
            <a:r>
              <a:rPr lang="hr-HR" dirty="0"/>
              <a:t>- </a:t>
            </a:r>
            <a:r>
              <a:rPr lang="en-US" dirty="0" err="1"/>
              <a:t>Definira</a:t>
            </a:r>
            <a:r>
              <a:rPr lang="en-US" dirty="0"/>
              <a:t> </a:t>
            </a:r>
            <a:r>
              <a:rPr lang="en-US" dirty="0" err="1"/>
              <a:t>opseg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, </a:t>
            </a:r>
            <a:r>
              <a:rPr lang="en-US" dirty="0" err="1"/>
              <a:t>raspored</a:t>
            </a:r>
            <a:r>
              <a:rPr lang="en-US" dirty="0"/>
              <a:t> i </a:t>
            </a:r>
            <a:r>
              <a:rPr lang="en-US" dirty="0" err="1"/>
              <a:t>proračun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Upravlja</a:t>
            </a:r>
            <a:r>
              <a:rPr lang="en-US" dirty="0"/>
              <a:t> </a:t>
            </a:r>
            <a:r>
              <a:rPr lang="en-US" dirty="0" err="1"/>
              <a:t>rizicima</a:t>
            </a:r>
            <a:r>
              <a:rPr lang="en-US" dirty="0"/>
              <a:t>, </a:t>
            </a:r>
            <a:r>
              <a:rPr lang="en-US" dirty="0" err="1"/>
              <a:t>promjenama</a:t>
            </a:r>
            <a:r>
              <a:rPr lang="en-US" dirty="0"/>
              <a:t> i </a:t>
            </a:r>
            <a:r>
              <a:rPr lang="en-US" dirty="0" err="1"/>
              <a:t>komunikacijom</a:t>
            </a:r>
            <a:r>
              <a:rPr lang="en-US" dirty="0"/>
              <a:t> s </a:t>
            </a:r>
            <a:r>
              <a:rPr lang="en-US" dirty="0" err="1"/>
              <a:t>dionicima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Osigurava</a:t>
            </a:r>
            <a:r>
              <a:rPr lang="en-US" dirty="0"/>
              <a:t> </a:t>
            </a:r>
            <a:r>
              <a:rPr lang="en-US" dirty="0" err="1"/>
              <a:t>postizanje</a:t>
            </a:r>
            <a:r>
              <a:rPr lang="en-US" dirty="0"/>
              <a:t> </a:t>
            </a:r>
            <a:r>
              <a:rPr lang="en-US" dirty="0" err="1"/>
              <a:t>ciljeva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Vodi</a:t>
            </a:r>
            <a:r>
              <a:rPr lang="en-US" dirty="0"/>
              <a:t> </a:t>
            </a:r>
            <a:r>
              <a:rPr lang="en-US" dirty="0" err="1"/>
              <a:t>projektni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i </a:t>
            </a:r>
            <a:r>
              <a:rPr lang="en-US" dirty="0" err="1"/>
              <a:t>rješava</a:t>
            </a:r>
            <a:r>
              <a:rPr lang="en-US" dirty="0"/>
              <a:t> </a:t>
            </a:r>
            <a:r>
              <a:rPr lang="en-US" dirty="0" err="1"/>
              <a:t>konflikte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589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BF1A1-85AD-5077-A1E3-9420208F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864E-3496-B0ED-1C45-BE04CCD14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2073" cy="450590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3. ČLANOVI PROJEKTNOG TIMA</a:t>
            </a:r>
          </a:p>
          <a:p>
            <a:pPr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Uloga</a:t>
            </a:r>
            <a:r>
              <a:rPr lang="en-US" b="1" dirty="0"/>
              <a:t>: </a:t>
            </a:r>
            <a:r>
              <a:rPr lang="en-US" dirty="0" err="1"/>
              <a:t>Izvršavaju</a:t>
            </a:r>
            <a:r>
              <a:rPr lang="en-US" dirty="0"/>
              <a:t> </a:t>
            </a:r>
            <a:r>
              <a:rPr lang="en-US" dirty="0" err="1"/>
              <a:t>zadatke</a:t>
            </a:r>
            <a:r>
              <a:rPr lang="en-US" dirty="0"/>
              <a:t> i </a:t>
            </a:r>
            <a:r>
              <a:rPr lang="en-US" dirty="0" err="1"/>
              <a:t>doprinose</a:t>
            </a:r>
            <a:r>
              <a:rPr lang="en-US" dirty="0"/>
              <a:t> </a:t>
            </a:r>
            <a:r>
              <a:rPr lang="en-US" dirty="0" err="1"/>
              <a:t>uspjehu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Odgovornosti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Izvršavaju</a:t>
            </a:r>
            <a:r>
              <a:rPr lang="en-US" dirty="0"/>
              <a:t> </a:t>
            </a:r>
            <a:r>
              <a:rPr lang="en-US" dirty="0" err="1"/>
              <a:t>dodijeljene</a:t>
            </a:r>
            <a:r>
              <a:rPr lang="en-US" dirty="0"/>
              <a:t> </a:t>
            </a:r>
            <a:r>
              <a:rPr lang="en-US" dirty="0" err="1"/>
              <a:t>projektne</a:t>
            </a:r>
            <a:r>
              <a:rPr lang="en-US" dirty="0"/>
              <a:t> </a:t>
            </a:r>
            <a:r>
              <a:rPr lang="en-US" dirty="0" err="1"/>
              <a:t>zadatke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vrijeme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Surađuju</a:t>
            </a:r>
            <a:r>
              <a:rPr lang="en-US" dirty="0"/>
              <a:t> s </a:t>
            </a:r>
            <a:r>
              <a:rPr lang="en-US" dirty="0" err="1"/>
              <a:t>ostalim</a:t>
            </a:r>
            <a:r>
              <a:rPr lang="en-US" dirty="0"/>
              <a:t> </a:t>
            </a:r>
            <a:r>
              <a:rPr lang="en-US" dirty="0" err="1"/>
              <a:t>članovima</a:t>
            </a:r>
            <a:r>
              <a:rPr lang="en-US" dirty="0"/>
              <a:t> </a:t>
            </a:r>
            <a:r>
              <a:rPr lang="en-US" dirty="0" err="1"/>
              <a:t>tima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/>
              <a:t>Izvještavaju </a:t>
            </a:r>
            <a:r>
              <a:rPr lang="en-US" dirty="0" err="1"/>
              <a:t>voditelja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o </a:t>
            </a:r>
            <a:r>
              <a:rPr lang="en-US" dirty="0" err="1"/>
              <a:t>napretku</a:t>
            </a:r>
            <a:r>
              <a:rPr lang="en-US" dirty="0"/>
              <a:t> i </a:t>
            </a:r>
            <a:r>
              <a:rPr lang="en-US" dirty="0" err="1"/>
              <a:t>izazovima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Pridržavaju</a:t>
            </a:r>
            <a:r>
              <a:rPr lang="en-US" dirty="0"/>
              <a:t> se </a:t>
            </a:r>
            <a:r>
              <a:rPr lang="en-US" dirty="0" err="1"/>
              <a:t>projektnih</a:t>
            </a:r>
            <a:r>
              <a:rPr lang="en-US" dirty="0"/>
              <a:t> </a:t>
            </a:r>
            <a:r>
              <a:rPr lang="en-US" dirty="0" err="1"/>
              <a:t>smjernica</a:t>
            </a:r>
            <a:r>
              <a:rPr lang="en-US" dirty="0"/>
              <a:t> i </a:t>
            </a:r>
            <a:r>
              <a:rPr lang="en-US" dirty="0" err="1"/>
              <a:t>standarda</a:t>
            </a:r>
            <a:r>
              <a:rPr lang="en-US" dirty="0"/>
              <a:t> </a:t>
            </a:r>
            <a:r>
              <a:rPr lang="en-US" dirty="0" err="1"/>
              <a:t>kvalitete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549AD5-1DE6-63B7-5005-9E583148B9D5}"/>
              </a:ext>
            </a:extLst>
          </p:cNvPr>
          <p:cNvSpPr txBox="1">
            <a:spLocks/>
          </p:cNvSpPr>
          <p:nvPr/>
        </p:nvSpPr>
        <p:spPr>
          <a:xfrm>
            <a:off x="6306687" y="1783113"/>
            <a:ext cx="5362073" cy="454841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600" b="1" dirty="0">
                <a:solidFill>
                  <a:srgbClr val="0ADBBC"/>
                </a:solidFill>
              </a:rPr>
              <a:t>4. </a:t>
            </a:r>
            <a:r>
              <a:rPr lang="en-US" b="1" dirty="0" err="1">
                <a:solidFill>
                  <a:srgbClr val="0ADBBC"/>
                </a:solidFill>
              </a:rPr>
              <a:t>Ključni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dionici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unutarnji</a:t>
            </a:r>
            <a:r>
              <a:rPr lang="en-US" dirty="0"/>
              <a:t> i </a:t>
            </a:r>
            <a:r>
              <a:rPr lang="en-US" dirty="0" err="1"/>
              <a:t>vanjski</a:t>
            </a:r>
            <a:r>
              <a:rPr lang="en-US" dirty="0"/>
              <a:t>)</a:t>
            </a:r>
            <a:endParaRPr lang="hr-HR" dirty="0"/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Uloga</a:t>
            </a:r>
            <a:r>
              <a:rPr lang="en-US" b="1" dirty="0"/>
              <a:t>: </a:t>
            </a:r>
            <a:r>
              <a:rPr lang="en-US" dirty="0" err="1"/>
              <a:t>Utječu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ishod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i pod </a:t>
            </a:r>
            <a:r>
              <a:rPr lang="en-US" dirty="0" err="1"/>
              <a:t>njegovim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utjecajem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Odgovornosti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Definiraju</a:t>
            </a:r>
            <a:r>
              <a:rPr lang="en-US" dirty="0"/>
              <a:t> </a:t>
            </a:r>
            <a:r>
              <a:rPr lang="en-US" dirty="0" err="1"/>
              <a:t>zahtjeve</a:t>
            </a:r>
            <a:r>
              <a:rPr lang="en-US" dirty="0"/>
              <a:t> i </a:t>
            </a:r>
            <a:r>
              <a:rPr lang="en-US" dirty="0" err="1"/>
              <a:t>očekivanja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/>
              <a:t>Daju </a:t>
            </a:r>
            <a:r>
              <a:rPr lang="en-US" dirty="0" err="1"/>
              <a:t>povratne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 o </a:t>
            </a:r>
            <a:r>
              <a:rPr lang="en-US" dirty="0" err="1"/>
              <a:t>isporukama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/>
              <a:t>Podržavaju </a:t>
            </a:r>
            <a:r>
              <a:rPr lang="en-US" dirty="0" err="1"/>
              <a:t>projektne</a:t>
            </a:r>
            <a:r>
              <a:rPr lang="en-US" dirty="0"/>
              <a:t> </a:t>
            </a:r>
            <a:r>
              <a:rPr lang="en-US" dirty="0" err="1"/>
              <a:t>odluke</a:t>
            </a:r>
            <a:r>
              <a:rPr lang="en-US" dirty="0"/>
              <a:t> i </a:t>
            </a:r>
            <a:r>
              <a:rPr lang="en-US" dirty="0" err="1"/>
              <a:t>promjene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Osiguravaju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poslovne</a:t>
            </a:r>
            <a:r>
              <a:rPr lang="en-US" dirty="0"/>
              <a:t> </a:t>
            </a:r>
            <a:r>
              <a:rPr lang="en-US" dirty="0" err="1"/>
              <a:t>potrebe</a:t>
            </a:r>
            <a:r>
              <a:rPr lang="en-US" dirty="0"/>
              <a:t> </a:t>
            </a:r>
            <a:r>
              <a:rPr lang="en-US" dirty="0" err="1"/>
              <a:t>zadovoljene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27EB18D-96F9-E64A-2B87-9E0752D81509}"/>
              </a:ext>
            </a:extLst>
          </p:cNvPr>
          <p:cNvSpPr txBox="1">
            <a:spLocks/>
          </p:cNvSpPr>
          <p:nvPr/>
        </p:nvSpPr>
        <p:spPr>
          <a:xfrm>
            <a:off x="942473" y="16539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ahnschrift SemiBold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Uloge i </a:t>
            </a:r>
            <a:r>
              <a:rPr lang="en-US" dirty="0" err="1"/>
              <a:t>odgovornosti</a:t>
            </a:r>
            <a:r>
              <a:rPr lang="en-US" dirty="0"/>
              <a:t>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dionika</a:t>
            </a:r>
            <a:r>
              <a:rPr lang="hr-HR" dirty="0"/>
              <a:t> </a:t>
            </a:r>
            <a:r>
              <a:rPr lang="en-US" dirty="0"/>
              <a:t>II.</a:t>
            </a:r>
          </a:p>
        </p:txBody>
      </p:sp>
    </p:spTree>
    <p:extLst>
      <p:ext uri="{BB962C8B-B14F-4D97-AF65-F5344CB8AC3E}">
        <p14:creationId xmlns:p14="http://schemas.microsoft.com/office/powerpoint/2010/main" val="4262914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2D6BE-F7A3-9A2B-2D65-3F15E4AC9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3BCF3-9ABE-23E7-5D7A-72656B009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3720" cy="435133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5</a:t>
            </a:r>
            <a:r>
              <a:rPr lang="en-US" sz="3100" b="1" dirty="0">
                <a:solidFill>
                  <a:srgbClr val="0ADBBC"/>
                </a:solidFill>
              </a:rPr>
              <a:t>. </a:t>
            </a:r>
            <a:r>
              <a:rPr lang="en-US" sz="3100" b="1" dirty="0" err="1">
                <a:solidFill>
                  <a:srgbClr val="0ADBBC"/>
                </a:solidFill>
              </a:rPr>
              <a:t>Klijenti</a:t>
            </a:r>
            <a:r>
              <a:rPr lang="en-US" sz="3100" b="1" dirty="0">
                <a:solidFill>
                  <a:srgbClr val="0ADBBC"/>
                </a:solidFill>
              </a:rPr>
              <a:t> / </a:t>
            </a:r>
            <a:r>
              <a:rPr lang="en-US" sz="3100" b="1" dirty="0" err="1">
                <a:solidFill>
                  <a:srgbClr val="0ADBBC"/>
                </a:solidFill>
              </a:rPr>
              <a:t>krajnji</a:t>
            </a:r>
            <a:r>
              <a:rPr lang="en-US" sz="3100" b="1" dirty="0">
                <a:solidFill>
                  <a:srgbClr val="0ADBBC"/>
                </a:solidFill>
              </a:rPr>
              <a:t> </a:t>
            </a:r>
            <a:r>
              <a:rPr lang="en-US" sz="3100" b="1" dirty="0" err="1">
                <a:solidFill>
                  <a:srgbClr val="0ADBBC"/>
                </a:solidFill>
              </a:rPr>
              <a:t>korisnici</a:t>
            </a:r>
            <a:endParaRPr lang="en-US" sz="3100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endParaRPr lang="en-US" sz="3100" b="1" dirty="0"/>
          </a:p>
          <a:p>
            <a:pPr marL="0" indent="0">
              <a:buNone/>
            </a:pPr>
            <a:r>
              <a:rPr lang="en-US" sz="3100" b="1" dirty="0" err="1"/>
              <a:t>Uloga</a:t>
            </a:r>
            <a:r>
              <a:rPr lang="en-US" sz="3100" b="1" dirty="0"/>
              <a:t>: </a:t>
            </a:r>
            <a:r>
              <a:rPr lang="en-US" sz="3100" dirty="0" err="1"/>
              <a:t>Koriste</a:t>
            </a:r>
            <a:r>
              <a:rPr lang="en-US" sz="3100" dirty="0"/>
              <a:t> </a:t>
            </a:r>
            <a:r>
              <a:rPr lang="en-US" sz="3100" dirty="0" err="1"/>
              <a:t>konačni</a:t>
            </a:r>
            <a:r>
              <a:rPr lang="en-US" sz="3100" dirty="0"/>
              <a:t> </a:t>
            </a:r>
            <a:r>
              <a:rPr lang="en-US" sz="3100" dirty="0" err="1"/>
              <a:t>proizvod</a:t>
            </a:r>
            <a:r>
              <a:rPr lang="en-US" sz="3100" dirty="0"/>
              <a:t> </a:t>
            </a:r>
            <a:r>
              <a:rPr lang="en-US" sz="3100" dirty="0" err="1"/>
              <a:t>ili</a:t>
            </a:r>
            <a:r>
              <a:rPr lang="en-US" sz="3100" dirty="0"/>
              <a:t> </a:t>
            </a:r>
            <a:r>
              <a:rPr lang="en-US" sz="3100" dirty="0" err="1"/>
              <a:t>uslugu</a:t>
            </a:r>
            <a:r>
              <a:rPr lang="en-US" sz="3100" dirty="0"/>
              <a:t>.</a:t>
            </a:r>
          </a:p>
          <a:p>
            <a:pPr marL="0" indent="0">
              <a:buNone/>
            </a:pPr>
            <a:endParaRPr lang="en-US" sz="3100" b="1" dirty="0"/>
          </a:p>
          <a:p>
            <a:pPr marL="0" indent="0">
              <a:buNone/>
            </a:pPr>
            <a:r>
              <a:rPr lang="en-US" sz="3100" b="1" dirty="0" err="1"/>
              <a:t>Odgovornosti</a:t>
            </a:r>
            <a:r>
              <a:rPr lang="en-US" sz="3100" b="1" dirty="0"/>
              <a:t>:</a:t>
            </a:r>
          </a:p>
          <a:p>
            <a:pPr marL="0" indent="0">
              <a:buNone/>
            </a:pPr>
            <a:r>
              <a:rPr lang="hr-HR" sz="3100" dirty="0"/>
              <a:t>- </a:t>
            </a:r>
            <a:r>
              <a:rPr lang="en-US" sz="3100" dirty="0"/>
              <a:t>Daju </a:t>
            </a:r>
            <a:r>
              <a:rPr lang="en-US" sz="3100" dirty="0" err="1"/>
              <a:t>povratne</a:t>
            </a:r>
            <a:r>
              <a:rPr lang="en-US" sz="3100" dirty="0"/>
              <a:t> </a:t>
            </a:r>
            <a:r>
              <a:rPr lang="en-US" sz="3100" dirty="0" err="1"/>
              <a:t>informacije</a:t>
            </a:r>
            <a:r>
              <a:rPr lang="en-US" sz="3100" dirty="0"/>
              <a:t> o </a:t>
            </a:r>
            <a:r>
              <a:rPr lang="en-US" sz="3100" dirty="0" err="1"/>
              <a:t>upotrebljivosti</a:t>
            </a:r>
            <a:r>
              <a:rPr lang="en-US" sz="3100" dirty="0"/>
              <a:t> i </a:t>
            </a:r>
            <a:r>
              <a:rPr lang="en-US" sz="3100" dirty="0" err="1"/>
              <a:t>funkcionalnosti</a:t>
            </a:r>
            <a:r>
              <a:rPr lang="en-US" sz="3100" dirty="0"/>
              <a:t>.</a:t>
            </a:r>
          </a:p>
          <a:p>
            <a:pPr marL="0" indent="0">
              <a:buNone/>
            </a:pPr>
            <a:r>
              <a:rPr lang="hr-HR" sz="3100" dirty="0"/>
              <a:t>- </a:t>
            </a:r>
            <a:r>
              <a:rPr lang="en-US" sz="3100" dirty="0" err="1"/>
              <a:t>Sudjeluju</a:t>
            </a:r>
            <a:r>
              <a:rPr lang="en-US" sz="3100" dirty="0"/>
              <a:t> u </a:t>
            </a:r>
            <a:r>
              <a:rPr lang="en-US" sz="3100" dirty="0" err="1"/>
              <a:t>testiranju</a:t>
            </a:r>
            <a:r>
              <a:rPr lang="en-US" sz="3100" dirty="0"/>
              <a:t> i </a:t>
            </a:r>
            <a:r>
              <a:rPr lang="en-US" sz="3100" dirty="0" err="1"/>
              <a:t>davanju</a:t>
            </a:r>
            <a:r>
              <a:rPr lang="en-US" sz="3100" dirty="0"/>
              <a:t> </a:t>
            </a:r>
            <a:r>
              <a:rPr lang="en-US" sz="3100" dirty="0" err="1"/>
              <a:t>povratnih</a:t>
            </a:r>
            <a:r>
              <a:rPr lang="en-US" sz="3100" dirty="0"/>
              <a:t> </a:t>
            </a:r>
            <a:r>
              <a:rPr lang="en-US" sz="3100" dirty="0" err="1"/>
              <a:t>informacija</a:t>
            </a:r>
            <a:r>
              <a:rPr lang="en-US" sz="3100" dirty="0"/>
              <a:t>.</a:t>
            </a:r>
          </a:p>
          <a:p>
            <a:pPr marL="0" indent="0">
              <a:buNone/>
            </a:pPr>
            <a:r>
              <a:rPr lang="hr-HR" sz="3100" dirty="0"/>
              <a:t>- </a:t>
            </a:r>
            <a:r>
              <a:rPr lang="en-US" sz="3100" dirty="0" err="1"/>
              <a:t>Osiguravaju</a:t>
            </a:r>
            <a:r>
              <a:rPr lang="en-US" sz="3100" dirty="0"/>
              <a:t> da </a:t>
            </a:r>
            <a:r>
              <a:rPr lang="en-US" sz="3100" dirty="0" err="1"/>
              <a:t>rješenje</a:t>
            </a:r>
            <a:r>
              <a:rPr lang="en-US" sz="3100" dirty="0"/>
              <a:t> </a:t>
            </a:r>
            <a:r>
              <a:rPr lang="en-US" sz="3100" dirty="0" err="1"/>
              <a:t>zadovoljava</a:t>
            </a:r>
            <a:r>
              <a:rPr lang="en-US" sz="3100" dirty="0"/>
              <a:t> </a:t>
            </a:r>
            <a:r>
              <a:rPr lang="en-US" sz="3100" dirty="0" err="1"/>
              <a:t>njihove</a:t>
            </a:r>
            <a:r>
              <a:rPr lang="en-US" sz="3100" dirty="0"/>
              <a:t> </a:t>
            </a:r>
            <a:r>
              <a:rPr lang="en-US" sz="3100" dirty="0" err="1"/>
              <a:t>potrebe</a:t>
            </a:r>
            <a:r>
              <a:rPr lang="en-US" sz="31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CD358E-0362-260D-67B3-8B83B64D1195}"/>
              </a:ext>
            </a:extLst>
          </p:cNvPr>
          <p:cNvSpPr txBox="1">
            <a:spLocks/>
          </p:cNvSpPr>
          <p:nvPr/>
        </p:nvSpPr>
        <p:spPr>
          <a:xfrm>
            <a:off x="6713087" y="1825625"/>
            <a:ext cx="53620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6. </a:t>
            </a:r>
            <a:r>
              <a:rPr lang="en-US" b="1" dirty="0" err="1">
                <a:solidFill>
                  <a:srgbClr val="0ADBBC"/>
                </a:solidFill>
              </a:rPr>
              <a:t>Funkcionalni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menadžeri</a:t>
            </a:r>
            <a:endParaRPr lang="en-US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endParaRPr lang="en-US" sz="3100" b="1" dirty="0"/>
          </a:p>
          <a:p>
            <a:pPr marL="0" indent="0">
              <a:buNone/>
            </a:pPr>
            <a:r>
              <a:rPr lang="en-US" b="1" dirty="0" err="1"/>
              <a:t>Uloga</a:t>
            </a:r>
            <a:r>
              <a:rPr lang="en-US" b="1" dirty="0"/>
              <a:t>: </a:t>
            </a:r>
            <a:r>
              <a:rPr lang="en-US" dirty="0" err="1"/>
              <a:t>Nadziru</a:t>
            </a:r>
            <a:r>
              <a:rPr lang="en-US" dirty="0"/>
              <a:t> </a:t>
            </a:r>
            <a:r>
              <a:rPr lang="en-US" dirty="0" err="1"/>
              <a:t>odjele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utječe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Odgovornosti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Dodjeljuju</a:t>
            </a:r>
            <a:r>
              <a:rPr lang="en-US" dirty="0"/>
              <a:t> </a:t>
            </a:r>
            <a:r>
              <a:rPr lang="en-US" dirty="0" err="1"/>
              <a:t>resurse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svojih</a:t>
            </a:r>
            <a:r>
              <a:rPr lang="en-US" dirty="0"/>
              <a:t> </a:t>
            </a:r>
            <a:r>
              <a:rPr lang="en-US" dirty="0" err="1"/>
              <a:t>timova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/>
              <a:t>Osiguravaju </a:t>
            </a:r>
            <a:r>
              <a:rPr lang="en-US" dirty="0" err="1"/>
              <a:t>usklađenost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s </a:t>
            </a:r>
            <a:r>
              <a:rPr lang="en-US" dirty="0" err="1"/>
              <a:t>ciljevima</a:t>
            </a:r>
            <a:r>
              <a:rPr lang="en-US" dirty="0"/>
              <a:t> </a:t>
            </a:r>
            <a:r>
              <a:rPr lang="en-US" dirty="0" err="1"/>
              <a:t>odjela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hr-HR" dirty="0"/>
              <a:t>- </a:t>
            </a:r>
            <a:r>
              <a:rPr lang="en-US" dirty="0" err="1"/>
              <a:t>Podržavaju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rizicima</a:t>
            </a:r>
            <a:r>
              <a:rPr lang="en-US" dirty="0"/>
              <a:t> i </a:t>
            </a:r>
            <a:r>
              <a:rPr lang="en-US" dirty="0" err="1"/>
              <a:t>donošenje</a:t>
            </a:r>
            <a:r>
              <a:rPr lang="en-US" dirty="0"/>
              <a:t> </a:t>
            </a:r>
            <a:r>
              <a:rPr lang="en-US" dirty="0" err="1"/>
              <a:t>odluka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808E75-78E2-5655-B9D0-7B58C88208A6}"/>
              </a:ext>
            </a:extLst>
          </p:cNvPr>
          <p:cNvSpPr txBox="1">
            <a:spLocks/>
          </p:cNvSpPr>
          <p:nvPr/>
        </p:nvSpPr>
        <p:spPr>
          <a:xfrm>
            <a:off x="1102360" y="2717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ahnschrift SemiBold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Uloge i </a:t>
            </a:r>
            <a:r>
              <a:rPr lang="en-US" dirty="0" err="1"/>
              <a:t>odgovornosti</a:t>
            </a:r>
            <a:r>
              <a:rPr lang="en-US" dirty="0"/>
              <a:t>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dionika</a:t>
            </a:r>
            <a:r>
              <a:rPr lang="en-US" dirty="0"/>
              <a:t> III.</a:t>
            </a:r>
          </a:p>
        </p:txBody>
      </p:sp>
    </p:spTree>
    <p:extLst>
      <p:ext uri="{BB962C8B-B14F-4D97-AF65-F5344CB8AC3E}">
        <p14:creationId xmlns:p14="http://schemas.microsoft.com/office/powerpoint/2010/main" val="2839025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1061-E925-CE4A-1E2B-1CD87C16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4B421-C14E-7299-26AB-100ACDF86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767" y="1799296"/>
            <a:ext cx="6019800" cy="435133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400" b="1" dirty="0">
                <a:solidFill>
                  <a:srgbClr val="0ADBBC"/>
                </a:solidFill>
              </a:rPr>
              <a:t>7. </a:t>
            </a:r>
            <a:r>
              <a:rPr lang="en-US" b="1" dirty="0" err="1">
                <a:solidFill>
                  <a:srgbClr val="0ADBBC"/>
                </a:solidFill>
              </a:rPr>
              <a:t>Dobavljači</a:t>
            </a:r>
            <a:r>
              <a:rPr lang="en-US" b="1" dirty="0">
                <a:solidFill>
                  <a:srgbClr val="0ADBBC"/>
                </a:solidFill>
              </a:rPr>
              <a:t> / </a:t>
            </a:r>
            <a:r>
              <a:rPr lang="en-US" b="1" dirty="0" err="1">
                <a:solidFill>
                  <a:srgbClr val="0ADBBC"/>
                </a:solidFill>
              </a:rPr>
              <a:t>isporučitelji</a:t>
            </a:r>
            <a:endParaRPr lang="en-US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600" b="1" dirty="0" err="1"/>
              <a:t>Uloga</a:t>
            </a:r>
            <a:r>
              <a:rPr lang="en-US" sz="2600" b="1" dirty="0"/>
              <a:t>: </a:t>
            </a:r>
            <a:r>
              <a:rPr lang="en-US" sz="2600" dirty="0" err="1"/>
              <a:t>Osiguravaju</a:t>
            </a:r>
            <a:r>
              <a:rPr lang="en-US" sz="2600" dirty="0"/>
              <a:t> </a:t>
            </a:r>
            <a:r>
              <a:rPr lang="en-US" sz="2600" dirty="0" err="1"/>
              <a:t>proizvode</a:t>
            </a:r>
            <a:r>
              <a:rPr lang="en-US" sz="2600" dirty="0"/>
              <a:t> </a:t>
            </a:r>
            <a:r>
              <a:rPr lang="en-US" sz="2600" dirty="0" err="1"/>
              <a:t>ili</a:t>
            </a:r>
            <a:r>
              <a:rPr lang="en-US" sz="2600" dirty="0"/>
              <a:t> </a:t>
            </a:r>
            <a:r>
              <a:rPr lang="en-US" sz="2600" dirty="0" err="1"/>
              <a:t>usluge</a:t>
            </a:r>
            <a:r>
              <a:rPr lang="en-US" sz="2600" dirty="0"/>
              <a:t> </a:t>
            </a:r>
            <a:r>
              <a:rPr lang="en-US" sz="2600" dirty="0" err="1"/>
              <a:t>potrebne</a:t>
            </a:r>
            <a:r>
              <a:rPr lang="en-US" sz="2600" dirty="0"/>
              <a:t> za </a:t>
            </a:r>
            <a:r>
              <a:rPr lang="en-US" sz="2600" dirty="0" err="1"/>
              <a:t>projekt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sz="2600" b="1" dirty="0"/>
          </a:p>
          <a:p>
            <a:pPr marL="0" indent="0">
              <a:buNone/>
            </a:pPr>
            <a:r>
              <a:rPr lang="en-US" sz="2600" b="1" dirty="0" err="1"/>
              <a:t>Odgovornosti</a:t>
            </a:r>
            <a:r>
              <a:rPr lang="en-US" sz="2600" b="1" dirty="0"/>
              <a:t>:</a:t>
            </a:r>
          </a:p>
          <a:p>
            <a:pPr marL="0" indent="0">
              <a:buNone/>
            </a:pPr>
            <a:r>
              <a:rPr lang="hr-HR" sz="2600" dirty="0"/>
              <a:t>- </a:t>
            </a:r>
            <a:r>
              <a:rPr lang="en-US" sz="2600" dirty="0" err="1"/>
              <a:t>Isporučuju</a:t>
            </a:r>
            <a:r>
              <a:rPr lang="en-US" sz="2600" dirty="0"/>
              <a:t> </a:t>
            </a:r>
            <a:r>
              <a:rPr lang="en-US" sz="2600" dirty="0" err="1"/>
              <a:t>materijale</a:t>
            </a:r>
            <a:r>
              <a:rPr lang="en-US" sz="2600" dirty="0"/>
              <a:t> </a:t>
            </a:r>
            <a:r>
              <a:rPr lang="en-US" sz="2600" dirty="0" err="1"/>
              <a:t>ili</a:t>
            </a:r>
            <a:r>
              <a:rPr lang="en-US" sz="2600" dirty="0"/>
              <a:t> </a:t>
            </a:r>
            <a:r>
              <a:rPr lang="en-US" sz="2600" dirty="0" err="1"/>
              <a:t>usluge</a:t>
            </a:r>
            <a:r>
              <a:rPr lang="en-US" sz="2600" dirty="0"/>
              <a:t> </a:t>
            </a:r>
            <a:r>
              <a:rPr lang="en-US" sz="2600" dirty="0" err="1"/>
              <a:t>na</a:t>
            </a:r>
            <a:r>
              <a:rPr lang="en-US" sz="2600" dirty="0"/>
              <a:t> </a:t>
            </a:r>
            <a:r>
              <a:rPr lang="en-US" sz="2600" dirty="0" err="1"/>
              <a:t>vrijeme</a:t>
            </a:r>
            <a:r>
              <a:rPr lang="en-US" sz="2600" dirty="0"/>
              <a:t> i </a:t>
            </a:r>
            <a:r>
              <a:rPr lang="en-US" sz="2600" dirty="0" err="1"/>
              <a:t>unutar</a:t>
            </a:r>
            <a:r>
              <a:rPr lang="en-US" sz="2600" dirty="0"/>
              <a:t> </a:t>
            </a:r>
            <a:r>
              <a:rPr lang="en-US" sz="2600" dirty="0" err="1"/>
              <a:t>proračuna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hr-HR" sz="2600" dirty="0"/>
              <a:t>- </a:t>
            </a:r>
            <a:r>
              <a:rPr lang="en-US" sz="2600" dirty="0"/>
              <a:t>Zadovoljavaju </a:t>
            </a:r>
            <a:r>
              <a:rPr lang="en-US" sz="2600" dirty="0" err="1"/>
              <a:t>projektne</a:t>
            </a:r>
            <a:r>
              <a:rPr lang="en-US" sz="2600" dirty="0"/>
              <a:t> </a:t>
            </a:r>
            <a:r>
              <a:rPr lang="en-US" sz="2600" dirty="0" err="1"/>
              <a:t>specifikacije</a:t>
            </a:r>
            <a:r>
              <a:rPr lang="en-US" sz="2600" dirty="0"/>
              <a:t> i </a:t>
            </a:r>
            <a:r>
              <a:rPr lang="en-US" sz="2600" dirty="0" err="1"/>
              <a:t>standarde</a:t>
            </a:r>
            <a:r>
              <a:rPr lang="en-US" sz="2600" dirty="0"/>
              <a:t> </a:t>
            </a:r>
            <a:r>
              <a:rPr lang="en-US" sz="2600" dirty="0" err="1"/>
              <a:t>kvalitete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hr-HR" sz="2600" dirty="0"/>
              <a:t>- </a:t>
            </a:r>
            <a:r>
              <a:rPr lang="en-US" sz="2600" dirty="0" err="1"/>
              <a:t>Proaktivno</a:t>
            </a:r>
            <a:r>
              <a:rPr lang="en-US" sz="2600" dirty="0"/>
              <a:t> </a:t>
            </a:r>
            <a:r>
              <a:rPr lang="en-US" sz="2600" dirty="0" err="1"/>
              <a:t>rješavaju</a:t>
            </a:r>
            <a:r>
              <a:rPr lang="en-US" sz="2600" dirty="0"/>
              <a:t> </a:t>
            </a:r>
            <a:r>
              <a:rPr lang="en-US" sz="2600" dirty="0" err="1"/>
              <a:t>probleme</a:t>
            </a:r>
            <a:r>
              <a:rPr lang="en-US" sz="2600" dirty="0"/>
              <a:t> u </a:t>
            </a:r>
            <a:r>
              <a:rPr lang="en-US" sz="2600" dirty="0" err="1"/>
              <a:t>opskrbnom</a:t>
            </a:r>
            <a:r>
              <a:rPr lang="en-US" sz="2600" dirty="0"/>
              <a:t> </a:t>
            </a:r>
            <a:r>
              <a:rPr lang="en-US" sz="2600" dirty="0" err="1"/>
              <a:t>lancu</a:t>
            </a:r>
            <a:r>
              <a:rPr lang="en-US" sz="2600" dirty="0"/>
              <a:t>.</a:t>
            </a:r>
          </a:p>
          <a:p>
            <a:pPr marL="0" indent="0" rtl="1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7715B2-F477-51BF-C80A-5996AF923F93}"/>
              </a:ext>
            </a:extLst>
          </p:cNvPr>
          <p:cNvSpPr txBox="1">
            <a:spLocks/>
          </p:cNvSpPr>
          <p:nvPr/>
        </p:nvSpPr>
        <p:spPr>
          <a:xfrm>
            <a:off x="6489567" y="1804108"/>
            <a:ext cx="5702433" cy="4563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  <a:buNone/>
            </a:pPr>
            <a:r>
              <a:rPr lang="en-US" sz="2600" b="1" dirty="0">
                <a:solidFill>
                  <a:srgbClr val="0ADBBC"/>
                </a:solidFill>
              </a:rPr>
              <a:t>8. Regulatorna </a:t>
            </a:r>
            <a:r>
              <a:rPr lang="en-US" sz="2600" b="1" dirty="0" err="1">
                <a:solidFill>
                  <a:srgbClr val="0ADBBC"/>
                </a:solidFill>
              </a:rPr>
              <a:t>tijela</a:t>
            </a:r>
            <a:r>
              <a:rPr lang="en-US" sz="2600" b="1" dirty="0">
                <a:solidFill>
                  <a:srgbClr val="0ADBBC"/>
                </a:solidFill>
              </a:rPr>
              <a:t> i </a:t>
            </a:r>
            <a:r>
              <a:rPr lang="en-US" sz="2600" b="1" dirty="0" err="1">
                <a:solidFill>
                  <a:srgbClr val="0ADBBC"/>
                </a:solidFill>
              </a:rPr>
              <a:t>službenici</a:t>
            </a:r>
            <a:r>
              <a:rPr lang="en-US" sz="2600" b="1" dirty="0">
                <a:solidFill>
                  <a:srgbClr val="0ADBBC"/>
                </a:solidFill>
              </a:rPr>
              <a:t> za </a:t>
            </a:r>
            <a:r>
              <a:rPr lang="en-US" sz="2600" b="1" dirty="0" err="1">
                <a:solidFill>
                  <a:srgbClr val="0ADBBC"/>
                </a:solidFill>
              </a:rPr>
              <a:t>usklađenost</a:t>
            </a:r>
            <a:endParaRPr lang="en-US" sz="2600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endParaRPr lang="ro-RO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 err="1"/>
              <a:t>Uloga</a:t>
            </a:r>
            <a:r>
              <a:rPr lang="en-US" sz="2400" b="1" dirty="0"/>
              <a:t>: </a:t>
            </a:r>
            <a:r>
              <a:rPr lang="en-US" sz="2400" dirty="0" err="1"/>
              <a:t>Osiguravaju</a:t>
            </a:r>
            <a:r>
              <a:rPr lang="en-US" sz="2400" dirty="0"/>
              <a:t> da </a:t>
            </a:r>
            <a:r>
              <a:rPr lang="en-US" sz="2400" dirty="0" err="1"/>
              <a:t>projekt</a:t>
            </a:r>
            <a:r>
              <a:rPr lang="en-US" sz="2400" dirty="0"/>
              <a:t> </a:t>
            </a:r>
            <a:r>
              <a:rPr lang="en-US" sz="2400" dirty="0" err="1"/>
              <a:t>ispunjava</a:t>
            </a:r>
            <a:r>
              <a:rPr lang="en-US" sz="2400" dirty="0"/>
              <a:t> </a:t>
            </a:r>
            <a:r>
              <a:rPr lang="en-US" sz="2400" dirty="0" err="1"/>
              <a:t>zakonske</a:t>
            </a:r>
            <a:r>
              <a:rPr lang="en-US" sz="2400" dirty="0"/>
              <a:t> i </a:t>
            </a:r>
            <a:r>
              <a:rPr lang="en-US" sz="2400" dirty="0" err="1"/>
              <a:t>industrijske</a:t>
            </a:r>
            <a:r>
              <a:rPr lang="en-US" sz="2400" dirty="0"/>
              <a:t> </a:t>
            </a:r>
            <a:r>
              <a:rPr lang="en-US" sz="2400" dirty="0" err="1"/>
              <a:t>standarde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 err="1"/>
              <a:t>Odgovornosti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r>
              <a:rPr lang="hr-HR" sz="2400" dirty="0"/>
              <a:t>- </a:t>
            </a:r>
            <a:r>
              <a:rPr lang="en-US" sz="2400" dirty="0" err="1"/>
              <a:t>Pregledavaju</a:t>
            </a:r>
            <a:r>
              <a:rPr lang="en-US" sz="2400" dirty="0"/>
              <a:t> </a:t>
            </a:r>
            <a:r>
              <a:rPr lang="en-US" sz="2400" dirty="0" err="1"/>
              <a:t>zahtjeve</a:t>
            </a:r>
            <a:r>
              <a:rPr lang="en-US" sz="2400" dirty="0"/>
              <a:t> </a:t>
            </a:r>
            <a:r>
              <a:rPr lang="en-US" sz="2400" dirty="0" err="1"/>
              <a:t>usklađenosti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hr-HR" sz="2400" dirty="0"/>
              <a:t>- </a:t>
            </a:r>
            <a:r>
              <a:rPr lang="en-US" sz="2400" dirty="0" err="1"/>
              <a:t>Provode</a:t>
            </a:r>
            <a:r>
              <a:rPr lang="en-US" sz="2400" dirty="0"/>
              <a:t> </a:t>
            </a:r>
            <a:r>
              <a:rPr lang="en-US" sz="2400" dirty="0" err="1"/>
              <a:t>revizije</a:t>
            </a:r>
            <a:r>
              <a:rPr lang="en-US" sz="2400" dirty="0"/>
              <a:t> i </a:t>
            </a:r>
            <a:r>
              <a:rPr lang="en-US" sz="2400" dirty="0" err="1"/>
              <a:t>inspekcije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hr-HR" sz="2400" dirty="0"/>
              <a:t>- </a:t>
            </a:r>
            <a:r>
              <a:rPr lang="en-US" sz="2400" dirty="0"/>
              <a:t>Osiguravaju </a:t>
            </a:r>
            <a:r>
              <a:rPr lang="en-US" sz="2400" dirty="0" err="1"/>
              <a:t>usklađenost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 s </a:t>
            </a:r>
            <a:r>
              <a:rPr lang="en-US" sz="2400" dirty="0" err="1"/>
              <a:t>propisima</a:t>
            </a:r>
            <a:r>
              <a:rPr lang="en-US" sz="2400" dirty="0"/>
              <a:t> i </a:t>
            </a:r>
            <a:r>
              <a:rPr lang="en-US" sz="2400" dirty="0" err="1"/>
              <a:t>politikama</a:t>
            </a:r>
            <a:r>
              <a:rPr lang="en-US" sz="24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9EBD84C-EA95-600F-8FDF-7EDC7C2C69B1}"/>
              </a:ext>
            </a:extLst>
          </p:cNvPr>
          <p:cNvSpPr txBox="1">
            <a:spLocks/>
          </p:cNvSpPr>
          <p:nvPr/>
        </p:nvSpPr>
        <p:spPr>
          <a:xfrm>
            <a:off x="838200" y="2568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Bahnschrift SemiBold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Uloge i </a:t>
            </a:r>
            <a:r>
              <a:rPr lang="en-US" dirty="0" err="1"/>
              <a:t>odgovornosti</a:t>
            </a:r>
            <a:r>
              <a:rPr lang="en-US" dirty="0"/>
              <a:t>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dionika</a:t>
            </a:r>
            <a:r>
              <a:rPr lang="en-US" dirty="0"/>
              <a:t> IV.</a:t>
            </a:r>
          </a:p>
        </p:txBody>
      </p:sp>
    </p:spTree>
    <p:extLst>
      <p:ext uri="{BB962C8B-B14F-4D97-AF65-F5344CB8AC3E}">
        <p14:creationId xmlns:p14="http://schemas.microsoft.com/office/powerpoint/2010/main" val="174149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AE7F-0601-1CDA-7AFF-A33D35AD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783" y="367748"/>
            <a:ext cx="8869016" cy="965131"/>
          </a:xfrm>
          <a:solidFill>
            <a:srgbClr val="FFFFFF"/>
          </a:solidFill>
        </p:spPr>
        <p:txBody>
          <a:bodyPr>
            <a:normAutofit fontScale="9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" panose="020B0502040204020203" pitchFamily="34" charset="0"/>
              </a:rPr>
            </a:br>
            <a:r>
              <a:rPr lang="it-IT" altLang="en-US" sz="4000" dirty="0"/>
              <a:t>Mapa </a:t>
            </a:r>
            <a:r>
              <a:rPr lang="it-IT" altLang="en-US" sz="4000" dirty="0" err="1"/>
              <a:t>dionika</a:t>
            </a:r>
            <a:r>
              <a:rPr lang="it-IT" altLang="en-US" sz="4000" dirty="0"/>
              <a:t> (</a:t>
            </a:r>
            <a:r>
              <a:rPr lang="it-IT" altLang="en-US" sz="4000" dirty="0" err="1"/>
              <a:t>matrica</a:t>
            </a:r>
            <a:r>
              <a:rPr lang="it-IT" altLang="en-US" sz="4000" dirty="0"/>
              <a:t> </a:t>
            </a:r>
            <a:r>
              <a:rPr lang="it-IT" altLang="en-US" sz="4000" dirty="0" err="1"/>
              <a:t>moći</a:t>
            </a:r>
            <a:r>
              <a:rPr lang="it-IT" altLang="en-US" sz="4000" dirty="0"/>
              <a:t> i </a:t>
            </a:r>
            <a:r>
              <a:rPr lang="it-IT" altLang="en-US" sz="4000" dirty="0" err="1"/>
              <a:t>interesa</a:t>
            </a:r>
            <a:r>
              <a:rPr lang="it-IT" altLang="en-US" sz="4000" dirty="0"/>
              <a:t>)</a:t>
            </a:r>
            <a:br>
              <a:rPr lang="it-IT" altLang="en-US" sz="4000" dirty="0"/>
            </a:br>
            <a:endParaRPr lang="en-US" sz="40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61E5C94-EA4E-EF28-4A53-ED815F23E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759271"/>
              </p:ext>
            </p:extLst>
          </p:nvPr>
        </p:nvGraphicFramePr>
        <p:xfrm>
          <a:off x="596347" y="1848678"/>
          <a:ext cx="10136910" cy="4923831"/>
        </p:xfrm>
        <a:graphic>
          <a:graphicData uri="http://schemas.openxmlformats.org/drawingml/2006/table">
            <a:tbl>
              <a:tblPr>
                <a:solidFill>
                  <a:srgbClr val="0ADBBC"/>
                </a:solidFill>
              </a:tblPr>
              <a:tblGrid>
                <a:gridCol w="1943934">
                  <a:extLst>
                    <a:ext uri="{9D8B030D-6E8A-4147-A177-3AD203B41FA5}">
                      <a16:colId xmlns:a16="http://schemas.microsoft.com/office/drawing/2014/main" val="2779591367"/>
                    </a:ext>
                  </a:extLst>
                </a:gridCol>
                <a:gridCol w="1051947">
                  <a:extLst>
                    <a:ext uri="{9D8B030D-6E8A-4147-A177-3AD203B41FA5}">
                      <a16:colId xmlns:a16="http://schemas.microsoft.com/office/drawing/2014/main" val="1624694522"/>
                    </a:ext>
                  </a:extLst>
                </a:gridCol>
                <a:gridCol w="930141">
                  <a:extLst>
                    <a:ext uri="{9D8B030D-6E8A-4147-A177-3AD203B41FA5}">
                      <a16:colId xmlns:a16="http://schemas.microsoft.com/office/drawing/2014/main" val="2796243958"/>
                    </a:ext>
                  </a:extLst>
                </a:gridCol>
                <a:gridCol w="6210888">
                  <a:extLst>
                    <a:ext uri="{9D8B030D-6E8A-4147-A177-3AD203B41FA5}">
                      <a16:colId xmlns:a16="http://schemas.microsoft.com/office/drawing/2014/main" val="2507801031"/>
                    </a:ext>
                  </a:extLst>
                </a:gridCol>
              </a:tblGrid>
              <a:tr h="451738">
                <a:tc>
                  <a:txBody>
                    <a:bodyPr/>
                    <a:lstStyle/>
                    <a:p>
                      <a:r>
                        <a:rPr lang="hr-HR" sz="1500" b="1" dirty="0">
                          <a:latin typeface="Bahnschrift SemiLight" panose="020B0502040204020203" pitchFamily="34" charset="0"/>
                        </a:rPr>
                        <a:t>Dionik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500" b="1" dirty="0">
                          <a:latin typeface="Bahnschrift SemiLight" panose="020B0502040204020203" pitchFamily="34" charset="0"/>
                        </a:rPr>
                        <a:t>Moć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 err="1">
                          <a:latin typeface="Bahnschrift SemiLight" panose="020B0502040204020203" pitchFamily="34" charset="0"/>
                        </a:rPr>
                        <a:t>Interes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 err="1">
                          <a:latin typeface="Bahnschrift SemiLight" panose="020B0502040204020203" pitchFamily="34" charset="0"/>
                        </a:rPr>
                        <a:t>Strategija</a:t>
                      </a:r>
                      <a:r>
                        <a:rPr lang="en-US" sz="1500" b="1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b="1" dirty="0" err="1">
                          <a:latin typeface="Bahnschrift SemiLight" panose="020B0502040204020203" pitchFamily="34" charset="0"/>
                        </a:rPr>
                        <a:t>uključivanja</a:t>
                      </a:r>
                      <a:endParaRPr lang="en-US" sz="1500" b="1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ADB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7848"/>
                  </a:ext>
                </a:extLst>
              </a:tr>
              <a:tr h="618967">
                <a:tc>
                  <a:txBody>
                    <a:bodyPr/>
                    <a:lstStyle/>
                    <a:p>
                      <a:r>
                        <a:rPr lang="hr-HR" sz="1500" b="1" dirty="0">
                          <a:latin typeface="Bahnschrift SemiLight" panose="020B0502040204020203" pitchFamily="34" charset="0"/>
                        </a:rPr>
                        <a:t>Sponzor projekta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Visoko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Visoko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Aktivno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uključivati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redovito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informirati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uključivati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u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donošenje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odluka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975065"/>
                  </a:ext>
                </a:extLst>
              </a:tr>
              <a:tr h="502421">
                <a:tc>
                  <a:txBody>
                    <a:bodyPr/>
                    <a:lstStyle/>
                    <a:p>
                      <a:r>
                        <a:rPr lang="hr-HR" sz="1500" b="1" dirty="0">
                          <a:latin typeface="Bahnschrift SemiLight" panose="020B0502040204020203" pitchFamily="34" charset="0"/>
                        </a:rPr>
                        <a:t>Voditelj projekta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Visoko</a:t>
                      </a:r>
                      <a:endParaRPr lang="en-US" sz="1500" b="0" kern="12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Visoko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Voditi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provedbu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upravljati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komunikacijom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ublažavati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rizike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900727"/>
                  </a:ext>
                </a:extLst>
              </a:tr>
              <a:tr h="65128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r-HR" sz="1500" b="1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Članovi projektnog tima</a:t>
                      </a:r>
                      <a:endParaRPr lang="en-US" sz="1500" b="1" kern="12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r-HR" sz="1500" b="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Srednje</a:t>
                      </a:r>
                      <a:endParaRPr lang="en-US" sz="1500" b="0" kern="12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500" b="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Visoko</a:t>
                      </a:r>
                      <a:endParaRPr lang="en-US" sz="1500" b="0" kern="12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500" b="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Pružati</a:t>
                      </a:r>
                      <a:r>
                        <a:rPr lang="en-US" sz="1500" b="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jasne</a:t>
                      </a:r>
                      <a:r>
                        <a:rPr lang="en-US" sz="1500" b="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upute</a:t>
                      </a:r>
                      <a:r>
                        <a:rPr lang="en-US" sz="1500" b="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500" b="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osiguravati</a:t>
                      </a:r>
                      <a:r>
                        <a:rPr lang="en-US" sz="1500" b="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suradnju</a:t>
                      </a:r>
                      <a:r>
                        <a:rPr lang="en-US" sz="1500" b="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i </a:t>
                      </a:r>
                      <a:r>
                        <a:rPr lang="en-US" sz="1500" b="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rješavati</a:t>
                      </a:r>
                      <a:r>
                        <a:rPr lang="en-US" sz="1500" b="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b="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probleme</a:t>
                      </a:r>
                      <a:r>
                        <a:rPr lang="en-US" sz="1500" b="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989555"/>
                  </a:ext>
                </a:extLst>
              </a:tr>
              <a:tr h="548942">
                <a:tc>
                  <a:txBody>
                    <a:bodyPr/>
                    <a:lstStyle/>
                    <a:p>
                      <a:r>
                        <a:rPr lang="hr-HR" sz="1500" b="1" dirty="0">
                          <a:latin typeface="Bahnschrift SemiLight" panose="020B0502040204020203" pitchFamily="34" charset="0"/>
                        </a:rPr>
                        <a:t>Klijenti / krajnji korisnici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500" dirty="0">
                          <a:latin typeface="Bahnschrift SemiLight" panose="020B0502040204020203" pitchFamily="34" charset="0"/>
                        </a:rPr>
                        <a:t>Nisko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Visoko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Prikupljati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povratne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informacije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uključivati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u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korisničko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testiranje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redovito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informirati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910700"/>
                  </a:ext>
                </a:extLst>
              </a:tr>
              <a:tr h="697808">
                <a:tc>
                  <a:txBody>
                    <a:bodyPr/>
                    <a:lstStyle/>
                    <a:p>
                      <a:r>
                        <a:rPr lang="en-US" sz="1500" b="1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F</a:t>
                      </a:r>
                      <a:r>
                        <a:rPr lang="hr-HR" sz="1500" b="1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unkcionalni</a:t>
                      </a:r>
                      <a:r>
                        <a:rPr lang="hr-HR" sz="1500" b="1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menadžeri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Visoko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r-HR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Srednje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Koordinirati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raspodjelu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resursa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i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osigurati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usklađenost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s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ciljevima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odjela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DBBC">
                        <a:tint val="66000"/>
                        <a:satMod val="1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314005"/>
                  </a:ext>
                </a:extLst>
              </a:tr>
              <a:tr h="586158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Bahnschrift SemiLight" panose="020B0502040204020203" pitchFamily="34" charset="0"/>
                        </a:rPr>
                        <a:t>Regulatorna </a:t>
                      </a:r>
                      <a:r>
                        <a:rPr lang="en-US" sz="1500" b="1" dirty="0" err="1">
                          <a:latin typeface="Bahnschrift SemiLight" panose="020B0502040204020203" pitchFamily="34" charset="0"/>
                        </a:rPr>
                        <a:t>tijela</a:t>
                      </a:r>
                      <a:r>
                        <a:rPr lang="en-US" sz="1500" b="1" dirty="0"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500" b="1" dirty="0" err="1">
                          <a:latin typeface="Bahnschrift SemiLight" panose="020B0502040204020203" pitchFamily="34" charset="0"/>
                        </a:rPr>
                        <a:t>službenici</a:t>
                      </a:r>
                      <a:r>
                        <a:rPr lang="en-US" sz="1500" b="1" dirty="0">
                          <a:latin typeface="Bahnschrift SemiLight" panose="020B0502040204020203" pitchFamily="34" charset="0"/>
                        </a:rPr>
                        <a:t> za </a:t>
                      </a:r>
                      <a:r>
                        <a:rPr lang="en-US" sz="1500" b="1" dirty="0" err="1">
                          <a:latin typeface="Bahnschrift SemiLight" panose="020B0502040204020203" pitchFamily="34" charset="0"/>
                        </a:rPr>
                        <a:t>usklađenost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Visoko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500" dirty="0">
                          <a:latin typeface="Bahnschrift SemiLight" panose="020B0502040204020203" pitchFamily="34" charset="0"/>
                        </a:rPr>
                        <a:t>Nisko</a:t>
                      </a:r>
                      <a:endParaRPr lang="en-US" sz="1500" dirty="0">
                        <a:latin typeface="Bahnschrift SemiLight" panose="020B0502040204020203" pitchFamily="34" charset="0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Osigurati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da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projekt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poštuje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zakonske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zahtjeve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;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periodično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500" dirty="0" err="1">
                          <a:latin typeface="Bahnschrift SemiLight" panose="020B0502040204020203" pitchFamily="34" charset="0"/>
                        </a:rPr>
                        <a:t>izvještavanje</a:t>
                      </a:r>
                      <a:r>
                        <a:rPr lang="en-US" sz="1500" dirty="0"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343884"/>
                  </a:ext>
                </a:extLst>
              </a:tr>
              <a:tr h="71247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r-HR" sz="1500" b="1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Dobavljači / isporučitelji</a:t>
                      </a:r>
                      <a:endParaRPr lang="en-US" sz="1500" b="1" kern="12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r-HR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Srednje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hr-HR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Srednje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Održavati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ugovorne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obveze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i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osigurati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pravovremenu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isporuku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.</a:t>
                      </a:r>
                      <a:r>
                        <a:rPr lang="ro-RO" sz="1500" kern="120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  <a:ea typeface="+mn-ea"/>
                          <a:cs typeface="+mn-cs"/>
                        </a:rPr>
                        <a:t> </a:t>
                      </a:r>
                      <a:endParaRPr lang="en-US" sz="1500" kern="120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54392" marR="54392" marT="27196" marB="27196" anchor="ctr">
                    <a:lnL>
                      <a:noFill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57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307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AECD1-1D4F-F91D-283A-46DB09F9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0D89-E834-B891-1CB7-416EB1B8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Mapa </a:t>
            </a:r>
            <a:r>
              <a:rPr lang="en-US" dirty="0" err="1"/>
              <a:t>dionika</a:t>
            </a:r>
            <a:r>
              <a:rPr lang="en-US" dirty="0"/>
              <a:t>, </a:t>
            </a:r>
            <a:r>
              <a:rPr lang="en-US" dirty="0" err="1"/>
              <a:t>grupne</a:t>
            </a:r>
            <a:r>
              <a:rPr lang="en-US" dirty="0"/>
              <a:t> </a:t>
            </a:r>
            <a:r>
              <a:rPr lang="en-US" dirty="0" err="1"/>
              <a:t>rasprave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700D-F48E-90B3-61F3-FC30E2DD8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en-US" sz="200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20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5" name="Rezervirano mjesto sadržaja 2">
            <a:extLst>
              <a:ext uri="{FF2B5EF4-FFF2-40B4-BE49-F238E27FC236}">
                <a16:creationId xmlns:a16="http://schemas.microsoft.com/office/drawing/2014/main" id="{1D946944-5732-634A-051D-1D1E083F6162}"/>
              </a:ext>
            </a:extLst>
          </p:cNvPr>
          <p:cNvSpPr txBox="1">
            <a:spLocks/>
          </p:cNvSpPr>
          <p:nvPr/>
        </p:nvSpPr>
        <p:spPr>
          <a:xfrm>
            <a:off x="241261" y="1598139"/>
            <a:ext cx="10515600" cy="7271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r-HR" sz="2600" b="1" dirty="0">
                <a:solidFill>
                  <a:srgbClr val="0ADBBC"/>
                </a:solidFill>
              </a:rPr>
              <a:t>ZADATAK</a:t>
            </a:r>
            <a:r>
              <a:rPr lang="en-US" sz="2600" b="1" dirty="0">
                <a:solidFill>
                  <a:srgbClr val="0ADBBC"/>
                </a:solidFill>
              </a:rPr>
              <a:t>: </a:t>
            </a:r>
            <a:r>
              <a:rPr lang="en-US" sz="2400" dirty="0" err="1"/>
              <a:t>izraditi</a:t>
            </a:r>
            <a:r>
              <a:rPr lang="en-US" sz="2400" dirty="0"/>
              <a:t> </a:t>
            </a:r>
            <a:r>
              <a:rPr lang="en-US" sz="2400" dirty="0" err="1"/>
              <a:t>mapu</a:t>
            </a:r>
            <a:r>
              <a:rPr lang="en-US" sz="2400" dirty="0"/>
              <a:t> </a:t>
            </a:r>
            <a:r>
              <a:rPr lang="en-US" sz="2400" dirty="0" err="1"/>
              <a:t>dionika</a:t>
            </a:r>
            <a:r>
              <a:rPr lang="en-US" sz="2400" dirty="0"/>
              <a:t> i </a:t>
            </a:r>
            <a:r>
              <a:rPr lang="en-US" sz="2400" dirty="0" err="1"/>
              <a:t>definirati</a:t>
            </a:r>
            <a:r>
              <a:rPr lang="en-US" sz="2400" dirty="0"/>
              <a:t> </a:t>
            </a:r>
            <a:r>
              <a:rPr lang="en-US" sz="2400" dirty="0" err="1"/>
              <a:t>uloge</a:t>
            </a:r>
            <a:r>
              <a:rPr lang="en-US" sz="2400" dirty="0"/>
              <a:t> i </a:t>
            </a:r>
            <a:r>
              <a:rPr lang="en-US" sz="2400" dirty="0" err="1"/>
              <a:t>odgovornosti</a:t>
            </a:r>
            <a:r>
              <a:rPr lang="en-US" sz="2400" dirty="0"/>
              <a:t> za </a:t>
            </a:r>
            <a:r>
              <a:rPr lang="en-US" sz="2400" dirty="0" err="1"/>
              <a:t>svakog</a:t>
            </a:r>
            <a:r>
              <a:rPr lang="en-US" sz="2400" dirty="0"/>
              <a:t> </a:t>
            </a:r>
            <a:r>
              <a:rPr lang="en-US" sz="2400" dirty="0" err="1"/>
              <a:t>dionika</a:t>
            </a:r>
            <a:r>
              <a:rPr lang="en-US" sz="2400" dirty="0"/>
              <a:t> u </a:t>
            </a:r>
            <a:r>
              <a:rPr lang="en-US" sz="2400" dirty="0" err="1"/>
              <a:t>sljedećem</a:t>
            </a:r>
            <a:r>
              <a:rPr lang="en-US" sz="2400" dirty="0"/>
              <a:t> </a:t>
            </a:r>
            <a:r>
              <a:rPr lang="en-US" sz="2400" dirty="0" err="1"/>
              <a:t>hipotetskom</a:t>
            </a:r>
            <a:r>
              <a:rPr lang="en-US" sz="2400" dirty="0"/>
              <a:t> </a:t>
            </a:r>
            <a:r>
              <a:rPr lang="en-US" sz="2400" dirty="0" err="1"/>
              <a:t>projektu</a:t>
            </a:r>
            <a:r>
              <a:rPr lang="en-US" sz="24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4" name="Rezervirano mjesto sadržaja 2">
            <a:extLst>
              <a:ext uri="{FF2B5EF4-FFF2-40B4-BE49-F238E27FC236}">
                <a16:creationId xmlns:a16="http://schemas.microsoft.com/office/drawing/2014/main" id="{6CEB6840-42DB-BEE1-13C6-49D67009DE71}"/>
              </a:ext>
            </a:extLst>
          </p:cNvPr>
          <p:cNvSpPr>
            <a:spLocks noGrp="1"/>
          </p:cNvSpPr>
          <p:nvPr/>
        </p:nvSpPr>
        <p:spPr>
          <a:xfrm>
            <a:off x="304635" y="2460268"/>
            <a:ext cx="11978544" cy="45788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r-HR" sz="2000" b="1" dirty="0">
                <a:highlight>
                  <a:srgbClr val="FFFFFF"/>
                </a:highlight>
                <a:latin typeface="Bahnschrift SemiLight"/>
              </a:rPr>
              <a:t>Obrazovna platforma </a:t>
            </a:r>
            <a:r>
              <a:rPr lang="hr-HR" sz="2000" b="1" dirty="0" err="1">
                <a:highlight>
                  <a:srgbClr val="FFFFFF"/>
                </a:highlight>
                <a:latin typeface="Bahnschrift SemiLight"/>
              </a:rPr>
              <a:t>CraftEase</a:t>
            </a:r>
            <a:r>
              <a:rPr lang="hr-HR" sz="2000" b="1" dirty="0">
                <a:highlight>
                  <a:srgbClr val="FFFFFF"/>
                </a:highlight>
                <a:latin typeface="Bahnschrift SemiLight"/>
              </a:rPr>
              <a:t> za DIY projekte; 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Proračun: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50.000 – 100.000 EUR;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Vremenski okvir: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6 mjeseci;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Zadatak: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oni su voditelji projekta (PM) u IT tvrtki koja isporučuje digitalno rješenje za maloprodajnog klijenta;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Klijent: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trgovina koja prodaje materijale (Bauhaus, Brico ili slično – električni materijal, DIY, građevinski materijal);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Tim: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može imati 5 članova;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Tvrtka: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20 zaposlenika, uključujući developere, UX/IX dizajnere, financijski i ugovorni odjel, grafičke dizajnere, bez poslovnog analitičara;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Zahtjevi klijenta: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web platforma, korisnički račun (login), multimedijalni DIY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tutorijali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, opcija sviđanja/nesviđanja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tutorijala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, prijava na radionice;</a:t>
            </a:r>
          </a:p>
          <a:p>
            <a:r>
              <a:rPr lang="hr-HR" sz="1800" b="1" dirty="0">
                <a:highlight>
                  <a:srgbClr val="FFFFFF"/>
                </a:highlight>
                <a:latin typeface="Bahnschrift SemiLight"/>
              </a:rPr>
              <a:t>Uloge na platformi: 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korisnik platforme (gleda izrađene DIY projekte), zaposlenik trgovine (izrađuje DIY </a:t>
            </a:r>
            <a:r>
              <a:rPr lang="hr-HR" sz="1800" dirty="0" err="1">
                <a:highlight>
                  <a:srgbClr val="FFFFFF"/>
                </a:highlight>
                <a:latin typeface="Bahnschrift SemiLight"/>
              </a:rPr>
              <a:t>tutorijale</a:t>
            </a:r>
            <a:r>
              <a:rPr lang="hr-HR" sz="1800" dirty="0">
                <a:highlight>
                  <a:srgbClr val="FFFFFF"/>
                </a:highlight>
                <a:latin typeface="Bahnschrift SemiLight"/>
              </a:rPr>
              <a:t>/videozapise),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4109908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67C1-5C88-2DB3-8721-BB19560B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Mapa </a:t>
            </a:r>
            <a:r>
              <a:rPr lang="en-US" altLang="en-US" dirty="0" err="1"/>
              <a:t>dionika</a:t>
            </a:r>
            <a:r>
              <a:rPr lang="en-US" altLang="en-US" dirty="0"/>
              <a:t>, </a:t>
            </a:r>
            <a:r>
              <a:rPr lang="en-US" altLang="en-US" dirty="0" err="1"/>
              <a:t>zaključci</a:t>
            </a:r>
            <a:endParaRPr lang="en-US" alt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0585D27-91E9-CA3A-AED3-069EF6366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0"/>
            <a:ext cx="105156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r-H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Zaključak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Dobro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strukturirana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mapa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dionika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jasno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definirane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uloge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r-HR" altLang="en-US" sz="2400" dirty="0"/>
              <a:t>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poboljšavaju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komunikaciju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r-HR" altLang="en-US" sz="2400" dirty="0"/>
              <a:t>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donošenje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odluka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r-HR" altLang="en-US" sz="2400" dirty="0"/>
              <a:t>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uspjeh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projekta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Učinkovite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strategije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uključivanja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osiguravaju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usklađenost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zadovoljstvo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dionika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9903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9672-FD20-EB2D-A84E-C7257DB8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48F2B99A-42D9-BF43-DF55-1409B4C6E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5959" y="1908680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prstClr val="black"/>
                </a:solidFill>
              </a:rPr>
              <a:t>POKRETANJE PROJEKTA</a:t>
            </a:r>
            <a:br>
              <a:rPr lang="en-US" sz="4800" b="1" dirty="0">
                <a:latin typeface="Bahnschrift SemiLight" panose="020B0502040204020203" pitchFamily="34" charset="0"/>
              </a:rPr>
            </a:br>
            <a:endParaRPr lang="hr-HR" sz="4800" dirty="0">
              <a:latin typeface="Bahnschrift SemiLight" panose="020B0502040204020203" pitchFamily="34" charset="0"/>
            </a:endParaRPr>
          </a:p>
        </p:txBody>
      </p:sp>
      <p:sp>
        <p:nvSpPr>
          <p:cNvPr id="5" name="Podnaslov 4">
            <a:extLst>
              <a:ext uri="{FF2B5EF4-FFF2-40B4-BE49-F238E27FC236}">
                <a16:creationId xmlns:a16="http://schemas.microsoft.com/office/drawing/2014/main" id="{DE2C534F-A342-9AA9-938E-48AB3AF1624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341418" y="4380778"/>
            <a:ext cx="9688541" cy="120015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altLang="en-US" sz="4000" dirty="0">
                <a:latin typeface="Bahnschrift" panose="020B0502040204020203" pitchFamily="34" charset="0"/>
                <a:ea typeface="+mj-ea"/>
                <a:cs typeface="+mj-cs"/>
              </a:rPr>
              <a:t>Auto</a:t>
            </a:r>
            <a:r>
              <a:rPr lang="hr-HR" altLang="en-US" sz="4000" dirty="0">
                <a:latin typeface="Bahnschrift" panose="020B0502040204020203" pitchFamily="34" charset="0"/>
                <a:ea typeface="+mj-ea"/>
                <a:cs typeface="+mj-cs"/>
              </a:rPr>
              <a:t>r</a:t>
            </a:r>
            <a:r>
              <a:rPr lang="en-US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itet</a:t>
            </a:r>
            <a:r>
              <a:rPr lang="en-US" altLang="en-US" sz="4000" dirty="0">
                <a:latin typeface="Bahnschrift" panose="020B0502040204020203" pitchFamily="34" charset="0"/>
                <a:ea typeface="+mj-ea"/>
                <a:cs typeface="+mj-cs"/>
              </a:rPr>
              <a:t>, </a:t>
            </a:r>
            <a:r>
              <a:rPr lang="en-US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odgovornost</a:t>
            </a:r>
            <a:r>
              <a:rPr lang="hr-HR" altLang="en-US" sz="4000" dirty="0">
                <a:latin typeface="Bahnschrift" panose="020B0502040204020203" pitchFamily="34" charset="0"/>
                <a:ea typeface="+mj-ea"/>
                <a:cs typeface="+mj-cs"/>
              </a:rPr>
              <a:t>i</a:t>
            </a:r>
            <a:r>
              <a:rPr lang="en-US" altLang="en-US" sz="4000" dirty="0">
                <a:latin typeface="Bahnschrift" panose="020B0502040204020203" pitchFamily="34" charset="0"/>
                <a:ea typeface="+mj-ea"/>
                <a:cs typeface="+mj-cs"/>
              </a:rPr>
              <a:t> i </a:t>
            </a:r>
            <a:r>
              <a:rPr lang="en-US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donošenje</a:t>
            </a:r>
            <a:r>
              <a:rPr lang="en-US" alt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  <a:r>
              <a:rPr lang="en-US" altLang="en-US" sz="4000" dirty="0" err="1">
                <a:latin typeface="Bahnschrift" panose="020B0502040204020203" pitchFamily="34" charset="0"/>
                <a:ea typeface="+mj-ea"/>
                <a:cs typeface="+mj-cs"/>
              </a:rPr>
              <a:t>odluka</a:t>
            </a:r>
            <a:r>
              <a:rPr lang="en-US" altLang="en-US" sz="4000" dirty="0">
                <a:latin typeface="Bahnschrift" panose="020B0502040204020203" pitchFamily="34" charset="0"/>
                <a:ea typeface="+mj-ea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6599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71BEA-BA81-3381-9FB1-0484C6C6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88C4-5A89-1DB8-D44E-6CE978BE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" y="128531"/>
            <a:ext cx="11326553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hr-HR" dirty="0"/>
              <a:t>Autoritet (</a:t>
            </a:r>
            <a:r>
              <a:rPr lang="hr-HR" i="1" dirty="0" err="1"/>
              <a:t>authority</a:t>
            </a:r>
            <a:r>
              <a:rPr lang="hr-HR" dirty="0"/>
              <a:t>), odgovornost za zadatke (</a:t>
            </a:r>
            <a:r>
              <a:rPr lang="hr-HR" i="1" dirty="0" err="1"/>
              <a:t>responsibility</a:t>
            </a:r>
            <a:r>
              <a:rPr lang="hr-HR" dirty="0"/>
              <a:t>), odgovornost za ishod (</a:t>
            </a:r>
            <a:r>
              <a:rPr lang="hr-HR" i="1" dirty="0" err="1"/>
              <a:t>accountability</a:t>
            </a:r>
            <a:r>
              <a:rPr lang="hr-HR" dirty="0"/>
              <a:t>) i donošenje odluka u upravljanju projektima</a:t>
            </a:r>
          </a:p>
        </p:txBody>
      </p:sp>
      <p:graphicFrame>
        <p:nvGraphicFramePr>
          <p:cNvPr id="3" name="Substituent conținut 2">
            <a:extLst>
              <a:ext uri="{FF2B5EF4-FFF2-40B4-BE49-F238E27FC236}">
                <a16:creationId xmlns:a16="http://schemas.microsoft.com/office/drawing/2014/main" id="{DA14B5C1-F773-C1FC-D68D-0E2852914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1510024"/>
              </p:ext>
            </p:extLst>
          </p:nvPr>
        </p:nvGraphicFramePr>
        <p:xfrm>
          <a:off x="11353800" y="1839078"/>
          <a:ext cx="208280" cy="4870174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721819242"/>
                    </a:ext>
                  </a:extLst>
                </a:gridCol>
              </a:tblGrid>
              <a:tr h="4870174">
                <a:tc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mpd="sng">
                      <a:solidFill>
                        <a:srgbClr val="0ADBBC"/>
                      </a:solidFill>
                      <a:prstDash val="solid"/>
                    </a:lnL>
                    <a:lnR w="12700" cmpd="sng">
                      <a:solidFill>
                        <a:srgbClr val="0ADBBC"/>
                      </a:solidFill>
                      <a:prstDash val="solid"/>
                    </a:lnR>
                    <a:lnT w="12700" cmpd="sng">
                      <a:solidFill>
                        <a:srgbClr val="0ADBBC"/>
                      </a:solidFill>
                      <a:prstDash val="solid"/>
                    </a:lnT>
                    <a:lnB w="12700" cmpd="sng">
                      <a:solidFill>
                        <a:srgbClr val="0ADB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50706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BDFB04-DAFC-0A71-99D3-795840CE1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401118"/>
              </p:ext>
            </p:extLst>
          </p:nvPr>
        </p:nvGraphicFramePr>
        <p:xfrm>
          <a:off x="629920" y="1798217"/>
          <a:ext cx="10932160" cy="4931252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1193138798"/>
                    </a:ext>
                  </a:extLst>
                </a:gridCol>
                <a:gridCol w="2872292">
                  <a:extLst>
                    <a:ext uri="{9D8B030D-6E8A-4147-A177-3AD203B41FA5}">
                      <a16:colId xmlns:a16="http://schemas.microsoft.com/office/drawing/2014/main" val="3044178300"/>
                    </a:ext>
                  </a:extLst>
                </a:gridCol>
                <a:gridCol w="2893807">
                  <a:extLst>
                    <a:ext uri="{9D8B030D-6E8A-4147-A177-3AD203B41FA5}">
                      <a16:colId xmlns:a16="http://schemas.microsoft.com/office/drawing/2014/main" val="2090520555"/>
                    </a:ext>
                  </a:extLst>
                </a:gridCol>
                <a:gridCol w="3235661">
                  <a:extLst>
                    <a:ext uri="{9D8B030D-6E8A-4147-A177-3AD203B41FA5}">
                      <a16:colId xmlns:a16="http://schemas.microsoft.com/office/drawing/2014/main" val="2628355916"/>
                    </a:ext>
                  </a:extLst>
                </a:gridCol>
              </a:tblGrid>
              <a:tr h="606503">
                <a:tc>
                  <a:txBody>
                    <a:bodyPr/>
                    <a:lstStyle/>
                    <a:p>
                      <a:r>
                        <a:rPr lang="hr-HR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Koncept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Definicija</a:t>
                      </a:r>
                      <a:endParaRPr lang="en-US" sz="1400" b="1" cap="none" spc="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Ključne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karakteristike</a:t>
                      </a:r>
                      <a:endParaRPr lang="en-US" sz="1400" b="1" cap="none" spc="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Primjer </a:t>
                      </a:r>
                      <a:r>
                        <a:rPr lang="hr-HR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iz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upravljanj</a:t>
                      </a:r>
                      <a:r>
                        <a:rPr lang="hr-HR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a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projektima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492857"/>
                  </a:ext>
                </a:extLst>
              </a:tr>
              <a:tr h="1441583">
                <a:tc>
                  <a:txBody>
                    <a:bodyPr/>
                    <a:lstStyle/>
                    <a:p>
                      <a:r>
                        <a:rPr lang="hr-HR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AUTORITET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Pravo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donošenja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odluka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raspodjele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resursa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upravljanja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drugima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Delegira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od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strane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višeg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menadžmenta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Dolazi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ovlastima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donošenja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odluka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Može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dijeliti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ili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dodijeliti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Voditelj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ima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hr-HR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autoritet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odobravanja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promjena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proračuna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dodjele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zadataka</a:t>
                      </a:r>
                      <a:r>
                        <a:rPr lang="ro-RO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85552842"/>
                  </a:ext>
                </a:extLst>
              </a:tr>
              <a:tr h="1650353">
                <a:tc>
                  <a:txBody>
                    <a:bodyPr/>
                    <a:lstStyle/>
                    <a:p>
                      <a:r>
                        <a:rPr lang="hr-HR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ODGOVORNOST ZA ZADATKE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Obveza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izvršavanja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dodijeljenih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zadataka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ili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dužnosti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64291" marR="64291" marT="78359" marB="3214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Ne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može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prenijeti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ali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zadaci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mogu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delegirati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Zahtijeva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izvršenje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praćenje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provedbe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Temelji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ulogama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opisima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poslova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  <a:endParaRPr lang="en-US" sz="1400" cap="none" spc="0" dirty="0">
                        <a:solidFill>
                          <a:schemeClr val="bg1"/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 marL="64291" marR="64291" marT="78359" marB="3214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Član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tima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odgovoran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je za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razvoj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softverskih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funkcionalnosti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unutar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i="1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sprinta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DB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770452"/>
                  </a:ext>
                </a:extLst>
              </a:tr>
              <a:tr h="1232813">
                <a:tc>
                  <a:txBody>
                    <a:bodyPr/>
                    <a:lstStyle/>
                    <a:p>
                      <a:r>
                        <a:rPr lang="hr-HR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ODGOVORNOST ZA ISHOD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endParaRPr lang="en-US" sz="1400" cap="none" spc="0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Obveza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odgovaranja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za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ishode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uspjehe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ili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neuspjehe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Ne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može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delegirati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Zahtijeva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preuzimanje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odgovornosti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za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rezultate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Osigurava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transparentnost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uspješnost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 </a:t>
                      </a: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Voditelj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odgovoran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je za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isporuku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vrijeme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unutar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1400" cap="none" spc="0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proračuna</a:t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 marL="64291" marR="64291" marT="78359" marB="32146" anchor="ctr"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9622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82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4BA01FC-1CC1-EDC0-55E2-BE024B103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8443-44A0-7FEA-8328-597EA7159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849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hr-HR" dirty="0"/>
              <a:t>Autoritet (</a:t>
            </a:r>
            <a:r>
              <a:rPr lang="hr-HR" i="1" dirty="0" err="1"/>
              <a:t>authority</a:t>
            </a:r>
            <a:r>
              <a:rPr lang="hr-HR" dirty="0"/>
              <a:t>), odgovornost za zadatke (</a:t>
            </a:r>
            <a:r>
              <a:rPr lang="hr-HR" i="1" dirty="0" err="1"/>
              <a:t>responsibility</a:t>
            </a:r>
            <a:r>
              <a:rPr lang="hr-HR" dirty="0"/>
              <a:t>), odgovornost za ishod (</a:t>
            </a:r>
            <a:r>
              <a:rPr lang="hr-HR" i="1" dirty="0" err="1"/>
              <a:t>accountability</a:t>
            </a:r>
            <a:r>
              <a:rPr lang="hr-HR" dirty="0"/>
              <a:t>) i donošenje odluka u upravljanju projektima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9336B34-0D26-A892-51B6-2665B7A9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" y="1829277"/>
            <a:ext cx="10988040" cy="50287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/>
          <a:p>
            <a:pPr marR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KLJUČNE RAZLIKE:</a:t>
            </a:r>
          </a:p>
          <a:p>
            <a:pPr marL="228600" marR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Autoritet (</a:t>
            </a:r>
            <a:r>
              <a:rPr kumimoji="0" lang="hr-HR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authority</a:t>
            </a: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)</a:t>
            </a:r>
            <a:r>
              <a:rPr lang="hr-HR" altLang="en-US" sz="2000" dirty="0">
                <a:latin typeface="Bahnschrift SemiLight" panose="020B0502040204020203" pitchFamily="34" charset="0"/>
              </a:rPr>
              <a:t> 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se odnosi na posjedovanje </a:t>
            </a: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moći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za donošenje odluka. </a:t>
            </a:r>
          </a:p>
          <a:p>
            <a:pPr marL="228600" marR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Odgovornost za zadatke (</a:t>
            </a:r>
            <a:r>
              <a:rPr lang="hr-HR" altLang="en-US" sz="2000" b="1" dirty="0" err="1">
                <a:latin typeface="Bahnschrift SemiLight" panose="020B0502040204020203" pitchFamily="34" charset="0"/>
              </a:rPr>
              <a:t>r</a:t>
            </a:r>
            <a:r>
              <a:rPr kumimoji="0" lang="hr-HR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esponsibility</a:t>
            </a: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)</a:t>
            </a:r>
            <a:r>
              <a:rPr lang="hr-HR" altLang="en-US" sz="2000" dirty="0">
                <a:latin typeface="Bahnschrift SemiLight" panose="020B0502040204020203" pitchFamily="34" charset="0"/>
              </a:rPr>
              <a:t> </a:t>
            </a:r>
            <a:r>
              <a:rPr kumimoji="0" lang="pl-PL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se odnosi na </a:t>
            </a:r>
            <a:r>
              <a:rPr kumimoji="0" lang="pl-PL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izvršavanje</a:t>
            </a:r>
            <a:r>
              <a:rPr kumimoji="0" lang="pl-PL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zadataka i dužnosti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. </a:t>
            </a:r>
          </a:p>
          <a:p>
            <a:pPr marL="228600" marR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Odgovornost za ishod (</a:t>
            </a:r>
            <a:r>
              <a:rPr lang="hr-HR" altLang="en-US" sz="2000" b="1" dirty="0" err="1">
                <a:latin typeface="Bahnschrift SemiLight" panose="020B0502040204020203" pitchFamily="34" charset="0"/>
              </a:rPr>
              <a:t>a</a:t>
            </a:r>
            <a:r>
              <a:rPr kumimoji="0" lang="hr-HR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ccountability</a:t>
            </a: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)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pl-PL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e odnosi na </a:t>
            </a:r>
            <a:r>
              <a:rPr kumimoji="0" lang="pl-PL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preuzimanje odgovornosti </a:t>
            </a:r>
            <a:r>
              <a:rPr kumimoji="0" lang="pl-PL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za rezultate.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</a:p>
          <a:p>
            <a:pPr marL="228600" marR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kern="1200" cap="none" normalizeH="0" baseline="0" dirty="0">
              <a:ln>
                <a:noFill/>
              </a:ln>
              <a:effectLst/>
              <a:latin typeface="Bahnschrift SemiLight" panose="020B0502040204020203" pitchFamily="34" charset="0"/>
            </a:endParaRPr>
          </a:p>
          <a:p>
            <a:pPr indent="-3429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hr-HR" altLang="en-US" sz="24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Primjer u projektnom scenariju:</a:t>
            </a:r>
          </a:p>
          <a:p>
            <a:pPr marL="285750" marR="0" indent="-28575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Sponzor</a:t>
            </a: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projekta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ima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autoritet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za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odobravanj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e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financiranja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.</a:t>
            </a:r>
          </a:p>
          <a:p>
            <a:pPr marL="285750" marR="0" indent="-28575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Voditelj</a:t>
            </a: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projekta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odgovoran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(</a:t>
            </a:r>
            <a:r>
              <a:rPr kumimoji="0" lang="hr-HR" altLang="en-US" sz="2000" b="0" i="1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responsible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)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je za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upravljanje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projektnim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planom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.</a:t>
            </a:r>
          </a:p>
          <a:p>
            <a:pPr marL="285750" marR="0" indent="-28575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Voditelj</a:t>
            </a: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projekta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također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je </a:t>
            </a:r>
            <a:r>
              <a:rPr kumimoji="0" lang="en-US" altLang="en-US" sz="2000" b="1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odgovara</a:t>
            </a: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n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(</a:t>
            </a:r>
            <a:r>
              <a:rPr kumimoji="0" lang="hr-HR" altLang="en-US" sz="2000" b="0" i="1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accountable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) 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za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uspjeh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ili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neuspjeh</a:t>
            </a:r>
            <a:r>
              <a:rPr kumimoji="0" lang="en-US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 </a:t>
            </a:r>
            <a:r>
              <a:rPr kumimoji="0" lang="en-US" altLang="en-US" sz="2000" b="0" i="0" u="none" strike="noStrike" kern="1200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</a:rPr>
              <a:t>projekta</a:t>
            </a:r>
            <a:r>
              <a:rPr kumimoji="0" lang="hr-HR" altLang="en-US" sz="2000" b="0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.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effectLst/>
              <a:latin typeface="Bahnschrift SemiLight" panose="020B0502040204020203" pitchFamily="34" charset="0"/>
            </a:endParaRPr>
          </a:p>
          <a:p>
            <a:pPr marR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endParaRPr kumimoji="0" lang="hr-HR" altLang="en-US" sz="2000" b="0" i="0" u="none" strike="noStrike" kern="1200" cap="none" normalizeH="0" baseline="0" dirty="0">
              <a:ln>
                <a:noFill/>
              </a:ln>
              <a:effectLst/>
              <a:latin typeface="Bahnschrift SemiLight" panose="020B0502040204020203" pitchFamily="34" charset="0"/>
            </a:endParaRPr>
          </a:p>
          <a:p>
            <a:pPr marR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hr-HR" altLang="en-US" sz="2000" b="1" i="0" u="none" strike="noStrike" kern="1200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</a:rPr>
              <a:t>Uravnoteženje ova tri elementa osigurava jasnoću, učinkovitost i odgovornost u provedbi projekta.</a:t>
            </a:r>
          </a:p>
        </p:txBody>
      </p:sp>
    </p:spTree>
    <p:extLst>
      <p:ext uri="{BB962C8B-B14F-4D97-AF65-F5344CB8AC3E}">
        <p14:creationId xmlns:p14="http://schemas.microsoft.com/office/powerpoint/2010/main" val="57226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85FE-9035-F52C-9454-10DC7B1C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>
            <a:normAutofit/>
          </a:bodyPr>
          <a:lstStyle/>
          <a:p>
            <a:r>
              <a:rPr lang="sv-SE" dirty="0"/>
              <a:t>Tri modela donošenja odluka u upravljanju IT projektima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F43B0-4F45-9B3F-CFEA-719BFE55E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561" y="1690688"/>
            <a:ext cx="11274911" cy="4351338"/>
          </a:xfrm>
        </p:spPr>
        <p:txBody>
          <a:bodyPr>
            <a:noAutofit/>
          </a:bodyPr>
          <a:lstStyle/>
          <a:p>
            <a:pPr marL="0" indent="-514350" fontAlgn="base">
              <a:spcAft>
                <a:spcPct val="0"/>
              </a:spcAft>
              <a:buAutoNum type="arabicPeriod"/>
            </a:pPr>
            <a:r>
              <a:rPr lang="en-US" sz="2400" b="1" dirty="0">
                <a:solidFill>
                  <a:srgbClr val="0ADBBC"/>
                </a:solidFill>
              </a:rPr>
              <a:t>RACIONALNI MODEL DONOŠENJA ODLUKA</a:t>
            </a:r>
          </a:p>
          <a:p>
            <a:pPr>
              <a:buNone/>
            </a:pPr>
            <a:r>
              <a:rPr lang="en-US" sz="2200" b="1" dirty="0">
                <a:solidFill>
                  <a:srgbClr val="0ADBBC"/>
                </a:solidFill>
              </a:rPr>
              <a:t>Najprikladniji za: </a:t>
            </a:r>
            <a:r>
              <a:rPr lang="en-US" sz="2200" dirty="0" err="1"/>
              <a:t>Strukturirane</a:t>
            </a:r>
            <a:r>
              <a:rPr lang="en-US" sz="2200" dirty="0"/>
              <a:t> </a:t>
            </a:r>
            <a:r>
              <a:rPr lang="en-US" sz="2200" dirty="0" err="1"/>
              <a:t>odluke</a:t>
            </a:r>
            <a:r>
              <a:rPr lang="en-US" sz="2200" dirty="0"/>
              <a:t> </a:t>
            </a:r>
            <a:r>
              <a:rPr lang="en-US" sz="2200" dirty="0" err="1"/>
              <a:t>temeljene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</a:t>
            </a:r>
            <a:r>
              <a:rPr lang="en-US" sz="2200" dirty="0" err="1"/>
              <a:t>podacima</a:t>
            </a:r>
            <a:r>
              <a:rPr lang="en-US" sz="2200" dirty="0"/>
              <a:t> (</a:t>
            </a:r>
            <a:r>
              <a:rPr lang="en-US" sz="2200" dirty="0" err="1"/>
              <a:t>npr</a:t>
            </a:r>
            <a:r>
              <a:rPr lang="en-US" sz="2200" dirty="0"/>
              <a:t>. </a:t>
            </a:r>
            <a:r>
              <a:rPr lang="en-US" sz="2200" dirty="0" err="1"/>
              <a:t>odabir</a:t>
            </a:r>
            <a:r>
              <a:rPr lang="en-US" sz="2200" dirty="0"/>
              <a:t> </a:t>
            </a:r>
            <a:r>
              <a:rPr lang="en-US" sz="2200" dirty="0" err="1"/>
              <a:t>tehnološkog</a:t>
            </a:r>
            <a:r>
              <a:rPr lang="en-US" sz="2200" dirty="0"/>
              <a:t> </a:t>
            </a:r>
            <a:r>
              <a:rPr lang="en-US" sz="2200" i="1" dirty="0" err="1"/>
              <a:t>stacka</a:t>
            </a:r>
            <a:r>
              <a:rPr lang="en-US" sz="2200" dirty="0"/>
              <a:t>, </a:t>
            </a:r>
            <a:r>
              <a:rPr lang="en-US" sz="2200" dirty="0" err="1"/>
              <a:t>budžetiranje</a:t>
            </a:r>
            <a:r>
              <a:rPr lang="en-US" sz="2200" dirty="0"/>
              <a:t>).</a:t>
            </a:r>
          </a:p>
          <a:p>
            <a:pPr>
              <a:buNone/>
            </a:pPr>
            <a:r>
              <a:rPr lang="fi-FI" sz="2200" b="1" dirty="0">
                <a:solidFill>
                  <a:srgbClr val="0ADBBC"/>
                </a:solidFill>
              </a:rPr>
              <a:t>Zašto se koristi u IT projektima</a:t>
            </a:r>
            <a:r>
              <a:rPr lang="en-US" sz="2200" b="1" dirty="0">
                <a:solidFill>
                  <a:srgbClr val="0ADBBC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IT </a:t>
            </a:r>
            <a:r>
              <a:rPr lang="en-US" sz="2000" dirty="0" err="1"/>
              <a:t>projekti</a:t>
            </a:r>
            <a:r>
              <a:rPr lang="en-US" sz="2000" dirty="0"/>
              <a:t> </a:t>
            </a:r>
            <a:r>
              <a:rPr lang="en-US" sz="2000" dirty="0" err="1"/>
              <a:t>zahtijevaju</a:t>
            </a:r>
            <a:r>
              <a:rPr lang="en-US" sz="2000" dirty="0"/>
              <a:t> </a:t>
            </a:r>
            <a:r>
              <a:rPr lang="en-US" sz="2000" dirty="0" err="1"/>
              <a:t>pažljivu</a:t>
            </a:r>
            <a:r>
              <a:rPr lang="en-US" sz="2000" dirty="0"/>
              <a:t> </a:t>
            </a:r>
            <a:r>
              <a:rPr lang="en-US" sz="2000" b="1" dirty="0" err="1"/>
              <a:t>analizu</a:t>
            </a:r>
            <a:r>
              <a:rPr lang="en-US" sz="2000" b="1" dirty="0"/>
              <a:t> </a:t>
            </a:r>
            <a:r>
              <a:rPr lang="en-US" sz="2000" b="1" dirty="0" err="1"/>
              <a:t>zahtjeva</a:t>
            </a:r>
            <a:r>
              <a:rPr lang="en-US" sz="2000" dirty="0"/>
              <a:t> i </a:t>
            </a:r>
            <a:r>
              <a:rPr lang="en-US" sz="2000" b="1" dirty="0" err="1"/>
              <a:t>procjenu</a:t>
            </a:r>
            <a:r>
              <a:rPr lang="en-US" sz="2000" b="1" dirty="0"/>
              <a:t> </a:t>
            </a:r>
            <a:r>
              <a:rPr lang="en-US" sz="2000" b="1" dirty="0" err="1"/>
              <a:t>rizika</a:t>
            </a:r>
            <a:r>
              <a:rPr lang="en-US" sz="2000" b="1" dirty="0"/>
              <a:t> </a:t>
            </a:r>
            <a:r>
              <a:rPr lang="en-US" sz="2000" dirty="0" err="1"/>
              <a:t>prije</a:t>
            </a:r>
            <a:r>
              <a:rPr lang="en-US" sz="2000" dirty="0"/>
              <a:t> </a:t>
            </a:r>
            <a:r>
              <a:rPr lang="en-US" sz="2000" dirty="0" err="1"/>
              <a:t>implementacije</a:t>
            </a:r>
            <a:r>
              <a:rPr lang="en-US" sz="20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err="1"/>
              <a:t>Pomaže</a:t>
            </a:r>
            <a:r>
              <a:rPr lang="en-US" sz="2000" dirty="0"/>
              <a:t> u </a:t>
            </a:r>
            <a:r>
              <a:rPr lang="en-US" sz="2000" dirty="0" err="1"/>
              <a:t>odabiru</a:t>
            </a:r>
            <a:r>
              <a:rPr lang="en-US" sz="2000" dirty="0"/>
              <a:t> </a:t>
            </a:r>
            <a:r>
              <a:rPr lang="en-US" sz="2000" b="1" dirty="0" err="1"/>
              <a:t>optimalnih</a:t>
            </a:r>
            <a:r>
              <a:rPr lang="en-US" sz="2000" b="1" dirty="0"/>
              <a:t> </a:t>
            </a:r>
            <a:r>
              <a:rPr lang="en-US" sz="2000" b="1" dirty="0" err="1"/>
              <a:t>rješenja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temelju</a:t>
            </a:r>
            <a:r>
              <a:rPr lang="en-US" sz="2000" dirty="0"/>
              <a:t> </a:t>
            </a:r>
            <a:r>
              <a:rPr lang="en-US" sz="2000" dirty="0" err="1"/>
              <a:t>troškova</a:t>
            </a:r>
            <a:r>
              <a:rPr lang="en-US" sz="2000" dirty="0"/>
              <a:t>, </a:t>
            </a:r>
            <a:r>
              <a:rPr lang="en-US" sz="2000" dirty="0" err="1"/>
              <a:t>izvedivosti</a:t>
            </a:r>
            <a:r>
              <a:rPr lang="en-US" sz="2000" dirty="0"/>
              <a:t> i </a:t>
            </a:r>
            <a:r>
              <a:rPr lang="en-US" sz="2000" dirty="0" err="1"/>
              <a:t>utjecaja</a:t>
            </a:r>
            <a:r>
              <a:rPr lang="en-US" sz="2000" dirty="0"/>
              <a:t>.</a:t>
            </a:r>
            <a:endParaRPr lang="en-US" sz="2000" b="1" dirty="0"/>
          </a:p>
          <a:p>
            <a:pPr>
              <a:buNone/>
            </a:pPr>
            <a:r>
              <a:rPr lang="hr-HR" sz="2200" b="1" dirty="0">
                <a:solidFill>
                  <a:srgbClr val="0ADBBC"/>
                </a:solidFill>
              </a:rPr>
              <a:t>Primjer</a:t>
            </a:r>
            <a:r>
              <a:rPr lang="en-US" sz="2200" b="1" dirty="0">
                <a:solidFill>
                  <a:srgbClr val="0ADBBC"/>
                </a:solidFill>
              </a:rPr>
              <a:t>:</a:t>
            </a:r>
            <a:endParaRPr lang="hr-HR" sz="2200" b="1" dirty="0">
              <a:solidFill>
                <a:srgbClr val="0ADBBC"/>
              </a:solidFill>
            </a:endParaRPr>
          </a:p>
          <a:p>
            <a:pPr>
              <a:buNone/>
            </a:pPr>
            <a:r>
              <a:rPr lang="en-US" sz="2200" dirty="0"/>
              <a:t>IT </a:t>
            </a:r>
            <a:r>
              <a:rPr lang="en-US" sz="2200" dirty="0" err="1"/>
              <a:t>menadžer</a:t>
            </a:r>
            <a:r>
              <a:rPr lang="en-US" sz="2200" dirty="0"/>
              <a:t> </a:t>
            </a:r>
            <a:r>
              <a:rPr lang="en-US" sz="2200" dirty="0" err="1"/>
              <a:t>procjenjuje</a:t>
            </a:r>
            <a:r>
              <a:rPr lang="en-US" sz="2200" dirty="0"/>
              <a:t> </a:t>
            </a:r>
            <a:r>
              <a:rPr lang="en-US" sz="2200" dirty="0" err="1"/>
              <a:t>više</a:t>
            </a:r>
            <a:r>
              <a:rPr lang="en-US" sz="2200" dirty="0"/>
              <a:t> </a:t>
            </a:r>
            <a:r>
              <a:rPr lang="en-US" sz="2200" dirty="0" err="1"/>
              <a:t>pružatelja</a:t>
            </a:r>
            <a:r>
              <a:rPr lang="en-US" sz="2200" dirty="0"/>
              <a:t> cloud </a:t>
            </a:r>
            <a:r>
              <a:rPr lang="en-US" sz="2200" dirty="0" err="1"/>
              <a:t>usluga</a:t>
            </a:r>
            <a:r>
              <a:rPr lang="en-US" sz="2200" dirty="0"/>
              <a:t> </a:t>
            </a:r>
            <a:r>
              <a:rPr lang="en-US" sz="2200" dirty="0" err="1"/>
              <a:t>analizirajući</a:t>
            </a:r>
            <a:r>
              <a:rPr lang="en-US" sz="2200" dirty="0"/>
              <a:t> </a:t>
            </a:r>
            <a:r>
              <a:rPr lang="en-US" sz="2200" dirty="0" err="1"/>
              <a:t>čimbenike</a:t>
            </a:r>
            <a:r>
              <a:rPr lang="en-US" sz="2200" dirty="0"/>
              <a:t> </a:t>
            </a:r>
            <a:endParaRPr lang="hr-HR" sz="2200" dirty="0"/>
          </a:p>
          <a:p>
            <a:pPr>
              <a:buNone/>
            </a:pPr>
            <a:r>
              <a:rPr lang="en-US" sz="2200" dirty="0" err="1"/>
              <a:t>poput</a:t>
            </a:r>
            <a:r>
              <a:rPr lang="en-US" sz="2200" dirty="0"/>
              <a:t> </a:t>
            </a:r>
            <a:r>
              <a:rPr lang="en-US" sz="2200" b="1" dirty="0" err="1"/>
              <a:t>troškova</a:t>
            </a:r>
            <a:r>
              <a:rPr lang="en-US" sz="2200" b="1" dirty="0"/>
              <a:t>, </a:t>
            </a:r>
            <a:r>
              <a:rPr lang="en-US" sz="2200" b="1" dirty="0" err="1"/>
              <a:t>skalabilnosti</a:t>
            </a:r>
            <a:r>
              <a:rPr lang="en-US" sz="2200" b="1" dirty="0"/>
              <a:t>, </a:t>
            </a:r>
            <a:r>
              <a:rPr lang="en-US" sz="2200" b="1" dirty="0" err="1"/>
              <a:t>sigurnosti</a:t>
            </a:r>
            <a:r>
              <a:rPr lang="en-US" sz="2200" b="1" dirty="0"/>
              <a:t> i </a:t>
            </a:r>
            <a:r>
              <a:rPr lang="en-US" sz="2200" b="1" dirty="0" err="1"/>
              <a:t>integracije</a:t>
            </a:r>
            <a:r>
              <a:rPr lang="en-US" sz="2200" dirty="0"/>
              <a:t> </a:t>
            </a:r>
            <a:r>
              <a:rPr lang="en-US" sz="2200" dirty="0" err="1"/>
              <a:t>prije</a:t>
            </a:r>
            <a:r>
              <a:rPr lang="en-US" sz="2200" dirty="0"/>
              <a:t> </a:t>
            </a:r>
            <a:r>
              <a:rPr lang="en-US" sz="2200" dirty="0" err="1"/>
              <a:t>donošenja</a:t>
            </a:r>
            <a:r>
              <a:rPr lang="en-US" sz="2200" dirty="0"/>
              <a:t> </a:t>
            </a:r>
            <a:r>
              <a:rPr lang="en-US" sz="2200" dirty="0" err="1"/>
              <a:t>odluke</a:t>
            </a:r>
            <a:r>
              <a:rPr lang="en-US" sz="2200" dirty="0"/>
              <a:t>.</a:t>
            </a:r>
            <a:r>
              <a:rPr lang="hr-HR" sz="2200" dirty="0"/>
              <a:t> </a:t>
            </a:r>
            <a:endParaRPr lang="en-US" sz="2200" dirty="0"/>
          </a:p>
          <a:p>
            <a:pPr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200" b="1" dirty="0" err="1"/>
              <a:t>Prednosti</a:t>
            </a:r>
            <a:r>
              <a:rPr lang="en-US" sz="2200" b="1" dirty="0"/>
              <a:t>: </a:t>
            </a:r>
            <a:r>
              <a:rPr lang="en-US" sz="2200" dirty="0" err="1"/>
              <a:t>Smanjuje</a:t>
            </a:r>
            <a:r>
              <a:rPr lang="en-US" sz="2200" dirty="0"/>
              <a:t> </a:t>
            </a:r>
            <a:r>
              <a:rPr lang="en-US" sz="2200" dirty="0" err="1"/>
              <a:t>rizike</a:t>
            </a:r>
            <a:r>
              <a:rPr lang="en-US" sz="2200" dirty="0"/>
              <a:t>, </a:t>
            </a:r>
            <a:r>
              <a:rPr lang="en-US" sz="2200" dirty="0" err="1"/>
              <a:t>osigurava</a:t>
            </a:r>
            <a:r>
              <a:rPr lang="en-US" sz="2200" dirty="0"/>
              <a:t> </a:t>
            </a:r>
            <a:r>
              <a:rPr lang="en-US" sz="2200" dirty="0" err="1"/>
              <a:t>logičnu</a:t>
            </a:r>
            <a:r>
              <a:rPr lang="en-US" sz="2200" dirty="0"/>
              <a:t> </a:t>
            </a:r>
            <a:r>
              <a:rPr lang="en-US" sz="2200" dirty="0" err="1"/>
              <a:t>analizu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r>
              <a:rPr lang="en-US" sz="2200" b="1" dirty="0" err="1"/>
              <a:t>Nedostaci</a:t>
            </a:r>
            <a:r>
              <a:rPr lang="en-US" sz="2200" b="1" dirty="0"/>
              <a:t>: </a:t>
            </a:r>
            <a:r>
              <a:rPr lang="en-US" sz="2200" dirty="0" err="1"/>
              <a:t>Oduzima</a:t>
            </a:r>
            <a:r>
              <a:rPr lang="en-US" sz="2200" dirty="0"/>
              <a:t> </a:t>
            </a:r>
            <a:r>
              <a:rPr lang="en-US" sz="2200" dirty="0" err="1"/>
              <a:t>vrijeme</a:t>
            </a:r>
            <a:r>
              <a:rPr lang="en-US" sz="2200" dirty="0"/>
              <a:t>, </a:t>
            </a:r>
            <a:r>
              <a:rPr lang="en-US" sz="2200" dirty="0" err="1"/>
              <a:t>možda</a:t>
            </a:r>
            <a:r>
              <a:rPr lang="en-US" sz="2200" dirty="0"/>
              <a:t> </a:t>
            </a:r>
            <a:r>
              <a:rPr lang="en-US" sz="2200" dirty="0" err="1"/>
              <a:t>nije</a:t>
            </a:r>
            <a:r>
              <a:rPr lang="en-US" sz="2200" dirty="0"/>
              <a:t> </a:t>
            </a:r>
            <a:r>
              <a:rPr lang="en-US" sz="2200" dirty="0" err="1"/>
              <a:t>prikladan</a:t>
            </a:r>
            <a:r>
              <a:rPr lang="en-US" sz="2200" dirty="0"/>
              <a:t> za </a:t>
            </a:r>
            <a:r>
              <a:rPr lang="en-US" sz="2200" dirty="0" err="1"/>
              <a:t>hitne</a:t>
            </a:r>
            <a:r>
              <a:rPr lang="en-US" sz="2200" dirty="0"/>
              <a:t> </a:t>
            </a:r>
            <a:r>
              <a:rPr lang="en-US" sz="2200" dirty="0" err="1"/>
              <a:t>odluke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61880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243F-5355-B3BB-7440-C67E35FE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F57B-71F7-D581-2336-6D03D107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5733"/>
            <a:ext cx="10515600" cy="1325563"/>
          </a:xfrm>
        </p:spPr>
        <p:txBody>
          <a:bodyPr>
            <a:normAutofit/>
          </a:bodyPr>
          <a:lstStyle/>
          <a:p>
            <a:r>
              <a:rPr lang="sv-SE" dirty="0"/>
              <a:t>Tri modela donošenja odluka u upravljanju IT projektima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DECDC-E814-FE34-FED6-E30846381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690688"/>
            <a:ext cx="10698479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ADBBC"/>
                </a:solidFill>
              </a:rPr>
              <a:t>2. AGILNI MODEL DONOŠENJA ODLUKA (ADAPTIVNI PRISTUP)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2200" b="1" dirty="0">
                <a:solidFill>
                  <a:srgbClr val="0ADBBC"/>
                </a:solidFill>
              </a:rPr>
              <a:t>Najprikladniji za: </a:t>
            </a:r>
            <a:r>
              <a:rPr lang="pl-PL" sz="2000" dirty="0"/>
              <a:t>Brze, iterativne odluke u </a:t>
            </a:r>
            <a:r>
              <a:rPr lang="pl-PL" sz="2000" b="1" dirty="0"/>
              <a:t>agilnim i </a:t>
            </a:r>
            <a:r>
              <a:rPr lang="pl-PL" sz="2000" b="1" i="1" dirty="0"/>
              <a:t>scrum</a:t>
            </a:r>
            <a:r>
              <a:rPr lang="pl-PL" sz="2000" b="1" dirty="0"/>
              <a:t> projektima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fi-FI" sz="2200" b="1" dirty="0">
                <a:solidFill>
                  <a:srgbClr val="0ADBBC"/>
                </a:solidFill>
              </a:rPr>
              <a:t>Zašto se koristi u IT projektima</a:t>
            </a:r>
            <a:r>
              <a:rPr lang="en-US" sz="2200" b="1" dirty="0">
                <a:solidFill>
                  <a:srgbClr val="0ADBBC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IT </a:t>
            </a:r>
            <a:r>
              <a:rPr lang="en-US" sz="2000" dirty="0" err="1"/>
              <a:t>projekti</a:t>
            </a:r>
            <a:r>
              <a:rPr lang="en-US" sz="2000" dirty="0"/>
              <a:t> </a:t>
            </a:r>
            <a:r>
              <a:rPr lang="en-US" sz="2000" dirty="0" err="1"/>
              <a:t>često</a:t>
            </a:r>
            <a:r>
              <a:rPr lang="en-US" sz="2000" dirty="0"/>
              <a:t> </a:t>
            </a:r>
            <a:r>
              <a:rPr lang="en-US" sz="2000" dirty="0" err="1"/>
              <a:t>djeluju</a:t>
            </a:r>
            <a:r>
              <a:rPr lang="en-US" sz="2000" dirty="0"/>
              <a:t> u </a:t>
            </a:r>
            <a:r>
              <a:rPr lang="en-US" sz="2000" b="1" dirty="0" err="1"/>
              <a:t>dinamičnim</a:t>
            </a:r>
            <a:r>
              <a:rPr lang="en-US" sz="2000" b="1" dirty="0"/>
              <a:t> </a:t>
            </a:r>
            <a:r>
              <a:rPr lang="en-US" sz="2000" b="1" dirty="0" err="1"/>
              <a:t>okruženjima</a:t>
            </a:r>
            <a:r>
              <a:rPr lang="en-US" sz="2000" dirty="0"/>
              <a:t> u </a:t>
            </a:r>
            <a:r>
              <a:rPr lang="en-US" sz="2000" dirty="0" err="1"/>
              <a:t>kojima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promjene</a:t>
            </a:r>
            <a:r>
              <a:rPr lang="en-US" sz="2000" dirty="0"/>
              <a:t> </a:t>
            </a:r>
            <a:r>
              <a:rPr lang="en-US" sz="2000" dirty="0" err="1"/>
              <a:t>česte</a:t>
            </a:r>
            <a:r>
              <a:rPr lang="en-US" sz="20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err="1"/>
              <a:t>Agilne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</a:t>
            </a:r>
            <a:r>
              <a:rPr lang="en-US" sz="2000" dirty="0" err="1"/>
              <a:t>omogućuju</a:t>
            </a:r>
            <a:r>
              <a:rPr lang="en-US" sz="2000" dirty="0"/>
              <a:t> </a:t>
            </a:r>
            <a:r>
              <a:rPr lang="en-US" sz="2000" b="1" dirty="0" err="1"/>
              <a:t>kontinuiranu</a:t>
            </a:r>
            <a:r>
              <a:rPr lang="en-US" sz="2000" b="1" dirty="0"/>
              <a:t> </a:t>
            </a:r>
            <a:r>
              <a:rPr lang="en-US" sz="2000" b="1" dirty="0" err="1"/>
              <a:t>povratnu</a:t>
            </a:r>
            <a:r>
              <a:rPr lang="en-US" sz="2000" b="1" dirty="0"/>
              <a:t> </a:t>
            </a:r>
            <a:r>
              <a:rPr lang="en-US" sz="2000" b="1" dirty="0" err="1"/>
              <a:t>informaciju</a:t>
            </a:r>
            <a:r>
              <a:rPr lang="en-US" sz="2000" b="1" dirty="0"/>
              <a:t> i </a:t>
            </a:r>
            <a:r>
              <a:rPr lang="en-US" sz="2000" b="1" dirty="0" err="1"/>
              <a:t>postupna</a:t>
            </a:r>
            <a:r>
              <a:rPr lang="en-US" sz="2000" b="1" dirty="0"/>
              <a:t> </a:t>
            </a:r>
            <a:r>
              <a:rPr lang="en-US" sz="2000" b="1" dirty="0" err="1"/>
              <a:t>poboljšanja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hr-HR" sz="2200" b="1" dirty="0">
                <a:solidFill>
                  <a:srgbClr val="0ADBBC"/>
                </a:solidFill>
              </a:rPr>
              <a:t>Primjer</a:t>
            </a:r>
            <a:r>
              <a:rPr lang="en-US" sz="2200" b="1" dirty="0">
                <a:solidFill>
                  <a:srgbClr val="0ADBBC"/>
                </a:solidFill>
              </a:rPr>
              <a:t>:</a:t>
            </a:r>
            <a:br>
              <a:rPr lang="en-US" sz="2000" dirty="0"/>
            </a:br>
            <a:r>
              <a:rPr lang="en-US" sz="2000" dirty="0"/>
              <a:t>Tim za </a:t>
            </a:r>
            <a:r>
              <a:rPr lang="en-US" sz="2000" dirty="0" err="1"/>
              <a:t>razvoj</a:t>
            </a:r>
            <a:r>
              <a:rPr lang="en-US" sz="2000" dirty="0"/>
              <a:t> </a:t>
            </a:r>
            <a:r>
              <a:rPr lang="en-US" sz="2000" dirty="0" err="1"/>
              <a:t>softvera</a:t>
            </a:r>
            <a:r>
              <a:rPr lang="en-US" sz="2000" dirty="0"/>
              <a:t> </a:t>
            </a:r>
            <a:r>
              <a:rPr lang="en-US" sz="2000" dirty="0" err="1"/>
              <a:t>koristi</a:t>
            </a:r>
            <a:r>
              <a:rPr lang="en-US" sz="2000" dirty="0"/>
              <a:t> </a:t>
            </a:r>
            <a:r>
              <a:rPr lang="en-US" sz="2000" dirty="0" err="1"/>
              <a:t>agilno</a:t>
            </a:r>
            <a:r>
              <a:rPr lang="en-US" sz="2000" dirty="0"/>
              <a:t> </a:t>
            </a:r>
            <a:r>
              <a:rPr lang="en-US" sz="2000" dirty="0" err="1"/>
              <a:t>donošenje</a:t>
            </a:r>
            <a:r>
              <a:rPr lang="en-US" sz="2000" dirty="0"/>
              <a:t> </a:t>
            </a:r>
            <a:r>
              <a:rPr lang="en-US" sz="2000" dirty="0" err="1"/>
              <a:t>odluka</a:t>
            </a:r>
            <a:r>
              <a:rPr lang="en-US" sz="2000" dirty="0"/>
              <a:t> </a:t>
            </a:r>
            <a:r>
              <a:rPr lang="en-US" sz="2000" dirty="0" err="1"/>
              <a:t>kako</a:t>
            </a:r>
            <a:r>
              <a:rPr lang="en-US" sz="2000" dirty="0"/>
              <a:t> bi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sastanku</a:t>
            </a:r>
            <a:r>
              <a:rPr lang="en-US" sz="2000" dirty="0"/>
              <a:t> </a:t>
            </a:r>
            <a:r>
              <a:rPr lang="en-US" sz="2000" dirty="0" err="1"/>
              <a:t>planiranja</a:t>
            </a:r>
            <a:r>
              <a:rPr lang="en-US" sz="2000" dirty="0"/>
              <a:t> </a:t>
            </a:r>
            <a:r>
              <a:rPr lang="en-US" sz="2000" i="1" dirty="0" err="1"/>
              <a:t>sprinta</a:t>
            </a:r>
            <a:r>
              <a:rPr lang="hr-HR" sz="2000" i="1" dirty="0"/>
              <a:t> </a:t>
            </a:r>
            <a:r>
              <a:rPr lang="en-US" sz="2000" dirty="0" err="1"/>
              <a:t>odredio</a:t>
            </a:r>
            <a:r>
              <a:rPr lang="en-US" sz="2000" dirty="0"/>
              <a:t> </a:t>
            </a:r>
            <a:r>
              <a:rPr lang="hr-HR" sz="2000" dirty="0"/>
              <a:t>koje su </a:t>
            </a:r>
            <a:r>
              <a:rPr lang="hr-HR" sz="2000" b="1" dirty="0"/>
              <a:t>korisničke priče </a:t>
            </a:r>
            <a:r>
              <a:rPr lang="en-US" sz="2000" b="1" dirty="0" err="1"/>
              <a:t>prioritet</a:t>
            </a:r>
            <a:r>
              <a:rPr lang="en-US" sz="2000" dirty="0"/>
              <a:t>,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temelju</a:t>
            </a:r>
            <a:r>
              <a:rPr lang="en-US" sz="2000" dirty="0"/>
              <a:t> </a:t>
            </a:r>
            <a:r>
              <a:rPr lang="en-US" sz="2000" dirty="0" err="1"/>
              <a:t>poslovne</a:t>
            </a:r>
            <a:r>
              <a:rPr lang="en-US" sz="2000" dirty="0"/>
              <a:t> </a:t>
            </a:r>
            <a:r>
              <a:rPr lang="en-US" sz="2000" dirty="0" err="1"/>
              <a:t>vrijednosti</a:t>
            </a:r>
            <a:r>
              <a:rPr lang="en-US" sz="2000" dirty="0"/>
              <a:t> i </a:t>
            </a:r>
            <a:r>
              <a:rPr lang="en-US" sz="2000" dirty="0" err="1"/>
              <a:t>tehničke</a:t>
            </a:r>
            <a:r>
              <a:rPr lang="en-US" sz="2000" dirty="0"/>
              <a:t> </a:t>
            </a:r>
            <a:r>
              <a:rPr lang="en-US" sz="2000" dirty="0" err="1"/>
              <a:t>složenosti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000" b="1" dirty="0" err="1"/>
              <a:t>Prednosti</a:t>
            </a:r>
            <a:r>
              <a:rPr lang="en-US" sz="2000" b="1" dirty="0"/>
              <a:t>: </a:t>
            </a:r>
            <a:r>
              <a:rPr lang="en-US" sz="2000" dirty="0" err="1"/>
              <a:t>Fleksibilan</a:t>
            </a:r>
            <a:r>
              <a:rPr lang="en-US" sz="2000" dirty="0"/>
              <a:t>, </a:t>
            </a:r>
            <a:r>
              <a:rPr lang="en-US" sz="2000" dirty="0" err="1"/>
              <a:t>potiče</a:t>
            </a:r>
            <a:r>
              <a:rPr lang="en-US" sz="2000" dirty="0"/>
              <a:t> </a:t>
            </a:r>
            <a:r>
              <a:rPr lang="en-US" sz="2000" dirty="0" err="1"/>
              <a:t>suradnju</a:t>
            </a:r>
            <a:r>
              <a:rPr lang="en-US" sz="2000" dirty="0"/>
              <a:t>, </a:t>
            </a:r>
            <a:r>
              <a:rPr lang="en-US" sz="2000" dirty="0" err="1"/>
              <a:t>prilagođava</a:t>
            </a:r>
            <a:r>
              <a:rPr lang="en-US" sz="2000" dirty="0"/>
              <a:t> se </a:t>
            </a:r>
            <a:r>
              <a:rPr lang="en-US" sz="2000" dirty="0" err="1"/>
              <a:t>promjenama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 err="1"/>
              <a:t>Nedostaci</a:t>
            </a:r>
            <a:r>
              <a:rPr lang="en-US" sz="2000" b="1" dirty="0"/>
              <a:t>: </a:t>
            </a:r>
            <a:r>
              <a:rPr lang="en-US" sz="2000" dirty="0" err="1"/>
              <a:t>Može</a:t>
            </a:r>
            <a:r>
              <a:rPr lang="en-US" sz="2000" dirty="0"/>
              <a:t> </a:t>
            </a:r>
            <a:r>
              <a:rPr lang="en-US" sz="2000" dirty="0" err="1"/>
              <a:t>dovesti</a:t>
            </a:r>
            <a:r>
              <a:rPr lang="en-US" sz="2000" dirty="0"/>
              <a:t> do </a:t>
            </a:r>
            <a:r>
              <a:rPr lang="en-US" sz="2000" dirty="0" err="1"/>
              <a:t>širenja</a:t>
            </a:r>
            <a:r>
              <a:rPr lang="en-US" sz="2000" dirty="0"/>
              <a:t> </a:t>
            </a:r>
            <a:r>
              <a:rPr lang="en-US" sz="2000" dirty="0" err="1"/>
              <a:t>opsega</a:t>
            </a:r>
            <a:r>
              <a:rPr lang="en-US" sz="2000" dirty="0"/>
              <a:t> </a:t>
            </a:r>
            <a:r>
              <a:rPr lang="en-US" sz="2000" dirty="0" err="1"/>
              <a:t>ako</a:t>
            </a:r>
            <a:r>
              <a:rPr lang="en-US" sz="2000" dirty="0"/>
              <a:t> se ne </a:t>
            </a:r>
            <a:r>
              <a:rPr lang="en-US" sz="2000" dirty="0" err="1"/>
              <a:t>upravlja</a:t>
            </a:r>
            <a:r>
              <a:rPr lang="en-US" sz="2000" dirty="0"/>
              <a:t> </a:t>
            </a:r>
            <a:r>
              <a:rPr lang="en-US" sz="2000" dirty="0" err="1"/>
              <a:t>pravilno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58881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8B611-87E5-A927-F4B7-50EDE01C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2186-65B0-C000-B5E4-8FE27F71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/>
              <a:t>Tri modela donošenja odluka u upravljanju IT projektima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00685-BDA4-E05F-8801-2B6605791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016" y="1690688"/>
            <a:ext cx="105156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ADBBC"/>
                </a:solidFill>
              </a:rPr>
              <a:t>3. </a:t>
            </a:r>
            <a:r>
              <a:rPr lang="it-IT" sz="2400" b="1" dirty="0">
                <a:solidFill>
                  <a:srgbClr val="0ADBBC"/>
                </a:solidFill>
              </a:rPr>
              <a:t>ANALIZA TROŠKOVA I KORISTI (</a:t>
            </a:r>
            <a:r>
              <a:rPr lang="en-US" sz="2400" b="1" dirty="0">
                <a:solidFill>
                  <a:srgbClr val="0ADBBC"/>
                </a:solidFill>
              </a:rPr>
              <a:t>COST-BENEFIT ANALYSIS </a:t>
            </a:r>
            <a:r>
              <a:rPr lang="hr-HR" sz="2400" b="1" dirty="0">
                <a:solidFill>
                  <a:srgbClr val="0ADBBC"/>
                </a:solidFill>
              </a:rPr>
              <a:t>- </a:t>
            </a:r>
            <a:r>
              <a:rPr lang="en-US" sz="2400" b="1" dirty="0">
                <a:solidFill>
                  <a:srgbClr val="0ADBBC"/>
                </a:solidFill>
              </a:rPr>
              <a:t>CBA)</a:t>
            </a:r>
          </a:p>
          <a:p>
            <a:pPr>
              <a:buNone/>
            </a:pPr>
            <a:r>
              <a:rPr lang="en-US" sz="2200" b="1" dirty="0" err="1">
                <a:solidFill>
                  <a:srgbClr val="0ADBBC"/>
                </a:solidFill>
              </a:rPr>
              <a:t>Najprikladnij</a:t>
            </a:r>
            <a:r>
              <a:rPr lang="hr-HR" sz="2200" b="1" dirty="0">
                <a:solidFill>
                  <a:srgbClr val="0ADBBC"/>
                </a:solidFill>
              </a:rPr>
              <a:t>a</a:t>
            </a:r>
            <a:r>
              <a:rPr lang="en-US" sz="2200" b="1" dirty="0">
                <a:solidFill>
                  <a:srgbClr val="0ADBBC"/>
                </a:solidFill>
              </a:rPr>
              <a:t> za: </a:t>
            </a:r>
            <a:r>
              <a:rPr lang="en-US" sz="2000" dirty="0" err="1"/>
              <a:t>Odluke</a:t>
            </a:r>
            <a:r>
              <a:rPr lang="en-US" sz="2000" dirty="0"/>
              <a:t> </a:t>
            </a:r>
            <a:r>
              <a:rPr lang="en-US" sz="2000" dirty="0" err="1"/>
              <a:t>povezane</a:t>
            </a:r>
            <a:r>
              <a:rPr lang="en-US" sz="2000" dirty="0"/>
              <a:t> s </a:t>
            </a:r>
            <a:r>
              <a:rPr lang="en-US" sz="2000" dirty="0" err="1"/>
              <a:t>financijama</a:t>
            </a:r>
            <a:r>
              <a:rPr lang="en-US" sz="2000" dirty="0"/>
              <a:t> i </a:t>
            </a:r>
            <a:r>
              <a:rPr lang="en-US" sz="2000" dirty="0" err="1"/>
              <a:t>resursima</a:t>
            </a:r>
            <a:r>
              <a:rPr lang="en-US" sz="2000" dirty="0"/>
              <a:t> (</a:t>
            </a:r>
            <a:r>
              <a:rPr lang="en-US" sz="2000" dirty="0" err="1"/>
              <a:t>npr</a:t>
            </a:r>
            <a:r>
              <a:rPr lang="en-US" sz="2000" dirty="0"/>
              <a:t>. </a:t>
            </a:r>
            <a:r>
              <a:rPr lang="en-US" sz="2000" dirty="0" err="1"/>
              <a:t>ulaganja</a:t>
            </a:r>
            <a:r>
              <a:rPr lang="en-US" sz="2000" dirty="0"/>
              <a:t> u </a:t>
            </a:r>
            <a:r>
              <a:rPr lang="en-US" sz="2000" dirty="0" err="1"/>
              <a:t>softver</a:t>
            </a:r>
            <a:r>
              <a:rPr lang="en-US" sz="2000" dirty="0"/>
              <a:t>, outsourcing </a:t>
            </a:r>
            <a:r>
              <a:rPr lang="en-US" sz="2000" dirty="0" err="1"/>
              <a:t>naspram</a:t>
            </a:r>
            <a:r>
              <a:rPr lang="en-US" sz="2000" dirty="0"/>
              <a:t> </a:t>
            </a:r>
            <a:r>
              <a:rPr lang="en-US" sz="2000" dirty="0" err="1"/>
              <a:t>internog</a:t>
            </a:r>
            <a:r>
              <a:rPr lang="en-US" sz="2000" dirty="0"/>
              <a:t> </a:t>
            </a:r>
            <a:r>
              <a:rPr lang="en-US" sz="2000" dirty="0" err="1"/>
              <a:t>razvoja</a:t>
            </a:r>
            <a:r>
              <a:rPr lang="en-US" sz="2000" dirty="0"/>
              <a:t>).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fi-FI" sz="2200" b="1" dirty="0">
                <a:solidFill>
                  <a:srgbClr val="0ADBBC"/>
                </a:solidFill>
              </a:rPr>
              <a:t>Zašto se koristi u IT projektima</a:t>
            </a:r>
            <a:r>
              <a:rPr lang="en-US" sz="2200" b="1" dirty="0">
                <a:solidFill>
                  <a:srgbClr val="0ADBBC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IT </a:t>
            </a:r>
            <a:r>
              <a:rPr lang="en-US" sz="2000" dirty="0" err="1"/>
              <a:t>projekti</a:t>
            </a:r>
            <a:r>
              <a:rPr lang="en-US" sz="2000" dirty="0"/>
              <a:t> </a:t>
            </a:r>
            <a:r>
              <a:rPr lang="en-US" sz="2000" dirty="0" err="1"/>
              <a:t>često</a:t>
            </a:r>
            <a:r>
              <a:rPr lang="en-US" sz="2000" dirty="0"/>
              <a:t> </a:t>
            </a:r>
            <a:r>
              <a:rPr lang="en-US" sz="2000" dirty="0" err="1"/>
              <a:t>zahtijevaju</a:t>
            </a:r>
            <a:r>
              <a:rPr lang="en-US" sz="2000" dirty="0"/>
              <a:t> </a:t>
            </a:r>
            <a:r>
              <a:rPr lang="en-US" sz="2000" b="1" dirty="0" err="1"/>
              <a:t>odobrenja</a:t>
            </a:r>
            <a:r>
              <a:rPr lang="en-US" sz="2000" b="1" dirty="0"/>
              <a:t> </a:t>
            </a:r>
            <a:r>
              <a:rPr lang="en-US" sz="2000" b="1" dirty="0" err="1"/>
              <a:t>proračuna</a:t>
            </a:r>
            <a:r>
              <a:rPr lang="en-US" sz="2000" dirty="0"/>
              <a:t> i </a:t>
            </a:r>
            <a:r>
              <a:rPr lang="en-US" sz="2000" b="1" dirty="0" err="1"/>
              <a:t>izračune</a:t>
            </a:r>
            <a:r>
              <a:rPr lang="en-US" sz="2000" b="1" dirty="0"/>
              <a:t> </a:t>
            </a:r>
            <a:r>
              <a:rPr lang="en-US" sz="2000" b="1" dirty="0" err="1"/>
              <a:t>povrata</a:t>
            </a:r>
            <a:r>
              <a:rPr lang="en-US" sz="2000" b="1" dirty="0"/>
              <a:t> </a:t>
            </a:r>
            <a:r>
              <a:rPr lang="en-US" sz="2000" b="1" dirty="0" err="1"/>
              <a:t>ulaganja</a:t>
            </a:r>
            <a:r>
              <a:rPr lang="en-US" sz="2000" b="1" dirty="0"/>
              <a:t> (ROI)</a:t>
            </a:r>
            <a:r>
              <a:rPr lang="en-US" sz="2000" dirty="0"/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err="1"/>
              <a:t>Pomaže</a:t>
            </a:r>
            <a:r>
              <a:rPr lang="en-US" sz="2000" dirty="0"/>
              <a:t> u </a:t>
            </a:r>
            <a:r>
              <a:rPr lang="en-US" sz="2000" dirty="0" err="1"/>
              <a:t>odabiru</a:t>
            </a:r>
            <a:r>
              <a:rPr lang="en-US" sz="2000" dirty="0"/>
              <a:t> </a:t>
            </a:r>
            <a:r>
              <a:rPr lang="en-US" sz="2000" dirty="0" err="1"/>
              <a:t>između</a:t>
            </a:r>
            <a:r>
              <a:rPr lang="en-US" sz="2000" dirty="0"/>
              <a:t> </a:t>
            </a:r>
            <a:r>
              <a:rPr lang="en-US" sz="2000" b="1" dirty="0" err="1"/>
              <a:t>kupnje</a:t>
            </a:r>
            <a:r>
              <a:rPr lang="en-US" sz="2000" dirty="0"/>
              <a:t> i </a:t>
            </a:r>
            <a:r>
              <a:rPr lang="en-US" sz="2000" b="1" dirty="0" err="1"/>
              <a:t>razvoja</a:t>
            </a:r>
            <a:r>
              <a:rPr lang="en-US" sz="2000" dirty="0"/>
              <a:t> </a:t>
            </a:r>
            <a:r>
              <a:rPr lang="en-US" sz="2000" dirty="0" err="1"/>
              <a:t>vlastitih</a:t>
            </a:r>
            <a:r>
              <a:rPr lang="en-US" sz="2000" dirty="0"/>
              <a:t> </a:t>
            </a:r>
            <a:r>
              <a:rPr lang="en-US" sz="2000" dirty="0" err="1"/>
              <a:t>softverskih</a:t>
            </a:r>
            <a:r>
              <a:rPr lang="en-US" sz="2000" dirty="0"/>
              <a:t> </a:t>
            </a:r>
            <a:r>
              <a:rPr lang="en-US" sz="2000" dirty="0" err="1"/>
              <a:t>rješenja</a:t>
            </a:r>
            <a:r>
              <a:rPr lang="en-US" sz="2000" dirty="0"/>
              <a:t>.</a:t>
            </a:r>
          </a:p>
          <a:p>
            <a:pPr marL="457200" lvl="1" indent="0">
              <a:buNone/>
            </a:pPr>
            <a:endParaRPr lang="en-US" sz="1000" dirty="0"/>
          </a:p>
          <a:p>
            <a:pPr>
              <a:buNone/>
            </a:pPr>
            <a:r>
              <a:rPr lang="hr-HR" sz="2200" b="1" dirty="0">
                <a:solidFill>
                  <a:srgbClr val="0ADBBC"/>
                </a:solidFill>
              </a:rPr>
              <a:t>Primjer</a:t>
            </a:r>
            <a:r>
              <a:rPr lang="en-US" sz="2200" b="1" dirty="0">
                <a:solidFill>
                  <a:srgbClr val="0ADBBC"/>
                </a:solidFill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/>
              <a:t>Voditelj</a:t>
            </a:r>
            <a:r>
              <a:rPr lang="en-US" sz="2000" dirty="0"/>
              <a:t> </a:t>
            </a:r>
            <a:r>
              <a:rPr lang="en-US" sz="2000" dirty="0" err="1"/>
              <a:t>projekta</a:t>
            </a:r>
            <a:r>
              <a:rPr lang="en-US" sz="2000" dirty="0"/>
              <a:t> </a:t>
            </a:r>
            <a:r>
              <a:rPr lang="en-US" sz="2000" dirty="0" err="1"/>
              <a:t>uspoređuje</a:t>
            </a:r>
            <a:r>
              <a:rPr lang="en-US" sz="2000" dirty="0"/>
              <a:t> </a:t>
            </a:r>
            <a:r>
              <a:rPr lang="en-US" sz="2000" dirty="0" err="1"/>
              <a:t>troškove</a:t>
            </a:r>
            <a:r>
              <a:rPr lang="en-US" sz="2000" dirty="0"/>
              <a:t> </a:t>
            </a:r>
            <a:r>
              <a:rPr lang="en-US" sz="2000" b="1" dirty="0" err="1"/>
              <a:t>razvoja</a:t>
            </a:r>
            <a:r>
              <a:rPr lang="en-US" sz="2000" b="1" dirty="0"/>
              <a:t> </a:t>
            </a:r>
            <a:r>
              <a:rPr lang="en-US" sz="2000" b="1" dirty="0" err="1"/>
              <a:t>internog</a:t>
            </a:r>
            <a:r>
              <a:rPr lang="en-US" sz="2000" b="1" dirty="0"/>
              <a:t> CRM </a:t>
            </a:r>
            <a:r>
              <a:rPr lang="en-US" sz="2000" b="1" dirty="0" err="1"/>
              <a:t>sustava</a:t>
            </a:r>
            <a:r>
              <a:rPr lang="en-US" sz="2000" dirty="0"/>
              <a:t> s </a:t>
            </a:r>
            <a:r>
              <a:rPr lang="en-US" sz="2000" b="1" dirty="0" err="1"/>
              <a:t>pretplatom</a:t>
            </a:r>
            <a:r>
              <a:rPr lang="en-US" sz="2000" b="1" dirty="0"/>
              <a:t> </a:t>
            </a:r>
            <a:endParaRPr lang="hr-HR" sz="2000" b="1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 err="1"/>
              <a:t>na</a:t>
            </a:r>
            <a:r>
              <a:rPr lang="en-US" sz="2000" b="1" dirty="0"/>
              <a:t> SaaS </a:t>
            </a:r>
            <a:r>
              <a:rPr lang="en-US" sz="2000" b="1" dirty="0" err="1"/>
              <a:t>rješenje</a:t>
            </a:r>
            <a:r>
              <a:rPr lang="en-US" sz="2000" dirty="0"/>
              <a:t>, </a:t>
            </a:r>
            <a:r>
              <a:rPr lang="en-US" sz="2000" dirty="0" err="1"/>
              <a:t>uzimajući</a:t>
            </a:r>
            <a:r>
              <a:rPr lang="en-US" sz="2000" dirty="0"/>
              <a:t> u </a:t>
            </a:r>
            <a:r>
              <a:rPr lang="en-US" sz="2000" dirty="0" err="1"/>
              <a:t>obzir</a:t>
            </a:r>
            <a:r>
              <a:rPr lang="en-US" sz="2000" dirty="0"/>
              <a:t> </a:t>
            </a:r>
            <a:r>
              <a:rPr lang="en-US" sz="2000" dirty="0" err="1"/>
              <a:t>čimbenike</a:t>
            </a:r>
            <a:r>
              <a:rPr lang="en-US" sz="2000" dirty="0"/>
              <a:t> </a:t>
            </a:r>
            <a:r>
              <a:rPr lang="en-US" sz="2000" dirty="0" err="1"/>
              <a:t>poput</a:t>
            </a:r>
            <a:r>
              <a:rPr lang="en-US" sz="2000" dirty="0"/>
              <a:t> </a:t>
            </a:r>
            <a:r>
              <a:rPr lang="en-US" sz="2000" dirty="0" err="1"/>
              <a:t>licenciranja</a:t>
            </a:r>
            <a:r>
              <a:rPr lang="en-US" sz="2000" dirty="0"/>
              <a:t>, </a:t>
            </a:r>
            <a:r>
              <a:rPr lang="en-US" sz="2000" dirty="0" err="1"/>
              <a:t>vremena</a:t>
            </a:r>
            <a:r>
              <a:rPr lang="en-US" sz="2000" dirty="0"/>
              <a:t> </a:t>
            </a:r>
            <a:r>
              <a:rPr lang="en-US" sz="2000" dirty="0" err="1"/>
              <a:t>razvoja</a:t>
            </a:r>
            <a:r>
              <a:rPr lang="en-US" sz="2000" dirty="0"/>
              <a:t> </a:t>
            </a:r>
            <a:endParaRPr lang="hr-HR" sz="20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/>
              <a:t>i </a:t>
            </a:r>
            <a:r>
              <a:rPr lang="en-US" sz="2000" dirty="0" err="1"/>
              <a:t>troškova</a:t>
            </a:r>
            <a:r>
              <a:rPr lang="en-US" sz="2000" dirty="0"/>
              <a:t> </a:t>
            </a:r>
            <a:r>
              <a:rPr lang="en-US" sz="2000" dirty="0" err="1"/>
              <a:t>održavanja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000" b="1" dirty="0" err="1"/>
              <a:t>Prednosti</a:t>
            </a:r>
            <a:r>
              <a:rPr lang="en-US" sz="2000" b="1" dirty="0"/>
              <a:t>: </a:t>
            </a:r>
            <a:r>
              <a:rPr lang="en-US" sz="2000" dirty="0" err="1"/>
              <a:t>Pomaže</a:t>
            </a:r>
            <a:r>
              <a:rPr lang="en-US" sz="2000" dirty="0"/>
              <a:t> u </a:t>
            </a:r>
            <a:r>
              <a:rPr lang="en-US" sz="2000" dirty="0" err="1"/>
              <a:t>opravdavanju</a:t>
            </a:r>
            <a:r>
              <a:rPr lang="en-US" sz="2000" dirty="0"/>
              <a:t> </a:t>
            </a:r>
            <a:r>
              <a:rPr lang="en-US" sz="2000" dirty="0" err="1"/>
              <a:t>troškova</a:t>
            </a:r>
            <a:r>
              <a:rPr lang="en-US" sz="2000" dirty="0"/>
              <a:t> </a:t>
            </a:r>
            <a:r>
              <a:rPr lang="en-US" sz="2000" dirty="0" err="1"/>
              <a:t>projekta</a:t>
            </a:r>
            <a:r>
              <a:rPr lang="en-US" sz="2000" dirty="0"/>
              <a:t> i </a:t>
            </a:r>
            <a:r>
              <a:rPr lang="en-US" sz="2000" dirty="0" err="1"/>
              <a:t>optimizaciji</a:t>
            </a:r>
            <a:r>
              <a:rPr lang="en-US" sz="2000" dirty="0"/>
              <a:t> </a:t>
            </a:r>
            <a:r>
              <a:rPr lang="en-US" sz="2000" dirty="0" err="1"/>
              <a:t>raspodjele</a:t>
            </a:r>
            <a:r>
              <a:rPr lang="en-US" sz="2000" dirty="0"/>
              <a:t> </a:t>
            </a:r>
            <a:r>
              <a:rPr lang="en-US" sz="2000" dirty="0" err="1"/>
              <a:t>resursa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 err="1"/>
              <a:t>Nedostaci</a:t>
            </a:r>
            <a:r>
              <a:rPr lang="en-US" sz="2000" b="1" dirty="0"/>
              <a:t>: </a:t>
            </a:r>
            <a:r>
              <a:rPr lang="en-US" sz="2000" dirty="0" err="1"/>
              <a:t>Teško</a:t>
            </a:r>
            <a:r>
              <a:rPr lang="en-US" sz="2000" dirty="0"/>
              <a:t> je </a:t>
            </a:r>
            <a:r>
              <a:rPr lang="en-US" sz="2000" dirty="0" err="1"/>
              <a:t>kvantificirati</a:t>
            </a:r>
            <a:r>
              <a:rPr lang="en-US" sz="2000" dirty="0"/>
              <a:t> </a:t>
            </a:r>
            <a:r>
              <a:rPr lang="en-US" sz="2000" dirty="0" err="1"/>
              <a:t>nematerijalne</a:t>
            </a:r>
            <a:r>
              <a:rPr lang="en-US" sz="2000" dirty="0"/>
              <a:t> </a:t>
            </a:r>
            <a:r>
              <a:rPr lang="en-US" sz="2000" dirty="0" err="1"/>
              <a:t>koristi</a:t>
            </a:r>
            <a:r>
              <a:rPr lang="en-US" sz="2000" dirty="0"/>
              <a:t> (</a:t>
            </a:r>
            <a:r>
              <a:rPr lang="en-US" sz="2000" dirty="0" err="1"/>
              <a:t>npr</a:t>
            </a:r>
            <a:r>
              <a:rPr lang="en-US" sz="2000" dirty="0"/>
              <a:t>. </a:t>
            </a:r>
            <a:r>
              <a:rPr lang="en-US" sz="2000" dirty="0" err="1"/>
              <a:t>učinkovitost</a:t>
            </a:r>
            <a:r>
              <a:rPr lang="en-US" sz="2000" dirty="0"/>
              <a:t> </a:t>
            </a:r>
            <a:r>
              <a:rPr lang="en-US" sz="2000" dirty="0" err="1"/>
              <a:t>tima</a:t>
            </a:r>
            <a:r>
              <a:rPr lang="en-US" sz="2000" dirty="0"/>
              <a:t>).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6705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D614-9048-5D2C-9C83-894C9527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BB0D-E3AC-5027-7B02-1920803C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Okvir</a:t>
            </a:r>
            <a:r>
              <a:rPr lang="en-US" dirty="0"/>
              <a:t> za </a:t>
            </a:r>
            <a:r>
              <a:rPr lang="en-US" dirty="0" err="1"/>
              <a:t>donošenje</a:t>
            </a:r>
            <a:r>
              <a:rPr lang="en-US" dirty="0"/>
              <a:t> </a:t>
            </a:r>
            <a:r>
              <a:rPr lang="en-US" dirty="0" err="1"/>
              <a:t>odluka</a:t>
            </a:r>
            <a:r>
              <a:rPr lang="en-US" dirty="0"/>
              <a:t>, </a:t>
            </a:r>
            <a:r>
              <a:rPr lang="en-US" dirty="0" err="1"/>
              <a:t>grupna</a:t>
            </a:r>
            <a:r>
              <a:rPr lang="en-US" dirty="0"/>
              <a:t> </a:t>
            </a:r>
            <a:r>
              <a:rPr lang="en-US" dirty="0" err="1"/>
              <a:t>vježba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71256-516C-EBD8-8B19-34A8B2AE8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en-US" sz="2000">
              <a:latin typeface="Montserrat" panose="00000500000000000000" pitchFamily="2" charset="0"/>
            </a:endParaRPr>
          </a:p>
          <a:p>
            <a:pPr marL="0" indent="0">
              <a:buNone/>
            </a:pPr>
            <a:r>
              <a:rPr lang="en-US" sz="200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5" name="Rezervirano mjesto sadržaja 2">
            <a:extLst>
              <a:ext uri="{FF2B5EF4-FFF2-40B4-BE49-F238E27FC236}">
                <a16:creationId xmlns:a16="http://schemas.microsoft.com/office/drawing/2014/main" id="{ADE0B4F8-9665-EF24-7F9B-215B02CB5003}"/>
              </a:ext>
            </a:extLst>
          </p:cNvPr>
          <p:cNvSpPr txBox="1">
            <a:spLocks/>
          </p:cNvSpPr>
          <p:nvPr/>
        </p:nvSpPr>
        <p:spPr>
          <a:xfrm>
            <a:off x="370788" y="2141183"/>
            <a:ext cx="11608469" cy="45323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r-HR" sz="2400" b="1" dirty="0"/>
              <a:t>ZADATAK</a:t>
            </a:r>
            <a:r>
              <a:rPr lang="en-US" sz="2400" b="1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err="1">
                <a:latin typeface="Bahnschrift SemiLight"/>
              </a:rPr>
              <a:t>koristeći</a:t>
            </a:r>
            <a:r>
              <a:rPr lang="en-US" sz="2400" b="1" dirty="0">
                <a:latin typeface="Bahnschrift SemiLight"/>
              </a:rPr>
              <a:t> </a:t>
            </a:r>
            <a:r>
              <a:rPr lang="en-US" sz="2400" b="1" dirty="0" err="1">
                <a:latin typeface="Bahnschrift SemiLight"/>
              </a:rPr>
              <a:t>isti</a:t>
            </a:r>
            <a:r>
              <a:rPr lang="en-US" sz="2400" b="1" dirty="0">
                <a:latin typeface="Bahnschrift SemiLight"/>
              </a:rPr>
              <a:t> </a:t>
            </a:r>
            <a:r>
              <a:rPr lang="en-US" sz="2400" b="1" dirty="0" err="1">
                <a:latin typeface="Bahnschrift SemiLight"/>
              </a:rPr>
              <a:t>hipotetski</a:t>
            </a:r>
            <a:r>
              <a:rPr lang="en-US" sz="2400" b="1" dirty="0">
                <a:latin typeface="Bahnschrift SemiLight"/>
              </a:rPr>
              <a:t> </a:t>
            </a:r>
            <a:r>
              <a:rPr lang="en-US" sz="2400" b="1" dirty="0" err="1">
                <a:latin typeface="Bahnschrift SemiLight"/>
              </a:rPr>
              <a:t>projekt</a:t>
            </a:r>
            <a:r>
              <a:rPr lang="en-US" sz="2400" b="1" dirty="0">
                <a:latin typeface="Bahnschrift SemiLight"/>
              </a:rPr>
              <a:t> </a:t>
            </a:r>
            <a:r>
              <a:rPr lang="en-US" sz="2400" dirty="0">
                <a:latin typeface="Bahnschrift SemiLight"/>
              </a:rPr>
              <a:t>(</a:t>
            </a:r>
            <a:r>
              <a:rPr lang="en-US" sz="2400" dirty="0" err="1">
                <a:latin typeface="Bahnschrift SemiLight"/>
              </a:rPr>
              <a:t>vidi</a:t>
            </a:r>
            <a:r>
              <a:rPr lang="en-US" sz="2400" dirty="0">
                <a:latin typeface="Bahnschrift SemiLight"/>
              </a:rPr>
              <a:t> </a:t>
            </a:r>
            <a:r>
              <a:rPr lang="en-US" sz="2400" dirty="0" err="1">
                <a:latin typeface="Bahnschrift SemiLight"/>
              </a:rPr>
              <a:t>slajd</a:t>
            </a:r>
            <a:r>
              <a:rPr lang="hr-HR" sz="2400" dirty="0">
                <a:latin typeface="Bahnschrift SemiLight"/>
              </a:rPr>
              <a:t> </a:t>
            </a:r>
            <a:r>
              <a:rPr lang="en-US" sz="2400" dirty="0">
                <a:latin typeface="Bahnschrift SemiLight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Bahnschrift SemiLight"/>
            </a:endParaRPr>
          </a:p>
          <a:p>
            <a:pPr marL="457200" indent="-457200">
              <a:buFont typeface="+mj-lt"/>
              <a:buAutoNum type="arabicPeriod"/>
            </a:pPr>
            <a:r>
              <a:rPr lang="hr-HR" sz="2400" dirty="0">
                <a:latin typeface="Bahnschrift SemiLight"/>
              </a:rPr>
              <a:t>Identificirati izazove vezane uz </a:t>
            </a:r>
            <a:r>
              <a:rPr lang="en-US" sz="2400" dirty="0" err="1">
                <a:latin typeface="Bahnschrift SemiLight"/>
              </a:rPr>
              <a:t>aut</a:t>
            </a:r>
            <a:r>
              <a:rPr lang="hr-HR" sz="2400" dirty="0" err="1">
                <a:latin typeface="Bahnschrift SemiLight"/>
              </a:rPr>
              <a:t>oritet</a:t>
            </a:r>
            <a:r>
              <a:rPr lang="en-US" sz="2400" dirty="0">
                <a:latin typeface="Bahnschrift SemiLight"/>
              </a:rPr>
              <a:t>,</a:t>
            </a:r>
            <a:r>
              <a:rPr lang="hr-HR" sz="2400" dirty="0">
                <a:latin typeface="Bahnschrift SemiLight"/>
              </a:rPr>
              <a:t> odgovornost za zadatke</a:t>
            </a:r>
            <a:r>
              <a:rPr lang="en-US" sz="2400" dirty="0">
                <a:latin typeface="Bahnschrift SemiLight"/>
              </a:rPr>
              <a:t>, </a:t>
            </a:r>
            <a:r>
              <a:rPr lang="hr-HR" sz="2400" dirty="0">
                <a:latin typeface="Bahnschrift SemiLight"/>
              </a:rPr>
              <a:t>i</a:t>
            </a:r>
            <a:r>
              <a:rPr lang="en-US" sz="2400" dirty="0">
                <a:latin typeface="Bahnschrift SemiLight"/>
              </a:rPr>
              <a:t> </a:t>
            </a:r>
            <a:r>
              <a:rPr lang="hr-HR" sz="2400" dirty="0">
                <a:latin typeface="Bahnschrift SemiLight"/>
              </a:rPr>
              <a:t>odgovornost za ishod</a:t>
            </a:r>
            <a:endParaRPr lang="en-US" sz="2400" dirty="0"/>
          </a:p>
          <a:p>
            <a:pPr marL="0" indent="0">
              <a:buNone/>
            </a:pPr>
            <a:r>
              <a:rPr lang="hr-HR" sz="2400" dirty="0"/>
              <a:t>i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 err="1"/>
              <a:t>razviti</a:t>
            </a:r>
            <a:r>
              <a:rPr lang="en-US" sz="2400" dirty="0"/>
              <a:t> </a:t>
            </a:r>
            <a:r>
              <a:rPr lang="en-US" sz="2400" dirty="0" err="1"/>
              <a:t>okvir</a:t>
            </a:r>
            <a:r>
              <a:rPr lang="en-US" sz="2400" dirty="0"/>
              <a:t> za </a:t>
            </a:r>
            <a:r>
              <a:rPr lang="en-US" sz="2400" dirty="0" err="1"/>
              <a:t>donošenje</a:t>
            </a:r>
            <a:r>
              <a:rPr lang="en-US" sz="2400" dirty="0"/>
              <a:t> </a:t>
            </a:r>
            <a:r>
              <a:rPr lang="en-US" sz="2400" dirty="0" err="1"/>
              <a:t>odluka</a:t>
            </a:r>
            <a:r>
              <a:rPr lang="en-US" sz="2400" dirty="0"/>
              <a:t> za </a:t>
            </a:r>
            <a:r>
              <a:rPr lang="en-US" sz="2400" dirty="0" err="1"/>
              <a:t>projektni</a:t>
            </a:r>
            <a:r>
              <a:rPr lang="en-US" sz="2400" dirty="0"/>
              <a:t> </a:t>
            </a:r>
            <a:r>
              <a:rPr lang="en-US" sz="2400" dirty="0" err="1"/>
              <a:t>scenarij</a:t>
            </a:r>
            <a:r>
              <a:rPr lang="en-US" sz="2400" dirty="0"/>
              <a:t> koji </a:t>
            </a:r>
            <a:r>
              <a:rPr lang="en-US" sz="2400" dirty="0" err="1"/>
              <a:t>uključuje</a:t>
            </a:r>
            <a:r>
              <a:rPr lang="en-US" sz="2400" dirty="0"/>
              <a:t> </a:t>
            </a:r>
            <a:r>
              <a:rPr lang="en-US" sz="2400" dirty="0" err="1"/>
              <a:t>više</a:t>
            </a:r>
            <a:r>
              <a:rPr lang="en-US" sz="2400" dirty="0"/>
              <a:t> </a:t>
            </a:r>
            <a:r>
              <a:rPr lang="en-US" sz="2400" dirty="0" err="1"/>
              <a:t>dionika</a:t>
            </a:r>
            <a:r>
              <a:rPr lang="en-US" sz="24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57263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C1248-B769-C1F0-5FFF-C81A22CF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Izvori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EA13CC-0ED2-11D6-C76B-35CB13932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10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u="sng" dirty="0">
                <a:solidFill>
                  <a:srgbClr val="0563C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Bahnschrift SemiLight" panose="020B0502040204020203" pitchFamily="34" charset="0"/>
                <a:hlinkClick r:id="rId2"/>
              </a:rPr>
              <a:t>PMI.org</a:t>
            </a:r>
            <a:endParaRPr lang="en-GB" u="sng" dirty="0">
              <a:solidFill>
                <a:srgbClr val="0563C1"/>
              </a:solidFill>
              <a:effectLst/>
              <a:latin typeface="Bahnschrift SemiLight" panose="020B0502040204020203" pitchFamily="34" charset="0"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GB" u="sng" dirty="0">
              <a:solidFill>
                <a:srgbClr val="0563C1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u="sng" dirty="0">
                <a:solidFill>
                  <a:srgbClr val="0563C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Bahnschrift SemiLight" panose="020B0502040204020203" pitchFamily="34" charset="0"/>
                <a:hlinkClick r:id="rId3"/>
              </a:rPr>
              <a:t>PMBOK Guide</a:t>
            </a:r>
            <a:endParaRPr lang="en-GB" u="sng" dirty="0">
              <a:solidFill>
                <a:srgbClr val="0563C1"/>
              </a:solidFill>
              <a:effectLst/>
              <a:latin typeface="Bahnschrift SemiLight" panose="020B0502040204020203" pitchFamily="34" charset="0"/>
              <a:ea typeface="Bahnschrift SemiLight" panose="020B050204020402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u="sng" dirty="0">
              <a:solidFill>
                <a:srgbClr val="0563C1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hlinkClick r:id="rId4"/>
              </a:rPr>
              <a:t>Project Management Journal: Sage Journals</a:t>
            </a:r>
            <a:endParaRPr lang="en-US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375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85A2BCC9-DFAF-A944-3825-DE48AB02071D}"/>
              </a:ext>
            </a:extLst>
          </p:cNvPr>
          <p:cNvSpPr txBox="1"/>
          <p:nvPr/>
        </p:nvSpPr>
        <p:spPr>
          <a:xfrm>
            <a:off x="914400" y="553452"/>
            <a:ext cx="8145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sz="3600">
                <a:solidFill>
                  <a:prstClr val="black"/>
                </a:solidFill>
                <a:latin typeface="Bahnschrift SemiBold"/>
              </a:rPr>
              <a:t>Dodatni materijali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566B8B66-D8DF-9BDD-0AD5-997A33A86E00}"/>
              </a:ext>
            </a:extLst>
          </p:cNvPr>
          <p:cNvSpPr txBox="1"/>
          <p:nvPr/>
        </p:nvSpPr>
        <p:spPr>
          <a:xfrm>
            <a:off x="446776" y="2027977"/>
            <a:ext cx="9080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ro-RO" dirty="0"/>
            </a:br>
            <a:endParaRPr lang="ro-RO" dirty="0"/>
          </a:p>
          <a:p>
            <a:endParaRPr lang="ro-RO" dirty="0"/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CCA2F5CC-E586-965A-2FB8-42013F8AE37A}"/>
              </a:ext>
            </a:extLst>
          </p:cNvPr>
          <p:cNvSpPr txBox="1"/>
          <p:nvPr/>
        </p:nvSpPr>
        <p:spPr>
          <a:xfrm>
            <a:off x="659393" y="2263367"/>
            <a:ext cx="9497085" cy="3725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u="sng" noProof="0" dirty="0">
                <a:solidFill>
                  <a:srgbClr val="0563C1"/>
                </a:solidFill>
                <a:latin typeface="Bahnschrift Semi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PMI – Pulse of the Profession Reports</a:t>
            </a:r>
            <a:endParaRPr lang="en-US" sz="2800" u="sng" noProof="0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u="sng" noProof="0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u="sng" noProof="0" dirty="0">
                <a:solidFill>
                  <a:srgbClr val="0563C1"/>
                </a:solidFill>
                <a:latin typeface="Bahnschrift Semi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Atlassian – Project Management Guides and Resources</a:t>
            </a:r>
            <a:endParaRPr lang="en-US" sz="2800" u="sng" noProof="0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u="sng" noProof="0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u="sng" noProof="0" dirty="0">
                <a:solidFill>
                  <a:srgbClr val="0563C1"/>
                </a:solidFill>
                <a:latin typeface="Bahnschrift SemiLight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MindTools – Stakeholder Analysis and Stakeholder Mapping</a:t>
            </a:r>
            <a:endParaRPr lang="en-US" sz="2800" u="sng" noProof="0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ro-RO" sz="2800" u="sng" dirty="0">
              <a:solidFill>
                <a:srgbClr val="0563C1"/>
              </a:solidFill>
              <a:latin typeface="Bahnschrift SemiLight" panose="020B0502040204020203" pitchFamily="34" charset="0"/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95518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CC08E76AEB004B8A6B2F235BBAB143" ma:contentTypeVersion="19" ma:contentTypeDescription="Create a new document." ma:contentTypeScope="" ma:versionID="b126276037d73a60ecdb5034901a4665">
  <xsd:schema xmlns:xsd="http://www.w3.org/2001/XMLSchema" xmlns:xs="http://www.w3.org/2001/XMLSchema" xmlns:p="http://schemas.microsoft.com/office/2006/metadata/properties" xmlns:ns2="5e0725af-73e2-4213-b62d-dcea596e5d6d" xmlns:ns3="e6fa96dc-0a02-4bd9-bdcb-2aa22c1a578f" targetNamespace="http://schemas.microsoft.com/office/2006/metadata/properties" ma:root="true" ma:fieldsID="77aeb5855ce30fad2cc8b28886ebdb2f" ns2:_="" ns3:_="">
    <xsd:import namespace="5e0725af-73e2-4213-b62d-dcea596e5d6d"/>
    <xsd:import namespace="e6fa96dc-0a02-4bd9-bdcb-2aa22c1a5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725af-73e2-4213-b62d-dcea596e5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051300b-affb-4af5-9054-83ab1355cd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fa96dc-0a02-4bd9-bdcb-2aa22c1a57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ee04ee1-424f-44c6-b165-f66518ce87aa}" ma:internalName="TaxCatchAll" ma:showField="CatchAllData" ma:web="e6fa96dc-0a02-4bd9-bdcb-2aa22c1a57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0725af-73e2-4213-b62d-dcea596e5d6d">
      <Terms xmlns="http://schemas.microsoft.com/office/infopath/2007/PartnerControls"/>
    </lcf76f155ced4ddcb4097134ff3c332f>
    <TaxCatchAll xmlns="e6fa96dc-0a02-4bd9-bdcb-2aa22c1a578f" xsi:nil="true"/>
  </documentManagement>
</p:properties>
</file>

<file path=customXml/itemProps1.xml><?xml version="1.0" encoding="utf-8"?>
<ds:datastoreItem xmlns:ds="http://schemas.openxmlformats.org/officeDocument/2006/customXml" ds:itemID="{B1C01B4F-12A7-4FCB-8669-DD8F7AC2E26D}">
  <ds:schemaRefs>
    <ds:schemaRef ds:uri="5e0725af-73e2-4213-b62d-dcea596e5d6d"/>
    <ds:schemaRef ds:uri="e6fa96dc-0a02-4bd9-bdcb-2aa22c1a57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5F167A6-4509-4CDC-872E-B75078D0A4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8D62CC-B914-477D-B9D0-0F95ABEF2B0F}">
  <ds:schemaRefs>
    <ds:schemaRef ds:uri="178ab0e0-c460-419a-847d-ca81e089ac39"/>
    <ds:schemaRef ds:uri="5ccc8f2e-ac27-4ac8-8955-ea2701adcc78"/>
    <ds:schemaRef ds:uri="5e0725af-73e2-4213-b62d-dcea596e5d6d"/>
    <ds:schemaRef ds:uri="e6fa96dc-0a02-4bd9-bdcb-2aa22c1a578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2572</Words>
  <Application>Microsoft Office PowerPoint</Application>
  <PresentationFormat>Široki zaslon</PresentationFormat>
  <Paragraphs>364</Paragraphs>
  <Slides>37</Slides>
  <Notes>6</Notes>
  <HiddenSlides>0</HiddenSlides>
  <MMClips>0</MMClips>
  <ScaleCrop>false</ScaleCrop>
  <HeadingPairs>
    <vt:vector size="6" baseType="variant">
      <vt:variant>
        <vt:lpstr>Korišteni fontovi</vt:lpstr>
      </vt:variant>
      <vt:variant>
        <vt:i4>10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37</vt:i4>
      </vt:variant>
    </vt:vector>
  </HeadingPairs>
  <TitlesOfParts>
    <vt:vector size="49" baseType="lpstr">
      <vt:lpstr>Aptos</vt:lpstr>
      <vt:lpstr>Arial</vt:lpstr>
      <vt:lpstr>Bahnschrift</vt:lpstr>
      <vt:lpstr>Bahnschrift SemiBold</vt:lpstr>
      <vt:lpstr>Bahnschrift SemiLight</vt:lpstr>
      <vt:lpstr>Calibri</vt:lpstr>
      <vt:lpstr>Calibri Light</vt:lpstr>
      <vt:lpstr>Montserrat</vt:lpstr>
      <vt:lpstr>Nunito</vt:lpstr>
      <vt:lpstr>Wingdings</vt:lpstr>
      <vt:lpstr>Tema sustava Office</vt:lpstr>
      <vt:lpstr>1_Tema sustava Office</vt:lpstr>
      <vt:lpstr>SHIFT4IT</vt:lpstr>
      <vt:lpstr>  Pokretanje projekta</vt:lpstr>
      <vt:lpstr>Sažetak</vt:lpstr>
      <vt:lpstr>PowerPoint prezentacija</vt:lpstr>
      <vt:lpstr>Što je Project Charter? </vt:lpstr>
      <vt:lpstr>Kako project charter odobrava i definira projekt?</vt:lpstr>
      <vt:lpstr>Uloga project chartera u postavljanju ciljeva i opsega I.</vt:lpstr>
      <vt:lpstr>Uloga project chartera u postavljanju ciljeva i opsega  </vt:lpstr>
      <vt:lpstr>Ključni elementi project chartera I. </vt:lpstr>
      <vt:lpstr>Ključni elementi project chartera II. </vt:lpstr>
      <vt:lpstr>Najbolje prakse za kvalitetan project charter I. </vt:lpstr>
      <vt:lpstr>Najbolje prakse za kvalitetan project charter II. </vt:lpstr>
      <vt:lpstr>Primjer project chartera I. </vt:lpstr>
      <vt:lpstr>Primjer project chartera I. </vt:lpstr>
      <vt:lpstr>Primjer project chartera II. </vt:lpstr>
      <vt:lpstr>Primjer project chartera II. </vt:lpstr>
      <vt:lpstr>Primjer project chartera III. </vt:lpstr>
      <vt:lpstr>Primjer project chartera IV. </vt:lpstr>
      <vt:lpstr>Primjer project chartera V. </vt:lpstr>
      <vt:lpstr>POKRETANJE PROJEKTA </vt:lpstr>
      <vt:lpstr>Uloge i odgovornosti dionika u projektu </vt:lpstr>
      <vt:lpstr>Uloge i odgovornosti ključnih dionika I.</vt:lpstr>
      <vt:lpstr>PowerPoint prezentacija</vt:lpstr>
      <vt:lpstr>PowerPoint prezentacija</vt:lpstr>
      <vt:lpstr>PowerPoint prezentacija</vt:lpstr>
      <vt:lpstr> Mapa dionika (matrica moći i interesa) </vt:lpstr>
      <vt:lpstr>Mapa dionika, grupne rasprave</vt:lpstr>
      <vt:lpstr>Mapa dionika, zaključci</vt:lpstr>
      <vt:lpstr>POKRETANJE PROJEKTA </vt:lpstr>
      <vt:lpstr>Autoritet (authority), odgovornost za zadatke (responsibility), odgovornost za ishod (accountability) i donošenje odluka u upravljanju projektima</vt:lpstr>
      <vt:lpstr>Autoritet (authority), odgovornost za zadatke (responsibility), odgovornost za ishod (accountability) i donošenje odluka u upravljanju projektima</vt:lpstr>
      <vt:lpstr>Tri modela donošenja odluka u upravljanju IT projektima</vt:lpstr>
      <vt:lpstr>Tri modela donošenja odluka u upravljanju IT projektima</vt:lpstr>
      <vt:lpstr>Tri modela donošenja odluka u upravljanju IT projektima</vt:lpstr>
      <vt:lpstr>Okvir za donošenje odluka, grupna vježba</vt:lpstr>
      <vt:lpstr>Izvori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creator>Božica Bajčić</dc:creator>
  <cp:lastModifiedBy>Anita Crnčić</cp:lastModifiedBy>
  <cp:revision>69</cp:revision>
  <dcterms:created xsi:type="dcterms:W3CDTF">2024-02-12T13:35:47Z</dcterms:created>
  <dcterms:modified xsi:type="dcterms:W3CDTF">2026-04-28T08:19:49Z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0x010100AACC08E76AEB004B8A6B2F235BBAB143</vt:lpwstr>
  </property>
  <property fmtid="{D5CDD505-2E9C-101B-9397-08002B2CF9AE}" pid="3" name="MediaServiceImageTags">
    <vt:lpwstr/>
  </property>
</Properties>
</file>